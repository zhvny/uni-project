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56" r:id="rId2"/>
    <p:sldId id="260" r:id="rId3"/>
    <p:sldId id="257" r:id="rId4"/>
    <p:sldId id="520" r:id="rId5"/>
    <p:sldId id="521" r:id="rId6"/>
    <p:sldId id="516" r:id="rId7"/>
    <p:sldId id="517" r:id="rId8"/>
    <p:sldId id="518" r:id="rId9"/>
    <p:sldId id="519" r:id="rId10"/>
    <p:sldId id="509" r:id="rId11"/>
    <p:sldId id="515" r:id="rId12"/>
    <p:sldId id="514" r:id="rId13"/>
  </p:sldIdLst>
  <p:sldSz cx="24384000" cy="13716000"/>
  <p:notesSz cx="6858000" cy="9144000"/>
  <p:embeddedFontLst>
    <p:embeddedFont>
      <p:font typeface="Avenir Next LT Pro" panose="020B0504020202020204" pitchFamily="34" charset="77"/>
      <p:regular r:id="rId15"/>
      <p:bold r:id="rId16"/>
      <p:italic r:id="rId17"/>
      <p:boldItalic r:id="rId18"/>
    </p:embeddedFont>
    <p:embeddedFont>
      <p:font typeface="Georgia" panose="02040502050405020303" pitchFamily="18" charset="0"/>
      <p:regular r:id="rId19"/>
      <p:bold r:id="rId20"/>
      <p:italic r:id="rId21"/>
      <p:boldItalic r:id="rId22"/>
    </p:embeddedFont>
    <p:embeddedFont>
      <p:font typeface="OCRB" panose="020B0609020202020204" pitchFamily="49" charset="77"/>
      <p:regular r:id="rId23"/>
    </p:embeddedFont>
    <p:embeddedFont>
      <p:font typeface="Open Sans ExtraBold" panose="020B0906030804020204" pitchFamily="34" charset="0"/>
      <p:bold r:id="rId24"/>
      <p:italic r:id="rId25"/>
      <p:boldItalic r:id="rId26"/>
    </p:embeddedFont>
    <p:embeddedFont>
      <p:font typeface="Open Sans Light" panose="020B0306030504020204" pitchFamily="34" charset="0"/>
      <p:regular r:id="rId27"/>
      <p:italic r:id="rId28"/>
    </p:embeddedFont>
    <p:embeddedFont>
      <p:font typeface="Open Sans Semibold" panose="020B0706030804020204" pitchFamily="34" charset="0"/>
      <p:regular r:id="rId29"/>
      <p:bold r:id="rId30"/>
      <p:italic r:id="rId31"/>
      <p:boldItalic r:id="rId32"/>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D4"/>
    <a:srgbClr val="FFC000"/>
    <a:srgbClr val="70B40A"/>
    <a:srgbClr val="80BBC3"/>
    <a:srgbClr val="00A5AE"/>
    <a:srgbClr val="FF7510"/>
    <a:srgbClr val="EA222C"/>
    <a:srgbClr val="FFFFFF"/>
    <a:srgbClr val="9B4A96"/>
    <a:srgbClr val="F5AF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01" autoAdjust="0"/>
    <p:restoredTop sz="96197"/>
  </p:normalViewPr>
  <p:slideViewPr>
    <p:cSldViewPr snapToGrid="0" snapToObjects="1">
      <p:cViewPr varScale="1">
        <p:scale>
          <a:sx n="48" d="100"/>
          <a:sy n="48" d="100"/>
        </p:scale>
        <p:origin x="272" y="1360"/>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18E99D-F9E1-1640-BC8D-721EB4FF3728}" type="doc">
      <dgm:prSet loTypeId="urn:microsoft.com/office/officeart/2005/8/layout/radial1" loCatId="" qsTypeId="urn:microsoft.com/office/officeart/2005/8/quickstyle/simple1" qsCatId="simple" csTypeId="urn:microsoft.com/office/officeart/2005/8/colors/colorful2" csCatId="colorful" phldr="1"/>
      <dgm:spPr/>
      <dgm:t>
        <a:bodyPr/>
        <a:lstStyle/>
        <a:p>
          <a:endParaRPr lang="en-US"/>
        </a:p>
      </dgm:t>
    </dgm:pt>
    <dgm:pt modelId="{C6F01A7E-7A30-BB49-B719-318E24E56BB2}">
      <dgm:prSet phldrT="[Text]"/>
      <dgm:spPr/>
      <dgm:t>
        <a:bodyPr/>
        <a:lstStyle/>
        <a:p>
          <a:r>
            <a:rPr lang="en-US" dirty="0">
              <a:latin typeface="Georgia" panose="02040502050405020303" pitchFamily="18" charset="0"/>
            </a:rPr>
            <a:t>Opportunity</a:t>
          </a:r>
        </a:p>
      </dgm:t>
    </dgm:pt>
    <dgm:pt modelId="{AAE73EC4-E611-F242-9145-4DE4FBE2ABC9}" type="parTrans" cxnId="{2AF90702-760D-CF4C-A382-8A43F54C3A81}">
      <dgm:prSet/>
      <dgm:spPr/>
      <dgm:t>
        <a:bodyPr/>
        <a:lstStyle/>
        <a:p>
          <a:endParaRPr lang="en-US"/>
        </a:p>
      </dgm:t>
    </dgm:pt>
    <dgm:pt modelId="{0F9466E5-4A46-B645-A7E7-F2F490064911}" type="sibTrans" cxnId="{2AF90702-760D-CF4C-A382-8A43F54C3A81}">
      <dgm:prSet/>
      <dgm:spPr/>
      <dgm:t>
        <a:bodyPr/>
        <a:lstStyle/>
        <a:p>
          <a:endParaRPr lang="en-US"/>
        </a:p>
      </dgm:t>
    </dgm:pt>
    <dgm:pt modelId="{A8ACCA69-8028-7746-9DC4-F06796C5C8D9}">
      <dgm:prSet phldrT="[Text]" custT="1"/>
      <dgm:spPr/>
      <dgm:t>
        <a:bodyPr/>
        <a:lstStyle/>
        <a:p>
          <a:r>
            <a:rPr lang="en-US" sz="2800" dirty="0">
              <a:latin typeface="Georgia" panose="02040502050405020303" pitchFamily="18" charset="0"/>
            </a:rPr>
            <a:t>Attractive</a:t>
          </a:r>
        </a:p>
      </dgm:t>
    </dgm:pt>
    <dgm:pt modelId="{6B232108-828E-7C49-B23C-5AAEDFCD2A00}" type="parTrans" cxnId="{E79ACC0E-EC39-2B48-91AB-88A3BD346B6E}">
      <dgm:prSet/>
      <dgm:spPr/>
      <dgm:t>
        <a:bodyPr/>
        <a:lstStyle/>
        <a:p>
          <a:endParaRPr lang="en-US"/>
        </a:p>
      </dgm:t>
    </dgm:pt>
    <dgm:pt modelId="{93D8E034-02BC-B94E-B116-DBA93CCC8BE6}" type="sibTrans" cxnId="{E79ACC0E-EC39-2B48-91AB-88A3BD346B6E}">
      <dgm:prSet/>
      <dgm:spPr/>
      <dgm:t>
        <a:bodyPr/>
        <a:lstStyle/>
        <a:p>
          <a:endParaRPr lang="en-US"/>
        </a:p>
      </dgm:t>
    </dgm:pt>
    <dgm:pt modelId="{A3BA77D7-C2DB-7F4A-B5FF-93868DAE1AA7}">
      <dgm:prSet phldrT="[Text]" custT="1"/>
      <dgm:spPr/>
      <dgm:t>
        <a:bodyPr/>
        <a:lstStyle/>
        <a:p>
          <a:r>
            <a:rPr lang="en-US" sz="2800" dirty="0">
              <a:latin typeface="Georgia" panose="02040502050405020303" pitchFamily="18" charset="0"/>
            </a:rPr>
            <a:t>Timely</a:t>
          </a:r>
        </a:p>
      </dgm:t>
    </dgm:pt>
    <dgm:pt modelId="{62008158-F636-E44A-9967-2B31F8BA78A7}" type="parTrans" cxnId="{27C59226-BD38-4F4D-B7E7-D827EE22FC4C}">
      <dgm:prSet/>
      <dgm:spPr/>
      <dgm:t>
        <a:bodyPr/>
        <a:lstStyle/>
        <a:p>
          <a:endParaRPr lang="en-US"/>
        </a:p>
      </dgm:t>
    </dgm:pt>
    <dgm:pt modelId="{32C8953A-CBE4-D04A-8754-927802611646}" type="sibTrans" cxnId="{27C59226-BD38-4F4D-B7E7-D827EE22FC4C}">
      <dgm:prSet/>
      <dgm:spPr/>
      <dgm:t>
        <a:bodyPr/>
        <a:lstStyle/>
        <a:p>
          <a:endParaRPr lang="en-US"/>
        </a:p>
      </dgm:t>
    </dgm:pt>
    <dgm:pt modelId="{27DEB759-758F-BC46-8DE2-3109D4EEBFAE}">
      <dgm:prSet phldrT="[Text]" custT="1"/>
      <dgm:spPr/>
      <dgm:t>
        <a:bodyPr/>
        <a:lstStyle/>
        <a:p>
          <a:pPr>
            <a:buClrTx/>
            <a:buSzTx/>
            <a:buFontTx/>
            <a:buNone/>
          </a:pPr>
          <a:r>
            <a:rPr lang="en-US" sz="2800" b="1" dirty="0">
              <a:latin typeface="Georgia" panose="02040502050405020303" pitchFamily="18" charset="0"/>
            </a:rPr>
            <a:t>Anchored</a:t>
          </a:r>
          <a:endParaRPr lang="en-US" sz="2800" dirty="0">
            <a:latin typeface="Georgia" panose="02040502050405020303" pitchFamily="18" charset="0"/>
          </a:endParaRPr>
        </a:p>
      </dgm:t>
    </dgm:pt>
    <dgm:pt modelId="{CC3D60D7-C902-044A-BCC4-1A09A9F50B28}" type="parTrans" cxnId="{780F27CB-BBF1-1C40-9B89-AD945CD34E89}">
      <dgm:prSet/>
      <dgm:spPr/>
      <dgm:t>
        <a:bodyPr/>
        <a:lstStyle/>
        <a:p>
          <a:endParaRPr lang="en-US"/>
        </a:p>
      </dgm:t>
    </dgm:pt>
    <dgm:pt modelId="{0BA6645B-1098-F94C-9456-CBAA835309DB}" type="sibTrans" cxnId="{780F27CB-BBF1-1C40-9B89-AD945CD34E89}">
      <dgm:prSet/>
      <dgm:spPr/>
      <dgm:t>
        <a:bodyPr/>
        <a:lstStyle/>
        <a:p>
          <a:endParaRPr lang="en-US"/>
        </a:p>
      </dgm:t>
    </dgm:pt>
    <dgm:pt modelId="{1C41267A-0514-B243-8D02-D8BAA9C56B2F}">
      <dgm:prSet phldrT="[Text]" custT="1"/>
      <dgm:spPr/>
      <dgm:t>
        <a:bodyPr/>
        <a:lstStyle/>
        <a:p>
          <a:r>
            <a:rPr lang="en-US" sz="2800" dirty="0">
              <a:latin typeface="Georgia" panose="02040502050405020303" pitchFamily="18" charset="0"/>
            </a:rPr>
            <a:t>Durable</a:t>
          </a:r>
        </a:p>
      </dgm:t>
    </dgm:pt>
    <dgm:pt modelId="{EFE16AEF-FA5C-8644-BC75-00C5BA48C2F3}" type="parTrans" cxnId="{38E95B4D-8D33-4545-82FB-BFE5512DCE6B}">
      <dgm:prSet/>
      <dgm:spPr/>
      <dgm:t>
        <a:bodyPr/>
        <a:lstStyle/>
        <a:p>
          <a:endParaRPr lang="en-US"/>
        </a:p>
      </dgm:t>
    </dgm:pt>
    <dgm:pt modelId="{ECBFAD6F-1463-BD4A-94F1-2215DB4234A0}" type="sibTrans" cxnId="{38E95B4D-8D33-4545-82FB-BFE5512DCE6B}">
      <dgm:prSet/>
      <dgm:spPr/>
      <dgm:t>
        <a:bodyPr/>
        <a:lstStyle/>
        <a:p>
          <a:endParaRPr lang="en-US"/>
        </a:p>
      </dgm:t>
    </dgm:pt>
    <dgm:pt modelId="{E320333C-14E1-C74D-B16F-70DB5DA112BB}">
      <dgm:prSet/>
      <dgm:spPr/>
      <dgm:t>
        <a:bodyPr/>
        <a:lstStyle/>
        <a:p>
          <a:endParaRPr lang="en-US"/>
        </a:p>
      </dgm:t>
    </dgm:pt>
    <dgm:pt modelId="{92D0526D-775A-4747-A9F0-721EEB690C96}" type="parTrans" cxnId="{A8DAF68A-B1D7-FD4F-A922-A1BCB8BF8CAC}">
      <dgm:prSet/>
      <dgm:spPr/>
      <dgm:t>
        <a:bodyPr/>
        <a:lstStyle/>
        <a:p>
          <a:endParaRPr lang="en-US"/>
        </a:p>
      </dgm:t>
    </dgm:pt>
    <dgm:pt modelId="{3A59B08D-83B5-0644-9889-6280DCFD5B39}" type="sibTrans" cxnId="{A8DAF68A-B1D7-FD4F-A922-A1BCB8BF8CAC}">
      <dgm:prSet/>
      <dgm:spPr/>
      <dgm:t>
        <a:bodyPr/>
        <a:lstStyle/>
        <a:p>
          <a:endParaRPr lang="en-US"/>
        </a:p>
      </dgm:t>
    </dgm:pt>
    <dgm:pt modelId="{BBFD6AA9-99C1-7A45-A0C3-3E851A5068BA}">
      <dgm:prSet/>
      <dgm:spPr/>
      <dgm:t>
        <a:bodyPr/>
        <a:lstStyle/>
        <a:p>
          <a:endParaRPr lang="en-US"/>
        </a:p>
      </dgm:t>
    </dgm:pt>
    <dgm:pt modelId="{CC0DD1B9-C3D2-FB43-B1CB-91214B4ED89C}" type="parTrans" cxnId="{5858B761-732C-2B41-B873-D490EBBA9C2E}">
      <dgm:prSet/>
      <dgm:spPr/>
      <dgm:t>
        <a:bodyPr/>
        <a:lstStyle/>
        <a:p>
          <a:endParaRPr lang="en-US"/>
        </a:p>
      </dgm:t>
    </dgm:pt>
    <dgm:pt modelId="{738668E6-81D1-6144-8845-8116F71BD889}" type="sibTrans" cxnId="{5858B761-732C-2B41-B873-D490EBBA9C2E}">
      <dgm:prSet/>
      <dgm:spPr/>
      <dgm:t>
        <a:bodyPr/>
        <a:lstStyle/>
        <a:p>
          <a:endParaRPr lang="en-US"/>
        </a:p>
      </dgm:t>
    </dgm:pt>
    <dgm:pt modelId="{E8A9FA89-796F-864C-B10D-CD0E156DE844}">
      <dgm:prSet/>
      <dgm:spPr/>
      <dgm:t>
        <a:bodyPr/>
        <a:lstStyle/>
        <a:p>
          <a:endParaRPr lang="en-US"/>
        </a:p>
      </dgm:t>
    </dgm:pt>
    <dgm:pt modelId="{9E0D58C0-E6A1-614D-B762-32A96C300086}" type="parTrans" cxnId="{9ABE97A2-4A4D-2B4C-B549-67B0EA5B7FB0}">
      <dgm:prSet/>
      <dgm:spPr/>
      <dgm:t>
        <a:bodyPr/>
        <a:lstStyle/>
        <a:p>
          <a:endParaRPr lang="en-US"/>
        </a:p>
      </dgm:t>
    </dgm:pt>
    <dgm:pt modelId="{F6BD3BB5-835C-2841-A522-1326D0234719}" type="sibTrans" cxnId="{9ABE97A2-4A4D-2B4C-B549-67B0EA5B7FB0}">
      <dgm:prSet/>
      <dgm:spPr/>
      <dgm:t>
        <a:bodyPr/>
        <a:lstStyle/>
        <a:p>
          <a:endParaRPr lang="en-US"/>
        </a:p>
      </dgm:t>
    </dgm:pt>
    <dgm:pt modelId="{D56D02CA-ECAA-9440-85C6-4781E8DDFAF3}" type="pres">
      <dgm:prSet presAssocID="{9D18E99D-F9E1-1640-BC8D-721EB4FF3728}" presName="cycle" presStyleCnt="0">
        <dgm:presLayoutVars>
          <dgm:chMax val="1"/>
          <dgm:dir/>
          <dgm:animLvl val="ctr"/>
          <dgm:resizeHandles val="exact"/>
        </dgm:presLayoutVars>
      </dgm:prSet>
      <dgm:spPr/>
    </dgm:pt>
    <dgm:pt modelId="{86D3F78B-3A07-1A49-9A79-CF21B8B4AE32}" type="pres">
      <dgm:prSet presAssocID="{C6F01A7E-7A30-BB49-B719-318E24E56BB2}" presName="centerShape" presStyleLbl="node0" presStyleIdx="0" presStyleCnt="1" custScaleX="109665" custScaleY="107919" custLinFactNeighborX="-2583" custLinFactNeighborY="-983"/>
      <dgm:spPr/>
    </dgm:pt>
    <dgm:pt modelId="{8C38ABE4-B6CA-E04B-B097-D4F63E61CBA8}" type="pres">
      <dgm:prSet presAssocID="{6B232108-828E-7C49-B23C-5AAEDFCD2A00}" presName="Name9" presStyleLbl="parChTrans1D2" presStyleIdx="0" presStyleCnt="4"/>
      <dgm:spPr/>
    </dgm:pt>
    <dgm:pt modelId="{BB5E378D-5B79-B64C-ABAC-14EE41754226}" type="pres">
      <dgm:prSet presAssocID="{6B232108-828E-7C49-B23C-5AAEDFCD2A00}" presName="connTx" presStyleLbl="parChTrans1D2" presStyleIdx="0" presStyleCnt="4"/>
      <dgm:spPr/>
    </dgm:pt>
    <dgm:pt modelId="{3E0BEA47-7FE4-0540-B942-F5E6C5B8AE99}" type="pres">
      <dgm:prSet presAssocID="{A8ACCA69-8028-7746-9DC4-F06796C5C8D9}" presName="node" presStyleLbl="node1" presStyleIdx="0" presStyleCnt="4" custScaleX="113664" custScaleY="105500" custRadScaleRad="132831" custRadScaleInc="-99048">
        <dgm:presLayoutVars>
          <dgm:bulletEnabled val="1"/>
        </dgm:presLayoutVars>
      </dgm:prSet>
      <dgm:spPr/>
    </dgm:pt>
    <dgm:pt modelId="{2E486AD2-96F2-AB41-A62E-34085617D771}" type="pres">
      <dgm:prSet presAssocID="{62008158-F636-E44A-9967-2B31F8BA78A7}" presName="Name9" presStyleLbl="parChTrans1D2" presStyleIdx="1" presStyleCnt="4"/>
      <dgm:spPr/>
    </dgm:pt>
    <dgm:pt modelId="{111B97C0-6E8A-1240-A7BF-B9834D2BE240}" type="pres">
      <dgm:prSet presAssocID="{62008158-F636-E44A-9967-2B31F8BA78A7}" presName="connTx" presStyleLbl="parChTrans1D2" presStyleIdx="1" presStyleCnt="4"/>
      <dgm:spPr/>
    </dgm:pt>
    <dgm:pt modelId="{9D7D5195-5E88-704F-A118-7390CE0AE61B}" type="pres">
      <dgm:prSet presAssocID="{A3BA77D7-C2DB-7F4A-B5FF-93868DAE1AA7}" presName="node" presStyleLbl="node1" presStyleIdx="1" presStyleCnt="4" custScaleX="111213" custScaleY="120019" custRadScaleRad="114145" custRadScaleInc="-104681">
        <dgm:presLayoutVars>
          <dgm:bulletEnabled val="1"/>
        </dgm:presLayoutVars>
      </dgm:prSet>
      <dgm:spPr/>
    </dgm:pt>
    <dgm:pt modelId="{6E834E17-BD9B-EA47-836B-2F1B09BB1756}" type="pres">
      <dgm:prSet presAssocID="{CC3D60D7-C902-044A-BCC4-1A09A9F50B28}" presName="Name9" presStyleLbl="parChTrans1D2" presStyleIdx="2" presStyleCnt="4"/>
      <dgm:spPr/>
    </dgm:pt>
    <dgm:pt modelId="{429EE081-334E-1F47-AFB6-B849D1FF02CC}" type="pres">
      <dgm:prSet presAssocID="{CC3D60D7-C902-044A-BCC4-1A09A9F50B28}" presName="connTx" presStyleLbl="parChTrans1D2" presStyleIdx="2" presStyleCnt="4"/>
      <dgm:spPr/>
    </dgm:pt>
    <dgm:pt modelId="{A6D07499-DA9C-4F4F-A73D-A0E962CA921F}" type="pres">
      <dgm:prSet presAssocID="{27DEB759-758F-BC46-8DE2-3109D4EEBFAE}" presName="node" presStyleLbl="node1" presStyleIdx="2" presStyleCnt="4" custScaleX="113541" custScaleY="116316" custRadScaleRad="104461" custRadScaleInc="-103272">
        <dgm:presLayoutVars>
          <dgm:bulletEnabled val="1"/>
        </dgm:presLayoutVars>
      </dgm:prSet>
      <dgm:spPr/>
    </dgm:pt>
    <dgm:pt modelId="{D6A52FEE-DE07-3140-AD08-0F3043B284FC}" type="pres">
      <dgm:prSet presAssocID="{EFE16AEF-FA5C-8644-BC75-00C5BA48C2F3}" presName="Name9" presStyleLbl="parChTrans1D2" presStyleIdx="3" presStyleCnt="4"/>
      <dgm:spPr/>
    </dgm:pt>
    <dgm:pt modelId="{DEB53822-5EF0-FD4D-8214-E42C841942BE}" type="pres">
      <dgm:prSet presAssocID="{EFE16AEF-FA5C-8644-BC75-00C5BA48C2F3}" presName="connTx" presStyleLbl="parChTrans1D2" presStyleIdx="3" presStyleCnt="4"/>
      <dgm:spPr/>
    </dgm:pt>
    <dgm:pt modelId="{9101B81D-20A6-A547-B9DE-60BA191EF4F6}" type="pres">
      <dgm:prSet presAssocID="{1C41267A-0514-B243-8D02-D8BAA9C56B2F}" presName="node" presStyleLbl="node1" presStyleIdx="3" presStyleCnt="4" custScaleX="115197" custScaleY="110996" custRadScaleRad="115948" custRadScaleInc="-92162">
        <dgm:presLayoutVars>
          <dgm:bulletEnabled val="1"/>
        </dgm:presLayoutVars>
      </dgm:prSet>
      <dgm:spPr/>
    </dgm:pt>
  </dgm:ptLst>
  <dgm:cxnLst>
    <dgm:cxn modelId="{328F0800-5B2F-6D40-AA46-39A9E8D832D7}" type="presOf" srcId="{6B232108-828E-7C49-B23C-5AAEDFCD2A00}" destId="{BB5E378D-5B79-B64C-ABAC-14EE41754226}" srcOrd="1" destOrd="0" presId="urn:microsoft.com/office/officeart/2005/8/layout/radial1"/>
    <dgm:cxn modelId="{2AF90702-760D-CF4C-A382-8A43F54C3A81}" srcId="{9D18E99D-F9E1-1640-BC8D-721EB4FF3728}" destId="{C6F01A7E-7A30-BB49-B719-318E24E56BB2}" srcOrd="0" destOrd="0" parTransId="{AAE73EC4-E611-F242-9145-4DE4FBE2ABC9}" sibTransId="{0F9466E5-4A46-B645-A7E7-F2F490064911}"/>
    <dgm:cxn modelId="{E79ACC0E-EC39-2B48-91AB-88A3BD346B6E}" srcId="{C6F01A7E-7A30-BB49-B719-318E24E56BB2}" destId="{A8ACCA69-8028-7746-9DC4-F06796C5C8D9}" srcOrd="0" destOrd="0" parTransId="{6B232108-828E-7C49-B23C-5AAEDFCD2A00}" sibTransId="{93D8E034-02BC-B94E-B116-DBA93CCC8BE6}"/>
    <dgm:cxn modelId="{9A85D80E-A6AE-CA4E-AE73-1A35D72083F0}" type="presOf" srcId="{C6F01A7E-7A30-BB49-B719-318E24E56BB2}" destId="{86D3F78B-3A07-1A49-9A79-CF21B8B4AE32}" srcOrd="0" destOrd="0" presId="urn:microsoft.com/office/officeart/2005/8/layout/radial1"/>
    <dgm:cxn modelId="{27C59226-BD38-4F4D-B7E7-D827EE22FC4C}" srcId="{C6F01A7E-7A30-BB49-B719-318E24E56BB2}" destId="{A3BA77D7-C2DB-7F4A-B5FF-93868DAE1AA7}" srcOrd="1" destOrd="0" parTransId="{62008158-F636-E44A-9967-2B31F8BA78A7}" sibTransId="{32C8953A-CBE4-D04A-8754-927802611646}"/>
    <dgm:cxn modelId="{410C2136-5F63-6D4F-B476-A4B407485C25}" type="presOf" srcId="{62008158-F636-E44A-9967-2B31F8BA78A7}" destId="{111B97C0-6E8A-1240-A7BF-B9834D2BE240}" srcOrd="1" destOrd="0" presId="urn:microsoft.com/office/officeart/2005/8/layout/radial1"/>
    <dgm:cxn modelId="{38E95B4D-8D33-4545-82FB-BFE5512DCE6B}" srcId="{C6F01A7E-7A30-BB49-B719-318E24E56BB2}" destId="{1C41267A-0514-B243-8D02-D8BAA9C56B2F}" srcOrd="3" destOrd="0" parTransId="{EFE16AEF-FA5C-8644-BC75-00C5BA48C2F3}" sibTransId="{ECBFAD6F-1463-BD4A-94F1-2215DB4234A0}"/>
    <dgm:cxn modelId="{5858B761-732C-2B41-B873-D490EBBA9C2E}" srcId="{9D18E99D-F9E1-1640-BC8D-721EB4FF3728}" destId="{BBFD6AA9-99C1-7A45-A0C3-3E851A5068BA}" srcOrd="2" destOrd="0" parTransId="{CC0DD1B9-C3D2-FB43-B1CB-91214B4ED89C}" sibTransId="{738668E6-81D1-6144-8845-8116F71BD889}"/>
    <dgm:cxn modelId="{0628BE6C-6DF0-0C4B-B9B9-F2514B48D2BB}" type="presOf" srcId="{27DEB759-758F-BC46-8DE2-3109D4EEBFAE}" destId="{A6D07499-DA9C-4F4F-A73D-A0E962CA921F}" srcOrd="0" destOrd="0" presId="urn:microsoft.com/office/officeart/2005/8/layout/radial1"/>
    <dgm:cxn modelId="{F3001D71-7360-054D-A52C-6CC2290B6F71}" type="presOf" srcId="{1C41267A-0514-B243-8D02-D8BAA9C56B2F}" destId="{9101B81D-20A6-A547-B9DE-60BA191EF4F6}" srcOrd="0" destOrd="0" presId="urn:microsoft.com/office/officeart/2005/8/layout/radial1"/>
    <dgm:cxn modelId="{D3CB8974-DBA2-6D42-A492-1DC8DE09CDFC}" type="presOf" srcId="{A8ACCA69-8028-7746-9DC4-F06796C5C8D9}" destId="{3E0BEA47-7FE4-0540-B942-F5E6C5B8AE99}" srcOrd="0" destOrd="0" presId="urn:microsoft.com/office/officeart/2005/8/layout/radial1"/>
    <dgm:cxn modelId="{96C19481-36B9-BB4C-8432-7FA9BF792BBA}" type="presOf" srcId="{6B232108-828E-7C49-B23C-5AAEDFCD2A00}" destId="{8C38ABE4-B6CA-E04B-B097-D4F63E61CBA8}" srcOrd="0" destOrd="0" presId="urn:microsoft.com/office/officeart/2005/8/layout/radial1"/>
    <dgm:cxn modelId="{A8DAF68A-B1D7-FD4F-A922-A1BCB8BF8CAC}" srcId="{9D18E99D-F9E1-1640-BC8D-721EB4FF3728}" destId="{E320333C-14E1-C74D-B16F-70DB5DA112BB}" srcOrd="1" destOrd="0" parTransId="{92D0526D-775A-4747-A9F0-721EEB690C96}" sibTransId="{3A59B08D-83B5-0644-9889-6280DCFD5B39}"/>
    <dgm:cxn modelId="{ACAE1990-157B-D94E-B017-004DFBB660CA}" type="presOf" srcId="{62008158-F636-E44A-9967-2B31F8BA78A7}" destId="{2E486AD2-96F2-AB41-A62E-34085617D771}" srcOrd="0" destOrd="0" presId="urn:microsoft.com/office/officeart/2005/8/layout/radial1"/>
    <dgm:cxn modelId="{E49D4090-F2F1-4749-8573-94900FC0880F}" type="presOf" srcId="{CC3D60D7-C902-044A-BCC4-1A09A9F50B28}" destId="{429EE081-334E-1F47-AFB6-B849D1FF02CC}" srcOrd="1" destOrd="0" presId="urn:microsoft.com/office/officeart/2005/8/layout/radial1"/>
    <dgm:cxn modelId="{5AC74A90-A781-6F4E-BBC4-7DBF76C83E68}" type="presOf" srcId="{EFE16AEF-FA5C-8644-BC75-00C5BA48C2F3}" destId="{DEB53822-5EF0-FD4D-8214-E42C841942BE}" srcOrd="1" destOrd="0" presId="urn:microsoft.com/office/officeart/2005/8/layout/radial1"/>
    <dgm:cxn modelId="{9ABE97A2-4A4D-2B4C-B549-67B0EA5B7FB0}" srcId="{9D18E99D-F9E1-1640-BC8D-721EB4FF3728}" destId="{E8A9FA89-796F-864C-B10D-CD0E156DE844}" srcOrd="3" destOrd="0" parTransId="{9E0D58C0-E6A1-614D-B762-32A96C300086}" sibTransId="{F6BD3BB5-835C-2841-A522-1326D0234719}"/>
    <dgm:cxn modelId="{AED67EB4-07AB-D148-BD40-EF8A9666FE75}" type="presOf" srcId="{A3BA77D7-C2DB-7F4A-B5FF-93868DAE1AA7}" destId="{9D7D5195-5E88-704F-A118-7390CE0AE61B}" srcOrd="0" destOrd="0" presId="urn:microsoft.com/office/officeart/2005/8/layout/radial1"/>
    <dgm:cxn modelId="{6FE95DC4-084F-7948-B234-3915717C7B5C}" type="presOf" srcId="{9D18E99D-F9E1-1640-BC8D-721EB4FF3728}" destId="{D56D02CA-ECAA-9440-85C6-4781E8DDFAF3}" srcOrd="0" destOrd="0" presId="urn:microsoft.com/office/officeart/2005/8/layout/radial1"/>
    <dgm:cxn modelId="{780F27CB-BBF1-1C40-9B89-AD945CD34E89}" srcId="{C6F01A7E-7A30-BB49-B719-318E24E56BB2}" destId="{27DEB759-758F-BC46-8DE2-3109D4EEBFAE}" srcOrd="2" destOrd="0" parTransId="{CC3D60D7-C902-044A-BCC4-1A09A9F50B28}" sibTransId="{0BA6645B-1098-F94C-9456-CBAA835309DB}"/>
    <dgm:cxn modelId="{DDA2F1EC-157B-004F-A28A-836D7BBCE442}" type="presOf" srcId="{EFE16AEF-FA5C-8644-BC75-00C5BA48C2F3}" destId="{D6A52FEE-DE07-3140-AD08-0F3043B284FC}" srcOrd="0" destOrd="0" presId="urn:microsoft.com/office/officeart/2005/8/layout/radial1"/>
    <dgm:cxn modelId="{37179FEF-4A6E-C744-928A-F191B7DB8B91}" type="presOf" srcId="{CC3D60D7-C902-044A-BCC4-1A09A9F50B28}" destId="{6E834E17-BD9B-EA47-836B-2F1B09BB1756}" srcOrd="0" destOrd="0" presId="urn:microsoft.com/office/officeart/2005/8/layout/radial1"/>
    <dgm:cxn modelId="{AC3D6ADA-9E95-EA40-A1BE-32FF6E7D2D05}" type="presParOf" srcId="{D56D02CA-ECAA-9440-85C6-4781E8DDFAF3}" destId="{86D3F78B-3A07-1A49-9A79-CF21B8B4AE32}" srcOrd="0" destOrd="0" presId="urn:microsoft.com/office/officeart/2005/8/layout/radial1"/>
    <dgm:cxn modelId="{DC98B779-AE31-F849-B362-F2974096DFEB}" type="presParOf" srcId="{D56D02CA-ECAA-9440-85C6-4781E8DDFAF3}" destId="{8C38ABE4-B6CA-E04B-B097-D4F63E61CBA8}" srcOrd="1" destOrd="0" presId="urn:microsoft.com/office/officeart/2005/8/layout/radial1"/>
    <dgm:cxn modelId="{F736082B-BD42-3644-9524-757F64BAE470}" type="presParOf" srcId="{8C38ABE4-B6CA-E04B-B097-D4F63E61CBA8}" destId="{BB5E378D-5B79-B64C-ABAC-14EE41754226}" srcOrd="0" destOrd="0" presId="urn:microsoft.com/office/officeart/2005/8/layout/radial1"/>
    <dgm:cxn modelId="{C1F5D6C7-565A-1344-BB12-8A27C026A8AA}" type="presParOf" srcId="{D56D02CA-ECAA-9440-85C6-4781E8DDFAF3}" destId="{3E0BEA47-7FE4-0540-B942-F5E6C5B8AE99}" srcOrd="2" destOrd="0" presId="urn:microsoft.com/office/officeart/2005/8/layout/radial1"/>
    <dgm:cxn modelId="{EB3F529E-0B01-634B-A658-17B2A2CD3FF3}" type="presParOf" srcId="{D56D02CA-ECAA-9440-85C6-4781E8DDFAF3}" destId="{2E486AD2-96F2-AB41-A62E-34085617D771}" srcOrd="3" destOrd="0" presId="urn:microsoft.com/office/officeart/2005/8/layout/radial1"/>
    <dgm:cxn modelId="{0013CE2B-109E-4448-AEE8-9F38D6754B54}" type="presParOf" srcId="{2E486AD2-96F2-AB41-A62E-34085617D771}" destId="{111B97C0-6E8A-1240-A7BF-B9834D2BE240}" srcOrd="0" destOrd="0" presId="urn:microsoft.com/office/officeart/2005/8/layout/radial1"/>
    <dgm:cxn modelId="{86056E6C-C465-AA4A-9425-498EC2966AF0}" type="presParOf" srcId="{D56D02CA-ECAA-9440-85C6-4781E8DDFAF3}" destId="{9D7D5195-5E88-704F-A118-7390CE0AE61B}" srcOrd="4" destOrd="0" presId="urn:microsoft.com/office/officeart/2005/8/layout/radial1"/>
    <dgm:cxn modelId="{ED95C84D-B06A-824C-BB55-5233FAFBC6F5}" type="presParOf" srcId="{D56D02CA-ECAA-9440-85C6-4781E8DDFAF3}" destId="{6E834E17-BD9B-EA47-836B-2F1B09BB1756}" srcOrd="5" destOrd="0" presId="urn:microsoft.com/office/officeart/2005/8/layout/radial1"/>
    <dgm:cxn modelId="{780D7F0B-444C-DA4A-A882-D87641D5AFF1}" type="presParOf" srcId="{6E834E17-BD9B-EA47-836B-2F1B09BB1756}" destId="{429EE081-334E-1F47-AFB6-B849D1FF02CC}" srcOrd="0" destOrd="0" presId="urn:microsoft.com/office/officeart/2005/8/layout/radial1"/>
    <dgm:cxn modelId="{1B9FDC1C-ECFD-524D-82B3-4C2C8429D678}" type="presParOf" srcId="{D56D02CA-ECAA-9440-85C6-4781E8DDFAF3}" destId="{A6D07499-DA9C-4F4F-A73D-A0E962CA921F}" srcOrd="6" destOrd="0" presId="urn:microsoft.com/office/officeart/2005/8/layout/radial1"/>
    <dgm:cxn modelId="{575AA7C3-66CB-4447-9504-900166E174A2}" type="presParOf" srcId="{D56D02CA-ECAA-9440-85C6-4781E8DDFAF3}" destId="{D6A52FEE-DE07-3140-AD08-0F3043B284FC}" srcOrd="7" destOrd="0" presId="urn:microsoft.com/office/officeart/2005/8/layout/radial1"/>
    <dgm:cxn modelId="{9808637D-ADE0-3045-86B9-13ED16E5D3FA}" type="presParOf" srcId="{D6A52FEE-DE07-3140-AD08-0F3043B284FC}" destId="{DEB53822-5EF0-FD4D-8214-E42C841942BE}" srcOrd="0" destOrd="0" presId="urn:microsoft.com/office/officeart/2005/8/layout/radial1"/>
    <dgm:cxn modelId="{EA14171F-3783-6D46-B5E4-495C16F29D93}" type="presParOf" srcId="{D56D02CA-ECAA-9440-85C6-4781E8DDFAF3}" destId="{9101B81D-20A6-A547-B9DE-60BA191EF4F6}" srcOrd="8"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D3F78B-3A07-1A49-9A79-CF21B8B4AE32}">
      <dsp:nvSpPr>
        <dsp:cNvPr id="0" name=""/>
        <dsp:cNvSpPr/>
      </dsp:nvSpPr>
      <dsp:spPr>
        <a:xfrm>
          <a:off x="4892694" y="2971870"/>
          <a:ext cx="2664337" cy="262191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Georgia" panose="02040502050405020303" pitchFamily="18" charset="0"/>
            </a:rPr>
            <a:t>Opportunity</a:t>
          </a:r>
        </a:p>
      </dsp:txBody>
      <dsp:txXfrm>
        <a:off x="5282877" y="3355841"/>
        <a:ext cx="1883971" cy="1853975"/>
      </dsp:txXfrm>
    </dsp:sp>
    <dsp:sp modelId="{8C38ABE4-B6CA-E04B-B097-D4F63E61CBA8}">
      <dsp:nvSpPr>
        <dsp:cNvPr id="0" name=""/>
        <dsp:cNvSpPr/>
      </dsp:nvSpPr>
      <dsp:spPr>
        <a:xfrm rot="13587574">
          <a:off x="4136904" y="2802515"/>
          <a:ext cx="1395063" cy="34358"/>
        </a:xfrm>
        <a:custGeom>
          <a:avLst/>
          <a:gdLst/>
          <a:ahLst/>
          <a:cxnLst/>
          <a:rect l="0" t="0" r="0" b="0"/>
          <a:pathLst>
            <a:path>
              <a:moveTo>
                <a:pt x="0" y="17179"/>
              </a:moveTo>
              <a:lnTo>
                <a:pt x="1395063" y="1717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4799559" y="2784817"/>
        <a:ext cx="69753" cy="69753"/>
      </dsp:txXfrm>
    </dsp:sp>
    <dsp:sp modelId="{3E0BEA47-7FE4-0540-B942-F5E6C5B8AE99}">
      <dsp:nvSpPr>
        <dsp:cNvPr id="0" name=""/>
        <dsp:cNvSpPr/>
      </dsp:nvSpPr>
      <dsp:spPr>
        <a:xfrm>
          <a:off x="2059827" y="71371"/>
          <a:ext cx="2761493" cy="2563147"/>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Georgia" panose="02040502050405020303" pitchFamily="18" charset="0"/>
            </a:rPr>
            <a:t>Attractive</a:t>
          </a:r>
        </a:p>
      </dsp:txBody>
      <dsp:txXfrm>
        <a:off x="2464238" y="446735"/>
        <a:ext cx="1952671" cy="1812419"/>
      </dsp:txXfrm>
    </dsp:sp>
    <dsp:sp modelId="{2E486AD2-96F2-AB41-A62E-34085617D771}">
      <dsp:nvSpPr>
        <dsp:cNvPr id="0" name=""/>
        <dsp:cNvSpPr/>
      </dsp:nvSpPr>
      <dsp:spPr>
        <a:xfrm rot="18925046">
          <a:off x="7028567" y="3002365"/>
          <a:ext cx="956245" cy="34358"/>
        </a:xfrm>
        <a:custGeom>
          <a:avLst/>
          <a:gdLst/>
          <a:ahLst/>
          <a:cxnLst/>
          <a:rect l="0" t="0" r="0" b="0"/>
          <a:pathLst>
            <a:path>
              <a:moveTo>
                <a:pt x="0" y="17179"/>
              </a:moveTo>
              <a:lnTo>
                <a:pt x="956245" y="1717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482784" y="2995639"/>
        <a:ext cx="47812" cy="47812"/>
      </dsp:txXfrm>
    </dsp:sp>
    <dsp:sp modelId="{9D7D5195-5E88-704F-A118-7390CE0AE61B}">
      <dsp:nvSpPr>
        <dsp:cNvPr id="0" name=""/>
        <dsp:cNvSpPr/>
      </dsp:nvSpPr>
      <dsp:spPr>
        <a:xfrm>
          <a:off x="7493839" y="242835"/>
          <a:ext cx="2701946" cy="2915890"/>
        </a:xfrm>
        <a:prstGeom prst="ellipse">
          <a:avLst/>
        </a:prstGeom>
        <a:solidFill>
          <a:schemeClr val="accent2">
            <a:hueOff val="-1380726"/>
            <a:satOff val="-5038"/>
            <a:lumOff val="111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Georgia" panose="02040502050405020303" pitchFamily="18" charset="0"/>
            </a:rPr>
            <a:t>Timely</a:t>
          </a:r>
        </a:p>
      </dsp:txBody>
      <dsp:txXfrm>
        <a:off x="7889530" y="669857"/>
        <a:ext cx="1910564" cy="2061846"/>
      </dsp:txXfrm>
    </dsp:sp>
    <dsp:sp modelId="{6E834E17-BD9B-EA47-836B-2F1B09BB1756}">
      <dsp:nvSpPr>
        <dsp:cNvPr id="0" name=""/>
        <dsp:cNvSpPr/>
      </dsp:nvSpPr>
      <dsp:spPr>
        <a:xfrm rot="2544755">
          <a:off x="7103286" y="5409900"/>
          <a:ext cx="748277" cy="34358"/>
        </a:xfrm>
        <a:custGeom>
          <a:avLst/>
          <a:gdLst/>
          <a:ahLst/>
          <a:cxnLst/>
          <a:rect l="0" t="0" r="0" b="0"/>
          <a:pathLst>
            <a:path>
              <a:moveTo>
                <a:pt x="0" y="17179"/>
              </a:moveTo>
              <a:lnTo>
                <a:pt x="748277" y="1717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458718" y="5408373"/>
        <a:ext cx="37413" cy="37413"/>
      </dsp:txXfrm>
    </dsp:sp>
    <dsp:sp modelId="{A6D07499-DA9C-4F4F-A73D-A0E962CA921F}">
      <dsp:nvSpPr>
        <dsp:cNvPr id="0" name=""/>
        <dsp:cNvSpPr/>
      </dsp:nvSpPr>
      <dsp:spPr>
        <a:xfrm>
          <a:off x="7403813" y="5206856"/>
          <a:ext cx="2758505" cy="2825924"/>
        </a:xfrm>
        <a:prstGeom prst="ellipse">
          <a:avLst/>
        </a:prstGeom>
        <a:solidFill>
          <a:schemeClr val="accent2">
            <a:hueOff val="-2761452"/>
            <a:satOff val="-10075"/>
            <a:lumOff val="22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ClrTx/>
            <a:buSzTx/>
            <a:buFontTx/>
            <a:buNone/>
          </a:pPr>
          <a:r>
            <a:rPr lang="en-US" sz="2800" b="1" kern="1200" dirty="0">
              <a:latin typeface="Georgia" panose="02040502050405020303" pitchFamily="18" charset="0"/>
            </a:rPr>
            <a:t>Anchored</a:t>
          </a:r>
          <a:endParaRPr lang="en-US" sz="2800" kern="1200" dirty="0">
            <a:latin typeface="Georgia" panose="02040502050405020303" pitchFamily="18" charset="0"/>
          </a:endParaRPr>
        </a:p>
      </dsp:txBody>
      <dsp:txXfrm>
        <a:off x="7807787" y="5620703"/>
        <a:ext cx="1950557" cy="1998230"/>
      </dsp:txXfrm>
    </dsp:sp>
    <dsp:sp modelId="{D6A52FEE-DE07-3140-AD08-0F3043B284FC}">
      <dsp:nvSpPr>
        <dsp:cNvPr id="0" name=""/>
        <dsp:cNvSpPr/>
      </dsp:nvSpPr>
      <dsp:spPr>
        <a:xfrm rot="8163318">
          <a:off x="4505599" y="5492623"/>
          <a:ext cx="892477" cy="34358"/>
        </a:xfrm>
        <a:custGeom>
          <a:avLst/>
          <a:gdLst/>
          <a:ahLst/>
          <a:cxnLst/>
          <a:rect l="0" t="0" r="0" b="0"/>
          <a:pathLst>
            <a:path>
              <a:moveTo>
                <a:pt x="0" y="17179"/>
              </a:moveTo>
              <a:lnTo>
                <a:pt x="892477" y="1717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4929526" y="5487490"/>
        <a:ext cx="44623" cy="44623"/>
      </dsp:txXfrm>
    </dsp:sp>
    <dsp:sp modelId="{9101B81D-20A6-A547-B9DE-60BA191EF4F6}">
      <dsp:nvSpPr>
        <dsp:cNvPr id="0" name=""/>
        <dsp:cNvSpPr/>
      </dsp:nvSpPr>
      <dsp:spPr>
        <a:xfrm>
          <a:off x="2241819" y="5424702"/>
          <a:ext cx="2798738" cy="2696674"/>
        </a:xfrm>
        <a:prstGeom prst="ellipse">
          <a:avLst/>
        </a:prstGeom>
        <a:solidFill>
          <a:schemeClr val="accent2">
            <a:hueOff val="-4142178"/>
            <a:satOff val="-15113"/>
            <a:lumOff val="333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Georgia" panose="02040502050405020303" pitchFamily="18" charset="0"/>
            </a:rPr>
            <a:t>Durable</a:t>
          </a:r>
        </a:p>
      </dsp:txBody>
      <dsp:txXfrm>
        <a:off x="2651685" y="5819621"/>
        <a:ext cx="1979006" cy="1906836"/>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youtu.be/QMsGrDxWR3o"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binusianorg-my.sharepoint.com/personal/gguzman_binus_edu/_layouts/15/guestaccess.aspx?share=EarDDPlL0ZtIvw0gMZkwjDcBafhD4x4S-M61X-MXV64NRQ&amp;e=c3CvE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8612850" y="11538583"/>
            <a:ext cx="6401008" cy="745888"/>
          </a:xfrm>
        </p:spPr>
        <p:txBody>
          <a:bodyPr/>
          <a:lstStyle/>
          <a:p>
            <a:r>
              <a:rPr lang="en-US" dirty="0"/>
              <a:t>Dr. Glory Aguzman, S.Sos, M.M., CDMS, CCP</a:t>
            </a:r>
          </a:p>
        </p:txBody>
      </p:sp>
      <p:sp>
        <p:nvSpPr>
          <p:cNvPr id="12" name="TextBox 11">
            <a:extLst>
              <a:ext uri="{FF2B5EF4-FFF2-40B4-BE49-F238E27FC236}">
                <a16:creationId xmlns:a16="http://schemas.microsoft.com/office/drawing/2014/main" id="{3F0FF65F-71E4-38D9-8AD7-D80FB9D70369}"/>
              </a:ext>
            </a:extLst>
          </p:cNvPr>
          <p:cNvSpPr txBox="1"/>
          <p:nvPr/>
        </p:nvSpPr>
        <p:spPr>
          <a:xfrm>
            <a:off x="3077497" y="6073170"/>
            <a:ext cx="18229006" cy="1107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ID" sz="6600" dirty="0">
                <a:solidFill>
                  <a:schemeClr val="bg1"/>
                </a:solidFill>
                <a:latin typeface="Georgia" panose="02040502050405020303" pitchFamily="18" charset="0"/>
              </a:rPr>
              <a:t>Opportunity Recognition &amp; Problem Framing</a:t>
            </a:r>
            <a:r>
              <a:rPr lang="en-US" sz="6600" dirty="0">
                <a:solidFill>
                  <a:schemeClr val="bg1"/>
                </a:solidFill>
                <a:latin typeface="Georgia" panose="02040502050405020303" pitchFamily="18" charset="0"/>
              </a:rPr>
              <a:t> </a:t>
            </a:r>
            <a:endParaRPr lang="en-ID" sz="6600" dirty="0">
              <a:solidFill>
                <a:schemeClr val="bg1"/>
              </a:solidFill>
              <a:latin typeface="Georgia" panose="02040502050405020303" pitchFamily="18" charset="0"/>
            </a:endParaRP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7BC4E0-ABF1-00DF-4FFF-B989731FF81B}"/>
              </a:ext>
            </a:extLst>
          </p:cNvPr>
          <p:cNvSpPr txBox="1"/>
          <p:nvPr/>
        </p:nvSpPr>
        <p:spPr>
          <a:xfrm>
            <a:off x="4092132" y="5318697"/>
            <a:ext cx="12912564" cy="25648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342900" marR="0" indent="-342900" algn="l"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200" dirty="0">
                <a:latin typeface="Avenir Next LT Pro" panose="020B0504020202020204" pitchFamily="34" charset="77"/>
              </a:rPr>
              <a:t>Opportunity recognition</a:t>
            </a:r>
          </a:p>
          <a:p>
            <a:pPr marL="342900" indent="-342900" algn="l">
              <a:buFont typeface="Arial" panose="020B0604020202020204" pitchFamily="34" charset="0"/>
              <a:buChar char="•"/>
            </a:pPr>
            <a:r>
              <a:rPr kumimoji="0" lang="en-US" sz="3200" b="0" i="0" u="none" strike="noStrike" cap="none" spc="0" normalizeH="0" baseline="0" dirty="0">
                <a:ln>
                  <a:noFill/>
                </a:ln>
                <a:solidFill>
                  <a:srgbClr val="5E5E5E"/>
                </a:solidFill>
                <a:effectLst/>
                <a:uFillTx/>
                <a:latin typeface="Avenir Next LT Pro" panose="020B0504020202020204" pitchFamily="34" charset="77"/>
                <a:sym typeface="Helvetica Neue"/>
              </a:rPr>
              <a:t>Three ways to identify </a:t>
            </a:r>
            <a:r>
              <a:rPr lang="en-US" sz="3200" dirty="0">
                <a:latin typeface="Avenir Next LT Pro" panose="020B0504020202020204" pitchFamily="34" charset="77"/>
              </a:rPr>
              <a:t>Opportunities </a:t>
            </a:r>
          </a:p>
          <a:p>
            <a:pPr marL="342900" indent="-342900" algn="l">
              <a:buFont typeface="Arial" panose="020B0604020202020204" pitchFamily="34" charset="0"/>
              <a:buChar char="•"/>
            </a:pPr>
            <a:r>
              <a:rPr kumimoji="0" lang="en-US" sz="3200" b="0" i="0" u="none" strike="noStrike" cap="none" spc="0" normalizeH="0" baseline="0" dirty="0">
                <a:ln>
                  <a:noFill/>
                </a:ln>
                <a:solidFill>
                  <a:srgbClr val="5E5E5E"/>
                </a:solidFill>
                <a:effectLst/>
                <a:uFillTx/>
                <a:latin typeface="Avenir Next LT Pro" panose="020B0504020202020204" pitchFamily="34" charset="77"/>
                <a:sym typeface="Helvetica Neue"/>
              </a:rPr>
              <a:t>Explaining the key </a:t>
            </a:r>
            <a:r>
              <a:rPr lang="en-US" sz="3200" dirty="0">
                <a:latin typeface="Avenir Next LT Pro" panose="020B0504020202020204" pitchFamily="34" charset="77"/>
              </a:rPr>
              <a:t>Idea, Product &amp; Market</a:t>
            </a:r>
          </a:p>
          <a:p>
            <a:pPr marL="342900" marR="0" indent="-342900" algn="l"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0" i="0" u="none" strike="noStrike" cap="none" spc="0" normalizeH="0" baseline="0" dirty="0">
                <a:ln>
                  <a:noFill/>
                </a:ln>
                <a:solidFill>
                  <a:srgbClr val="5E5E5E"/>
                </a:solidFill>
                <a:effectLst/>
                <a:uFillTx/>
                <a:latin typeface="Avenir Next LT Pro" panose="020B0504020202020204" pitchFamily="34" charset="77"/>
                <a:sym typeface="Helvetica Neue"/>
              </a:rPr>
              <a:t>Student Activities</a:t>
            </a:r>
          </a:p>
          <a:p>
            <a:pPr marL="342900" marR="0" indent="-342900" algn="l"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3200" dirty="0">
                <a:latin typeface="Avenir Next LT Pro" panose="020B0504020202020204" pitchFamily="34" charset="77"/>
              </a:rPr>
              <a:t>Next Session Preparation</a:t>
            </a:r>
            <a:endParaRPr kumimoji="0" lang="en-US" sz="3200" b="0" i="0" u="none" strike="noStrike" cap="none" spc="0" normalizeH="0" baseline="0" dirty="0">
              <a:ln>
                <a:noFill/>
              </a:ln>
              <a:solidFill>
                <a:srgbClr val="5E5E5E"/>
              </a:solidFill>
              <a:effectLst/>
              <a:uFillTx/>
              <a:latin typeface="Avenir Next LT Pro" panose="020B0504020202020204" pitchFamily="34" charset="77"/>
              <a:sym typeface="Helvetica Neue"/>
            </a:endParaRPr>
          </a:p>
        </p:txBody>
      </p:sp>
      <p:sp>
        <p:nvSpPr>
          <p:cNvPr id="3" name="TextBox 2">
            <a:extLst>
              <a:ext uri="{FF2B5EF4-FFF2-40B4-BE49-F238E27FC236}">
                <a16:creationId xmlns:a16="http://schemas.microsoft.com/office/drawing/2014/main" id="{DE259338-FD87-664B-9672-C0797AF0900B}"/>
              </a:ext>
            </a:extLst>
          </p:cNvPr>
          <p:cNvSpPr txBox="1"/>
          <p:nvPr/>
        </p:nvSpPr>
        <p:spPr>
          <a:xfrm>
            <a:off x="5864772" y="844004"/>
            <a:ext cx="11634952"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6600" dirty="0">
                <a:solidFill>
                  <a:srgbClr val="0090D4"/>
                </a:solidFill>
                <a:effectLst>
                  <a:outerShdw blurRad="38100" dist="38100" dir="2700000" algn="tl">
                    <a:srgbClr val="000000">
                      <a:alpha val="43137"/>
                    </a:srgbClr>
                  </a:outerShdw>
                </a:effectLst>
                <a:latin typeface="Georgia" panose="02040502050405020303" pitchFamily="18" charset="0"/>
              </a:rPr>
              <a:t>Subtopics</a:t>
            </a:r>
            <a:endParaRPr kumimoji="0" lang="en-ID" sz="6600" b="0"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endParaRPr>
          </a:p>
        </p:txBody>
      </p:sp>
    </p:spTree>
    <p:extLst>
      <p:ext uri="{BB962C8B-B14F-4D97-AF65-F5344CB8AC3E}">
        <p14:creationId xmlns:p14="http://schemas.microsoft.com/office/powerpoint/2010/main" val="74121290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8AF1EC2-E9E5-363E-3C0B-7858824B8BE2}"/>
              </a:ext>
            </a:extLst>
          </p:cNvPr>
          <p:cNvSpPr txBox="1"/>
          <p:nvPr/>
        </p:nvSpPr>
        <p:spPr>
          <a:xfrm>
            <a:off x="2071817" y="4659699"/>
            <a:ext cx="17105869"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571500" indent="-571500" algn="l">
              <a:buFont typeface="Arial" panose="020B0604020202020204" pitchFamily="34" charset="0"/>
              <a:buChar char="•"/>
            </a:pPr>
            <a:r>
              <a:rPr lang="en-ID" sz="3600" dirty="0">
                <a:solidFill>
                  <a:schemeClr val="tx1"/>
                </a:solidFill>
                <a:latin typeface="Avenir Next LT Pro" panose="020B0504020202020204" pitchFamily="34" charset="77"/>
                <a:ea typeface="Verdana" panose="020B0604030504040204" pitchFamily="34" charset="0"/>
              </a:rPr>
              <a:t>10 key Potential Products </a:t>
            </a:r>
            <a:r>
              <a:rPr lang="en-ID" sz="3600" u="sng" dirty="0">
                <a:solidFill>
                  <a:schemeClr val="tx1"/>
                </a:solidFill>
                <a:latin typeface="Avenir Next LT Pro" panose="020B0504020202020204" pitchFamily="34" charset="77"/>
                <a:ea typeface="Verdana" panose="020B0604030504040204" pitchFamily="34" charset="0"/>
                <a:cs typeface="Verdana" panose="020B0604030504040204" pitchFamily="34" charset="0"/>
                <a:hlinkClick r:id="rId2">
                  <a:extLst>
                    <a:ext uri="{A12FA001-AC4F-418D-AE19-62706E023703}">
                      <ahyp:hlinkClr xmlns:ahyp="http://schemas.microsoft.com/office/drawing/2018/hyperlinkcolor" val="tx"/>
                    </a:ext>
                  </a:extLst>
                </a:hlinkClick>
              </a:rPr>
              <a:t>https://youtu.be/QMsGrDxWR3o</a:t>
            </a:r>
            <a:endParaRPr lang="en-ID" sz="3600" u="sng" dirty="0">
              <a:solidFill>
                <a:schemeClr val="tx1"/>
              </a:solidFill>
              <a:latin typeface="Avenir Next LT Pro" panose="020B0504020202020204" pitchFamily="34" charset="77"/>
              <a:ea typeface="Verdana" panose="020B0604030504040204" pitchFamily="34" charset="0"/>
              <a:cs typeface="Verdana" panose="020B0604030504040204" pitchFamily="34" charset="0"/>
            </a:endParaRPr>
          </a:p>
          <a:p>
            <a:pPr algn="l"/>
            <a:endParaRPr lang="en-US" sz="3600" dirty="0">
              <a:solidFill>
                <a:schemeClr val="tx1"/>
              </a:solidFill>
              <a:latin typeface="Avenir Next LT Pro" panose="020B0504020202020204" pitchFamily="34" charset="0"/>
            </a:endParaRPr>
          </a:p>
        </p:txBody>
      </p:sp>
      <p:sp>
        <p:nvSpPr>
          <p:cNvPr id="2" name="TextBox 1">
            <a:extLst>
              <a:ext uri="{FF2B5EF4-FFF2-40B4-BE49-F238E27FC236}">
                <a16:creationId xmlns:a16="http://schemas.microsoft.com/office/drawing/2014/main" id="{86CFEBFB-D423-2219-F689-5D305E5D84B2}"/>
              </a:ext>
            </a:extLst>
          </p:cNvPr>
          <p:cNvSpPr txBox="1"/>
          <p:nvPr/>
        </p:nvSpPr>
        <p:spPr>
          <a:xfrm>
            <a:off x="5864772" y="844004"/>
            <a:ext cx="11634952"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6600" b="0"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rPr>
              <a:t>Acknowledgement</a:t>
            </a:r>
            <a:endParaRPr kumimoji="0" lang="en-ID" sz="6600" b="0"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endParaRPr>
          </a:p>
        </p:txBody>
      </p:sp>
    </p:spTree>
    <p:extLst>
      <p:ext uri="{BB962C8B-B14F-4D97-AF65-F5344CB8AC3E}">
        <p14:creationId xmlns:p14="http://schemas.microsoft.com/office/powerpoint/2010/main" val="276645439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1B560-D008-39C4-49F0-1CD3B0E393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768C82-6F20-36FA-91A7-67C47C5CE02E}"/>
              </a:ext>
            </a:extLst>
          </p:cNvPr>
          <p:cNvSpPr txBox="1"/>
          <p:nvPr/>
        </p:nvSpPr>
        <p:spPr>
          <a:xfrm>
            <a:off x="5904529" y="844004"/>
            <a:ext cx="11634952"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6600" dirty="0">
                <a:solidFill>
                  <a:srgbClr val="0090D4"/>
                </a:solidFill>
                <a:effectLst>
                  <a:outerShdw blurRad="38100" dist="38100" dir="2700000" algn="tl">
                    <a:srgbClr val="000000">
                      <a:alpha val="43137"/>
                    </a:srgbClr>
                  </a:outerShdw>
                </a:effectLst>
                <a:latin typeface="Georgia" panose="02040502050405020303" pitchFamily="18" charset="0"/>
              </a:rPr>
              <a:t>Learning Outcome</a:t>
            </a:r>
            <a:endParaRPr kumimoji="0" lang="en-ID" sz="6600" b="0"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endParaRPr>
          </a:p>
        </p:txBody>
      </p:sp>
      <p:sp>
        <p:nvSpPr>
          <p:cNvPr id="4" name="TextBox 3">
            <a:extLst>
              <a:ext uri="{FF2B5EF4-FFF2-40B4-BE49-F238E27FC236}">
                <a16:creationId xmlns:a16="http://schemas.microsoft.com/office/drawing/2014/main" id="{EECF2CE6-D00B-918F-E05C-F720F7AF7C32}"/>
              </a:ext>
            </a:extLst>
          </p:cNvPr>
          <p:cNvSpPr txBox="1"/>
          <p:nvPr/>
        </p:nvSpPr>
        <p:spPr>
          <a:xfrm>
            <a:off x="6102626" y="6297592"/>
            <a:ext cx="12205252"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3200" dirty="0">
                <a:solidFill>
                  <a:schemeClr val="tx1"/>
                </a:solidFill>
                <a:latin typeface="Avenir Next LT Pro" panose="020B0504020202020204" pitchFamily="34" charset="0"/>
              </a:rPr>
              <a:t>LO1:    Create a prototype relevant to market needs</a:t>
            </a:r>
            <a:r>
              <a:rPr lang="en-US" sz="2400" dirty="0">
                <a:solidFill>
                  <a:schemeClr val="tx1"/>
                </a:solidFill>
                <a:latin typeface="Avenir Next LT Pro" panose="020B0504020202020204" pitchFamily="34" charset="0"/>
              </a:rPr>
              <a:t>..</a:t>
            </a:r>
          </a:p>
        </p:txBody>
      </p:sp>
    </p:spTree>
    <p:extLst>
      <p:ext uri="{BB962C8B-B14F-4D97-AF65-F5344CB8AC3E}">
        <p14:creationId xmlns:p14="http://schemas.microsoft.com/office/powerpoint/2010/main" val="237803537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9B99B-E8B2-9A3D-8116-DB7F3E098C5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51EE230-009E-14BF-0A7A-E405EF2BE7CB}"/>
              </a:ext>
            </a:extLst>
          </p:cNvPr>
          <p:cNvSpPr txBox="1"/>
          <p:nvPr/>
        </p:nvSpPr>
        <p:spPr>
          <a:xfrm>
            <a:off x="2071817" y="4659699"/>
            <a:ext cx="19555731"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3600" dirty="0">
                <a:solidFill>
                  <a:schemeClr val="tx1"/>
                </a:solidFill>
                <a:latin typeface="Avenir Next LT Pro" panose="020B0504020202020204" pitchFamily="34" charset="0"/>
              </a:rPr>
              <a:t>LO1:    Create a prototype relevant to market needs.</a:t>
            </a:r>
          </a:p>
          <a:p>
            <a:pPr algn="l"/>
            <a:r>
              <a:rPr lang="en-US" sz="3600" dirty="0">
                <a:solidFill>
                  <a:schemeClr val="tx1"/>
                </a:solidFill>
                <a:latin typeface="Avenir Next LT Pro" panose="020B0504020202020204" pitchFamily="34" charset="0"/>
              </a:rPr>
              <a:t>LO2:    Validate the prototype to assess business potential.</a:t>
            </a:r>
          </a:p>
          <a:p>
            <a:pPr algn="l"/>
            <a:r>
              <a:rPr lang="en-US" sz="3600" dirty="0">
                <a:solidFill>
                  <a:schemeClr val="tx1"/>
                </a:solidFill>
                <a:latin typeface="Avenir Next LT Pro" panose="020B0504020202020204" pitchFamily="34" charset="0"/>
              </a:rPr>
              <a:t>LO3:    Create a business report and pitch deck for sustainable business development.</a:t>
            </a:r>
          </a:p>
          <a:p>
            <a:pPr algn="l"/>
            <a:endParaRPr lang="en-US" sz="3600" dirty="0">
              <a:solidFill>
                <a:schemeClr val="tx1"/>
              </a:solidFill>
              <a:latin typeface="Avenir Next LT Pro" panose="020B0504020202020204" pitchFamily="34" charset="0"/>
            </a:endParaRPr>
          </a:p>
        </p:txBody>
      </p:sp>
      <p:sp>
        <p:nvSpPr>
          <p:cNvPr id="2" name="TextBox 1">
            <a:extLst>
              <a:ext uri="{FF2B5EF4-FFF2-40B4-BE49-F238E27FC236}">
                <a16:creationId xmlns:a16="http://schemas.microsoft.com/office/drawing/2014/main" id="{307E2CAF-CAC6-5986-05A1-CEF17D8F8FB5}"/>
              </a:ext>
            </a:extLst>
          </p:cNvPr>
          <p:cNvSpPr txBox="1"/>
          <p:nvPr/>
        </p:nvSpPr>
        <p:spPr>
          <a:xfrm>
            <a:off x="5864772" y="844004"/>
            <a:ext cx="11634952"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6600" b="0"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rPr>
              <a:t>Acknowledgement</a:t>
            </a:r>
            <a:endParaRPr kumimoji="0" lang="en-ID" sz="6600" b="0"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endParaRPr>
          </a:p>
        </p:txBody>
      </p:sp>
    </p:spTree>
    <p:extLst>
      <p:ext uri="{BB962C8B-B14F-4D97-AF65-F5344CB8AC3E}">
        <p14:creationId xmlns:p14="http://schemas.microsoft.com/office/powerpoint/2010/main" val="118211002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1ABB1-271C-18FE-E784-5D808A246F5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8D307A-79CB-2979-8821-27A8B61AAD20}"/>
              </a:ext>
            </a:extLst>
          </p:cNvPr>
          <p:cNvSpPr txBox="1"/>
          <p:nvPr/>
        </p:nvSpPr>
        <p:spPr>
          <a:xfrm>
            <a:off x="5864772" y="1236159"/>
            <a:ext cx="11634952"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ID" sz="4000" b="1" dirty="0">
                <a:solidFill>
                  <a:srgbClr val="0090D4"/>
                </a:solidFill>
                <a:latin typeface="Georgia" panose="02040502050405020303" pitchFamily="18" charset="0"/>
              </a:rPr>
              <a:t>Opportunity Recognition </a:t>
            </a:r>
            <a:endParaRPr kumimoji="0" lang="en-ID" sz="4000" b="1"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endParaRPr>
          </a:p>
        </p:txBody>
      </p:sp>
      <p:sp>
        <p:nvSpPr>
          <p:cNvPr id="3" name="TextBox 2">
            <a:extLst>
              <a:ext uri="{FF2B5EF4-FFF2-40B4-BE49-F238E27FC236}">
                <a16:creationId xmlns:a16="http://schemas.microsoft.com/office/drawing/2014/main" id="{2725AC28-3AD3-5C9A-5CC7-B193470CF212}"/>
              </a:ext>
            </a:extLst>
          </p:cNvPr>
          <p:cNvSpPr txBox="1"/>
          <p:nvPr/>
        </p:nvSpPr>
        <p:spPr>
          <a:xfrm>
            <a:off x="4624798" y="2751103"/>
            <a:ext cx="1687932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i="0" u="none" strike="noStrike" cap="none" spc="0" normalizeH="0" baseline="0" dirty="0">
                <a:ln>
                  <a:noFill/>
                </a:ln>
                <a:solidFill>
                  <a:srgbClr val="5E5E5E"/>
                </a:solidFill>
                <a:effectLst/>
                <a:uFillTx/>
                <a:latin typeface="Avenir Next LT Pro" panose="020B0504020202020204" pitchFamily="34" charset="77"/>
                <a:sym typeface="Helvetica Neue"/>
              </a:rPr>
              <a:t>An opportunity is a favorable set of circumstances that creates a need for new product, service, or business</a:t>
            </a:r>
          </a:p>
        </p:txBody>
      </p:sp>
      <p:graphicFrame>
        <p:nvGraphicFramePr>
          <p:cNvPr id="24" name="Diagram 23">
            <a:extLst>
              <a:ext uri="{FF2B5EF4-FFF2-40B4-BE49-F238E27FC236}">
                <a16:creationId xmlns:a16="http://schemas.microsoft.com/office/drawing/2014/main" id="{56924351-EBA7-F5A6-F355-957FE0E5D957}"/>
              </a:ext>
            </a:extLst>
          </p:cNvPr>
          <p:cNvGraphicFramePr/>
          <p:nvPr>
            <p:extLst>
              <p:ext uri="{D42A27DB-BD31-4B8C-83A1-F6EECF244321}">
                <p14:modId xmlns:p14="http://schemas.microsoft.com/office/powerpoint/2010/main" val="1919495486"/>
              </p:ext>
            </p:extLst>
          </p:nvPr>
        </p:nvGraphicFramePr>
        <p:xfrm>
          <a:off x="6058736" y="4430663"/>
          <a:ext cx="12728028" cy="88213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8" name="TextBox 27">
            <a:extLst>
              <a:ext uri="{FF2B5EF4-FFF2-40B4-BE49-F238E27FC236}">
                <a16:creationId xmlns:a16="http://schemas.microsoft.com/office/drawing/2014/main" id="{5BCA1E1B-ACB9-A8A3-B50B-5D1DEE67BAF8}"/>
              </a:ext>
            </a:extLst>
          </p:cNvPr>
          <p:cNvSpPr txBox="1"/>
          <p:nvPr/>
        </p:nvSpPr>
        <p:spPr>
          <a:xfrm>
            <a:off x="963827" y="4010969"/>
            <a:ext cx="7043352" cy="3785652"/>
          </a:xfrm>
          <a:prstGeom prst="rect">
            <a:avLst/>
          </a:prstGeom>
          <a:solidFill>
            <a:schemeClr val="accent5">
              <a:lumMod val="20000"/>
              <a:lumOff val="80000"/>
            </a:schemeClr>
          </a:solidFill>
          <a:ln w="12700" cap="flat">
            <a:solidFill>
              <a:srgbClr val="0090D4"/>
            </a:solidFill>
            <a:miter lim="400000"/>
          </a:ln>
          <a:effectLst>
            <a:glow rad="63500">
              <a:schemeClr val="accent1">
                <a:satMod val="175000"/>
                <a:alpha val="40000"/>
              </a:schemeClr>
            </a:glow>
          </a:effectLst>
          <a:sp3d/>
        </p:spPr>
        <p:style>
          <a:lnRef idx="0">
            <a:scrgbClr r="0" g="0" b="0"/>
          </a:lnRef>
          <a:fillRef idx="0">
            <a:scrgbClr r="0" g="0" b="0"/>
          </a:fillRef>
          <a:effectRef idx="0">
            <a:scrgbClr r="0" g="0" b="0"/>
          </a:effectRef>
          <a:fontRef idx="none"/>
        </p:style>
        <p:txBody>
          <a:bodyPr wrap="square">
            <a:spAutoFit/>
          </a:bodyPr>
          <a:lstStyle/>
          <a:p>
            <a:pPr>
              <a:buNone/>
            </a:pPr>
            <a:r>
              <a:rPr lang="en-US" b="1" dirty="0">
                <a:latin typeface="Avenir Next LT Pro" panose="020B0504020202020204" pitchFamily="34" charset="77"/>
              </a:rPr>
              <a:t>Attractive</a:t>
            </a:r>
          </a:p>
          <a:p>
            <a:pPr algn="l">
              <a:buNone/>
            </a:pPr>
            <a:r>
              <a:rPr lang="en-US" dirty="0">
                <a:latin typeface="Avenir Next LT Pro" panose="020B0504020202020204" pitchFamily="34" charset="77"/>
              </a:rPr>
              <a:t>An opportunity must be </a:t>
            </a:r>
            <a:r>
              <a:rPr lang="en-US" b="1" dirty="0">
                <a:latin typeface="Avenir Next LT Pro" panose="020B0504020202020204" pitchFamily="34" charset="77"/>
              </a:rPr>
              <a:t>appealing to both entrepreneurs and the market</a:t>
            </a:r>
            <a:r>
              <a:rPr lang="en-US" dirty="0">
                <a:latin typeface="Avenir Next LT Pro" panose="020B0504020202020204" pitchFamily="34" charset="77"/>
              </a:rPr>
              <a:t>. This means the idea should spark interest because it has profit potential, consumer appeal, or uniqueness compared to existing products or services.</a:t>
            </a:r>
          </a:p>
          <a:p>
            <a:endParaRPr lang="en-US" i="1" dirty="0">
              <a:latin typeface="Avenir Next LT Pro" panose="020B0504020202020204" pitchFamily="34" charset="77"/>
            </a:endParaRPr>
          </a:p>
          <a:p>
            <a:pPr algn="l"/>
            <a:r>
              <a:rPr lang="en-US" i="1" dirty="0">
                <a:latin typeface="Avenir Next LT Pro" panose="020B0504020202020204" pitchFamily="34" charset="77"/>
              </a:rPr>
              <a:t>Example:</a:t>
            </a:r>
            <a:r>
              <a:rPr lang="en-US" dirty="0">
                <a:latin typeface="Avenir Next LT Pro" panose="020B0504020202020204" pitchFamily="34" charset="77"/>
              </a:rPr>
              <a:t> Eco-friendly products are attractive because of the growing trend of environmental awareness among consumers</a:t>
            </a:r>
          </a:p>
        </p:txBody>
      </p:sp>
      <p:sp>
        <p:nvSpPr>
          <p:cNvPr id="30" name="TextBox 29">
            <a:extLst>
              <a:ext uri="{FF2B5EF4-FFF2-40B4-BE49-F238E27FC236}">
                <a16:creationId xmlns:a16="http://schemas.microsoft.com/office/drawing/2014/main" id="{D4054B2C-C97E-0E5D-F3C9-A7235D76E488}"/>
              </a:ext>
            </a:extLst>
          </p:cNvPr>
          <p:cNvSpPr txBox="1"/>
          <p:nvPr/>
        </p:nvSpPr>
        <p:spPr>
          <a:xfrm>
            <a:off x="16376822" y="4010969"/>
            <a:ext cx="7043350" cy="3785652"/>
          </a:xfrm>
          <a:prstGeom prst="rect">
            <a:avLst/>
          </a:prstGeom>
          <a:solidFill>
            <a:srgbClr val="92D050"/>
          </a:solidFill>
          <a:ln w="12700" cap="flat">
            <a:solidFill>
              <a:schemeClr val="accent6">
                <a:lumMod val="20000"/>
                <a:lumOff val="80000"/>
              </a:schemeClr>
            </a:solidFill>
            <a:miter lim="400000"/>
          </a:ln>
          <a:effectLst>
            <a:glow rad="139700">
              <a:schemeClr val="accent5">
                <a:satMod val="175000"/>
                <a:alpha val="40000"/>
              </a:schemeClr>
            </a:glow>
          </a:effectLst>
          <a:sp3d/>
        </p:spPr>
        <p:style>
          <a:lnRef idx="0">
            <a:scrgbClr r="0" g="0" b="0"/>
          </a:lnRef>
          <a:fillRef idx="0">
            <a:scrgbClr r="0" g="0" b="0"/>
          </a:fillRef>
          <a:effectRef idx="0">
            <a:scrgbClr r="0" g="0" b="0"/>
          </a:effectRef>
          <a:fontRef idx="none"/>
        </p:style>
        <p:txBody>
          <a:bodyPr wrap="square">
            <a:spAutoFit/>
          </a:bodyPr>
          <a:lstStyle/>
          <a:p>
            <a:pPr>
              <a:buNone/>
            </a:pPr>
            <a:r>
              <a:rPr lang="en-US" b="1" dirty="0"/>
              <a:t>Timely</a:t>
            </a:r>
          </a:p>
          <a:p>
            <a:pPr algn="l">
              <a:buNone/>
            </a:pPr>
            <a:r>
              <a:rPr lang="en-US" dirty="0"/>
              <a:t>An opportunity must occur </a:t>
            </a:r>
            <a:r>
              <a:rPr lang="en-US" b="1" dirty="0"/>
              <a:t>at the right time </a:t>
            </a:r>
            <a:r>
              <a:rPr lang="en-US" dirty="0"/>
              <a:t>when market conditions, technology, and consumer behavior are favorable. If it appears too early (the market isn’t ready) or too late (too many competitors), it will be difficult to succeed.</a:t>
            </a:r>
          </a:p>
          <a:p>
            <a:pPr algn="l">
              <a:buNone/>
            </a:pPr>
            <a:endParaRPr lang="en-US" i="1" dirty="0"/>
          </a:p>
          <a:p>
            <a:pPr algn="l">
              <a:buNone/>
            </a:pPr>
            <a:r>
              <a:rPr lang="en-US" i="1" dirty="0"/>
              <a:t>Example:</a:t>
            </a:r>
            <a:r>
              <a:rPr lang="en-US" dirty="0"/>
              <a:t> Online learning platforms became a timely opportunity during the COVID-19 pandemic.</a:t>
            </a:r>
          </a:p>
        </p:txBody>
      </p:sp>
      <p:sp>
        <p:nvSpPr>
          <p:cNvPr id="32" name="TextBox 31">
            <a:extLst>
              <a:ext uri="{FF2B5EF4-FFF2-40B4-BE49-F238E27FC236}">
                <a16:creationId xmlns:a16="http://schemas.microsoft.com/office/drawing/2014/main" id="{9AD24006-8AC2-3632-6C7E-F245B971D9A6}"/>
              </a:ext>
            </a:extLst>
          </p:cNvPr>
          <p:cNvSpPr txBox="1"/>
          <p:nvPr/>
        </p:nvSpPr>
        <p:spPr>
          <a:xfrm>
            <a:off x="963827" y="9372506"/>
            <a:ext cx="7043353" cy="3785652"/>
          </a:xfrm>
          <a:prstGeom prst="rect">
            <a:avLst/>
          </a:prstGeom>
          <a:solidFill>
            <a:srgbClr val="FFC000"/>
          </a:solidFill>
          <a:ln w="12700" cap="flat">
            <a:solidFill>
              <a:srgbClr val="FFC000"/>
            </a:solidFill>
            <a:miter lim="400000"/>
          </a:ln>
          <a:effectLst>
            <a:glow rad="139700">
              <a:schemeClr val="accent2">
                <a:satMod val="175000"/>
                <a:alpha val="40000"/>
              </a:schemeClr>
            </a:glow>
          </a:effectLst>
          <a:sp3d/>
        </p:spPr>
        <p:style>
          <a:lnRef idx="0">
            <a:scrgbClr r="0" g="0" b="0"/>
          </a:lnRef>
          <a:fillRef idx="0">
            <a:scrgbClr r="0" g="0" b="0"/>
          </a:fillRef>
          <a:effectRef idx="0">
            <a:scrgbClr r="0" g="0" b="0"/>
          </a:effectRef>
          <a:fontRef idx="none"/>
        </p:style>
        <p:txBody>
          <a:bodyPr wrap="square">
            <a:spAutoFit/>
          </a:bodyPr>
          <a:lstStyle/>
          <a:p>
            <a:pPr>
              <a:buNone/>
            </a:pPr>
            <a:r>
              <a:rPr lang="en-US" b="1" dirty="0"/>
              <a:t>Durable</a:t>
            </a:r>
          </a:p>
          <a:p>
            <a:pPr algn="l">
              <a:buNone/>
            </a:pPr>
            <a:r>
              <a:rPr lang="en-US" dirty="0">
                <a:latin typeface="Avenir Next LT Pro" panose="020B0504020202020204" pitchFamily="34" charset="77"/>
              </a:rPr>
              <a:t>A true opportunity should be </a:t>
            </a:r>
            <a:r>
              <a:rPr lang="en-US" b="1" dirty="0">
                <a:latin typeface="Avenir Next LT Pro" panose="020B0504020202020204" pitchFamily="34" charset="77"/>
              </a:rPr>
              <a:t>sustainable over time</a:t>
            </a:r>
            <a:r>
              <a:rPr lang="en-US" dirty="0">
                <a:latin typeface="Avenir Next LT Pro" panose="020B0504020202020204" pitchFamily="34" charset="77"/>
              </a:rPr>
              <a:t>, not just a short-lived trend. It should have long-term value and remain relevant even when market conditions change.</a:t>
            </a:r>
          </a:p>
          <a:p>
            <a:pPr algn="l">
              <a:buNone/>
            </a:pPr>
            <a:endParaRPr lang="en-US" dirty="0">
              <a:latin typeface="Avenir Next LT Pro" panose="020B0504020202020204" pitchFamily="34" charset="77"/>
            </a:endParaRPr>
          </a:p>
          <a:p>
            <a:pPr algn="l">
              <a:buNone/>
            </a:pPr>
            <a:r>
              <a:rPr lang="en-US" i="1" dirty="0">
                <a:latin typeface="Avenir Next LT Pro" panose="020B0504020202020204" pitchFamily="34" charset="77"/>
              </a:rPr>
              <a:t>Example:</a:t>
            </a:r>
            <a:r>
              <a:rPr lang="en-US" dirty="0">
                <a:latin typeface="Avenir Next LT Pro" panose="020B0504020202020204" pitchFamily="34" charset="77"/>
              </a:rPr>
              <a:t> Digital payment services (e-wallets) remain durable even after the cashless trend became common, as they continue to provide convenience in daily transactions.</a:t>
            </a:r>
          </a:p>
        </p:txBody>
      </p:sp>
      <p:sp>
        <p:nvSpPr>
          <p:cNvPr id="34" name="TextBox 33">
            <a:extLst>
              <a:ext uri="{FF2B5EF4-FFF2-40B4-BE49-F238E27FC236}">
                <a16:creationId xmlns:a16="http://schemas.microsoft.com/office/drawing/2014/main" id="{03722C90-8A59-B072-9641-07FC000FCAD2}"/>
              </a:ext>
            </a:extLst>
          </p:cNvPr>
          <p:cNvSpPr txBox="1"/>
          <p:nvPr/>
        </p:nvSpPr>
        <p:spPr>
          <a:xfrm>
            <a:off x="16376822" y="8672075"/>
            <a:ext cx="7043349" cy="4524315"/>
          </a:xfrm>
          <a:prstGeom prst="rect">
            <a:avLst/>
          </a:prstGeom>
          <a:solidFill>
            <a:schemeClr val="accent4">
              <a:lumMod val="20000"/>
              <a:lumOff val="80000"/>
            </a:schemeClr>
          </a:solidFill>
          <a:ln w="12700" cap="flat">
            <a:solidFill>
              <a:srgbClr val="FFC000"/>
            </a:solidFill>
            <a:miter lim="400000"/>
          </a:ln>
          <a:effectLst>
            <a:glow rad="228600">
              <a:schemeClr val="accent6">
                <a:satMod val="175000"/>
                <a:alpha val="40000"/>
              </a:schemeClr>
            </a:glow>
          </a:effectLst>
          <a:sp3d/>
        </p:spPr>
        <p:style>
          <a:lnRef idx="0">
            <a:scrgbClr r="0" g="0" b="0"/>
          </a:lnRef>
          <a:fillRef idx="0">
            <a:scrgbClr r="0" g="0" b="0"/>
          </a:fillRef>
          <a:effectRef idx="0">
            <a:scrgbClr r="0" g="0" b="0"/>
          </a:effectRef>
          <a:fontRef idx="none"/>
        </p:style>
        <p:txBody>
          <a:bodyPr wrap="square">
            <a:spAutoFit/>
          </a:bodyPr>
          <a:lstStyle/>
          <a:p>
            <a:pPr>
              <a:buNone/>
            </a:pPr>
            <a:r>
              <a:rPr lang="en-US" b="1" dirty="0"/>
              <a:t>Anchored in a Product,  service, or business that creates or adds Value</a:t>
            </a:r>
          </a:p>
          <a:p>
            <a:pPr algn="l">
              <a:buNone/>
            </a:pPr>
            <a:r>
              <a:rPr lang="en-US" dirty="0"/>
              <a:t>An opportunity must be </a:t>
            </a:r>
            <a:r>
              <a:rPr lang="en-US" b="1" dirty="0"/>
              <a:t>rooted in something that creates or adds value for customers</a:t>
            </a:r>
            <a:r>
              <a:rPr lang="en-US" dirty="0"/>
              <a:t> — whether it’s a product, service, or business model. The value can come from efficiency, convenience, quality, or innovation.</a:t>
            </a:r>
          </a:p>
          <a:p>
            <a:pPr algn="l"/>
            <a:endParaRPr lang="en-US" i="1" dirty="0"/>
          </a:p>
          <a:p>
            <a:pPr algn="l"/>
            <a:r>
              <a:rPr lang="en-US" i="1" dirty="0"/>
              <a:t>Example:</a:t>
            </a:r>
            <a:r>
              <a:rPr lang="en-US" dirty="0"/>
              <a:t> Companies like Grab and Gojek add value by making transportation and daily services more accessible through one simple app.</a:t>
            </a:r>
          </a:p>
        </p:txBody>
      </p:sp>
      <p:sp>
        <p:nvSpPr>
          <p:cNvPr id="35" name="TextBox 34">
            <a:extLst>
              <a:ext uri="{FF2B5EF4-FFF2-40B4-BE49-F238E27FC236}">
                <a16:creationId xmlns:a16="http://schemas.microsoft.com/office/drawing/2014/main" id="{80FEA1A4-6817-2777-5735-5C370415A151}"/>
              </a:ext>
            </a:extLst>
          </p:cNvPr>
          <p:cNvSpPr txBox="1"/>
          <p:nvPr/>
        </p:nvSpPr>
        <p:spPr>
          <a:xfrm>
            <a:off x="9016314" y="12666810"/>
            <a:ext cx="6351373"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5E5E5E"/>
                </a:solidFill>
                <a:effectLst/>
                <a:uFillTx/>
                <a:latin typeface="Georgia" panose="02040502050405020303" pitchFamily="18" charset="0"/>
                <a:sym typeface="Helvetica Neue"/>
              </a:rPr>
              <a:t>Figure 2.1 Four Essential Quantities of an Opportunity</a:t>
            </a:r>
          </a:p>
        </p:txBody>
      </p:sp>
    </p:spTree>
    <p:extLst>
      <p:ext uri="{BB962C8B-B14F-4D97-AF65-F5344CB8AC3E}">
        <p14:creationId xmlns:p14="http://schemas.microsoft.com/office/powerpoint/2010/main" val="13553408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8B87F27-C72A-4652-64FD-781BC7E3D88E}"/>
              </a:ext>
            </a:extLst>
          </p:cNvPr>
          <p:cNvSpPr txBox="1"/>
          <p:nvPr/>
        </p:nvSpPr>
        <p:spPr>
          <a:xfrm>
            <a:off x="823783" y="3507860"/>
            <a:ext cx="22736433" cy="89562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81013" indent="-457200" algn="l">
              <a:buFont typeface="+mj-lt"/>
              <a:buAutoNum type="arabicPeriod"/>
            </a:pPr>
            <a:r>
              <a:rPr lang="en-US" b="1" dirty="0">
                <a:latin typeface="Avenir Next LT Pro" panose="020B0504020202020204" pitchFamily="34" charset="77"/>
              </a:rPr>
              <a:t>Observing Trends</a:t>
            </a:r>
            <a:br>
              <a:rPr lang="en-US" dirty="0">
                <a:latin typeface="Avenir Next LT Pro" panose="020B0504020202020204" pitchFamily="34" charset="77"/>
              </a:rPr>
            </a:br>
            <a:r>
              <a:rPr lang="en-US" dirty="0">
                <a:latin typeface="Avenir Next LT Pro" panose="020B0504020202020204" pitchFamily="34" charset="77"/>
              </a:rPr>
              <a:t>Look at changes in the economy, society, technology, and government policies to find new needs or ideas.</a:t>
            </a:r>
          </a:p>
          <a:p>
            <a:pPr marL="1270000" indent="-635000" algn="l">
              <a:buFont typeface="Arial" panose="020B0604020202020204" pitchFamily="34" charset="0"/>
              <a:buChar char="•"/>
            </a:pPr>
            <a:r>
              <a:rPr lang="en-US" dirty="0"/>
              <a:t>Economic trends: Changes in income, employment, or spending habits. </a:t>
            </a:r>
          </a:p>
          <a:p>
            <a:pPr marL="1270000" indent="-635000" algn="l">
              <a:buFont typeface="Arial" panose="020B0604020202020204" pitchFamily="34" charset="0"/>
              <a:buChar char="•"/>
            </a:pPr>
            <a:r>
              <a:rPr lang="en-US" dirty="0"/>
              <a:t>Social trends: Shifts in lifestyle, attitudes, or demographics. </a:t>
            </a:r>
          </a:p>
          <a:p>
            <a:pPr marL="1270000" indent="-635000" algn="l">
              <a:buFont typeface="Arial" panose="020B0604020202020204" pitchFamily="34" charset="0"/>
              <a:buChar char="•"/>
            </a:pPr>
            <a:r>
              <a:rPr lang="en-US" dirty="0"/>
              <a:t>Technological advances: New innovations that enable new products or services. </a:t>
            </a:r>
          </a:p>
          <a:p>
            <a:pPr marL="1270000" indent="-635000" algn="l">
              <a:buFont typeface="Arial" panose="020B0604020202020204" pitchFamily="34" charset="0"/>
              <a:buChar char="•"/>
            </a:pPr>
            <a:r>
              <a:rPr lang="en-US" dirty="0"/>
              <a:t>Political and regulatory changes: New laws or policies that create new markets or needs.</a:t>
            </a:r>
            <a:br>
              <a:rPr lang="en-US" dirty="0">
                <a:latin typeface="Avenir Next LT Pro" panose="020B0504020202020204" pitchFamily="34" charset="77"/>
              </a:rPr>
            </a:br>
            <a:endParaRPr lang="en-US" dirty="0">
              <a:latin typeface="Avenir Next LT Pro" panose="020B0504020202020204" pitchFamily="34" charset="77"/>
            </a:endParaRPr>
          </a:p>
          <a:p>
            <a:pPr marL="635000" algn="l"/>
            <a:r>
              <a:rPr lang="en-US" i="1" dirty="0">
                <a:latin typeface="Avenir Next LT Pro" panose="020B0504020202020204" pitchFamily="34" charset="77"/>
              </a:rPr>
              <a:t>Example: </a:t>
            </a:r>
            <a:r>
              <a:rPr lang="en-US" dirty="0">
                <a:latin typeface="Avenir Next LT Pro" panose="020B0504020202020204" pitchFamily="34" charset="77"/>
              </a:rPr>
              <a:t>The health trend led to growth in organic food and fitness apps.</a:t>
            </a:r>
          </a:p>
          <a:p>
            <a:pPr marL="463550" indent="-463550" algn="l">
              <a:buNone/>
            </a:pPr>
            <a:endParaRPr lang="en-US" dirty="0">
              <a:latin typeface="Avenir Next LT Pro" panose="020B0504020202020204" pitchFamily="34" charset="77"/>
            </a:endParaRPr>
          </a:p>
          <a:p>
            <a:pPr marL="463550" indent="-463550" algn="l"/>
            <a:r>
              <a:rPr lang="en-US" dirty="0">
                <a:latin typeface="Avenir Next LT Pro" panose="020B0504020202020204" pitchFamily="34" charset="77"/>
              </a:rPr>
              <a:t> </a:t>
            </a:r>
            <a:r>
              <a:rPr lang="en-US" b="1" dirty="0">
                <a:latin typeface="Avenir Next LT Pro" panose="020B0504020202020204" pitchFamily="34" charset="77"/>
              </a:rPr>
              <a:t>2. Solving a Problem</a:t>
            </a:r>
            <a:br>
              <a:rPr lang="en-US" dirty="0">
                <a:latin typeface="Avenir Next LT Pro" panose="020B0504020202020204" pitchFamily="34" charset="77"/>
              </a:rPr>
            </a:br>
            <a:r>
              <a:rPr lang="en-US" dirty="0"/>
              <a:t>Many successful business ideas emerge from identifying and solving a real problem that people face. When entrepreneurs spot pain points or inefficiencies, they can design solutions that make life easier or better for others.</a:t>
            </a:r>
            <a:br>
              <a:rPr lang="en-US" dirty="0">
                <a:latin typeface="Avenir Next LT Pro" panose="020B0504020202020204" pitchFamily="34" charset="77"/>
              </a:rPr>
            </a:br>
            <a:endParaRPr lang="en-US" dirty="0">
              <a:latin typeface="Avenir Next LT Pro" panose="020B0504020202020204" pitchFamily="34" charset="77"/>
            </a:endParaRPr>
          </a:p>
          <a:p>
            <a:pPr marL="463550" indent="-463550" algn="l"/>
            <a:r>
              <a:rPr lang="en-US" i="1" dirty="0">
                <a:latin typeface="Avenir Next LT Pro" panose="020B0504020202020204" pitchFamily="34" charset="77"/>
              </a:rPr>
              <a:t>       Example:</a:t>
            </a:r>
            <a:r>
              <a:rPr lang="en-US" dirty="0">
                <a:latin typeface="Avenir Next LT Pro" panose="020B0504020202020204" pitchFamily="34" charset="77"/>
              </a:rPr>
              <a:t> Uber and Grab solve transportation problems.</a:t>
            </a:r>
          </a:p>
          <a:p>
            <a:pPr marL="414338" indent="-414338" algn="l">
              <a:buNone/>
            </a:pPr>
            <a:endParaRPr lang="en-US" dirty="0">
              <a:latin typeface="Avenir Next LT Pro" panose="020B0504020202020204" pitchFamily="34" charset="77"/>
            </a:endParaRPr>
          </a:p>
          <a:p>
            <a:pPr marL="365125" indent="-292100" algn="l"/>
            <a:r>
              <a:rPr lang="en-US" b="1" dirty="0">
                <a:latin typeface="Avenir Next LT Pro" panose="020B0504020202020204" pitchFamily="34" charset="77"/>
              </a:rPr>
              <a:t>3. Finding Gaps in the Marketplace</a:t>
            </a:r>
            <a:br>
              <a:rPr lang="en-US" dirty="0">
                <a:latin typeface="Avenir Next LT Pro" panose="020B0504020202020204" pitchFamily="34" charset="77"/>
              </a:rPr>
            </a:br>
            <a:r>
              <a:rPr lang="en-US" dirty="0"/>
              <a:t>Sometimes opportunities arise from recognizing unmet needs or market gaps — products or services that customers want but are not yet being offered effectively. </a:t>
            </a:r>
          </a:p>
          <a:p>
            <a:pPr marL="365125" algn="l"/>
            <a:r>
              <a:rPr lang="en-US" dirty="0"/>
              <a:t>This involves looking for: Areas where existing products don’t fully satisfy customer needs. Niches that larger companies have overlooked. Ways to offer better quality, convenience, or pricing.</a:t>
            </a:r>
            <a:br>
              <a:rPr lang="en-US" dirty="0">
                <a:latin typeface="Avenir Next LT Pro" panose="020B0504020202020204" pitchFamily="34" charset="77"/>
              </a:rPr>
            </a:br>
            <a:endParaRPr lang="en-US" dirty="0">
              <a:latin typeface="Avenir Next LT Pro" panose="020B0504020202020204" pitchFamily="34" charset="77"/>
            </a:endParaRPr>
          </a:p>
          <a:p>
            <a:pPr marL="365125" algn="l"/>
            <a:r>
              <a:rPr lang="en-US" i="1" dirty="0">
                <a:latin typeface="Avenir Next LT Pro" panose="020B0504020202020204" pitchFamily="34" charset="77"/>
              </a:rPr>
              <a:t>Example:</a:t>
            </a:r>
            <a:r>
              <a:rPr lang="en-US" dirty="0">
                <a:latin typeface="Avenir Next LT Pro" panose="020B0504020202020204" pitchFamily="34" charset="77"/>
              </a:rPr>
              <a:t> Airbnb filled the gap for affordable home-based lodging.</a:t>
            </a:r>
          </a:p>
          <a:p>
            <a:pPr marL="365125" algn="l"/>
            <a:endParaRPr lang="en-US" i="1" dirty="0">
              <a:latin typeface="Avenir Next LT Pro" panose="020B0504020202020204" pitchFamily="34" charset="77"/>
            </a:endParaRPr>
          </a:p>
          <a:p>
            <a:pPr marL="365125" algn="l"/>
            <a:r>
              <a:rPr lang="en-US" i="1" dirty="0">
                <a:latin typeface="Avenir Next LT Pro" panose="020B0504020202020204" pitchFamily="34" charset="77"/>
              </a:rPr>
              <a:t>Simple rule:</a:t>
            </a:r>
            <a:r>
              <a:rPr lang="en-US" dirty="0">
                <a:latin typeface="Avenir Next LT Pro" panose="020B0504020202020204" pitchFamily="34" charset="77"/>
              </a:rPr>
              <a:t> Watch trends, fix problems, and fill market gaps — that’s how great opportunities are born!</a:t>
            </a:r>
          </a:p>
        </p:txBody>
      </p:sp>
      <p:sp>
        <p:nvSpPr>
          <p:cNvPr id="3" name="TextBox 2">
            <a:extLst>
              <a:ext uri="{FF2B5EF4-FFF2-40B4-BE49-F238E27FC236}">
                <a16:creationId xmlns:a16="http://schemas.microsoft.com/office/drawing/2014/main" id="{49387119-0ECB-6559-69A3-11F168710117}"/>
              </a:ext>
            </a:extLst>
          </p:cNvPr>
          <p:cNvSpPr txBox="1"/>
          <p:nvPr/>
        </p:nvSpPr>
        <p:spPr>
          <a:xfrm>
            <a:off x="6374524" y="1251842"/>
            <a:ext cx="11634952"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ID" sz="4000" b="1" dirty="0">
                <a:solidFill>
                  <a:srgbClr val="0090D4"/>
                </a:solidFill>
                <a:latin typeface="Georgia" panose="02040502050405020303" pitchFamily="18" charset="0"/>
              </a:rPr>
              <a:t>Three Ways to identify Opportunities </a:t>
            </a:r>
            <a:endParaRPr kumimoji="0" lang="en-ID" sz="4000" b="1"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endParaRPr>
          </a:p>
        </p:txBody>
      </p:sp>
    </p:spTree>
    <p:extLst>
      <p:ext uri="{BB962C8B-B14F-4D97-AF65-F5344CB8AC3E}">
        <p14:creationId xmlns:p14="http://schemas.microsoft.com/office/powerpoint/2010/main" val="345721174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7">
            <a:extLst>
              <a:ext uri="{FF2B5EF4-FFF2-40B4-BE49-F238E27FC236}">
                <a16:creationId xmlns:a16="http://schemas.microsoft.com/office/drawing/2014/main" id="{82219F5A-0BB3-9981-C151-DEA06AFE3C75}"/>
              </a:ext>
            </a:extLst>
          </p:cNvPr>
          <p:cNvGraphicFramePr>
            <a:graphicFrameLocks noGrp="1"/>
          </p:cNvGraphicFramePr>
          <p:nvPr>
            <p:extLst>
              <p:ext uri="{D42A27DB-BD31-4B8C-83A1-F6EECF244321}">
                <p14:modId xmlns:p14="http://schemas.microsoft.com/office/powerpoint/2010/main" val="2961251392"/>
              </p:ext>
            </p:extLst>
          </p:nvPr>
        </p:nvGraphicFramePr>
        <p:xfrm>
          <a:off x="1285073" y="2589665"/>
          <a:ext cx="22522069" cy="10795075"/>
        </p:xfrm>
        <a:graphic>
          <a:graphicData uri="http://schemas.openxmlformats.org/drawingml/2006/table">
            <a:tbl>
              <a:tblPr firstRow="1" bandRow="1">
                <a:effectLst>
                  <a:outerShdw blurRad="50800" dist="425154" dir="2700000" algn="tl" rotWithShape="0">
                    <a:prstClr val="black">
                      <a:alpha val="40000"/>
                    </a:prstClr>
                  </a:outerShdw>
                </a:effectLst>
                <a:tableStyleId>{5C22544A-7EE6-4342-B048-85BDC9FD1C3A}</a:tableStyleId>
              </a:tblPr>
              <a:tblGrid>
                <a:gridCol w="1045328">
                  <a:extLst>
                    <a:ext uri="{9D8B030D-6E8A-4147-A177-3AD203B41FA5}">
                      <a16:colId xmlns:a16="http://schemas.microsoft.com/office/drawing/2014/main" val="4098818559"/>
                    </a:ext>
                  </a:extLst>
                </a:gridCol>
                <a:gridCol w="10215707">
                  <a:extLst>
                    <a:ext uri="{9D8B030D-6E8A-4147-A177-3AD203B41FA5}">
                      <a16:colId xmlns:a16="http://schemas.microsoft.com/office/drawing/2014/main" val="1297342323"/>
                    </a:ext>
                  </a:extLst>
                </a:gridCol>
                <a:gridCol w="11261034">
                  <a:extLst>
                    <a:ext uri="{9D8B030D-6E8A-4147-A177-3AD203B41FA5}">
                      <a16:colId xmlns:a16="http://schemas.microsoft.com/office/drawing/2014/main" val="3314830530"/>
                    </a:ext>
                  </a:extLst>
                </a:gridCol>
              </a:tblGrid>
              <a:tr h="844220">
                <a:tc>
                  <a:txBody>
                    <a:bodyPr/>
                    <a:lstStyle/>
                    <a:p>
                      <a:pPr algn="ctr"/>
                      <a:r>
                        <a:rPr lang="en-ID" sz="2800" dirty="0">
                          <a:effectLst>
                            <a:outerShdw blurRad="38100" dist="38100" dir="2700000" algn="tl">
                              <a:srgbClr val="000000">
                                <a:alpha val="43137"/>
                              </a:srgbClr>
                            </a:outerShdw>
                          </a:effectLst>
                          <a:latin typeface="Avenir Next LT Pro" panose="020B0504020202020204" pitchFamily="34" charset="77"/>
                        </a:rPr>
                        <a:t>No</a:t>
                      </a:r>
                    </a:p>
                  </a:txBody>
                  <a:tcPr anchor="ctr">
                    <a:lnR w="12700" cap="flat" cmpd="sng" algn="ctr">
                      <a:solidFill>
                        <a:schemeClr val="tx1"/>
                      </a:solidFill>
                      <a:prstDash val="solid"/>
                      <a:round/>
                      <a:headEnd type="none" w="med" len="med"/>
                      <a:tailEnd type="none" w="med" len="med"/>
                    </a:lnR>
                    <a:solidFill>
                      <a:srgbClr val="F08800">
                        <a:alpha val="93661"/>
                      </a:srgbClr>
                    </a:solidFill>
                  </a:tcPr>
                </a:tc>
                <a:tc>
                  <a:txBody>
                    <a:bodyPr/>
                    <a:lstStyle/>
                    <a:p>
                      <a:pPr algn="ctr"/>
                      <a:r>
                        <a:rPr lang="en-ID" sz="2800" dirty="0">
                          <a:effectLst>
                            <a:outerShdw blurRad="38100" dist="38100" dir="2700000" algn="tl">
                              <a:srgbClr val="000000">
                                <a:alpha val="43137"/>
                              </a:srgbClr>
                            </a:outerShdw>
                          </a:effectLst>
                          <a:latin typeface="Avenir Next LT Pro" panose="020B0504020202020204" pitchFamily="34" charset="77"/>
                        </a:rPr>
                        <a:t>Questions</a:t>
                      </a:r>
                    </a:p>
                  </a:txBody>
                  <a:tcPr anchor="ctr">
                    <a:lnL w="12700" cap="flat" cmpd="sng" algn="ctr">
                      <a:solidFill>
                        <a:schemeClr val="tx1"/>
                      </a:solidFill>
                      <a:prstDash val="solid"/>
                      <a:round/>
                      <a:headEnd type="none" w="med" len="med"/>
                      <a:tailEnd type="none" w="med" len="med"/>
                    </a:lnL>
                    <a:solidFill>
                      <a:srgbClr val="F08800">
                        <a:alpha val="93661"/>
                      </a:srgbClr>
                    </a:solidFill>
                  </a:tcPr>
                </a:tc>
                <a:tc>
                  <a:txBody>
                    <a:bodyPr/>
                    <a:lstStyle/>
                    <a:p>
                      <a:pPr algn="ctr"/>
                      <a:r>
                        <a:rPr lang="en-ID" sz="2800" dirty="0" err="1">
                          <a:effectLst>
                            <a:outerShdw blurRad="38100" dist="38100" dir="2700000" algn="tl">
                              <a:srgbClr val="000000">
                                <a:alpha val="43137"/>
                              </a:srgbClr>
                            </a:outerShdw>
                          </a:effectLst>
                          <a:latin typeface="Avenir Next LT Pro" panose="020B0504020202020204" pitchFamily="34" charset="77"/>
                        </a:rPr>
                        <a:t>Descripttion</a:t>
                      </a:r>
                      <a:endParaRPr lang="en-ID" sz="2800" dirty="0">
                        <a:effectLst>
                          <a:outerShdw blurRad="38100" dist="38100" dir="2700000" algn="tl">
                            <a:srgbClr val="000000">
                              <a:alpha val="43137"/>
                            </a:srgbClr>
                          </a:outerShdw>
                        </a:effectLst>
                        <a:latin typeface="Avenir Next LT Pro" panose="020B0504020202020204" pitchFamily="34" charset="77"/>
                      </a:endParaRPr>
                    </a:p>
                  </a:txBody>
                  <a:tcPr anchor="ctr">
                    <a:solidFill>
                      <a:srgbClr val="F08800">
                        <a:alpha val="93661"/>
                      </a:srgbClr>
                    </a:solidFill>
                  </a:tcPr>
                </a:tc>
                <a:extLst>
                  <a:ext uri="{0D108BD9-81ED-4DB2-BD59-A6C34878D82A}">
                    <a16:rowId xmlns:a16="http://schemas.microsoft.com/office/drawing/2014/main" val="3546704873"/>
                  </a:ext>
                </a:extLst>
              </a:tr>
              <a:tr h="1344981">
                <a:tc>
                  <a:txBody>
                    <a:bodyPr/>
                    <a:lstStyle/>
                    <a:p>
                      <a:pPr algn="ctr"/>
                      <a:r>
                        <a:rPr lang="en-ID" sz="3200" dirty="0">
                          <a:latin typeface="Avenir Next LT Pro" panose="020B0504020202020204" pitchFamily="34" charset="77"/>
                        </a:rPr>
                        <a:t>1</a:t>
                      </a:r>
                    </a:p>
                  </a:txBody>
                  <a:tcPr>
                    <a:lnR w="12700" cap="flat" cmpd="sng" algn="ctr">
                      <a:solidFill>
                        <a:schemeClr val="tx1"/>
                      </a:solidFill>
                      <a:prstDash val="solid"/>
                      <a:round/>
                      <a:headEnd type="none" w="med" len="med"/>
                      <a:tailEnd type="none" w="med" len="med"/>
                    </a:lnR>
                    <a:solidFill>
                      <a:srgbClr val="B1D8F3">
                        <a:alpha val="93661"/>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latin typeface="Avenir Next LT Pro" panose="020B0504020202020204" pitchFamily="34" charset="77"/>
                        </a:rPr>
                        <a:t>Describe the idea/product in a few sentences?</a:t>
                      </a:r>
                      <a:endParaRPr lang="en-ID" sz="3200" dirty="0">
                        <a:latin typeface="Avenir Next LT Pro" panose="020B0504020202020204" pitchFamily="34" charset="77"/>
                      </a:endParaRPr>
                    </a:p>
                  </a:txBody>
                  <a:tcPr>
                    <a:lnL w="12700" cap="flat" cmpd="sng" algn="ctr">
                      <a:solidFill>
                        <a:schemeClr val="tx1"/>
                      </a:solidFill>
                      <a:prstDash val="solid"/>
                      <a:round/>
                      <a:headEnd type="none" w="med" len="med"/>
                      <a:tailEnd type="none" w="med" len="med"/>
                    </a:lnL>
                    <a:solidFill>
                      <a:srgbClr val="B1D8F3">
                        <a:alpha val="93661"/>
                      </a:srgbClr>
                    </a:solidFill>
                  </a:tcPr>
                </a:tc>
                <a:tc>
                  <a:txBody>
                    <a:bodyPr/>
                    <a:lstStyle/>
                    <a:p>
                      <a:pPr algn="l"/>
                      <a:r>
                        <a:rPr lang="en-US" sz="3200" dirty="0">
                          <a:latin typeface="Avenir Next LT Pro" panose="020B0504020202020204" pitchFamily="34" charset="77"/>
                        </a:rPr>
                        <a:t>Briefly explain what this idea/product should be, what it should do and how should it be used. Provide as much information as you can about it</a:t>
                      </a:r>
                      <a:endParaRPr lang="en-ID" sz="3200" dirty="0">
                        <a:latin typeface="Avenir Next LT Pro" panose="020B0504020202020204" pitchFamily="34" charset="77"/>
                      </a:endParaRPr>
                    </a:p>
                  </a:txBody>
                  <a:tcPr>
                    <a:solidFill>
                      <a:srgbClr val="B1D8F3">
                        <a:alpha val="93661"/>
                      </a:srgbClr>
                    </a:solidFill>
                  </a:tcPr>
                </a:tc>
                <a:extLst>
                  <a:ext uri="{0D108BD9-81ED-4DB2-BD59-A6C34878D82A}">
                    <a16:rowId xmlns:a16="http://schemas.microsoft.com/office/drawing/2014/main" val="31533552"/>
                  </a:ext>
                </a:extLst>
              </a:tr>
              <a:tr h="1766935">
                <a:tc>
                  <a:txBody>
                    <a:bodyPr/>
                    <a:lstStyle/>
                    <a:p>
                      <a:pPr algn="ctr"/>
                      <a:r>
                        <a:rPr lang="en-ID" sz="3200" dirty="0">
                          <a:latin typeface="Avenir Next LT Pro" panose="020B0504020202020204" pitchFamily="34" charset="77"/>
                        </a:rPr>
                        <a:t>2</a:t>
                      </a:r>
                    </a:p>
                  </a:txBody>
                  <a:tcPr>
                    <a:lnR w="12700" cap="flat" cmpd="sng" algn="ctr">
                      <a:solidFill>
                        <a:schemeClr val="tx1"/>
                      </a:solidFill>
                      <a:prstDash val="solid"/>
                      <a:round/>
                      <a:headEnd type="none" w="med" len="med"/>
                      <a:tailEnd type="none" w="med" len="med"/>
                    </a:lnR>
                    <a:solidFill>
                      <a:srgbClr val="B1D8F3">
                        <a:alpha val="93661"/>
                      </a:srgbClr>
                    </a:solidFill>
                  </a:tcPr>
                </a:tc>
                <a:tc>
                  <a:txBody>
                    <a:bodyPr/>
                    <a:lstStyle/>
                    <a:p>
                      <a:pPr algn="l"/>
                      <a:r>
                        <a:rPr lang="en-US" sz="3200" dirty="0">
                          <a:latin typeface="Avenir Next LT Pro" panose="020B0504020202020204" pitchFamily="34" charset="77"/>
                        </a:rPr>
                        <a:t>What problems will this idea/product solve?</a:t>
                      </a:r>
                      <a:endParaRPr lang="en-ID" sz="3200" dirty="0">
                        <a:latin typeface="Avenir Next LT Pro" panose="020B0504020202020204" pitchFamily="34" charset="77"/>
                      </a:endParaRPr>
                    </a:p>
                  </a:txBody>
                  <a:tcPr>
                    <a:lnL w="12700" cap="flat" cmpd="sng" algn="ctr">
                      <a:solidFill>
                        <a:schemeClr val="tx1"/>
                      </a:solidFill>
                      <a:prstDash val="solid"/>
                      <a:round/>
                      <a:headEnd type="none" w="med" len="med"/>
                      <a:tailEnd type="none" w="med" len="med"/>
                    </a:lnL>
                    <a:solidFill>
                      <a:srgbClr val="B1D8F3">
                        <a:alpha val="93661"/>
                      </a:srgbClr>
                    </a:solidFill>
                  </a:tcPr>
                </a:tc>
                <a:tc>
                  <a:txBody>
                    <a:bodyPr/>
                    <a:lstStyle/>
                    <a:p>
                      <a:pPr algn="l"/>
                      <a:r>
                        <a:rPr lang="en-US" sz="3200" dirty="0">
                          <a:latin typeface="Avenir Next LT Pro" panose="020B0504020202020204" pitchFamily="34" charset="77"/>
                        </a:rPr>
                        <a:t>Describe users’ issues this idea/product will be able to help them with. Also, write down if anyone has already managed to successfully solve that issue and what makes your idea different/better from their. </a:t>
                      </a:r>
                      <a:endParaRPr lang="en-ID" sz="3200" dirty="0">
                        <a:latin typeface="Avenir Next LT Pro" panose="020B0504020202020204" pitchFamily="34" charset="77"/>
                      </a:endParaRPr>
                    </a:p>
                  </a:txBody>
                  <a:tcPr>
                    <a:solidFill>
                      <a:srgbClr val="B1D8F3">
                        <a:alpha val="93661"/>
                      </a:srgbClr>
                    </a:solidFill>
                  </a:tcPr>
                </a:tc>
                <a:extLst>
                  <a:ext uri="{0D108BD9-81ED-4DB2-BD59-A6C34878D82A}">
                    <a16:rowId xmlns:a16="http://schemas.microsoft.com/office/drawing/2014/main" val="3774671066"/>
                  </a:ext>
                </a:extLst>
              </a:tr>
              <a:tr h="1344981">
                <a:tc>
                  <a:txBody>
                    <a:bodyPr/>
                    <a:lstStyle/>
                    <a:p>
                      <a:pPr algn="ctr"/>
                      <a:r>
                        <a:rPr lang="en-ID" sz="3200" dirty="0">
                          <a:latin typeface="Avenir Next LT Pro" panose="020B0504020202020204" pitchFamily="34" charset="77"/>
                        </a:rPr>
                        <a:t>3</a:t>
                      </a:r>
                    </a:p>
                  </a:txBody>
                  <a:tcPr>
                    <a:lnR w="12700" cap="flat" cmpd="sng" algn="ctr">
                      <a:solidFill>
                        <a:schemeClr val="tx1"/>
                      </a:solidFill>
                      <a:prstDash val="solid"/>
                      <a:round/>
                      <a:headEnd type="none" w="med" len="med"/>
                      <a:tailEnd type="none" w="med" len="med"/>
                    </a:lnR>
                    <a:solidFill>
                      <a:srgbClr val="B1D8F3">
                        <a:alpha val="93661"/>
                      </a:srgbClr>
                    </a:solidFill>
                  </a:tcPr>
                </a:tc>
                <a:tc>
                  <a:txBody>
                    <a:bodyPr/>
                    <a:lstStyle/>
                    <a:p>
                      <a:pPr algn="l"/>
                      <a:r>
                        <a:rPr lang="en-US" sz="3200" dirty="0">
                          <a:latin typeface="Avenir Next LT Pro" panose="020B0504020202020204" pitchFamily="34" charset="77"/>
                        </a:rPr>
                        <a:t>What are my goals with this idea/product?</a:t>
                      </a:r>
                      <a:endParaRPr lang="en-ID" sz="3200" dirty="0">
                        <a:latin typeface="Avenir Next LT Pro" panose="020B0504020202020204" pitchFamily="34" charset="77"/>
                      </a:endParaRPr>
                    </a:p>
                  </a:txBody>
                  <a:tcPr>
                    <a:lnL w="12700" cap="flat" cmpd="sng" algn="ctr">
                      <a:solidFill>
                        <a:schemeClr val="tx1"/>
                      </a:solidFill>
                      <a:prstDash val="solid"/>
                      <a:round/>
                      <a:headEnd type="none" w="med" len="med"/>
                      <a:tailEnd type="none" w="med" len="med"/>
                    </a:lnL>
                    <a:solidFill>
                      <a:srgbClr val="B1D8F3">
                        <a:alpha val="93661"/>
                      </a:srgbClr>
                    </a:solidFill>
                  </a:tcPr>
                </a:tc>
                <a:tc>
                  <a:txBody>
                    <a:bodyPr/>
                    <a:lstStyle/>
                    <a:p>
                      <a:pPr algn="l"/>
                      <a:r>
                        <a:rPr lang="en-US" sz="3200" dirty="0">
                          <a:latin typeface="Avenir Next LT Pro" panose="020B0504020202020204" pitchFamily="34" charset="77"/>
                        </a:rPr>
                        <a:t>Write down all available details regarding your financial, customer-related and operational goals that are tied in to this idea/product.</a:t>
                      </a:r>
                      <a:endParaRPr lang="en-ID" sz="3200" dirty="0">
                        <a:latin typeface="Avenir Next LT Pro" panose="020B0504020202020204" pitchFamily="34" charset="77"/>
                      </a:endParaRPr>
                    </a:p>
                  </a:txBody>
                  <a:tcPr>
                    <a:solidFill>
                      <a:srgbClr val="B1D8F3">
                        <a:alpha val="93661"/>
                      </a:srgbClr>
                    </a:solidFill>
                  </a:tcPr>
                </a:tc>
                <a:extLst>
                  <a:ext uri="{0D108BD9-81ED-4DB2-BD59-A6C34878D82A}">
                    <a16:rowId xmlns:a16="http://schemas.microsoft.com/office/drawing/2014/main" val="1141000772"/>
                  </a:ext>
                </a:extLst>
              </a:tr>
              <a:tr h="2188890">
                <a:tc>
                  <a:txBody>
                    <a:bodyPr/>
                    <a:lstStyle/>
                    <a:p>
                      <a:pPr algn="ctr"/>
                      <a:r>
                        <a:rPr lang="en-ID" sz="3200" dirty="0">
                          <a:latin typeface="Avenir Next LT Pro" panose="020B0504020202020204" pitchFamily="34" charset="77"/>
                        </a:rPr>
                        <a:t>4</a:t>
                      </a:r>
                    </a:p>
                  </a:txBody>
                  <a:tcPr>
                    <a:lnR w="12700" cap="flat" cmpd="sng" algn="ctr">
                      <a:solidFill>
                        <a:schemeClr val="tx1"/>
                      </a:solidFill>
                      <a:prstDash val="solid"/>
                      <a:round/>
                      <a:headEnd type="none" w="med" len="med"/>
                      <a:tailEnd type="none" w="med" len="med"/>
                    </a:lnR>
                    <a:solidFill>
                      <a:srgbClr val="B1D8F3">
                        <a:alpha val="93661"/>
                      </a:srgbClr>
                    </a:solidFill>
                  </a:tcPr>
                </a:tc>
                <a:tc>
                  <a:txBody>
                    <a:bodyPr/>
                    <a:lstStyle/>
                    <a:p>
                      <a:pPr algn="l"/>
                      <a:r>
                        <a:rPr lang="en-US" sz="3200" dirty="0">
                          <a:latin typeface="Avenir Next LT Pro" panose="020B0504020202020204" pitchFamily="34" charset="77"/>
                        </a:rPr>
                        <a:t>What research have I already done?</a:t>
                      </a:r>
                      <a:endParaRPr lang="en-ID" sz="3200" dirty="0">
                        <a:latin typeface="Avenir Next LT Pro" panose="020B0504020202020204" pitchFamily="34" charset="77"/>
                      </a:endParaRPr>
                    </a:p>
                  </a:txBody>
                  <a:tcPr>
                    <a:lnL w="12700" cap="flat" cmpd="sng" algn="ctr">
                      <a:solidFill>
                        <a:schemeClr val="tx1"/>
                      </a:solidFill>
                      <a:prstDash val="solid"/>
                      <a:round/>
                      <a:headEnd type="none" w="med" len="med"/>
                      <a:tailEnd type="none" w="med" len="med"/>
                    </a:lnL>
                    <a:solidFill>
                      <a:srgbClr val="B1D8F3">
                        <a:alpha val="93661"/>
                      </a:srgbClr>
                    </a:solidFill>
                  </a:tcPr>
                </a:tc>
                <a:tc>
                  <a:txBody>
                    <a:bodyPr/>
                    <a:lstStyle/>
                    <a:p>
                      <a:pPr algn="l"/>
                      <a:r>
                        <a:rPr lang="en-US" sz="3200" dirty="0">
                          <a:latin typeface="Avenir Next LT Pro" panose="020B0504020202020204" pitchFamily="34" charset="77"/>
                        </a:rPr>
                        <a:t>If you have conducted any kind of research in regards to this idea/product, issue it’s trying to solve or target audience, write down the results you gathered, as well as any and all insights you acquired during the process.</a:t>
                      </a:r>
                      <a:endParaRPr lang="en-ID" sz="3200" dirty="0">
                        <a:latin typeface="Avenir Next LT Pro" panose="020B0504020202020204" pitchFamily="34" charset="77"/>
                      </a:endParaRPr>
                    </a:p>
                  </a:txBody>
                  <a:tcPr>
                    <a:solidFill>
                      <a:srgbClr val="B1D8F3">
                        <a:alpha val="93661"/>
                      </a:srgbClr>
                    </a:solidFill>
                  </a:tcPr>
                </a:tc>
                <a:extLst>
                  <a:ext uri="{0D108BD9-81ED-4DB2-BD59-A6C34878D82A}">
                    <a16:rowId xmlns:a16="http://schemas.microsoft.com/office/drawing/2014/main" val="3517248368"/>
                  </a:ext>
                </a:extLst>
              </a:tr>
              <a:tr h="2610845">
                <a:tc>
                  <a:txBody>
                    <a:bodyPr/>
                    <a:lstStyle/>
                    <a:p>
                      <a:pPr algn="ctr"/>
                      <a:r>
                        <a:rPr lang="en-ID" sz="3200" dirty="0">
                          <a:latin typeface="Avenir Next LT Pro" panose="020B0504020202020204" pitchFamily="34" charset="77"/>
                        </a:rPr>
                        <a:t>5</a:t>
                      </a:r>
                    </a:p>
                  </a:txBody>
                  <a:tcPr>
                    <a:lnR w="12700" cap="flat" cmpd="sng" algn="ctr">
                      <a:solidFill>
                        <a:schemeClr val="tx1"/>
                      </a:solidFill>
                      <a:prstDash val="solid"/>
                      <a:round/>
                      <a:headEnd type="none" w="med" len="med"/>
                      <a:tailEnd type="none" w="med" len="med"/>
                    </a:lnR>
                    <a:solidFill>
                      <a:srgbClr val="B1D8F3">
                        <a:alpha val="93661"/>
                      </a:srgbClr>
                    </a:solidFill>
                  </a:tcPr>
                </a:tc>
                <a:tc>
                  <a:txBody>
                    <a:bodyPr/>
                    <a:lstStyle/>
                    <a:p>
                      <a:pPr algn="l"/>
                      <a:r>
                        <a:rPr lang="en-US" sz="3200" dirty="0">
                          <a:latin typeface="Avenir Next LT Pro" panose="020B0504020202020204" pitchFamily="34" charset="77"/>
                        </a:rPr>
                        <a:t>Is there any existing research data already available?</a:t>
                      </a:r>
                      <a:endParaRPr lang="en-ID" sz="3200" dirty="0">
                        <a:latin typeface="Avenir Next LT Pro" panose="020B0504020202020204" pitchFamily="34" charset="77"/>
                      </a:endParaRPr>
                    </a:p>
                  </a:txBody>
                  <a:tcPr>
                    <a:lnL w="12700" cap="flat" cmpd="sng" algn="ctr">
                      <a:solidFill>
                        <a:schemeClr val="tx1"/>
                      </a:solidFill>
                      <a:prstDash val="solid"/>
                      <a:round/>
                      <a:headEnd type="none" w="med" len="med"/>
                      <a:tailEnd type="none" w="med" len="med"/>
                    </a:lnL>
                    <a:solidFill>
                      <a:srgbClr val="B1D8F3">
                        <a:alpha val="93661"/>
                      </a:srgbClr>
                    </a:solidFill>
                  </a:tcPr>
                </a:tc>
                <a:tc>
                  <a:txBody>
                    <a:bodyPr/>
                    <a:lstStyle/>
                    <a:p>
                      <a:pPr algn="l"/>
                      <a:r>
                        <a:rPr lang="en-US" sz="3200" dirty="0">
                          <a:latin typeface="Avenir Next LT Pro" panose="020B0504020202020204" pitchFamily="34" charset="77"/>
                        </a:rPr>
                        <a:t>If there’s available data, write down all the information you can find (links, articles, summaries, papers…) about conducted surveys, market research, analytics, customer support or any other conducted research that could be in any way connected to this idea/product.</a:t>
                      </a:r>
                      <a:endParaRPr lang="en-ID" sz="3200" dirty="0">
                        <a:latin typeface="Avenir Next LT Pro" panose="020B0504020202020204" pitchFamily="34" charset="77"/>
                      </a:endParaRPr>
                    </a:p>
                  </a:txBody>
                  <a:tcPr>
                    <a:solidFill>
                      <a:srgbClr val="B1D8F3">
                        <a:alpha val="93661"/>
                      </a:srgbClr>
                    </a:solidFill>
                  </a:tcPr>
                </a:tc>
                <a:extLst>
                  <a:ext uri="{0D108BD9-81ED-4DB2-BD59-A6C34878D82A}">
                    <a16:rowId xmlns:a16="http://schemas.microsoft.com/office/drawing/2014/main" val="1806153023"/>
                  </a:ext>
                </a:extLst>
              </a:tr>
            </a:tbl>
          </a:graphicData>
        </a:graphic>
      </p:graphicFrame>
      <p:sp>
        <p:nvSpPr>
          <p:cNvPr id="3" name="TextBox 2">
            <a:extLst>
              <a:ext uri="{FF2B5EF4-FFF2-40B4-BE49-F238E27FC236}">
                <a16:creationId xmlns:a16="http://schemas.microsoft.com/office/drawing/2014/main" id="{F844BAEF-395A-8D8F-6B4C-E4D5F1A521F5}"/>
              </a:ext>
            </a:extLst>
          </p:cNvPr>
          <p:cNvSpPr txBox="1"/>
          <p:nvPr/>
        </p:nvSpPr>
        <p:spPr>
          <a:xfrm>
            <a:off x="7094961" y="1234223"/>
            <a:ext cx="11634952"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kumimoji="0" lang="en-ID" sz="4000" b="1"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rPr>
              <a:t>E</a:t>
            </a:r>
            <a:r>
              <a:rPr lang="en-ID" sz="4000" b="1" dirty="0">
                <a:solidFill>
                  <a:srgbClr val="0090D4"/>
                </a:solidFill>
                <a:effectLst>
                  <a:outerShdw blurRad="38100" dist="38100" dir="2700000" algn="tl">
                    <a:srgbClr val="000000">
                      <a:alpha val="43137"/>
                    </a:srgbClr>
                  </a:outerShdw>
                </a:effectLst>
                <a:latin typeface="Georgia" panose="02040502050405020303" pitchFamily="18" charset="0"/>
              </a:rPr>
              <a:t>xplaining the Key Idea, Product &amp; Market</a:t>
            </a:r>
            <a:endParaRPr kumimoji="0" lang="en-ID" sz="4000" b="1"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endParaRPr>
          </a:p>
        </p:txBody>
      </p:sp>
    </p:spTree>
    <p:extLst>
      <p:ext uri="{BB962C8B-B14F-4D97-AF65-F5344CB8AC3E}">
        <p14:creationId xmlns:p14="http://schemas.microsoft.com/office/powerpoint/2010/main" val="300092194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9DBA21-9193-B37E-4CD1-7BD43183D25A}"/>
              </a:ext>
            </a:extLst>
          </p:cNvPr>
          <p:cNvSpPr txBox="1"/>
          <p:nvPr/>
        </p:nvSpPr>
        <p:spPr>
          <a:xfrm>
            <a:off x="6374524" y="1345060"/>
            <a:ext cx="11634952"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kumimoji="0" lang="en-ID" sz="4000" b="1"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rPr>
              <a:t>E</a:t>
            </a:r>
            <a:r>
              <a:rPr lang="en-ID" sz="4000" b="1" dirty="0">
                <a:solidFill>
                  <a:srgbClr val="0090D4"/>
                </a:solidFill>
                <a:effectLst>
                  <a:outerShdw blurRad="38100" dist="38100" dir="2700000" algn="tl">
                    <a:srgbClr val="000000">
                      <a:alpha val="43137"/>
                    </a:srgbClr>
                  </a:outerShdw>
                </a:effectLst>
                <a:latin typeface="Georgia" panose="02040502050405020303" pitchFamily="18" charset="0"/>
              </a:rPr>
              <a:t>xplaining the Key Idea, Product &amp; Market</a:t>
            </a:r>
            <a:endParaRPr kumimoji="0" lang="en-ID" sz="4000" b="1"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endParaRPr>
          </a:p>
        </p:txBody>
      </p:sp>
      <p:graphicFrame>
        <p:nvGraphicFramePr>
          <p:cNvPr id="3" name="Table 7">
            <a:extLst>
              <a:ext uri="{FF2B5EF4-FFF2-40B4-BE49-F238E27FC236}">
                <a16:creationId xmlns:a16="http://schemas.microsoft.com/office/drawing/2014/main" id="{8F0DA488-9F1E-165B-1E36-3C3227BD4174}"/>
              </a:ext>
            </a:extLst>
          </p:cNvPr>
          <p:cNvGraphicFramePr>
            <a:graphicFrameLocks noGrp="1"/>
          </p:cNvGraphicFramePr>
          <p:nvPr>
            <p:extLst>
              <p:ext uri="{D42A27DB-BD31-4B8C-83A1-F6EECF244321}">
                <p14:modId xmlns:p14="http://schemas.microsoft.com/office/powerpoint/2010/main" val="4049396150"/>
              </p:ext>
            </p:extLst>
          </p:nvPr>
        </p:nvGraphicFramePr>
        <p:xfrm>
          <a:off x="593034" y="2728974"/>
          <a:ext cx="23197931" cy="10241063"/>
        </p:xfrm>
        <a:graphic>
          <a:graphicData uri="http://schemas.openxmlformats.org/drawingml/2006/table">
            <a:tbl>
              <a:tblPr firstRow="1" bandRow="1">
                <a:effectLst>
                  <a:outerShdw blurRad="50800" dist="472254" dir="2700000" algn="tl" rotWithShape="0">
                    <a:prstClr val="black">
                      <a:alpha val="40000"/>
                    </a:prstClr>
                  </a:outerShdw>
                </a:effectLst>
                <a:tableStyleId>{5C22544A-7EE6-4342-B048-85BDC9FD1C3A}</a:tableStyleId>
              </a:tblPr>
              <a:tblGrid>
                <a:gridCol w="2039381">
                  <a:extLst>
                    <a:ext uri="{9D8B030D-6E8A-4147-A177-3AD203B41FA5}">
                      <a16:colId xmlns:a16="http://schemas.microsoft.com/office/drawing/2014/main" val="4098818559"/>
                    </a:ext>
                  </a:extLst>
                </a:gridCol>
                <a:gridCol w="9559584">
                  <a:extLst>
                    <a:ext uri="{9D8B030D-6E8A-4147-A177-3AD203B41FA5}">
                      <a16:colId xmlns:a16="http://schemas.microsoft.com/office/drawing/2014/main" val="1297342323"/>
                    </a:ext>
                  </a:extLst>
                </a:gridCol>
                <a:gridCol w="11598966">
                  <a:extLst>
                    <a:ext uri="{9D8B030D-6E8A-4147-A177-3AD203B41FA5}">
                      <a16:colId xmlns:a16="http://schemas.microsoft.com/office/drawing/2014/main" val="3314830530"/>
                    </a:ext>
                  </a:extLst>
                </a:gridCol>
              </a:tblGrid>
              <a:tr h="1015021">
                <a:tc>
                  <a:txBody>
                    <a:bodyPr/>
                    <a:lstStyle/>
                    <a:p>
                      <a:pPr algn="ctr"/>
                      <a:r>
                        <a:rPr lang="en-ID" sz="1800" dirty="0">
                          <a:effectLst>
                            <a:outerShdw blurRad="38100" dist="38100" dir="2700000" algn="tl">
                              <a:srgbClr val="000000">
                                <a:alpha val="43137"/>
                              </a:srgbClr>
                            </a:outerShdw>
                          </a:effectLst>
                          <a:latin typeface="Georgia" panose="02040502050405020303" pitchFamily="18" charset="0"/>
                        </a:rPr>
                        <a:t>No</a:t>
                      </a:r>
                    </a:p>
                  </a:txBody>
                  <a:tcPr anchor="ctr">
                    <a:lnR w="12700" cap="flat" cmpd="sng" algn="ctr">
                      <a:solidFill>
                        <a:schemeClr val="tx1"/>
                      </a:solidFill>
                      <a:prstDash val="solid"/>
                      <a:round/>
                      <a:headEnd type="none" w="med" len="med"/>
                      <a:tailEnd type="none" w="med" len="med"/>
                    </a:lnR>
                    <a:solidFill>
                      <a:srgbClr val="F08800"/>
                    </a:solidFill>
                  </a:tcPr>
                </a:tc>
                <a:tc>
                  <a:txBody>
                    <a:bodyPr/>
                    <a:lstStyle/>
                    <a:p>
                      <a:pPr algn="ctr"/>
                      <a:r>
                        <a:rPr lang="en-ID" sz="1800" dirty="0">
                          <a:effectLst>
                            <a:outerShdw blurRad="38100" dist="38100" dir="2700000" algn="tl">
                              <a:srgbClr val="000000">
                                <a:alpha val="43137"/>
                              </a:srgbClr>
                            </a:outerShdw>
                          </a:effectLst>
                          <a:latin typeface="Georgia" panose="02040502050405020303" pitchFamily="18" charset="0"/>
                        </a:rPr>
                        <a:t>Questions</a:t>
                      </a:r>
                    </a:p>
                  </a:txBody>
                  <a:tcPr anchor="ctr">
                    <a:lnL w="12700" cap="flat" cmpd="sng" algn="ctr">
                      <a:solidFill>
                        <a:schemeClr val="tx1"/>
                      </a:solidFill>
                      <a:prstDash val="solid"/>
                      <a:round/>
                      <a:headEnd type="none" w="med" len="med"/>
                      <a:tailEnd type="none" w="med" len="med"/>
                    </a:lnL>
                    <a:solidFill>
                      <a:srgbClr val="F08800"/>
                    </a:solidFill>
                  </a:tcPr>
                </a:tc>
                <a:tc>
                  <a:txBody>
                    <a:bodyPr/>
                    <a:lstStyle/>
                    <a:p>
                      <a:pPr algn="ctr"/>
                      <a:r>
                        <a:rPr lang="en-ID" sz="1800" dirty="0" err="1">
                          <a:effectLst>
                            <a:outerShdw blurRad="38100" dist="38100" dir="2700000" algn="tl">
                              <a:srgbClr val="000000">
                                <a:alpha val="43137"/>
                              </a:srgbClr>
                            </a:outerShdw>
                          </a:effectLst>
                          <a:latin typeface="Georgia" panose="02040502050405020303" pitchFamily="18" charset="0"/>
                        </a:rPr>
                        <a:t>Descripttion</a:t>
                      </a:r>
                      <a:endParaRPr lang="en-ID" sz="1800" dirty="0">
                        <a:effectLst>
                          <a:outerShdw blurRad="38100" dist="38100" dir="2700000" algn="tl">
                            <a:srgbClr val="000000">
                              <a:alpha val="43137"/>
                            </a:srgbClr>
                          </a:outerShdw>
                        </a:effectLst>
                        <a:latin typeface="Georgia" panose="02040502050405020303" pitchFamily="18" charset="0"/>
                      </a:endParaRPr>
                    </a:p>
                  </a:txBody>
                  <a:tcPr anchor="ctr">
                    <a:solidFill>
                      <a:srgbClr val="F08800"/>
                    </a:solidFill>
                  </a:tcPr>
                </a:tc>
                <a:extLst>
                  <a:ext uri="{0D108BD9-81ED-4DB2-BD59-A6C34878D82A}">
                    <a16:rowId xmlns:a16="http://schemas.microsoft.com/office/drawing/2014/main" val="3546704873"/>
                  </a:ext>
                </a:extLst>
              </a:tr>
              <a:tr h="1692090">
                <a:tc>
                  <a:txBody>
                    <a:bodyPr/>
                    <a:lstStyle/>
                    <a:p>
                      <a:pPr algn="ctr"/>
                      <a:r>
                        <a:rPr lang="en-ID" sz="3200" dirty="0">
                          <a:latin typeface="Avenir Next LT Pro" panose="020B0504020202020204" pitchFamily="34" charset="0"/>
                        </a:rPr>
                        <a:t>6</a:t>
                      </a:r>
                    </a:p>
                  </a:txBody>
                  <a:tcPr>
                    <a:lnR w="12700" cap="flat" cmpd="sng" algn="ctr">
                      <a:solidFill>
                        <a:schemeClr val="tx1"/>
                      </a:solidFill>
                      <a:prstDash val="solid"/>
                      <a:round/>
                      <a:headEnd type="none" w="med" len="med"/>
                      <a:tailEnd type="none" w="med" len="med"/>
                    </a:lnR>
                    <a:solidFill>
                      <a:srgbClr val="B1D8F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latin typeface="Avenir Next LT Pro" panose="020B0504020202020204" pitchFamily="34" charset="0"/>
                        </a:rPr>
                        <a:t>Is there anything I already learned from the feedback?</a:t>
                      </a:r>
                      <a:endParaRPr lang="en-ID" sz="3200" dirty="0">
                        <a:latin typeface="Avenir Next LT Pro" panose="020B0504020202020204" pitchFamily="34" charset="0"/>
                      </a:endParaRPr>
                    </a:p>
                  </a:txBody>
                  <a:tcPr>
                    <a:lnL w="12700" cap="flat" cmpd="sng" algn="ctr">
                      <a:solidFill>
                        <a:schemeClr val="tx1"/>
                      </a:solidFill>
                      <a:prstDash val="solid"/>
                      <a:round/>
                      <a:headEnd type="none" w="med" len="med"/>
                      <a:tailEnd type="none" w="med" len="med"/>
                    </a:lnL>
                    <a:solidFill>
                      <a:srgbClr val="B1D8F3"/>
                    </a:solidFill>
                  </a:tcPr>
                </a:tc>
                <a:tc>
                  <a:txBody>
                    <a:bodyPr/>
                    <a:lstStyle/>
                    <a:p>
                      <a:pPr algn="l"/>
                      <a:r>
                        <a:rPr lang="en-US" sz="3200" dirty="0">
                          <a:latin typeface="Avenir Next LT Pro" panose="020B0504020202020204" pitchFamily="34" charset="0"/>
                        </a:rPr>
                        <a:t>Write down any and all insights you already got from any type of conducted research or conclusions you were able to draw from them</a:t>
                      </a:r>
                      <a:endParaRPr lang="en-ID" sz="3200" dirty="0">
                        <a:latin typeface="Avenir Next LT Pro" panose="020B0504020202020204" pitchFamily="34" charset="0"/>
                      </a:endParaRPr>
                    </a:p>
                  </a:txBody>
                  <a:tcPr>
                    <a:solidFill>
                      <a:srgbClr val="B1D8F3"/>
                    </a:solidFill>
                  </a:tcPr>
                </a:tc>
                <a:extLst>
                  <a:ext uri="{0D108BD9-81ED-4DB2-BD59-A6C34878D82A}">
                    <a16:rowId xmlns:a16="http://schemas.microsoft.com/office/drawing/2014/main" val="31533552"/>
                  </a:ext>
                </a:extLst>
              </a:tr>
              <a:tr h="1812408">
                <a:tc>
                  <a:txBody>
                    <a:bodyPr/>
                    <a:lstStyle/>
                    <a:p>
                      <a:pPr algn="ctr"/>
                      <a:r>
                        <a:rPr lang="en-ID" sz="3200" dirty="0">
                          <a:latin typeface="Avenir Next LT Pro" panose="020B0504020202020204" pitchFamily="34" charset="0"/>
                        </a:rPr>
                        <a:t>7</a:t>
                      </a:r>
                    </a:p>
                  </a:txBody>
                  <a:tcPr>
                    <a:lnR w="12700" cap="flat" cmpd="sng" algn="ctr">
                      <a:solidFill>
                        <a:schemeClr val="tx1"/>
                      </a:solidFill>
                      <a:prstDash val="solid"/>
                      <a:round/>
                      <a:headEnd type="none" w="med" len="med"/>
                      <a:tailEnd type="none" w="med" len="med"/>
                    </a:lnR>
                    <a:solidFill>
                      <a:srgbClr val="B1D8F3"/>
                    </a:solidFill>
                  </a:tcPr>
                </a:tc>
                <a:tc>
                  <a:txBody>
                    <a:bodyPr/>
                    <a:lstStyle/>
                    <a:p>
                      <a:pPr algn="l"/>
                      <a:r>
                        <a:rPr lang="en-US" sz="3200" dirty="0">
                          <a:latin typeface="Avenir Next LT Pro" panose="020B0504020202020204" pitchFamily="34" charset="0"/>
                        </a:rPr>
                        <a:t>Based on my idea/product, what 3 aspects would I single out as the most important?</a:t>
                      </a:r>
                      <a:endParaRPr lang="en-ID" sz="3200" dirty="0">
                        <a:latin typeface="Avenir Next LT Pro" panose="020B0504020202020204" pitchFamily="34" charset="0"/>
                      </a:endParaRPr>
                    </a:p>
                  </a:txBody>
                  <a:tcPr>
                    <a:lnL w="12700" cap="flat" cmpd="sng" algn="ctr">
                      <a:solidFill>
                        <a:schemeClr val="tx1"/>
                      </a:solidFill>
                      <a:prstDash val="solid"/>
                      <a:round/>
                      <a:headEnd type="none" w="med" len="med"/>
                      <a:tailEnd type="none" w="med" len="med"/>
                    </a:lnL>
                    <a:solidFill>
                      <a:srgbClr val="B1D8F3"/>
                    </a:solidFill>
                  </a:tcPr>
                </a:tc>
                <a:tc>
                  <a:txBody>
                    <a:bodyPr/>
                    <a:lstStyle/>
                    <a:p>
                      <a:pPr algn="l"/>
                      <a:r>
                        <a:rPr lang="en-US" sz="3200" dirty="0">
                          <a:latin typeface="Avenir Next LT Pro" panose="020B0504020202020204" pitchFamily="34" charset="0"/>
                        </a:rPr>
                        <a:t>It could be anything from features to visual elements, communication, technology that should be used or anything else that you believe is crucially important for the success of this idea/product.</a:t>
                      </a:r>
                      <a:endParaRPr lang="en-ID" sz="3200" dirty="0">
                        <a:latin typeface="Avenir Next LT Pro" panose="020B0504020202020204" pitchFamily="34" charset="0"/>
                      </a:endParaRPr>
                    </a:p>
                  </a:txBody>
                  <a:tcPr>
                    <a:solidFill>
                      <a:srgbClr val="B1D8F3"/>
                    </a:solidFill>
                  </a:tcPr>
                </a:tc>
                <a:extLst>
                  <a:ext uri="{0D108BD9-81ED-4DB2-BD59-A6C34878D82A}">
                    <a16:rowId xmlns:a16="http://schemas.microsoft.com/office/drawing/2014/main" val="3774671066"/>
                  </a:ext>
                </a:extLst>
              </a:tr>
              <a:tr h="1692090">
                <a:tc>
                  <a:txBody>
                    <a:bodyPr/>
                    <a:lstStyle/>
                    <a:p>
                      <a:pPr algn="ctr"/>
                      <a:r>
                        <a:rPr lang="en-ID" sz="3200" dirty="0">
                          <a:latin typeface="Avenir Next LT Pro" panose="020B0504020202020204" pitchFamily="34" charset="0"/>
                        </a:rPr>
                        <a:t>8</a:t>
                      </a:r>
                    </a:p>
                  </a:txBody>
                  <a:tcPr>
                    <a:lnR w="12700" cap="flat" cmpd="sng" algn="ctr">
                      <a:solidFill>
                        <a:schemeClr val="tx1"/>
                      </a:solidFill>
                      <a:prstDash val="solid"/>
                      <a:round/>
                      <a:headEnd type="none" w="med" len="med"/>
                      <a:tailEnd type="none" w="med" len="med"/>
                    </a:lnR>
                    <a:solidFill>
                      <a:srgbClr val="B1D8F3"/>
                    </a:solidFill>
                  </a:tcPr>
                </a:tc>
                <a:tc>
                  <a:txBody>
                    <a:bodyPr/>
                    <a:lstStyle/>
                    <a:p>
                      <a:pPr algn="l"/>
                      <a:r>
                        <a:rPr lang="en-US" sz="3200" dirty="0">
                          <a:latin typeface="Avenir Next LT Pro" panose="020B0504020202020204" pitchFamily="34" charset="0"/>
                        </a:rPr>
                        <a:t>Based on my idea/product, what 3 aspects would I single out as the least important?</a:t>
                      </a:r>
                      <a:endParaRPr lang="en-ID" sz="3200" dirty="0">
                        <a:latin typeface="Avenir Next LT Pro" panose="020B0504020202020204" pitchFamily="34" charset="0"/>
                      </a:endParaRPr>
                    </a:p>
                  </a:txBody>
                  <a:tcPr>
                    <a:lnL w="12700" cap="flat" cmpd="sng" algn="ctr">
                      <a:solidFill>
                        <a:schemeClr val="tx1"/>
                      </a:solidFill>
                      <a:prstDash val="solid"/>
                      <a:round/>
                      <a:headEnd type="none" w="med" len="med"/>
                      <a:tailEnd type="none" w="med" len="med"/>
                    </a:lnL>
                    <a:solidFill>
                      <a:srgbClr val="B1D8F3"/>
                    </a:solidFill>
                  </a:tcPr>
                </a:tc>
                <a:tc>
                  <a:txBody>
                    <a:bodyPr/>
                    <a:lstStyle/>
                    <a:p>
                      <a:pPr algn="l"/>
                      <a:r>
                        <a:rPr lang="en-US" sz="3200" dirty="0">
                          <a:latin typeface="Avenir Next LT Pro" panose="020B0504020202020204" pitchFamily="34" charset="0"/>
                        </a:rPr>
                        <a:t>Same description as in the previous question, just flipped. Write down aspects you believe are not important for the success of this idea/product.</a:t>
                      </a:r>
                      <a:endParaRPr lang="en-ID" sz="3200" dirty="0">
                        <a:latin typeface="Avenir Next LT Pro" panose="020B0504020202020204" pitchFamily="34" charset="0"/>
                      </a:endParaRPr>
                    </a:p>
                  </a:txBody>
                  <a:tcPr>
                    <a:solidFill>
                      <a:srgbClr val="B1D8F3"/>
                    </a:solidFill>
                  </a:tcPr>
                </a:tc>
                <a:extLst>
                  <a:ext uri="{0D108BD9-81ED-4DB2-BD59-A6C34878D82A}">
                    <a16:rowId xmlns:a16="http://schemas.microsoft.com/office/drawing/2014/main" val="1141000772"/>
                  </a:ext>
                </a:extLst>
              </a:tr>
              <a:tr h="2245222">
                <a:tc>
                  <a:txBody>
                    <a:bodyPr/>
                    <a:lstStyle/>
                    <a:p>
                      <a:pPr algn="ctr"/>
                      <a:r>
                        <a:rPr lang="en-ID" sz="3200" dirty="0">
                          <a:latin typeface="Avenir Next LT Pro" panose="020B0504020202020204" pitchFamily="34" charset="0"/>
                        </a:rPr>
                        <a:t>9</a:t>
                      </a:r>
                    </a:p>
                  </a:txBody>
                  <a:tcPr>
                    <a:lnR w="12700" cap="flat" cmpd="sng" algn="ctr">
                      <a:solidFill>
                        <a:schemeClr val="tx1"/>
                      </a:solidFill>
                      <a:prstDash val="solid"/>
                      <a:round/>
                      <a:headEnd type="none" w="med" len="med"/>
                      <a:tailEnd type="none" w="med" len="med"/>
                    </a:lnR>
                    <a:solidFill>
                      <a:srgbClr val="B1D8F3"/>
                    </a:solidFill>
                  </a:tcPr>
                </a:tc>
                <a:tc>
                  <a:txBody>
                    <a:bodyPr/>
                    <a:lstStyle/>
                    <a:p>
                      <a:pPr algn="l"/>
                      <a:r>
                        <a:rPr lang="en-US" sz="3200" dirty="0">
                          <a:latin typeface="Avenir Next LT Pro" panose="020B0504020202020204" pitchFamily="34" charset="0"/>
                        </a:rPr>
                        <a:t>Why is my idea/product different than others on the market?</a:t>
                      </a:r>
                      <a:endParaRPr lang="en-ID" sz="3200" dirty="0">
                        <a:latin typeface="Avenir Next LT Pro" panose="020B0504020202020204" pitchFamily="34" charset="0"/>
                      </a:endParaRPr>
                    </a:p>
                  </a:txBody>
                  <a:tcPr>
                    <a:lnL w="12700" cap="flat" cmpd="sng" algn="ctr">
                      <a:solidFill>
                        <a:schemeClr val="tx1"/>
                      </a:solidFill>
                      <a:prstDash val="solid"/>
                      <a:round/>
                      <a:headEnd type="none" w="med" len="med"/>
                      <a:tailEnd type="none" w="med" len="med"/>
                    </a:lnL>
                    <a:solidFill>
                      <a:srgbClr val="B1D8F3"/>
                    </a:solidFill>
                  </a:tcPr>
                </a:tc>
                <a:tc>
                  <a:txBody>
                    <a:bodyPr/>
                    <a:lstStyle/>
                    <a:p>
                      <a:pPr algn="l"/>
                      <a:r>
                        <a:rPr lang="en-US" sz="3200" dirty="0">
                          <a:latin typeface="Avenir Next LT Pro" panose="020B0504020202020204" pitchFamily="34" charset="0"/>
                        </a:rPr>
                        <a:t>Briefly explain why your idea/product is or should be different from others that try to solve similar issues, or other ideas/products on the market in general. Write down and explain all elements that make your idea stand out.</a:t>
                      </a:r>
                      <a:endParaRPr lang="en-ID" sz="3200" dirty="0">
                        <a:latin typeface="Avenir Next LT Pro" panose="020B0504020202020204" pitchFamily="34" charset="0"/>
                      </a:endParaRPr>
                    </a:p>
                  </a:txBody>
                  <a:tcPr>
                    <a:solidFill>
                      <a:srgbClr val="B1D8F3"/>
                    </a:solidFill>
                  </a:tcPr>
                </a:tc>
                <a:extLst>
                  <a:ext uri="{0D108BD9-81ED-4DB2-BD59-A6C34878D82A}">
                    <a16:rowId xmlns:a16="http://schemas.microsoft.com/office/drawing/2014/main" val="3517248368"/>
                  </a:ext>
                </a:extLst>
              </a:tr>
              <a:tr h="1379594">
                <a:tc>
                  <a:txBody>
                    <a:bodyPr/>
                    <a:lstStyle/>
                    <a:p>
                      <a:pPr algn="ctr"/>
                      <a:r>
                        <a:rPr lang="en-ID" sz="3200" dirty="0">
                          <a:latin typeface="Avenir Next LT Pro" panose="020B0504020202020204" pitchFamily="34" charset="0"/>
                        </a:rPr>
                        <a:t>10</a:t>
                      </a:r>
                    </a:p>
                  </a:txBody>
                  <a:tcPr>
                    <a:lnR w="12700" cap="flat" cmpd="sng" algn="ctr">
                      <a:solidFill>
                        <a:schemeClr val="tx1"/>
                      </a:solidFill>
                      <a:prstDash val="solid"/>
                      <a:round/>
                      <a:headEnd type="none" w="med" len="med"/>
                      <a:tailEnd type="none" w="med" len="med"/>
                    </a:lnR>
                    <a:solidFill>
                      <a:srgbClr val="B1D8F3"/>
                    </a:solidFill>
                  </a:tcPr>
                </a:tc>
                <a:tc>
                  <a:txBody>
                    <a:bodyPr/>
                    <a:lstStyle/>
                    <a:p>
                      <a:pPr algn="l"/>
                      <a:r>
                        <a:rPr lang="en-US" sz="3200" dirty="0">
                          <a:latin typeface="Avenir Next LT Pro" panose="020B0504020202020204" pitchFamily="34" charset="0"/>
                        </a:rPr>
                        <a:t>What are my </a:t>
                      </a:r>
                      <a:r>
                        <a:rPr lang="en-US" sz="3200" dirty="0" err="1">
                          <a:latin typeface="Avenir Next LT Pro" panose="020B0504020202020204" pitchFamily="34" charset="0"/>
                        </a:rPr>
                        <a:t>longterm</a:t>
                      </a:r>
                      <a:r>
                        <a:rPr lang="en-US" sz="3200" dirty="0">
                          <a:latin typeface="Avenir Next LT Pro" panose="020B0504020202020204" pitchFamily="34" charset="0"/>
                        </a:rPr>
                        <a:t> goals with this idea/product?</a:t>
                      </a:r>
                      <a:endParaRPr lang="en-ID" sz="3200" dirty="0">
                        <a:latin typeface="Avenir Next LT Pro" panose="020B0504020202020204" pitchFamily="34" charset="0"/>
                      </a:endParaRPr>
                    </a:p>
                  </a:txBody>
                  <a:tcPr>
                    <a:lnL w="12700" cap="flat" cmpd="sng" algn="ctr">
                      <a:solidFill>
                        <a:schemeClr val="tx1"/>
                      </a:solidFill>
                      <a:prstDash val="solid"/>
                      <a:round/>
                      <a:headEnd type="none" w="med" len="med"/>
                      <a:tailEnd type="none" w="med" len="med"/>
                    </a:lnL>
                    <a:solidFill>
                      <a:srgbClr val="B1D8F3"/>
                    </a:solidFill>
                  </a:tcPr>
                </a:tc>
                <a:tc>
                  <a:txBody>
                    <a:bodyPr/>
                    <a:lstStyle/>
                    <a:p>
                      <a:pPr algn="l"/>
                      <a:r>
                        <a:rPr lang="en-US" sz="3200" dirty="0">
                          <a:latin typeface="Avenir Next LT Pro" panose="020B0504020202020204" pitchFamily="34" charset="0"/>
                        </a:rPr>
                        <a:t>Define and write down your 1 year, 3 year, 5 year and 10 year goals, as well as end goals you’re trying to achieve with this idea/product. </a:t>
                      </a:r>
                      <a:endParaRPr lang="en-ID" sz="3200" dirty="0">
                        <a:latin typeface="Avenir Next LT Pro" panose="020B0504020202020204" pitchFamily="34" charset="0"/>
                      </a:endParaRPr>
                    </a:p>
                  </a:txBody>
                  <a:tcPr>
                    <a:solidFill>
                      <a:srgbClr val="B1D8F3"/>
                    </a:solidFill>
                  </a:tcPr>
                </a:tc>
                <a:extLst>
                  <a:ext uri="{0D108BD9-81ED-4DB2-BD59-A6C34878D82A}">
                    <a16:rowId xmlns:a16="http://schemas.microsoft.com/office/drawing/2014/main" val="1806153023"/>
                  </a:ext>
                </a:extLst>
              </a:tr>
            </a:tbl>
          </a:graphicData>
        </a:graphic>
      </p:graphicFrame>
    </p:spTree>
    <p:extLst>
      <p:ext uri="{BB962C8B-B14F-4D97-AF65-F5344CB8AC3E}">
        <p14:creationId xmlns:p14="http://schemas.microsoft.com/office/powerpoint/2010/main" val="207721103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B0DDB5-E5CB-EC6B-2F5F-3E12118D6230}"/>
              </a:ext>
            </a:extLst>
          </p:cNvPr>
          <p:cNvSpPr txBox="1"/>
          <p:nvPr/>
        </p:nvSpPr>
        <p:spPr>
          <a:xfrm>
            <a:off x="5613400" y="1138347"/>
            <a:ext cx="1290320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rgbClr val="0090D4"/>
                </a:solidFill>
                <a:effectLst/>
                <a:uFillTx/>
                <a:latin typeface="Georgia" panose="02040502050405020303" pitchFamily="18" charset="0"/>
                <a:sym typeface="Helvetica Neue"/>
              </a:rPr>
              <a:t>Student Activities</a:t>
            </a:r>
          </a:p>
        </p:txBody>
      </p:sp>
      <p:sp>
        <p:nvSpPr>
          <p:cNvPr id="6" name="TextBox 5">
            <a:extLst>
              <a:ext uri="{FF2B5EF4-FFF2-40B4-BE49-F238E27FC236}">
                <a16:creationId xmlns:a16="http://schemas.microsoft.com/office/drawing/2014/main" id="{9FC09507-B975-4432-255F-3BC32296121F}"/>
              </a:ext>
            </a:extLst>
          </p:cNvPr>
          <p:cNvSpPr txBox="1"/>
          <p:nvPr/>
        </p:nvSpPr>
        <p:spPr>
          <a:xfrm>
            <a:off x="2792627" y="4422185"/>
            <a:ext cx="18576503" cy="36112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71500" lvl="0" indent="-571500" algn="l" defTabSz="914400" eaLnBrk="0" fontAlgn="base">
              <a:spcBef>
                <a:spcPct val="0"/>
              </a:spcBef>
              <a:spcAft>
                <a:spcPct val="0"/>
              </a:spcAft>
              <a:buFont typeface="Arial" panose="020B0604020202020204" pitchFamily="34" charset="0"/>
              <a:buChar char="•"/>
            </a:pPr>
            <a:r>
              <a:rPr lang="en-US" altLang="en-US" sz="3200" dirty="0">
                <a:solidFill>
                  <a:schemeClr val="tx1"/>
                </a:solidFill>
                <a:latin typeface="Avenir Next LT Pro" panose="020B0504020202020204" pitchFamily="34" charset="77"/>
              </a:rPr>
              <a:t>The group answers ten questions explaining the key idea, product, and market.</a:t>
            </a:r>
          </a:p>
          <a:p>
            <a:pPr marL="571500" lvl="0" indent="-571500" algn="l" defTabSz="914400" eaLnBrk="0" fontAlgn="base">
              <a:spcBef>
                <a:spcPct val="0"/>
              </a:spcBef>
              <a:spcAft>
                <a:spcPct val="0"/>
              </a:spcAft>
              <a:buFont typeface="Arial" panose="020B0604020202020204" pitchFamily="34" charset="0"/>
              <a:buChar char="•"/>
            </a:pPr>
            <a:r>
              <a:rPr lang="en-US" altLang="en-US" sz="3200" dirty="0">
                <a:solidFill>
                  <a:schemeClr val="tx1"/>
                </a:solidFill>
                <a:latin typeface="Avenir Next LT Pro" panose="020B0504020202020204" pitchFamily="34" charset="77"/>
              </a:rPr>
              <a:t>The lecturer discusses the prototype based on each group’s presentation explaining the key idea.</a:t>
            </a:r>
          </a:p>
          <a:p>
            <a:pPr marL="571500" lvl="0" indent="-571500" algn="l" defTabSz="914400" eaLnBrk="0" fontAlgn="base">
              <a:spcBef>
                <a:spcPct val="0"/>
              </a:spcBef>
              <a:spcAft>
                <a:spcPct val="0"/>
              </a:spcAft>
              <a:buFont typeface="Arial" panose="020B0604020202020204" pitchFamily="34" charset="0"/>
              <a:buChar char="•"/>
            </a:pPr>
            <a:r>
              <a:rPr lang="en-US" altLang="en-US" sz="3200" dirty="0">
                <a:solidFill>
                  <a:schemeClr val="tx1"/>
                </a:solidFill>
                <a:latin typeface="Avenir Next LT Pro" panose="020B0504020202020204" pitchFamily="34" charset="77"/>
              </a:rPr>
              <a:t>The lecturer determines which groups ideas  to validate</a:t>
            </a:r>
          </a:p>
          <a:p>
            <a:pPr lvl="0" algn="l" defTabSz="914400" hangingPunct="1">
              <a:defRPr/>
            </a:pPr>
            <a:endParaRPr lang="en-ID" sz="3800" dirty="0">
              <a:solidFill>
                <a:schemeClr val="tx1"/>
              </a:solidFill>
              <a:latin typeface="Avenir Next LT Pro" panose="020B0504020202020204" pitchFamily="34" charset="0"/>
            </a:endParaRPr>
          </a:p>
          <a:p>
            <a:pPr marL="342900" lvl="0" indent="-342900" algn="l" defTabSz="914400" hangingPunct="1">
              <a:buFont typeface="Arial" panose="020B0604020202020204" pitchFamily="34" charset="0"/>
              <a:buChar char="•"/>
              <a:defRPr/>
            </a:pPr>
            <a:endParaRPr lang="en-ID" sz="3800" dirty="0">
              <a:solidFill>
                <a:schemeClr val="tx1"/>
              </a:solidFill>
              <a:latin typeface="Avenir Next LT Pro" panose="020B0504020202020204" pitchFamily="34" charset="0"/>
            </a:endParaRPr>
          </a:p>
          <a:p>
            <a:pPr marR="0" algn="ctr" defTabSz="2438338" rtl="0" fontAlgn="auto" latinLnBrk="0" hangingPunct="0">
              <a:lnSpc>
                <a:spcPct val="100000"/>
              </a:lnSpc>
              <a:spcBef>
                <a:spcPts val="0"/>
              </a:spcBef>
              <a:spcAft>
                <a:spcPts val="0"/>
              </a:spcAft>
              <a:buClrTx/>
              <a:buSzTx/>
              <a:tabLst/>
            </a:pPr>
            <a:endParaRPr kumimoji="0" lang="en-US"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299741886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C4397-52AD-6353-0B71-B57D50EE857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48D893-ABB5-42F4-D9D1-EA1DD661CF1C}"/>
              </a:ext>
            </a:extLst>
          </p:cNvPr>
          <p:cNvSpPr txBox="1"/>
          <p:nvPr/>
        </p:nvSpPr>
        <p:spPr>
          <a:xfrm>
            <a:off x="5613400" y="1138347"/>
            <a:ext cx="1290320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rgbClr val="0090D4"/>
                </a:solidFill>
                <a:effectLst/>
                <a:uFillTx/>
                <a:latin typeface="Georgia" panose="02040502050405020303" pitchFamily="18" charset="0"/>
                <a:sym typeface="Helvetica Neue"/>
              </a:rPr>
              <a:t>Next Session Preparation</a:t>
            </a:r>
          </a:p>
        </p:txBody>
      </p:sp>
      <p:sp>
        <p:nvSpPr>
          <p:cNvPr id="3" name="TextBox 2">
            <a:extLst>
              <a:ext uri="{FF2B5EF4-FFF2-40B4-BE49-F238E27FC236}">
                <a16:creationId xmlns:a16="http://schemas.microsoft.com/office/drawing/2014/main" id="{633D9D37-2AE7-0DEF-E0AD-393BCC33A324}"/>
              </a:ext>
            </a:extLst>
          </p:cNvPr>
          <p:cNvSpPr txBox="1"/>
          <p:nvPr/>
        </p:nvSpPr>
        <p:spPr>
          <a:xfrm>
            <a:off x="4248979" y="5426839"/>
            <a:ext cx="15768430"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571500" indent="-571500" algn="l">
              <a:buFont typeface="Arial" panose="020B0604020202020204" pitchFamily="34" charset="0"/>
              <a:buChar char="•"/>
            </a:pPr>
            <a:r>
              <a:rPr lang="en-US" sz="3600" dirty="0">
                <a:solidFill>
                  <a:schemeClr val="tx1"/>
                </a:solidFill>
                <a:latin typeface="Avenir Next LT Pro" panose="020B0504020202020204" pitchFamily="34" charset="77"/>
              </a:rPr>
              <a:t>Create Robust Design Factor </a:t>
            </a:r>
            <a:r>
              <a:rPr lang="en-US" sz="3600" dirty="0">
                <a:latin typeface="Avenir Next LT Pro" panose="020B0504020202020204" pitchFamily="34" charset="77"/>
              </a:rPr>
              <a:t>Identification Factors </a:t>
            </a:r>
            <a:endParaRPr lang="en-US" sz="3600" dirty="0">
              <a:solidFill>
                <a:schemeClr val="tx1"/>
              </a:solidFill>
              <a:latin typeface="Avenir Next LT Pro" panose="020B0504020202020204" pitchFamily="34" charset="77"/>
            </a:endParaRPr>
          </a:p>
          <a:p>
            <a:pPr marL="571500" indent="-571500" algn="l">
              <a:buFont typeface="Arial" panose="020B0604020202020204" pitchFamily="34" charset="0"/>
              <a:buChar char="•"/>
            </a:pPr>
            <a:r>
              <a:rPr lang="en-US" sz="3600" dirty="0">
                <a:solidFill>
                  <a:schemeClr val="tx1"/>
                </a:solidFill>
                <a:latin typeface="Avenir Next LT Pro" panose="020B0504020202020204" pitchFamily="34" charset="77"/>
              </a:rPr>
              <a:t>Present Prototype (Sketch, Video, Picture , Dummy or MVP)</a:t>
            </a:r>
          </a:p>
          <a:p>
            <a:pPr marL="571500" indent="-571500" algn="l">
              <a:buFont typeface="Arial" panose="020B0604020202020204" pitchFamily="34" charset="0"/>
              <a:buChar char="•"/>
            </a:pPr>
            <a:r>
              <a:rPr lang="en-US" sz="3600" dirty="0">
                <a:solidFill>
                  <a:schemeClr val="tx1"/>
                </a:solidFill>
                <a:latin typeface="Avenir Next LT Pro" panose="020B0504020202020204" pitchFamily="34" charset="77"/>
              </a:rPr>
              <a:t>Present Robust Design Factor </a:t>
            </a:r>
            <a:r>
              <a:rPr lang="en-US" sz="3600" dirty="0">
                <a:latin typeface="Avenir Next LT Pro" panose="020B0504020202020204" pitchFamily="34" charset="77"/>
              </a:rPr>
              <a:t>Identification Factors </a:t>
            </a:r>
            <a:endParaRPr lang="en-US" sz="3600" dirty="0">
              <a:solidFill>
                <a:schemeClr val="tx1"/>
              </a:solidFill>
              <a:latin typeface="Avenir Next LT Pro" panose="020B0504020202020204" pitchFamily="34" charset="77"/>
            </a:endParaRPr>
          </a:p>
          <a:p>
            <a:pPr marL="571500" indent="-571500" algn="l">
              <a:buFont typeface="Arial" panose="020B0604020202020204" pitchFamily="34" charset="0"/>
              <a:buChar char="•"/>
            </a:pPr>
            <a:r>
              <a:rPr kumimoji="0" lang="en-US" sz="3600" b="0" i="0" u="none" strike="noStrike" cap="none" spc="0" normalizeH="0" baseline="0" dirty="0">
                <a:ln>
                  <a:noFill/>
                </a:ln>
                <a:solidFill>
                  <a:schemeClr val="tx1"/>
                </a:solidFill>
                <a:effectLst/>
                <a:uFillTx/>
                <a:latin typeface="Avenir Next LT Pro" panose="020B0504020202020204" pitchFamily="34" charset="77"/>
                <a:ea typeface="+mn-ea"/>
                <a:cs typeface="+mn-cs"/>
                <a:sym typeface="Helvetica Neue"/>
              </a:rPr>
              <a:t>Lecturer </a:t>
            </a:r>
            <a:r>
              <a:rPr lang="en-US" sz="3600" dirty="0">
                <a:solidFill>
                  <a:schemeClr val="tx1"/>
                </a:solidFill>
                <a:latin typeface="Avenir Next LT Pro" panose="020B0504020202020204" pitchFamily="34" charset="77"/>
              </a:rPr>
              <a:t>G</a:t>
            </a:r>
            <a:r>
              <a:rPr kumimoji="0" lang="en-US" sz="3600" b="0" i="0" u="none" strike="noStrike" cap="none" spc="0" normalizeH="0" baseline="0" dirty="0">
                <a:ln>
                  <a:noFill/>
                </a:ln>
                <a:solidFill>
                  <a:schemeClr val="tx1"/>
                </a:solidFill>
                <a:effectLst/>
                <a:uFillTx/>
                <a:latin typeface="Avenir Next LT Pro" panose="020B0504020202020204" pitchFamily="34" charset="77"/>
                <a:ea typeface="+mn-ea"/>
                <a:cs typeface="+mn-cs"/>
                <a:sym typeface="Helvetica Neue"/>
              </a:rPr>
              <a:t>ives Feedback to Groups</a:t>
            </a:r>
            <a:endParaRPr kumimoji="0" lang="en-US" sz="36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267405018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96C66-F356-8FCB-9B2C-DCBD6B53017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511E0B-D53E-E8E3-1DDD-AB222894F8CA}"/>
              </a:ext>
            </a:extLst>
          </p:cNvPr>
          <p:cNvSpPr txBox="1"/>
          <p:nvPr/>
        </p:nvSpPr>
        <p:spPr>
          <a:xfrm>
            <a:off x="5613400" y="1138347"/>
            <a:ext cx="1290320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5400" dirty="0">
                <a:solidFill>
                  <a:srgbClr val="0090D4"/>
                </a:solidFill>
                <a:latin typeface="Georgia" panose="02040502050405020303" pitchFamily="18" charset="0"/>
              </a:rPr>
              <a:t>References</a:t>
            </a:r>
            <a:endParaRPr kumimoji="0" lang="en-US" sz="5400" b="0" i="0" u="none" strike="noStrike" cap="none" spc="0" normalizeH="0" baseline="0" dirty="0">
              <a:ln>
                <a:noFill/>
              </a:ln>
              <a:solidFill>
                <a:srgbClr val="0090D4"/>
              </a:solidFill>
              <a:effectLst/>
              <a:uFillTx/>
              <a:latin typeface="Georgia" panose="02040502050405020303" pitchFamily="18" charset="0"/>
              <a:sym typeface="Helvetica Neue"/>
            </a:endParaRPr>
          </a:p>
        </p:txBody>
      </p:sp>
      <p:sp>
        <p:nvSpPr>
          <p:cNvPr id="6" name="TextBox 5">
            <a:extLst>
              <a:ext uri="{FF2B5EF4-FFF2-40B4-BE49-F238E27FC236}">
                <a16:creationId xmlns:a16="http://schemas.microsoft.com/office/drawing/2014/main" id="{F44F98EB-CA42-EF10-6589-FC0D32908E64}"/>
              </a:ext>
            </a:extLst>
          </p:cNvPr>
          <p:cNvSpPr txBox="1"/>
          <p:nvPr/>
        </p:nvSpPr>
        <p:spPr>
          <a:xfrm>
            <a:off x="2792626" y="4822293"/>
            <a:ext cx="19573103" cy="28110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71500" indent="-571500" algn="just">
              <a:buFont typeface="Arial" panose="020B0604020202020204" pitchFamily="34" charset="0"/>
              <a:buChar char="•"/>
            </a:pPr>
            <a:r>
              <a:rPr lang="en-ID" sz="4400" dirty="0">
                <a:solidFill>
                  <a:schemeClr val="tx1"/>
                </a:solidFill>
                <a:latin typeface="Avenir Next LT Pro" panose="020B0504020202020204" pitchFamily="34" charset="77"/>
                <a:ea typeface="Calibri" panose="020F0502020204030204" pitchFamily="34" charset="0"/>
                <a:cs typeface="Verdana" panose="020B0604030504040204" pitchFamily="34" charset="0"/>
              </a:rPr>
              <a:t>How to validate your start up idea, </a:t>
            </a:r>
            <a:r>
              <a:rPr lang="en-ID" sz="4400" dirty="0" err="1">
                <a:solidFill>
                  <a:schemeClr val="tx1"/>
                </a:solidFill>
                <a:latin typeface="Avenir Next LT Pro" panose="020B0504020202020204" pitchFamily="34" charset="77"/>
                <a:ea typeface="Calibri" panose="020F0502020204030204" pitchFamily="34" charset="0"/>
                <a:cs typeface="Verdana" panose="020B0604030504040204" pitchFamily="34" charset="0"/>
              </a:rPr>
              <a:t>Bornfight.com</a:t>
            </a:r>
            <a:r>
              <a:rPr lang="en-ID" sz="4400" dirty="0">
                <a:solidFill>
                  <a:schemeClr val="tx1"/>
                </a:solidFill>
                <a:latin typeface="Avenir Next LT Pro" panose="020B0504020202020204" pitchFamily="34" charset="77"/>
                <a:ea typeface="Calibri" panose="020F0502020204030204" pitchFamily="34" charset="0"/>
                <a:cs typeface="Verdana" panose="020B0604030504040204" pitchFamily="34" charset="0"/>
              </a:rPr>
              <a:t>, 2011</a:t>
            </a:r>
            <a:endParaRPr lang="en-US" sz="4400" dirty="0">
              <a:latin typeface="Avenir Next LT Pro" panose="020B0504020202020204" pitchFamily="34" charset="77"/>
            </a:endParaRPr>
          </a:p>
          <a:p>
            <a:pPr marL="571500" indent="-571500" algn="just">
              <a:buFont typeface="Arial" panose="020B0604020202020204" pitchFamily="34" charset="0"/>
              <a:buChar char="•"/>
            </a:pPr>
            <a:r>
              <a:rPr lang="en-US" sz="4400" dirty="0">
                <a:latin typeface="Avenir Next LT Pro" panose="020B0504020202020204" pitchFamily="34" charset="77"/>
              </a:rPr>
              <a:t>Entrepreneurship successfully Launching New Ventures, 7</a:t>
            </a:r>
            <a:r>
              <a:rPr lang="en-US" sz="4400" baseline="30000" dirty="0">
                <a:latin typeface="Avenir Next LT Pro" panose="020B0504020202020204" pitchFamily="34" charset="77"/>
              </a:rPr>
              <a:t>th</a:t>
            </a:r>
            <a:r>
              <a:rPr lang="en-US" sz="4400" dirty="0">
                <a:latin typeface="Avenir Next LT Pro" panose="020B0504020202020204" pitchFamily="34" charset="77"/>
              </a:rPr>
              <a:t> Edition, Bruce R. Barringer, R. Duane Ireland, 2025</a:t>
            </a:r>
          </a:p>
          <a:p>
            <a:pPr marL="571500" indent="-571500" algn="just">
              <a:buFont typeface="Arial" panose="020B0604020202020204" pitchFamily="34" charset="0"/>
              <a:buChar char="•"/>
            </a:pPr>
            <a:r>
              <a:rPr lang="en-US" sz="4400" dirty="0">
                <a:solidFill>
                  <a:schemeClr val="tx1"/>
                </a:solidFill>
                <a:latin typeface="Avenir Next LT Pro" panose="020B0504020202020204" pitchFamily="34" charset="77"/>
                <a:hlinkClick r:id="rId2">
                  <a:extLst>
                    <a:ext uri="{A12FA001-AC4F-418D-AE19-62706E023703}">
                      <ahyp:hlinkClr xmlns:ahyp="http://schemas.microsoft.com/office/drawing/2018/hyperlinkcolor" val="tx"/>
                    </a:ext>
                  </a:extLst>
                </a:hlinkClick>
              </a:rPr>
              <a:t>The Entrepreneur Mindset _ JD Meier.pdf</a:t>
            </a:r>
            <a:endParaRPr lang="en-US" sz="4400" dirty="0">
              <a:solidFill>
                <a:schemeClr val="tx1"/>
              </a:solidFill>
              <a:latin typeface="Avenir Next LT Pro" panose="020B0504020202020204" pitchFamily="34" charset="77"/>
            </a:endParaRPr>
          </a:p>
        </p:txBody>
      </p:sp>
    </p:spTree>
    <p:extLst>
      <p:ext uri="{BB962C8B-B14F-4D97-AF65-F5344CB8AC3E}">
        <p14:creationId xmlns:p14="http://schemas.microsoft.com/office/powerpoint/2010/main" val="323742116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Template Online Resources 2023_Binus University_BHE Logo</Template>
  <TotalTime>10950</TotalTime>
  <Words>1256</Words>
  <Application>Microsoft Macintosh PowerPoint</Application>
  <PresentationFormat>Custom</PresentationFormat>
  <Paragraphs>108</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Open Sans ExtraBold</vt:lpstr>
      <vt:lpstr>Open Sans Semibold</vt:lpstr>
      <vt:lpstr>Avenir Next LT Pro</vt:lpstr>
      <vt:lpstr>Arial</vt:lpstr>
      <vt:lpstr>OCRB</vt:lpstr>
      <vt:lpstr>Georgia</vt:lpstr>
      <vt:lpstr>Open Sans Light</vt:lpstr>
      <vt:lpstr>21_BasicWhite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Katherina Anastasya Samosir</dc:creator>
  <cp:lastModifiedBy>Glory A Guzman</cp:lastModifiedBy>
  <cp:revision>20</cp:revision>
  <dcterms:created xsi:type="dcterms:W3CDTF">2025-04-16T03:14:16Z</dcterms:created>
  <dcterms:modified xsi:type="dcterms:W3CDTF">2025-11-10T06:25:43Z</dcterms:modified>
</cp:coreProperties>
</file>