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9"/>
  </p:notesMasterIdLst>
  <p:sldIdLst>
    <p:sldId id="256" r:id="rId2"/>
    <p:sldId id="260" r:id="rId3"/>
    <p:sldId id="257" r:id="rId4"/>
    <p:sldId id="529" r:id="rId5"/>
    <p:sldId id="520" r:id="rId6"/>
    <p:sldId id="521" r:id="rId7"/>
    <p:sldId id="522" r:id="rId8"/>
    <p:sldId id="523" r:id="rId9"/>
    <p:sldId id="526" r:id="rId10"/>
    <p:sldId id="524" r:id="rId11"/>
    <p:sldId id="534" r:id="rId12"/>
    <p:sldId id="527" r:id="rId13"/>
    <p:sldId id="509" r:id="rId14"/>
    <p:sldId id="533" r:id="rId15"/>
    <p:sldId id="515" r:id="rId16"/>
    <p:sldId id="532" r:id="rId17"/>
    <p:sldId id="514" r:id="rId18"/>
  </p:sldIdLst>
  <p:sldSz cx="24384000" cy="13716000"/>
  <p:notesSz cx="6858000" cy="9144000"/>
  <p:embeddedFontLst>
    <p:embeddedFont>
      <p:font typeface="Avenir Next LT Pro" panose="020B0504020202020204" pitchFamily="34" charset="77"/>
      <p:regular r:id="rId20"/>
      <p:bold r:id="rId21"/>
      <p:italic r:id="rId22"/>
      <p:boldItalic r:id="rId23"/>
    </p:embeddedFont>
    <p:embeddedFont>
      <p:font typeface="Georgia" panose="02040502050405020303" pitchFamily="18" charset="0"/>
      <p:regular r:id="rId24"/>
      <p:bold r:id="rId25"/>
      <p:italic r:id="rId26"/>
      <p:boldItalic r:id="rId27"/>
    </p:embeddedFont>
    <p:embeddedFont>
      <p:font typeface="OCRB" panose="020B0609020202020204" pitchFamily="49" charset="77"/>
      <p:regular r:id="rId28"/>
    </p:embeddedFont>
    <p:embeddedFont>
      <p:font typeface="Open Sans" panose="020B0606030504020204" pitchFamily="34" charset="0"/>
      <p:regular r:id="rId29"/>
      <p:bold r:id="rId30"/>
      <p:italic r:id="rId31"/>
      <p:boldItalic r:id="rId32"/>
    </p:embeddedFont>
    <p:embeddedFont>
      <p:font typeface="Open Sans ExtraBold" panose="020B0906030804020204" pitchFamily="34" charset="0"/>
      <p:bold r:id="rId33"/>
      <p:italic r:id="rId34"/>
      <p:boldItalic r:id="rId35"/>
    </p:embeddedFont>
    <p:embeddedFont>
      <p:font typeface="Open Sans Light" panose="020B0306030504020204" pitchFamily="34" charset="0"/>
      <p:regular r:id="rId36"/>
      <p:italic r:id="rId37"/>
    </p:embeddedFont>
    <p:embeddedFont>
      <p:font typeface="Open Sans Semibold" panose="020B0706030804020204" pitchFamily="34" charset="0"/>
      <p:regular r:id="rId38"/>
      <p:bold r:id="rId39"/>
      <p:italic r:id="rId40"/>
      <p:boldItalic r:id="rId41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0D4"/>
    <a:srgbClr val="FFC000"/>
    <a:srgbClr val="70B40A"/>
    <a:srgbClr val="80BBC3"/>
    <a:srgbClr val="00A5AE"/>
    <a:srgbClr val="FF7510"/>
    <a:srgbClr val="EA222C"/>
    <a:srgbClr val="FFFFFF"/>
    <a:srgbClr val="9B4A96"/>
    <a:srgbClr val="F5AF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716" autoAdjust="0"/>
    <p:restoredTop sz="96197"/>
  </p:normalViewPr>
  <p:slideViewPr>
    <p:cSldViewPr snapToGrid="0" snapToObjects="1">
      <p:cViewPr varScale="1">
        <p:scale>
          <a:sx n="34" d="100"/>
          <a:sy n="34" d="100"/>
        </p:scale>
        <p:origin x="216" y="1256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9" Type="http://schemas.openxmlformats.org/officeDocument/2006/relationships/font" Target="fonts/font20.fntdata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font" Target="fonts/font18.fntdata"/><Relationship Id="rId40" Type="http://schemas.openxmlformats.org/officeDocument/2006/relationships/font" Target="fonts/font21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font" Target="fonts/font17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font" Target="fonts/font19.fntdata"/><Relationship Id="rId20" Type="http://schemas.openxmlformats.org/officeDocument/2006/relationships/font" Target="fonts/font1.fntdata"/><Relationship Id="rId41" Type="http://schemas.openxmlformats.org/officeDocument/2006/relationships/font" Target="fonts/font2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5.png"/><Relationship Id="rId5" Type="http://schemas.openxmlformats.org/officeDocument/2006/relationships/image" Target="../media/image11.sv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svg"/><Relationship Id="rId7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study.com/academy/lesson/robust-design-definition-examples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nquRl6ft7ks?feature=oembed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binusianorg.sharepoint.com/sites/DAMS01/_layouts/15/stream.aspx?id=/sites/DAMS01/VBL/Center/Center/BEC/ENTR6511-Creativity%20and%20Innovation/%5bENPR%206311%5d-%5b02%5d%5b02%5d-%5bDesign%20Thinking%20for%20SDG_GLORY%20AGUZMAN.mp4&amp;referrer=StreamWebApp.Web&amp;referrerScenario=AddressBarCopied.view.d1c5f7e1-3082-4577-b20c-1f7a096389b1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612850" y="11538583"/>
            <a:ext cx="6401008" cy="745888"/>
          </a:xfrm>
        </p:spPr>
        <p:txBody>
          <a:bodyPr/>
          <a:lstStyle/>
          <a:p>
            <a:r>
              <a:rPr lang="en-US" dirty="0"/>
              <a:t>Dr. Glory Aguzman, S.Sos, M.M., CDMS, CCP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0FF65F-71E4-38D9-8AD7-D80FB9D70369}"/>
              </a:ext>
            </a:extLst>
          </p:cNvPr>
          <p:cNvSpPr txBox="1"/>
          <p:nvPr/>
        </p:nvSpPr>
        <p:spPr>
          <a:xfrm>
            <a:off x="3077497" y="6073170"/>
            <a:ext cx="18229006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D" sz="6000" dirty="0">
                <a:solidFill>
                  <a:schemeClr val="bg1"/>
                </a:solidFill>
              </a:rPr>
              <a:t>Prototype Development (Low Fidelity)</a:t>
            </a:r>
            <a:r>
              <a:rPr lang="en-US" sz="6000" dirty="0">
                <a:solidFill>
                  <a:schemeClr val="bg1"/>
                </a:solidFill>
              </a:rPr>
              <a:t> </a:t>
            </a:r>
            <a:endParaRPr lang="en-ID" sz="6000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756458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9B6306-2204-5237-002E-C95F8BF884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51000" y="3688089"/>
            <a:ext cx="19608800" cy="9342111"/>
          </a:xfrm>
        </p:spPr>
        <p:txBody>
          <a:bodyPr>
            <a:normAutofit/>
          </a:bodyPr>
          <a:lstStyle/>
          <a:p>
            <a:pPr marL="457200" indent="-457200" hangingPunct="0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Char char="•"/>
            </a:pPr>
            <a:r>
              <a:rPr lang="en-US" b="0" cap="none" dirty="0">
                <a:solidFill>
                  <a:srgbClr val="5E5E5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Avenir Next LT Pro" panose="020B0504020202020204" pitchFamily="34" charset="77"/>
              </a:rPr>
              <a:t>Robust Design Concept</a:t>
            </a:r>
          </a:p>
          <a:p>
            <a:pPr marL="457200" indent="-457200" hangingPunct="0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Char char="•"/>
            </a:pPr>
            <a:r>
              <a:rPr lang="en-US" b="0" cap="none" dirty="0">
                <a:solidFill>
                  <a:srgbClr val="5E5E5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Avenir Next LT Pro" panose="020B0504020202020204" pitchFamily="34" charset="77"/>
              </a:rPr>
              <a:t>Robust Design Example</a:t>
            </a:r>
          </a:p>
          <a:p>
            <a:pPr marL="457200" indent="-457200" hangingPunct="0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Char char="•"/>
            </a:pPr>
            <a:r>
              <a:rPr lang="en-US" b="0" cap="none">
                <a:solidFill>
                  <a:srgbClr val="5E5E5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Avenir Next LT Pro" panose="020B0504020202020204" pitchFamily="34" charset="77"/>
              </a:rPr>
              <a:t>What Is </a:t>
            </a:r>
            <a:r>
              <a:rPr lang="en-US" b="0" cap="none" dirty="0">
                <a:solidFill>
                  <a:srgbClr val="5E5E5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Avenir Next LT Pro" panose="020B0504020202020204" pitchFamily="34" charset="77"/>
              </a:rPr>
              <a:t>Your Robust Design</a:t>
            </a:r>
          </a:p>
          <a:p>
            <a:pPr marL="457200" indent="-457200" hangingPunct="0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Char char="•"/>
            </a:pPr>
            <a:r>
              <a:rPr lang="en-ID" b="0" cap="none" dirty="0">
                <a:solidFill>
                  <a:srgbClr val="5E5E5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Avenir Next LT Pro" panose="020B0504020202020204" pitchFamily="34" charset="77"/>
              </a:rPr>
              <a:t>Student Activities</a:t>
            </a:r>
          </a:p>
          <a:p>
            <a:pPr marL="457200" indent="-457200" hangingPunct="0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Char char="•"/>
            </a:pPr>
            <a:r>
              <a:rPr lang="en-US" b="0" cap="none" dirty="0">
                <a:solidFill>
                  <a:srgbClr val="5E5E5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Avenir Next LT Pro" panose="020B0504020202020204" pitchFamily="34" charset="77"/>
              </a:rPr>
              <a:t>Next Session Preparation</a:t>
            </a:r>
            <a:endParaRPr lang="en-US" b="0" dirty="0">
              <a:latin typeface="Avenir Next LT Pro" panose="020B0504020202020204" pitchFamily="34" charset="77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b="0" dirty="0">
              <a:latin typeface="Avenir Next LT Pro" panose="020B0504020202020204" pitchFamily="34" charset="77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b="0" dirty="0">
              <a:latin typeface="Avenir Next LT Pro" panose="020B0504020202020204" pitchFamily="34" charset="77"/>
            </a:endParaRPr>
          </a:p>
          <a:p>
            <a:endParaRPr lang="en-US" dirty="0">
              <a:latin typeface="Georgia" panose="02040502050405020303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>
              <a:latin typeface="Georgia" panose="02040502050405020303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>
              <a:latin typeface="Avenir Next LT Pro" panose="020B05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>
              <a:latin typeface="Avenir Next LT Pro" panose="020B05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D" dirty="0">
              <a:latin typeface="Avenir Next LT Pro" panose="020B05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3573E0-62DA-E3B4-14CE-9B539F226D71}"/>
              </a:ext>
            </a:extLst>
          </p:cNvPr>
          <p:cNvSpPr txBox="1"/>
          <p:nvPr/>
        </p:nvSpPr>
        <p:spPr>
          <a:xfrm>
            <a:off x="5949832" y="1141715"/>
            <a:ext cx="11634952" cy="11182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6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Georgia" panose="02040502050405020303" pitchFamily="18" charset="0"/>
                <a:sym typeface="Helvetica Neue"/>
              </a:rPr>
              <a:t>Subtopics</a:t>
            </a:r>
            <a:endParaRPr kumimoji="0" lang="en-ID" sz="66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Georgia" panose="02040502050405020303" pitchFamily="18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741212907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CFEBFB-D423-2219-F689-5D305E5D84B2}"/>
              </a:ext>
            </a:extLst>
          </p:cNvPr>
          <p:cNvSpPr txBox="1"/>
          <p:nvPr/>
        </p:nvSpPr>
        <p:spPr>
          <a:xfrm>
            <a:off x="5864772" y="844004"/>
            <a:ext cx="11634952" cy="11182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6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Georgia" panose="02040502050405020303" pitchFamily="18" charset="0"/>
                <a:sym typeface="Helvetica Neue"/>
              </a:rPr>
              <a:t>Acknowledgement</a:t>
            </a:r>
            <a:endParaRPr kumimoji="0" lang="en-ID" sz="66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Georgia" panose="02040502050405020303" pitchFamily="18" charset="0"/>
              <a:sym typeface="Helvetica Neu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9DE532-C175-E367-7C97-21297170F201}"/>
              </a:ext>
            </a:extLst>
          </p:cNvPr>
          <p:cNvSpPr txBox="1"/>
          <p:nvPr/>
        </p:nvSpPr>
        <p:spPr>
          <a:xfrm>
            <a:off x="2126974" y="5928260"/>
            <a:ext cx="17454567" cy="32932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  <a:latin typeface="Avenir Next LT Pro" panose="020B0504020202020204" pitchFamily="34" charset="77"/>
              </a:rPr>
              <a:t>Karl Ulrich and Steven Eppinger and Maria C. Yang. (2020). Product Design and Development, 7th Edition. McGraw-Hill Education. New York. ISBN 978-1-260-04365-5, Chapter 14,15</a:t>
            </a:r>
          </a:p>
          <a:p>
            <a:pPr algn="l"/>
            <a:endParaRPr lang="en-US" sz="3200" dirty="0">
              <a:solidFill>
                <a:schemeClr val="tx1"/>
              </a:solidFill>
              <a:latin typeface="Avenir Next LT Pro" panose="020B0504020202020204" pitchFamily="34" charset="77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  <a:latin typeface="Avenir Next LT Pro" panose="020B0504020202020204" pitchFamily="34" charset="7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https://study.com/academy/lesson/robust-design-definition-examples.html</a:t>
            </a:r>
            <a:endParaRPr lang="en-US" sz="3200" dirty="0">
              <a:solidFill>
                <a:schemeClr val="tx1"/>
              </a:solidFill>
              <a:latin typeface="Avenir Next LT Pro" panose="020B0504020202020204" pitchFamily="34" charset="77"/>
            </a:endParaRPr>
          </a:p>
          <a:p>
            <a:pPr algn="l">
              <a:buNone/>
            </a:pPr>
            <a:b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</a:br>
            <a:endParaRPr lang="en-US" b="0" i="0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645439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B300B-1FFF-DEFA-3A3C-3F344F76E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0A732A2-5A90-FDA5-9E2A-4039DBA06CC7}"/>
              </a:ext>
            </a:extLst>
          </p:cNvPr>
          <p:cNvSpPr txBox="1"/>
          <p:nvPr/>
        </p:nvSpPr>
        <p:spPr>
          <a:xfrm>
            <a:off x="2071817" y="4659699"/>
            <a:ext cx="17105869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3600" dirty="0">
                <a:solidFill>
                  <a:schemeClr val="tx1"/>
                </a:solidFill>
                <a:latin typeface="Avenir Next LT Pro" panose="020B0504020202020204" pitchFamily="34" charset="0"/>
              </a:rPr>
              <a:t>LO2</a:t>
            </a:r>
            <a:r>
              <a:rPr lang="en-US" sz="3600">
                <a:solidFill>
                  <a:schemeClr val="tx1"/>
                </a:solidFill>
                <a:latin typeface="Avenir Next LT Pro" panose="020B0504020202020204" pitchFamily="34" charset="0"/>
              </a:rPr>
              <a:t>: Test  </a:t>
            </a:r>
            <a:r>
              <a:rPr lang="en-US" sz="3600" dirty="0">
                <a:solidFill>
                  <a:schemeClr val="tx1"/>
                </a:solidFill>
                <a:latin typeface="Avenir Next LT Pro" panose="020B0504020202020204" pitchFamily="34" charset="0"/>
              </a:rPr>
              <a:t>the prototype to assess business potential.</a:t>
            </a:r>
          </a:p>
          <a:p>
            <a:pPr algn="l"/>
            <a:endParaRPr lang="en-US" sz="3600" dirty="0">
              <a:solidFill>
                <a:schemeClr val="tx1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EDD198-4CEC-B964-8805-3F0545F67A99}"/>
              </a:ext>
            </a:extLst>
          </p:cNvPr>
          <p:cNvSpPr txBox="1"/>
          <p:nvPr/>
        </p:nvSpPr>
        <p:spPr>
          <a:xfrm>
            <a:off x="6800437" y="886534"/>
            <a:ext cx="11634952" cy="11182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D" sz="66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Georgia" panose="02040502050405020303" pitchFamily="18" charset="0"/>
                <a:sym typeface="Helvetica Neue"/>
              </a:rPr>
              <a:t>Learning Outcome</a:t>
            </a:r>
          </a:p>
        </p:txBody>
      </p:sp>
    </p:spTree>
    <p:extLst>
      <p:ext uri="{BB962C8B-B14F-4D97-AF65-F5344CB8AC3E}">
        <p14:creationId xmlns:p14="http://schemas.microsoft.com/office/powerpoint/2010/main" val="60370158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E2D30-944A-96D4-3BA4-503F7748B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F593CA9-0739-ED5E-5928-6DC7D9BE5440}"/>
              </a:ext>
            </a:extLst>
          </p:cNvPr>
          <p:cNvSpPr txBox="1"/>
          <p:nvPr/>
        </p:nvSpPr>
        <p:spPr>
          <a:xfrm>
            <a:off x="1898822" y="2923343"/>
            <a:ext cx="19181805" cy="94487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lvl="0" algn="l" defTabSz="914400"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4400" b="1" dirty="0">
                <a:solidFill>
                  <a:schemeClr val="tx1"/>
                </a:solidFill>
                <a:latin typeface="Avenir Next LT Pro" panose="020B0504020202020204" pitchFamily="34" charset="77"/>
              </a:rPr>
              <a:t>Definition:</a:t>
            </a:r>
            <a:r>
              <a:rPr lang="en-US" altLang="en-US" sz="4400" dirty="0">
                <a:solidFill>
                  <a:schemeClr val="tx1"/>
                </a:solidFill>
                <a:latin typeface="Avenir Next LT Pro" panose="020B0504020202020204" pitchFamily="34" charset="77"/>
              </a:rPr>
              <a:t> </a:t>
            </a:r>
          </a:p>
          <a:p>
            <a:pPr lvl="0" algn="l" defTabSz="914400"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4400" dirty="0">
                <a:solidFill>
                  <a:schemeClr val="tx1"/>
                </a:solidFill>
                <a:latin typeface="Avenir Next LT Pro" panose="020B0504020202020204" pitchFamily="34" charset="77"/>
              </a:rPr>
              <a:t>Robust design is an approach to product development that ensures consistent performance even when faced with variability in materials, manufacturing, or usage conditions.</a:t>
            </a:r>
          </a:p>
          <a:p>
            <a:pPr lvl="0" algn="l" defTabSz="914400" eaLnBrk="0" fontAlgn="base">
              <a:spcBef>
                <a:spcPct val="0"/>
              </a:spcBef>
              <a:spcAft>
                <a:spcPct val="0"/>
              </a:spcAft>
            </a:pPr>
            <a:endParaRPr lang="en-US" altLang="en-US" sz="4400" b="1" dirty="0">
              <a:solidFill>
                <a:schemeClr val="tx1"/>
              </a:solidFill>
              <a:latin typeface="Avenir Next LT Pro" panose="020B0504020202020204" pitchFamily="34" charset="77"/>
            </a:endParaRPr>
          </a:p>
          <a:p>
            <a:pPr lvl="0" algn="l" defTabSz="914400"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4400" b="1" dirty="0">
                <a:solidFill>
                  <a:schemeClr val="tx1"/>
                </a:solidFill>
                <a:latin typeface="Avenir Next LT Pro" panose="020B0504020202020204" pitchFamily="34" charset="77"/>
              </a:rPr>
              <a:t>Difference between strong and robust design:</a:t>
            </a:r>
            <a:r>
              <a:rPr lang="en-US" altLang="en-US" sz="4400" dirty="0">
                <a:solidFill>
                  <a:schemeClr val="tx1"/>
                </a:solidFill>
                <a:latin typeface="Avenir Next LT Pro" panose="020B0504020202020204" pitchFamily="34" charset="77"/>
              </a:rPr>
              <a:t> </a:t>
            </a:r>
          </a:p>
          <a:p>
            <a:pPr lvl="0" algn="l" defTabSz="914400"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4400" dirty="0">
                <a:solidFill>
                  <a:schemeClr val="tx1"/>
                </a:solidFill>
                <a:latin typeface="Avenir Next LT Pro" panose="020B0504020202020204" pitchFamily="34" charset="77"/>
              </a:rPr>
              <a:t>strong = resistant; robust = adaptable.</a:t>
            </a:r>
          </a:p>
          <a:p>
            <a:pPr lvl="0" algn="l" defTabSz="914400" eaLnBrk="0" fontAlgn="base">
              <a:spcBef>
                <a:spcPct val="0"/>
              </a:spcBef>
              <a:spcAft>
                <a:spcPct val="0"/>
              </a:spcAft>
            </a:pPr>
            <a:endParaRPr lang="en-US" altLang="en-US" sz="4400" b="1" dirty="0">
              <a:solidFill>
                <a:schemeClr val="tx1"/>
              </a:solidFill>
              <a:latin typeface="Avenir Next LT Pro" panose="020B0504020202020204" pitchFamily="34" charset="77"/>
            </a:endParaRPr>
          </a:p>
          <a:p>
            <a:pPr lvl="0" algn="l" defTabSz="914400"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4400" b="1" dirty="0">
                <a:solidFill>
                  <a:schemeClr val="tx1"/>
                </a:solidFill>
                <a:latin typeface="Avenir Next LT Pro" panose="020B0504020202020204" pitchFamily="34" charset="77"/>
              </a:rPr>
              <a:t>Taguchi Method:</a:t>
            </a:r>
            <a:r>
              <a:rPr lang="en-US" altLang="en-US" sz="4400" dirty="0">
                <a:solidFill>
                  <a:schemeClr val="tx1"/>
                </a:solidFill>
                <a:latin typeface="Avenir Next LT Pro" panose="020B0504020202020204" pitchFamily="34" charset="77"/>
              </a:rPr>
              <a:t> </a:t>
            </a:r>
          </a:p>
          <a:p>
            <a:pPr lvl="0" algn="l" defTabSz="914400"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4400" dirty="0">
                <a:solidFill>
                  <a:schemeClr val="tx1"/>
                </a:solidFill>
                <a:latin typeface="Avenir Next LT Pro" panose="020B0504020202020204" pitchFamily="34" charset="77"/>
              </a:rPr>
              <a:t>a statistical approach to find the most stable design configuration.</a:t>
            </a:r>
          </a:p>
          <a:p>
            <a:pPr lvl="0" algn="l" defTabSz="914400" eaLnBrk="0" fontAlgn="base">
              <a:spcBef>
                <a:spcPct val="0"/>
              </a:spcBef>
              <a:spcAft>
                <a:spcPct val="0"/>
              </a:spcAft>
            </a:pPr>
            <a:endParaRPr lang="en-US" altLang="en-US" sz="4400" b="1" dirty="0">
              <a:solidFill>
                <a:schemeClr val="tx1"/>
              </a:solidFill>
              <a:latin typeface="Avenir Next LT Pro" panose="020B0504020202020204" pitchFamily="34" charset="77"/>
            </a:endParaRPr>
          </a:p>
          <a:p>
            <a:pPr lvl="0" algn="l" defTabSz="914400"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4400" b="1" dirty="0">
                <a:solidFill>
                  <a:schemeClr val="tx1"/>
                </a:solidFill>
                <a:latin typeface="Avenir Next LT Pro" panose="020B0504020202020204" pitchFamily="34" charset="77"/>
              </a:rPr>
              <a:t>Why it matters:</a:t>
            </a:r>
            <a:r>
              <a:rPr lang="en-US" altLang="en-US" sz="4400" dirty="0">
                <a:solidFill>
                  <a:schemeClr val="tx1"/>
                </a:solidFill>
                <a:latin typeface="Avenir Next LT Pro" panose="020B0504020202020204" pitchFamily="34" charset="77"/>
              </a:rPr>
              <a:t> </a:t>
            </a:r>
          </a:p>
          <a:p>
            <a:pPr lvl="0" algn="l" defTabSz="914400"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4400" dirty="0">
                <a:solidFill>
                  <a:schemeClr val="tx1"/>
                </a:solidFill>
                <a:latin typeface="Avenir Next LT Pro" panose="020B0504020202020204" pitchFamily="34" charset="77"/>
              </a:rPr>
              <a:t>improves quality, reliability, and customer satisfaction</a:t>
            </a:r>
            <a:r>
              <a:rPr lang="en-US" sz="4400" dirty="0">
                <a:solidFill>
                  <a:schemeClr val="tx1"/>
                </a:solidFill>
                <a:latin typeface="Avenir Next LT Pro" panose="020B0504020202020204" pitchFamily="34" charset="77"/>
              </a:rPr>
              <a:t>.</a:t>
            </a:r>
          </a:p>
          <a:p>
            <a:pPr algn="l"/>
            <a:endParaRPr lang="en-US" sz="3600" dirty="0">
              <a:solidFill>
                <a:schemeClr val="tx1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A0A22D-70B1-1BA9-B14E-709D3423F1FA}"/>
              </a:ext>
            </a:extLst>
          </p:cNvPr>
          <p:cNvSpPr txBox="1"/>
          <p:nvPr/>
        </p:nvSpPr>
        <p:spPr>
          <a:xfrm>
            <a:off x="5864772" y="844004"/>
            <a:ext cx="11634952" cy="11182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6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Georgia" panose="02040502050405020303" pitchFamily="18" charset="0"/>
                <a:sym typeface="Helvetica Neue"/>
              </a:rPr>
              <a:t>Robust Design Concept</a:t>
            </a:r>
            <a:endParaRPr kumimoji="0" lang="en-ID" sz="66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Georgia" panose="02040502050405020303" pitchFamily="18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85616232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D700A-DFA4-1A7C-B2AD-64D25C399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933DEA-27E4-EEE6-A0D8-6C897867DAFA}"/>
              </a:ext>
            </a:extLst>
          </p:cNvPr>
          <p:cNvSpPr txBox="1"/>
          <p:nvPr/>
        </p:nvSpPr>
        <p:spPr>
          <a:xfrm>
            <a:off x="5864772" y="844004"/>
            <a:ext cx="11634952" cy="11182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6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Georgia" panose="02040502050405020303" pitchFamily="18" charset="0"/>
                <a:sym typeface="Helvetica Neue"/>
              </a:rPr>
              <a:t>Robust Design Example</a:t>
            </a:r>
            <a:endParaRPr kumimoji="0" lang="en-ID" sz="66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Georgia" panose="02040502050405020303" pitchFamily="18" charset="0"/>
              <a:sym typeface="Helvetica Neue"/>
            </a:endParaRPr>
          </a:p>
        </p:txBody>
      </p:sp>
      <p:pic>
        <p:nvPicPr>
          <p:cNvPr id="3" name="Online Media 2" descr="Brother Robust Design">
            <a:hlinkClick r:id="" action="ppaction://media"/>
            <a:extLst>
              <a:ext uri="{FF2B5EF4-FFF2-40B4-BE49-F238E27FC236}">
                <a16:creationId xmlns:a16="http://schemas.microsoft.com/office/drawing/2014/main" id="{19031BD2-03F8-6616-A684-0D77EF384E97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2323070"/>
            <a:ext cx="24384000" cy="1139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13794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nline Media 4" descr="[ENPR 6311]-[02][02]-[Design Thinking for SDG_GLORY AGUZMAN.mp4">
            <a:hlinkClick r:id="" action="ppaction://media"/>
            <a:extLst>
              <a:ext uri="{FF2B5EF4-FFF2-40B4-BE49-F238E27FC236}">
                <a16:creationId xmlns:a16="http://schemas.microsoft.com/office/drawing/2014/main" id="{66FE5114-F9ED-97D9-CB5A-E2387F2FB1FC}"/>
              </a:ext>
            </a:extLst>
          </p:cNvPr>
          <p:cNvPicPr>
            <a:picLocks noGrp="1" noRot="1" noChangeAspect="1"/>
          </p:cNvPicPr>
          <p:nvPr>
            <p:ph sz="quarter" idx="1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2397211"/>
            <a:ext cx="24384000" cy="115412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6CAA25-1437-88AB-BBAA-BC7E1FC55D17}"/>
              </a:ext>
            </a:extLst>
          </p:cNvPr>
          <p:cNvSpPr txBox="1"/>
          <p:nvPr/>
        </p:nvSpPr>
        <p:spPr>
          <a:xfrm>
            <a:off x="5864772" y="844004"/>
            <a:ext cx="11634952" cy="11182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6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Georgia" panose="02040502050405020303" pitchFamily="18" charset="0"/>
                <a:sym typeface="Helvetica Neue"/>
              </a:rPr>
              <a:t>Robust Design Example</a:t>
            </a:r>
            <a:endParaRPr kumimoji="0" lang="en-ID" sz="66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Georgia" panose="02040502050405020303" pitchFamily="18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6413986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5A66946-4DBC-328B-F59D-79B17A5ADD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167126"/>
              </p:ext>
            </p:extLst>
          </p:nvPr>
        </p:nvGraphicFramePr>
        <p:xfrm>
          <a:off x="271849" y="2497899"/>
          <a:ext cx="23601405" cy="11172439"/>
        </p:xfrm>
        <a:graphic>
          <a:graphicData uri="http://schemas.openxmlformats.org/drawingml/2006/table">
            <a:tbl>
              <a:tblPr/>
              <a:tblGrid>
                <a:gridCol w="4278931">
                  <a:extLst>
                    <a:ext uri="{9D8B030D-6E8A-4147-A177-3AD203B41FA5}">
                      <a16:colId xmlns:a16="http://schemas.microsoft.com/office/drawing/2014/main" val="3459671623"/>
                    </a:ext>
                  </a:extLst>
                </a:gridCol>
                <a:gridCol w="7521772">
                  <a:extLst>
                    <a:ext uri="{9D8B030D-6E8A-4147-A177-3AD203B41FA5}">
                      <a16:colId xmlns:a16="http://schemas.microsoft.com/office/drawing/2014/main" val="202766115"/>
                    </a:ext>
                  </a:extLst>
                </a:gridCol>
                <a:gridCol w="5900351">
                  <a:extLst>
                    <a:ext uri="{9D8B030D-6E8A-4147-A177-3AD203B41FA5}">
                      <a16:colId xmlns:a16="http://schemas.microsoft.com/office/drawing/2014/main" val="3856954422"/>
                    </a:ext>
                  </a:extLst>
                </a:gridCol>
                <a:gridCol w="5900351">
                  <a:extLst>
                    <a:ext uri="{9D8B030D-6E8A-4147-A177-3AD203B41FA5}">
                      <a16:colId xmlns:a16="http://schemas.microsoft.com/office/drawing/2014/main" val="3106542609"/>
                    </a:ext>
                  </a:extLst>
                </a:gridCol>
              </a:tblGrid>
              <a:tr h="3642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latin typeface="Avenir Next LT Pro" panose="020B0504020202020204" pitchFamily="34" charset="77"/>
                        </a:rPr>
                        <a:t>Factor Type</a:t>
                      </a:r>
                      <a:endParaRPr lang="en-US" sz="2400">
                        <a:latin typeface="Avenir Next LT Pro" panose="020B0504020202020204" pitchFamily="34" charset="77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latin typeface="Avenir Next LT Pro" panose="020B0504020202020204" pitchFamily="34" charset="77"/>
                        </a:rPr>
                        <a:t>Definition</a:t>
                      </a:r>
                      <a:endParaRPr lang="en-US" sz="2400">
                        <a:latin typeface="Avenir Next LT Pro" panose="020B0504020202020204" pitchFamily="34" charset="77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latin typeface="Avenir Next LT Pro" panose="020B0504020202020204" pitchFamily="34" charset="77"/>
                        </a:rPr>
                        <a:t>Guiding Questions</a:t>
                      </a:r>
                      <a:endParaRPr lang="en-US" sz="2400">
                        <a:latin typeface="Avenir Next LT Pro" panose="020B0504020202020204" pitchFamily="34" charset="77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latin typeface="Avenir Next LT Pro" panose="020B0504020202020204" pitchFamily="34" charset="77"/>
                        </a:rPr>
                        <a:t>Typical Examples</a:t>
                      </a:r>
                      <a:endParaRPr lang="en-US" sz="2400">
                        <a:latin typeface="Avenir Next LT Pro" panose="020B0504020202020204" pitchFamily="34" charset="77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719995"/>
                  </a:ext>
                </a:extLst>
              </a:tr>
              <a:tr h="266182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b="1" dirty="0">
                          <a:latin typeface="Avenir Next LT Pro" panose="020B0504020202020204" pitchFamily="34" charset="77"/>
                        </a:rPr>
                        <a:t>Control Factors (C)</a:t>
                      </a:r>
                      <a:endParaRPr lang="en-US" sz="2400" dirty="0">
                        <a:latin typeface="Avenir Next LT Pro" panose="020B0504020202020204" pitchFamily="34" charset="77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dirty="0">
                          <a:latin typeface="Avenir Next LT Pro" panose="020B0504020202020204" pitchFamily="34" charset="77"/>
                        </a:rPr>
                        <a:t>Variables that the </a:t>
                      </a:r>
                      <a:r>
                        <a:rPr lang="en-US" sz="2400" b="1" dirty="0">
                          <a:latin typeface="Avenir Next LT Pro" panose="020B0504020202020204" pitchFamily="34" charset="77"/>
                        </a:rPr>
                        <a:t>designer, engineer, or business</a:t>
                      </a:r>
                      <a:r>
                        <a:rPr lang="en-US" sz="2400" dirty="0">
                          <a:latin typeface="Avenir Next LT Pro" panose="020B0504020202020204" pitchFamily="34" charset="77"/>
                        </a:rPr>
                        <a:t> can </a:t>
                      </a:r>
                      <a:r>
                        <a:rPr lang="en-US" sz="2400" b="1" dirty="0">
                          <a:latin typeface="Avenir Next LT Pro" panose="020B0504020202020204" pitchFamily="34" charset="77"/>
                        </a:rPr>
                        <a:t>control or adjust</a:t>
                      </a:r>
                      <a:r>
                        <a:rPr lang="en-US" sz="2400" dirty="0">
                          <a:latin typeface="Avenir Next LT Pro" panose="020B0504020202020204" pitchFamily="34" charset="77"/>
                        </a:rPr>
                        <a:t> during design or production to achieve the desired outcome.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Avenir Next LT Pro" panose="020B0504020202020204" pitchFamily="34" charset="77"/>
                        </a:rPr>
                        <a:t>What design parameters can we change or set to improve performance?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Avenir Next LT Pro" panose="020B0504020202020204" pitchFamily="34" charset="77"/>
                        </a:rPr>
                        <a:t>Which factors are within our control (e.g., material, layout, process)?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Avenir Next LT Pro" panose="020B0504020202020204" pitchFamily="34" charset="77"/>
                        </a:rPr>
                        <a:t>Material selection (plastic, metal, alloy)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Avenir Next LT Pro" panose="020B0504020202020204" pitchFamily="34" charset="77"/>
                        </a:rPr>
                        <a:t>Component dimensions or shape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Avenir Next LT Pro" panose="020B0504020202020204" pitchFamily="34" charset="77"/>
                        </a:rPr>
                        <a:t>Software algorithm or user interface design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Avenir Next LT Pro" panose="020B0504020202020204" pitchFamily="34" charset="77"/>
                        </a:rPr>
                        <a:t>Assembly pressure, torque, or temperature setting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Avenir Next LT Pro" panose="020B0504020202020204" pitchFamily="34" charset="77"/>
                        </a:rPr>
                        <a:t>Product packaging method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786804"/>
                  </a:ext>
                </a:extLst>
              </a:tr>
              <a:tr h="266182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b="1">
                          <a:latin typeface="Avenir Next LT Pro" panose="020B0504020202020204" pitchFamily="34" charset="77"/>
                        </a:rPr>
                        <a:t>Noise Factors (N)</a:t>
                      </a:r>
                      <a:endParaRPr lang="en-US" sz="2400">
                        <a:latin typeface="Avenir Next LT Pro" panose="020B0504020202020204" pitchFamily="34" charset="77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>
                          <a:latin typeface="Avenir Next LT Pro" panose="020B0504020202020204" pitchFamily="34" charset="77"/>
                        </a:rPr>
                        <a:t>Uncontrollable or difficult-to-control variables that </a:t>
                      </a:r>
                      <a:r>
                        <a:rPr lang="en-US" sz="2400" b="1">
                          <a:latin typeface="Avenir Next LT Pro" panose="020B0504020202020204" pitchFamily="34" charset="77"/>
                        </a:rPr>
                        <a:t>cause variation</a:t>
                      </a:r>
                      <a:r>
                        <a:rPr lang="en-US" sz="2400">
                          <a:latin typeface="Avenir Next LT Pro" panose="020B0504020202020204" pitchFamily="34" charset="77"/>
                        </a:rPr>
                        <a:t> in performance. These may come from the </a:t>
                      </a:r>
                      <a:r>
                        <a:rPr lang="en-US" sz="2400" b="1">
                          <a:latin typeface="Avenir Next LT Pro" panose="020B0504020202020204" pitchFamily="34" charset="77"/>
                        </a:rPr>
                        <a:t>environment, user behavior, or manufacturing inconsistencies</a:t>
                      </a:r>
                      <a:r>
                        <a:rPr lang="en-US" sz="2400">
                          <a:latin typeface="Avenir Next LT Pro" panose="020B0504020202020204" pitchFamily="34" charset="77"/>
                        </a:rPr>
                        <a:t>.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Avenir Next LT Pro" panose="020B0504020202020204" pitchFamily="34" charset="77"/>
                        </a:rPr>
                        <a:t>What external conditions might change during use or production?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Avenir Next LT Pro" panose="020B0504020202020204" pitchFamily="34" charset="77"/>
                        </a:rPr>
                        <a:t>What factors could cause inconsistency or defects?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Avenir Next LT Pro" panose="020B0504020202020204" pitchFamily="34" charset="77"/>
                        </a:rPr>
                        <a:t>What cannot be easily standardized or predicted?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Avenir Next LT Pro" panose="020B0504020202020204" pitchFamily="34" charset="77"/>
                        </a:rPr>
                        <a:t>Ambient temperature / humidity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Avenir Next LT Pro" panose="020B0504020202020204" pitchFamily="34" charset="77"/>
                        </a:rPr>
                        <a:t>User handling or misuse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Avenir Next LT Pro" panose="020B0504020202020204" pitchFamily="34" charset="77"/>
                        </a:rPr>
                        <a:t>Supplier variation in materials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Avenir Next LT Pro" panose="020B0504020202020204" pitchFamily="34" charset="77"/>
                        </a:rPr>
                        <a:t>Machine wear / aging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Avenir Next LT Pro" panose="020B0504020202020204" pitchFamily="34" charset="77"/>
                        </a:rPr>
                        <a:t>Power fluctuation, vibration, dust, or noise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Avenir Next LT Pro" panose="020B0504020202020204" pitchFamily="34" charset="77"/>
                        </a:rPr>
                        <a:t>Network connectivity (for digital services)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2132377"/>
                  </a:ext>
                </a:extLst>
              </a:tr>
              <a:tr h="266182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b="1">
                          <a:latin typeface="Avenir Next LT Pro" panose="020B0504020202020204" pitchFamily="34" charset="77"/>
                        </a:rPr>
                        <a:t>Signal Factors (S)</a:t>
                      </a:r>
                      <a:endParaRPr lang="en-US" sz="2400">
                        <a:latin typeface="Avenir Next LT Pro" panose="020B0504020202020204" pitchFamily="34" charset="77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>
                          <a:latin typeface="Avenir Next LT Pro" panose="020B0504020202020204" pitchFamily="34" charset="77"/>
                        </a:rPr>
                        <a:t>Inputs or actions that come </a:t>
                      </a:r>
                      <a:r>
                        <a:rPr lang="en-US" sz="2400" b="1">
                          <a:latin typeface="Avenir Next LT Pro" panose="020B0504020202020204" pitchFamily="34" charset="77"/>
                        </a:rPr>
                        <a:t>from the user</a:t>
                      </a:r>
                      <a:r>
                        <a:rPr lang="en-US" sz="2400">
                          <a:latin typeface="Avenir Next LT Pro" panose="020B0504020202020204" pitchFamily="34" charset="77"/>
                        </a:rPr>
                        <a:t> or </a:t>
                      </a:r>
                      <a:r>
                        <a:rPr lang="en-US" sz="2400" b="1">
                          <a:latin typeface="Avenir Next LT Pro" panose="020B0504020202020204" pitchFamily="34" charset="77"/>
                        </a:rPr>
                        <a:t>operating conditions</a:t>
                      </a:r>
                      <a:r>
                        <a:rPr lang="en-US" sz="2400">
                          <a:latin typeface="Avenir Next LT Pro" panose="020B0504020202020204" pitchFamily="34" charset="77"/>
                        </a:rPr>
                        <a:t>. They define how the system is used and influence the output response.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Avenir Next LT Pro" panose="020B0504020202020204" pitchFamily="34" charset="77"/>
                        </a:rPr>
                        <a:t>What user input triggers or controls the system?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Avenir Next LT Pro" panose="020B0504020202020204" pitchFamily="34" charset="77"/>
                        </a:rPr>
                        <a:t>What range of operation does the user set?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Avenir Next LT Pro" panose="020B0504020202020204" pitchFamily="34" charset="77"/>
                        </a:rPr>
                        <a:t>How does user behavior affect performance?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Avenir Next LT Pro" panose="020B0504020202020204" pitchFamily="34" charset="77"/>
                        </a:rPr>
                        <a:t>Speed setting on a blender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Avenir Next LT Pro" panose="020B0504020202020204" pitchFamily="34" charset="77"/>
                        </a:rPr>
                        <a:t>Pressure applied to a brake pedal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Avenir Next LT Pro" panose="020B0504020202020204" pitchFamily="34" charset="77"/>
                        </a:rPr>
                        <a:t>Amount of data processed by an app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Avenir Next LT Pro" panose="020B0504020202020204" pitchFamily="34" charset="77"/>
                        </a:rPr>
                        <a:t>Volume level in a speaker system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Avenir Next LT Pro" panose="020B0504020202020204" pitchFamily="34" charset="77"/>
                        </a:rPr>
                        <a:t>Time of day the service is used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5037998"/>
                  </a:ext>
                </a:extLst>
              </a:tr>
              <a:tr h="23740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b="1" dirty="0">
                          <a:latin typeface="Avenir Next LT Pro" panose="020B0504020202020204" pitchFamily="34" charset="77"/>
                        </a:rPr>
                        <a:t>Output Responses (Y)</a:t>
                      </a:r>
                      <a:endParaRPr lang="en-US" sz="2400" dirty="0">
                        <a:latin typeface="Avenir Next LT Pro" panose="020B0504020202020204" pitchFamily="34" charset="77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>
                          <a:latin typeface="Avenir Next LT Pro" panose="020B0504020202020204" pitchFamily="34" charset="77"/>
                        </a:rPr>
                        <a:t>The </a:t>
                      </a:r>
                      <a:r>
                        <a:rPr lang="en-US" sz="2400" b="1">
                          <a:latin typeface="Avenir Next LT Pro" panose="020B0504020202020204" pitchFamily="34" charset="77"/>
                        </a:rPr>
                        <a:t>results or performance measures</a:t>
                      </a:r>
                      <a:r>
                        <a:rPr lang="en-US" sz="2400">
                          <a:latin typeface="Avenir Next LT Pro" panose="020B0504020202020204" pitchFamily="34" charset="77"/>
                        </a:rPr>
                        <a:t> of the system — what you want to keep stable and consistent even under variation.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Avenir Next LT Pro" panose="020B0504020202020204" pitchFamily="34" charset="77"/>
                        </a:rPr>
                        <a:t>What is the key measurable outcome ?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Avenir Next LT Pro" panose="020B0504020202020204" pitchFamily="34" charset="77"/>
                        </a:rPr>
                        <a:t>What defines “good performance”?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Avenir Next LT Pro" panose="020B0504020202020204" pitchFamily="34" charset="77"/>
                        </a:rPr>
                        <a:t>Temperature retention in a bottle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Avenir Next LT Pro" panose="020B0504020202020204" pitchFamily="34" charset="77"/>
                        </a:rPr>
                        <a:t>Strength or durability of a component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Avenir Next LT Pro" panose="020B0504020202020204" pitchFamily="34" charset="77"/>
                        </a:rPr>
                        <a:t>App loading time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Avenir Next LT Pro" panose="020B0504020202020204" pitchFamily="34" charset="77"/>
                        </a:rPr>
                        <a:t>Battery life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Avenir Next LT Pro" panose="020B0504020202020204" pitchFamily="34" charset="77"/>
                        </a:rPr>
                        <a:t>Customer satisfaction or delivery time consistency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805203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6D5E88A-1972-337E-4953-0BA5A2AE2C08}"/>
              </a:ext>
            </a:extLst>
          </p:cNvPr>
          <p:cNvSpPr txBox="1"/>
          <p:nvPr/>
        </p:nvSpPr>
        <p:spPr>
          <a:xfrm>
            <a:off x="3790170" y="1010312"/>
            <a:ext cx="17082003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Georgia" panose="02040502050405020303" pitchFamily="18" charset="0"/>
                <a:sym typeface="Helvetica Neue"/>
              </a:rPr>
              <a:t>Robust Design Identification Factors Example</a:t>
            </a:r>
            <a:endParaRPr kumimoji="0" lang="en-ID" sz="48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Georgia" panose="02040502050405020303" pitchFamily="18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82195318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DF98A-C248-852C-CC19-E09929585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435EB32-7595-C2E7-9AEC-5F87645A04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1886351"/>
              </p:ext>
            </p:extLst>
          </p:nvPr>
        </p:nvGraphicFramePr>
        <p:xfrm>
          <a:off x="1206499" y="4847354"/>
          <a:ext cx="21971001" cy="3444240"/>
        </p:xfrm>
        <a:graphic>
          <a:graphicData uri="http://schemas.openxmlformats.org/drawingml/2006/table">
            <a:tbl>
              <a:tblPr/>
              <a:tblGrid>
                <a:gridCol w="5293155">
                  <a:extLst>
                    <a:ext uri="{9D8B030D-6E8A-4147-A177-3AD203B41FA5}">
                      <a16:colId xmlns:a16="http://schemas.microsoft.com/office/drawing/2014/main" val="3081772285"/>
                    </a:ext>
                  </a:extLst>
                </a:gridCol>
                <a:gridCol w="7661189">
                  <a:extLst>
                    <a:ext uri="{9D8B030D-6E8A-4147-A177-3AD203B41FA5}">
                      <a16:colId xmlns:a16="http://schemas.microsoft.com/office/drawing/2014/main" val="2169547406"/>
                    </a:ext>
                  </a:extLst>
                </a:gridCol>
                <a:gridCol w="9016657">
                  <a:extLst>
                    <a:ext uri="{9D8B030D-6E8A-4147-A177-3AD203B41FA5}">
                      <a16:colId xmlns:a16="http://schemas.microsoft.com/office/drawing/2014/main" val="335963722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1" dirty="0">
                          <a:latin typeface="Avenir Next LT Pro" panose="020B0504020202020204" pitchFamily="34" charset="77"/>
                        </a:rPr>
                        <a:t>Factor Type</a:t>
                      </a:r>
                      <a:endParaRPr lang="en-US" sz="2800" dirty="0">
                        <a:latin typeface="Avenir Next LT Pro" panose="020B0504020202020204" pitchFamily="34" charset="77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1" dirty="0">
                          <a:latin typeface="Avenir Next LT Pro" panose="020B0504020202020204" pitchFamily="34" charset="77"/>
                        </a:rPr>
                        <a:t>Example</a:t>
                      </a:r>
                      <a:endParaRPr lang="en-US" sz="2800" dirty="0">
                        <a:latin typeface="Avenir Next LT Pro" panose="020B0504020202020204" pitchFamily="34" charset="77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1" dirty="0">
                          <a:latin typeface="Avenir Next LT Pro" panose="020B0504020202020204" pitchFamily="34" charset="77"/>
                        </a:rPr>
                        <a:t>Description / Impact</a:t>
                      </a:r>
                      <a:endParaRPr lang="en-US" sz="2800" dirty="0">
                        <a:latin typeface="Avenir Next LT Pro" panose="020B0504020202020204" pitchFamily="34" charset="77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786801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800" dirty="0">
                          <a:latin typeface="Avenir Next LT Pro" panose="020B0504020202020204" pitchFamily="34" charset="77"/>
                        </a:rPr>
                        <a:t>Control Factor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800" dirty="0">
                          <a:latin typeface="Avenir Next LT Pro" panose="020B0504020202020204" pitchFamily="34" charset="77"/>
                        </a:rPr>
                        <a:t>Speaker material and casing design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800" dirty="0">
                          <a:latin typeface="Avenir Next LT Pro" panose="020B0504020202020204" pitchFamily="34" charset="77"/>
                        </a:rPr>
                        <a:t>Affects vibration control and sound quality.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444452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800">
                          <a:latin typeface="Avenir Next LT Pro" panose="020B0504020202020204" pitchFamily="34" charset="77"/>
                        </a:rPr>
                        <a:t>Noise Factor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800" dirty="0">
                          <a:latin typeface="Avenir Next LT Pro" panose="020B0504020202020204" pitchFamily="34" charset="77"/>
                        </a:rPr>
                        <a:t>User volume setting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800" dirty="0">
                          <a:latin typeface="Avenir Next LT Pro" panose="020B0504020202020204" pitchFamily="34" charset="77"/>
                        </a:rPr>
                        <a:t>Excessive use at high volume causes distortion or overheating.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94918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800">
                          <a:latin typeface="Avenir Next LT Pro" panose="020B0504020202020204" pitchFamily="34" charset="77"/>
                        </a:rPr>
                        <a:t>Signal Factor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800">
                          <a:latin typeface="Avenir Next LT Pro" panose="020B0504020202020204" pitchFamily="34" charset="77"/>
                        </a:rPr>
                        <a:t>User-selected volume level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800" dirty="0">
                          <a:latin typeface="Avenir Next LT Pro" panose="020B0504020202020204" pitchFamily="34" charset="77"/>
                        </a:rPr>
                        <a:t>Defines how loud the speaker will play.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84009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800">
                          <a:latin typeface="Avenir Next LT Pro" panose="020B0504020202020204" pitchFamily="34" charset="77"/>
                        </a:rPr>
                        <a:t>Output Response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800">
                          <a:latin typeface="Avenir Next LT Pro" panose="020B0504020202020204" pitchFamily="34" charset="77"/>
                        </a:rPr>
                        <a:t>Sound clarity and battery endurance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800" dirty="0">
                          <a:latin typeface="Avenir Next LT Pro" panose="020B0504020202020204" pitchFamily="34" charset="77"/>
                        </a:rPr>
                        <a:t>Desired outputs that should remain stable under variation.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4529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B6E0E0D-930E-1C20-EEC6-FFF87DF7A6EE}"/>
              </a:ext>
            </a:extLst>
          </p:cNvPr>
          <p:cNvSpPr txBox="1"/>
          <p:nvPr/>
        </p:nvSpPr>
        <p:spPr>
          <a:xfrm>
            <a:off x="1408670" y="3775195"/>
            <a:ext cx="8410831" cy="830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buNone/>
            </a:pPr>
            <a:r>
              <a:rPr lang="en-US" b="1" dirty="0">
                <a:latin typeface="Avenir Next LT Pro" panose="020B0504020202020204" pitchFamily="34" charset="77"/>
              </a:rPr>
              <a:t>Example (Filled-In for a Physical Product)</a:t>
            </a:r>
          </a:p>
          <a:p>
            <a:pPr algn="l">
              <a:buNone/>
            </a:pPr>
            <a:r>
              <a:rPr lang="en-US" b="1" dirty="0">
                <a:latin typeface="Avenir Next LT Pro" panose="020B0504020202020204" pitchFamily="34" charset="77"/>
              </a:rPr>
              <a:t>Product:</a:t>
            </a:r>
            <a:r>
              <a:rPr lang="en-US" dirty="0">
                <a:latin typeface="Avenir Next LT Pro" panose="020B0504020202020204" pitchFamily="34" charset="77"/>
              </a:rPr>
              <a:t> Portable Bluetooth Speaker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FD3BD4-B0F8-0EA4-E238-B3D78A9912E3}"/>
              </a:ext>
            </a:extLst>
          </p:cNvPr>
          <p:cNvSpPr txBox="1"/>
          <p:nvPr/>
        </p:nvSpPr>
        <p:spPr>
          <a:xfrm>
            <a:off x="3650997" y="938932"/>
            <a:ext cx="17082003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Georgia" panose="02040502050405020303" pitchFamily="18" charset="0"/>
                <a:sym typeface="Helvetica Neue"/>
              </a:rPr>
              <a:t>Robust Design Identification Factors Example</a:t>
            </a:r>
            <a:endParaRPr kumimoji="0" lang="en-ID" sz="48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Georgia" panose="02040502050405020303" pitchFamily="18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380776981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F9356B4-2BA0-204A-16A0-2437F121C0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2883717"/>
              </p:ext>
            </p:extLst>
          </p:nvPr>
        </p:nvGraphicFramePr>
        <p:xfrm>
          <a:off x="1206499" y="4896782"/>
          <a:ext cx="21971001" cy="4846320"/>
        </p:xfrm>
        <a:graphic>
          <a:graphicData uri="http://schemas.openxmlformats.org/drawingml/2006/table">
            <a:tbl>
              <a:tblPr/>
              <a:tblGrid>
                <a:gridCol w="5194301">
                  <a:extLst>
                    <a:ext uri="{9D8B030D-6E8A-4147-A177-3AD203B41FA5}">
                      <a16:colId xmlns:a16="http://schemas.microsoft.com/office/drawing/2014/main" val="1271389020"/>
                    </a:ext>
                  </a:extLst>
                </a:gridCol>
                <a:gridCol w="8526162">
                  <a:extLst>
                    <a:ext uri="{9D8B030D-6E8A-4147-A177-3AD203B41FA5}">
                      <a16:colId xmlns:a16="http://schemas.microsoft.com/office/drawing/2014/main" val="3981823634"/>
                    </a:ext>
                  </a:extLst>
                </a:gridCol>
                <a:gridCol w="8250538">
                  <a:extLst>
                    <a:ext uri="{9D8B030D-6E8A-4147-A177-3AD203B41FA5}">
                      <a16:colId xmlns:a16="http://schemas.microsoft.com/office/drawing/2014/main" val="247377519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1" dirty="0"/>
                        <a:t>Factor Type</a:t>
                      </a:r>
                      <a:endParaRPr lang="en-US" sz="3200" dirty="0"/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1" dirty="0"/>
                        <a:t>Example</a:t>
                      </a:r>
                      <a:endParaRPr lang="en-US" sz="3200" dirty="0"/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1" dirty="0"/>
                        <a:t>Description / Impact</a:t>
                      </a:r>
                      <a:endParaRPr lang="en-US" sz="3200" dirty="0"/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600811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3200"/>
                        <a:t>Control Factor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3200" dirty="0"/>
                        <a:t>App server capacity and algorithm efficiency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3200" dirty="0"/>
                        <a:t>Determines speed and response time.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09678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3200"/>
                        <a:t>Noise Factor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3200" dirty="0"/>
                        <a:t>Internet connection stability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3200" dirty="0"/>
                        <a:t>Affects app performance, especially in rural areas.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661603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3200"/>
                        <a:t>Signal Factor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3200"/>
                        <a:t>Number of active users placing orders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3200" dirty="0"/>
                        <a:t>Main input that varies depending on customer demand.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35686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3200" dirty="0"/>
                        <a:t>Output Response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3200"/>
                        <a:t>Order completion time &amp; user satisfaction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3200" dirty="0"/>
                        <a:t>Should remain stable despite load variations.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83611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947736E-1638-6E9F-0B14-F9EE5C7D9CDA}"/>
              </a:ext>
            </a:extLst>
          </p:cNvPr>
          <p:cNvSpPr txBox="1"/>
          <p:nvPr/>
        </p:nvSpPr>
        <p:spPr>
          <a:xfrm>
            <a:off x="1355311" y="3798156"/>
            <a:ext cx="7098956" cy="830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buNone/>
            </a:pPr>
            <a:r>
              <a:rPr lang="en-US" b="1" dirty="0">
                <a:latin typeface="Avenir Next LT Pro" panose="020B0504020202020204" pitchFamily="34" charset="77"/>
              </a:rPr>
              <a:t>Example (Filled-In for a Digital Service)</a:t>
            </a:r>
          </a:p>
          <a:p>
            <a:pPr algn="l">
              <a:buNone/>
            </a:pPr>
            <a:r>
              <a:rPr lang="en-US" b="1" dirty="0">
                <a:latin typeface="Avenir Next LT Pro" panose="020B0504020202020204" pitchFamily="34" charset="77"/>
              </a:rPr>
              <a:t>Service:</a:t>
            </a:r>
            <a:r>
              <a:rPr lang="en-US" dirty="0">
                <a:latin typeface="Avenir Next LT Pro" panose="020B0504020202020204" pitchFamily="34" charset="77"/>
              </a:rPr>
              <a:t> Online Food Delivery App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278128-526D-428B-3301-FAD17339A398}"/>
              </a:ext>
            </a:extLst>
          </p:cNvPr>
          <p:cNvSpPr txBox="1"/>
          <p:nvPr/>
        </p:nvSpPr>
        <p:spPr>
          <a:xfrm>
            <a:off x="3650997" y="938932"/>
            <a:ext cx="17082003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Georgia" panose="02040502050405020303" pitchFamily="18" charset="0"/>
                <a:sym typeface="Helvetica Neue"/>
              </a:rPr>
              <a:t>Robust Design Identification Factors Example</a:t>
            </a:r>
            <a:endParaRPr kumimoji="0" lang="en-ID" sz="48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Georgia" panose="02040502050405020303" pitchFamily="18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53239470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CD0E5-F5EC-A3C8-EADD-77DEDA7E6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DF7E204-2635-D61B-7699-13294631F9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5711047"/>
              </p:ext>
            </p:extLst>
          </p:nvPr>
        </p:nvGraphicFramePr>
        <p:xfrm>
          <a:off x="1206499" y="4220921"/>
          <a:ext cx="21971001" cy="8991600"/>
        </p:xfrm>
        <a:graphic>
          <a:graphicData uri="http://schemas.openxmlformats.org/drawingml/2006/table">
            <a:tbl>
              <a:tblPr/>
              <a:tblGrid>
                <a:gridCol w="5194301">
                  <a:extLst>
                    <a:ext uri="{9D8B030D-6E8A-4147-A177-3AD203B41FA5}">
                      <a16:colId xmlns:a16="http://schemas.microsoft.com/office/drawing/2014/main" val="1271389020"/>
                    </a:ext>
                  </a:extLst>
                </a:gridCol>
                <a:gridCol w="8526162">
                  <a:extLst>
                    <a:ext uri="{9D8B030D-6E8A-4147-A177-3AD203B41FA5}">
                      <a16:colId xmlns:a16="http://schemas.microsoft.com/office/drawing/2014/main" val="3981823634"/>
                    </a:ext>
                  </a:extLst>
                </a:gridCol>
                <a:gridCol w="8250538">
                  <a:extLst>
                    <a:ext uri="{9D8B030D-6E8A-4147-A177-3AD203B41FA5}">
                      <a16:colId xmlns:a16="http://schemas.microsoft.com/office/drawing/2014/main" val="247377519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1" dirty="0"/>
                        <a:t>Factor Type</a:t>
                      </a:r>
                      <a:endParaRPr lang="en-US" sz="3200" dirty="0"/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1" dirty="0"/>
                        <a:t>Example</a:t>
                      </a:r>
                      <a:endParaRPr lang="en-US" sz="3200" dirty="0"/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1" dirty="0"/>
                        <a:t>Description / Impact</a:t>
                      </a:r>
                      <a:endParaRPr lang="en-US" sz="3200" dirty="0"/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600811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>
                          <a:latin typeface="Avenir Next LT Pro" panose="020B0504020202020204" pitchFamily="34" charset="77"/>
                        </a:rPr>
                        <a:t>Control Factor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dirty="0">
                          <a:latin typeface="Avenir Next LT Pro" panose="020B0504020202020204" pitchFamily="34" charset="77"/>
                        </a:rPr>
                        <a:t>Variables that can be controlled or adjusted by the laundry management to achieve consistent and high-quality cleaning results.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57200" indent="-4572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Avenir Next LT Pro" panose="020B0504020202020204" pitchFamily="34" charset="77"/>
                        </a:rPr>
                        <a:t>Type and dosage of detergent/softener</a:t>
                      </a:r>
                    </a:p>
                    <a:p>
                      <a:pPr marL="457200" indent="-4572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Avenir Next LT Pro" panose="020B0504020202020204" pitchFamily="34" charset="77"/>
                        </a:rPr>
                        <a:t>Water temperature and washing duration</a:t>
                      </a:r>
                    </a:p>
                    <a:p>
                      <a:pPr marL="457200" indent="-4572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Avenir Next LT Pro" panose="020B0504020202020204" pitchFamily="34" charset="77"/>
                        </a:rPr>
                        <a:t>Dryer spin speed (RPM)</a:t>
                      </a:r>
                    </a:p>
                    <a:p>
                      <a:pPr marL="457200" indent="-4572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Avenir Next LT Pro" panose="020B0504020202020204" pitchFamily="34" charset="77"/>
                        </a:rPr>
                        <a:t>Machine load capacity (kg per cycle)</a:t>
                      </a:r>
                    </a:p>
                    <a:p>
                      <a:pPr marL="457200" indent="-4572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Avenir Next LT Pro" panose="020B0504020202020204" pitchFamily="34" charset="77"/>
                        </a:rPr>
                        <a:t>Sorting procedures by color and fabric type</a:t>
                      </a:r>
                    </a:p>
                    <a:p>
                      <a:pPr marL="457200" indent="-4572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Avenir Next LT Pro" panose="020B0504020202020204" pitchFamily="34" charset="77"/>
                        </a:rPr>
                        <a:t>Labeling or barcode tracking system for each </a:t>
                      </a:r>
                      <a:r>
                        <a:rPr lang="en-US" sz="2400" dirty="0" err="1">
                          <a:latin typeface="Avenir Next LT Pro" panose="020B0504020202020204" pitchFamily="34" charset="77"/>
                        </a:rPr>
                        <a:t>orde</a:t>
                      </a:r>
                      <a:endParaRPr lang="en-US" sz="2400" dirty="0">
                        <a:latin typeface="Avenir Next LT Pro" panose="020B0504020202020204" pitchFamily="34" charset="77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09678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>
                          <a:latin typeface="Avenir Next LT Pro" panose="020B0504020202020204" pitchFamily="34" charset="77"/>
                        </a:rPr>
                        <a:t>Noise Factor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dirty="0">
                          <a:latin typeface="Avenir Next LT Pro" panose="020B0504020202020204" pitchFamily="34" charset="77"/>
                        </a:rPr>
                        <a:t>Uncontrollable or difficult-to-control variables that cause variation in washing results.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57200" indent="-4572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Avenir Next LT Pro" panose="020B0504020202020204" pitchFamily="34" charset="77"/>
                        </a:rPr>
                        <a:t>Weather or humidity (affecting drying time)</a:t>
                      </a:r>
                    </a:p>
                    <a:p>
                      <a:pPr marL="457200" indent="-4572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Avenir Next LT Pro" panose="020B0504020202020204" pitchFamily="34" charset="77"/>
                        </a:rPr>
                        <a:t>Power or water pressure fluctuations</a:t>
                      </a:r>
                    </a:p>
                    <a:p>
                      <a:pPr marL="457200" indent="-4572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Avenir Next LT Pro" panose="020B0504020202020204" pitchFamily="34" charset="77"/>
                        </a:rPr>
                        <a:t>Machine wear and tear</a:t>
                      </a:r>
                    </a:p>
                    <a:p>
                      <a:pPr marL="457200" indent="-4572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Avenir Next LT Pro" panose="020B0504020202020204" pitchFamily="34" charset="77"/>
                        </a:rPr>
                        <a:t>Sudden increase in customer orders</a:t>
                      </a:r>
                    </a:p>
                    <a:p>
                      <a:pPr marL="457200" indent="-4572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Avenir Next LT Pro" panose="020B0504020202020204" pitchFamily="34" charset="77"/>
                        </a:rPr>
                        <a:t>Customer behavior (unclear instructions, late pickup)</a:t>
                      </a:r>
                    </a:p>
                    <a:p>
                      <a:pPr marL="457200" indent="-4572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Avenir Next LT Pro" panose="020B0504020202020204" pitchFamily="34" charset="77"/>
                        </a:rPr>
                        <a:t>Internet or system connectivity issues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661603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>
                          <a:latin typeface="Avenir Next LT Pro" panose="020B0504020202020204" pitchFamily="34" charset="77"/>
                        </a:rPr>
                        <a:t>Signal Factor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dirty="0">
                          <a:latin typeface="Avenir Next LT Pro" panose="020B0504020202020204" pitchFamily="34" charset="77"/>
                        </a:rPr>
                        <a:t>Inputs or actions coming from the customer that influence the washing process and outcomes.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57200" indent="-4572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Avenir Next LT Pro" panose="020B0504020202020204" pitchFamily="34" charset="77"/>
                        </a:rPr>
                        <a:t>Type of service (regular, express, dry clean)</a:t>
                      </a:r>
                    </a:p>
                    <a:p>
                      <a:pPr marL="457200" indent="-4572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Avenir Next LT Pro" panose="020B0504020202020204" pitchFamily="34" charset="77"/>
                        </a:rPr>
                        <a:t>Laundry weight and fabric type</a:t>
                      </a:r>
                    </a:p>
                    <a:p>
                      <a:pPr marL="457200" indent="-4572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Avenir Next LT Pro" panose="020B0504020202020204" pitchFamily="34" charset="77"/>
                        </a:rPr>
                        <a:t>Special instructions (no fragrance, cold wash, specific folding style)</a:t>
                      </a:r>
                    </a:p>
                    <a:p>
                      <a:pPr marL="457200" indent="-4572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Avenir Next LT Pro" panose="020B0504020202020204" pitchFamily="34" charset="77"/>
                        </a:rPr>
                        <a:t>Pickup and delivery schedule requested by customer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35686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dirty="0">
                          <a:latin typeface="Avenir Next LT Pro" panose="020B0504020202020204" pitchFamily="34" charset="77"/>
                        </a:rPr>
                        <a:t>Output Response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dirty="0">
                          <a:latin typeface="Avenir Next LT Pro" panose="020B0504020202020204" pitchFamily="34" charset="77"/>
                        </a:rPr>
                        <a:t>The measurable results or performance indicators that must remain stable and meet customer expectations.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57200" indent="-4572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Avenir Next LT Pro" panose="020B0504020202020204" pitchFamily="34" charset="77"/>
                        </a:rPr>
                        <a:t>Cleanliness of clothes (stain removal, fresh scent)</a:t>
                      </a:r>
                    </a:p>
                    <a:p>
                      <a:pPr marL="457200" indent="-4572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Avenir Next LT Pro" panose="020B0504020202020204" pitchFamily="34" charset="77"/>
                        </a:rPr>
                        <a:t>Turnaround time for orders</a:t>
                      </a:r>
                    </a:p>
                    <a:p>
                      <a:pPr marL="457200" indent="-4572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Avenir Next LT Pro" panose="020B0504020202020204" pitchFamily="34" charset="77"/>
                        </a:rPr>
                        <a:t>On-time delivery rate</a:t>
                      </a:r>
                    </a:p>
                    <a:p>
                      <a:pPr marL="457200" indent="-4572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Avenir Next LT Pro" panose="020B0504020202020204" pitchFamily="34" charset="77"/>
                        </a:rPr>
                        <a:t>Error rate (lost/mixed-up clothes)</a:t>
                      </a:r>
                    </a:p>
                    <a:p>
                      <a:pPr marL="457200" indent="-4572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Avenir Next LT Pro" panose="020B0504020202020204" pitchFamily="34" charset="77"/>
                        </a:rPr>
                        <a:t>Customer satisfaction ratings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83611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9794AD7-8936-88FB-F936-46A342ECB92A}"/>
              </a:ext>
            </a:extLst>
          </p:cNvPr>
          <p:cNvSpPr txBox="1"/>
          <p:nvPr/>
        </p:nvSpPr>
        <p:spPr>
          <a:xfrm>
            <a:off x="1206499" y="3088320"/>
            <a:ext cx="7098956" cy="830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buNone/>
            </a:pPr>
            <a:r>
              <a:rPr lang="en-US" b="1" dirty="0">
                <a:latin typeface="Avenir Next LT Pro" panose="020B0504020202020204" pitchFamily="34" charset="77"/>
              </a:rPr>
              <a:t>Example (Filled-In for Service)</a:t>
            </a:r>
          </a:p>
          <a:p>
            <a:pPr algn="l">
              <a:buNone/>
            </a:pPr>
            <a:r>
              <a:rPr lang="en-US" b="1" dirty="0">
                <a:latin typeface="Avenir Next LT Pro" panose="020B0504020202020204" pitchFamily="34" charset="77"/>
              </a:rPr>
              <a:t>Service:</a:t>
            </a:r>
            <a:r>
              <a:rPr lang="en-US" dirty="0">
                <a:latin typeface="Avenir Next LT Pro" panose="020B0504020202020204" pitchFamily="34" charset="77"/>
              </a:rPr>
              <a:t> Laundry Services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BD7E64-8213-96AE-AF88-EFE2A2CDBD96}"/>
              </a:ext>
            </a:extLst>
          </p:cNvPr>
          <p:cNvSpPr txBox="1"/>
          <p:nvPr/>
        </p:nvSpPr>
        <p:spPr>
          <a:xfrm>
            <a:off x="3650997" y="938932"/>
            <a:ext cx="17082003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Georgia" panose="02040502050405020303" pitchFamily="18" charset="0"/>
                <a:sym typeface="Helvetica Neue"/>
              </a:rPr>
              <a:t>Robust Design Identification Factors Example</a:t>
            </a:r>
            <a:endParaRPr kumimoji="0" lang="en-ID" sz="48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Georgia" panose="02040502050405020303" pitchFamily="18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119684617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93EA1-A8D2-1865-4F14-5C724DE04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D73E04D-5FB1-EAAA-FE12-C3965DE4C6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6938724"/>
              </p:ext>
            </p:extLst>
          </p:nvPr>
        </p:nvGraphicFramePr>
        <p:xfrm>
          <a:off x="1206499" y="4896782"/>
          <a:ext cx="21971001" cy="2895600"/>
        </p:xfrm>
        <a:graphic>
          <a:graphicData uri="http://schemas.openxmlformats.org/drawingml/2006/table">
            <a:tbl>
              <a:tblPr/>
              <a:tblGrid>
                <a:gridCol w="5194301">
                  <a:extLst>
                    <a:ext uri="{9D8B030D-6E8A-4147-A177-3AD203B41FA5}">
                      <a16:colId xmlns:a16="http://schemas.microsoft.com/office/drawing/2014/main" val="1271389020"/>
                    </a:ext>
                  </a:extLst>
                </a:gridCol>
                <a:gridCol w="8526162">
                  <a:extLst>
                    <a:ext uri="{9D8B030D-6E8A-4147-A177-3AD203B41FA5}">
                      <a16:colId xmlns:a16="http://schemas.microsoft.com/office/drawing/2014/main" val="3981823634"/>
                    </a:ext>
                  </a:extLst>
                </a:gridCol>
                <a:gridCol w="8250538">
                  <a:extLst>
                    <a:ext uri="{9D8B030D-6E8A-4147-A177-3AD203B41FA5}">
                      <a16:colId xmlns:a16="http://schemas.microsoft.com/office/drawing/2014/main" val="247377519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1" dirty="0"/>
                        <a:t>Factor Type</a:t>
                      </a:r>
                      <a:endParaRPr lang="en-US" sz="3200" dirty="0"/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latin typeface="Avenir Next LT Pro" panose="020B0504020202020204" pitchFamily="34" charset="77"/>
                        </a:rPr>
                        <a:t>Indicators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1" dirty="0"/>
                        <a:t>Description / Impact</a:t>
                      </a:r>
                      <a:endParaRPr lang="en-US" sz="3200" dirty="0"/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600811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3200"/>
                        <a:t>Control Factor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3200" dirty="0"/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3200" dirty="0"/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09678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3200"/>
                        <a:t>Noise Factor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3200" dirty="0"/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3200" dirty="0"/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69205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3200"/>
                        <a:t>Signal Factor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3200" dirty="0"/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3200" dirty="0"/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35686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3200"/>
                        <a:t>Output Response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3200" dirty="0"/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3200" dirty="0"/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83611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AA2D363-856A-57E0-BF55-75B458213528}"/>
              </a:ext>
            </a:extLst>
          </p:cNvPr>
          <p:cNvSpPr txBox="1"/>
          <p:nvPr/>
        </p:nvSpPr>
        <p:spPr>
          <a:xfrm>
            <a:off x="1355311" y="3798156"/>
            <a:ext cx="7098956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buNone/>
            </a:pPr>
            <a:r>
              <a:rPr lang="en-US" b="1" dirty="0">
                <a:latin typeface="Avenir Next LT Pro" panose="020B0504020202020204" pitchFamily="34" charset="77"/>
              </a:rPr>
              <a:t>Product Or Service: ?</a:t>
            </a:r>
            <a:endParaRPr lang="en-US" dirty="0">
              <a:latin typeface="Avenir Next LT Pro" panose="020B0504020202020204" pitchFamily="34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23CF50-4408-A032-3B44-78E9393BF781}"/>
              </a:ext>
            </a:extLst>
          </p:cNvPr>
          <p:cNvSpPr txBox="1"/>
          <p:nvPr/>
        </p:nvSpPr>
        <p:spPr>
          <a:xfrm>
            <a:off x="5740399" y="1467339"/>
            <a:ext cx="12903200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sz="4000" dirty="0">
                <a:solidFill>
                  <a:srgbClr val="0090D4"/>
                </a:solidFill>
                <a:latin typeface="Avenir Next LT Pro" panose="020B0504020202020204" pitchFamily="34" charset="77"/>
              </a:rPr>
              <a:t>What Is Your Robust Design Factors?</a:t>
            </a:r>
            <a:endParaRPr kumimoji="0" lang="en-US" sz="4000" b="0" i="0" u="none" strike="noStrike" cap="none" spc="0" normalizeH="0" baseline="0" dirty="0">
              <a:ln>
                <a:noFill/>
              </a:ln>
              <a:solidFill>
                <a:srgbClr val="0090D4"/>
              </a:solidFill>
              <a:effectLst/>
              <a:uFillTx/>
              <a:latin typeface="Avenir Next LT Pro" panose="020B0504020202020204" pitchFamily="34" charset="77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4113010030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1B0DDB5-E5CB-EC6B-2F5F-3E12118D6230}"/>
              </a:ext>
            </a:extLst>
          </p:cNvPr>
          <p:cNvSpPr txBox="1"/>
          <p:nvPr/>
        </p:nvSpPr>
        <p:spPr>
          <a:xfrm>
            <a:off x="5613400" y="1138347"/>
            <a:ext cx="12903200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rgbClr val="0090D4"/>
                </a:solidFill>
                <a:effectLst/>
                <a:uFillTx/>
                <a:latin typeface="Georgia" panose="02040502050405020303" pitchFamily="18" charset="0"/>
                <a:sym typeface="Helvetica Neue"/>
              </a:rPr>
              <a:t>Student Activities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C09507-B975-4432-255F-3BC32296121F}"/>
              </a:ext>
            </a:extLst>
          </p:cNvPr>
          <p:cNvSpPr txBox="1"/>
          <p:nvPr/>
        </p:nvSpPr>
        <p:spPr>
          <a:xfrm>
            <a:off x="2866767" y="5365535"/>
            <a:ext cx="15977824" cy="25648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tx1"/>
                </a:solidFill>
                <a:latin typeface="Avenir Next LT Pro" panose="020B0504020202020204" pitchFamily="34" charset="77"/>
              </a:rPr>
              <a:t>Create Robust Design Factor </a:t>
            </a:r>
            <a:r>
              <a:rPr lang="en-US" sz="4000" dirty="0">
                <a:latin typeface="Avenir Next LT Pro" panose="020B0504020202020204" pitchFamily="34" charset="77"/>
              </a:rPr>
              <a:t>Identification Factors </a:t>
            </a:r>
            <a:endParaRPr lang="en-US" sz="4000" dirty="0">
              <a:solidFill>
                <a:schemeClr val="tx1"/>
              </a:solidFill>
              <a:latin typeface="Avenir Next LT Pro" panose="020B0504020202020204" pitchFamily="34" charset="77"/>
            </a:endParaRP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tx1"/>
                </a:solidFill>
                <a:latin typeface="Avenir Next LT Pro" panose="020B0504020202020204" pitchFamily="34" charset="77"/>
              </a:rPr>
              <a:t>Present Prototype (Sketch, Video, Picture, Dummy or MVP)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tx1"/>
                </a:solidFill>
                <a:latin typeface="Avenir Next LT Pro" panose="020B0504020202020204" pitchFamily="34" charset="77"/>
              </a:rPr>
              <a:t>Present Robust Design Factor </a:t>
            </a:r>
            <a:r>
              <a:rPr lang="en-US" sz="4000" dirty="0">
                <a:latin typeface="Avenir Next LT Pro" panose="020B0504020202020204" pitchFamily="34" charset="77"/>
              </a:rPr>
              <a:t>Identification Factors </a:t>
            </a:r>
            <a:endParaRPr lang="en-US" sz="4000" dirty="0">
              <a:solidFill>
                <a:schemeClr val="tx1"/>
              </a:solidFill>
              <a:latin typeface="Avenir Next LT Pro" panose="020B0504020202020204" pitchFamily="34" charset="77"/>
            </a:endParaRP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venir Next LT Pro" panose="020B0504020202020204" pitchFamily="34" charset="77"/>
                <a:ea typeface="+mn-ea"/>
                <a:cs typeface="+mn-cs"/>
                <a:sym typeface="Helvetica Neue"/>
              </a:rPr>
              <a:t>Lecturer Give Feedback to Groups</a:t>
            </a: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997418860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4A821-35A1-8955-B27A-C25F56E87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7C5DD80-F833-84D4-8799-C6A034D243BE}"/>
              </a:ext>
            </a:extLst>
          </p:cNvPr>
          <p:cNvSpPr txBox="1"/>
          <p:nvPr/>
        </p:nvSpPr>
        <p:spPr>
          <a:xfrm>
            <a:off x="5613400" y="1138347"/>
            <a:ext cx="12903200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sz="5400" dirty="0">
                <a:solidFill>
                  <a:srgbClr val="0090D4"/>
                </a:solidFill>
                <a:latin typeface="Georgia" panose="02040502050405020303" pitchFamily="18" charset="0"/>
                <a:cs typeface="Geeza Pro" panose="02000400000000000000" pitchFamily="2" charset="-78"/>
              </a:rPr>
              <a:t>Next Session Preparation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rgbClr val="0090D4"/>
              </a:solidFill>
              <a:effectLst/>
              <a:uFillTx/>
              <a:latin typeface="Georgia" panose="02040502050405020303" pitchFamily="18" charset="0"/>
              <a:cs typeface="Geeza Pro" panose="02000400000000000000" pitchFamily="2" charset="-78"/>
              <a:sym typeface="Helvetica Neue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CAC735-0790-690E-3BF4-E17C7C9C18E6}"/>
              </a:ext>
            </a:extLst>
          </p:cNvPr>
          <p:cNvSpPr txBox="1"/>
          <p:nvPr/>
        </p:nvSpPr>
        <p:spPr>
          <a:xfrm>
            <a:off x="3524582" y="5967473"/>
            <a:ext cx="19520452" cy="25853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857250" indent="-857250" algn="l">
              <a:buFont typeface="Arial" panose="020B0604020202020204" pitchFamily="34" charset="0"/>
              <a:buChar char="•"/>
            </a:pPr>
            <a:r>
              <a:rPr lang="en-ID" sz="3200" dirty="0">
                <a:solidFill>
                  <a:schemeClr val="tx1"/>
                </a:solidFill>
                <a:latin typeface="Avenir Next LT Pro" panose="020B0504020202020204" pitchFamily="34" charset="77"/>
                <a:cs typeface="Geeza Pro" panose="02000400000000000000" pitchFamily="2" charset="-78"/>
              </a:rPr>
              <a:t>Student Bring Prototype</a:t>
            </a:r>
          </a:p>
          <a:p>
            <a:pPr marL="857250" indent="-857250" algn="l">
              <a:buFont typeface="Arial" panose="020B0604020202020204" pitchFamily="34" charset="0"/>
              <a:buChar char="•"/>
            </a:pPr>
            <a:r>
              <a:rPr lang="en-ID" sz="3200" dirty="0">
                <a:solidFill>
                  <a:schemeClr val="tx1"/>
                </a:solidFill>
                <a:latin typeface="Avenir Next LT Pro" panose="020B0504020202020204" pitchFamily="34" charset="77"/>
                <a:cs typeface="Geeza Pro" panose="02000400000000000000" pitchFamily="2" charset="-78"/>
              </a:rPr>
              <a:t>Prototype Testing (Customer Discovery)</a:t>
            </a:r>
          </a:p>
          <a:p>
            <a:pPr marL="857250" indent="-85725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  <a:latin typeface="Avenir Next LT Pro" panose="020B0504020202020204" pitchFamily="34" charset="77"/>
              </a:rPr>
              <a:t>Prototype Testing Report</a:t>
            </a:r>
          </a:p>
          <a:p>
            <a:r>
              <a:rPr lang="en-US" sz="6600" dirty="0">
                <a:solidFill>
                  <a:srgbClr val="0090D4"/>
                </a:solidFill>
                <a:latin typeface="Georgia" panose="02040502050405020303" pitchFamily="18" charset="0"/>
                <a:cs typeface="Geeza Pro" panose="02000400000000000000" pitchFamily="2" charset="-78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044516742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C4397-52AD-6353-0B71-B57D50EE8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E48D893-ABB5-42F4-D9D1-EA1DD661CF1C}"/>
              </a:ext>
            </a:extLst>
          </p:cNvPr>
          <p:cNvSpPr txBox="1"/>
          <p:nvPr/>
        </p:nvSpPr>
        <p:spPr>
          <a:xfrm>
            <a:off x="5613400" y="1138347"/>
            <a:ext cx="12903200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ID" sz="5400" dirty="0">
                <a:solidFill>
                  <a:srgbClr val="0090D4"/>
                </a:solidFill>
                <a:latin typeface="Georgia" panose="02040502050405020303" pitchFamily="18" charset="0"/>
                <a:cs typeface="Geeza Pro" panose="02000400000000000000" pitchFamily="2" charset="-78"/>
              </a:rPr>
              <a:t>Prototype Testing (Customer Discovery)</a:t>
            </a:r>
            <a:r>
              <a:rPr lang="en-US" sz="5400" dirty="0">
                <a:solidFill>
                  <a:srgbClr val="0090D4"/>
                </a:solidFill>
                <a:latin typeface="Georgia" panose="02040502050405020303" pitchFamily="18" charset="0"/>
                <a:cs typeface="Geeza Pro" panose="02000400000000000000" pitchFamily="2" charset="-78"/>
              </a:rPr>
              <a:t>  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rgbClr val="0090D4"/>
              </a:solidFill>
              <a:effectLst/>
              <a:uFillTx/>
              <a:latin typeface="Georgia" panose="02040502050405020303" pitchFamily="18" charset="0"/>
              <a:cs typeface="Geeza Pro" panose="02000400000000000000" pitchFamily="2" charset="-78"/>
              <a:sym typeface="Helvetica Neu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736A0A-051C-641A-71F4-A29C81044A62}"/>
              </a:ext>
            </a:extLst>
          </p:cNvPr>
          <p:cNvSpPr txBox="1"/>
          <p:nvPr/>
        </p:nvSpPr>
        <p:spPr>
          <a:xfrm>
            <a:off x="2019632" y="2919473"/>
            <a:ext cx="19520452" cy="1006429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latin typeface="Avenir Next LT Pro" panose="020B0504020202020204" pitchFamily="34" charset="77"/>
              </a:rPr>
              <a:t>Prepare several prototype versions</a:t>
            </a:r>
          </a:p>
          <a:p>
            <a:pPr algn="l"/>
            <a:endParaRPr lang="en-US" b="1" dirty="0">
              <a:latin typeface="Avenir Next LT Pro" panose="020B0504020202020204" pitchFamily="34" charset="77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latin typeface="Avenir Next LT Pro" panose="020B0504020202020204" pitchFamily="34" charset="77"/>
              </a:rPr>
              <a:t>Decide the team roles:</a:t>
            </a:r>
          </a:p>
          <a:p>
            <a:pPr marL="687388" indent="-342900" algn="l">
              <a:buFont typeface="Wingdings" pitchFamily="2" charset="2"/>
              <a:buChar char="Ø"/>
            </a:pPr>
            <a:r>
              <a:rPr lang="en-US" b="1" dirty="0">
                <a:latin typeface="Avenir Next LT Pro" panose="020B0504020202020204" pitchFamily="34" charset="77"/>
              </a:rPr>
              <a:t>Moderator:</a:t>
            </a:r>
            <a:r>
              <a:rPr lang="en-US" dirty="0">
                <a:latin typeface="Avenir Next LT Pro" panose="020B0504020202020204" pitchFamily="34" charset="77"/>
              </a:rPr>
              <a:t> explains the context and asks questions.</a:t>
            </a:r>
          </a:p>
          <a:p>
            <a:pPr marL="687388" indent="-342900" algn="l">
              <a:buFont typeface="Wingdings" pitchFamily="2" charset="2"/>
              <a:buChar char="Ø"/>
            </a:pPr>
            <a:r>
              <a:rPr lang="en-US" b="1" dirty="0">
                <a:latin typeface="Avenir Next LT Pro" panose="020B0504020202020204" pitchFamily="34" charset="77"/>
              </a:rPr>
              <a:t>Actor:</a:t>
            </a:r>
            <a:r>
              <a:rPr lang="en-US" dirty="0">
                <a:latin typeface="Avenir Next LT Pro" panose="020B0504020202020204" pitchFamily="34" charset="77"/>
              </a:rPr>
              <a:t> plays a role in the scenario.</a:t>
            </a:r>
          </a:p>
          <a:p>
            <a:pPr marL="687388" indent="-342900" algn="l">
              <a:buFont typeface="Wingdings" pitchFamily="2" charset="2"/>
              <a:buChar char="Ø"/>
            </a:pPr>
            <a:r>
              <a:rPr lang="en-US" b="1" dirty="0">
                <a:latin typeface="Avenir Next LT Pro" panose="020B0504020202020204" pitchFamily="34" charset="77"/>
              </a:rPr>
              <a:t>Observer:</a:t>
            </a:r>
            <a:r>
              <a:rPr lang="en-US" dirty="0">
                <a:latin typeface="Avenir Next LT Pro" panose="020B0504020202020204" pitchFamily="34" charset="77"/>
              </a:rPr>
              <a:t> observes and records the results.</a:t>
            </a:r>
          </a:p>
          <a:p>
            <a:pPr marL="344488" algn="l"/>
            <a:endParaRPr lang="en-US" dirty="0">
              <a:latin typeface="Avenir Next LT Pro" panose="020B0504020202020204" pitchFamily="34" charset="77"/>
            </a:endParaRPr>
          </a:p>
          <a:p>
            <a:pPr marL="360363" indent="-342900" algn="l">
              <a:buFont typeface="Arial" panose="020B0604020202020204" pitchFamily="34" charset="0"/>
              <a:buChar char="•"/>
            </a:pPr>
            <a:r>
              <a:rPr lang="en-US" b="1" dirty="0">
                <a:latin typeface="Avenir Next LT Pro" panose="020B0504020202020204" pitchFamily="34" charset="77"/>
              </a:rPr>
              <a:t>Question for User</a:t>
            </a:r>
          </a:p>
          <a:p>
            <a:pPr marL="1558925" indent="-889000" algn="l"/>
            <a:r>
              <a:rPr lang="en-US" b="1" dirty="0">
                <a:latin typeface="Avenir Next LT Pro" panose="020B0504020202020204" pitchFamily="34" charset="77"/>
              </a:rPr>
              <a:t>1. Questions about the user experience</a:t>
            </a:r>
          </a:p>
          <a:p>
            <a:pPr marL="1885950" indent="-889000" algn="l"/>
            <a:r>
              <a:rPr lang="en-US" dirty="0">
                <a:latin typeface="Avenir Next LT Pro" panose="020B0504020202020204" pitchFamily="34" charset="77"/>
              </a:rPr>
              <a:t>“How does it feel when using this product?”</a:t>
            </a:r>
          </a:p>
          <a:p>
            <a:pPr marL="1885950" indent="-889000" algn="l"/>
            <a:r>
              <a:rPr lang="en-US" dirty="0">
                <a:latin typeface="Avenir Next LT Pro" panose="020B0504020202020204" pitchFamily="34" charset="77"/>
              </a:rPr>
              <a:t>“Is it easy to use?”</a:t>
            </a:r>
          </a:p>
          <a:p>
            <a:pPr marL="1885950" indent="-889000" algn="l"/>
            <a:r>
              <a:rPr lang="en-US" dirty="0">
                <a:latin typeface="Avenir Next LT Pro" panose="020B0504020202020204" pitchFamily="34" charset="77"/>
              </a:rPr>
              <a:t>“Which part do you find most interesting or enjoyable?”</a:t>
            </a:r>
          </a:p>
          <a:p>
            <a:pPr marL="1558925" indent="-889000" algn="l"/>
            <a:endParaRPr lang="en-US" dirty="0">
              <a:latin typeface="Avenir Next LT Pro" panose="020B0504020202020204" pitchFamily="34" charset="77"/>
            </a:endParaRPr>
          </a:p>
          <a:p>
            <a:pPr marL="1558925" indent="-889000" algn="l"/>
            <a:r>
              <a:rPr lang="en-US" b="1" dirty="0">
                <a:latin typeface="Avenir Next LT Pro" panose="020B0504020202020204" pitchFamily="34" charset="77"/>
              </a:rPr>
              <a:t>2. Questions about user actions</a:t>
            </a:r>
          </a:p>
          <a:p>
            <a:pPr marL="1885950" indent="-889000" algn="l"/>
            <a:r>
              <a:rPr lang="en-US" dirty="0">
                <a:latin typeface="Avenir Next LT Pro" panose="020B0504020202020204" pitchFamily="34" charset="77"/>
              </a:rPr>
              <a:t>“Why did you choose to press/slide/select that part?”</a:t>
            </a:r>
          </a:p>
          <a:p>
            <a:pPr marL="1885950" indent="-889000" algn="l"/>
            <a:r>
              <a:rPr lang="en-US" dirty="0">
                <a:latin typeface="Avenir Next LT Pro" panose="020B0504020202020204" pitchFamily="34" charset="77"/>
              </a:rPr>
              <a:t>“What did you expect to happen when you did that?”</a:t>
            </a:r>
          </a:p>
          <a:p>
            <a:pPr marL="1885950" indent="-889000" algn="l"/>
            <a:r>
              <a:rPr lang="en-US" dirty="0">
                <a:latin typeface="Avenir Next LT Pro" panose="020B0504020202020204" pitchFamily="34" charset="77"/>
              </a:rPr>
              <a:t>“Which part made you feel confused?”</a:t>
            </a:r>
          </a:p>
          <a:p>
            <a:pPr marL="1558925" indent="-889000" algn="l"/>
            <a:endParaRPr lang="en-US" dirty="0">
              <a:latin typeface="Avenir Next LT Pro" panose="020B0504020202020204" pitchFamily="34" charset="77"/>
            </a:endParaRPr>
          </a:p>
          <a:p>
            <a:pPr marL="1558925" indent="-889000" algn="l"/>
            <a:r>
              <a:rPr lang="en-US" b="1" dirty="0">
                <a:latin typeface="Avenir Next LT Pro" panose="020B0504020202020204" pitchFamily="34" charset="77"/>
              </a:rPr>
              <a:t>3. Questions about usefulness</a:t>
            </a:r>
          </a:p>
          <a:p>
            <a:pPr marL="2066925" indent="-1033463" algn="l"/>
            <a:r>
              <a:rPr lang="en-US" dirty="0">
                <a:latin typeface="Avenir Next LT Pro" panose="020B0504020202020204" pitchFamily="34" charset="77"/>
              </a:rPr>
              <a:t>“Do you think this product helps with your needs?”</a:t>
            </a:r>
          </a:p>
          <a:p>
            <a:pPr marL="2066925" indent="-1033463" algn="l"/>
            <a:r>
              <a:rPr lang="en-US" dirty="0">
                <a:latin typeface="Avenir Next LT Pro" panose="020B0504020202020204" pitchFamily="34" charset="77"/>
              </a:rPr>
              <a:t>“In what situations would you use this product?”</a:t>
            </a:r>
          </a:p>
          <a:p>
            <a:pPr marL="2066925" indent="-1033463" algn="l"/>
            <a:r>
              <a:rPr lang="en-US" dirty="0">
                <a:latin typeface="Avenir Next LT Pro" panose="020B0504020202020204" pitchFamily="34" charset="77"/>
              </a:rPr>
              <a:t>“What is the biggest benefit you feel from this product?”</a:t>
            </a:r>
          </a:p>
          <a:p>
            <a:pPr marL="1558925" indent="-889000" algn="l"/>
            <a:endParaRPr lang="en-US" dirty="0">
              <a:latin typeface="Avenir Next LT Pro" panose="020B0504020202020204" pitchFamily="34" charset="77"/>
            </a:endParaRPr>
          </a:p>
          <a:p>
            <a:pPr marL="1558925" indent="-889000" algn="l"/>
            <a:r>
              <a:rPr lang="en-US" b="1" dirty="0">
                <a:latin typeface="Avenir Next LT Pro" panose="020B0504020202020204" pitchFamily="34" charset="77"/>
              </a:rPr>
              <a:t>4. Questions for suggestions</a:t>
            </a:r>
          </a:p>
          <a:p>
            <a:pPr marL="2012950" indent="-1052513" algn="l"/>
            <a:r>
              <a:rPr lang="en-US" dirty="0">
                <a:latin typeface="Avenir Next LT Pro" panose="020B0504020202020204" pitchFamily="34" charset="77"/>
              </a:rPr>
              <a:t>“What should we improve?”</a:t>
            </a:r>
          </a:p>
          <a:p>
            <a:pPr marL="2012950" indent="-1052513" algn="l"/>
            <a:r>
              <a:rPr lang="en-US" dirty="0">
                <a:latin typeface="Avenir Next LT Pro" panose="020B0504020202020204" pitchFamily="34" charset="77"/>
              </a:rPr>
              <a:t>“If you could change one thing about this product, what would it be?”</a:t>
            </a:r>
          </a:p>
          <a:p>
            <a:pPr algn="l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4050182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B3287-E987-C9BC-066A-432FA502C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B717B9E-6ECF-DB76-E94A-8DAF51E31D88}"/>
              </a:ext>
            </a:extLst>
          </p:cNvPr>
          <p:cNvSpPr txBox="1"/>
          <p:nvPr/>
        </p:nvSpPr>
        <p:spPr>
          <a:xfrm>
            <a:off x="5613400" y="1138347"/>
            <a:ext cx="12903200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rgbClr val="0090D4"/>
                </a:solidFill>
                <a:latin typeface="Georgia" panose="02040502050405020303" pitchFamily="18" charset="0"/>
              </a:rPr>
              <a:t>Prototype Testing Report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rgbClr val="0090D4"/>
              </a:solidFill>
              <a:effectLst/>
              <a:uFillTx/>
              <a:latin typeface="Georgia" panose="02040502050405020303" pitchFamily="18" charset="0"/>
              <a:sym typeface="Helvetica Neu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CE70B0-FAD4-2EA9-908C-B5FB27122CA8}"/>
              </a:ext>
            </a:extLst>
          </p:cNvPr>
          <p:cNvSpPr txBox="1"/>
          <p:nvPr/>
        </p:nvSpPr>
        <p:spPr>
          <a:xfrm>
            <a:off x="2696288" y="2553713"/>
            <a:ext cx="19520452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endParaRPr lang="en-US" b="1" dirty="0"/>
          </a:p>
          <a:p>
            <a:pPr algn="l"/>
            <a:endParaRPr lang="en-US" b="1" dirty="0"/>
          </a:p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9F6B6F-D76D-7F0E-406F-3CBE1E2C9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3311" y="2553713"/>
            <a:ext cx="8503920" cy="108675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26" name="Picture 2" descr="Feedback Capture Grid Guide | PDF | Design Thinking | Computing">
            <a:extLst>
              <a:ext uri="{FF2B5EF4-FFF2-40B4-BE49-F238E27FC236}">
                <a16:creationId xmlns:a16="http://schemas.microsoft.com/office/drawing/2014/main" id="{DC70CB2F-6CA8-7E57-C7C7-B9107BDEDA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3246" y="3847086"/>
            <a:ext cx="10690415" cy="8017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8D66A403-E805-CDA3-CDF8-99D34411511C}"/>
              </a:ext>
            </a:extLst>
          </p:cNvPr>
          <p:cNvCxnSpPr>
            <a:cxnSpLocks/>
          </p:cNvCxnSpPr>
          <p:nvPr/>
        </p:nvCxnSpPr>
        <p:spPr>
          <a:xfrm flipV="1">
            <a:off x="9660310" y="7576017"/>
            <a:ext cx="3112936" cy="2960607"/>
          </a:xfrm>
          <a:prstGeom prst="bentConnector3">
            <a:avLst>
              <a:gd name="adj1" fmla="val 50000"/>
            </a:avLst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2145796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96C66-F356-8FCB-9B2C-DCBD6B530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C511E0B-D53E-E8E3-1DDD-AB222894F8CA}"/>
              </a:ext>
            </a:extLst>
          </p:cNvPr>
          <p:cNvSpPr txBox="1"/>
          <p:nvPr/>
        </p:nvSpPr>
        <p:spPr>
          <a:xfrm>
            <a:off x="5613400" y="1138347"/>
            <a:ext cx="12903200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rgbClr val="0090D4"/>
                </a:solidFill>
                <a:latin typeface="Georgia" panose="02040502050405020303" pitchFamily="18" charset="0"/>
              </a:rPr>
              <a:t>REFERENCES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rgbClr val="0090D4"/>
              </a:solidFill>
              <a:effectLst/>
              <a:uFillTx/>
              <a:latin typeface="Georgia" panose="02040502050405020303" pitchFamily="18" charset="0"/>
              <a:sym typeface="Helvetica Neue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4F98EB-CA42-EF10-6589-FC0D32908E64}"/>
              </a:ext>
            </a:extLst>
          </p:cNvPr>
          <p:cNvSpPr txBox="1"/>
          <p:nvPr/>
        </p:nvSpPr>
        <p:spPr>
          <a:xfrm>
            <a:off x="2230244" y="5622512"/>
            <a:ext cx="20135485" cy="12105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1"/>
                </a:solidFill>
                <a:latin typeface="Avenir Next LT Pro" panose="020B0504020202020204" pitchFamily="34" charset="77"/>
              </a:rPr>
              <a:t>Karl Ulrich and Steven Eppinger and Maria C. Yang. (2020). Product Design and Development, 7th Edition. McGraw-Hill Education. New York. ISBN 978-1-260-04365-5</a:t>
            </a:r>
          </a:p>
        </p:txBody>
      </p:sp>
    </p:spTree>
    <p:extLst>
      <p:ext uri="{BB962C8B-B14F-4D97-AF65-F5344CB8AC3E}">
        <p14:creationId xmlns:p14="http://schemas.microsoft.com/office/powerpoint/2010/main" val="323742116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Online Resources 2023_Binus University_BHE Logo</Template>
  <TotalTime>9683</TotalTime>
  <Words>1200</Words>
  <Application>Microsoft Macintosh PowerPoint</Application>
  <PresentationFormat>Custom</PresentationFormat>
  <Paragraphs>199</Paragraphs>
  <Slides>17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Open Sans ExtraBold</vt:lpstr>
      <vt:lpstr>Open Sans Semibold</vt:lpstr>
      <vt:lpstr>Avenir Next LT Pro</vt:lpstr>
      <vt:lpstr>Arial</vt:lpstr>
      <vt:lpstr>OCRB</vt:lpstr>
      <vt:lpstr>Georgia</vt:lpstr>
      <vt:lpstr>Open Sans</vt:lpstr>
      <vt:lpstr>Wingdings</vt:lpstr>
      <vt:lpstr>Open Sans Light</vt:lpstr>
      <vt:lpstr>21_BasicWhite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Katherina Anastasya Samosir</dc:creator>
  <cp:lastModifiedBy>Glory A Guzman</cp:lastModifiedBy>
  <cp:revision>27</cp:revision>
  <dcterms:created xsi:type="dcterms:W3CDTF">2025-04-16T03:14:16Z</dcterms:created>
  <dcterms:modified xsi:type="dcterms:W3CDTF">2025-11-10T02:55:25Z</dcterms:modified>
</cp:coreProperties>
</file>