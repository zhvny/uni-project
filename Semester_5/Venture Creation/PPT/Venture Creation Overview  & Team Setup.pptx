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2"/>
  </p:notesMasterIdLst>
  <p:sldIdLst>
    <p:sldId id="256" r:id="rId2"/>
    <p:sldId id="260" r:id="rId3"/>
    <p:sldId id="257" r:id="rId4"/>
    <p:sldId id="262" r:id="rId5"/>
    <p:sldId id="261" r:id="rId6"/>
    <p:sldId id="259" r:id="rId7"/>
    <p:sldId id="264" r:id="rId8"/>
    <p:sldId id="263" r:id="rId9"/>
    <p:sldId id="265" r:id="rId10"/>
    <p:sldId id="266" r:id="rId11"/>
    <p:sldId id="503" r:id="rId12"/>
    <p:sldId id="506" r:id="rId13"/>
    <p:sldId id="273" r:id="rId14"/>
    <p:sldId id="505" r:id="rId15"/>
    <p:sldId id="508" r:id="rId16"/>
    <p:sldId id="507" r:id="rId17"/>
    <p:sldId id="510" r:id="rId18"/>
    <p:sldId id="509" r:id="rId19"/>
    <p:sldId id="515" r:id="rId20"/>
    <p:sldId id="514" r:id="rId21"/>
  </p:sldIdLst>
  <p:sldSz cx="24384000" cy="13716000"/>
  <p:notesSz cx="6858000" cy="9144000"/>
  <p:embeddedFontLst>
    <p:embeddedFont>
      <p:font typeface="Avenir Next LT Pro" panose="020B0504020202020204" pitchFamily="34" charset="77"/>
      <p:regular r:id="rId23"/>
      <p:bold r:id="rId24"/>
      <p:italic r:id="rId25"/>
      <p:boldItalic r:id="rId26"/>
    </p:embeddedFont>
    <p:embeddedFont>
      <p:font typeface="Georgia" panose="02040502050405020303" pitchFamily="18" charset="0"/>
      <p:regular r:id="rId27"/>
      <p:bold r:id="rId28"/>
      <p:italic r:id="rId29"/>
      <p:boldItalic r:id="rId30"/>
    </p:embeddedFont>
    <p:embeddedFont>
      <p:font typeface="OCRB" panose="020B0609020202020204" pitchFamily="49" charset="77"/>
      <p:regular r:id="rId31"/>
    </p:embeddedFont>
    <p:embeddedFont>
      <p:font typeface="Open Sans ExtraBold" panose="020B0906030804020204" pitchFamily="34" charset="0"/>
      <p:bold r:id="rId32"/>
      <p:italic r:id="rId33"/>
      <p:boldItalic r:id="rId34"/>
    </p:embeddedFont>
    <p:embeddedFont>
      <p:font typeface="Open Sans Light" panose="020B0306030504020204" pitchFamily="34" charset="0"/>
      <p:regular r:id="rId35"/>
      <p:italic r:id="rId36"/>
    </p:embeddedFont>
    <p:embeddedFont>
      <p:font typeface="Open Sans Semibold" panose="020B0706030804020204" pitchFamily="34" charset="0"/>
      <p:regular r:id="rId37"/>
      <p:bold r:id="rId38"/>
      <p:italic r:id="rId39"/>
      <p:boldItalic r:id="rId4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D4"/>
    <a:srgbClr val="70B40A"/>
    <a:srgbClr val="80BBC3"/>
    <a:srgbClr val="FFC000"/>
    <a:srgbClr val="00A5AE"/>
    <a:srgbClr val="FF7510"/>
    <a:srgbClr val="EA222C"/>
    <a:srgbClr val="FFFFFF"/>
    <a:srgbClr val="9B4A96"/>
    <a:srgbClr val="F5AF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45" autoAdjust="0"/>
    <p:restoredTop sz="96197"/>
  </p:normalViewPr>
  <p:slideViewPr>
    <p:cSldViewPr snapToGrid="0" snapToObjects="1">
      <p:cViewPr varScale="1">
        <p:scale>
          <a:sx n="74" d="100"/>
          <a:sy n="74" d="100"/>
        </p:scale>
        <p:origin x="216" y="224"/>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jpeg"/><Relationship Id="rId1" Type="http://schemas.openxmlformats.org/officeDocument/2006/relationships/slideLayout" Target="../slideLayouts/slideLayout2.xml"/><Relationship Id="rId4" Type="http://schemas.microsoft.com/office/2007/relationships/hdphoto" Target="../media/hdphoto3.wdp"/></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hyperlink" Target="https://youtu.be/1leygeakD6c" TargetMode="External"/><Relationship Id="rId5" Type="http://schemas.openxmlformats.org/officeDocument/2006/relationships/hyperlink" Target="https://newbisanara.com/" TargetMode="External"/><Relationship Id="rId4" Type="http://schemas.microsoft.com/office/2007/relationships/hdphoto" Target="../media/hdphoto4.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youtu.be/QMsGrDxWR3o"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binusianorg-my.sharepoint.com/personal/gguzman_binus_edu/_layouts/15/guestaccess.aspx?share=EarDDPlL0ZtIvw0gMZkwjDcBafhD4x4S-M61X-MXV64NRQ&amp;e=c3CvE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8612850" y="11538583"/>
            <a:ext cx="6401008" cy="745888"/>
          </a:xfrm>
        </p:spPr>
        <p:txBody>
          <a:bodyPr/>
          <a:lstStyle/>
          <a:p>
            <a:r>
              <a:rPr lang="en-US" dirty="0"/>
              <a:t>Dr. Glory Aguzman, S.Sos, M.M., CDMS, CCP</a:t>
            </a:r>
          </a:p>
        </p:txBody>
      </p:sp>
      <p:sp>
        <p:nvSpPr>
          <p:cNvPr id="12" name="TextBox 11">
            <a:extLst>
              <a:ext uri="{FF2B5EF4-FFF2-40B4-BE49-F238E27FC236}">
                <a16:creationId xmlns:a16="http://schemas.microsoft.com/office/drawing/2014/main" id="{3F0FF65F-71E4-38D9-8AD7-D80FB9D70369}"/>
              </a:ext>
            </a:extLst>
          </p:cNvPr>
          <p:cNvSpPr txBox="1"/>
          <p:nvPr/>
        </p:nvSpPr>
        <p:spPr>
          <a:xfrm>
            <a:off x="3077497" y="6073170"/>
            <a:ext cx="18229006" cy="1107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6600" dirty="0">
                <a:solidFill>
                  <a:schemeClr val="bg1"/>
                </a:solidFill>
                <a:latin typeface="Georgia" panose="02040502050405020303" pitchFamily="18" charset="0"/>
              </a:rPr>
              <a:t>Overview Venture Creation And Team Setup</a:t>
            </a:r>
            <a:endParaRPr lang="en-ID" sz="6600" dirty="0">
              <a:solidFill>
                <a:schemeClr val="bg1"/>
              </a:solidFill>
              <a:latin typeface="Georgia" panose="02040502050405020303" pitchFamily="18" charset="0"/>
            </a:endParaRP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39B6306-2204-5237-002E-C95F8BF884C5}"/>
              </a:ext>
            </a:extLst>
          </p:cNvPr>
          <p:cNvSpPr>
            <a:spLocks noGrp="1"/>
          </p:cNvSpPr>
          <p:nvPr>
            <p:ph type="body" sz="quarter" idx="10"/>
          </p:nvPr>
        </p:nvSpPr>
        <p:spPr>
          <a:xfrm>
            <a:off x="1651000" y="3688089"/>
            <a:ext cx="19608800" cy="9342111"/>
          </a:xfrm>
        </p:spPr>
        <p:txBody>
          <a:bodyPr>
            <a:normAutofit/>
          </a:bodyPr>
          <a:lstStyle/>
          <a:p>
            <a:pPr marL="457200" indent="-457200">
              <a:lnSpc>
                <a:spcPct val="100000"/>
              </a:lnSpc>
              <a:spcBef>
                <a:spcPts val="0"/>
              </a:spcBef>
              <a:buFont typeface="Arial" panose="020B0604020202020204" pitchFamily="34" charset="0"/>
              <a:buChar char="•"/>
            </a:pPr>
            <a:endParaRPr lang="en-US" b="0" dirty="0">
              <a:latin typeface="Avenir Next LT Pro" panose="020B0504020202020204" pitchFamily="34" charset="77"/>
            </a:endParaRPr>
          </a:p>
          <a:p>
            <a:pPr marL="457200" indent="-457200">
              <a:lnSpc>
                <a:spcPct val="100000"/>
              </a:lnSpc>
              <a:spcBef>
                <a:spcPts val="0"/>
              </a:spcBef>
              <a:buFont typeface="Arial" panose="020B0604020202020204" pitchFamily="34" charset="0"/>
              <a:buChar char="•"/>
            </a:pPr>
            <a:endParaRPr lang="en-US" b="0" dirty="0">
              <a:latin typeface="Avenir Next LT Pro" panose="020B0504020202020204" pitchFamily="34" charset="77"/>
            </a:endParaRPr>
          </a:p>
          <a:p>
            <a:endParaRPr lang="en-US" dirty="0">
              <a:latin typeface="Georgia" panose="02040502050405020303" pitchFamily="18" charset="0"/>
            </a:endParaRPr>
          </a:p>
          <a:p>
            <a:pPr marL="457200" indent="-457200">
              <a:buFont typeface="Arial" panose="020B0604020202020204" pitchFamily="34" charset="0"/>
              <a:buChar char="•"/>
            </a:pPr>
            <a:endParaRPr lang="en-US" dirty="0">
              <a:latin typeface="Georgia" panose="02040502050405020303" pitchFamily="18" charset="0"/>
            </a:endParaRPr>
          </a:p>
          <a:p>
            <a:pPr marL="457200" indent="-457200">
              <a:buFont typeface="Arial" panose="020B0604020202020204" pitchFamily="34" charset="0"/>
              <a:buChar char="•"/>
            </a:pPr>
            <a:endParaRPr lang="en-US" dirty="0">
              <a:latin typeface="Avenir Next LT Pro" panose="020B0504020202020204" pitchFamily="34" charset="0"/>
            </a:endParaRPr>
          </a:p>
          <a:p>
            <a:pPr marL="457200" indent="-457200">
              <a:buFont typeface="Arial" panose="020B0604020202020204" pitchFamily="34" charset="0"/>
              <a:buChar char="•"/>
            </a:pPr>
            <a:endParaRPr lang="en-US" dirty="0">
              <a:latin typeface="Avenir Next LT Pro" panose="020B0504020202020204" pitchFamily="34" charset="0"/>
            </a:endParaRPr>
          </a:p>
          <a:p>
            <a:endParaRPr lang="en-ID" dirty="0">
              <a:latin typeface="Avenir Next LT Pro" panose="020B0504020202020204" pitchFamily="34" charset="0"/>
            </a:endParaRPr>
          </a:p>
        </p:txBody>
      </p:sp>
      <p:sp>
        <p:nvSpPr>
          <p:cNvPr id="6" name="TextBox 5">
            <a:extLst>
              <a:ext uri="{FF2B5EF4-FFF2-40B4-BE49-F238E27FC236}">
                <a16:creationId xmlns:a16="http://schemas.microsoft.com/office/drawing/2014/main" id="{3B5360D0-B8A1-9589-741C-3E2C4B80185C}"/>
              </a:ext>
            </a:extLst>
          </p:cNvPr>
          <p:cNvSpPr txBox="1"/>
          <p:nvPr/>
        </p:nvSpPr>
        <p:spPr>
          <a:xfrm>
            <a:off x="3765756" y="3688089"/>
            <a:ext cx="12192000" cy="55092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457200" indent="-457200" algn="l">
              <a:lnSpc>
                <a:spcPct val="100000"/>
              </a:lnSpc>
              <a:spcBef>
                <a:spcPts val="0"/>
              </a:spcBef>
              <a:buFont typeface="Arial" panose="020B0604020202020204" pitchFamily="34" charset="0"/>
              <a:buChar char="•"/>
            </a:pPr>
            <a:r>
              <a:rPr lang="en-US" sz="3200" b="0" dirty="0">
                <a:latin typeface="Avenir Next LT Pro" panose="020B0504020202020204" pitchFamily="34" charset="77"/>
              </a:rPr>
              <a:t>Binus Entrepreneurship journey</a:t>
            </a:r>
          </a:p>
          <a:p>
            <a:pPr marL="457200" indent="-457200" algn="l">
              <a:lnSpc>
                <a:spcPct val="100000"/>
              </a:lnSpc>
              <a:spcBef>
                <a:spcPts val="0"/>
              </a:spcBef>
              <a:buFont typeface="Arial" panose="020B0604020202020204" pitchFamily="34" charset="0"/>
              <a:buChar char="•"/>
            </a:pPr>
            <a:r>
              <a:rPr lang="en-US" sz="3200" b="0" dirty="0">
                <a:latin typeface="Avenir Next LT Pro" panose="020B0504020202020204" pitchFamily="34" charset="77"/>
              </a:rPr>
              <a:t>Schedule</a:t>
            </a:r>
          </a:p>
          <a:p>
            <a:pPr marL="457200" indent="-457200" algn="l">
              <a:lnSpc>
                <a:spcPct val="100000"/>
              </a:lnSpc>
              <a:spcBef>
                <a:spcPts val="0"/>
              </a:spcBef>
              <a:buFont typeface="Arial" panose="020B0604020202020204" pitchFamily="34" charset="0"/>
              <a:buChar char="•"/>
            </a:pPr>
            <a:r>
              <a:rPr lang="en-US" sz="3200" b="0" dirty="0">
                <a:latin typeface="Avenir Next LT Pro" panose="020B0504020202020204" pitchFamily="34" charset="77"/>
              </a:rPr>
              <a:t>Assignment </a:t>
            </a:r>
          </a:p>
          <a:p>
            <a:pPr marL="457200" indent="-457200" algn="l">
              <a:lnSpc>
                <a:spcPct val="100000"/>
              </a:lnSpc>
              <a:spcBef>
                <a:spcPts val="0"/>
              </a:spcBef>
              <a:buFont typeface="Arial" panose="020B0604020202020204" pitchFamily="34" charset="0"/>
              <a:buChar char="•"/>
            </a:pPr>
            <a:r>
              <a:rPr lang="en-US" sz="3200" b="0" dirty="0">
                <a:latin typeface="Avenir Next LT Pro" panose="020B0504020202020204" pitchFamily="34" charset="77"/>
              </a:rPr>
              <a:t>Final Project</a:t>
            </a:r>
          </a:p>
          <a:p>
            <a:pPr marL="457200" indent="-457200" algn="l">
              <a:lnSpc>
                <a:spcPct val="100000"/>
              </a:lnSpc>
              <a:spcBef>
                <a:spcPts val="0"/>
              </a:spcBef>
              <a:buFont typeface="Arial" panose="020B0604020202020204" pitchFamily="34" charset="0"/>
              <a:buChar char="•"/>
            </a:pPr>
            <a:r>
              <a:rPr lang="en-US" sz="3200" b="0" dirty="0">
                <a:latin typeface="Avenir Next LT Pro" panose="020B0504020202020204" pitchFamily="34" charset="77"/>
              </a:rPr>
              <a:t>BEC Apps</a:t>
            </a:r>
          </a:p>
          <a:p>
            <a:pPr marL="457200" indent="-457200" algn="l">
              <a:lnSpc>
                <a:spcPct val="100000"/>
              </a:lnSpc>
              <a:spcBef>
                <a:spcPts val="0"/>
              </a:spcBef>
              <a:buFont typeface="Arial" panose="020B0604020202020204" pitchFamily="34" charset="0"/>
              <a:buChar char="•"/>
            </a:pPr>
            <a:r>
              <a:rPr lang="en-US" sz="3200" b="0" dirty="0">
                <a:latin typeface="Avenir Next LT Pro" panose="020B0504020202020204" pitchFamily="34" charset="77"/>
              </a:rPr>
              <a:t>Exhibition Offline &amp; Online </a:t>
            </a:r>
            <a:endParaRPr lang="en-US" sz="3200" dirty="0">
              <a:solidFill>
                <a:schemeClr val="tx1"/>
              </a:solidFill>
              <a:latin typeface="Avenir Next LT Pro" panose="020B0504020202020204" pitchFamily="34" charset="77"/>
            </a:endParaRPr>
          </a:p>
          <a:p>
            <a:pPr marL="457200" indent="-457200" algn="l">
              <a:buFont typeface="Arial" panose="020B0604020202020204" pitchFamily="34" charset="0"/>
              <a:buChar char="•"/>
            </a:pPr>
            <a:r>
              <a:rPr lang="en-US" sz="3200" dirty="0">
                <a:solidFill>
                  <a:schemeClr val="tx1"/>
                </a:solidFill>
                <a:latin typeface="Avenir Next LT Pro" panose="020B0504020202020204" pitchFamily="34" charset="77"/>
              </a:rPr>
              <a:t>10 Questions to Develop Your Entrepreneur Mindset</a:t>
            </a:r>
          </a:p>
          <a:p>
            <a:pPr marL="457200" indent="-457200" algn="l">
              <a:lnSpc>
                <a:spcPct val="100000"/>
              </a:lnSpc>
              <a:spcBef>
                <a:spcPts val="0"/>
              </a:spcBef>
              <a:buFont typeface="Arial" panose="020B0604020202020204" pitchFamily="34" charset="0"/>
              <a:buChar char="•"/>
            </a:pPr>
            <a:r>
              <a:rPr lang="en-US" sz="3200" b="0" dirty="0">
                <a:latin typeface="Avenir Next LT Pro" panose="020B0504020202020204" pitchFamily="34" charset="77"/>
              </a:rPr>
              <a:t>The Myth Of Entrepreneurship</a:t>
            </a:r>
          </a:p>
          <a:p>
            <a:pPr marL="457200" indent="-457200" algn="l">
              <a:buFont typeface="Arial" panose="020B0604020202020204" pitchFamily="34" charset="0"/>
              <a:buChar char="•"/>
            </a:pPr>
            <a:r>
              <a:rPr lang="en-US" sz="3200" dirty="0">
                <a:solidFill>
                  <a:schemeClr val="tx1"/>
                </a:solidFill>
                <a:latin typeface="Avenir Next LT Pro" panose="020B0504020202020204" pitchFamily="34" charset="77"/>
              </a:rPr>
              <a:t>Supporting  – Team Set Up</a:t>
            </a:r>
            <a:endParaRPr lang="en-US" sz="3200" b="0" dirty="0">
              <a:solidFill>
                <a:schemeClr val="tx1"/>
              </a:solidFill>
              <a:latin typeface="Avenir Next LT Pro" panose="020B0504020202020204" pitchFamily="34" charset="77"/>
            </a:endParaRPr>
          </a:p>
          <a:p>
            <a:pPr marL="457200" indent="-457200" algn="l">
              <a:lnSpc>
                <a:spcPct val="100000"/>
              </a:lnSpc>
              <a:spcBef>
                <a:spcPts val="0"/>
              </a:spcBef>
              <a:buFont typeface="Arial" panose="020B0604020202020204" pitchFamily="34" charset="0"/>
              <a:buChar char="•"/>
            </a:pPr>
            <a:r>
              <a:rPr lang="en-US" sz="3200" b="0" dirty="0">
                <a:latin typeface="Avenir Next LT Pro" panose="020B0504020202020204" pitchFamily="34" charset="77"/>
              </a:rPr>
              <a:t>Student Activities</a:t>
            </a:r>
          </a:p>
          <a:p>
            <a:pPr marL="457200" indent="-457200" algn="l">
              <a:lnSpc>
                <a:spcPct val="100000"/>
              </a:lnSpc>
              <a:spcBef>
                <a:spcPts val="0"/>
              </a:spcBef>
              <a:buFont typeface="Arial" panose="020B0604020202020204" pitchFamily="34" charset="0"/>
              <a:buChar char="•"/>
            </a:pPr>
            <a:r>
              <a:rPr lang="en-US" sz="3200" dirty="0">
                <a:latin typeface="Avenir Next LT Pro" panose="020B0504020202020204" pitchFamily="34" charset="77"/>
              </a:rPr>
              <a:t>Next Session Preparation</a:t>
            </a:r>
            <a:endParaRPr lang="en-US" sz="3200" b="0" dirty="0">
              <a:latin typeface="Avenir Next LT Pro" panose="020B0504020202020204" pitchFamily="34" charset="77"/>
            </a:endParaRPr>
          </a:p>
        </p:txBody>
      </p:sp>
      <p:sp>
        <p:nvSpPr>
          <p:cNvPr id="4" name="TextBox 3">
            <a:extLst>
              <a:ext uri="{FF2B5EF4-FFF2-40B4-BE49-F238E27FC236}">
                <a16:creationId xmlns:a16="http://schemas.microsoft.com/office/drawing/2014/main" id="{AED5D821-2299-AAA7-BA34-3CDB5AD67419}"/>
              </a:ext>
            </a:extLst>
          </p:cNvPr>
          <p:cNvSpPr txBox="1"/>
          <p:nvPr/>
        </p:nvSpPr>
        <p:spPr>
          <a:xfrm>
            <a:off x="9717741" y="1362152"/>
            <a:ext cx="5916705"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rgbClr val="0090D4"/>
                </a:solidFill>
                <a:effectLst/>
                <a:uFillTx/>
                <a:latin typeface="Georgia" panose="02040502050405020303" pitchFamily="18" charset="0"/>
                <a:sym typeface="Helvetica Neue"/>
              </a:rPr>
              <a:t>Subtopics</a:t>
            </a:r>
          </a:p>
        </p:txBody>
      </p:sp>
    </p:spTree>
    <p:extLst>
      <p:ext uri="{BB962C8B-B14F-4D97-AF65-F5344CB8AC3E}">
        <p14:creationId xmlns:p14="http://schemas.microsoft.com/office/powerpoint/2010/main" val="74121290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8AF1EC2-E9E5-363E-3C0B-7858824B8BE2}"/>
              </a:ext>
            </a:extLst>
          </p:cNvPr>
          <p:cNvSpPr txBox="1"/>
          <p:nvPr/>
        </p:nvSpPr>
        <p:spPr>
          <a:xfrm>
            <a:off x="762000" y="3300456"/>
            <a:ext cx="22860000" cy="84023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600" b="1" dirty="0">
                <a:solidFill>
                  <a:schemeClr val="tx1"/>
                </a:solidFill>
                <a:effectLst>
                  <a:outerShdw blurRad="38100" dist="38100" dir="2700000" algn="tl">
                    <a:srgbClr val="000000">
                      <a:alpha val="43137"/>
                    </a:srgbClr>
                  </a:outerShdw>
                </a:effectLst>
                <a:latin typeface="Georgia" panose="02040502050405020303" pitchFamily="18" charset="0"/>
              </a:rPr>
              <a:t>Course Description: Venture Creation </a:t>
            </a:r>
          </a:p>
          <a:p>
            <a:pPr algn="l"/>
            <a:endParaRPr lang="en-US" sz="3600" b="1" dirty="0">
              <a:solidFill>
                <a:schemeClr val="tx1"/>
              </a:solidFill>
              <a:effectLst>
                <a:outerShdw blurRad="38100" dist="38100" dir="2700000" algn="tl">
                  <a:srgbClr val="000000">
                    <a:alpha val="43137"/>
                  </a:srgbClr>
                </a:outerShdw>
              </a:effectLst>
              <a:latin typeface="Georgia" panose="02040502050405020303" pitchFamily="18" charset="0"/>
            </a:endParaRPr>
          </a:p>
          <a:p>
            <a:pPr algn="l"/>
            <a:r>
              <a:rPr lang="en-US" sz="3600" dirty="0">
                <a:solidFill>
                  <a:schemeClr val="tx1"/>
                </a:solidFill>
                <a:latin typeface="Avenir Next LT Pro" panose="020B0504020202020204" pitchFamily="34" charset="0"/>
              </a:rPr>
              <a:t>This course provides students with practical experience in transforming prototypes into viable business ventures. Students will refine their ideas, validate them through exhibitions, and explore key aspects of entrepreneurship such as customer validation, business models, and pitching.</a:t>
            </a:r>
          </a:p>
          <a:p>
            <a:pPr algn="l"/>
            <a:r>
              <a:rPr lang="en-US" sz="3600" dirty="0">
                <a:solidFill>
                  <a:schemeClr val="tx1"/>
                </a:solidFill>
                <a:latin typeface="Avenir Next LT Pro" panose="020B0504020202020204" pitchFamily="34" charset="0"/>
              </a:rPr>
              <a:t>By the end of the course, students will be able to assess the feasibility of their business ideas, compile a business report, and prepare an investor-ready pitch deck as a step toward building sustainable ventures.</a:t>
            </a:r>
          </a:p>
          <a:p>
            <a:pPr algn="l"/>
            <a:endParaRPr lang="en-US" sz="3600" dirty="0">
              <a:solidFill>
                <a:schemeClr val="tx1"/>
              </a:solidFill>
              <a:latin typeface="Georgia" panose="02040502050405020303" pitchFamily="18" charset="0"/>
            </a:endParaRPr>
          </a:p>
          <a:p>
            <a:pPr algn="l"/>
            <a:endParaRPr lang="en-US" sz="3600" dirty="0">
              <a:solidFill>
                <a:schemeClr val="tx1"/>
              </a:solidFill>
              <a:latin typeface="Georgia" panose="02040502050405020303" pitchFamily="18" charset="0"/>
            </a:endParaRPr>
          </a:p>
          <a:p>
            <a:pPr algn="l"/>
            <a:r>
              <a:rPr lang="en-US" sz="3600" b="1" dirty="0">
                <a:solidFill>
                  <a:schemeClr val="tx1"/>
                </a:solidFill>
                <a:effectLst>
                  <a:outerShdw blurRad="38100" dist="38100" dir="2700000" algn="tl">
                    <a:srgbClr val="000000">
                      <a:alpha val="43137"/>
                    </a:srgbClr>
                  </a:outerShdw>
                </a:effectLst>
                <a:latin typeface="Georgia" panose="02040502050405020303" pitchFamily="18" charset="0"/>
              </a:rPr>
              <a:t>Learning Outcomes – Venture Creation</a:t>
            </a:r>
          </a:p>
          <a:p>
            <a:pPr algn="l"/>
            <a:endParaRPr lang="en-US" sz="3600" b="1" dirty="0">
              <a:solidFill>
                <a:schemeClr val="tx1"/>
              </a:solidFill>
              <a:effectLst>
                <a:outerShdw blurRad="38100" dist="38100" dir="2700000" algn="tl">
                  <a:srgbClr val="000000">
                    <a:alpha val="43137"/>
                  </a:srgbClr>
                </a:outerShdw>
              </a:effectLst>
              <a:latin typeface="Georgia" panose="02040502050405020303" pitchFamily="18" charset="0"/>
            </a:endParaRPr>
          </a:p>
          <a:p>
            <a:pPr algn="l"/>
            <a:r>
              <a:rPr lang="en-US" sz="3600" dirty="0">
                <a:solidFill>
                  <a:schemeClr val="tx1"/>
                </a:solidFill>
                <a:latin typeface="Avenir Next LT Pro" panose="020B0504020202020204" pitchFamily="34" charset="0"/>
              </a:rPr>
              <a:t>LO1:    Create a prototype relevant to market needs.</a:t>
            </a:r>
          </a:p>
          <a:p>
            <a:pPr algn="l"/>
            <a:r>
              <a:rPr lang="en-US" sz="3600" dirty="0">
                <a:solidFill>
                  <a:schemeClr val="tx1"/>
                </a:solidFill>
                <a:latin typeface="Avenir Next LT Pro" panose="020B0504020202020204" pitchFamily="34" charset="0"/>
              </a:rPr>
              <a:t>LO2:    Test the prototype to assess business potential.</a:t>
            </a:r>
          </a:p>
          <a:p>
            <a:pPr algn="l"/>
            <a:r>
              <a:rPr lang="en-US" sz="3600" dirty="0">
                <a:solidFill>
                  <a:schemeClr val="tx1"/>
                </a:solidFill>
                <a:latin typeface="Avenir Next LT Pro" panose="020B0504020202020204" pitchFamily="34" charset="0"/>
              </a:rPr>
              <a:t>LO3:    Create a business report and pitch deck for sustainable business development.</a:t>
            </a:r>
          </a:p>
          <a:p>
            <a:pPr algn="l"/>
            <a:endParaRPr lang="en-US" sz="3600" b="1" dirty="0">
              <a:solidFill>
                <a:schemeClr val="tx1"/>
              </a:solidFill>
              <a:latin typeface="Georgia" panose="02040502050405020303" pitchFamily="18" charset="0"/>
            </a:endParaRPr>
          </a:p>
        </p:txBody>
      </p:sp>
      <p:sp>
        <p:nvSpPr>
          <p:cNvPr id="2" name="TextBox 1">
            <a:extLst>
              <a:ext uri="{FF2B5EF4-FFF2-40B4-BE49-F238E27FC236}">
                <a16:creationId xmlns:a16="http://schemas.microsoft.com/office/drawing/2014/main" id="{86CFEBFB-D423-2219-F689-5D305E5D84B2}"/>
              </a:ext>
            </a:extLst>
          </p:cNvPr>
          <p:cNvSpPr txBox="1"/>
          <p:nvPr/>
        </p:nvSpPr>
        <p:spPr>
          <a:xfrm>
            <a:off x="5864772" y="1044059"/>
            <a:ext cx="11634952"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chemeClr val="accent1"/>
                </a:solidFill>
                <a:effectLst>
                  <a:outerShdw blurRad="38100" dist="38100" dir="2700000" algn="tl">
                    <a:srgbClr val="000000">
                      <a:alpha val="43137"/>
                    </a:srgbClr>
                  </a:outerShdw>
                </a:effectLst>
                <a:uFillTx/>
                <a:latin typeface="Georgia" panose="02040502050405020303" pitchFamily="18" charset="0"/>
                <a:sym typeface="Helvetica Neue"/>
              </a:rPr>
              <a:t>Acknowledgements</a:t>
            </a:r>
            <a:endParaRPr kumimoji="0" lang="en-ID" sz="4000" b="0" i="0" u="none" strike="noStrike" cap="none" spc="0" normalizeH="0" baseline="0" dirty="0">
              <a:ln>
                <a:noFill/>
              </a:ln>
              <a:solidFill>
                <a:schemeClr val="accent1"/>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Tree>
    <p:extLst>
      <p:ext uri="{BB962C8B-B14F-4D97-AF65-F5344CB8AC3E}">
        <p14:creationId xmlns:p14="http://schemas.microsoft.com/office/powerpoint/2010/main" val="276645439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2CDEA831-6ABE-722F-73EC-1947F24F0601}"/>
              </a:ext>
            </a:extLst>
          </p:cNvPr>
          <p:cNvPicPr>
            <a:picLocks noChangeAspect="1"/>
          </p:cNvPicPr>
          <p:nvPr/>
        </p:nvPicPr>
        <p:blipFill>
          <a:blip r:embed="rId2">
            <a:duotone>
              <a:schemeClr val="accent1">
                <a:shade val="45000"/>
                <a:satMod val="135000"/>
              </a:schemeClr>
              <a:prstClr val="white"/>
            </a:duotone>
            <a:alphaModFix amt="5000"/>
          </a:blip>
          <a:stretch>
            <a:fillRect/>
          </a:stretch>
        </p:blipFill>
        <p:spPr>
          <a:xfrm>
            <a:off x="-1680949" y="1864151"/>
            <a:ext cx="28724772" cy="14357130"/>
          </a:xfrm>
          <a:prstGeom prst="rect">
            <a:avLst/>
          </a:prstGeom>
        </p:spPr>
      </p:pic>
      <p:grpSp>
        <p:nvGrpSpPr>
          <p:cNvPr id="8" name="Group 7">
            <a:extLst>
              <a:ext uri="{FF2B5EF4-FFF2-40B4-BE49-F238E27FC236}">
                <a16:creationId xmlns:a16="http://schemas.microsoft.com/office/drawing/2014/main" id="{303A0EE6-95F2-F330-1CB9-62947985A555}"/>
              </a:ext>
            </a:extLst>
          </p:cNvPr>
          <p:cNvGrpSpPr/>
          <p:nvPr/>
        </p:nvGrpSpPr>
        <p:grpSpPr>
          <a:xfrm>
            <a:off x="2988945" y="8829489"/>
            <a:ext cx="6537360" cy="3463001"/>
            <a:chOff x="0" y="1666"/>
            <a:chExt cx="5107877" cy="3064726"/>
          </a:xfrm>
          <a:effectLst>
            <a:glow rad="228600">
              <a:schemeClr val="accent5">
                <a:satMod val="175000"/>
                <a:alpha val="40000"/>
              </a:schemeClr>
            </a:glow>
          </a:effectLst>
        </p:grpSpPr>
        <p:sp>
          <p:nvSpPr>
            <p:cNvPr id="9" name="Rectangle: Rounded Corners 8">
              <a:extLst>
                <a:ext uri="{FF2B5EF4-FFF2-40B4-BE49-F238E27FC236}">
                  <a16:creationId xmlns:a16="http://schemas.microsoft.com/office/drawing/2014/main" id="{13FBF834-3D0D-A751-30EC-C6FB1F4100CD}"/>
                </a:ext>
              </a:extLst>
            </p:cNvPr>
            <p:cNvSpPr/>
            <p:nvPr/>
          </p:nvSpPr>
          <p:spPr>
            <a:xfrm>
              <a:off x="0" y="1666"/>
              <a:ext cx="5107877" cy="3064726"/>
            </a:xfrm>
            <a:prstGeom prst="roundRect">
              <a:avLst/>
            </a:prstGeom>
            <a:scene3d>
              <a:camera prst="orthographicFront"/>
              <a:lightRig rig="threePt" dir="t"/>
            </a:scene3d>
            <a:sp3d>
              <a:bevelT prst="relaxedInset"/>
            </a:sp3d>
          </p:spPr>
          <p:style>
            <a:lnRef idx="0">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D"/>
            </a:p>
          </p:txBody>
        </p:sp>
        <p:sp>
          <p:nvSpPr>
            <p:cNvPr id="10" name="Rectangle: Rounded Corners 4">
              <a:extLst>
                <a:ext uri="{FF2B5EF4-FFF2-40B4-BE49-F238E27FC236}">
                  <a16:creationId xmlns:a16="http://schemas.microsoft.com/office/drawing/2014/main" id="{514C1E20-D473-A949-87E9-63E50EFAB475}"/>
                </a:ext>
              </a:extLst>
            </p:cNvPr>
            <p:cNvSpPr txBox="1"/>
            <p:nvPr/>
          </p:nvSpPr>
          <p:spPr>
            <a:xfrm>
              <a:off x="149608" y="151274"/>
              <a:ext cx="4808661" cy="2765510"/>
            </a:xfrm>
            <a:prstGeom prst="rect">
              <a:avLst/>
            </a:prstGeom>
            <a:effectLst>
              <a:glow rad="228600">
                <a:schemeClr val="accent6">
                  <a:satMod val="175000"/>
                  <a:alpha val="40000"/>
                </a:schemeClr>
              </a:glow>
            </a:effectLst>
            <a:scene3d>
              <a:camera prst="orthographicFront"/>
              <a:lightRig rig="threePt" dir="t"/>
            </a:scene3d>
            <a:sp3d>
              <a:bevelT prst="relaxedInset"/>
            </a:sp3d>
          </p:spPr>
          <p:style>
            <a:lnRef idx="0">
              <a:scrgbClr r="0" g="0" b="0"/>
            </a:lnRef>
            <a:fillRef idx="0">
              <a:scrgbClr r="0" g="0" b="0"/>
            </a:fillRef>
            <a:effectRef idx="0">
              <a:scrgbClr r="0" g="0" b="0"/>
            </a:effectRef>
            <a:fontRef idx="minor">
              <a:schemeClr val="lt1"/>
            </a:fontRef>
          </p:style>
          <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latin typeface="Avenir Next LT Pro" panose="020B0504020202020204" pitchFamily="34" charset="0"/>
                </a:rPr>
                <a:t>BINUS Entrepreneurship Center</a:t>
              </a:r>
            </a:p>
            <a:p>
              <a:pPr marL="0" lvl="0" indent="0" algn="ctr" defTabSz="1600200">
                <a:lnSpc>
                  <a:spcPct val="90000"/>
                </a:lnSpc>
                <a:spcBef>
                  <a:spcPct val="0"/>
                </a:spcBef>
                <a:spcAft>
                  <a:spcPct val="35000"/>
                </a:spcAft>
                <a:buNone/>
              </a:pPr>
              <a:r>
                <a:rPr lang="en-US" sz="3600" kern="1200" dirty="0">
                  <a:latin typeface="Avenir Next LT Pro" panose="020B0504020202020204" pitchFamily="34" charset="0"/>
                </a:rPr>
                <a:t>(BEC)</a:t>
              </a:r>
              <a:endParaRPr lang="en-ID" sz="3600" kern="1200" dirty="0">
                <a:latin typeface="Avenir Next LT Pro" panose="020B0504020202020204" pitchFamily="34" charset="0"/>
              </a:endParaRPr>
            </a:p>
          </p:txBody>
        </p:sp>
      </p:grpSp>
      <p:grpSp>
        <p:nvGrpSpPr>
          <p:cNvPr id="12" name="Group 11">
            <a:extLst>
              <a:ext uri="{FF2B5EF4-FFF2-40B4-BE49-F238E27FC236}">
                <a16:creationId xmlns:a16="http://schemas.microsoft.com/office/drawing/2014/main" id="{077C3E4C-8EA8-E3EB-949D-B0EDDD3CD13B}"/>
              </a:ext>
            </a:extLst>
          </p:cNvPr>
          <p:cNvGrpSpPr/>
          <p:nvPr/>
        </p:nvGrpSpPr>
        <p:grpSpPr>
          <a:xfrm>
            <a:off x="524769" y="4180291"/>
            <a:ext cx="5107877" cy="3105898"/>
            <a:chOff x="84080" y="1232331"/>
            <a:chExt cx="4233573" cy="2574269"/>
          </a:xfrm>
          <a:effectLst>
            <a:outerShdw blurRad="50800" dist="241300" dir="2700000" algn="tl" rotWithShape="0">
              <a:prstClr val="black">
                <a:alpha val="40000"/>
              </a:prstClr>
            </a:outerShdw>
          </a:effectLst>
          <a:scene3d>
            <a:camera prst="orthographicFront"/>
            <a:lightRig rig="chilly" dir="t"/>
          </a:scene3d>
        </p:grpSpPr>
        <p:sp>
          <p:nvSpPr>
            <p:cNvPr id="31" name="Rectangle: Rounded Corners 30">
              <a:extLst>
                <a:ext uri="{FF2B5EF4-FFF2-40B4-BE49-F238E27FC236}">
                  <a16:creationId xmlns:a16="http://schemas.microsoft.com/office/drawing/2014/main" id="{45132CB2-77FE-A840-0005-1ACD3E157579}"/>
                </a:ext>
              </a:extLst>
            </p:cNvPr>
            <p:cNvSpPr/>
            <p:nvPr/>
          </p:nvSpPr>
          <p:spPr>
            <a:xfrm>
              <a:off x="84080" y="1232331"/>
              <a:ext cx="4233573" cy="2540144"/>
            </a:xfrm>
            <a:prstGeom prst="roundRect">
              <a:avLst>
                <a:gd name="adj" fmla="val 10000"/>
              </a:avLst>
            </a:prstGeom>
            <a:sp3d prstMaterial="translucentPowder">
              <a:bevelT w="127000" h="25400" prst="softRound"/>
            </a:sp3d>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ID"/>
            </a:p>
          </p:txBody>
        </p:sp>
        <p:sp>
          <p:nvSpPr>
            <p:cNvPr id="32" name="Rectangle: Rounded Corners 4">
              <a:extLst>
                <a:ext uri="{FF2B5EF4-FFF2-40B4-BE49-F238E27FC236}">
                  <a16:creationId xmlns:a16="http://schemas.microsoft.com/office/drawing/2014/main" id="{2BE821DB-5BE8-ED60-F21D-0FB717CE47BC}"/>
                </a:ext>
              </a:extLst>
            </p:cNvPr>
            <p:cNvSpPr txBox="1"/>
            <p:nvPr/>
          </p:nvSpPr>
          <p:spPr>
            <a:xfrm>
              <a:off x="84080" y="1415252"/>
              <a:ext cx="4084777" cy="239134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effectLst>
                    <a:outerShdw blurRad="38100" dist="38100" dir="2700000" algn="tl">
                      <a:srgbClr val="000000">
                        <a:alpha val="43137"/>
                      </a:srgbClr>
                    </a:outerShdw>
                  </a:effectLst>
                  <a:latin typeface="Avenir Next LT Pro" panose="020B0504020202020204" pitchFamily="34" charset="0"/>
                </a:rPr>
                <a:t>Creativity and Innovation Course</a:t>
              </a:r>
              <a:endParaRPr lang="en-ID" sz="4400" b="1" kern="1200" dirty="0">
                <a:effectLst>
                  <a:outerShdw blurRad="38100" dist="38100" dir="2700000" algn="tl">
                    <a:srgbClr val="000000">
                      <a:alpha val="43137"/>
                    </a:srgbClr>
                  </a:outerShdw>
                </a:effectLst>
                <a:latin typeface="Avenir Next LT Pro" panose="020B0504020202020204" pitchFamily="34" charset="0"/>
              </a:endParaRPr>
            </a:p>
          </p:txBody>
        </p:sp>
      </p:grpSp>
      <p:grpSp>
        <p:nvGrpSpPr>
          <p:cNvPr id="13" name="Group 12">
            <a:extLst>
              <a:ext uri="{FF2B5EF4-FFF2-40B4-BE49-F238E27FC236}">
                <a16:creationId xmlns:a16="http://schemas.microsoft.com/office/drawing/2014/main" id="{958D3B81-E507-FAEE-CE9B-3265D3B407BF}"/>
              </a:ext>
            </a:extLst>
          </p:cNvPr>
          <p:cNvGrpSpPr/>
          <p:nvPr/>
        </p:nvGrpSpPr>
        <p:grpSpPr>
          <a:xfrm>
            <a:off x="5677425" y="4416089"/>
            <a:ext cx="897517" cy="1876563"/>
            <a:chOff x="4666613" y="1552821"/>
            <a:chExt cx="897517" cy="2662871"/>
          </a:xfrm>
          <a:scene3d>
            <a:camera prst="orthographicFront"/>
            <a:lightRig rig="chilly" dir="t"/>
          </a:scene3d>
        </p:grpSpPr>
        <p:sp>
          <p:nvSpPr>
            <p:cNvPr id="29" name="Arrow: Right 28">
              <a:extLst>
                <a:ext uri="{FF2B5EF4-FFF2-40B4-BE49-F238E27FC236}">
                  <a16:creationId xmlns:a16="http://schemas.microsoft.com/office/drawing/2014/main" id="{C36DF11B-B396-BB1D-71F7-4467B3FEC3D9}"/>
                </a:ext>
              </a:extLst>
            </p:cNvPr>
            <p:cNvSpPr/>
            <p:nvPr/>
          </p:nvSpPr>
          <p:spPr>
            <a:xfrm>
              <a:off x="4666613" y="3165766"/>
              <a:ext cx="897517" cy="1049926"/>
            </a:xfrm>
            <a:prstGeom prst="rightArrow">
              <a:avLst>
                <a:gd name="adj1" fmla="val 60000"/>
                <a:gd name="adj2" fmla="val 50000"/>
              </a:avLst>
            </a:prstGeom>
            <a:sp3d z="-70000" extrusionH="1700" prstMaterial="translucentPowder">
              <a:bevelT w="25400" h="6350" prst="softRound"/>
              <a:bevelB w="0" h="0" prst="convex"/>
            </a:sp3d>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ID"/>
            </a:p>
          </p:txBody>
        </p:sp>
        <p:sp>
          <p:nvSpPr>
            <p:cNvPr id="30" name="Arrow: Right 6">
              <a:extLst>
                <a:ext uri="{FF2B5EF4-FFF2-40B4-BE49-F238E27FC236}">
                  <a16:creationId xmlns:a16="http://schemas.microsoft.com/office/drawing/2014/main" id="{7299EEFD-6105-3623-26CA-1C4478EDE7F4}"/>
                </a:ext>
              </a:extLst>
            </p:cNvPr>
            <p:cNvSpPr txBox="1"/>
            <p:nvPr/>
          </p:nvSpPr>
          <p:spPr>
            <a:xfrm>
              <a:off x="4731939" y="1552821"/>
              <a:ext cx="628262" cy="629956"/>
            </a:xfrm>
            <a:prstGeom prst="rect">
              <a:avLst/>
            </a:prstGeom>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ID" sz="3600" kern="1200" dirty="0"/>
            </a:p>
          </p:txBody>
        </p:sp>
      </p:grpSp>
      <p:grpSp>
        <p:nvGrpSpPr>
          <p:cNvPr id="14" name="Group 13">
            <a:extLst>
              <a:ext uri="{FF2B5EF4-FFF2-40B4-BE49-F238E27FC236}">
                <a16:creationId xmlns:a16="http://schemas.microsoft.com/office/drawing/2014/main" id="{0CE884D5-8C73-64F9-2FB0-A31FAEF997C1}"/>
              </a:ext>
            </a:extLst>
          </p:cNvPr>
          <p:cNvGrpSpPr/>
          <p:nvPr/>
        </p:nvGrpSpPr>
        <p:grpSpPr>
          <a:xfrm>
            <a:off x="6574942" y="4248693"/>
            <a:ext cx="5107877" cy="3064726"/>
            <a:chOff x="5936685" y="2420657"/>
            <a:chExt cx="4233573" cy="2540144"/>
          </a:xfrm>
          <a:effectLst>
            <a:outerShdw blurRad="50800" dist="190500" dir="2700000" algn="tl" rotWithShape="0">
              <a:prstClr val="black">
                <a:alpha val="40000"/>
              </a:prstClr>
            </a:outerShdw>
          </a:effectLst>
          <a:scene3d>
            <a:camera prst="orthographicFront"/>
            <a:lightRig rig="chilly" dir="t"/>
          </a:scene3d>
        </p:grpSpPr>
        <p:sp>
          <p:nvSpPr>
            <p:cNvPr id="27" name="Rectangle: Rounded Corners 26">
              <a:extLst>
                <a:ext uri="{FF2B5EF4-FFF2-40B4-BE49-F238E27FC236}">
                  <a16:creationId xmlns:a16="http://schemas.microsoft.com/office/drawing/2014/main" id="{75588A7D-F30E-14D4-5D53-052FF4CF5915}"/>
                </a:ext>
              </a:extLst>
            </p:cNvPr>
            <p:cNvSpPr/>
            <p:nvPr/>
          </p:nvSpPr>
          <p:spPr>
            <a:xfrm>
              <a:off x="5936685" y="2420657"/>
              <a:ext cx="4233573" cy="2540144"/>
            </a:xfrm>
            <a:prstGeom prst="roundRect">
              <a:avLst>
                <a:gd name="adj" fmla="val 10000"/>
              </a:avLst>
            </a:prstGeom>
            <a:sp3d prstMaterial="translucentPowder">
              <a:bevelT w="127000" h="25400" prst="softRound"/>
            </a:sp3d>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D"/>
            </a:p>
          </p:txBody>
        </p:sp>
        <p:sp>
          <p:nvSpPr>
            <p:cNvPr id="28" name="Rectangle: Rounded Corners 8">
              <a:extLst>
                <a:ext uri="{FF2B5EF4-FFF2-40B4-BE49-F238E27FC236}">
                  <a16:creationId xmlns:a16="http://schemas.microsoft.com/office/drawing/2014/main" id="{1089DE2D-7EEF-2F30-FE2C-8FAF3BE05C78}"/>
                </a:ext>
              </a:extLst>
            </p:cNvPr>
            <p:cNvSpPr txBox="1"/>
            <p:nvPr/>
          </p:nvSpPr>
          <p:spPr>
            <a:xfrm>
              <a:off x="6011083" y="2495055"/>
              <a:ext cx="4084777" cy="239134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effectLst>
                    <a:outerShdw blurRad="38100" dist="38100" dir="2700000" algn="tl">
                      <a:srgbClr val="000000">
                        <a:alpha val="43137"/>
                      </a:srgbClr>
                    </a:outerShdw>
                  </a:effectLst>
                  <a:latin typeface="Avenir Next LT Pro" panose="020B0504020202020204" pitchFamily="34" charset="0"/>
                </a:rPr>
                <a:t>Venture Creation Course</a:t>
              </a:r>
              <a:endParaRPr lang="en-ID" sz="4400" b="1" kern="1200" dirty="0">
                <a:effectLst>
                  <a:outerShdw blurRad="38100" dist="38100" dir="2700000" algn="tl">
                    <a:srgbClr val="000000">
                      <a:alpha val="43137"/>
                    </a:srgbClr>
                  </a:outerShdw>
                </a:effectLst>
                <a:latin typeface="Avenir Next LT Pro" panose="020B0504020202020204" pitchFamily="34" charset="0"/>
              </a:endParaRPr>
            </a:p>
          </p:txBody>
        </p:sp>
      </p:grpSp>
      <p:grpSp>
        <p:nvGrpSpPr>
          <p:cNvPr id="15" name="Group 14">
            <a:extLst>
              <a:ext uri="{FF2B5EF4-FFF2-40B4-BE49-F238E27FC236}">
                <a16:creationId xmlns:a16="http://schemas.microsoft.com/office/drawing/2014/main" id="{F16D1E9F-1A29-926E-4328-436724B03AED}"/>
              </a:ext>
            </a:extLst>
          </p:cNvPr>
          <p:cNvGrpSpPr/>
          <p:nvPr/>
        </p:nvGrpSpPr>
        <p:grpSpPr>
          <a:xfrm>
            <a:off x="11800161" y="5552754"/>
            <a:ext cx="897517" cy="787252"/>
            <a:chOff x="10593616" y="3165766"/>
            <a:chExt cx="897517" cy="1049926"/>
          </a:xfrm>
          <a:scene3d>
            <a:camera prst="orthographicFront"/>
            <a:lightRig rig="chilly" dir="t"/>
          </a:scene3d>
        </p:grpSpPr>
        <p:sp>
          <p:nvSpPr>
            <p:cNvPr id="25" name="Arrow: Right 24">
              <a:extLst>
                <a:ext uri="{FF2B5EF4-FFF2-40B4-BE49-F238E27FC236}">
                  <a16:creationId xmlns:a16="http://schemas.microsoft.com/office/drawing/2014/main" id="{44FF6D12-D58A-1317-641E-57D829BE71F3}"/>
                </a:ext>
              </a:extLst>
            </p:cNvPr>
            <p:cNvSpPr/>
            <p:nvPr/>
          </p:nvSpPr>
          <p:spPr>
            <a:xfrm>
              <a:off x="10593616" y="3165766"/>
              <a:ext cx="897517" cy="1049926"/>
            </a:xfrm>
            <a:prstGeom prst="rightArrow">
              <a:avLst>
                <a:gd name="adj1" fmla="val 60000"/>
                <a:gd name="adj2" fmla="val 50000"/>
              </a:avLst>
            </a:prstGeom>
            <a:sp3d z="-70000" extrusionH="1700" prstMaterial="translucentPowder">
              <a:bevelT w="25400" h="6350" prst="softRound"/>
              <a:bevelB w="0" h="0" prst="convex"/>
            </a:sp3d>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D"/>
            </a:p>
          </p:txBody>
        </p:sp>
        <p:sp>
          <p:nvSpPr>
            <p:cNvPr id="26" name="Arrow: Right 10">
              <a:extLst>
                <a:ext uri="{FF2B5EF4-FFF2-40B4-BE49-F238E27FC236}">
                  <a16:creationId xmlns:a16="http://schemas.microsoft.com/office/drawing/2014/main" id="{1EC96DAD-0810-EDAF-07B4-E57E97172606}"/>
                </a:ext>
              </a:extLst>
            </p:cNvPr>
            <p:cNvSpPr txBox="1"/>
            <p:nvPr/>
          </p:nvSpPr>
          <p:spPr>
            <a:xfrm>
              <a:off x="10593616" y="3375751"/>
              <a:ext cx="628262" cy="629956"/>
            </a:xfrm>
            <a:prstGeom prst="rect">
              <a:avLst/>
            </a:prstGeom>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ID" sz="3600" kern="1200"/>
            </a:p>
          </p:txBody>
        </p:sp>
      </p:grpSp>
      <p:grpSp>
        <p:nvGrpSpPr>
          <p:cNvPr id="16" name="Group 15">
            <a:extLst>
              <a:ext uri="{FF2B5EF4-FFF2-40B4-BE49-F238E27FC236}">
                <a16:creationId xmlns:a16="http://schemas.microsoft.com/office/drawing/2014/main" id="{582BF8DF-38B9-D42D-5EFE-73299A799CF4}"/>
              </a:ext>
            </a:extLst>
          </p:cNvPr>
          <p:cNvGrpSpPr/>
          <p:nvPr/>
        </p:nvGrpSpPr>
        <p:grpSpPr>
          <a:xfrm>
            <a:off x="12681437" y="4236206"/>
            <a:ext cx="5107876" cy="3064725"/>
            <a:chOff x="11814687" y="1300307"/>
            <a:chExt cx="4233573" cy="2540144"/>
          </a:xfrm>
          <a:effectLst>
            <a:outerShdw blurRad="50800" dist="190500" dir="2700000" algn="tl" rotWithShape="0">
              <a:prstClr val="black">
                <a:alpha val="40000"/>
              </a:prstClr>
            </a:outerShdw>
          </a:effectLst>
          <a:scene3d>
            <a:camera prst="orthographicFront"/>
            <a:lightRig rig="chilly" dir="t"/>
          </a:scene3d>
        </p:grpSpPr>
        <p:sp>
          <p:nvSpPr>
            <p:cNvPr id="23" name="Rectangle: Rounded Corners 22">
              <a:extLst>
                <a:ext uri="{FF2B5EF4-FFF2-40B4-BE49-F238E27FC236}">
                  <a16:creationId xmlns:a16="http://schemas.microsoft.com/office/drawing/2014/main" id="{D8C9F101-A08C-9DD4-5DAE-B8BA44DA3F2E}"/>
                </a:ext>
              </a:extLst>
            </p:cNvPr>
            <p:cNvSpPr/>
            <p:nvPr/>
          </p:nvSpPr>
          <p:spPr>
            <a:xfrm>
              <a:off x="11814687" y="1300307"/>
              <a:ext cx="4233573" cy="2540144"/>
            </a:xfrm>
            <a:prstGeom prst="roundRect">
              <a:avLst>
                <a:gd name="adj" fmla="val 10000"/>
              </a:avLst>
            </a:prstGeom>
            <a:sp3d prstMaterial="translucentPowder">
              <a:bevelT w="127000" h="25400" prst="softRound"/>
            </a:sp3d>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ID"/>
            </a:p>
          </p:txBody>
        </p:sp>
        <p:sp>
          <p:nvSpPr>
            <p:cNvPr id="24" name="Rectangle: Rounded Corners 12">
              <a:extLst>
                <a:ext uri="{FF2B5EF4-FFF2-40B4-BE49-F238E27FC236}">
                  <a16:creationId xmlns:a16="http://schemas.microsoft.com/office/drawing/2014/main" id="{8321BEBD-378E-5D1F-9A54-AED870A3FA7D}"/>
                </a:ext>
              </a:extLst>
            </p:cNvPr>
            <p:cNvSpPr txBox="1"/>
            <p:nvPr/>
          </p:nvSpPr>
          <p:spPr>
            <a:xfrm>
              <a:off x="11889086" y="1402759"/>
              <a:ext cx="4084777" cy="239134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effectLst>
                    <a:outerShdw blurRad="38100" dist="38100" dir="2700000" algn="tl">
                      <a:srgbClr val="000000">
                        <a:alpha val="43137"/>
                      </a:srgbClr>
                    </a:outerShdw>
                  </a:effectLst>
                  <a:latin typeface="Avenir Next LT Pro" panose="020B0504020202020204" pitchFamily="34" charset="0"/>
                </a:rPr>
                <a:t>Enrichment 1</a:t>
              </a:r>
              <a:r>
                <a:rPr lang="en-US" sz="4400" b="1" kern="1200" baseline="30000" dirty="0">
                  <a:effectLst>
                    <a:outerShdw blurRad="38100" dist="38100" dir="2700000" algn="tl">
                      <a:srgbClr val="000000">
                        <a:alpha val="43137"/>
                      </a:srgbClr>
                    </a:outerShdw>
                  </a:effectLst>
                  <a:latin typeface="Avenir Next LT Pro" panose="020B0504020202020204" pitchFamily="34" charset="0"/>
                </a:rPr>
                <a:t>st</a:t>
              </a:r>
              <a:r>
                <a:rPr lang="en-US" sz="4400" b="1" kern="1200" dirty="0">
                  <a:effectLst>
                    <a:outerShdw blurRad="38100" dist="38100" dir="2700000" algn="tl">
                      <a:srgbClr val="000000">
                        <a:alpha val="43137"/>
                      </a:srgbClr>
                    </a:outerShdw>
                  </a:effectLst>
                  <a:latin typeface="Avenir Next LT Pro" panose="020B0504020202020204" pitchFamily="34" charset="0"/>
                </a:rPr>
                <a:t> Semester</a:t>
              </a:r>
              <a:endParaRPr lang="en-ID" sz="4400" b="1" kern="1200" dirty="0">
                <a:effectLst>
                  <a:outerShdw blurRad="38100" dist="38100" dir="2700000" algn="tl">
                    <a:srgbClr val="000000">
                      <a:alpha val="43137"/>
                    </a:srgbClr>
                  </a:outerShdw>
                </a:effectLst>
                <a:latin typeface="Avenir Next LT Pro" panose="020B0504020202020204" pitchFamily="34" charset="0"/>
              </a:endParaRPr>
            </a:p>
          </p:txBody>
        </p:sp>
      </p:grpSp>
      <p:grpSp>
        <p:nvGrpSpPr>
          <p:cNvPr id="17" name="Group 16">
            <a:extLst>
              <a:ext uri="{FF2B5EF4-FFF2-40B4-BE49-F238E27FC236}">
                <a16:creationId xmlns:a16="http://schemas.microsoft.com/office/drawing/2014/main" id="{05A13A96-A6E9-0693-74A8-D3A5062E22FC}"/>
              </a:ext>
            </a:extLst>
          </p:cNvPr>
          <p:cNvGrpSpPr/>
          <p:nvPr/>
        </p:nvGrpSpPr>
        <p:grpSpPr>
          <a:xfrm>
            <a:off x="17914306" y="5552754"/>
            <a:ext cx="897517" cy="839941"/>
            <a:chOff x="16520619" y="3165766"/>
            <a:chExt cx="897517" cy="1049926"/>
          </a:xfrm>
          <a:scene3d>
            <a:camera prst="orthographicFront"/>
            <a:lightRig rig="chilly" dir="t"/>
          </a:scene3d>
        </p:grpSpPr>
        <p:sp>
          <p:nvSpPr>
            <p:cNvPr id="21" name="Arrow: Right 20">
              <a:extLst>
                <a:ext uri="{FF2B5EF4-FFF2-40B4-BE49-F238E27FC236}">
                  <a16:creationId xmlns:a16="http://schemas.microsoft.com/office/drawing/2014/main" id="{CF3B721D-A332-30FC-E6C0-B3A44839B47E}"/>
                </a:ext>
              </a:extLst>
            </p:cNvPr>
            <p:cNvSpPr/>
            <p:nvPr/>
          </p:nvSpPr>
          <p:spPr>
            <a:xfrm>
              <a:off x="16520619" y="3165766"/>
              <a:ext cx="897517" cy="1049926"/>
            </a:xfrm>
            <a:prstGeom prst="rightArrow">
              <a:avLst>
                <a:gd name="adj1" fmla="val 60000"/>
                <a:gd name="adj2" fmla="val 50000"/>
              </a:avLst>
            </a:prstGeom>
            <a:sp3d z="-70000" extrusionH="1700" prstMaterial="translucentPowder">
              <a:bevelT w="25400" h="6350" prst="softRound"/>
              <a:bevelB w="0" h="0" prst="convex"/>
            </a:sp3d>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ID"/>
            </a:p>
          </p:txBody>
        </p:sp>
        <p:sp>
          <p:nvSpPr>
            <p:cNvPr id="22" name="Arrow: Right 14">
              <a:extLst>
                <a:ext uri="{FF2B5EF4-FFF2-40B4-BE49-F238E27FC236}">
                  <a16:creationId xmlns:a16="http://schemas.microsoft.com/office/drawing/2014/main" id="{C376CC7D-81C7-64D8-E728-F36E7FCA4EE5}"/>
                </a:ext>
              </a:extLst>
            </p:cNvPr>
            <p:cNvSpPr txBox="1"/>
            <p:nvPr/>
          </p:nvSpPr>
          <p:spPr>
            <a:xfrm>
              <a:off x="16520619" y="3375751"/>
              <a:ext cx="628262" cy="629956"/>
            </a:xfrm>
            <a:prstGeom prst="rect">
              <a:avLst/>
            </a:prstGeom>
            <a:sp3d z="-70000"/>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ID" sz="3600" kern="1200" dirty="0"/>
            </a:p>
          </p:txBody>
        </p:sp>
      </p:grpSp>
      <p:grpSp>
        <p:nvGrpSpPr>
          <p:cNvPr id="18" name="Group 17">
            <a:extLst>
              <a:ext uri="{FF2B5EF4-FFF2-40B4-BE49-F238E27FC236}">
                <a16:creationId xmlns:a16="http://schemas.microsoft.com/office/drawing/2014/main" id="{14893810-8748-5041-AEBB-F75D8C641039}"/>
              </a:ext>
            </a:extLst>
          </p:cNvPr>
          <p:cNvGrpSpPr/>
          <p:nvPr/>
        </p:nvGrpSpPr>
        <p:grpSpPr>
          <a:xfrm>
            <a:off x="18811823" y="4269840"/>
            <a:ext cx="5107877" cy="3064725"/>
            <a:chOff x="17790691" y="2420657"/>
            <a:chExt cx="4233573" cy="2540144"/>
          </a:xfrm>
          <a:effectLst>
            <a:outerShdw blurRad="50800" dist="190500" dir="2700000" algn="tl" rotWithShape="0">
              <a:prstClr val="black">
                <a:alpha val="40000"/>
              </a:prstClr>
            </a:outerShdw>
          </a:effectLst>
          <a:scene3d>
            <a:camera prst="orthographicFront"/>
            <a:lightRig rig="chilly" dir="t"/>
          </a:scene3d>
        </p:grpSpPr>
        <p:sp>
          <p:nvSpPr>
            <p:cNvPr id="19" name="Rectangle: Rounded Corners 18">
              <a:extLst>
                <a:ext uri="{FF2B5EF4-FFF2-40B4-BE49-F238E27FC236}">
                  <a16:creationId xmlns:a16="http://schemas.microsoft.com/office/drawing/2014/main" id="{6B0CB362-C50D-7A82-3F8B-A7662BB13B76}"/>
                </a:ext>
              </a:extLst>
            </p:cNvPr>
            <p:cNvSpPr/>
            <p:nvPr/>
          </p:nvSpPr>
          <p:spPr>
            <a:xfrm>
              <a:off x="17790691" y="2420657"/>
              <a:ext cx="4233573" cy="2540144"/>
            </a:xfrm>
            <a:prstGeom prst="roundRect">
              <a:avLst>
                <a:gd name="adj" fmla="val 10000"/>
              </a:avLst>
            </a:prstGeom>
            <a:sp3d prstMaterial="translucentPowder">
              <a:bevelT w="127000" h="25400" prst="softRound"/>
            </a:sp3d>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ID"/>
            </a:p>
          </p:txBody>
        </p:sp>
        <p:sp>
          <p:nvSpPr>
            <p:cNvPr id="20" name="Rectangle: Rounded Corners 16">
              <a:extLst>
                <a:ext uri="{FF2B5EF4-FFF2-40B4-BE49-F238E27FC236}">
                  <a16:creationId xmlns:a16="http://schemas.microsoft.com/office/drawing/2014/main" id="{05DF4678-8036-8AB0-8083-5387C3136685}"/>
                </a:ext>
              </a:extLst>
            </p:cNvPr>
            <p:cNvSpPr txBox="1"/>
            <p:nvPr/>
          </p:nvSpPr>
          <p:spPr>
            <a:xfrm>
              <a:off x="17865089" y="2495055"/>
              <a:ext cx="4084777" cy="239134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b="1" kern="1200" dirty="0">
                  <a:effectLst>
                    <a:outerShdw blurRad="38100" dist="38100" dir="2700000" algn="tl">
                      <a:srgbClr val="000000">
                        <a:alpha val="43137"/>
                      </a:srgbClr>
                    </a:outerShdw>
                  </a:effectLst>
                  <a:latin typeface="Avenir Next LT Pro" panose="020B0504020202020204" pitchFamily="34" charset="0"/>
                </a:rPr>
                <a:t>Enrichment 2</a:t>
              </a:r>
              <a:r>
                <a:rPr lang="en-US" sz="4400" b="1" kern="1200" baseline="30000" dirty="0">
                  <a:effectLst>
                    <a:outerShdw blurRad="38100" dist="38100" dir="2700000" algn="tl">
                      <a:srgbClr val="000000">
                        <a:alpha val="43137"/>
                      </a:srgbClr>
                    </a:outerShdw>
                  </a:effectLst>
                  <a:latin typeface="Avenir Next LT Pro" panose="020B0504020202020204" pitchFamily="34" charset="0"/>
                </a:rPr>
                <a:t>nd</a:t>
              </a:r>
              <a:r>
                <a:rPr lang="en-US" sz="4400" b="1" kern="1200" dirty="0">
                  <a:effectLst>
                    <a:outerShdw blurRad="38100" dist="38100" dir="2700000" algn="tl">
                      <a:srgbClr val="000000">
                        <a:alpha val="43137"/>
                      </a:srgbClr>
                    </a:outerShdw>
                  </a:effectLst>
                  <a:latin typeface="Avenir Next LT Pro" panose="020B0504020202020204" pitchFamily="34" charset="0"/>
                </a:rPr>
                <a:t> Semester</a:t>
              </a:r>
              <a:endParaRPr lang="en-ID" sz="4400" b="1" kern="1200" dirty="0">
                <a:effectLst>
                  <a:outerShdw blurRad="38100" dist="38100" dir="2700000" algn="tl">
                    <a:srgbClr val="000000">
                      <a:alpha val="43137"/>
                    </a:srgbClr>
                  </a:outerShdw>
                </a:effectLst>
                <a:latin typeface="Avenir Next LT Pro" panose="020B0504020202020204" pitchFamily="34" charset="0"/>
              </a:endParaRPr>
            </a:p>
          </p:txBody>
        </p:sp>
      </p:grpSp>
      <p:sp>
        <p:nvSpPr>
          <p:cNvPr id="33" name="TextBox 32">
            <a:extLst>
              <a:ext uri="{FF2B5EF4-FFF2-40B4-BE49-F238E27FC236}">
                <a16:creationId xmlns:a16="http://schemas.microsoft.com/office/drawing/2014/main" id="{4F45FDD6-BF58-2DFB-8B1D-65554D6D5F73}"/>
              </a:ext>
            </a:extLst>
          </p:cNvPr>
          <p:cNvSpPr txBox="1"/>
          <p:nvPr/>
        </p:nvSpPr>
        <p:spPr>
          <a:xfrm>
            <a:off x="15872320" y="8664526"/>
            <a:ext cx="6058530" cy="3443558"/>
          </a:xfrm>
          <a:prstGeom prst="roundRect">
            <a:avLst/>
          </a:prstGeom>
          <a:solidFill>
            <a:schemeClr val="accent5">
              <a:alpha val="50000"/>
            </a:schemeClr>
          </a:solidFill>
          <a:ln>
            <a:noFill/>
          </a:ln>
          <a:effectLst>
            <a:glow rad="228600">
              <a:schemeClr val="accent6">
                <a:satMod val="175000"/>
                <a:alpha val="40000"/>
              </a:schemeClr>
            </a:glow>
          </a:effectLst>
          <a:scene3d>
            <a:camera prst="orthographicFront"/>
            <a:lightRig rig="chilly" dir="t"/>
          </a:scene3d>
          <a:sp3d>
            <a:bevelT prst="relaxedInset"/>
          </a:sp3d>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effectLst>
                  <a:outerShdw blurRad="38100" dist="38100" dir="2700000" algn="tl">
                    <a:srgbClr val="000000">
                      <a:alpha val="43137"/>
                    </a:srgbClr>
                  </a:outerShdw>
                </a:effectLst>
                <a:latin typeface="Avenir Next LT Pro" panose="020B0504020202020204" pitchFamily="34" charset="0"/>
              </a:rPr>
              <a:t>BINUS INCUBATOR</a:t>
            </a:r>
            <a:endParaRPr lang="en-ID" sz="4000" kern="1200" dirty="0">
              <a:effectLst>
                <a:outerShdw blurRad="38100" dist="38100" dir="2700000" algn="tl">
                  <a:srgbClr val="000000">
                    <a:alpha val="43137"/>
                  </a:srgbClr>
                </a:outerShdw>
              </a:effectLst>
              <a:latin typeface="Avenir Next LT Pro" panose="020B0504020202020204" pitchFamily="34" charset="0"/>
            </a:endParaRPr>
          </a:p>
        </p:txBody>
      </p:sp>
      <p:sp>
        <p:nvSpPr>
          <p:cNvPr id="3" name="TextBox 2">
            <a:extLst>
              <a:ext uri="{FF2B5EF4-FFF2-40B4-BE49-F238E27FC236}">
                <a16:creationId xmlns:a16="http://schemas.microsoft.com/office/drawing/2014/main" id="{9F0509C4-6B8C-3632-0398-4978DCEB53A9}"/>
              </a:ext>
            </a:extLst>
          </p:cNvPr>
          <p:cNvSpPr txBox="1"/>
          <p:nvPr/>
        </p:nvSpPr>
        <p:spPr>
          <a:xfrm>
            <a:off x="6808024" y="1232799"/>
            <a:ext cx="9297378"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rgbClr val="0090D4"/>
                </a:solidFill>
                <a:effectLst/>
                <a:uFillTx/>
                <a:latin typeface="Georgia" panose="02040502050405020303" pitchFamily="18" charset="0"/>
                <a:sym typeface="Helvetica Neue"/>
              </a:rPr>
              <a:t>Binus Entrepreneurship Journey</a:t>
            </a:r>
          </a:p>
        </p:txBody>
      </p:sp>
    </p:spTree>
    <p:extLst>
      <p:ext uri="{BB962C8B-B14F-4D97-AF65-F5344CB8AC3E}">
        <p14:creationId xmlns:p14="http://schemas.microsoft.com/office/powerpoint/2010/main" val="179022730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4000"/>
          </a:srgbClr>
        </a:solidFill>
        <a:effectLst/>
      </p:bgPr>
    </p:bg>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C6507146-0D3F-84C0-0EC2-6CEF08A7ED41}"/>
              </a:ext>
            </a:extLst>
          </p:cNvPr>
          <p:cNvGraphicFramePr>
            <a:graphicFrameLocks noGrp="1"/>
          </p:cNvGraphicFramePr>
          <p:nvPr>
            <p:extLst>
              <p:ext uri="{D42A27DB-BD31-4B8C-83A1-F6EECF244321}">
                <p14:modId xmlns:p14="http://schemas.microsoft.com/office/powerpoint/2010/main" val="2840846316"/>
              </p:ext>
            </p:extLst>
          </p:nvPr>
        </p:nvGraphicFramePr>
        <p:xfrm>
          <a:off x="1132306" y="2862246"/>
          <a:ext cx="22119388" cy="9497705"/>
        </p:xfrm>
        <a:graphic>
          <a:graphicData uri="http://schemas.openxmlformats.org/drawingml/2006/table">
            <a:tbl>
              <a:tblPr firstRow="1" bandRow="1">
                <a:effectLst>
                  <a:outerShdw blurRad="50800" dist="482600" dir="2700000" algn="tl" rotWithShape="0">
                    <a:prstClr val="black">
                      <a:alpha val="40000"/>
                    </a:prstClr>
                  </a:outerShdw>
                </a:effectLst>
                <a:tableStyleId>{3C2FFA5D-87B4-456A-9821-1D502468CF0F}</a:tableStyleId>
              </a:tblPr>
              <a:tblGrid>
                <a:gridCol w="2095496">
                  <a:extLst>
                    <a:ext uri="{9D8B030D-6E8A-4147-A177-3AD203B41FA5}">
                      <a16:colId xmlns:a16="http://schemas.microsoft.com/office/drawing/2014/main" val="870436124"/>
                    </a:ext>
                  </a:extLst>
                </a:gridCol>
                <a:gridCol w="10921979">
                  <a:extLst>
                    <a:ext uri="{9D8B030D-6E8A-4147-A177-3AD203B41FA5}">
                      <a16:colId xmlns:a16="http://schemas.microsoft.com/office/drawing/2014/main" val="1693113196"/>
                    </a:ext>
                  </a:extLst>
                </a:gridCol>
                <a:gridCol w="1450178">
                  <a:extLst>
                    <a:ext uri="{9D8B030D-6E8A-4147-A177-3AD203B41FA5}">
                      <a16:colId xmlns:a16="http://schemas.microsoft.com/office/drawing/2014/main" val="3369390691"/>
                    </a:ext>
                  </a:extLst>
                </a:gridCol>
                <a:gridCol w="3282944">
                  <a:extLst>
                    <a:ext uri="{9D8B030D-6E8A-4147-A177-3AD203B41FA5}">
                      <a16:colId xmlns:a16="http://schemas.microsoft.com/office/drawing/2014/main" val="3936746958"/>
                    </a:ext>
                  </a:extLst>
                </a:gridCol>
                <a:gridCol w="4368791">
                  <a:extLst>
                    <a:ext uri="{9D8B030D-6E8A-4147-A177-3AD203B41FA5}">
                      <a16:colId xmlns:a16="http://schemas.microsoft.com/office/drawing/2014/main" val="2242108625"/>
                    </a:ext>
                  </a:extLst>
                </a:gridCol>
              </a:tblGrid>
              <a:tr h="628025">
                <a:tc>
                  <a:txBody>
                    <a:bodyPr/>
                    <a:lstStyle/>
                    <a:p>
                      <a:r>
                        <a:rPr lang="en-US" sz="3200" dirty="0">
                          <a:effectLst/>
                          <a:latin typeface="Georgia" panose="02040502050405020303" pitchFamily="18" charset="0"/>
                        </a:rPr>
                        <a:t>Week</a:t>
                      </a:r>
                      <a:endParaRPr lang="en-ID" sz="3200" dirty="0">
                        <a:effectLst/>
                        <a:latin typeface="Georgia" panose="02040502050405020303" pitchFamily="18"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rgbClr val="0090D4"/>
                    </a:solidFill>
                  </a:tcPr>
                </a:tc>
                <a:tc>
                  <a:txBody>
                    <a:bodyPr/>
                    <a:lstStyle/>
                    <a:p>
                      <a:r>
                        <a:rPr lang="en-US" sz="3200" dirty="0">
                          <a:effectLst/>
                          <a:latin typeface="Georgia" panose="02040502050405020303" pitchFamily="18" charset="0"/>
                        </a:rPr>
                        <a:t>TOPIC</a:t>
                      </a:r>
                      <a:endParaRPr lang="en-ID" sz="3200" dirty="0">
                        <a:effectLst/>
                        <a:latin typeface="Georgia" panose="02040502050405020303" pitchFamily="18"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rgbClr val="0090D4"/>
                    </a:solidFill>
                  </a:tcPr>
                </a:tc>
                <a:tc>
                  <a:txBody>
                    <a:bodyPr/>
                    <a:lstStyle/>
                    <a:p>
                      <a:r>
                        <a:rPr lang="en-US" sz="3200" dirty="0">
                          <a:latin typeface="Georgia" panose="02040502050405020303" pitchFamily="18" charset="0"/>
                        </a:rPr>
                        <a:t>TYPE</a:t>
                      </a:r>
                      <a:endParaRPr lang="en-ID" sz="3200" dirty="0">
                        <a:latin typeface="Georgia" panose="02040502050405020303" pitchFamily="18"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rgbClr val="0090D4"/>
                    </a:solidFill>
                  </a:tcPr>
                </a:tc>
                <a:tc>
                  <a:txBody>
                    <a:bodyPr/>
                    <a:lstStyle/>
                    <a:p>
                      <a:r>
                        <a:rPr lang="en-US" sz="3200" dirty="0">
                          <a:latin typeface="Georgia" panose="02040502050405020303" pitchFamily="18" charset="0"/>
                        </a:rPr>
                        <a:t>DURATION</a:t>
                      </a:r>
                      <a:endParaRPr lang="en-ID" sz="3200" dirty="0">
                        <a:latin typeface="Georgia" panose="02040502050405020303" pitchFamily="18"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rgbClr val="0090D4"/>
                    </a:solidFill>
                  </a:tcPr>
                </a:tc>
                <a:tc>
                  <a:txBody>
                    <a:bodyPr/>
                    <a:lstStyle/>
                    <a:p>
                      <a:r>
                        <a:rPr lang="en-US" sz="3200" dirty="0">
                          <a:latin typeface="Georgia" panose="02040502050405020303" pitchFamily="18" charset="0"/>
                        </a:rPr>
                        <a:t>TOOLS</a:t>
                      </a:r>
                      <a:endParaRPr lang="en-ID" sz="3200" dirty="0">
                        <a:latin typeface="Georgia" panose="02040502050405020303" pitchFamily="18"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rgbClr val="0090D4"/>
                    </a:solidFill>
                  </a:tcPr>
                </a:tc>
                <a:extLst>
                  <a:ext uri="{0D108BD9-81ED-4DB2-BD59-A6C34878D82A}">
                    <a16:rowId xmlns:a16="http://schemas.microsoft.com/office/drawing/2014/main" val="1185068146"/>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1</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Venture Creation Overview &amp; Team Setup</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F2F</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100’</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2103947281"/>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2</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Opportunity Recognition &amp; Problem Framing</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535189312"/>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3</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Prototype Development (Low Fidelity)</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1991317012"/>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4</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Prototype Testing (Customer Discovery)</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GSLC</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1178082955"/>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5</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Prototype Iteration &amp; Feedback</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580873291"/>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6</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Business Model Canvas </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3506619726"/>
                  </a:ext>
                </a:extLst>
              </a:tr>
              <a:tr h="1065909">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7</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US"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Business Model Canvas Redevelopment</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Domain Expert/ Assignment I</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1810897077"/>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8</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Digital Marketing &amp; Traction Tools</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3449622752"/>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9</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Business Festival Showcase</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GSLC</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r>
                        <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rPr>
                        <a:t>Assignment II</a:t>
                      </a: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3894478890"/>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10</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Business Ethics &amp; Legal Foundations</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4192418562"/>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11</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Entrepreneurial Finance &amp; Valuation</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2605396524"/>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12</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Pitch Deck &amp; Market Reflection</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110400856"/>
                  </a:ext>
                </a:extLst>
              </a:tr>
              <a:tr h="628025">
                <a:tc>
                  <a:txBody>
                    <a:bodyPr/>
                    <a:lstStyle/>
                    <a:p>
                      <a:r>
                        <a:rPr lang="en-US" sz="3600" b="1" dirty="0">
                          <a:solidFill>
                            <a:schemeClr val="bg1"/>
                          </a:solidFill>
                          <a:effectLst>
                            <a:outerShdw blurRad="38100" dist="38100" dir="2700000" algn="tl">
                              <a:srgbClr val="000000">
                                <a:alpha val="43137"/>
                              </a:srgbClr>
                            </a:outerShdw>
                          </a:effectLst>
                          <a:latin typeface="Avenir Next LT Pro" panose="020B0504020202020204" pitchFamily="34" charset="0"/>
                        </a:rPr>
                        <a:t>13</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algn="l"/>
                      <a:r>
                        <a:rPr lang="en-ID" sz="3600" b="1" i="0" u="none" strike="noStrike" cap="none" spc="0" baseline="0" dirty="0">
                          <a:solidFill>
                            <a:schemeClr val="bg1"/>
                          </a:solidFill>
                          <a:effectLst>
                            <a:outerShdw blurRad="38100" dist="38100" dir="2700000" algn="tl">
                              <a:srgbClr val="000000">
                                <a:alpha val="43137"/>
                              </a:srgbClr>
                            </a:outerShdw>
                          </a:effectLst>
                          <a:uFillTx/>
                          <a:latin typeface="Avenir Next LT Pro" panose="020B0504020202020204" pitchFamily="34" charset="0"/>
                          <a:ea typeface="+mn-ea"/>
                          <a:cs typeface="+mn-cs"/>
                          <a:sym typeface="Helvetica Neue"/>
                        </a:rPr>
                        <a:t>Business Report</a:t>
                      </a:r>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nchor="ct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F2F</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rPr>
                        <a:t>100’</a:t>
                      </a:r>
                      <a:endParaRPr kumimoji="0" lang="en-ID" sz="3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venir Next LT Pro" panose="020B0504020202020204" pitchFamily="34" charset="0"/>
                        <a:ea typeface="+mn-ea"/>
                        <a:cs typeface="+mn-cs"/>
                        <a:sym typeface="Helvetica Neue"/>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tc>
                  <a:txBody>
                    <a:bodyPr/>
                    <a:lstStyle/>
                    <a:p>
                      <a:endParaRPr lang="en-ID" sz="3600" b="1" dirty="0">
                        <a:solidFill>
                          <a:schemeClr val="bg1"/>
                        </a:solidFill>
                        <a:effectLst>
                          <a:outerShdw blurRad="38100" dist="38100" dir="2700000" algn="tl">
                            <a:srgbClr val="000000">
                              <a:alpha val="43137"/>
                            </a:srgbClr>
                          </a:outerShdw>
                        </a:effectLst>
                        <a:latin typeface="Avenir Next LT Pro" panose="020B0504020202020204" pitchFamily="34" charset="0"/>
                      </a:endParaRPr>
                    </a:p>
                  </a:txBody>
                  <a:tcPr>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BlToTr w="12700" cap="flat" cmpd="sng" algn="ctr">
                      <a:noFill/>
                      <a:prstDash val="solid"/>
                      <a:round/>
                      <a:headEnd type="none" w="med" len="med"/>
                      <a:tailEnd type="none" w="med" len="med"/>
                    </a:lnBlToTr>
                    <a:solidFill>
                      <a:schemeClr val="tx2">
                        <a:lumMod val="40000"/>
                        <a:lumOff val="60000"/>
                      </a:schemeClr>
                    </a:solidFill>
                  </a:tcPr>
                </a:tc>
                <a:extLst>
                  <a:ext uri="{0D108BD9-81ED-4DB2-BD59-A6C34878D82A}">
                    <a16:rowId xmlns:a16="http://schemas.microsoft.com/office/drawing/2014/main" val="928292375"/>
                  </a:ext>
                </a:extLst>
              </a:tr>
            </a:tbl>
          </a:graphicData>
        </a:graphic>
      </p:graphicFrame>
      <p:sp>
        <p:nvSpPr>
          <p:cNvPr id="7" name="TextBox 6">
            <a:extLst>
              <a:ext uri="{FF2B5EF4-FFF2-40B4-BE49-F238E27FC236}">
                <a16:creationId xmlns:a16="http://schemas.microsoft.com/office/drawing/2014/main" id="{E03D7B70-5A16-84FC-8F74-DC029E9564E6}"/>
              </a:ext>
            </a:extLst>
          </p:cNvPr>
          <p:cNvSpPr txBox="1"/>
          <p:nvPr/>
        </p:nvSpPr>
        <p:spPr>
          <a:xfrm>
            <a:off x="4247416" y="1448382"/>
            <a:ext cx="13495282" cy="841256"/>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80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rPr>
              <a:t>Schedule</a:t>
            </a:r>
            <a:endParaRPr kumimoji="0" lang="en-ID" sz="480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Tree>
    <p:extLst>
      <p:ext uri="{BB962C8B-B14F-4D97-AF65-F5344CB8AC3E}">
        <p14:creationId xmlns:p14="http://schemas.microsoft.com/office/powerpoint/2010/main" val="115051966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Connector: Curved 78">
            <a:extLst>
              <a:ext uri="{FF2B5EF4-FFF2-40B4-BE49-F238E27FC236}">
                <a16:creationId xmlns:a16="http://schemas.microsoft.com/office/drawing/2014/main" id="{9CCEF6CA-8953-D75A-C48B-C6C77A0487B3}"/>
              </a:ext>
            </a:extLst>
          </p:cNvPr>
          <p:cNvCxnSpPr>
            <a:cxnSpLocks/>
            <a:stCxn id="3" idx="2"/>
            <a:endCxn id="64" idx="0"/>
          </p:cNvCxnSpPr>
          <p:nvPr/>
        </p:nvCxnSpPr>
        <p:spPr>
          <a:xfrm rot="5400000" flipH="1" flipV="1">
            <a:off x="8658031" y="1056026"/>
            <a:ext cx="6248586" cy="11269904"/>
          </a:xfrm>
          <a:prstGeom prst="curvedConnector5">
            <a:avLst>
              <a:gd name="adj1" fmla="val -3658"/>
              <a:gd name="adj2" fmla="val 44706"/>
              <a:gd name="adj3" fmla="val 103658"/>
            </a:avLst>
          </a:prstGeom>
          <a:ln w="76200">
            <a:tailEnd type="triangle"/>
          </a:ln>
        </p:spPr>
        <p:style>
          <a:lnRef idx="1">
            <a:schemeClr val="dk1"/>
          </a:lnRef>
          <a:fillRef idx="0">
            <a:schemeClr val="dk1"/>
          </a:fillRef>
          <a:effectRef idx="0">
            <a:schemeClr val="dk1"/>
          </a:effectRef>
          <a:fontRef idx="minor">
            <a:schemeClr val="tx1"/>
          </a:fontRef>
        </p:style>
      </p:cxnSp>
      <p:sp>
        <p:nvSpPr>
          <p:cNvPr id="3" name="Rectangle: Rounded Corners 2">
            <a:extLst>
              <a:ext uri="{FF2B5EF4-FFF2-40B4-BE49-F238E27FC236}">
                <a16:creationId xmlns:a16="http://schemas.microsoft.com/office/drawing/2014/main" id="{2D0A7231-8AD0-C66F-530E-F66C2F5A82A1}"/>
              </a:ext>
            </a:extLst>
          </p:cNvPr>
          <p:cNvSpPr/>
          <p:nvPr/>
        </p:nvSpPr>
        <p:spPr>
          <a:xfrm>
            <a:off x="1389888" y="5547436"/>
            <a:ext cx="9514967" cy="4267835"/>
          </a:xfrm>
          <a:prstGeom prst="roundRect">
            <a:avLst/>
          </a:prstGeom>
          <a:solidFill>
            <a:schemeClr val="bg1">
              <a:lumMod val="95000"/>
            </a:schemeClr>
          </a:solidFill>
          <a:ln w="12700" cap="flat">
            <a:solidFill>
              <a:schemeClr val="bg1"/>
            </a:solidFill>
            <a:miter lim="400000"/>
          </a:ln>
          <a:effectLst/>
          <a:scene3d>
            <a:camera prst="orthographicFront"/>
            <a:lightRig rig="threePt" dir="t"/>
          </a:scene3d>
          <a:sp3d>
            <a:bevelT prst="relaxedInse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825500"/>
            <a:r>
              <a:rPr lang="en-ID" sz="4800" b="1" dirty="0">
                <a:solidFill>
                  <a:schemeClr val="tx1"/>
                </a:solidFill>
                <a:effectLst>
                  <a:outerShdw blurRad="38100" dist="38100" dir="2700000" algn="tl">
                    <a:srgbClr val="000000">
                      <a:alpha val="43137"/>
                    </a:srgbClr>
                  </a:outerShdw>
                </a:effectLst>
                <a:latin typeface="Georgia" panose="02040502050405020303" pitchFamily="18" charset="0"/>
              </a:rPr>
              <a:t>ASSIGNMENT I (30%)</a:t>
            </a:r>
            <a:endParaRPr lang="en-ID" sz="4000" b="1" dirty="0">
              <a:solidFill>
                <a:schemeClr val="tx1"/>
              </a:solidFill>
              <a:effectLst>
                <a:outerShdw blurRad="38100" dist="38100" dir="2700000" algn="tl">
                  <a:srgbClr val="000000">
                    <a:alpha val="43137"/>
                  </a:srgbClr>
                </a:outerShdw>
              </a:effectLst>
              <a:latin typeface="Georgia" panose="02040502050405020303" pitchFamily="18" charset="0"/>
            </a:endParaRPr>
          </a:p>
          <a:p>
            <a:pPr algn="l" defTabSz="825500"/>
            <a:r>
              <a:rPr lang="en-ID" sz="2800" dirty="0">
                <a:solidFill>
                  <a:schemeClr val="tx1"/>
                </a:solidFill>
                <a:latin typeface="Avenir Next LT Pro" panose="020B0504020202020204" pitchFamily="34" charset="0"/>
              </a:rPr>
              <a:t>BMC Redevelopment Report</a:t>
            </a:r>
            <a:r>
              <a:rPr lang="en-ID" sz="2800" dirty="0">
                <a:solidFill>
                  <a:schemeClr val="tx1"/>
                </a:solidFill>
                <a:effectLst>
                  <a:outerShdw blurRad="38100" dist="38100" dir="2700000" algn="tl">
                    <a:srgbClr val="000000">
                      <a:alpha val="43137"/>
                    </a:srgbClr>
                  </a:outerShdw>
                </a:effectLst>
                <a:latin typeface="Avenir Next LT Pro" panose="020B0504020202020204" pitchFamily="34" charset="0"/>
              </a:rPr>
              <a:t>:</a:t>
            </a:r>
          </a:p>
          <a:p>
            <a:pPr marL="342900" indent="-342900" algn="l" defTabSz="825500">
              <a:buFont typeface="Arial" panose="020B0604020202020204" pitchFamily="34" charset="0"/>
              <a:buChar char="•"/>
            </a:pPr>
            <a:r>
              <a:rPr lang="en-ID" sz="2800" dirty="0">
                <a:latin typeface="Avenir Next LT Pro" panose="020B0504020202020204" pitchFamily="34" charset="0"/>
              </a:rPr>
              <a:t>Foto prototype</a:t>
            </a:r>
          </a:p>
          <a:p>
            <a:pPr marL="342900" indent="-342900" algn="l" defTabSz="825500">
              <a:buFont typeface="Arial" panose="020B0604020202020204" pitchFamily="34" charset="0"/>
              <a:buChar char="•"/>
            </a:pPr>
            <a:r>
              <a:rPr lang="en-ID" sz="2800" dirty="0">
                <a:latin typeface="Avenir Next LT Pro" panose="020B0504020202020204" pitchFamily="34" charset="0"/>
              </a:rPr>
              <a:t>Business Model Canvas</a:t>
            </a:r>
          </a:p>
          <a:p>
            <a:pPr marL="342900" indent="-342900" algn="l" defTabSz="825500">
              <a:buFont typeface="Arial" panose="020B0604020202020204" pitchFamily="34" charset="0"/>
              <a:buChar char="•"/>
            </a:pPr>
            <a:endParaRPr lang="en-ID" sz="2800" dirty="0">
              <a:latin typeface="Avenir Next LT Pro" panose="020B0504020202020204" pitchFamily="34" charset="0"/>
            </a:endParaRPr>
          </a:p>
          <a:p>
            <a:pPr algn="l" defTabSz="825500"/>
            <a:r>
              <a:rPr lang="en-ID" sz="2800" dirty="0">
                <a:latin typeface="Avenir Next LT Pro" panose="020B0504020202020204" pitchFamily="34" charset="0"/>
              </a:rPr>
              <a:t>Assignment Instructions: </a:t>
            </a:r>
          </a:p>
          <a:p>
            <a:pPr marL="457200" indent="-457200" algn="l" defTabSz="825500">
              <a:buFont typeface="Arial" panose="020B0604020202020204" pitchFamily="34" charset="0"/>
              <a:buChar char="•"/>
            </a:pPr>
            <a:r>
              <a:rPr lang="en-ID" sz="2800" dirty="0">
                <a:latin typeface="Avenir Next LT Pro" panose="020B0504020202020204" pitchFamily="34" charset="0"/>
              </a:rPr>
              <a:t>Submission Type: Individual</a:t>
            </a:r>
          </a:p>
          <a:p>
            <a:pPr marL="457200" indent="-457200" algn="l" defTabSz="825500">
              <a:buFont typeface="Arial" panose="020B0604020202020204" pitchFamily="34" charset="0"/>
              <a:buChar char="•"/>
            </a:pPr>
            <a:r>
              <a:rPr lang="en-ID" sz="2800" dirty="0">
                <a:latin typeface="Avenir Next LT Pro" panose="020B0504020202020204" pitchFamily="34" charset="0"/>
              </a:rPr>
              <a:t>Submission Period: Week 7</a:t>
            </a:r>
            <a:endParaRPr kumimoji="0" lang="en-ID" sz="2800" i="0" u="none" strike="noStrike" cap="none" spc="0" normalizeH="0" baseline="0" dirty="0">
              <a:ln>
                <a:noFill/>
              </a:ln>
              <a:solidFill>
                <a:srgbClr val="FFFFFF"/>
              </a:solidFill>
              <a:uFillTx/>
              <a:latin typeface="Avenir Next LT Pro" panose="020B0504020202020204" pitchFamily="34" charset="0"/>
              <a:ea typeface="Helvetica Neue Medium"/>
              <a:cs typeface="Helvetica Neue Medium"/>
              <a:sym typeface="Helvetica Neue Medium"/>
            </a:endParaRPr>
          </a:p>
        </p:txBody>
      </p:sp>
      <p:sp>
        <p:nvSpPr>
          <p:cNvPr id="4" name="Rectangle 1">
            <a:extLst>
              <a:ext uri="{FF2B5EF4-FFF2-40B4-BE49-F238E27FC236}">
                <a16:creationId xmlns:a16="http://schemas.microsoft.com/office/drawing/2014/main" id="{65602D15-8591-9469-C02B-866678CEA380}"/>
              </a:ext>
            </a:extLst>
          </p:cNvPr>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D"/>
          </a:p>
        </p:txBody>
      </p:sp>
      <p:sp>
        <p:nvSpPr>
          <p:cNvPr id="6" name="Rectangle 2">
            <a:extLst>
              <a:ext uri="{FF2B5EF4-FFF2-40B4-BE49-F238E27FC236}">
                <a16:creationId xmlns:a16="http://schemas.microsoft.com/office/drawing/2014/main" id="{8DA9990B-F27B-80A2-23EC-E1174FC403C3}"/>
              </a:ext>
            </a:extLst>
          </p:cNvPr>
          <p:cNvSpPr>
            <a:spLocks noChangeArrowheads="1"/>
          </p:cNvSpPr>
          <p:nvPr/>
        </p:nvSpPr>
        <p:spPr bwMode="auto">
          <a:xfrm>
            <a:off x="152400" y="15240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D"/>
          </a:p>
        </p:txBody>
      </p:sp>
      <p:sp>
        <p:nvSpPr>
          <p:cNvPr id="64" name="Rectangle: Rounded Corners 63">
            <a:extLst>
              <a:ext uri="{FF2B5EF4-FFF2-40B4-BE49-F238E27FC236}">
                <a16:creationId xmlns:a16="http://schemas.microsoft.com/office/drawing/2014/main" id="{F98E0D83-01BC-CF2D-B036-0D00C311E3C7}"/>
              </a:ext>
            </a:extLst>
          </p:cNvPr>
          <p:cNvSpPr/>
          <p:nvPr/>
        </p:nvSpPr>
        <p:spPr>
          <a:xfrm>
            <a:off x="11466576" y="3566685"/>
            <a:ext cx="11901400" cy="8956119"/>
          </a:xfrm>
          <a:prstGeom prst="roundRect">
            <a:avLst>
              <a:gd name="adj" fmla="val 15683"/>
            </a:avLst>
          </a:prstGeom>
          <a:solidFill>
            <a:schemeClr val="bg1">
              <a:lumMod val="95000"/>
            </a:schemeClr>
          </a:solidFill>
          <a:ln w="12700" cap="flat">
            <a:solidFill>
              <a:schemeClr val="bg1"/>
            </a:solidFill>
            <a:miter lim="400000"/>
          </a:ln>
          <a:effectLst/>
          <a:scene3d>
            <a:camera prst="orthographicFront"/>
            <a:lightRig rig="threePt" dir="t"/>
          </a:scene3d>
          <a:sp3d>
            <a:bevelT prst="relaxedInse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825500"/>
            <a:r>
              <a:rPr lang="en-ID" sz="4800" b="1" dirty="0">
                <a:solidFill>
                  <a:schemeClr val="tx1"/>
                </a:solidFill>
                <a:effectLst>
                  <a:outerShdw blurRad="38100" dist="38100" dir="2700000" algn="tl">
                    <a:srgbClr val="000000">
                      <a:alpha val="43137"/>
                    </a:srgbClr>
                  </a:outerShdw>
                </a:effectLst>
                <a:latin typeface="Georgia" panose="02040502050405020303" pitchFamily="18" charset="0"/>
              </a:rPr>
              <a:t>ASSIGNMENT II (30%)</a:t>
            </a:r>
            <a:endParaRPr lang="en-ID" sz="6000" b="1" dirty="0">
              <a:solidFill>
                <a:schemeClr val="tx1"/>
              </a:solidFill>
              <a:effectLst>
                <a:outerShdw blurRad="38100" dist="38100" dir="2700000" algn="tl">
                  <a:srgbClr val="000000">
                    <a:alpha val="43137"/>
                  </a:srgbClr>
                </a:outerShdw>
              </a:effectLst>
              <a:latin typeface="Georgia" panose="02040502050405020303" pitchFamily="18" charset="0"/>
            </a:endParaRPr>
          </a:p>
          <a:p>
            <a:pPr algn="l"/>
            <a:r>
              <a:rPr lang="en-US" sz="2800" dirty="0"/>
              <a:t>Present the prototype validation process in your video, covering the following key aspects:</a:t>
            </a:r>
          </a:p>
          <a:p>
            <a:pPr marL="457200" indent="-457200" algn="l">
              <a:buFont typeface="Wingdings" pitchFamily="2" charset="2"/>
              <a:buChar char="ü"/>
            </a:pPr>
            <a:r>
              <a:rPr lang="en-US" sz="2800" dirty="0"/>
              <a:t>Problem–Solution Validation</a:t>
            </a:r>
          </a:p>
          <a:p>
            <a:pPr marL="457200" indent="-457200" algn="l">
              <a:buFont typeface="Wingdings" pitchFamily="2" charset="2"/>
              <a:buChar char="ü"/>
            </a:pPr>
            <a:r>
              <a:rPr lang="en-US" sz="2800" dirty="0"/>
              <a:t>Demonstration &amp; Improvement</a:t>
            </a:r>
          </a:p>
          <a:p>
            <a:pPr marL="457200" indent="-457200" algn="l">
              <a:buFont typeface="Wingdings" pitchFamily="2" charset="2"/>
              <a:buChar char="ü"/>
            </a:pPr>
            <a:r>
              <a:rPr lang="en-US" sz="2800" dirty="0"/>
              <a:t>Business Potential Evaluation</a:t>
            </a:r>
          </a:p>
          <a:p>
            <a:pPr marL="457200" indent="-457200" algn="l">
              <a:buFont typeface="Wingdings" pitchFamily="2" charset="2"/>
              <a:buChar char="ü"/>
            </a:pPr>
            <a:r>
              <a:rPr lang="en-US" sz="2800" dirty="0"/>
              <a:t>Presentation &amp; Communication Quality</a:t>
            </a:r>
          </a:p>
          <a:p>
            <a:pPr marL="457200" indent="-457200" algn="l">
              <a:buFont typeface="Wingdings" pitchFamily="2" charset="2"/>
              <a:buChar char="ü"/>
            </a:pPr>
            <a:r>
              <a:rPr lang="en-US" sz="2800" dirty="0"/>
              <a:t>Teamwork &amp; Professionalism</a:t>
            </a:r>
            <a:br>
              <a:rPr lang="en-US" sz="2800" dirty="0"/>
            </a:br>
            <a:endParaRPr lang="en-US" sz="2800" dirty="0"/>
          </a:p>
          <a:p>
            <a:pPr algn="l"/>
            <a:r>
              <a:rPr lang="en-US" sz="2800" dirty="0"/>
              <a:t>Assignment Instructions</a:t>
            </a:r>
          </a:p>
          <a:p>
            <a:pPr algn="l"/>
            <a:r>
              <a:rPr lang="en-US" sz="2800" dirty="0"/>
              <a:t>Title: Business Showcase Video Report</a:t>
            </a:r>
          </a:p>
          <a:p>
            <a:pPr algn="l"/>
            <a:r>
              <a:rPr lang="en-US" sz="2800" dirty="0"/>
              <a:t>Duration: 3–5 minutes</a:t>
            </a:r>
          </a:p>
          <a:p>
            <a:pPr algn="l"/>
            <a:r>
              <a:rPr lang="en-US" sz="2800" dirty="0"/>
              <a:t>Format: A video presentation that demonstrates the prototype validation process and highlights the results of market reflection.</a:t>
            </a:r>
          </a:p>
          <a:p>
            <a:pPr algn="l"/>
            <a:r>
              <a:rPr lang="en-US" sz="2800" dirty="0"/>
              <a:t>Style: Present in an engaging, creative, and innovative manner that effectively captures and maintains audience attention.</a:t>
            </a:r>
          </a:p>
          <a:p>
            <a:pPr algn="l"/>
            <a:r>
              <a:rPr lang="en-US" sz="2800" dirty="0"/>
              <a:t>Submission Type: Individual</a:t>
            </a:r>
          </a:p>
          <a:p>
            <a:pPr algn="l"/>
            <a:r>
              <a:rPr lang="en-US" sz="2800" dirty="0"/>
              <a:t>Submission Period: Week 10</a:t>
            </a:r>
          </a:p>
        </p:txBody>
      </p:sp>
      <p:sp>
        <p:nvSpPr>
          <p:cNvPr id="66" name="TextBox 65">
            <a:extLst>
              <a:ext uri="{FF2B5EF4-FFF2-40B4-BE49-F238E27FC236}">
                <a16:creationId xmlns:a16="http://schemas.microsoft.com/office/drawing/2014/main" id="{6823E594-DDD0-16ED-A8CE-7905D32437E8}"/>
              </a:ext>
            </a:extLst>
          </p:cNvPr>
          <p:cNvSpPr txBox="1"/>
          <p:nvPr/>
        </p:nvSpPr>
        <p:spPr>
          <a:xfrm>
            <a:off x="5214683" y="938489"/>
            <a:ext cx="12896193"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6000" b="0"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rPr>
              <a:t>Assignment</a:t>
            </a:r>
            <a:endParaRPr kumimoji="0" lang="en-ID" sz="6000" b="0" i="0" u="none" strike="noStrike" cap="none" spc="0" normalizeH="0" baseline="0" dirty="0">
              <a:ln>
                <a:noFill/>
              </a:ln>
              <a:solidFill>
                <a:srgbClr val="0090D4"/>
              </a:solidFill>
              <a:effectLst>
                <a:outerShdw blurRad="38100" dist="38100" dir="2700000" algn="tl">
                  <a:srgbClr val="000000">
                    <a:alpha val="43137"/>
                  </a:srgbClr>
                </a:outerShdw>
              </a:effectLst>
              <a:uFillTx/>
              <a:latin typeface="Georgia" panose="02040502050405020303" pitchFamily="18" charset="0"/>
              <a:sym typeface="Helvetica Neue"/>
            </a:endParaRPr>
          </a:p>
        </p:txBody>
      </p:sp>
    </p:spTree>
    <p:extLst>
      <p:ext uri="{BB962C8B-B14F-4D97-AF65-F5344CB8AC3E}">
        <p14:creationId xmlns:p14="http://schemas.microsoft.com/office/powerpoint/2010/main" val="383424372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C85DF-F9EA-2734-AC5C-AD91D90DED1D}"/>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D4458B7-DB77-ADF1-F930-F704BDE8C216}"/>
              </a:ext>
            </a:extLst>
          </p:cNvPr>
          <p:cNvSpPr txBox="1"/>
          <p:nvPr/>
        </p:nvSpPr>
        <p:spPr>
          <a:xfrm>
            <a:off x="7504386" y="739295"/>
            <a:ext cx="8544911"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800" b="0" i="0" u="none" strike="noStrike" cap="none" spc="0" normalizeH="0" baseline="0" dirty="0">
                <a:ln>
                  <a:noFill/>
                </a:ln>
                <a:solidFill>
                  <a:srgbClr val="0090D4"/>
                </a:solidFill>
                <a:effectLst/>
                <a:uFillTx/>
                <a:latin typeface="Georgia" panose="02040502050405020303" pitchFamily="18" charset="0"/>
                <a:sym typeface="Helvetica Neue"/>
              </a:rPr>
              <a:t>Rubric  Assignment I</a:t>
            </a:r>
          </a:p>
          <a:p>
            <a:r>
              <a:rPr lang="en-ID" sz="4800" dirty="0">
                <a:solidFill>
                  <a:srgbClr val="0090D4"/>
                </a:solidFill>
                <a:latin typeface="Georgia" panose="02040502050405020303" pitchFamily="18" charset="0"/>
              </a:rPr>
              <a:t>BMC Redevelopment Report</a:t>
            </a:r>
            <a:endParaRPr kumimoji="0" lang="en-ID" sz="4800" b="0" i="0" u="none" strike="noStrike" cap="none" spc="0" normalizeH="0" baseline="0" dirty="0">
              <a:ln>
                <a:noFill/>
              </a:ln>
              <a:solidFill>
                <a:srgbClr val="0090D4"/>
              </a:solidFill>
              <a:effectLst/>
              <a:uFillTx/>
              <a:latin typeface="Georgia" panose="02040502050405020303" pitchFamily="18" charset="0"/>
              <a:sym typeface="Helvetica Neue"/>
            </a:endParaRPr>
          </a:p>
        </p:txBody>
      </p:sp>
      <p:graphicFrame>
        <p:nvGraphicFramePr>
          <p:cNvPr id="2" name="Table 1">
            <a:extLst>
              <a:ext uri="{FF2B5EF4-FFF2-40B4-BE49-F238E27FC236}">
                <a16:creationId xmlns:a16="http://schemas.microsoft.com/office/drawing/2014/main" id="{81B4409E-90B0-2464-4069-B4A6B9AFC9CC}"/>
              </a:ext>
            </a:extLst>
          </p:cNvPr>
          <p:cNvGraphicFramePr>
            <a:graphicFrameLocks noGrp="1"/>
          </p:cNvGraphicFramePr>
          <p:nvPr>
            <p:extLst>
              <p:ext uri="{D42A27DB-BD31-4B8C-83A1-F6EECF244321}">
                <p14:modId xmlns:p14="http://schemas.microsoft.com/office/powerpoint/2010/main" val="4071428024"/>
              </p:ext>
            </p:extLst>
          </p:nvPr>
        </p:nvGraphicFramePr>
        <p:xfrm>
          <a:off x="123280" y="3153102"/>
          <a:ext cx="24137440" cy="10247586"/>
        </p:xfrm>
        <a:graphic>
          <a:graphicData uri="http://schemas.openxmlformats.org/drawingml/2006/table">
            <a:tbl>
              <a:tblPr firstRow="1" firstCol="1" bandRow="1"/>
              <a:tblGrid>
                <a:gridCol w="687627">
                  <a:extLst>
                    <a:ext uri="{9D8B030D-6E8A-4147-A177-3AD203B41FA5}">
                      <a16:colId xmlns:a16="http://schemas.microsoft.com/office/drawing/2014/main" val="2894134087"/>
                    </a:ext>
                  </a:extLst>
                </a:gridCol>
                <a:gridCol w="708380">
                  <a:extLst>
                    <a:ext uri="{9D8B030D-6E8A-4147-A177-3AD203B41FA5}">
                      <a16:colId xmlns:a16="http://schemas.microsoft.com/office/drawing/2014/main" val="2107173545"/>
                    </a:ext>
                  </a:extLst>
                </a:gridCol>
                <a:gridCol w="4320000">
                  <a:extLst>
                    <a:ext uri="{9D8B030D-6E8A-4147-A177-3AD203B41FA5}">
                      <a16:colId xmlns:a16="http://schemas.microsoft.com/office/drawing/2014/main" val="4288371350"/>
                    </a:ext>
                  </a:extLst>
                </a:gridCol>
                <a:gridCol w="4320000">
                  <a:extLst>
                    <a:ext uri="{9D8B030D-6E8A-4147-A177-3AD203B41FA5}">
                      <a16:colId xmlns:a16="http://schemas.microsoft.com/office/drawing/2014/main" val="1380647721"/>
                    </a:ext>
                  </a:extLst>
                </a:gridCol>
                <a:gridCol w="4320000">
                  <a:extLst>
                    <a:ext uri="{9D8B030D-6E8A-4147-A177-3AD203B41FA5}">
                      <a16:colId xmlns:a16="http://schemas.microsoft.com/office/drawing/2014/main" val="4047705980"/>
                    </a:ext>
                  </a:extLst>
                </a:gridCol>
                <a:gridCol w="4320000">
                  <a:extLst>
                    <a:ext uri="{9D8B030D-6E8A-4147-A177-3AD203B41FA5}">
                      <a16:colId xmlns:a16="http://schemas.microsoft.com/office/drawing/2014/main" val="377396136"/>
                    </a:ext>
                  </a:extLst>
                </a:gridCol>
                <a:gridCol w="4320000">
                  <a:extLst>
                    <a:ext uri="{9D8B030D-6E8A-4147-A177-3AD203B41FA5}">
                      <a16:colId xmlns:a16="http://schemas.microsoft.com/office/drawing/2014/main" val="2925885936"/>
                    </a:ext>
                  </a:extLst>
                </a:gridCol>
                <a:gridCol w="1141433">
                  <a:extLst>
                    <a:ext uri="{9D8B030D-6E8A-4147-A177-3AD203B41FA5}">
                      <a16:colId xmlns:a16="http://schemas.microsoft.com/office/drawing/2014/main" val="734190962"/>
                    </a:ext>
                  </a:extLst>
                </a:gridCol>
              </a:tblGrid>
              <a:tr h="985825">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No</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LO</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Assessment Aspect</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Excellent (90–100)</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Good (75–89)</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Fair (60–74)</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Poor (&lt;60)</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Weight (%)</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5490864"/>
                  </a:ext>
                </a:extLst>
              </a:tr>
              <a:tr h="1952819">
                <a:tc>
                  <a:txBody>
                    <a:bodyPr/>
                    <a:lstStyle/>
                    <a:p>
                      <a:pPr algn="ctr">
                        <a:lnSpc>
                          <a:spcPct val="115000"/>
                        </a:lnSpc>
                        <a:spcAft>
                          <a:spcPts val="800"/>
                        </a:spcAft>
                        <a:buNone/>
                      </a:pPr>
                      <a:r>
                        <a:rPr lang="en-ID" sz="2400" b="1" kern="0">
                          <a:effectLst/>
                          <a:latin typeface="Calibri" panose="020F0502020204030204" pitchFamily="34" charset="0"/>
                          <a:ea typeface="Times New Roman" panose="02020603050405020304" pitchFamily="18" charset="0"/>
                          <a:cs typeface="Times New Roman" panose="02020603050405020304" pitchFamily="18" charset="0"/>
                        </a:rPr>
                        <a:t>1</a:t>
                      </a:r>
                      <a:endParaRPr lang="en-ID"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LO 2</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Prototype Representation</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Prototype image is clear, detailed, and effectively communicates the core concept of the product.</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Prototype is clear but lacks supporting detail or explanation.</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a:effectLst/>
                          <a:latin typeface="Calibri" panose="020F0502020204030204" pitchFamily="34" charset="0"/>
                          <a:ea typeface="Times New Roman" panose="02020603050405020304" pitchFamily="18" charset="0"/>
                          <a:cs typeface="Times New Roman" panose="02020603050405020304" pitchFamily="18" charset="0"/>
                        </a:rPr>
                        <a:t>Prototype displayed but visually incomplete or lacks clarity.</a:t>
                      </a:r>
                      <a:endParaRPr lang="en-ID"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a:effectLst/>
                          <a:latin typeface="Calibri" panose="020F0502020204030204" pitchFamily="34" charset="0"/>
                          <a:ea typeface="Times New Roman" panose="02020603050405020304" pitchFamily="18" charset="0"/>
                          <a:cs typeface="Times New Roman" panose="02020603050405020304" pitchFamily="18" charset="0"/>
                        </a:rPr>
                        <a:t>Prototype unclear or missing.</a:t>
                      </a:r>
                      <a:endParaRPr lang="en-ID"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25</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3941137"/>
                  </a:ext>
                </a:extLst>
              </a:tr>
              <a:tr h="2436314">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2</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ID"/>
                    </a:p>
                  </a:txBody>
                  <a:tcPr/>
                </a:tc>
                <a:tc>
                  <a:txBody>
                    <a:bodyPr/>
                    <a:lstStyle/>
                    <a:p>
                      <a:pPr algn="l">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Alignment Between Prototype &amp; BMC</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Strong, logical connection between prototype features and key BMC elements (value proposition, customer segments, channels, etc.).</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Clear linkage between prototype and some BMC elements, but not fully integrated.</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Partial connection; unclear how prototype supports BMC structure.</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a:effectLst/>
                          <a:latin typeface="Calibri" panose="020F0502020204030204" pitchFamily="34" charset="0"/>
                          <a:ea typeface="Times New Roman" panose="02020603050405020304" pitchFamily="18" charset="0"/>
                          <a:cs typeface="Times New Roman" panose="02020603050405020304" pitchFamily="18" charset="0"/>
                        </a:rPr>
                        <a:t>No visible relation between prototype and BMC.</a:t>
                      </a:r>
                      <a:endParaRPr lang="en-ID"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25</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7488049"/>
                  </a:ext>
                </a:extLst>
              </a:tr>
              <a:tr h="2436314">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3</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ID"/>
                    </a:p>
                  </a:txBody>
                  <a:tcPr/>
                </a:tc>
                <a:tc>
                  <a:txBody>
                    <a:bodyPr/>
                    <a:lstStyle/>
                    <a:p>
                      <a:pPr algn="l">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BMC Redevelopment (9 Building Blocks)</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a:effectLst/>
                          <a:latin typeface="Calibri" panose="020F0502020204030204" pitchFamily="34" charset="0"/>
                          <a:ea typeface="Times New Roman" panose="02020603050405020304" pitchFamily="18" charset="0"/>
                          <a:cs typeface="Times New Roman" panose="02020603050405020304" pitchFamily="18" charset="0"/>
                        </a:rPr>
                        <a:t>All 9 blocks are completed comprehensively and revised based on prototype validation results.</a:t>
                      </a:r>
                      <a:endParaRPr lang="en-ID"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Most blocks completed with partial updates and moderate reasoning.</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Several blocks incomplete or lack clear rationale for changes.</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a:effectLst/>
                          <a:latin typeface="Calibri" panose="020F0502020204030204" pitchFamily="34" charset="0"/>
                          <a:ea typeface="Times New Roman" panose="02020603050405020304" pitchFamily="18" charset="0"/>
                          <a:cs typeface="Times New Roman" panose="02020603050405020304" pitchFamily="18" charset="0"/>
                        </a:rPr>
                        <a:t>BMC incomplete or copied without meaningful revision.</a:t>
                      </a:r>
                      <a:endParaRPr lang="en-ID"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30</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714959"/>
                  </a:ext>
                </a:extLst>
              </a:tr>
              <a:tr h="2436314">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4</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en-ID"/>
                    </a:p>
                  </a:txBody>
                  <a:tcPr/>
                </a:tc>
                <a:tc>
                  <a:txBody>
                    <a:bodyPr/>
                    <a:lstStyle/>
                    <a:p>
                      <a:pPr algn="l">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Market Feedback Reflection</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a:effectLst/>
                          <a:latin typeface="Calibri" panose="020F0502020204030204" pitchFamily="34" charset="0"/>
                          <a:ea typeface="Times New Roman" panose="02020603050405020304" pitchFamily="18" charset="0"/>
                          <a:cs typeface="Times New Roman" panose="02020603050405020304" pitchFamily="18" charset="0"/>
                        </a:rPr>
                        <a:t>Includes concise and relevant reflection or data showing how user feedback informed the BMC changes.</a:t>
                      </a:r>
                      <a:endParaRPr lang="en-ID"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a:effectLst/>
                          <a:latin typeface="Calibri" panose="020F0502020204030204" pitchFamily="34" charset="0"/>
                          <a:ea typeface="Times New Roman" panose="02020603050405020304" pitchFamily="18" charset="0"/>
                          <a:cs typeface="Times New Roman" panose="02020603050405020304" pitchFamily="18" charset="0"/>
                        </a:rPr>
                        <a:t>Mentions feedback but limited explanation of how it influenced revision.</a:t>
                      </a:r>
                      <a:endParaRPr lang="en-ID" sz="24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Feedback mentioned briefly with no clear connection to BMC.</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lnSpc>
                          <a:spcPct val="115000"/>
                        </a:lnSpc>
                        <a:spcAft>
                          <a:spcPts val="800"/>
                        </a:spcAft>
                        <a:buNone/>
                      </a:pPr>
                      <a:r>
                        <a:rPr lang="en-ID" sz="2400" kern="0" dirty="0">
                          <a:effectLst/>
                          <a:latin typeface="Calibri" panose="020F0502020204030204" pitchFamily="34" charset="0"/>
                          <a:ea typeface="Times New Roman" panose="02020603050405020304" pitchFamily="18" charset="0"/>
                          <a:cs typeface="Times New Roman" panose="02020603050405020304" pitchFamily="18" charset="0"/>
                        </a:rPr>
                        <a:t>No feedback or reflection included.</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ID" sz="2400" b="1" kern="0" dirty="0">
                          <a:effectLst/>
                          <a:latin typeface="Calibri" panose="020F0502020204030204" pitchFamily="34" charset="0"/>
                          <a:ea typeface="Times New Roman" panose="02020603050405020304" pitchFamily="18" charset="0"/>
                          <a:cs typeface="Times New Roman" panose="02020603050405020304" pitchFamily="18" charset="0"/>
                        </a:rPr>
                        <a:t>20</a:t>
                      </a:r>
                      <a:endParaRPr lang="en-ID"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9430836"/>
                  </a:ext>
                </a:extLst>
              </a:tr>
            </a:tbl>
          </a:graphicData>
        </a:graphic>
      </p:graphicFrame>
      <p:sp>
        <p:nvSpPr>
          <p:cNvPr id="3" name="Rectangle 1">
            <a:extLst>
              <a:ext uri="{FF2B5EF4-FFF2-40B4-BE49-F238E27FC236}">
                <a16:creationId xmlns:a16="http://schemas.microsoft.com/office/drawing/2014/main" id="{F3EE01A2-84A6-9A38-AE8A-9AEFDB9D26EE}"/>
              </a:ext>
            </a:extLst>
          </p:cNvPr>
          <p:cNvSpPr>
            <a:spLocks noChangeArrowheads="1"/>
          </p:cNvSpPr>
          <p:nvPr/>
        </p:nvSpPr>
        <p:spPr bwMode="auto">
          <a:xfrm>
            <a:off x="8197850" y="6148388"/>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D"/>
          </a:p>
        </p:txBody>
      </p:sp>
    </p:spTree>
    <p:extLst>
      <p:ext uri="{BB962C8B-B14F-4D97-AF65-F5344CB8AC3E}">
        <p14:creationId xmlns:p14="http://schemas.microsoft.com/office/powerpoint/2010/main" val="202782605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B0FF53E-6920-7D20-7E27-CE12852171A9}"/>
              </a:ext>
            </a:extLst>
          </p:cNvPr>
          <p:cNvGraphicFramePr>
            <a:graphicFrameLocks noGrp="1"/>
          </p:cNvGraphicFramePr>
          <p:nvPr>
            <p:ph sz="quarter" idx="11"/>
            <p:extLst>
              <p:ext uri="{D42A27DB-BD31-4B8C-83A1-F6EECF244321}">
                <p14:modId xmlns:p14="http://schemas.microsoft.com/office/powerpoint/2010/main" val="444684506"/>
              </p:ext>
            </p:extLst>
          </p:nvPr>
        </p:nvGraphicFramePr>
        <p:xfrm>
          <a:off x="854139" y="3540110"/>
          <a:ext cx="22675722" cy="9663136"/>
        </p:xfrm>
        <a:graphic>
          <a:graphicData uri="http://schemas.openxmlformats.org/drawingml/2006/table">
            <a:tbl>
              <a:tblPr/>
              <a:tblGrid>
                <a:gridCol w="785475">
                  <a:extLst>
                    <a:ext uri="{9D8B030D-6E8A-4147-A177-3AD203B41FA5}">
                      <a16:colId xmlns:a16="http://schemas.microsoft.com/office/drawing/2014/main" val="4112054705"/>
                    </a:ext>
                  </a:extLst>
                </a:gridCol>
                <a:gridCol w="882869">
                  <a:extLst>
                    <a:ext uri="{9D8B030D-6E8A-4147-A177-3AD203B41FA5}">
                      <a16:colId xmlns:a16="http://schemas.microsoft.com/office/drawing/2014/main" val="3967995315"/>
                    </a:ext>
                  </a:extLst>
                </a:gridCol>
                <a:gridCol w="3554042">
                  <a:extLst>
                    <a:ext uri="{9D8B030D-6E8A-4147-A177-3AD203B41FA5}">
                      <a16:colId xmlns:a16="http://schemas.microsoft.com/office/drawing/2014/main" val="203553708"/>
                    </a:ext>
                  </a:extLst>
                </a:gridCol>
                <a:gridCol w="3960000">
                  <a:extLst>
                    <a:ext uri="{9D8B030D-6E8A-4147-A177-3AD203B41FA5}">
                      <a16:colId xmlns:a16="http://schemas.microsoft.com/office/drawing/2014/main" val="1913714201"/>
                    </a:ext>
                  </a:extLst>
                </a:gridCol>
                <a:gridCol w="3960000">
                  <a:extLst>
                    <a:ext uri="{9D8B030D-6E8A-4147-A177-3AD203B41FA5}">
                      <a16:colId xmlns:a16="http://schemas.microsoft.com/office/drawing/2014/main" val="1130029238"/>
                    </a:ext>
                  </a:extLst>
                </a:gridCol>
                <a:gridCol w="3960000">
                  <a:extLst>
                    <a:ext uri="{9D8B030D-6E8A-4147-A177-3AD203B41FA5}">
                      <a16:colId xmlns:a16="http://schemas.microsoft.com/office/drawing/2014/main" val="2394688555"/>
                    </a:ext>
                  </a:extLst>
                </a:gridCol>
                <a:gridCol w="3960000">
                  <a:extLst>
                    <a:ext uri="{9D8B030D-6E8A-4147-A177-3AD203B41FA5}">
                      <a16:colId xmlns:a16="http://schemas.microsoft.com/office/drawing/2014/main" val="1037839080"/>
                    </a:ext>
                  </a:extLst>
                </a:gridCol>
                <a:gridCol w="1613336">
                  <a:extLst>
                    <a:ext uri="{9D8B030D-6E8A-4147-A177-3AD203B41FA5}">
                      <a16:colId xmlns:a16="http://schemas.microsoft.com/office/drawing/2014/main" val="942623817"/>
                    </a:ext>
                  </a:extLst>
                </a:gridCol>
              </a:tblGrid>
              <a:tr h="0">
                <a:tc>
                  <a:txBody>
                    <a:bodyPr/>
                    <a:lstStyle/>
                    <a:p>
                      <a:pPr algn="ctr">
                        <a:buNone/>
                      </a:pPr>
                      <a:r>
                        <a:rPr lang="en-US" sz="2800" b="0" dirty="0">
                          <a:solidFill>
                            <a:schemeClr val="tx1"/>
                          </a:solidFill>
                          <a:latin typeface="Avenir Next LT Pro" panose="020B0504020202020204" pitchFamily="34" charset="0"/>
                        </a:rPr>
                        <a:t>No</a:t>
                      </a:r>
                      <a:endParaRPr lang="en-ID" sz="2800" b="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US" sz="2800" b="0" dirty="0">
                          <a:solidFill>
                            <a:schemeClr val="tx1"/>
                          </a:solidFill>
                          <a:latin typeface="Avenir Next LT Pro" panose="020B0504020202020204" pitchFamily="34" charset="0"/>
                        </a:rPr>
                        <a:t>LO</a:t>
                      </a:r>
                      <a:endParaRPr lang="en-ID" sz="2800" b="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800" b="0" dirty="0">
                          <a:solidFill>
                            <a:schemeClr val="tx1"/>
                          </a:solidFill>
                          <a:latin typeface="Avenir Next LT Pro" panose="020B0504020202020204" pitchFamily="34" charset="0"/>
                        </a:rPr>
                        <a:t>Assessment Aspect</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800" b="0" dirty="0">
                          <a:solidFill>
                            <a:schemeClr val="tx1"/>
                          </a:solidFill>
                          <a:latin typeface="Avenir Next LT Pro" panose="020B0504020202020204" pitchFamily="34" charset="0"/>
                        </a:rPr>
                        <a:t>Excellent (90–100)</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800" b="0" dirty="0">
                          <a:solidFill>
                            <a:schemeClr val="tx1"/>
                          </a:solidFill>
                          <a:latin typeface="Avenir Next LT Pro" panose="020B0504020202020204" pitchFamily="34" charset="0"/>
                        </a:rPr>
                        <a:t>Good (75–89)</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800" b="0" dirty="0">
                          <a:solidFill>
                            <a:schemeClr val="tx1"/>
                          </a:solidFill>
                          <a:latin typeface="Avenir Next LT Pro" panose="020B0504020202020204" pitchFamily="34" charset="0"/>
                        </a:rPr>
                        <a:t>Fair (60–74)</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800" b="0" dirty="0">
                          <a:solidFill>
                            <a:schemeClr val="tx1"/>
                          </a:solidFill>
                          <a:latin typeface="Avenir Next LT Pro" panose="020B0504020202020204" pitchFamily="34" charset="0"/>
                        </a:rPr>
                        <a:t>Poor (&lt;60)</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800" b="0" dirty="0">
                          <a:solidFill>
                            <a:schemeClr val="tx1"/>
                          </a:solidFill>
                          <a:latin typeface="Avenir Next LT Pro" panose="020B0504020202020204" pitchFamily="34" charset="0"/>
                        </a:rPr>
                        <a:t>Weight (%)</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4171009"/>
                  </a:ext>
                </a:extLst>
              </a:tr>
              <a:tr h="0">
                <a:tc>
                  <a:txBody>
                    <a:bodyPr/>
                    <a:lstStyle/>
                    <a:p>
                      <a:pPr algn="ctr">
                        <a:buNone/>
                      </a:pPr>
                      <a:r>
                        <a:rPr lang="en-ID" sz="2000" b="1" dirty="0">
                          <a:solidFill>
                            <a:schemeClr val="tx1"/>
                          </a:solidFill>
                          <a:latin typeface="Avenir Next LT Pro" panose="020B0504020202020204" pitchFamily="34" charset="0"/>
                        </a:rPr>
                        <a:t>1</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rowSpan="6">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ID" sz="2400" b="0" i="0" u="none" strike="noStrike" cap="none" spc="0" baseline="0" dirty="0">
                          <a:solidFill>
                            <a:schemeClr val="tx1"/>
                          </a:solidFill>
                          <a:effectLst/>
                          <a:uFillTx/>
                          <a:latin typeface="Avenir Next LT Pro" panose="020B0504020202020204" pitchFamily="34" charset="0"/>
                          <a:ea typeface="+mn-ea"/>
                          <a:cs typeface="+mn-cs"/>
                          <a:sym typeface="Helvetica Neue"/>
                        </a:rPr>
                        <a:t>LO2.</a:t>
                      </a:r>
                    </a:p>
                    <a:p>
                      <a:pPr algn="ctr">
                        <a:buNone/>
                      </a:pP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ID" sz="2000" b="0" dirty="0">
                          <a:solidFill>
                            <a:schemeClr val="tx1"/>
                          </a:solidFill>
                          <a:latin typeface="Avenir Next LT Pro" panose="020B0504020202020204" pitchFamily="34" charset="0"/>
                        </a:rPr>
                        <a:t>Problem–Solution Validation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Clearly demonstrates user testing or customer discovery with real evidence (interviews, observation, or survey results). Shows strong relevance between user problem and prototype solution.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Presents limited user testing or feedback with partial evidence of relevance to problem.</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Validation shown is mostly assumption-based with minimal data.</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No real validation shown; problem-solution connection unclear.</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000" b="1" dirty="0">
                          <a:solidFill>
                            <a:schemeClr val="tx1"/>
                          </a:solidFill>
                          <a:latin typeface="Avenir Next LT Pro" panose="020B0504020202020204" pitchFamily="34" charset="0"/>
                        </a:rPr>
                        <a:t>20</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197772"/>
                  </a:ext>
                </a:extLst>
              </a:tr>
              <a:tr h="0">
                <a:tc>
                  <a:txBody>
                    <a:bodyPr/>
                    <a:lstStyle/>
                    <a:p>
                      <a:pPr algn="ctr">
                        <a:buNone/>
                      </a:pPr>
                      <a:r>
                        <a:rPr lang="en-ID" sz="2000" b="1" dirty="0">
                          <a:solidFill>
                            <a:schemeClr val="tx1"/>
                          </a:solidFill>
                          <a:latin typeface="Avenir Next LT Pro" panose="020B0504020202020204" pitchFamily="34" charset="0"/>
                        </a:rPr>
                        <a:t>2</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vMerge="1">
                  <a:txBody>
                    <a:bodyPr/>
                    <a:lstStyle/>
                    <a:p>
                      <a:pPr algn="ctr">
                        <a:buNone/>
                      </a:pP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ID" sz="2000" b="0" dirty="0">
                          <a:solidFill>
                            <a:schemeClr val="tx1"/>
                          </a:solidFill>
                          <a:latin typeface="Avenir Next LT Pro" panose="020B0504020202020204" pitchFamily="34" charset="0"/>
                        </a:rPr>
                        <a:t>Prototype Demonstration &amp; Improvement</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Prototype is clearly demonstrated; improvement and iteration from prior feedback are visible and well explained.</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Prototype demonstrated with minor refinement based on feedback.</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Prototype shown but lacks explanation of iteration or improvement.</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Prototype unclear, not functional, or unrelated to validation.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000" b="1" dirty="0">
                          <a:solidFill>
                            <a:schemeClr val="tx1"/>
                          </a:solidFill>
                          <a:latin typeface="Avenir Next LT Pro" panose="020B0504020202020204" pitchFamily="34" charset="0"/>
                        </a:rPr>
                        <a:t>20</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3365323"/>
                  </a:ext>
                </a:extLst>
              </a:tr>
              <a:tr h="0">
                <a:tc>
                  <a:txBody>
                    <a:bodyPr/>
                    <a:lstStyle/>
                    <a:p>
                      <a:pPr algn="ctr">
                        <a:buNone/>
                      </a:pPr>
                      <a:r>
                        <a:rPr lang="en-US" sz="2000" b="1" dirty="0">
                          <a:solidFill>
                            <a:schemeClr val="tx1"/>
                          </a:solidFill>
                          <a:latin typeface="Avenir Next LT Pro" panose="020B0504020202020204" pitchFamily="34" charset="0"/>
                        </a:rPr>
                        <a:t>3</a:t>
                      </a:r>
                      <a:endParaRPr lang="en-US"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vMerge="1">
                  <a:txBody>
                    <a:bodyPr/>
                    <a:lstStyle/>
                    <a:p>
                      <a:pPr algn="ctr">
                        <a:buNone/>
                      </a:pPr>
                      <a:endParaRPr lang="en-US"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b="0" dirty="0">
                          <a:solidFill>
                            <a:schemeClr val="tx1"/>
                          </a:solidFill>
                          <a:latin typeface="Avenir Next LT Pro" panose="020B0504020202020204" pitchFamily="34" charset="0"/>
                        </a:rPr>
                        <a:t>Customer Feedback &amp; Market Reflection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Shows comprehensive feedback from users and provides a clear reflection of market response (charts, testimonials, or qualitative insights).</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Shows some feedback data with basic interpretation.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Mentions user feedback but lacks meaningful analysis or visualization.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No evidence of market feedback or reflection.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000" b="1" dirty="0">
                          <a:solidFill>
                            <a:schemeClr val="tx1"/>
                          </a:solidFill>
                          <a:latin typeface="Avenir Next LT Pro" panose="020B0504020202020204" pitchFamily="34" charset="0"/>
                        </a:rPr>
                        <a:t>20</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544831"/>
                  </a:ext>
                </a:extLst>
              </a:tr>
              <a:tr h="0">
                <a:tc>
                  <a:txBody>
                    <a:bodyPr/>
                    <a:lstStyle/>
                    <a:p>
                      <a:pPr algn="ctr">
                        <a:buNone/>
                      </a:pPr>
                      <a:r>
                        <a:rPr lang="en-US" sz="2000" b="1" dirty="0">
                          <a:solidFill>
                            <a:schemeClr val="tx1"/>
                          </a:solidFill>
                          <a:latin typeface="Avenir Next LT Pro" panose="020B0504020202020204" pitchFamily="34" charset="0"/>
                        </a:rPr>
                        <a:t>4</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vMerge="1">
                  <a:txBody>
                    <a:bodyPr/>
                    <a:lstStyle/>
                    <a:p>
                      <a:pPr algn="ctr">
                        <a:buNone/>
                      </a:pP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ID" sz="2000" b="0" dirty="0">
                          <a:solidFill>
                            <a:schemeClr val="tx1"/>
                          </a:solidFill>
                          <a:latin typeface="Avenir Next LT Pro" panose="020B0504020202020204" pitchFamily="34" charset="0"/>
                        </a:rPr>
                        <a:t>Business Potential Evaluation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a:solidFill>
                            <a:schemeClr val="tx1"/>
                          </a:solidFill>
                          <a:latin typeface="Avenir Next LT Pro" panose="020B0504020202020204" pitchFamily="34" charset="0"/>
                        </a:rPr>
                        <a:t>Logically evaluates business potential using evidence from validation (market size, traction, customer interest, or competitive advantage).</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Provides general discussion of potential with limited supporting data.</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Mentions potential superficially without supporting analysis.</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No evaluation of business potential provided.</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000" b="1" dirty="0">
                          <a:solidFill>
                            <a:schemeClr val="tx1"/>
                          </a:solidFill>
                          <a:latin typeface="Avenir Next LT Pro" panose="020B0504020202020204" pitchFamily="34" charset="0"/>
                        </a:rPr>
                        <a:t>20</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324402"/>
                  </a:ext>
                </a:extLst>
              </a:tr>
              <a:tr h="0">
                <a:tc>
                  <a:txBody>
                    <a:bodyPr/>
                    <a:lstStyle/>
                    <a:p>
                      <a:pPr algn="ctr">
                        <a:buNone/>
                      </a:pPr>
                      <a:r>
                        <a:rPr lang="en-US" sz="2000" b="1" dirty="0">
                          <a:solidFill>
                            <a:schemeClr val="tx1"/>
                          </a:solidFill>
                          <a:latin typeface="Avenir Next LT Pro" panose="020B0504020202020204" pitchFamily="34" charset="0"/>
                        </a:rPr>
                        <a:t>5</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vMerge="1">
                  <a:txBody>
                    <a:bodyPr/>
                    <a:lstStyle/>
                    <a:p>
                      <a:pPr algn="ctr">
                        <a:buNone/>
                      </a:pP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ID" sz="2000" b="0" dirty="0">
                          <a:solidFill>
                            <a:schemeClr val="tx1"/>
                          </a:solidFill>
                          <a:latin typeface="Avenir Next LT Pro" panose="020B0504020202020204" pitchFamily="34" charset="0"/>
                        </a:rPr>
                        <a:t>Presentation &amp; Communication Quality</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a:solidFill>
                            <a:schemeClr val="tx1"/>
                          </a:solidFill>
                          <a:latin typeface="Avenir Next LT Pro" panose="020B0504020202020204" pitchFamily="34" charset="0"/>
                        </a:rPr>
                        <a:t>Video is engaging, logically structured, clear in narration, visually appealing, and within time limit (3–5 mins).</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Video is clear but lacks strong flow or professional editing.</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Video understandable but disorganized or poor in sound/visual quality.</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Video unclear, incoherent, or incomplete.</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000" b="1" dirty="0">
                          <a:solidFill>
                            <a:schemeClr val="tx1"/>
                          </a:solidFill>
                          <a:latin typeface="Avenir Next LT Pro" panose="020B0504020202020204" pitchFamily="34" charset="0"/>
                        </a:rPr>
                        <a:t>10</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3190467"/>
                  </a:ext>
                </a:extLst>
              </a:tr>
              <a:tr h="0">
                <a:tc>
                  <a:txBody>
                    <a:bodyPr/>
                    <a:lstStyle/>
                    <a:p>
                      <a:pPr algn="ctr">
                        <a:buNone/>
                      </a:pPr>
                      <a:r>
                        <a:rPr lang="en-ID" sz="2000" b="1" dirty="0">
                          <a:solidFill>
                            <a:schemeClr val="tx1"/>
                          </a:solidFill>
                          <a:latin typeface="Avenir Next LT Pro" panose="020B0504020202020204" pitchFamily="34" charset="0"/>
                        </a:rPr>
                        <a:t>5</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vMerge="1">
                  <a:txBody>
                    <a:bodyPr/>
                    <a:lstStyle/>
                    <a:p>
                      <a:pPr algn="ctr">
                        <a:buNone/>
                      </a:pP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ID" sz="2000" b="0" dirty="0">
                          <a:solidFill>
                            <a:schemeClr val="tx1"/>
                          </a:solidFill>
                          <a:latin typeface="Avenir Next LT Pro" panose="020B0504020202020204" pitchFamily="34" charset="0"/>
                        </a:rPr>
                        <a:t>Teamwork &amp; Professionalism</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All members actively contribute; roles are clear; delivery is professional and collaborative.</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Most members contribute; some imbalance in participation.</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ID" sz="2000" dirty="0">
                          <a:solidFill>
                            <a:schemeClr val="tx1"/>
                          </a:solidFill>
                          <a:latin typeface="Avenir Next LT Pro" panose="020B0504020202020204" pitchFamily="34" charset="0"/>
                        </a:rPr>
                        <a:t>Limited collaboration; unclear roles.</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buNone/>
                      </a:pPr>
                      <a:r>
                        <a:rPr lang="en-US" sz="2000" dirty="0">
                          <a:solidFill>
                            <a:schemeClr val="tx1"/>
                          </a:solidFill>
                          <a:latin typeface="Avenir Next LT Pro" panose="020B0504020202020204" pitchFamily="34" charset="0"/>
                        </a:rPr>
                        <a:t>No visible teamwork or professional conduct.</a:t>
                      </a: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buNone/>
                      </a:pPr>
                      <a:r>
                        <a:rPr lang="en-ID" sz="2000" b="1" dirty="0">
                          <a:solidFill>
                            <a:schemeClr val="tx1"/>
                          </a:solidFill>
                          <a:latin typeface="Avenir Next LT Pro" panose="020B0504020202020204" pitchFamily="34" charset="0"/>
                        </a:rPr>
                        <a:t>10</a:t>
                      </a:r>
                      <a:endParaRPr lang="en-ID" sz="2000" dirty="0">
                        <a:solidFill>
                          <a:schemeClr val="tx1"/>
                        </a:solidFill>
                        <a:latin typeface="Avenir Next LT Pro" panose="020B0504020202020204" pitchFamily="34" charset="0"/>
                      </a:endParaRPr>
                    </a:p>
                  </a:txBody>
                  <a:tcPr marL="39329" marR="39329" marT="19664" marB="19664"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2368072"/>
                  </a:ext>
                </a:extLst>
              </a:tr>
            </a:tbl>
          </a:graphicData>
        </a:graphic>
      </p:graphicFrame>
      <p:sp>
        <p:nvSpPr>
          <p:cNvPr id="13" name="TextBox 12">
            <a:extLst>
              <a:ext uri="{FF2B5EF4-FFF2-40B4-BE49-F238E27FC236}">
                <a16:creationId xmlns:a16="http://schemas.microsoft.com/office/drawing/2014/main" id="{4006E2FF-7F0B-ADA9-81D1-97EFB92E3D56}"/>
              </a:ext>
            </a:extLst>
          </p:cNvPr>
          <p:cNvSpPr txBox="1"/>
          <p:nvPr/>
        </p:nvSpPr>
        <p:spPr>
          <a:xfrm>
            <a:off x="7077456" y="739295"/>
            <a:ext cx="9125712"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800" b="0" i="0" u="none" strike="noStrike" cap="none" spc="0" normalizeH="0" baseline="0" dirty="0">
                <a:ln>
                  <a:noFill/>
                </a:ln>
                <a:solidFill>
                  <a:srgbClr val="0090D4"/>
                </a:solidFill>
                <a:effectLst/>
                <a:uFillTx/>
                <a:latin typeface="Georgia" panose="02040502050405020303" pitchFamily="18" charset="0"/>
                <a:sym typeface="Helvetica Neue"/>
              </a:rPr>
              <a:t>Rubric Assignment II</a:t>
            </a:r>
          </a:p>
          <a:p>
            <a:pPr marL="0" marR="0" indent="0" algn="ctr" defTabSz="2438338" rtl="0" fontAlgn="auto" latinLnBrk="0" hangingPunct="0">
              <a:lnSpc>
                <a:spcPct val="100000"/>
              </a:lnSpc>
              <a:spcBef>
                <a:spcPts val="0"/>
              </a:spcBef>
              <a:spcAft>
                <a:spcPts val="0"/>
              </a:spcAft>
              <a:buClrTx/>
              <a:buSzTx/>
              <a:buFontTx/>
              <a:buNone/>
              <a:tabLst/>
            </a:pPr>
            <a:r>
              <a:rPr lang="en-US" sz="4800" dirty="0">
                <a:solidFill>
                  <a:srgbClr val="0090D4"/>
                </a:solidFill>
                <a:latin typeface="Georgia" panose="02040502050405020303" pitchFamily="18" charset="0"/>
              </a:rPr>
              <a:t>Business Showcase Video Report</a:t>
            </a:r>
            <a:endParaRPr kumimoji="0" lang="en-ID" sz="4800" b="0" i="0" u="none" strike="noStrike" cap="none" spc="0" normalizeH="0" baseline="0" dirty="0">
              <a:ln>
                <a:noFill/>
              </a:ln>
              <a:solidFill>
                <a:srgbClr val="0090D4"/>
              </a:solidFill>
              <a:effectLst/>
              <a:uFillTx/>
              <a:latin typeface="Georgia" panose="02040502050405020303" pitchFamily="18" charset="0"/>
              <a:sym typeface="Helvetica Neue"/>
            </a:endParaRPr>
          </a:p>
        </p:txBody>
      </p:sp>
    </p:spTree>
    <p:extLst>
      <p:ext uri="{BB962C8B-B14F-4D97-AF65-F5344CB8AC3E}">
        <p14:creationId xmlns:p14="http://schemas.microsoft.com/office/powerpoint/2010/main" val="29869316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49F0402-E237-314A-4711-D0C7A8F7CBFF}"/>
              </a:ext>
            </a:extLst>
          </p:cNvPr>
          <p:cNvSpPr txBox="1"/>
          <p:nvPr/>
        </p:nvSpPr>
        <p:spPr>
          <a:xfrm>
            <a:off x="7504386" y="739295"/>
            <a:ext cx="8544911"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800" b="0" i="0" u="none" strike="noStrike" cap="none" spc="0" normalizeH="0" baseline="0" dirty="0">
                <a:ln>
                  <a:noFill/>
                </a:ln>
                <a:solidFill>
                  <a:srgbClr val="0090D4"/>
                </a:solidFill>
                <a:effectLst/>
                <a:uFillTx/>
                <a:latin typeface="Georgia" panose="02040502050405020303" pitchFamily="18" charset="0"/>
                <a:sym typeface="Helvetica Neue"/>
              </a:rPr>
              <a:t>FINAL PROJECT </a:t>
            </a:r>
          </a:p>
          <a:p>
            <a:pPr marL="0" marR="0" indent="0" algn="ctr" defTabSz="2438338" rtl="0" fontAlgn="auto" latinLnBrk="0" hangingPunct="0">
              <a:lnSpc>
                <a:spcPct val="100000"/>
              </a:lnSpc>
              <a:spcBef>
                <a:spcPts val="0"/>
              </a:spcBef>
              <a:spcAft>
                <a:spcPts val="0"/>
              </a:spcAft>
              <a:buClrTx/>
              <a:buSzTx/>
              <a:buFontTx/>
              <a:buNone/>
              <a:tabLst/>
            </a:pPr>
            <a:r>
              <a:rPr lang="en-US" sz="4800" dirty="0">
                <a:solidFill>
                  <a:srgbClr val="0090D4"/>
                </a:solidFill>
                <a:latin typeface="Georgia" panose="02040502050405020303" pitchFamily="18" charset="0"/>
              </a:rPr>
              <a:t>Business </a:t>
            </a:r>
            <a:r>
              <a:rPr lang="en-US" sz="4800">
                <a:solidFill>
                  <a:srgbClr val="0090D4"/>
                </a:solidFill>
                <a:latin typeface="Georgia" panose="02040502050405020303" pitchFamily="18" charset="0"/>
              </a:rPr>
              <a:t>Report (40</a:t>
            </a:r>
            <a:r>
              <a:rPr kumimoji="0" lang="en-US" sz="4800" b="0" i="0" u="none" strike="noStrike" cap="none" spc="0" normalizeH="0" baseline="0">
                <a:ln>
                  <a:noFill/>
                </a:ln>
                <a:solidFill>
                  <a:srgbClr val="0090D4"/>
                </a:solidFill>
                <a:effectLst/>
                <a:uFillTx/>
                <a:latin typeface="Georgia" panose="02040502050405020303" pitchFamily="18" charset="0"/>
                <a:sym typeface="Helvetica Neue"/>
              </a:rPr>
              <a:t>%)</a:t>
            </a:r>
            <a:endParaRPr kumimoji="0" lang="en-ID" sz="4800" b="0" i="0" u="none" strike="noStrike" cap="none" spc="0" normalizeH="0" baseline="0" dirty="0">
              <a:ln>
                <a:noFill/>
              </a:ln>
              <a:solidFill>
                <a:srgbClr val="0090D4"/>
              </a:solidFill>
              <a:effectLst/>
              <a:uFillTx/>
              <a:latin typeface="Georgia" panose="02040502050405020303" pitchFamily="18" charset="0"/>
              <a:sym typeface="Helvetica Neue"/>
            </a:endParaRPr>
          </a:p>
        </p:txBody>
      </p:sp>
      <p:sp>
        <p:nvSpPr>
          <p:cNvPr id="11" name="TextBox 10">
            <a:extLst>
              <a:ext uri="{FF2B5EF4-FFF2-40B4-BE49-F238E27FC236}">
                <a16:creationId xmlns:a16="http://schemas.microsoft.com/office/drawing/2014/main" id="{F57A88C1-F25E-14E7-0698-AC2396B75936}"/>
              </a:ext>
            </a:extLst>
          </p:cNvPr>
          <p:cNvSpPr txBox="1"/>
          <p:nvPr/>
        </p:nvSpPr>
        <p:spPr>
          <a:xfrm>
            <a:off x="924910" y="10278249"/>
            <a:ext cx="23459090"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endParaRPr lang="en-ID" b="1" dirty="0">
              <a:effectLst>
                <a:outerShdw blurRad="38100" dist="38100" dir="2700000" algn="tl">
                  <a:srgbClr val="000000">
                    <a:alpha val="43137"/>
                  </a:srgbClr>
                </a:outerShdw>
              </a:effectLst>
              <a:latin typeface="Avenir Next LT Pro" panose="020B0504020202020204" pitchFamily="34" charset="0"/>
            </a:endParaRPr>
          </a:p>
          <a:p>
            <a:pPr algn="l"/>
            <a:r>
              <a:rPr lang="en-ID" b="1" dirty="0">
                <a:effectLst>
                  <a:outerShdw blurRad="38100" dist="38100" dir="2700000" algn="tl">
                    <a:srgbClr val="000000">
                      <a:alpha val="43137"/>
                    </a:srgbClr>
                  </a:outerShdw>
                </a:effectLst>
                <a:latin typeface="Avenir Next LT Pro" panose="020B0504020202020204" pitchFamily="34" charset="0"/>
              </a:rPr>
              <a:t>Prepare a Business Report, summarizing your startup development journey:</a:t>
            </a:r>
            <a:endParaRPr lang="en-ID" sz="4000" b="1" dirty="0">
              <a:effectLst>
                <a:outerShdw blurRad="38100" dist="38100" dir="2700000" algn="tl">
                  <a:srgbClr val="000000">
                    <a:alpha val="43137"/>
                  </a:srgbClr>
                </a:outerShdw>
              </a:effectLst>
              <a:latin typeface="Avenir Next LT Pro" panose="020B0504020202020204" pitchFamily="34" charset="0"/>
            </a:endParaRPr>
          </a:p>
          <a:p>
            <a:pPr marL="571500" indent="-571500" algn="l">
              <a:buFont typeface="Arial" panose="020B0604020202020204" pitchFamily="34" charset="0"/>
              <a:buChar char="•"/>
            </a:pPr>
            <a:r>
              <a:rPr lang="en-ID" dirty="0">
                <a:latin typeface="Avenir Next LT Pro" panose="020B0504020202020204" pitchFamily="34" charset="0"/>
              </a:rPr>
              <a:t>Market validation &amp; traction evidence</a:t>
            </a:r>
          </a:p>
          <a:p>
            <a:pPr marL="571500" indent="-571500" algn="l">
              <a:buFont typeface="Arial" panose="020B0604020202020204" pitchFamily="34" charset="0"/>
              <a:buChar char="•"/>
            </a:pPr>
            <a:r>
              <a:rPr lang="en-ID" dirty="0">
                <a:latin typeface="Avenir Next LT Pro" panose="020B0504020202020204" pitchFamily="34" charset="0"/>
              </a:rPr>
              <a:t>Submission format :Individual </a:t>
            </a:r>
          </a:p>
          <a:p>
            <a:pPr marL="571500" indent="-571500" algn="l">
              <a:buFont typeface="Arial" panose="020B0604020202020204" pitchFamily="34" charset="0"/>
              <a:buChar char="•"/>
            </a:pPr>
            <a:r>
              <a:rPr lang="en-ID" dirty="0">
                <a:latin typeface="Avenir Next LT Pro" panose="020B0504020202020204" pitchFamily="34" charset="0"/>
              </a:rPr>
              <a:t>File format: PDF (Business Report)</a:t>
            </a:r>
          </a:p>
          <a:p>
            <a:pPr marL="571500" indent="-571500" algn="l">
              <a:buFont typeface="Arial" panose="020B0604020202020204" pitchFamily="34" charset="0"/>
              <a:buChar char="•"/>
            </a:pPr>
            <a:r>
              <a:rPr lang="en-ID" dirty="0">
                <a:latin typeface="Avenir Next LT Pro" panose="020B0504020202020204" pitchFamily="34" charset="0"/>
              </a:rPr>
              <a:t>Business Report Design: Creative and DIY</a:t>
            </a:r>
          </a:p>
        </p:txBody>
      </p:sp>
      <p:sp>
        <p:nvSpPr>
          <p:cNvPr id="3" name="TextBox 2">
            <a:extLst>
              <a:ext uri="{FF2B5EF4-FFF2-40B4-BE49-F238E27FC236}">
                <a16:creationId xmlns:a16="http://schemas.microsoft.com/office/drawing/2014/main" id="{2A4AA76A-CCE4-4C02-1D71-6AB7FD409E96}"/>
              </a:ext>
            </a:extLst>
          </p:cNvPr>
          <p:cNvSpPr txBox="1"/>
          <p:nvPr/>
        </p:nvSpPr>
        <p:spPr>
          <a:xfrm>
            <a:off x="924910" y="3784164"/>
            <a:ext cx="19234420" cy="6494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511175" indent="-457200" algn="l">
              <a:buFont typeface="+mj-lt"/>
              <a:buAutoNum type="arabicPeriod"/>
            </a:pPr>
            <a:r>
              <a:rPr lang="en-US" sz="3200" dirty="0">
                <a:latin typeface="Avenir Next LT Pro" panose="020B0504020202020204" pitchFamily="34" charset="77"/>
              </a:rPr>
              <a:t>Cover : Team Name, Student Number, Binus Logo, Class Code, Lecturer Name; Lecturer Code</a:t>
            </a:r>
          </a:p>
          <a:p>
            <a:pPr marL="511175" indent="-457200" algn="l">
              <a:buFont typeface="+mj-lt"/>
              <a:buAutoNum type="arabicPeriod"/>
            </a:pPr>
            <a:r>
              <a:rPr lang="en-US" sz="3200" dirty="0" err="1">
                <a:latin typeface="Avenir Next LT Pro" panose="020B0504020202020204" pitchFamily="34" charset="77"/>
              </a:rPr>
              <a:t>PitchDeck</a:t>
            </a:r>
            <a:r>
              <a:rPr lang="en-US" sz="3200" dirty="0">
                <a:latin typeface="Avenir Next LT Pro" panose="020B0504020202020204" pitchFamily="34" charset="77"/>
              </a:rPr>
              <a:t> Structure </a:t>
            </a:r>
          </a:p>
          <a:p>
            <a:pPr marL="1214438" indent="-350838" algn="l">
              <a:buFont typeface="Wingdings" pitchFamily="2" charset="2"/>
              <a:buChar char="Ø"/>
            </a:pPr>
            <a:r>
              <a:rPr lang="en-US" sz="3200" dirty="0">
                <a:latin typeface="Avenir Next LT Pro" panose="020B0504020202020204" pitchFamily="34" charset="77"/>
              </a:rPr>
              <a:t>Title &amp; Problem Statement – What problem are you solving?</a:t>
            </a:r>
          </a:p>
          <a:p>
            <a:pPr marL="1214438" indent="-350838" algn="l">
              <a:buFont typeface="Wingdings" pitchFamily="2" charset="2"/>
              <a:buChar char="Ø"/>
            </a:pPr>
            <a:r>
              <a:rPr lang="en-US" sz="3200" dirty="0">
                <a:latin typeface="Avenir Next LT Pro" panose="020B0504020202020204" pitchFamily="34" charset="77"/>
              </a:rPr>
              <a:t>Solution / Product Idea – What’s your innovative offer? – Feedback Grid</a:t>
            </a:r>
          </a:p>
          <a:p>
            <a:pPr marL="1214438" indent="-350838" algn="l">
              <a:buFont typeface="Wingdings" pitchFamily="2" charset="2"/>
              <a:buChar char="Ø"/>
            </a:pPr>
            <a:r>
              <a:rPr lang="en-US" sz="3200" dirty="0">
                <a:latin typeface="Avenir Next LT Pro" panose="020B0504020202020204" pitchFamily="34" charset="77"/>
              </a:rPr>
              <a:t>Market Size– TAM, SAM, SOM.</a:t>
            </a:r>
          </a:p>
          <a:p>
            <a:pPr marL="1214438" indent="-350838" algn="l">
              <a:buFont typeface="Wingdings" pitchFamily="2" charset="2"/>
              <a:buChar char="Ø"/>
            </a:pPr>
            <a:r>
              <a:rPr lang="en-US" sz="3200" dirty="0">
                <a:latin typeface="Avenir Next LT Pro" panose="020B0504020202020204" pitchFamily="34" charset="77"/>
              </a:rPr>
              <a:t>Business Model – BMC</a:t>
            </a:r>
          </a:p>
          <a:p>
            <a:pPr marL="1214438" indent="-350838" algn="l">
              <a:buFont typeface="Wingdings" pitchFamily="2" charset="2"/>
              <a:buChar char="Ø"/>
            </a:pPr>
            <a:r>
              <a:rPr lang="en-US" sz="3200" dirty="0">
                <a:latin typeface="Avenir Next LT Pro" panose="020B0504020202020204" pitchFamily="34" charset="77"/>
              </a:rPr>
              <a:t>Marketing Strategy – How will you reach customers?</a:t>
            </a:r>
          </a:p>
          <a:p>
            <a:pPr marL="1214438" indent="-350838" algn="l">
              <a:buFont typeface="Wingdings" pitchFamily="2" charset="2"/>
              <a:buChar char="Ø"/>
            </a:pPr>
            <a:r>
              <a:rPr lang="en-US" sz="3200" dirty="0">
                <a:latin typeface="Avenir Next LT Pro" panose="020B0504020202020204" pitchFamily="34" charset="77"/>
              </a:rPr>
              <a:t>Financials – COGS - Include revenue, cost, and BEP analysis.</a:t>
            </a:r>
          </a:p>
          <a:p>
            <a:pPr marL="1214438" indent="-350838" algn="l">
              <a:buFont typeface="Wingdings" pitchFamily="2" charset="2"/>
              <a:buChar char="Ø"/>
            </a:pPr>
            <a:r>
              <a:rPr lang="en-US" sz="3200" dirty="0">
                <a:latin typeface="Avenir Next LT Pro" panose="020B0504020202020204" pitchFamily="34" charset="77"/>
              </a:rPr>
              <a:t>Team &amp; Roles – Who is behind this project?</a:t>
            </a:r>
          </a:p>
          <a:p>
            <a:pPr marL="1214438" indent="-350838" algn="l">
              <a:buFont typeface="Wingdings" pitchFamily="2" charset="2"/>
              <a:buChar char="Ø"/>
            </a:pPr>
            <a:r>
              <a:rPr lang="en-US" sz="3200" dirty="0">
                <a:latin typeface="Avenir Next LT Pro" panose="020B0504020202020204" pitchFamily="34" charset="77"/>
              </a:rPr>
              <a:t>Closing / Call to Action – Why should we invest in you?</a:t>
            </a:r>
          </a:p>
          <a:p>
            <a:pPr marL="568325" indent="-514350" algn="l">
              <a:buAutoNum type="arabicPeriod" startAt="3"/>
            </a:pPr>
            <a:r>
              <a:rPr lang="en-US" sz="3200" dirty="0">
                <a:latin typeface="Avenir Next LT Pro" panose="020B0504020202020204" pitchFamily="34" charset="77"/>
              </a:rPr>
              <a:t>Binus Festival Documentation (Foto &amp; Video link)</a:t>
            </a:r>
          </a:p>
          <a:p>
            <a:pPr marL="568325" indent="-514350" algn="l">
              <a:buAutoNum type="arabicPeriod" startAt="3"/>
            </a:pPr>
            <a:r>
              <a:rPr lang="en-US" sz="3200" dirty="0">
                <a:latin typeface="Avenir Next LT Pro" panose="020B0504020202020204" pitchFamily="34" charset="77"/>
              </a:rPr>
              <a:t>Intellectual Property Plan</a:t>
            </a:r>
          </a:p>
          <a:p>
            <a:pPr marL="568325" indent="-514350" algn="l">
              <a:buAutoNum type="arabicPeriod" startAt="3"/>
            </a:pPr>
            <a:r>
              <a:rPr lang="en-US" sz="3200" dirty="0">
                <a:latin typeface="Avenir Next LT Pro" panose="020B0504020202020204" pitchFamily="34" charset="77"/>
              </a:rPr>
              <a:t>Market Validation Reflection</a:t>
            </a:r>
          </a:p>
        </p:txBody>
      </p:sp>
    </p:spTree>
    <p:extLst>
      <p:ext uri="{BB962C8B-B14F-4D97-AF65-F5344CB8AC3E}">
        <p14:creationId xmlns:p14="http://schemas.microsoft.com/office/powerpoint/2010/main" val="205723281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EBECFF-334C-A0FC-7BE1-7C9BC916326D}"/>
              </a:ext>
            </a:extLst>
          </p:cNvPr>
          <p:cNvSpPr txBox="1"/>
          <p:nvPr/>
        </p:nvSpPr>
        <p:spPr>
          <a:xfrm>
            <a:off x="6239069" y="884980"/>
            <a:ext cx="12192000" cy="14465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4400" b="0" i="0" u="none" strike="noStrike" cap="none" spc="0" normalizeH="0" baseline="0" dirty="0">
                <a:ln>
                  <a:noFill/>
                </a:ln>
                <a:solidFill>
                  <a:srgbClr val="0090D4"/>
                </a:solidFill>
                <a:effectLst/>
                <a:uFillTx/>
                <a:latin typeface="Georgia" panose="02040502050405020303" pitchFamily="18" charset="0"/>
                <a:sym typeface="Helvetica Neue"/>
              </a:rPr>
              <a:t>Rubric Final Project</a:t>
            </a:r>
          </a:p>
          <a:p>
            <a:r>
              <a:rPr lang="en-US" sz="4400" dirty="0">
                <a:solidFill>
                  <a:srgbClr val="0090D4"/>
                </a:solidFill>
                <a:latin typeface="Georgia" panose="02040502050405020303" pitchFamily="18" charset="0"/>
              </a:rPr>
              <a:t>Business Report </a:t>
            </a:r>
            <a:endParaRPr lang="en-US" sz="4400" dirty="0"/>
          </a:p>
        </p:txBody>
      </p:sp>
      <p:graphicFrame>
        <p:nvGraphicFramePr>
          <p:cNvPr id="2" name="Table 1">
            <a:extLst>
              <a:ext uri="{FF2B5EF4-FFF2-40B4-BE49-F238E27FC236}">
                <a16:creationId xmlns:a16="http://schemas.microsoft.com/office/drawing/2014/main" id="{47EBB70E-F34D-4393-E9FB-363FEC22B4D2}"/>
              </a:ext>
            </a:extLst>
          </p:cNvPr>
          <p:cNvGraphicFramePr>
            <a:graphicFrameLocks noGrp="1"/>
          </p:cNvGraphicFramePr>
          <p:nvPr>
            <p:extLst>
              <p:ext uri="{D42A27DB-BD31-4B8C-83A1-F6EECF244321}">
                <p14:modId xmlns:p14="http://schemas.microsoft.com/office/powerpoint/2010/main" val="2471509982"/>
              </p:ext>
            </p:extLst>
          </p:nvPr>
        </p:nvGraphicFramePr>
        <p:xfrm>
          <a:off x="772632" y="2451663"/>
          <a:ext cx="22838735" cy="11264337"/>
        </p:xfrm>
        <a:graphic>
          <a:graphicData uri="http://schemas.openxmlformats.org/drawingml/2006/table">
            <a:tbl>
              <a:tblPr firstRow="1" firstCol="1" bandRow="1">
                <a:tableStyleId>{5940675A-B579-460E-94D1-54222C63F5DA}</a:tableStyleId>
              </a:tblPr>
              <a:tblGrid>
                <a:gridCol w="861215">
                  <a:extLst>
                    <a:ext uri="{9D8B030D-6E8A-4147-A177-3AD203B41FA5}">
                      <a16:colId xmlns:a16="http://schemas.microsoft.com/office/drawing/2014/main" val="3569084993"/>
                    </a:ext>
                  </a:extLst>
                </a:gridCol>
                <a:gridCol w="861215">
                  <a:extLst>
                    <a:ext uri="{9D8B030D-6E8A-4147-A177-3AD203B41FA5}">
                      <a16:colId xmlns:a16="http://schemas.microsoft.com/office/drawing/2014/main" val="656755190"/>
                    </a:ext>
                  </a:extLst>
                </a:gridCol>
                <a:gridCol w="4444455">
                  <a:extLst>
                    <a:ext uri="{9D8B030D-6E8A-4147-A177-3AD203B41FA5}">
                      <a16:colId xmlns:a16="http://schemas.microsoft.com/office/drawing/2014/main" val="2677240808"/>
                    </a:ext>
                  </a:extLst>
                </a:gridCol>
                <a:gridCol w="5467036">
                  <a:extLst>
                    <a:ext uri="{9D8B030D-6E8A-4147-A177-3AD203B41FA5}">
                      <a16:colId xmlns:a16="http://schemas.microsoft.com/office/drawing/2014/main" val="2556456374"/>
                    </a:ext>
                  </a:extLst>
                </a:gridCol>
                <a:gridCol w="3372847">
                  <a:extLst>
                    <a:ext uri="{9D8B030D-6E8A-4147-A177-3AD203B41FA5}">
                      <a16:colId xmlns:a16="http://schemas.microsoft.com/office/drawing/2014/main" val="1616658062"/>
                    </a:ext>
                  </a:extLst>
                </a:gridCol>
                <a:gridCol w="3432862">
                  <a:extLst>
                    <a:ext uri="{9D8B030D-6E8A-4147-A177-3AD203B41FA5}">
                      <a16:colId xmlns:a16="http://schemas.microsoft.com/office/drawing/2014/main" val="1648502425"/>
                    </a:ext>
                  </a:extLst>
                </a:gridCol>
                <a:gridCol w="3224310">
                  <a:extLst>
                    <a:ext uri="{9D8B030D-6E8A-4147-A177-3AD203B41FA5}">
                      <a16:colId xmlns:a16="http://schemas.microsoft.com/office/drawing/2014/main" val="3174304505"/>
                    </a:ext>
                  </a:extLst>
                </a:gridCol>
                <a:gridCol w="1174795">
                  <a:extLst>
                    <a:ext uri="{9D8B030D-6E8A-4147-A177-3AD203B41FA5}">
                      <a16:colId xmlns:a16="http://schemas.microsoft.com/office/drawing/2014/main" val="201809106"/>
                    </a:ext>
                  </a:extLst>
                </a:gridCol>
              </a:tblGrid>
              <a:tr h="575387">
                <a:tc>
                  <a:txBody>
                    <a:bodyPr/>
                    <a:lstStyle/>
                    <a:p>
                      <a:pPr marL="0" marR="0" algn="ctr">
                        <a:buNone/>
                      </a:pPr>
                      <a:r>
                        <a:rPr lang="en-ID" sz="1800" dirty="0">
                          <a:effectLst/>
                        </a:rPr>
                        <a:t>NO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ID" sz="1800" dirty="0">
                          <a:effectLst/>
                        </a:rPr>
                        <a:t>LO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ID" sz="1800" dirty="0">
                          <a:effectLst/>
                        </a:rPr>
                        <a:t>Assessment Criteria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Excellent (85–100)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Good (70–84)</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Fair (55–69)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Poor (&lt;55)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Weight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865330198"/>
                  </a:ext>
                </a:extLst>
              </a:tr>
              <a:tr h="1130676">
                <a:tc>
                  <a:txBody>
                    <a:bodyPr/>
                    <a:lstStyle/>
                    <a:p>
                      <a:pPr marL="0" marR="0" algn="ctr">
                        <a:buNone/>
                      </a:pPr>
                      <a:r>
                        <a:rPr lang="en-US" sz="1800">
                          <a:effectLst/>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dirty="0">
                          <a:effectLst/>
                        </a:rPr>
                        <a:t>Introduction &amp; Team Setup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Clear, engaging introduction with strong motivation and clearly defined team roles; demonstrates collaboration and sustainability mindset.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2171" marR="72171" marT="36086" marB="36086" anchor="ctr"/>
                </a:tc>
                <a:tc>
                  <a:txBody>
                    <a:bodyPr/>
                    <a:lstStyle/>
                    <a:p>
                      <a:pPr marL="0" marR="0" algn="l">
                        <a:buNone/>
                      </a:pPr>
                      <a:r>
                        <a:rPr lang="en-US" sz="1800">
                          <a:effectLst/>
                        </a:rPr>
                        <a:t>Clear introduction with some motivation and defined roles.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2171" marR="72171" marT="36086" marB="36086" anchor="ctr"/>
                </a:tc>
                <a:tc>
                  <a:txBody>
                    <a:bodyPr/>
                    <a:lstStyle/>
                    <a:p>
                      <a:pPr marL="0" marR="0" algn="l">
                        <a:buNone/>
                      </a:pPr>
                      <a:r>
                        <a:rPr lang="en-US" sz="1800">
                          <a:effectLst/>
                        </a:rPr>
                        <a:t>Adequate introduction, but motivation or roles lack detail.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2171" marR="72171" marT="36086" marB="36086" anchor="ctr"/>
                </a:tc>
                <a:tc>
                  <a:txBody>
                    <a:bodyPr/>
                    <a:lstStyle/>
                    <a:p>
                      <a:pPr marL="0" marR="0" algn="l">
                        <a:buNone/>
                      </a:pPr>
                      <a:r>
                        <a:rPr lang="en-US" sz="1800">
                          <a:effectLst/>
                        </a:rPr>
                        <a:t>Weak or missing introduction; unclear team structure.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2171" marR="72171" marT="36086" marB="36086" anchor="ctr"/>
                </a:tc>
                <a:tc>
                  <a:txBody>
                    <a:bodyPr/>
                    <a:lstStyle/>
                    <a:p>
                      <a:pPr marL="0" marR="0" algn="ctr">
                        <a:buNone/>
                      </a:pPr>
                      <a:r>
                        <a:rPr lang="en-US" sz="1800">
                          <a:effectLst/>
                        </a:rPr>
                        <a:t>15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1912148017"/>
                  </a:ext>
                </a:extLst>
              </a:tr>
              <a:tr h="965245">
                <a:tc>
                  <a:txBody>
                    <a:bodyPr/>
                    <a:lstStyle/>
                    <a:p>
                      <a:pPr marL="0" marR="0" algn="ctr">
                        <a:buNone/>
                      </a:pPr>
                      <a:r>
                        <a:rPr lang="en-US" sz="1800">
                          <a:effectLst/>
                        </a:rPr>
                        <a:t>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dirty="0">
                          <a:effectLst/>
                        </a:rPr>
                        <a:t>Opportunity Recognition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Clearly identifies a significant sustainability problem/trend; value proposition is innovative and impactful.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Identifies a relevant problem/trend; value proposition is logical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Problem/trend identified but lacks depth or sustainability focus.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Problem/trend vague; little or no value proposition.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15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825096318"/>
                  </a:ext>
                </a:extLst>
              </a:tr>
              <a:tr h="1075435">
                <a:tc>
                  <a:txBody>
                    <a:bodyPr/>
                    <a:lstStyle/>
                    <a:p>
                      <a:pPr marL="0" marR="0" algn="ctr">
                        <a:buNone/>
                      </a:pPr>
                      <a:r>
                        <a:rPr lang="en-US" sz="1800">
                          <a:effectLst/>
                        </a:rPr>
                        <a:t>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a:effectLst/>
                        </a:rPr>
                        <a:t>Business Model Canvas (BMC) Redevelopment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Creates a comprehensive, coherent, and professional report integrating sustainability and innovation seamlessly.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Creates a clear and complete report with some integration of sustainability and innovative ideas..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Creates a basic report with partial structure or limited sustainability focus.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Creates an incomplete or poorly organized report lacking sustainability focus.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15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3242537334"/>
                  </a:ext>
                </a:extLst>
              </a:tr>
              <a:tr h="1075435">
                <a:tc>
                  <a:txBody>
                    <a:bodyPr/>
                    <a:lstStyle/>
                    <a:p>
                      <a:pPr marL="0" marR="0" algn="ctr">
                        <a:buNone/>
                      </a:pPr>
                      <a:r>
                        <a:rPr lang="en-US" sz="1800">
                          <a:effectLst/>
                        </a:rPr>
                        <a:t>4</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a:effectLst/>
                        </a:rPr>
                        <a:t>Digital Marketing</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Creates content professionally on Newbisanara and one social media platform that reflects sustainability values, branding, and engagement results.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Creates content effectively with moderate engagement and clear branding..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Creates content with basic visuals or limited sustainability focus.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Creates content that lacks clarity, consistency, or engagement.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15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3797718181"/>
                  </a:ext>
                </a:extLst>
              </a:tr>
              <a:tr h="265224">
                <a:tc>
                  <a:txBody>
                    <a:bodyPr/>
                    <a:lstStyle/>
                    <a:p>
                      <a:pPr marL="0" marR="0" algn="ctr">
                        <a:buNone/>
                      </a:pPr>
                      <a:r>
                        <a:rPr lang="en-US" sz="1800">
                          <a:effectLst/>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rowSpan="2">
                  <a:txBody>
                    <a:bodyPr/>
                    <a:lstStyle/>
                    <a:p>
                      <a:pPr marL="0" marR="0" algn="l">
                        <a:buNone/>
                      </a:pPr>
                      <a:r>
                        <a:rPr lang="en-US" sz="1800">
                          <a:effectLst/>
                        </a:rPr>
                        <a:t>Validation (BINUS Festival + Complete Documentation)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rowSpan="2">
                  <a:txBody>
                    <a:bodyPr/>
                    <a:lstStyle/>
                    <a:p>
                      <a:pPr marL="0" marR="0" algn="l">
                        <a:buNone/>
                      </a:pPr>
                      <a:r>
                        <a:rPr lang="en-US" sz="1800" dirty="0">
                          <a:effectLst/>
                        </a:rPr>
                        <a:t>Presents validation confidently at BINUS Festival with complete documentation (photos, videos, feedback, reports).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rowSpan="2">
                  <a:txBody>
                    <a:bodyPr/>
                    <a:lstStyle/>
                    <a:p>
                      <a:pPr marL="0" marR="0" algn="l">
                        <a:buNone/>
                      </a:pPr>
                      <a:r>
                        <a:rPr lang="en-US" sz="1800" dirty="0">
                          <a:effectLst/>
                        </a:rPr>
                        <a:t>Presents validation with partial documentation and moderate clarity.</a:t>
                      </a:r>
                      <a:r>
                        <a:rPr lang="en-ID" sz="1800" dirty="0">
                          <a:effectLst/>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rowSpan="2">
                  <a:txBody>
                    <a:bodyPr/>
                    <a:lstStyle/>
                    <a:p>
                      <a:pPr marL="0" marR="0" algn="l">
                        <a:buNone/>
                      </a:pPr>
                      <a:r>
                        <a:rPr lang="en-US" sz="1800">
                          <a:effectLst/>
                        </a:rPr>
                        <a:t>Presents limited validation with weak supporting evidence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rowSpan="2">
                  <a:txBody>
                    <a:bodyPr/>
                    <a:lstStyle/>
                    <a:p>
                      <a:pPr marL="0" marR="0" algn="l">
                        <a:buNone/>
                      </a:pPr>
                      <a:r>
                        <a:rPr lang="en-US" sz="1800">
                          <a:effectLst/>
                        </a:rPr>
                        <a:t>Fails to present or document validation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rowSpan="2">
                  <a:txBody>
                    <a:bodyPr/>
                    <a:lstStyle/>
                    <a:p>
                      <a:pPr marL="0" marR="0" algn="ctr">
                        <a:buNone/>
                      </a:pPr>
                      <a:r>
                        <a:rPr lang="en-ID" sz="1800">
                          <a:effectLst/>
                        </a:rPr>
                        <a:t>15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1840285273"/>
                  </a:ext>
                </a:extLst>
              </a:tr>
              <a:tr h="766375">
                <a:tc>
                  <a:txBody>
                    <a:bodyPr/>
                    <a:lstStyle/>
                    <a:p>
                      <a:pPr marL="0" marR="0" algn="ctr">
                        <a:buNone/>
                      </a:pPr>
                      <a:r>
                        <a:rPr lang="en-US" sz="1800">
                          <a:effectLst/>
                        </a:rPr>
                        <a:t>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341408347"/>
                  </a:ext>
                </a:extLst>
              </a:tr>
              <a:tr h="916740">
                <a:tc>
                  <a:txBody>
                    <a:bodyPr/>
                    <a:lstStyle/>
                    <a:p>
                      <a:pPr marL="0" marR="0" algn="ctr">
                        <a:buNone/>
                      </a:pPr>
                      <a:r>
                        <a:rPr lang="en-US" sz="1800">
                          <a:effectLst/>
                        </a:rPr>
                        <a:t>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a:effectLst/>
                        </a:rPr>
                        <a:t>Ethics &amp; Legal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Applies ethical and legal frameworks effectively in planning sustainable and compliant business operations.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Applies most ethical and legal principles appropriately.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Applies basic or limited ethical awareness.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Fails to apply ethical or legal considerations.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US" sz="1800">
                          <a:effectLst/>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1852534718"/>
                  </a:ext>
                </a:extLst>
              </a:tr>
              <a:tr h="760918">
                <a:tc>
                  <a:txBody>
                    <a:bodyPr/>
                    <a:lstStyle/>
                    <a:p>
                      <a:pPr marL="0" marR="0" algn="ctr">
                        <a:buNone/>
                      </a:pPr>
                      <a:r>
                        <a:rPr lang="en-US" sz="1800">
                          <a:effectLst/>
                        </a:rPr>
                        <a:t>8</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a:effectLst/>
                        </a:rPr>
                        <a:t>Finance &amp; Valuation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Performs accurate financial calculations (TAM–SAM–SOM, BEP) using realistic data and tools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Performs calculations correctly with minor errors.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Performs basic or incomplete calculations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Fails to perform financial analysis.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2172370296"/>
                  </a:ext>
                </a:extLst>
              </a:tr>
              <a:tr h="1871107">
                <a:tc>
                  <a:txBody>
                    <a:bodyPr/>
                    <a:lstStyle/>
                    <a:p>
                      <a:pPr marL="0" marR="0" algn="ctr">
                        <a:buNone/>
                      </a:pPr>
                      <a:r>
                        <a:rPr lang="en-US" sz="1800">
                          <a:effectLst/>
                        </a:rPr>
                        <a:t>9</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a:effectLst/>
                        </a:rPr>
                        <a:t>Pitch Deck</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Creates and delivers a professional, coherent, and persuasive pitch deck demonstrating critical analysis of market data, evaluation of business feasibility, and creativity in value proposition; effectively integrates sustainability impact and confidently articulates next steps.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Develops and presents a clear and engaging pitch deck with relevant content and logical flow; shows sound understanding of business and sustainability aspects but lacks depth in some areas..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Demonstrates a basic understanding of the pitch structure; content is partially organized with limited analysis, creativity, or confidence in delivery.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Shows minimal understanding or preparation; the pitch lacks clarity, coherence, and evidence of analysis or creativity.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ID" sz="1800">
                          <a:effectLst/>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292182019"/>
                  </a:ext>
                </a:extLst>
              </a:tr>
              <a:tr h="810210">
                <a:tc>
                  <a:txBody>
                    <a:bodyPr/>
                    <a:lstStyle/>
                    <a:p>
                      <a:pPr marL="0" marR="0" algn="ctr">
                        <a:buNone/>
                      </a:pPr>
                      <a:r>
                        <a:rPr lang="en-US" sz="1800">
                          <a:effectLst/>
                        </a:rPr>
                        <a:t>10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a:effectLst/>
                        </a:rPr>
                        <a:t>Market Validation Reflection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Adapts future action through critical reflection on outcomes and team performance (pivot/continue/stop).</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Reflects adequately with some insight for improvement.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Reflects descriptively without adaptation.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Shows no reflection or awareness.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US" sz="1800" dirty="0">
                          <a:effectLst/>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4040446549"/>
                  </a:ext>
                </a:extLst>
              </a:tr>
              <a:tr h="810210">
                <a:tc>
                  <a:txBody>
                    <a:bodyPr/>
                    <a:lstStyle/>
                    <a:p>
                      <a:pPr marL="0" marR="0" algn="ctr">
                        <a:buNone/>
                      </a:pPr>
                      <a:r>
                        <a:rPr lang="en-US" sz="1800">
                          <a:effectLst/>
                        </a:rPr>
                        <a:t>11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buNone/>
                      </a:pPr>
                      <a:r>
                        <a:rPr lang="en-US" sz="1800">
                          <a:effectLst/>
                        </a:rPr>
                        <a:t>LO3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l">
                        <a:buNone/>
                      </a:pPr>
                      <a:r>
                        <a:rPr lang="en-US" sz="1800">
                          <a:effectLst/>
                        </a:rPr>
                        <a:t>Presentation &amp; Report Quality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Creates an original, professional, and persuasive business report and pitch deck integrating sustainability values.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a:effectLst/>
                        </a:rPr>
                        <a:t>Creates a clear and engaging report and presentation.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Creates a basic report with limited organization or visuals.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l">
                        <a:buNone/>
                      </a:pPr>
                      <a:r>
                        <a:rPr lang="en-US" sz="1800" dirty="0">
                          <a:effectLst/>
                        </a:rPr>
                        <a:t>Fails to create a coherent or complete report.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tc>
                  <a:txBody>
                    <a:bodyPr/>
                    <a:lstStyle/>
                    <a:p>
                      <a:pPr marL="0" marR="0" algn="ctr">
                        <a:buNone/>
                      </a:pPr>
                      <a:r>
                        <a:rPr lang="en-US" sz="1800" dirty="0">
                          <a:effectLst/>
                        </a:rPr>
                        <a:t>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518" marR="7518" marT="7518" marB="7518" anchor="ctr"/>
                </a:tc>
                <a:extLst>
                  <a:ext uri="{0D108BD9-81ED-4DB2-BD59-A6C34878D82A}">
                    <a16:rowId xmlns:a16="http://schemas.microsoft.com/office/drawing/2014/main" val="146677425"/>
                  </a:ext>
                </a:extLst>
              </a:tr>
            </a:tbl>
          </a:graphicData>
        </a:graphic>
      </p:graphicFrame>
    </p:spTree>
    <p:extLst>
      <p:ext uri="{BB962C8B-B14F-4D97-AF65-F5344CB8AC3E}">
        <p14:creationId xmlns:p14="http://schemas.microsoft.com/office/powerpoint/2010/main" val="426052740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6AB-233A-B8E3-9BEA-BD219B862D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2E305C-6539-771C-791E-C371C396B70E}"/>
              </a:ext>
            </a:extLst>
          </p:cNvPr>
          <p:cNvSpPr txBox="1"/>
          <p:nvPr/>
        </p:nvSpPr>
        <p:spPr>
          <a:xfrm>
            <a:off x="6819900" y="819081"/>
            <a:ext cx="874395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ID" sz="5400" dirty="0">
                <a:solidFill>
                  <a:srgbClr val="00B0F0"/>
                </a:solidFill>
                <a:effectLst>
                  <a:outerShdw blurRad="38100" dist="38100" dir="2700000" algn="tl">
                    <a:srgbClr val="000000">
                      <a:alpha val="43137"/>
                    </a:srgbClr>
                  </a:outerShdw>
                </a:effectLst>
                <a:latin typeface="Georgia" panose="02040502050405020303" pitchFamily="18" charset="0"/>
              </a:rPr>
              <a:t>BEC APPS</a:t>
            </a:r>
            <a:endParaRPr kumimoji="0" lang="en-US" sz="5400" b="0" i="0" u="none" strike="noStrike" cap="none" spc="0" normalizeH="0" baseline="0" dirty="0">
              <a:ln>
                <a:noFill/>
              </a:ln>
              <a:solidFill>
                <a:srgbClr val="0090D4"/>
              </a:solidFill>
              <a:effectLst/>
              <a:uFillTx/>
              <a:latin typeface="Georgia" panose="02040502050405020303" pitchFamily="18" charset="0"/>
              <a:sym typeface="Helvetica Neue"/>
            </a:endParaRPr>
          </a:p>
        </p:txBody>
      </p:sp>
      <p:sp>
        <p:nvSpPr>
          <p:cNvPr id="3" name="AutoShape 2">
            <a:extLst>
              <a:ext uri="{FF2B5EF4-FFF2-40B4-BE49-F238E27FC236}">
                <a16:creationId xmlns:a16="http://schemas.microsoft.com/office/drawing/2014/main" id="{E1F00B7F-08C4-33A0-089E-866E055E875F}"/>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7BC6835-C5C6-C320-CDCB-36E8B6A4E325}"/>
              </a:ext>
            </a:extLst>
          </p:cNvPr>
          <p:cNvSpPr txBox="1"/>
          <p:nvPr/>
        </p:nvSpPr>
        <p:spPr>
          <a:xfrm>
            <a:off x="457200" y="4115542"/>
            <a:ext cx="11582400" cy="78483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600" dirty="0">
                <a:solidFill>
                  <a:schemeClr val="tx1"/>
                </a:solidFill>
                <a:latin typeface="Avenir Next LT Pro" panose="020B0504020202020204" pitchFamily="34" charset="77"/>
              </a:rPr>
              <a:t>BEC Apps empowers students, lecturers, and collaborators to actively engage in entrepreneurship learning—making it more dynamic and impactful.</a:t>
            </a:r>
          </a:p>
          <a:p>
            <a:pPr algn="l"/>
            <a:br>
              <a:rPr lang="en-US" sz="3600" dirty="0">
                <a:solidFill>
                  <a:schemeClr val="tx1"/>
                </a:solidFill>
                <a:latin typeface="Avenir Next LT Pro" panose="020B0504020202020204" pitchFamily="34" charset="77"/>
              </a:rPr>
            </a:br>
            <a:r>
              <a:rPr lang="en-US" sz="3600" dirty="0">
                <a:solidFill>
                  <a:schemeClr val="tx1"/>
                </a:solidFill>
                <a:latin typeface="Avenir Next LT Pro" panose="020B0504020202020204" pitchFamily="34" charset="77"/>
              </a:rPr>
              <a:t>Through BEC Apps, users can easily form groups, register for seminars or workshops, and join activities that enhance their entrepreneurial journey.</a:t>
            </a:r>
          </a:p>
          <a:p>
            <a:pPr algn="l"/>
            <a:br>
              <a:rPr lang="en-US" sz="3600" dirty="0">
                <a:solidFill>
                  <a:schemeClr val="tx1"/>
                </a:solidFill>
                <a:latin typeface="Avenir Next LT Pro" panose="020B0504020202020204" pitchFamily="34" charset="77"/>
              </a:rPr>
            </a:br>
            <a:r>
              <a:rPr lang="en-US" sz="3600" dirty="0">
                <a:solidFill>
                  <a:schemeClr val="tx1"/>
                </a:solidFill>
                <a:latin typeface="Avenir Next LT Pro" panose="020B0504020202020204" pitchFamily="34" charset="77"/>
              </a:rPr>
              <a:t>Guides are available on Binus Maya to help you make the most of it.</a:t>
            </a:r>
          </a:p>
          <a:p>
            <a:pPr algn="l"/>
            <a:endParaRPr lang="en-US" sz="3600" i="1" dirty="0">
              <a:solidFill>
                <a:schemeClr val="tx1"/>
              </a:solidFill>
              <a:latin typeface="Avenir Next LT Pro" panose="020B0504020202020204" pitchFamily="34" charset="77"/>
            </a:endParaRPr>
          </a:p>
          <a:p>
            <a:pPr algn="l"/>
            <a:r>
              <a:rPr lang="en-US" sz="3600" i="1" dirty="0">
                <a:solidFill>
                  <a:schemeClr val="tx1"/>
                </a:solidFill>
                <a:latin typeface="Avenir Next LT Pro" panose="020B0504020202020204" pitchFamily="34" charset="77"/>
              </a:rPr>
              <a:t>Group registration is open from Week 1 to Week 4</a:t>
            </a:r>
          </a:p>
          <a:p>
            <a:pPr algn="l"/>
            <a:br>
              <a:rPr lang="en-US" sz="3600" dirty="0">
                <a:solidFill>
                  <a:schemeClr val="tx1"/>
                </a:solidFill>
                <a:latin typeface="Avenir Next LT Pro" panose="020B0504020202020204" pitchFamily="34" charset="77"/>
              </a:rPr>
            </a:br>
            <a:r>
              <a:rPr lang="en-US" sz="3600" b="1" dirty="0">
                <a:solidFill>
                  <a:schemeClr val="tx1"/>
                </a:solidFill>
                <a:latin typeface="Avenir Next LT Pro" panose="020B0504020202020204" pitchFamily="34" charset="77"/>
              </a:rPr>
              <a:t>Let’s create, collaborate, and innovate together</a:t>
            </a:r>
            <a:r>
              <a:rPr lang="en-US" sz="3600" dirty="0">
                <a:solidFill>
                  <a:schemeClr val="tx1"/>
                </a:solidFill>
                <a:latin typeface="Avenir Next LT Pro" panose="020B0504020202020204" pitchFamily="34" charset="77"/>
              </a:rPr>
              <a:t>! </a:t>
            </a:r>
          </a:p>
        </p:txBody>
      </p:sp>
      <p:pic>
        <p:nvPicPr>
          <p:cNvPr id="7" name="Picture 6" descr="A screenshot of a computer&#10;&#10;Description automatically generated">
            <a:extLst>
              <a:ext uri="{FF2B5EF4-FFF2-40B4-BE49-F238E27FC236}">
                <a16:creationId xmlns:a16="http://schemas.microsoft.com/office/drawing/2014/main" id="{CC1A7983-4F9F-4AC8-2EBB-B2CDCA8FDC9F}"/>
              </a:ext>
            </a:extLst>
          </p:cNvPr>
          <p:cNvPicPr>
            <a:picLocks noChangeAspect="1"/>
          </p:cNvPicPr>
          <p:nvPr/>
        </p:nvPicPr>
        <p:blipFill>
          <a:blip r:embed="rId2"/>
          <a:stretch>
            <a:fillRect/>
          </a:stretch>
        </p:blipFill>
        <p:spPr>
          <a:xfrm>
            <a:off x="13233401" y="3041844"/>
            <a:ext cx="10414000" cy="9855075"/>
          </a:xfrm>
          <a:prstGeom prst="rect">
            <a:avLst/>
          </a:prstGeom>
          <a:effectLst>
            <a:glow rad="101600">
              <a:schemeClr val="accent2">
                <a:satMod val="175000"/>
                <a:alpha val="40000"/>
              </a:schemeClr>
            </a:glow>
            <a:outerShdw blurRad="1129004" dist="711219" dir="8040000" algn="ctr" rotWithShape="0">
              <a:srgbClr val="000000">
                <a:alpha val="43137"/>
              </a:srgbClr>
            </a:outerShdw>
          </a:effectLst>
        </p:spPr>
      </p:pic>
      <p:pic>
        <p:nvPicPr>
          <p:cNvPr id="8" name="Picture 7">
            <a:extLst>
              <a:ext uri="{FF2B5EF4-FFF2-40B4-BE49-F238E27FC236}">
                <a16:creationId xmlns:a16="http://schemas.microsoft.com/office/drawing/2014/main" id="{DB2927B0-370F-758A-67F1-29B5840721E4}"/>
              </a:ext>
            </a:extLst>
          </p:cNvPr>
          <p:cNvPicPr>
            <a:picLocks noChangeAspect="1"/>
          </p:cNvPicPr>
          <p:nvPr/>
        </p:nvPicPr>
        <p:blipFill>
          <a:blip r:embed="rId3">
            <a:extLst>
              <a:ext uri="{BEBA8EAE-BF5A-486C-A8C5-ECC9F3942E4B}">
                <a14:imgProps xmlns:a14="http://schemas.microsoft.com/office/drawing/2010/main">
                  <a14:imgLayer r:embed="rId4">
                    <a14:imgEffect>
                      <a14:artisticChalkSketch/>
                    </a14:imgEffect>
                  </a14:imgLayer>
                </a14:imgProps>
              </a:ext>
            </a:extLst>
          </a:blip>
          <a:stretch>
            <a:fillRect/>
          </a:stretch>
        </p:blipFill>
        <p:spPr>
          <a:xfrm>
            <a:off x="20135106" y="10014390"/>
            <a:ext cx="3131295" cy="31312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8881473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B7E20-16CE-FE49-9D98-FFD6137E41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E5258C-C1D8-DC4C-7381-DAD0CCB6AC72}"/>
              </a:ext>
            </a:extLst>
          </p:cNvPr>
          <p:cNvSpPr txBox="1"/>
          <p:nvPr/>
        </p:nvSpPr>
        <p:spPr>
          <a:xfrm>
            <a:off x="3441700" y="4398489"/>
            <a:ext cx="17195800" cy="933589"/>
          </a:xfrm>
          <a:prstGeom prst="rect">
            <a:avLst/>
          </a:prstGeom>
          <a:noFill/>
          <a:ln w="127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ID" sz="5400" dirty="0">
                <a:solidFill>
                  <a:srgbClr val="00B0F0"/>
                </a:solidFill>
                <a:effectLst>
                  <a:outerShdw blurRad="38100" dist="38100" dir="2700000" algn="tl">
                    <a:srgbClr val="000000">
                      <a:alpha val="43137"/>
                    </a:srgbClr>
                  </a:outerShdw>
                </a:effectLst>
                <a:latin typeface="Georgia" panose="02040502050405020303" pitchFamily="18" charset="0"/>
              </a:rPr>
              <a:t>EXHIBITION OFFLINE &amp; ONLINE</a:t>
            </a:r>
            <a:endParaRPr kumimoji="0" lang="en-US" sz="5400" b="0" i="0" u="none" strike="noStrike" cap="none" spc="0" normalizeH="0" baseline="0" dirty="0">
              <a:ln>
                <a:noFill/>
              </a:ln>
              <a:solidFill>
                <a:srgbClr val="0090D4"/>
              </a:solidFill>
              <a:effectLst/>
              <a:uFillTx/>
              <a:latin typeface="Georgia" panose="02040502050405020303" pitchFamily="18" charset="0"/>
              <a:sym typeface="Helvetica Neue"/>
            </a:endParaRPr>
          </a:p>
        </p:txBody>
      </p:sp>
      <p:sp>
        <p:nvSpPr>
          <p:cNvPr id="3" name="AutoShape 2">
            <a:extLst>
              <a:ext uri="{FF2B5EF4-FFF2-40B4-BE49-F238E27FC236}">
                <a16:creationId xmlns:a16="http://schemas.microsoft.com/office/drawing/2014/main" id="{43E9664F-6A72-C3FF-DB32-0AFA2A4FFF2D}"/>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90569C2D-40C3-45C8-07D9-845D1DDBD59F}"/>
              </a:ext>
            </a:extLst>
          </p:cNvPr>
          <p:cNvPicPr>
            <a:picLocks noChangeAspect="1"/>
          </p:cNvPicPr>
          <p:nvPr/>
        </p:nvPicPr>
        <p:blipFill>
          <a:blip r:embed="rId2">
            <a:extLst>
              <a:ext uri="{BEBA8EAE-BF5A-486C-A8C5-ECC9F3942E4B}">
                <a14:imgProps xmlns:a14="http://schemas.microsoft.com/office/drawing/2010/main">
                  <a14:imgLayer r:embed="rId3">
                    <a14:imgEffect>
                      <a14:artisticChalkSketch/>
                    </a14:imgEffect>
                  </a14:imgLayer>
                </a14:imgProps>
              </a:ext>
            </a:extLst>
          </a:blip>
          <a:stretch>
            <a:fillRect/>
          </a:stretch>
        </p:blipFill>
        <p:spPr>
          <a:xfrm>
            <a:off x="14986000" y="4865284"/>
            <a:ext cx="8280401" cy="82804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1600188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D8BA7-6755-EBF9-6C65-BD6CD8EEC1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D11CC0-EC8C-562F-E83A-F3365C7D34E5}"/>
              </a:ext>
            </a:extLst>
          </p:cNvPr>
          <p:cNvSpPr txBox="1"/>
          <p:nvPr/>
        </p:nvSpPr>
        <p:spPr>
          <a:xfrm>
            <a:off x="6819900" y="819081"/>
            <a:ext cx="874395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5400" dirty="0">
                <a:solidFill>
                  <a:srgbClr val="0090D4"/>
                </a:solidFill>
                <a:latin typeface="Georgia" panose="02040502050405020303" pitchFamily="18" charset="0"/>
              </a:rPr>
              <a:t>Binus Festival (</a:t>
            </a:r>
            <a:r>
              <a:rPr lang="en-US" sz="5400" dirty="0" err="1">
                <a:solidFill>
                  <a:srgbClr val="0090D4"/>
                </a:solidFill>
                <a:latin typeface="Georgia" panose="02040502050405020303" pitchFamily="18" charset="0"/>
              </a:rPr>
              <a:t>BiFest</a:t>
            </a:r>
            <a:r>
              <a:rPr lang="en-US" sz="5400" dirty="0">
                <a:solidFill>
                  <a:srgbClr val="0090D4"/>
                </a:solidFill>
                <a:latin typeface="Georgia" panose="02040502050405020303" pitchFamily="18" charset="0"/>
              </a:rPr>
              <a:t>)</a:t>
            </a:r>
            <a:endParaRPr kumimoji="0" lang="en-US" sz="5400" b="0" i="0" u="none" strike="noStrike" cap="none" spc="0" normalizeH="0" baseline="0" dirty="0">
              <a:ln>
                <a:noFill/>
              </a:ln>
              <a:solidFill>
                <a:srgbClr val="0090D4"/>
              </a:solidFill>
              <a:effectLst/>
              <a:uFillTx/>
              <a:latin typeface="Georgia" panose="02040502050405020303" pitchFamily="18" charset="0"/>
              <a:sym typeface="Helvetica Neue"/>
            </a:endParaRPr>
          </a:p>
        </p:txBody>
      </p:sp>
      <p:sp>
        <p:nvSpPr>
          <p:cNvPr id="10" name="TextBox 9">
            <a:extLst>
              <a:ext uri="{FF2B5EF4-FFF2-40B4-BE49-F238E27FC236}">
                <a16:creationId xmlns:a16="http://schemas.microsoft.com/office/drawing/2014/main" id="{6E156DF8-98BF-6DF3-5977-F37E06BA47C9}"/>
              </a:ext>
            </a:extLst>
          </p:cNvPr>
          <p:cNvSpPr txBox="1"/>
          <p:nvPr/>
        </p:nvSpPr>
        <p:spPr>
          <a:xfrm>
            <a:off x="13519150" y="4065557"/>
            <a:ext cx="10496550" cy="67403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4800" b="1" dirty="0">
                <a:solidFill>
                  <a:schemeClr val="tx1"/>
                </a:solidFill>
                <a:latin typeface="Avenir Next LT Pro" panose="020B0504020202020204" pitchFamily="34" charset="77"/>
              </a:rPr>
              <a:t>Binus Festival </a:t>
            </a:r>
            <a:r>
              <a:rPr lang="en-US" sz="4800" dirty="0">
                <a:solidFill>
                  <a:schemeClr val="tx1"/>
                </a:solidFill>
                <a:latin typeface="Avenir Next LT Pro" panose="020B0504020202020204" pitchFamily="34" charset="77"/>
              </a:rPr>
              <a:t>is Event in GSLC Week Serves as a platform for </a:t>
            </a:r>
            <a:r>
              <a:rPr lang="en-US" sz="4800" b="1" dirty="0">
                <a:solidFill>
                  <a:schemeClr val="tx1"/>
                </a:solidFill>
                <a:latin typeface="Avenir Next LT Pro" panose="020B0504020202020204" pitchFamily="34" charset="77"/>
              </a:rPr>
              <a:t>offline market validation</a:t>
            </a:r>
            <a:r>
              <a:rPr lang="en-US" sz="4800" dirty="0">
                <a:solidFill>
                  <a:schemeClr val="tx1"/>
                </a:solidFill>
                <a:latin typeface="Avenir Next LT Pro" panose="020B0504020202020204" pitchFamily="34" charset="77"/>
              </a:rPr>
              <a:t>, which is </a:t>
            </a:r>
            <a:r>
              <a:rPr lang="en-US" sz="4800" b="1" dirty="0">
                <a:solidFill>
                  <a:schemeClr val="tx1"/>
                </a:solidFill>
                <a:latin typeface="Avenir Next LT Pro" panose="020B0504020202020204" pitchFamily="34" charset="77"/>
              </a:rPr>
              <a:t>mandatory</a:t>
            </a:r>
            <a:r>
              <a:rPr lang="en-US" sz="4800" dirty="0">
                <a:solidFill>
                  <a:schemeClr val="tx1"/>
                </a:solidFill>
                <a:latin typeface="Avenir Next LT Pro" panose="020B0504020202020204" pitchFamily="34" charset="77"/>
              </a:rPr>
              <a:t> for the </a:t>
            </a:r>
            <a:r>
              <a:rPr lang="en-US" sz="4800" i="1" dirty="0">
                <a:solidFill>
                  <a:schemeClr val="tx1"/>
                </a:solidFill>
                <a:latin typeface="Avenir Next LT Pro" panose="020B0504020202020204" pitchFamily="34" charset="77"/>
              </a:rPr>
              <a:t>assignment</a:t>
            </a:r>
            <a:r>
              <a:rPr lang="en-US" sz="4800" dirty="0">
                <a:solidFill>
                  <a:schemeClr val="tx1"/>
                </a:solidFill>
                <a:latin typeface="Avenir Next LT Pro" panose="020B0504020202020204" pitchFamily="34" charset="77"/>
              </a:rPr>
              <a:t> and </a:t>
            </a:r>
            <a:r>
              <a:rPr lang="en-US" sz="4800" i="1" dirty="0">
                <a:solidFill>
                  <a:schemeClr val="tx1"/>
                </a:solidFill>
                <a:latin typeface="Avenir Next LT Pro" panose="020B0504020202020204" pitchFamily="34" charset="77"/>
              </a:rPr>
              <a:t>Final Project</a:t>
            </a:r>
            <a:r>
              <a:rPr lang="en-US" sz="4800" dirty="0">
                <a:solidFill>
                  <a:schemeClr val="tx1"/>
                </a:solidFill>
                <a:latin typeface="Avenir Next LT Pro" panose="020B0504020202020204" pitchFamily="34" charset="77"/>
              </a:rPr>
              <a:t> of the </a:t>
            </a:r>
            <a:r>
              <a:rPr lang="en-US" sz="4800" b="1" dirty="0">
                <a:solidFill>
                  <a:schemeClr val="tx1"/>
                </a:solidFill>
                <a:latin typeface="Avenir Next LT Pro" panose="020B0504020202020204" pitchFamily="34" charset="77"/>
              </a:rPr>
              <a:t>Venture Creation</a:t>
            </a:r>
            <a:r>
              <a:rPr lang="en-US" sz="4800" dirty="0">
                <a:solidFill>
                  <a:schemeClr val="tx1"/>
                </a:solidFill>
                <a:latin typeface="Avenir Next LT Pro" panose="020B0504020202020204" pitchFamily="34" charset="77"/>
              </a:rPr>
              <a:t> course provided by the </a:t>
            </a:r>
            <a:r>
              <a:rPr lang="en-US" sz="4800" b="1" dirty="0">
                <a:solidFill>
                  <a:schemeClr val="tx1"/>
                </a:solidFill>
                <a:latin typeface="Avenir Next LT Pro" panose="020B0504020202020204" pitchFamily="34" charset="77"/>
              </a:rPr>
              <a:t>Binus Entrepreneurship Center</a:t>
            </a:r>
            <a:r>
              <a:rPr lang="en-US" sz="4800" dirty="0">
                <a:solidFill>
                  <a:schemeClr val="tx1"/>
                </a:solidFill>
                <a:latin typeface="Avenir Next LT Pro" panose="020B0504020202020204" pitchFamily="34" charset="77"/>
              </a:rPr>
              <a:t>.</a:t>
            </a:r>
            <a:br>
              <a:rPr lang="en-US" sz="4800" dirty="0">
                <a:solidFill>
                  <a:schemeClr val="tx1"/>
                </a:solidFill>
                <a:latin typeface="Avenir Next LT Pro" panose="020B0504020202020204" pitchFamily="34" charset="77"/>
              </a:rPr>
            </a:br>
            <a:endParaRPr lang="en-US" sz="4800" dirty="0">
              <a:solidFill>
                <a:schemeClr val="tx1"/>
              </a:solidFill>
              <a:latin typeface="Avenir Next LT Pro" panose="020B0504020202020204" pitchFamily="34" charset="77"/>
            </a:endParaRPr>
          </a:p>
          <a:p>
            <a:pPr algn="l"/>
            <a:r>
              <a:rPr lang="en-US" sz="4800" b="1" dirty="0">
                <a:solidFill>
                  <a:schemeClr val="tx1"/>
                </a:solidFill>
              </a:rPr>
              <a:t>Enroll using BEC Apps </a:t>
            </a:r>
          </a:p>
        </p:txBody>
      </p:sp>
      <p:sp>
        <p:nvSpPr>
          <p:cNvPr id="3" name="AutoShape 2">
            <a:extLst>
              <a:ext uri="{FF2B5EF4-FFF2-40B4-BE49-F238E27FC236}">
                <a16:creationId xmlns:a16="http://schemas.microsoft.com/office/drawing/2014/main" id="{312720F6-8593-7491-1561-01D2169ED9CB}"/>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descr="A group of people at an event&#10;&#10;Description automatically generated">
            <a:extLst>
              <a:ext uri="{FF2B5EF4-FFF2-40B4-BE49-F238E27FC236}">
                <a16:creationId xmlns:a16="http://schemas.microsoft.com/office/drawing/2014/main" id="{B66B88E6-0431-6D31-64FA-D66CB25FEF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6600" y="2939733"/>
            <a:ext cx="12496799" cy="9957186"/>
          </a:xfrm>
          <a:prstGeom prst="rect">
            <a:avLst/>
          </a:prstGeom>
          <a:solidFill>
            <a:srgbClr val="FFFFFF">
              <a:shade val="85000"/>
            </a:srgbClr>
          </a:solidFill>
          <a:ln w="190500" cap="rnd">
            <a:solidFill>
              <a:srgbClr val="FFFFFF"/>
            </a:solidFill>
          </a:ln>
          <a:effectLst>
            <a:outerShdw blurRad="414857" dist="606565" dir="6720000" sx="98000" sy="98000" algn="tl" rotWithShape="0">
              <a:prstClr val="black">
                <a:alpha val="63000"/>
              </a:prstClr>
            </a:outerShdw>
          </a:effectLst>
          <a:scene3d>
            <a:camera prst="orthographicFront"/>
            <a:lightRig rig="twoPt" dir="t">
              <a:rot lat="0" lon="0" rev="7800000"/>
            </a:lightRig>
          </a:scene3d>
          <a:sp3d contourW="6350">
            <a:bevelT w="50800" h="16510"/>
            <a:contourClr>
              <a:srgbClr val="C0C0C0"/>
            </a:contourClr>
          </a:sp3d>
        </p:spPr>
      </p:pic>
      <p:pic>
        <p:nvPicPr>
          <p:cNvPr id="6" name="Picture 5">
            <a:extLst>
              <a:ext uri="{FF2B5EF4-FFF2-40B4-BE49-F238E27FC236}">
                <a16:creationId xmlns:a16="http://schemas.microsoft.com/office/drawing/2014/main" id="{B6E06DF1-DF45-9152-8E59-764B07F40D9A}"/>
              </a:ext>
            </a:extLst>
          </p:cNvPr>
          <p:cNvPicPr>
            <a:picLocks noChangeAspect="1"/>
          </p:cNvPicPr>
          <p:nvPr/>
        </p:nvPicPr>
        <p:blipFill>
          <a:blip r:embed="rId3">
            <a:extLst>
              <a:ext uri="{BEBA8EAE-BF5A-486C-A8C5-ECC9F3942E4B}">
                <a14:imgProps xmlns:a14="http://schemas.microsoft.com/office/drawing/2010/main">
                  <a14:imgLayer r:embed="rId4">
                    <a14:imgEffect>
                      <a14:artisticChalkSketch/>
                    </a14:imgEffect>
                  </a14:imgLayer>
                </a14:imgProps>
              </a:ext>
            </a:extLst>
          </a:blip>
          <a:stretch>
            <a:fillRect/>
          </a:stretch>
        </p:blipFill>
        <p:spPr>
          <a:xfrm>
            <a:off x="9290137" y="10051733"/>
            <a:ext cx="3131295" cy="3131295"/>
          </a:xfrm>
          <a:prstGeom prst="rect">
            <a:avLst/>
          </a:prstGeom>
          <a:ln>
            <a:noFill/>
          </a:ln>
          <a:effectLst>
            <a:outerShdw blurRad="292100" dir="2700000" algn="tl" rotWithShape="0">
              <a:srgbClr val="333333">
                <a:alpha val="65000"/>
              </a:srgbClr>
            </a:outerShdw>
          </a:effectLst>
        </p:spPr>
      </p:pic>
    </p:spTree>
    <p:extLst>
      <p:ext uri="{BB962C8B-B14F-4D97-AF65-F5344CB8AC3E}">
        <p14:creationId xmlns:p14="http://schemas.microsoft.com/office/powerpoint/2010/main" val="23997328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5D8B-D035-0A9B-4BC3-AD69037EA7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E015C7-934C-EA59-1EF2-1599777FA320}"/>
              </a:ext>
            </a:extLst>
          </p:cNvPr>
          <p:cNvSpPr txBox="1"/>
          <p:nvPr/>
        </p:nvSpPr>
        <p:spPr>
          <a:xfrm>
            <a:off x="7398624" y="1138347"/>
            <a:ext cx="874395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5400" dirty="0" err="1">
                <a:solidFill>
                  <a:srgbClr val="0090D4"/>
                </a:solidFill>
                <a:latin typeface="Georgia" panose="02040502050405020303" pitchFamily="18" charset="0"/>
              </a:rPr>
              <a:t>NewBisanara</a:t>
            </a:r>
            <a:endParaRPr kumimoji="0" lang="en-US" sz="5400" b="0" i="0" u="none" strike="noStrike" cap="none" spc="0" normalizeH="0" baseline="0" dirty="0">
              <a:ln>
                <a:noFill/>
              </a:ln>
              <a:solidFill>
                <a:srgbClr val="0090D4"/>
              </a:solidFill>
              <a:effectLst/>
              <a:uFillTx/>
              <a:latin typeface="Georgia" panose="02040502050405020303" pitchFamily="18" charset="0"/>
              <a:sym typeface="Helvetica Neue"/>
            </a:endParaRPr>
          </a:p>
        </p:txBody>
      </p:sp>
      <p:sp>
        <p:nvSpPr>
          <p:cNvPr id="10" name="TextBox 9">
            <a:extLst>
              <a:ext uri="{FF2B5EF4-FFF2-40B4-BE49-F238E27FC236}">
                <a16:creationId xmlns:a16="http://schemas.microsoft.com/office/drawing/2014/main" id="{C0F5F096-30D6-48C3-64AB-1BA5069229DD}"/>
              </a:ext>
            </a:extLst>
          </p:cNvPr>
          <p:cNvSpPr txBox="1"/>
          <p:nvPr/>
        </p:nvSpPr>
        <p:spPr>
          <a:xfrm>
            <a:off x="13569950" y="4903757"/>
            <a:ext cx="10496550" cy="1569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endParaRPr lang="en-US" sz="4800" dirty="0">
              <a:solidFill>
                <a:schemeClr val="tx1"/>
              </a:solidFill>
              <a:latin typeface="Avenir Next LT Pro" panose="020B0504020202020204" pitchFamily="34" charset="77"/>
            </a:endParaRPr>
          </a:p>
          <a:p>
            <a:pPr algn="l"/>
            <a:endParaRPr lang="en-US" sz="4800" dirty="0">
              <a:solidFill>
                <a:srgbClr val="0090D4"/>
              </a:solidFill>
            </a:endParaRPr>
          </a:p>
        </p:txBody>
      </p:sp>
      <p:pic>
        <p:nvPicPr>
          <p:cNvPr id="5" name="Picture 4">
            <a:extLst>
              <a:ext uri="{FF2B5EF4-FFF2-40B4-BE49-F238E27FC236}">
                <a16:creationId xmlns:a16="http://schemas.microsoft.com/office/drawing/2014/main" id="{2275C623-DEF5-A43C-3A68-D2F7F5083B93}"/>
              </a:ext>
            </a:extLst>
          </p:cNvPr>
          <p:cNvPicPr>
            <a:picLocks noChangeAspect="1"/>
          </p:cNvPicPr>
          <p:nvPr/>
        </p:nvPicPr>
        <p:blipFill>
          <a:blip r:embed="rId2"/>
          <a:stretch>
            <a:fillRect/>
          </a:stretch>
        </p:blipFill>
        <p:spPr>
          <a:xfrm>
            <a:off x="12192000" y="4625624"/>
            <a:ext cx="11368801" cy="6200365"/>
          </a:xfrm>
          <a:prstGeom prst="rect">
            <a:avLst/>
          </a:prstGeom>
          <a:ln>
            <a:noFill/>
          </a:ln>
          <a:effectLst>
            <a:outerShdw blurRad="292100" dist="139700" dir="2700000" algn="tl" rotWithShape="0">
              <a:srgbClr val="333333">
                <a:alpha val="65000"/>
              </a:srgbClr>
            </a:outerShdw>
          </a:effectLst>
          <a:scene3d>
            <a:camera prst="orthographicFront"/>
            <a:lightRig rig="threePt" dir="t"/>
          </a:scene3d>
          <a:sp3d>
            <a:bevelT prst="angle"/>
          </a:sp3d>
        </p:spPr>
      </p:pic>
      <p:pic>
        <p:nvPicPr>
          <p:cNvPr id="6" name="Picture 5">
            <a:extLst>
              <a:ext uri="{FF2B5EF4-FFF2-40B4-BE49-F238E27FC236}">
                <a16:creationId xmlns:a16="http://schemas.microsoft.com/office/drawing/2014/main" id="{FF7A100B-F4EC-850D-FFB8-34BDCBAD2D10}"/>
              </a:ext>
            </a:extLst>
          </p:cNvPr>
          <p:cNvPicPr>
            <a:picLocks noChangeAspect="1"/>
          </p:cNvPicPr>
          <p:nvPr/>
        </p:nvPicPr>
        <p:blipFill>
          <a:blip r:embed="rId3">
            <a:extLst>
              <a:ext uri="{BEBA8EAE-BF5A-486C-A8C5-ECC9F3942E4B}">
                <a14:imgProps xmlns:a14="http://schemas.microsoft.com/office/drawing/2010/main">
                  <a14:imgLayer r:embed="rId4">
                    <a14:imgEffect>
                      <a14:artisticChalkSketch/>
                    </a14:imgEffect>
                  </a14:imgLayer>
                </a14:imgProps>
              </a:ext>
            </a:extLst>
          </a:blip>
          <a:stretch>
            <a:fillRect/>
          </a:stretch>
        </p:blipFill>
        <p:spPr>
          <a:xfrm>
            <a:off x="21331821" y="5290220"/>
            <a:ext cx="2239655" cy="2239655"/>
          </a:xfrm>
          <a:prstGeom prst="rect">
            <a:avLst/>
          </a:prstGeom>
        </p:spPr>
      </p:pic>
      <p:sp>
        <p:nvSpPr>
          <p:cNvPr id="4" name="TextBox 3">
            <a:extLst>
              <a:ext uri="{FF2B5EF4-FFF2-40B4-BE49-F238E27FC236}">
                <a16:creationId xmlns:a16="http://schemas.microsoft.com/office/drawing/2014/main" id="{23A97FC6-FD29-CB2A-1F1D-0F4F75FCEFCB}"/>
              </a:ext>
            </a:extLst>
          </p:cNvPr>
          <p:cNvSpPr txBox="1"/>
          <p:nvPr/>
        </p:nvSpPr>
        <p:spPr>
          <a:xfrm>
            <a:off x="812524" y="3678545"/>
            <a:ext cx="10058399" cy="9325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4000" b="1" dirty="0"/>
              <a:t>Welcome to </a:t>
            </a:r>
            <a:r>
              <a:rPr lang="en-US" sz="4000" b="1" dirty="0" err="1"/>
              <a:t>NewBisanara.com</a:t>
            </a:r>
            <a:r>
              <a:rPr lang="en-US" sz="4000" dirty="0"/>
              <a:t> — your go-to platform to discover, share, and showcase a wide range of goods and services anytime, anywhere.</a:t>
            </a:r>
            <a:br>
              <a:rPr lang="en-US" sz="4000" dirty="0"/>
            </a:br>
            <a:r>
              <a:rPr lang="en-US" sz="4000" dirty="0"/>
              <a:t>More than just an online marketplace, </a:t>
            </a:r>
            <a:r>
              <a:rPr lang="en-US" sz="4000" b="1" dirty="0" err="1"/>
              <a:t>Bisanara</a:t>
            </a:r>
            <a:r>
              <a:rPr lang="en-US" sz="4000" dirty="0"/>
              <a:t> is a space where possibilities come alive. True to its name </a:t>
            </a:r>
            <a:r>
              <a:rPr lang="en-US" sz="4000" i="1" dirty="0"/>
              <a:t>Bisa </a:t>
            </a:r>
            <a:r>
              <a:rPr lang="en-US" sz="4000" i="1" dirty="0" err="1"/>
              <a:t>Naruh</a:t>
            </a:r>
            <a:r>
              <a:rPr lang="en-US" sz="4000" i="1" dirty="0"/>
              <a:t> Apa Aja</a:t>
            </a:r>
            <a:r>
              <a:rPr lang="en-US" sz="4000" dirty="0"/>
              <a:t>, you can sell, share, and explore virtually anything!</a:t>
            </a:r>
          </a:p>
          <a:p>
            <a:pPr>
              <a:buNone/>
            </a:pPr>
            <a:endParaRPr lang="en-US" sz="4000" dirty="0"/>
          </a:p>
          <a:p>
            <a:pPr>
              <a:buNone/>
            </a:pPr>
            <a:r>
              <a:rPr lang="en-US" sz="4000" dirty="0"/>
              <a:t>🚀 </a:t>
            </a:r>
            <a:r>
              <a:rPr lang="en-US" sz="4000" b="1" dirty="0"/>
              <a:t>Start your journey today at </a:t>
            </a:r>
            <a:r>
              <a:rPr lang="en-US" sz="4000" b="1" dirty="0">
                <a:solidFill>
                  <a:schemeClr val="tx1"/>
                </a:solidFill>
                <a:hlinkClick r:id="rId5">
                  <a:extLst>
                    <a:ext uri="{A12FA001-AC4F-418D-AE19-62706E023703}">
                      <ahyp:hlinkClr xmlns:ahyp="http://schemas.microsoft.com/office/drawing/2018/hyperlinkcolor" val="tx"/>
                    </a:ext>
                  </a:extLst>
                </a:hlinkClick>
              </a:rPr>
              <a:t>NewBisanara.com</a:t>
            </a:r>
            <a:endParaRPr lang="en-US" sz="4000" b="1" dirty="0">
              <a:solidFill>
                <a:schemeClr val="tx1"/>
              </a:solidFill>
            </a:endParaRPr>
          </a:p>
          <a:p>
            <a:pPr>
              <a:buNone/>
            </a:pPr>
            <a:br>
              <a:rPr lang="en-US" sz="4000" dirty="0">
                <a:solidFill>
                  <a:schemeClr val="tx1"/>
                </a:solidFill>
              </a:rPr>
            </a:br>
            <a:r>
              <a:rPr lang="en-US" sz="4000" dirty="0">
                <a:solidFill>
                  <a:schemeClr val="tx1"/>
                </a:solidFill>
              </a:rPr>
              <a:t>🎥 Watch the guide here: </a:t>
            </a:r>
            <a:r>
              <a:rPr lang="en-US" sz="4000" dirty="0">
                <a:solidFill>
                  <a:schemeClr val="tx1"/>
                </a:solidFill>
                <a:hlinkClick r:id="rId6">
                  <a:extLst>
                    <a:ext uri="{A12FA001-AC4F-418D-AE19-62706E023703}">
                      <ahyp:hlinkClr xmlns:ahyp="http://schemas.microsoft.com/office/drawing/2018/hyperlinkcolor" val="tx"/>
                    </a:ext>
                  </a:extLst>
                </a:hlinkClick>
              </a:rPr>
              <a:t>https://youtu.be/1leygeakD6c</a:t>
            </a:r>
            <a:endParaRPr lang="en-US" sz="4000" dirty="0">
              <a:solidFill>
                <a:schemeClr val="tx1"/>
              </a:solidFill>
            </a:endParaRPr>
          </a:p>
        </p:txBody>
      </p:sp>
    </p:spTree>
    <p:extLst>
      <p:ext uri="{BB962C8B-B14F-4D97-AF65-F5344CB8AC3E}">
        <p14:creationId xmlns:p14="http://schemas.microsoft.com/office/powerpoint/2010/main" val="424230875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80096-73AB-E9AD-89B9-3A711B7B441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C698B9F-6465-9931-21AD-A4FE1555B38C}"/>
              </a:ext>
            </a:extLst>
          </p:cNvPr>
          <p:cNvSpPr txBox="1"/>
          <p:nvPr/>
        </p:nvSpPr>
        <p:spPr>
          <a:xfrm>
            <a:off x="6096000" y="662781"/>
            <a:ext cx="12903200" cy="15799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4800" dirty="0">
                <a:solidFill>
                  <a:srgbClr val="0090D4"/>
                </a:solidFill>
                <a:latin typeface="Georgia" panose="02040502050405020303" pitchFamily="18" charset="0"/>
              </a:rPr>
              <a:t>10 Questions to Develop Your Entrepreneur Mindset</a:t>
            </a:r>
          </a:p>
        </p:txBody>
      </p:sp>
      <p:sp>
        <p:nvSpPr>
          <p:cNvPr id="2" name="TextBox 1">
            <a:extLst>
              <a:ext uri="{FF2B5EF4-FFF2-40B4-BE49-F238E27FC236}">
                <a16:creationId xmlns:a16="http://schemas.microsoft.com/office/drawing/2014/main" id="{5031F2C1-360E-DC6D-F794-3FB4787FC9FD}"/>
              </a:ext>
            </a:extLst>
          </p:cNvPr>
          <p:cNvSpPr txBox="1"/>
          <p:nvPr/>
        </p:nvSpPr>
        <p:spPr>
          <a:xfrm>
            <a:off x="1087395" y="4041688"/>
            <a:ext cx="21476042" cy="78585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sz="2800" dirty="0">
                <a:latin typeface="Avenir Next LT Pro" panose="020B0504020202020204" pitchFamily="34" charset="77"/>
              </a:rPr>
              <a:t>By reflecting on these questions and considering how you approach the entrepreneurial mindset, you can gain a deeper understanding of your strengths, weaknesses, and areas for growth.</a:t>
            </a:r>
          </a:p>
          <a:p>
            <a:pPr algn="l"/>
            <a:endParaRPr lang="en-US" sz="2800" dirty="0">
              <a:latin typeface="Avenir Next LT Pro" panose="020B0504020202020204" pitchFamily="34" charset="77"/>
            </a:endParaRPr>
          </a:p>
          <a:p>
            <a:pPr algn="l"/>
            <a:r>
              <a:rPr lang="en-US" sz="2800" dirty="0">
                <a:latin typeface="Avenir Next LT Pro" panose="020B0504020202020204" pitchFamily="34" charset="77"/>
              </a:rPr>
              <a:t>This can help you develop and cultivate the skills and characteristics necessary for success in the entrepreneurial world.</a:t>
            </a:r>
          </a:p>
          <a:p>
            <a:pPr algn="l"/>
            <a:r>
              <a:rPr lang="en-US" sz="2800" dirty="0">
                <a:latin typeface="Avenir Next LT Pro" panose="020B0504020202020204" pitchFamily="34" charset="77"/>
              </a:rPr>
              <a:t>Here are ten questions to reflect on an entrepreneurial mindset:</a:t>
            </a:r>
          </a:p>
          <a:p>
            <a:pPr algn="l"/>
            <a:endParaRPr lang="en-US" sz="2800" dirty="0">
              <a:latin typeface="Avenir Next LT Pro" panose="020B0504020202020204" pitchFamily="34" charset="77"/>
            </a:endParaRPr>
          </a:p>
          <a:p>
            <a:pPr marL="457200" indent="-457200" algn="l">
              <a:buFont typeface="+mj-lt"/>
              <a:buAutoNum type="arabicPeriod"/>
            </a:pPr>
            <a:r>
              <a:rPr lang="en-US" sz="2800" b="1" dirty="0">
                <a:latin typeface="Avenir Next LT Pro" panose="020B0504020202020204" pitchFamily="34" charset="77"/>
              </a:rPr>
              <a:t>Opportunity Hunter</a:t>
            </a:r>
            <a:r>
              <a:rPr lang="en-US" sz="2800" dirty="0">
                <a:latin typeface="Avenir Next LT Pro" panose="020B0504020202020204" pitchFamily="34" charset="77"/>
              </a:rPr>
              <a:t>:	: </a:t>
            </a:r>
            <a:r>
              <a:rPr lang="en-US" sz="2800" i="1" dirty="0">
                <a:latin typeface="Avenir Next LT Pro" panose="020B0504020202020204" pitchFamily="34" charset="77"/>
              </a:rPr>
              <a:t>What untapped opportunities can you discover in your field or industry?</a:t>
            </a:r>
          </a:p>
          <a:p>
            <a:pPr marL="457200" indent="-457200" algn="l">
              <a:buFont typeface="+mj-lt"/>
              <a:buAutoNum type="arabicPeriod"/>
            </a:pPr>
            <a:r>
              <a:rPr lang="en-US" sz="2800" b="1" dirty="0">
                <a:latin typeface="Avenir Next LT Pro" panose="020B0504020202020204" pitchFamily="34" charset="77"/>
              </a:rPr>
              <a:t>Innovation Driver	</a:t>
            </a:r>
            <a:r>
              <a:rPr lang="en-US" sz="2800" dirty="0">
                <a:latin typeface="Avenir Next LT Pro" panose="020B0504020202020204" pitchFamily="34" charset="77"/>
              </a:rPr>
              <a:t>: </a:t>
            </a:r>
            <a:r>
              <a:rPr lang="en-US" sz="2800" i="1" dirty="0">
                <a:latin typeface="Avenir Next LT Pro" panose="020B0504020202020204" pitchFamily="34" charset="77"/>
              </a:rPr>
              <a:t>How can you creatively solve complex problems and make decisions that challenge the status quo?</a:t>
            </a:r>
          </a:p>
          <a:p>
            <a:pPr marL="457200" indent="-457200" algn="l">
              <a:buFont typeface="+mj-lt"/>
              <a:buAutoNum type="arabicPeriod"/>
            </a:pPr>
            <a:r>
              <a:rPr lang="en-US" sz="2800" b="1" dirty="0">
                <a:latin typeface="Avenir Next LT Pro" panose="020B0504020202020204" pitchFamily="34" charset="77"/>
              </a:rPr>
              <a:t>Risk Taker		</a:t>
            </a:r>
            <a:r>
              <a:rPr lang="en-US" sz="2800" dirty="0">
                <a:latin typeface="Avenir Next LT Pro" panose="020B0504020202020204" pitchFamily="34" charset="77"/>
              </a:rPr>
              <a:t>: </a:t>
            </a:r>
            <a:r>
              <a:rPr lang="en-US" sz="2800" i="1" dirty="0">
                <a:latin typeface="Avenir Next LT Pro" panose="020B0504020202020204" pitchFamily="34" charset="77"/>
              </a:rPr>
              <a:t>Are you prepared to take well-calculated risks to propel your goals forward?</a:t>
            </a:r>
          </a:p>
          <a:p>
            <a:pPr marL="457200" indent="-457200" algn="l">
              <a:buFont typeface="+mj-lt"/>
              <a:buAutoNum type="arabicPeriod"/>
            </a:pPr>
            <a:r>
              <a:rPr lang="en-US" sz="2800" b="1" dirty="0">
                <a:latin typeface="Avenir Next LT Pro" panose="020B0504020202020204" pitchFamily="34" charset="77"/>
              </a:rPr>
              <a:t>Resilience Builder	</a:t>
            </a:r>
            <a:r>
              <a:rPr lang="en-US" sz="2800" dirty="0">
                <a:latin typeface="Avenir Next LT Pro" panose="020B0504020202020204" pitchFamily="34" charset="77"/>
              </a:rPr>
              <a:t>: </a:t>
            </a:r>
            <a:r>
              <a:rPr lang="en-US" sz="2800" i="1" dirty="0">
                <a:latin typeface="Avenir Next LT Pro" panose="020B0504020202020204" pitchFamily="34" charset="77"/>
              </a:rPr>
              <a:t>When faced with setbacks and failures, how do you bounce back and use these experiences to your  </a:t>
            </a:r>
          </a:p>
          <a:p>
            <a:pPr algn="l"/>
            <a:r>
              <a:rPr lang="en-US" sz="2800" i="1" dirty="0">
                <a:latin typeface="Avenir Next LT Pro" panose="020B0504020202020204" pitchFamily="34" charset="77"/>
              </a:rPr>
              <a:t>                                                         advantage?</a:t>
            </a:r>
          </a:p>
          <a:p>
            <a:pPr marL="457200" indent="-457200" algn="l">
              <a:buFont typeface="+mj-lt"/>
              <a:buAutoNum type="arabicPeriod"/>
            </a:pPr>
            <a:r>
              <a:rPr lang="en-US" sz="2800" b="1" dirty="0">
                <a:latin typeface="Avenir Next LT Pro" panose="020B0504020202020204" pitchFamily="34" charset="77"/>
              </a:rPr>
              <a:t>Ambiguity Navigator	</a:t>
            </a:r>
            <a:r>
              <a:rPr lang="en-US" sz="2800" dirty="0">
                <a:latin typeface="Avenir Next LT Pro" panose="020B0504020202020204" pitchFamily="34" charset="77"/>
              </a:rPr>
              <a:t>: </a:t>
            </a:r>
            <a:r>
              <a:rPr lang="en-US" sz="2800" i="1" dirty="0">
                <a:latin typeface="Avenir Next LT Pro" panose="020B0504020202020204" pitchFamily="34" charset="77"/>
              </a:rPr>
              <a:t>How do you embrace and thrive in situations filled with uncertainty and ambiguity?</a:t>
            </a:r>
          </a:p>
          <a:p>
            <a:pPr marL="457200" indent="-457200" algn="l">
              <a:buFont typeface="+mj-lt"/>
              <a:buAutoNum type="arabicPeriod"/>
            </a:pPr>
            <a:r>
              <a:rPr lang="en-US" sz="2800" b="1" dirty="0">
                <a:latin typeface="Avenir Next LT Pro" panose="020B0504020202020204" pitchFamily="34" charset="77"/>
              </a:rPr>
              <a:t>Adaptability Champion	</a:t>
            </a:r>
            <a:r>
              <a:rPr lang="en-US" sz="2800" dirty="0">
                <a:latin typeface="Avenir Next LT Pro" panose="020B0504020202020204" pitchFamily="34" charset="77"/>
              </a:rPr>
              <a:t>: </a:t>
            </a:r>
            <a:r>
              <a:rPr lang="en-US" sz="2800" i="1" dirty="0">
                <a:latin typeface="Avenir Next LT Pro" panose="020B0504020202020204" pitchFamily="34" charset="77"/>
              </a:rPr>
              <a:t>In a rapidly changing world, what strategies do you employ to stay adaptable and flexible?</a:t>
            </a:r>
          </a:p>
          <a:p>
            <a:pPr marL="457200" indent="-457200" algn="l">
              <a:buFont typeface="+mj-lt"/>
              <a:buAutoNum type="arabicPeriod"/>
            </a:pPr>
            <a:r>
              <a:rPr lang="en-US" sz="2800" b="1" dirty="0">
                <a:latin typeface="Avenir Next LT Pro" panose="020B0504020202020204" pitchFamily="34" charset="77"/>
              </a:rPr>
              <a:t>Visionary Leader	</a:t>
            </a:r>
            <a:r>
              <a:rPr lang="en-US" sz="2800" dirty="0">
                <a:latin typeface="Avenir Next LT Pro" panose="020B0504020202020204" pitchFamily="34" charset="77"/>
              </a:rPr>
              <a:t>: </a:t>
            </a:r>
            <a:r>
              <a:rPr lang="en-US" sz="2800" i="1" dirty="0">
                <a:latin typeface="Avenir Next LT Pro" panose="020B0504020202020204" pitchFamily="34" charset="77"/>
              </a:rPr>
              <a:t>Can you articulate a compelling vision that inspires and guides your business or venture?</a:t>
            </a:r>
          </a:p>
          <a:p>
            <a:pPr marL="457200" indent="-457200" algn="l">
              <a:buFont typeface="+mj-lt"/>
              <a:buAutoNum type="arabicPeriod"/>
            </a:pPr>
            <a:r>
              <a:rPr lang="en-US" sz="2800" b="1" dirty="0">
                <a:latin typeface="Avenir Next LT Pro" panose="020B0504020202020204" pitchFamily="34" charset="77"/>
              </a:rPr>
              <a:t>Time Master	</a:t>
            </a:r>
            <a:r>
              <a:rPr lang="en-US" sz="2800" dirty="0">
                <a:latin typeface="Avenir Next LT Pro" panose="020B0504020202020204" pitchFamily="34" charset="77"/>
              </a:rPr>
              <a:t>: </a:t>
            </a:r>
            <a:r>
              <a:rPr lang="en-US" sz="2800" i="1" dirty="0">
                <a:latin typeface="Avenir Next LT Pro" panose="020B0504020202020204" pitchFamily="34" charset="77"/>
              </a:rPr>
              <a:t>How do you effectively manage your time, ensuring it’s focused on high-impact activities?</a:t>
            </a:r>
          </a:p>
          <a:p>
            <a:pPr marL="457200" indent="-457200" algn="l">
              <a:buFont typeface="+mj-lt"/>
              <a:buAutoNum type="arabicPeriod"/>
            </a:pPr>
            <a:r>
              <a:rPr lang="en-US" sz="2800" b="1" dirty="0">
                <a:latin typeface="Avenir Next LT Pro" panose="020B0504020202020204" pitchFamily="34" charset="77"/>
              </a:rPr>
              <a:t>Innovative Thinker	</a:t>
            </a:r>
            <a:r>
              <a:rPr lang="en-US" sz="2800" dirty="0">
                <a:latin typeface="Avenir Next LT Pro" panose="020B0504020202020204" pitchFamily="34" charset="77"/>
              </a:rPr>
              <a:t>: </a:t>
            </a:r>
            <a:r>
              <a:rPr lang="en-US" sz="2800" i="1" dirty="0">
                <a:latin typeface="Avenir Next LT Pro" panose="020B0504020202020204" pitchFamily="34" charset="77"/>
              </a:rPr>
              <a:t>Are you open to adopting new ideas and perspectives to foster innovation?</a:t>
            </a:r>
          </a:p>
          <a:p>
            <a:pPr marL="457200" indent="-457200" algn="l">
              <a:buFont typeface="+mj-lt"/>
              <a:buAutoNum type="arabicPeriod"/>
            </a:pPr>
            <a:r>
              <a:rPr lang="en-US" sz="2800" b="1" dirty="0">
                <a:latin typeface="Avenir Next LT Pro" panose="020B0504020202020204" pitchFamily="34" charset="77"/>
              </a:rPr>
              <a:t>Collaboration Maestro	</a:t>
            </a:r>
            <a:r>
              <a:rPr lang="en-US" sz="2800" dirty="0">
                <a:latin typeface="Avenir Next LT Pro" panose="020B0504020202020204" pitchFamily="34" charset="77"/>
              </a:rPr>
              <a:t>: </a:t>
            </a:r>
            <a:r>
              <a:rPr lang="en-US" sz="2800" i="1" dirty="0">
                <a:latin typeface="Avenir Next LT Pro" panose="020B0504020202020204" pitchFamily="34" charset="77"/>
              </a:rPr>
              <a:t>What steps do you take to cultivate productive collaborations and build strong relationships for    </a:t>
            </a:r>
          </a:p>
          <a:p>
            <a:pPr algn="l"/>
            <a:r>
              <a:rPr lang="en-US" sz="2800" i="1" dirty="0">
                <a:latin typeface="Avenir Next LT Pro" panose="020B0504020202020204" pitchFamily="34" charset="77"/>
              </a:rPr>
              <a:t>                                                         shared success?</a:t>
            </a:r>
            <a:endParaRPr lang="en-US" sz="2800" dirty="0">
              <a:latin typeface="Avenir Next LT Pro" panose="020B0504020202020204" pitchFamily="34" charset="77"/>
            </a:endParaRPr>
          </a:p>
        </p:txBody>
      </p:sp>
    </p:spTree>
    <p:extLst>
      <p:ext uri="{BB962C8B-B14F-4D97-AF65-F5344CB8AC3E}">
        <p14:creationId xmlns:p14="http://schemas.microsoft.com/office/powerpoint/2010/main" val="200871316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34000"/>
          </a:srgb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991C8E-94EA-EE6A-CA32-166C5A2B9450}"/>
              </a:ext>
            </a:extLst>
          </p:cNvPr>
          <p:cNvSpPr txBox="1"/>
          <p:nvPr/>
        </p:nvSpPr>
        <p:spPr>
          <a:xfrm>
            <a:off x="5613400" y="1138347"/>
            <a:ext cx="1290320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rgbClr val="0090D4"/>
                </a:solidFill>
                <a:effectLst/>
                <a:uFillTx/>
                <a:latin typeface="Georgia" panose="02040502050405020303" pitchFamily="18" charset="0"/>
                <a:sym typeface="Helvetica Neue"/>
              </a:rPr>
              <a:t>The Myth Of Entrepreneurship</a:t>
            </a:r>
          </a:p>
        </p:txBody>
      </p:sp>
      <p:graphicFrame>
        <p:nvGraphicFramePr>
          <p:cNvPr id="6" name="Table 5">
            <a:extLst>
              <a:ext uri="{FF2B5EF4-FFF2-40B4-BE49-F238E27FC236}">
                <a16:creationId xmlns:a16="http://schemas.microsoft.com/office/drawing/2014/main" id="{DBCF041A-C2A4-747A-017C-76450ED87021}"/>
              </a:ext>
            </a:extLst>
          </p:cNvPr>
          <p:cNvGraphicFramePr>
            <a:graphicFrameLocks noGrp="1"/>
          </p:cNvGraphicFramePr>
          <p:nvPr>
            <p:extLst>
              <p:ext uri="{D42A27DB-BD31-4B8C-83A1-F6EECF244321}">
                <p14:modId xmlns:p14="http://schemas.microsoft.com/office/powerpoint/2010/main" val="3399967382"/>
              </p:ext>
            </p:extLst>
          </p:nvPr>
        </p:nvGraphicFramePr>
        <p:xfrm>
          <a:off x="1060450" y="3636853"/>
          <a:ext cx="22263100" cy="8940800"/>
        </p:xfrm>
        <a:graphic>
          <a:graphicData uri="http://schemas.openxmlformats.org/drawingml/2006/table">
            <a:tbl>
              <a:tblPr>
                <a:effectLst>
                  <a:outerShdw blurRad="50800" dist="38100" algn="l" rotWithShape="0">
                    <a:prstClr val="black">
                      <a:alpha val="40000"/>
                    </a:prstClr>
                  </a:outerShdw>
                </a:effectLst>
              </a:tblPr>
              <a:tblGrid>
                <a:gridCol w="11131550">
                  <a:extLst>
                    <a:ext uri="{9D8B030D-6E8A-4147-A177-3AD203B41FA5}">
                      <a16:colId xmlns:a16="http://schemas.microsoft.com/office/drawing/2014/main" val="3892424835"/>
                    </a:ext>
                  </a:extLst>
                </a:gridCol>
                <a:gridCol w="11131550">
                  <a:extLst>
                    <a:ext uri="{9D8B030D-6E8A-4147-A177-3AD203B41FA5}">
                      <a16:colId xmlns:a16="http://schemas.microsoft.com/office/drawing/2014/main" val="3892388712"/>
                    </a:ext>
                  </a:extLst>
                </a:gridCol>
              </a:tblGrid>
              <a:tr h="1425860">
                <a:tc>
                  <a:txBody>
                    <a:bodyPr/>
                    <a:lstStyle/>
                    <a:p>
                      <a:pPr>
                        <a:buNone/>
                      </a:pPr>
                      <a:r>
                        <a:rPr lang="en-US" sz="4400" b="1" dirty="0">
                          <a:latin typeface="Avenir Next LT Pro" panose="020B0504020202020204" pitchFamily="34" charset="77"/>
                        </a:rPr>
                        <a:t>Myth</a:t>
                      </a:r>
                      <a:endParaRPr lang="en-US" sz="4400" dirty="0">
                        <a:latin typeface="Avenir Next LT Pro" panose="020B0504020202020204" pitchFamily="34" charset="77"/>
                      </a:endParaRP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tc>
                  <a:txBody>
                    <a:bodyPr/>
                    <a:lstStyle/>
                    <a:p>
                      <a:pPr>
                        <a:buNone/>
                      </a:pPr>
                      <a:r>
                        <a:rPr lang="en-US" sz="4400" b="1" dirty="0">
                          <a:latin typeface="Avenir Next LT Pro" panose="020B0504020202020204" pitchFamily="34" charset="77"/>
                        </a:rPr>
                        <a:t>Reality</a:t>
                      </a:r>
                      <a:endParaRPr lang="en-US" sz="4400" dirty="0">
                        <a:latin typeface="Avenir Next LT Pro" panose="020B0504020202020204" pitchFamily="34" charset="77"/>
                      </a:endParaRP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691435"/>
                  </a:ext>
                </a:extLst>
              </a:tr>
              <a:tr h="1618680">
                <a:tc>
                  <a:txBody>
                    <a:bodyPr/>
                    <a:lstStyle/>
                    <a:p>
                      <a:pPr algn="l">
                        <a:buNone/>
                      </a:pPr>
                      <a:r>
                        <a:rPr lang="en-US" sz="3200" dirty="0">
                          <a:latin typeface="Avenir Next LT Pro" panose="020B0504020202020204" pitchFamily="34" charset="77"/>
                        </a:rPr>
                        <a:t>Entrepreneurs are born, not made</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tc>
                  <a:txBody>
                    <a:bodyPr/>
                    <a:lstStyle/>
                    <a:p>
                      <a:pPr algn="l">
                        <a:buNone/>
                      </a:pPr>
                      <a:r>
                        <a:rPr lang="en-US" sz="3200" dirty="0">
                          <a:latin typeface="Avenir Next LT Pro" panose="020B0504020202020204" pitchFamily="34" charset="77"/>
                        </a:rPr>
                        <a:t>Entrepreneurship is a learned skill — mindset and method can be developed</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5274846"/>
                  </a:ext>
                </a:extLst>
              </a:tr>
              <a:tr h="1618680">
                <a:tc>
                  <a:txBody>
                    <a:bodyPr/>
                    <a:lstStyle/>
                    <a:p>
                      <a:pPr algn="l">
                        <a:buNone/>
                      </a:pPr>
                      <a:r>
                        <a:rPr lang="en-US" sz="3200" dirty="0">
                          <a:latin typeface="Avenir Next LT Pro" panose="020B0504020202020204" pitchFamily="34" charset="77"/>
                        </a:rPr>
                        <a:t>Entrepreneurs take big risks</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tc>
                  <a:txBody>
                    <a:bodyPr/>
                    <a:lstStyle/>
                    <a:p>
                      <a:pPr algn="l">
                        <a:buNone/>
                      </a:pPr>
                      <a:r>
                        <a:rPr lang="en-US" sz="3200" dirty="0">
                          <a:latin typeface="Avenir Next LT Pro" panose="020B0504020202020204" pitchFamily="34" charset="77"/>
                        </a:rPr>
                        <a:t>Successful entrepreneurs </a:t>
                      </a:r>
                      <a:r>
                        <a:rPr lang="en-US" sz="3200" b="1" dirty="0">
                          <a:latin typeface="Avenir Next LT Pro" panose="020B0504020202020204" pitchFamily="34" charset="77"/>
                        </a:rPr>
                        <a:t>minimize risks</a:t>
                      </a:r>
                      <a:r>
                        <a:rPr lang="en-US" sz="3200" dirty="0">
                          <a:latin typeface="Avenir Next LT Pro" panose="020B0504020202020204" pitchFamily="34" charset="77"/>
                        </a:rPr>
                        <a:t> through testing and validation</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040598"/>
                  </a:ext>
                </a:extLst>
              </a:tr>
              <a:tr h="1425860">
                <a:tc>
                  <a:txBody>
                    <a:bodyPr/>
                    <a:lstStyle/>
                    <a:p>
                      <a:pPr algn="l">
                        <a:buNone/>
                      </a:pPr>
                      <a:r>
                        <a:rPr lang="en-US" sz="3200">
                          <a:latin typeface="Avenir Next LT Pro" panose="020B0504020202020204" pitchFamily="34" charset="77"/>
                        </a:rPr>
                        <a:t>A great idea guarantees success</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tc>
                  <a:txBody>
                    <a:bodyPr/>
                    <a:lstStyle/>
                    <a:p>
                      <a:pPr algn="l">
                        <a:buNone/>
                      </a:pPr>
                      <a:r>
                        <a:rPr lang="en-US" sz="3200" b="1" dirty="0">
                          <a:latin typeface="Avenir Next LT Pro" panose="020B0504020202020204" pitchFamily="34" charset="77"/>
                        </a:rPr>
                        <a:t>Execution</a:t>
                      </a:r>
                      <a:r>
                        <a:rPr lang="en-US" sz="3200" dirty="0">
                          <a:latin typeface="Avenir Next LT Pro" panose="020B0504020202020204" pitchFamily="34" charset="77"/>
                        </a:rPr>
                        <a:t> and market fit matter more than the idea itself</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6829129"/>
                  </a:ext>
                </a:extLst>
              </a:tr>
              <a:tr h="1425860">
                <a:tc>
                  <a:txBody>
                    <a:bodyPr/>
                    <a:lstStyle/>
                    <a:p>
                      <a:pPr algn="l">
                        <a:buNone/>
                      </a:pPr>
                      <a:r>
                        <a:rPr lang="en-US" sz="3200">
                          <a:latin typeface="Avenir Next LT Pro" panose="020B0504020202020204" pitchFamily="34" charset="77"/>
                        </a:rPr>
                        <a:t>Entrepreneurs work alone</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tc>
                  <a:txBody>
                    <a:bodyPr/>
                    <a:lstStyle/>
                    <a:p>
                      <a:pPr algn="l">
                        <a:buNone/>
                      </a:pPr>
                      <a:r>
                        <a:rPr lang="en-US" sz="3200" dirty="0">
                          <a:latin typeface="Avenir Next LT Pro" panose="020B0504020202020204" pitchFamily="34" charset="77"/>
                        </a:rPr>
                        <a:t>Building a </a:t>
                      </a:r>
                      <a:r>
                        <a:rPr lang="en-US" sz="3200" b="1" dirty="0">
                          <a:latin typeface="Avenir Next LT Pro" panose="020B0504020202020204" pitchFamily="34" charset="77"/>
                        </a:rPr>
                        <a:t>strong, complementary team</a:t>
                      </a:r>
                      <a:r>
                        <a:rPr lang="en-US" sz="3200" dirty="0">
                          <a:latin typeface="Avenir Next LT Pro" panose="020B0504020202020204" pitchFamily="34" charset="77"/>
                        </a:rPr>
                        <a:t> is key</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5426302"/>
                  </a:ext>
                </a:extLst>
              </a:tr>
              <a:tr h="1425860">
                <a:tc>
                  <a:txBody>
                    <a:bodyPr/>
                    <a:lstStyle/>
                    <a:p>
                      <a:pPr algn="l">
                        <a:buNone/>
                      </a:pPr>
                      <a:r>
                        <a:rPr lang="en-US" sz="3200" dirty="0">
                          <a:latin typeface="Avenir Next LT Pro" panose="020B0504020202020204" pitchFamily="34" charset="77"/>
                        </a:rPr>
                        <a:t>Entrepreneurship is about money</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tc>
                  <a:txBody>
                    <a:bodyPr/>
                    <a:lstStyle/>
                    <a:p>
                      <a:pPr algn="l">
                        <a:buNone/>
                      </a:pPr>
                      <a:r>
                        <a:rPr lang="en-US" sz="3200" dirty="0">
                          <a:latin typeface="Avenir Next LT Pro" panose="020B0504020202020204" pitchFamily="34" charset="77"/>
                        </a:rPr>
                        <a:t>It’s primarily about </a:t>
                      </a:r>
                      <a:r>
                        <a:rPr lang="en-US" sz="3200" b="1" dirty="0">
                          <a:latin typeface="Avenir Next LT Pro" panose="020B0504020202020204" pitchFamily="34" charset="77"/>
                        </a:rPr>
                        <a:t>creating value and solving problems</a:t>
                      </a:r>
                      <a:endParaRPr lang="en-US" sz="3200" dirty="0">
                        <a:latin typeface="Avenir Next LT Pro" panose="020B0504020202020204" pitchFamily="34" charset="77"/>
                      </a:endParaRP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6853695"/>
                  </a:ext>
                </a:extLst>
              </a:tr>
            </a:tbl>
          </a:graphicData>
        </a:graphic>
      </p:graphicFrame>
    </p:spTree>
    <p:extLst>
      <p:ext uri="{BB962C8B-B14F-4D97-AF65-F5344CB8AC3E}">
        <p14:creationId xmlns:p14="http://schemas.microsoft.com/office/powerpoint/2010/main" val="346541149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6E1FF-552F-5184-57F0-5C3E3C4EAB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7D29FA-F9FD-348E-5968-AED2F124CECF}"/>
              </a:ext>
            </a:extLst>
          </p:cNvPr>
          <p:cNvSpPr txBox="1"/>
          <p:nvPr/>
        </p:nvSpPr>
        <p:spPr>
          <a:xfrm>
            <a:off x="5499100" y="1025842"/>
            <a:ext cx="1290320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5400" dirty="0">
                <a:solidFill>
                  <a:srgbClr val="0090D4"/>
                </a:solidFill>
                <a:latin typeface="Georgia" panose="02040502050405020303" pitchFamily="18" charset="0"/>
              </a:rPr>
              <a:t>Supporting Roles – Team Set Up</a:t>
            </a:r>
            <a:endParaRPr lang="en-US" sz="5400" dirty="0">
              <a:latin typeface="Avenir Next LT Pro" panose="020B0504020202020204" pitchFamily="34" charset="77"/>
            </a:endParaRPr>
          </a:p>
        </p:txBody>
      </p:sp>
      <p:pic>
        <p:nvPicPr>
          <p:cNvPr id="2" name="Picture 1">
            <a:extLst>
              <a:ext uri="{FF2B5EF4-FFF2-40B4-BE49-F238E27FC236}">
                <a16:creationId xmlns:a16="http://schemas.microsoft.com/office/drawing/2014/main" id="{58AC7B12-BA69-EF38-D492-46691DA633F6}"/>
              </a:ext>
            </a:extLst>
          </p:cNvPr>
          <p:cNvPicPr>
            <a:picLocks noChangeAspect="1"/>
          </p:cNvPicPr>
          <p:nvPr/>
        </p:nvPicPr>
        <p:blipFill>
          <a:blip r:embed="rId2"/>
          <a:stretch>
            <a:fillRect/>
          </a:stretch>
        </p:blipFill>
        <p:spPr>
          <a:xfrm>
            <a:off x="12192000" y="2748975"/>
            <a:ext cx="11626850" cy="10245812"/>
          </a:xfrm>
          <a:prstGeom prst="rect">
            <a:avLst/>
          </a:prstGeom>
          <a:ln>
            <a:noFill/>
          </a:ln>
          <a:effectLst>
            <a:outerShdw blurRad="54256" dist="530617" dir="2700000" sx="99000" sy="99000" algn="tl" rotWithShape="0">
              <a:srgbClr val="333333">
                <a:alpha val="65000"/>
              </a:srgbClr>
            </a:outerShdw>
          </a:effectLst>
        </p:spPr>
      </p:pic>
      <p:sp>
        <p:nvSpPr>
          <p:cNvPr id="7" name="TextBox 6">
            <a:extLst>
              <a:ext uri="{FF2B5EF4-FFF2-40B4-BE49-F238E27FC236}">
                <a16:creationId xmlns:a16="http://schemas.microsoft.com/office/drawing/2014/main" id="{FD5D3819-5929-D6C7-554F-19D9D4BBFAE1}"/>
              </a:ext>
            </a:extLst>
          </p:cNvPr>
          <p:cNvSpPr txBox="1"/>
          <p:nvPr/>
        </p:nvSpPr>
        <p:spPr>
          <a:xfrm>
            <a:off x="565150" y="3053604"/>
            <a:ext cx="11125200" cy="99411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514350" indent="-514350" algn="l">
              <a:buFont typeface="+mj-lt"/>
              <a:buAutoNum type="arabicPeriod"/>
            </a:pPr>
            <a:r>
              <a:rPr lang="en-US" sz="3200" b="1" dirty="0">
                <a:latin typeface="Avenir Next LT Pro" panose="020B0504020202020204" pitchFamily="34" charset="77"/>
              </a:rPr>
              <a:t>Beatrice – The Brain</a:t>
            </a:r>
            <a:endParaRPr lang="en-US" sz="3200" dirty="0">
              <a:latin typeface="Avenir Next LT Pro" panose="020B0504020202020204" pitchFamily="34" charset="77"/>
            </a:endParaRPr>
          </a:p>
          <a:p>
            <a:pPr marL="989013" indent="-447675" algn="l">
              <a:buFont typeface="Arial" panose="020B0604020202020204" pitchFamily="34" charset="0"/>
              <a:buChar char="•"/>
            </a:pPr>
            <a:r>
              <a:rPr lang="en-US" sz="3200" b="1" dirty="0">
                <a:latin typeface="Avenir Next LT Pro" panose="020B0504020202020204" pitchFamily="34" charset="77"/>
              </a:rPr>
              <a:t>Traits:</a:t>
            </a:r>
            <a:r>
              <a:rPr lang="en-US" sz="3200" dirty="0">
                <a:latin typeface="Avenir Next LT Pro" panose="020B0504020202020204" pitchFamily="34" charset="77"/>
              </a:rPr>
              <a:t> Creative, strategic thinker with strong business sense.</a:t>
            </a:r>
          </a:p>
          <a:p>
            <a:pPr marL="989013" indent="-447675" algn="l">
              <a:buFont typeface="Arial" panose="020B0604020202020204" pitchFamily="34" charset="0"/>
              <a:buChar char="•"/>
            </a:pPr>
            <a:r>
              <a:rPr lang="en-US" sz="3200" b="1" dirty="0">
                <a:latin typeface="Avenir Next LT Pro" panose="020B0504020202020204" pitchFamily="34" charset="77"/>
              </a:rPr>
              <a:t>Focus:</a:t>
            </a:r>
            <a:r>
              <a:rPr lang="en-US" sz="3200" dirty="0">
                <a:latin typeface="Avenir Next LT Pro" panose="020B0504020202020204" pitchFamily="34" charset="77"/>
              </a:rPr>
              <a:t> Provides intellectual and problem-solving support.</a:t>
            </a:r>
          </a:p>
          <a:p>
            <a:pPr algn="l">
              <a:buNone/>
            </a:pPr>
            <a:r>
              <a:rPr lang="en-US" sz="3200" b="1" dirty="0">
                <a:latin typeface="Avenir Next LT Pro" panose="020B0504020202020204" pitchFamily="34" charset="77"/>
              </a:rPr>
              <a:t>2. Tamara – The Visionary</a:t>
            </a:r>
            <a:endParaRPr lang="en-US" sz="3200" dirty="0">
              <a:latin typeface="Avenir Next LT Pro" panose="020B0504020202020204" pitchFamily="34" charset="77"/>
            </a:endParaRPr>
          </a:p>
          <a:p>
            <a:pPr marL="989013" indent="-447675" algn="l">
              <a:buFont typeface="Arial" panose="020B0604020202020204" pitchFamily="34" charset="0"/>
              <a:buChar char="•"/>
            </a:pPr>
            <a:r>
              <a:rPr lang="en-US" sz="3200" b="1" dirty="0">
                <a:latin typeface="Avenir Next LT Pro" panose="020B0504020202020204" pitchFamily="34" charset="77"/>
              </a:rPr>
              <a:t>Traits:</a:t>
            </a:r>
            <a:r>
              <a:rPr lang="en-US" sz="3200" dirty="0">
                <a:latin typeface="Avenir Next LT Pro" panose="020B0504020202020204" pitchFamily="34" charset="77"/>
              </a:rPr>
              <a:t> Big-picture thinker, imaginative, future-oriented.</a:t>
            </a:r>
          </a:p>
          <a:p>
            <a:pPr marL="989013" indent="-447675" algn="l">
              <a:buFont typeface="Arial" panose="020B0604020202020204" pitchFamily="34" charset="0"/>
              <a:buChar char="•"/>
            </a:pPr>
            <a:r>
              <a:rPr lang="en-US" sz="3200" b="1" dirty="0">
                <a:latin typeface="Avenir Next LT Pro" panose="020B0504020202020204" pitchFamily="34" charset="77"/>
              </a:rPr>
              <a:t>Focus:</a:t>
            </a:r>
            <a:r>
              <a:rPr lang="en-US" sz="3200" dirty="0">
                <a:latin typeface="Avenir Next LT Pro" panose="020B0504020202020204" pitchFamily="34" charset="77"/>
              </a:rPr>
              <a:t> Guides long-term goals and opportunities.</a:t>
            </a:r>
          </a:p>
          <a:p>
            <a:pPr algn="l">
              <a:buNone/>
            </a:pPr>
            <a:r>
              <a:rPr lang="en-US" sz="3200" b="1" dirty="0">
                <a:latin typeface="Avenir Next LT Pro" panose="020B0504020202020204" pitchFamily="34" charset="77"/>
              </a:rPr>
              <a:t>3. Stephan – The Strategist</a:t>
            </a:r>
            <a:endParaRPr lang="en-US" sz="3200" dirty="0">
              <a:latin typeface="Avenir Next LT Pro" panose="020B0504020202020204" pitchFamily="34" charset="77"/>
            </a:endParaRPr>
          </a:p>
          <a:p>
            <a:pPr marL="989013" indent="-447675" algn="l">
              <a:buFont typeface="Arial" panose="020B0604020202020204" pitchFamily="34" charset="0"/>
              <a:buChar char="•"/>
            </a:pPr>
            <a:r>
              <a:rPr lang="en-US" sz="3200" b="1" dirty="0">
                <a:latin typeface="Avenir Next LT Pro" panose="020B0504020202020204" pitchFamily="34" charset="77"/>
              </a:rPr>
              <a:t>Traits:</a:t>
            </a:r>
            <a:r>
              <a:rPr lang="en-US" sz="3200" dirty="0">
                <a:latin typeface="Avenir Next LT Pro" panose="020B0504020202020204" pitchFamily="34" charset="77"/>
              </a:rPr>
              <a:t> Analytical, practical, risk-aware.</a:t>
            </a:r>
          </a:p>
          <a:p>
            <a:pPr marL="989013" indent="-447675" algn="l">
              <a:buFont typeface="Arial" panose="020B0604020202020204" pitchFamily="34" charset="0"/>
              <a:buChar char="•"/>
            </a:pPr>
            <a:r>
              <a:rPr lang="en-US" sz="3200" b="1" dirty="0">
                <a:latin typeface="Avenir Next LT Pro" panose="020B0504020202020204" pitchFamily="34" charset="77"/>
              </a:rPr>
              <a:t>Focus:</a:t>
            </a:r>
            <a:r>
              <a:rPr lang="en-US" sz="3200" dirty="0">
                <a:latin typeface="Avenir Next LT Pro" panose="020B0504020202020204" pitchFamily="34" charset="77"/>
              </a:rPr>
              <a:t> Balances creativity with realism and smart decision-making.</a:t>
            </a:r>
          </a:p>
          <a:p>
            <a:pPr algn="l">
              <a:buNone/>
            </a:pPr>
            <a:r>
              <a:rPr lang="en-US" sz="3200" b="1" dirty="0">
                <a:latin typeface="Avenir Next LT Pro" panose="020B0504020202020204" pitchFamily="34" charset="77"/>
              </a:rPr>
              <a:t>4. Vadim – The Mover and Shaker</a:t>
            </a:r>
            <a:endParaRPr lang="en-US" sz="3200" dirty="0">
              <a:latin typeface="Avenir Next LT Pro" panose="020B0504020202020204" pitchFamily="34" charset="77"/>
            </a:endParaRPr>
          </a:p>
          <a:p>
            <a:pPr marL="989013" indent="-447675" algn="l">
              <a:buFont typeface="Arial" panose="020B0604020202020204" pitchFamily="34" charset="0"/>
              <a:buChar char="•"/>
            </a:pPr>
            <a:r>
              <a:rPr lang="en-US" sz="3200" b="1" dirty="0">
                <a:latin typeface="Avenir Next LT Pro" panose="020B0504020202020204" pitchFamily="34" charset="77"/>
              </a:rPr>
              <a:t>Traits:</a:t>
            </a:r>
            <a:r>
              <a:rPr lang="en-US" sz="3200" dirty="0">
                <a:latin typeface="Avenir Next LT Pro" panose="020B0504020202020204" pitchFamily="34" charset="77"/>
              </a:rPr>
              <a:t> Technically skilled, reliable, action-driven.</a:t>
            </a:r>
          </a:p>
          <a:p>
            <a:pPr marL="989013" indent="-447675" algn="l">
              <a:buFont typeface="Arial" panose="020B0604020202020204" pitchFamily="34" charset="0"/>
              <a:buChar char="•"/>
            </a:pPr>
            <a:r>
              <a:rPr lang="en-US" sz="3200" b="1" dirty="0">
                <a:latin typeface="Avenir Next LT Pro" panose="020B0504020202020204" pitchFamily="34" charset="77"/>
              </a:rPr>
              <a:t>Focus:</a:t>
            </a:r>
            <a:r>
              <a:rPr lang="en-US" sz="3200" dirty="0">
                <a:latin typeface="Avenir Next LT Pro" panose="020B0504020202020204" pitchFamily="34" charset="77"/>
              </a:rPr>
              <a:t> Turns ideas into working solutions.</a:t>
            </a:r>
          </a:p>
          <a:p>
            <a:pPr algn="l">
              <a:buNone/>
            </a:pPr>
            <a:r>
              <a:rPr lang="en-US" sz="3200" b="1" dirty="0">
                <a:latin typeface="Avenir Next LT Pro" panose="020B0504020202020204" pitchFamily="34" charset="77"/>
              </a:rPr>
              <a:t>5. Alex – The Salesman</a:t>
            </a:r>
            <a:endParaRPr lang="en-US" sz="3200" dirty="0">
              <a:latin typeface="Avenir Next LT Pro" panose="020B0504020202020204" pitchFamily="34" charset="77"/>
            </a:endParaRPr>
          </a:p>
          <a:p>
            <a:pPr marL="989013" indent="-447675" algn="l">
              <a:buFont typeface="Arial" panose="020B0604020202020204" pitchFamily="34" charset="0"/>
              <a:buChar char="•"/>
            </a:pPr>
            <a:r>
              <a:rPr lang="en-US" sz="3200" b="1" dirty="0">
                <a:latin typeface="Avenir Next LT Pro" panose="020B0504020202020204" pitchFamily="34" charset="77"/>
              </a:rPr>
              <a:t>Traits:</a:t>
            </a:r>
            <a:r>
              <a:rPr lang="en-US" sz="3200" dirty="0">
                <a:latin typeface="Avenir Next LT Pro" panose="020B0504020202020204" pitchFamily="34" charset="77"/>
              </a:rPr>
              <a:t> Charismatic, persuasive, customer-focused.</a:t>
            </a:r>
          </a:p>
          <a:p>
            <a:pPr marL="989013" indent="-447675" algn="l">
              <a:buFont typeface="Arial" panose="020B0604020202020204" pitchFamily="34" charset="0"/>
              <a:buChar char="•"/>
            </a:pPr>
            <a:r>
              <a:rPr lang="en-US" sz="3200" b="1" dirty="0">
                <a:latin typeface="Avenir Next LT Pro" panose="020B0504020202020204" pitchFamily="34" charset="77"/>
              </a:rPr>
              <a:t>Focus:</a:t>
            </a:r>
            <a:r>
              <a:rPr lang="en-US" sz="3200" dirty="0">
                <a:latin typeface="Avenir Next LT Pro" panose="020B0504020202020204" pitchFamily="34" charset="77"/>
              </a:rPr>
              <a:t> Builds relationships and drives buy-in for projects.</a:t>
            </a:r>
          </a:p>
        </p:txBody>
      </p:sp>
    </p:spTree>
    <p:extLst>
      <p:ext uri="{BB962C8B-B14F-4D97-AF65-F5344CB8AC3E}">
        <p14:creationId xmlns:p14="http://schemas.microsoft.com/office/powerpoint/2010/main" val="396171593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B0DDB5-E5CB-EC6B-2F5F-3E12118D6230}"/>
              </a:ext>
            </a:extLst>
          </p:cNvPr>
          <p:cNvSpPr txBox="1"/>
          <p:nvPr/>
        </p:nvSpPr>
        <p:spPr>
          <a:xfrm>
            <a:off x="5613400" y="1138347"/>
            <a:ext cx="1290320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rgbClr val="0090D4"/>
                </a:solidFill>
                <a:effectLst/>
                <a:uFillTx/>
                <a:latin typeface="Georgia" panose="02040502050405020303" pitchFamily="18" charset="0"/>
                <a:sym typeface="Helvetica Neue"/>
              </a:rPr>
              <a:t>Student Activities</a:t>
            </a:r>
          </a:p>
        </p:txBody>
      </p:sp>
      <p:sp>
        <p:nvSpPr>
          <p:cNvPr id="6" name="TextBox 5">
            <a:extLst>
              <a:ext uri="{FF2B5EF4-FFF2-40B4-BE49-F238E27FC236}">
                <a16:creationId xmlns:a16="http://schemas.microsoft.com/office/drawing/2014/main" id="{9FC09507-B975-4432-255F-3BC32296121F}"/>
              </a:ext>
            </a:extLst>
          </p:cNvPr>
          <p:cNvSpPr txBox="1"/>
          <p:nvPr/>
        </p:nvSpPr>
        <p:spPr>
          <a:xfrm>
            <a:off x="2773577" y="4652267"/>
            <a:ext cx="18105223" cy="44114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342900" lvl="0" indent="-342900" algn="l" defTabSz="914400" hangingPunct="1">
              <a:buFont typeface="Arial" panose="020B0604020202020204" pitchFamily="34" charset="0"/>
              <a:buChar char="•"/>
              <a:defRPr/>
            </a:pPr>
            <a:r>
              <a:rPr lang="en-ID" sz="3200" dirty="0">
                <a:solidFill>
                  <a:schemeClr val="tx1"/>
                </a:solidFill>
                <a:latin typeface="Avenir Next LT Pro" panose="020B0504020202020204" pitchFamily="34" charset="77"/>
              </a:rPr>
              <a:t>Head prefect Election (</a:t>
            </a:r>
            <a:r>
              <a:rPr lang="en-ID" sz="3200" dirty="0" err="1">
                <a:solidFill>
                  <a:schemeClr val="tx1"/>
                </a:solidFill>
                <a:latin typeface="Avenir Next LT Pro" panose="020B0504020202020204" pitchFamily="34" charset="77"/>
              </a:rPr>
              <a:t>Komti</a:t>
            </a:r>
            <a:r>
              <a:rPr lang="en-ID" sz="3200" dirty="0">
                <a:solidFill>
                  <a:schemeClr val="tx1"/>
                </a:solidFill>
                <a:latin typeface="Avenir Next LT Pro" panose="020B0504020202020204" pitchFamily="34" charset="77"/>
              </a:rPr>
              <a:t>)</a:t>
            </a:r>
          </a:p>
          <a:p>
            <a:pPr marL="342900" lvl="0" indent="-342900" algn="l" defTabSz="914400" hangingPunct="1">
              <a:buFont typeface="Arial" panose="020B0604020202020204" pitchFamily="34" charset="0"/>
              <a:buChar char="•"/>
              <a:defRPr/>
            </a:pPr>
            <a:r>
              <a:rPr lang="en-ID" sz="3200" dirty="0">
                <a:solidFill>
                  <a:schemeClr val="tx1"/>
                </a:solidFill>
                <a:latin typeface="Avenir Next LT Pro" panose="020B0504020202020204" pitchFamily="34" charset="77"/>
              </a:rPr>
              <a:t>Create Groups (each group consist of 3 until 5 people)</a:t>
            </a:r>
            <a:endParaRPr lang="en-US" sz="3200" dirty="0">
              <a:solidFill>
                <a:schemeClr val="tx1"/>
              </a:solidFill>
              <a:latin typeface="Avenir Next LT Pro" panose="020B0504020202020204" pitchFamily="34" charset="77"/>
            </a:endParaRPr>
          </a:p>
          <a:p>
            <a:pPr marL="342900" indent="-342900" algn="l">
              <a:buFont typeface="Arial" panose="020B0604020202020204" pitchFamily="34" charset="0"/>
              <a:buChar char="•"/>
            </a:pPr>
            <a:r>
              <a:rPr lang="en-ID" sz="3200" dirty="0">
                <a:solidFill>
                  <a:schemeClr val="tx1"/>
                </a:solidFill>
                <a:latin typeface="Avenir Next LT Pro" panose="020B0504020202020204" pitchFamily="34" charset="77"/>
              </a:rPr>
              <a:t>Send Your Group Name with Name, NIM and Your Position to </a:t>
            </a:r>
            <a:r>
              <a:rPr lang="en-ID" sz="3200" dirty="0" err="1">
                <a:solidFill>
                  <a:schemeClr val="tx1"/>
                </a:solidFill>
                <a:latin typeface="Avenir Next LT Pro" panose="020B0504020202020204" pitchFamily="34" charset="77"/>
              </a:rPr>
              <a:t>Komti</a:t>
            </a:r>
            <a:endParaRPr lang="en-ID" sz="3200" dirty="0">
              <a:solidFill>
                <a:schemeClr val="tx1"/>
              </a:solidFill>
              <a:latin typeface="Avenir Next LT Pro" panose="020B0504020202020204" pitchFamily="34" charset="77"/>
            </a:endParaRPr>
          </a:p>
          <a:p>
            <a:pPr algn="l"/>
            <a:endParaRPr lang="en-ID" sz="3200" dirty="0">
              <a:solidFill>
                <a:schemeClr val="tx1"/>
              </a:solidFill>
              <a:latin typeface="Avenir Next LT Pro" panose="020B0504020202020204" pitchFamily="34" charset="77"/>
            </a:endParaRPr>
          </a:p>
          <a:p>
            <a:pPr marR="0" algn="ctr" defTabSz="2438338" rtl="0" fontAlgn="auto" latinLnBrk="0" hangingPunct="0">
              <a:lnSpc>
                <a:spcPct val="100000"/>
              </a:lnSpc>
              <a:spcBef>
                <a:spcPts val="0"/>
              </a:spcBef>
              <a:spcAft>
                <a:spcPts val="0"/>
              </a:spcAft>
              <a:buClrTx/>
              <a:buSzTx/>
              <a:tabLst/>
            </a:pPr>
            <a:endParaRPr kumimoji="0" lang="en-US" sz="3200" b="0" i="0" u="none" strike="noStrike" cap="none" spc="0" normalizeH="0" baseline="0" dirty="0">
              <a:ln>
                <a:noFill/>
              </a:ln>
              <a:solidFill>
                <a:srgbClr val="5E5E5E"/>
              </a:solidFill>
              <a:effectLst/>
              <a:uFillTx/>
              <a:latin typeface="Avenir Next LT Pro" panose="020B0504020202020204" pitchFamily="34" charset="77"/>
              <a:sym typeface="Helvetica Neue"/>
            </a:endParaRPr>
          </a:p>
          <a:p>
            <a:pPr marR="0" algn="ctr" defTabSz="2438338" rtl="0" fontAlgn="auto" latinLnBrk="0" hangingPunct="0">
              <a:lnSpc>
                <a:spcPct val="100000"/>
              </a:lnSpc>
              <a:spcBef>
                <a:spcPts val="0"/>
              </a:spcBef>
              <a:spcAft>
                <a:spcPts val="0"/>
              </a:spcAft>
              <a:buClrTx/>
              <a:buSzTx/>
              <a:tabLst/>
            </a:pPr>
            <a:endParaRPr lang="en-US" sz="3200" dirty="0">
              <a:latin typeface="Avenir Next LT Pro" panose="020B0504020202020204" pitchFamily="34" charset="77"/>
            </a:endParaRPr>
          </a:p>
          <a:p>
            <a:pPr marR="0" algn="ctr" defTabSz="2438338" rtl="0" fontAlgn="auto" latinLnBrk="0" hangingPunct="0">
              <a:lnSpc>
                <a:spcPct val="100000"/>
              </a:lnSpc>
              <a:spcBef>
                <a:spcPts val="0"/>
              </a:spcBef>
              <a:spcAft>
                <a:spcPts val="0"/>
              </a:spcAft>
              <a:buClrTx/>
              <a:buSzTx/>
              <a:tabLst/>
            </a:pPr>
            <a:endParaRPr kumimoji="0" lang="en-US" sz="3200" b="0" i="0" u="none" strike="noStrike" cap="none" spc="0" normalizeH="0" baseline="0" dirty="0">
              <a:ln>
                <a:noFill/>
              </a:ln>
              <a:solidFill>
                <a:srgbClr val="5E5E5E"/>
              </a:solidFill>
              <a:effectLst/>
              <a:uFillTx/>
              <a:latin typeface="Avenir Next LT Pro" panose="020B0504020202020204" pitchFamily="34" charset="77"/>
              <a:sym typeface="Helvetica Neue"/>
            </a:endParaRPr>
          </a:p>
          <a:p>
            <a:pPr algn="l"/>
            <a:r>
              <a:rPr lang="en-US" sz="3200" dirty="0">
                <a:solidFill>
                  <a:schemeClr val="tx1"/>
                </a:solidFill>
                <a:latin typeface="Avenir Next LT Pro" panose="020B0504020202020204" pitchFamily="34" charset="77"/>
              </a:rPr>
              <a:t>Note: If you have already registered, please use that group.</a:t>
            </a:r>
            <a:endParaRPr lang="en-ID" sz="3200" dirty="0">
              <a:solidFill>
                <a:schemeClr val="tx1"/>
              </a:solidFill>
              <a:latin typeface="Avenir Next LT Pro" panose="020B0504020202020204" pitchFamily="34" charset="77"/>
            </a:endParaRPr>
          </a:p>
          <a:p>
            <a:pPr marR="0" algn="ctr" defTabSz="2438338" rtl="0" fontAlgn="auto" latinLnBrk="0" hangingPunct="0">
              <a:lnSpc>
                <a:spcPct val="100000"/>
              </a:lnSpc>
              <a:spcBef>
                <a:spcPts val="0"/>
              </a:spcBef>
              <a:spcAft>
                <a:spcPts val="0"/>
              </a:spcAft>
              <a:buClrTx/>
              <a:buSzTx/>
              <a:tabLst/>
            </a:pP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299741886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C4397-52AD-6353-0B71-B57D50EE857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48D893-ABB5-42F4-D9D1-EA1DD661CF1C}"/>
              </a:ext>
            </a:extLst>
          </p:cNvPr>
          <p:cNvSpPr txBox="1"/>
          <p:nvPr/>
        </p:nvSpPr>
        <p:spPr>
          <a:xfrm>
            <a:off x="5613400" y="1138347"/>
            <a:ext cx="1290320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rgbClr val="0090D4"/>
                </a:solidFill>
                <a:effectLst/>
                <a:uFillTx/>
                <a:latin typeface="Georgia" panose="02040502050405020303" pitchFamily="18" charset="0"/>
                <a:sym typeface="Helvetica Neue"/>
              </a:rPr>
              <a:t>Next Session Preparation</a:t>
            </a:r>
          </a:p>
        </p:txBody>
      </p:sp>
      <p:sp>
        <p:nvSpPr>
          <p:cNvPr id="3" name="TextBox 2">
            <a:extLst>
              <a:ext uri="{FF2B5EF4-FFF2-40B4-BE49-F238E27FC236}">
                <a16:creationId xmlns:a16="http://schemas.microsoft.com/office/drawing/2014/main" id="{1952C253-6817-BB35-5650-0267F5A70085}"/>
              </a:ext>
            </a:extLst>
          </p:cNvPr>
          <p:cNvSpPr txBox="1"/>
          <p:nvPr/>
        </p:nvSpPr>
        <p:spPr>
          <a:xfrm>
            <a:off x="1669311" y="5223670"/>
            <a:ext cx="21470679"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571500" indent="-571500" algn="l">
              <a:buFont typeface="Arial" panose="020B0604020202020204" pitchFamily="34" charset="0"/>
              <a:buChar char="•"/>
            </a:pPr>
            <a:r>
              <a:rPr lang="en-US" sz="3600" dirty="0">
                <a:solidFill>
                  <a:schemeClr val="tx1"/>
                </a:solidFill>
                <a:latin typeface="Avenir Next LT Pro" panose="020B0504020202020204" pitchFamily="34" charset="77"/>
              </a:rPr>
              <a:t>Opportunity Recognition</a:t>
            </a:r>
          </a:p>
          <a:p>
            <a:pPr marL="571500" indent="-571500" algn="l">
              <a:buFont typeface="Arial" panose="020B0604020202020204" pitchFamily="34" charset="0"/>
              <a:buChar char="•"/>
            </a:pPr>
            <a:r>
              <a:rPr lang="en-US" sz="3600" dirty="0">
                <a:solidFill>
                  <a:schemeClr val="tx1"/>
                </a:solidFill>
                <a:latin typeface="Avenir Next LT Pro" panose="020B0504020202020204" pitchFamily="34" charset="77"/>
              </a:rPr>
              <a:t>Answer 10  Explaining Key Product &amp; Market - Video : </a:t>
            </a:r>
            <a:r>
              <a:rPr lang="en-US" sz="3600" dirty="0">
                <a:solidFill>
                  <a:schemeClr val="tx1"/>
                </a:solidFill>
                <a:latin typeface="Avenir Next LT Pro" panose="020B0504020202020204" pitchFamily="34" charset="77"/>
                <a:hlinkClick r:id="rId2"/>
              </a:rPr>
              <a:t>https://youtu.be/QMsGrDxWR3o</a:t>
            </a:r>
            <a:endParaRPr lang="en-US" sz="3600" dirty="0">
              <a:solidFill>
                <a:schemeClr val="tx1"/>
              </a:solidFill>
              <a:latin typeface="Avenir Next LT Pro" panose="020B0504020202020204" pitchFamily="34" charset="77"/>
            </a:endParaRPr>
          </a:p>
          <a:p>
            <a:pPr marL="571500" indent="-571500" algn="l">
              <a:buFont typeface="Arial" panose="020B0604020202020204" pitchFamily="34" charset="0"/>
              <a:buChar char="•"/>
            </a:pPr>
            <a:r>
              <a:rPr lang="en-US" sz="3600" dirty="0">
                <a:solidFill>
                  <a:schemeClr val="tx1"/>
                </a:solidFill>
                <a:latin typeface="Avenir Next LT Pro" panose="020B0504020202020204" pitchFamily="34" charset="77"/>
              </a:rPr>
              <a:t>Present Opportunity Recognition &amp; 10 Key Product &amp; Market:</a:t>
            </a:r>
          </a:p>
          <a:p>
            <a:pPr marL="1601788" indent="-166688" algn="l">
              <a:buFont typeface="Wingdings" pitchFamily="2" charset="2"/>
              <a:buChar char="Ø"/>
            </a:pPr>
            <a:r>
              <a:rPr lang="en-US" sz="3600" dirty="0">
                <a:solidFill>
                  <a:schemeClr val="tx1"/>
                </a:solidFill>
                <a:latin typeface="Avenir Next LT Pro" panose="020B0504020202020204" pitchFamily="34" charset="77"/>
              </a:rPr>
              <a:t>Cover</a:t>
            </a:r>
          </a:p>
          <a:p>
            <a:pPr marL="1601788" indent="-166688" algn="l">
              <a:buFont typeface="Wingdings" pitchFamily="2" charset="2"/>
              <a:buChar char="Ø"/>
            </a:pPr>
            <a:r>
              <a:rPr lang="en-US" sz="3600" dirty="0">
                <a:solidFill>
                  <a:schemeClr val="tx1"/>
                </a:solidFill>
                <a:latin typeface="Avenir Next LT Pro" panose="020B0504020202020204" pitchFamily="34" charset="77"/>
              </a:rPr>
              <a:t>Opportunity recognition</a:t>
            </a:r>
          </a:p>
          <a:p>
            <a:pPr marL="1601788" indent="-166688" algn="l">
              <a:buFont typeface="Wingdings" pitchFamily="2" charset="2"/>
              <a:buChar char="Ø"/>
            </a:pPr>
            <a:r>
              <a:rPr lang="en-US" sz="3600" dirty="0">
                <a:solidFill>
                  <a:schemeClr val="tx1"/>
                </a:solidFill>
                <a:latin typeface="Avenir Next LT Pro" panose="020B0504020202020204" pitchFamily="34" charset="77"/>
              </a:rPr>
              <a:t>10  Explaining Key Product &amp; Market</a:t>
            </a:r>
          </a:p>
          <a:p>
            <a:pPr marL="685800" indent="-603250" algn="l">
              <a:buFont typeface="Arial" panose="020B0604020202020204" pitchFamily="34" charset="0"/>
              <a:buChar char="•"/>
            </a:pPr>
            <a:r>
              <a:rPr lang="en-US" sz="3600" dirty="0">
                <a:solidFill>
                  <a:schemeClr val="tx1"/>
                </a:solidFill>
                <a:latin typeface="Avenir Next LT Pro" panose="020B0504020202020204" pitchFamily="34" charset="77"/>
              </a:rPr>
              <a:t>Get Feedback from Lecturer</a:t>
            </a:r>
          </a:p>
        </p:txBody>
      </p:sp>
    </p:spTree>
    <p:extLst>
      <p:ext uri="{BB962C8B-B14F-4D97-AF65-F5344CB8AC3E}">
        <p14:creationId xmlns:p14="http://schemas.microsoft.com/office/powerpoint/2010/main" val="267405018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96C66-F356-8FCB-9B2C-DCBD6B53017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511E0B-D53E-E8E3-1DDD-AB222894F8CA}"/>
              </a:ext>
            </a:extLst>
          </p:cNvPr>
          <p:cNvSpPr txBox="1"/>
          <p:nvPr/>
        </p:nvSpPr>
        <p:spPr>
          <a:xfrm>
            <a:off x="5613400" y="1138347"/>
            <a:ext cx="12903200" cy="9335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5400" dirty="0">
                <a:solidFill>
                  <a:srgbClr val="0090D4"/>
                </a:solidFill>
                <a:latin typeface="Georgia" panose="02040502050405020303" pitchFamily="18" charset="0"/>
              </a:rPr>
              <a:t>References</a:t>
            </a:r>
            <a:endParaRPr kumimoji="0" lang="en-US" sz="5400" b="0" i="0" u="none" strike="noStrike" cap="none" spc="0" normalizeH="0" baseline="0" dirty="0">
              <a:ln>
                <a:noFill/>
              </a:ln>
              <a:solidFill>
                <a:srgbClr val="0090D4"/>
              </a:solidFill>
              <a:effectLst/>
              <a:uFillTx/>
              <a:latin typeface="Georgia" panose="02040502050405020303" pitchFamily="18" charset="0"/>
              <a:sym typeface="Helvetica Neue"/>
            </a:endParaRPr>
          </a:p>
        </p:txBody>
      </p:sp>
      <p:sp>
        <p:nvSpPr>
          <p:cNvPr id="6" name="TextBox 5">
            <a:extLst>
              <a:ext uri="{FF2B5EF4-FFF2-40B4-BE49-F238E27FC236}">
                <a16:creationId xmlns:a16="http://schemas.microsoft.com/office/drawing/2014/main" id="{F44F98EB-CA42-EF10-6589-FC0D32908E64}"/>
              </a:ext>
            </a:extLst>
          </p:cNvPr>
          <p:cNvSpPr txBox="1"/>
          <p:nvPr/>
        </p:nvSpPr>
        <p:spPr>
          <a:xfrm>
            <a:off x="1567935" y="5417772"/>
            <a:ext cx="20994129"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indent="-571500" algn="just">
              <a:buFont typeface="Arial" panose="020B0604020202020204" pitchFamily="34" charset="0"/>
              <a:buChar char="•"/>
            </a:pPr>
            <a:r>
              <a:rPr lang="en-US" sz="4000" dirty="0">
                <a:latin typeface="Avenir Next LT Pro" panose="020B0504020202020204" pitchFamily="34" charset="77"/>
              </a:rPr>
              <a:t>Entrepreneurship successfully Launching New Ventures, 7</a:t>
            </a:r>
            <a:r>
              <a:rPr lang="en-US" sz="4000" baseline="30000" dirty="0">
                <a:latin typeface="Avenir Next LT Pro" panose="020B0504020202020204" pitchFamily="34" charset="77"/>
              </a:rPr>
              <a:t>th</a:t>
            </a:r>
            <a:r>
              <a:rPr lang="en-US" sz="4000" dirty="0">
                <a:latin typeface="Avenir Next LT Pro" panose="020B0504020202020204" pitchFamily="34" charset="77"/>
              </a:rPr>
              <a:t> Edition, Bruce R. Barringer, R. Duane Ireland, 2025</a:t>
            </a:r>
          </a:p>
          <a:p>
            <a:pPr marL="571500" indent="-571500" algn="just">
              <a:buFont typeface="Arial" panose="020B0604020202020204" pitchFamily="34" charset="0"/>
              <a:buChar char="•"/>
            </a:pPr>
            <a:r>
              <a:rPr lang="en-US" sz="4000" dirty="0">
                <a:solidFill>
                  <a:schemeClr val="tx1"/>
                </a:solidFill>
                <a:latin typeface="Avenir Next LT Pro" panose="020B0504020202020204" pitchFamily="34" charset="77"/>
                <a:hlinkClick r:id="rId2">
                  <a:extLst>
                    <a:ext uri="{A12FA001-AC4F-418D-AE19-62706E023703}">
                      <ahyp:hlinkClr xmlns:ahyp="http://schemas.microsoft.com/office/drawing/2018/hyperlinkcolor" val="tx"/>
                    </a:ext>
                  </a:extLst>
                </a:hlinkClick>
              </a:rPr>
              <a:t>The Entrepreneur Mindset JD Meier.pdf</a:t>
            </a:r>
            <a:endParaRPr lang="en-US" sz="4000" dirty="0">
              <a:solidFill>
                <a:schemeClr val="tx1"/>
              </a:solidFill>
              <a:latin typeface="Avenir Next LT Pro" panose="020B0504020202020204" pitchFamily="34" charset="77"/>
            </a:endParaRPr>
          </a:p>
        </p:txBody>
      </p:sp>
    </p:spTree>
    <p:extLst>
      <p:ext uri="{BB962C8B-B14F-4D97-AF65-F5344CB8AC3E}">
        <p14:creationId xmlns:p14="http://schemas.microsoft.com/office/powerpoint/2010/main" val="323742116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Template Online Resources 2023_Binus University_BHE Logo</Template>
  <TotalTime>9247</TotalTime>
  <Words>2620</Words>
  <Application>Microsoft Macintosh PowerPoint</Application>
  <PresentationFormat>Custom</PresentationFormat>
  <Paragraphs>408</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Aptos</vt:lpstr>
      <vt:lpstr>Calibri</vt:lpstr>
      <vt:lpstr>OCRB</vt:lpstr>
      <vt:lpstr>Arial</vt:lpstr>
      <vt:lpstr>Georgia</vt:lpstr>
      <vt:lpstr>Open Sans Semibold</vt:lpstr>
      <vt:lpstr>Avenir Next LT Pro</vt:lpstr>
      <vt:lpstr>Wingdings</vt:lpstr>
      <vt:lpstr>Open Sans Light</vt:lpstr>
      <vt:lpstr>Open Sans ExtraBold</vt:lpstr>
      <vt:lpstr>21_BasicWhite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Katherina Anastasya Samosir</dc:creator>
  <cp:lastModifiedBy>Glory A Guzman</cp:lastModifiedBy>
  <cp:revision>36</cp:revision>
  <dcterms:created xsi:type="dcterms:W3CDTF">2025-04-16T03:14:16Z</dcterms:created>
  <dcterms:modified xsi:type="dcterms:W3CDTF">2026-01-26T03:41:22Z</dcterms:modified>
</cp:coreProperties>
</file>