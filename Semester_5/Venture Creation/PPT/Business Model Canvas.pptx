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57" r:id="rId4"/>
    <p:sldId id="529" r:id="rId5"/>
    <p:sldId id="536" r:id="rId6"/>
    <p:sldId id="537" r:id="rId7"/>
    <p:sldId id="538" r:id="rId8"/>
    <p:sldId id="539" r:id="rId9"/>
    <p:sldId id="540" r:id="rId10"/>
    <p:sldId id="541" r:id="rId11"/>
    <p:sldId id="543" r:id="rId12"/>
    <p:sldId id="544" r:id="rId13"/>
    <p:sldId id="545" r:id="rId14"/>
    <p:sldId id="546" r:id="rId15"/>
    <p:sldId id="547" r:id="rId16"/>
    <p:sldId id="542" r:id="rId17"/>
    <p:sldId id="549" r:id="rId18"/>
    <p:sldId id="548" r:id="rId19"/>
    <p:sldId id="509" r:id="rId20"/>
    <p:sldId id="532" r:id="rId21"/>
    <p:sldId id="514" r:id="rId22"/>
  </p:sldIdLst>
  <p:sldSz cx="24384000" cy="13716000"/>
  <p:notesSz cx="6858000" cy="9144000"/>
  <p:embeddedFontLst>
    <p:embeddedFont>
      <p:font typeface="Avenir Next LT Pro" panose="020B0504020202020204" pitchFamily="34" charset="77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OCRB" panose="020B0609020202020204" pitchFamily="49" charset="77"/>
      <p:regular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Open Sans ExtraBold" panose="020B0906030804020204" pitchFamily="34" charset="0"/>
      <p:bold r:id="rId37"/>
      <p:italic r:id="rId38"/>
      <p:boldItalic r:id="rId39"/>
    </p:embeddedFont>
    <p:embeddedFont>
      <p:font typeface="Open Sans Light" panose="020B0306030504020204" pitchFamily="34" charset="0"/>
      <p:regular r:id="rId40"/>
      <p:italic r:id="rId41"/>
    </p:embeddedFont>
    <p:embeddedFont>
      <p:font typeface="Open Sans Semibold" panose="020B0706030804020204" pitchFamily="34" charset="0"/>
      <p:regular r:id="rId42"/>
      <p:bold r:id="rId43"/>
      <p:italic r:id="rId44"/>
      <p:boldItalic r:id="rId4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D4"/>
    <a:srgbClr val="FF7510"/>
    <a:srgbClr val="F37819"/>
    <a:srgbClr val="F5AF36"/>
    <a:srgbClr val="FFC000"/>
    <a:srgbClr val="70B40A"/>
    <a:srgbClr val="80BBC3"/>
    <a:srgbClr val="00A5AE"/>
    <a:srgbClr val="EA222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96197"/>
  </p:normalViewPr>
  <p:slideViewPr>
    <p:cSldViewPr snapToGrid="0" snapToObjects="1">
      <p:cViewPr varScale="1">
        <p:scale>
          <a:sx n="61" d="100"/>
          <a:sy n="61" d="100"/>
        </p:scale>
        <p:origin x="416" y="2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12850" y="11538583"/>
            <a:ext cx="6401008" cy="745888"/>
          </a:xfrm>
        </p:spPr>
        <p:txBody>
          <a:bodyPr/>
          <a:lstStyle/>
          <a:p>
            <a:r>
              <a:rPr lang="en-US" dirty="0"/>
              <a:t>Dr. Glory Aguzman, S.Sos, M.M., CDMS, CCP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FF65F-71E4-38D9-8AD7-D80FB9D70369}"/>
              </a:ext>
            </a:extLst>
          </p:cNvPr>
          <p:cNvSpPr txBox="1"/>
          <p:nvPr/>
        </p:nvSpPr>
        <p:spPr>
          <a:xfrm>
            <a:off x="3077497" y="6073170"/>
            <a:ext cx="18229006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latin typeface="Georgia" panose="02040502050405020303" pitchFamily="18" charset="0"/>
              </a:rPr>
              <a:t>Business Model Canvas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FD7801-9196-A9AE-F097-1B405E1ABFFD}"/>
              </a:ext>
            </a:extLst>
          </p:cNvPr>
          <p:cNvSpPr txBox="1"/>
          <p:nvPr/>
        </p:nvSpPr>
        <p:spPr>
          <a:xfrm>
            <a:off x="4513307" y="3144163"/>
            <a:ext cx="12656559" cy="7427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Business Model Canvas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Customer Segment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Value Proposition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Channel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Customer Relationship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Revenue Stream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Key Activities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Key Resources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Key Partnerships</a:t>
            </a:r>
          </a:p>
          <a:p>
            <a:pPr marL="1270000" indent="-563563" algn="l"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Cost Structure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Google Business Model Canvas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Template Business Model Canvas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Student Activities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Next Session Preparation</a:t>
            </a:r>
          </a:p>
          <a:p>
            <a:pPr algn="l"/>
            <a:endParaRPr lang="en-US" altLang="en-US" sz="28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DDC40-09A4-FA7B-0C4C-6A3C16CCDC26}"/>
              </a:ext>
            </a:extLst>
          </p:cNvPr>
          <p:cNvSpPr txBox="1"/>
          <p:nvPr/>
        </p:nvSpPr>
        <p:spPr>
          <a:xfrm>
            <a:off x="5949832" y="1035390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6600" dirty="0">
                <a:solidFill>
                  <a:srgbClr val="0090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Subtopics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12129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FEBFB-D423-2219-F689-5D305E5D84B2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Acknowledgement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E532-C175-E367-7C97-21297170F201}"/>
              </a:ext>
            </a:extLst>
          </p:cNvPr>
          <p:cNvSpPr txBox="1"/>
          <p:nvPr/>
        </p:nvSpPr>
        <p:spPr>
          <a:xfrm>
            <a:off x="2126974" y="5928260"/>
            <a:ext cx="16165995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venir Next LT Pro" panose="020B0504020202020204" pitchFamily="34" charset="0"/>
              </a:rPr>
              <a:t>Osterwalder, A., &amp; Pigneur, Y. (2010). Business model generation: a handbook for visionaries, game changers, and challengers.  John Wiley &amp; Sons</a:t>
            </a:r>
            <a:endParaRPr lang="en-ID" dirty="0">
              <a:solidFill>
                <a:schemeClr val="tx1"/>
              </a:solidFill>
              <a:latin typeface="Avenir Next LT Pro" panose="020B0504020202020204" pitchFamily="34" charset="0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None/>
            </a:pPr>
            <a:b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0B-1FFF-DEFA-3A3C-3F344F7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A732A2-5A90-FDA5-9E2A-4039DBA06CC7}"/>
              </a:ext>
            </a:extLst>
          </p:cNvPr>
          <p:cNvSpPr txBox="1"/>
          <p:nvPr/>
        </p:nvSpPr>
        <p:spPr>
          <a:xfrm>
            <a:off x="2071817" y="4659699"/>
            <a:ext cx="17105869" cy="1631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ID" sz="3200" dirty="0">
                <a:latin typeface="Avenir Next LT Pro" panose="020B0504020202020204" pitchFamily="34" charset="77"/>
              </a:rPr>
              <a:t>LO3:    Create a business report and pitch deck for sustainable business development</a:t>
            </a:r>
            <a:r>
              <a:rPr lang="en-ID" sz="3200" b="1" dirty="0">
                <a:latin typeface="Avenir Next LT Pro" panose="020B0504020202020204" pitchFamily="34" charset="77"/>
              </a:rPr>
              <a:t>.</a:t>
            </a:r>
            <a:endParaRPr lang="en-US" sz="3200" dirty="0">
              <a:latin typeface="Avenir Next LT Pro" panose="020B0504020202020204" pitchFamily="34" charset="77"/>
            </a:endParaRPr>
          </a:p>
          <a:p>
            <a:pPr algn="l"/>
            <a:endParaRPr lang="en-US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/>
            <a:endParaRPr lang="en-US" sz="36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DD198-4CEC-B964-8805-3F0545F67A99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D" sz="66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Learning Outcome</a:t>
            </a:r>
          </a:p>
        </p:txBody>
      </p:sp>
    </p:spTree>
    <p:extLst>
      <p:ext uri="{BB962C8B-B14F-4D97-AF65-F5344CB8AC3E}">
        <p14:creationId xmlns:p14="http://schemas.microsoft.com/office/powerpoint/2010/main" val="6037015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5BF32B-11D7-610B-0A12-865BD71D1F6F}"/>
              </a:ext>
            </a:extLst>
          </p:cNvPr>
          <p:cNvSpPr txBox="1">
            <a:spLocks/>
          </p:cNvSpPr>
          <p:nvPr/>
        </p:nvSpPr>
        <p:spPr>
          <a:xfrm>
            <a:off x="8493642" y="1459319"/>
            <a:ext cx="798315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4000" dirty="0">
                <a:latin typeface="Georgia" panose="02040502050405020303" pitchFamily="18" charset="0"/>
              </a:rPr>
              <a:t>Business Model Canvas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B4B3D-09E5-FB01-F488-5593A4B19523}"/>
              </a:ext>
            </a:extLst>
          </p:cNvPr>
          <p:cNvSpPr txBox="1"/>
          <p:nvPr/>
        </p:nvSpPr>
        <p:spPr>
          <a:xfrm>
            <a:off x="1395663" y="4881498"/>
            <a:ext cx="8398041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600" dirty="0">
                <a:solidFill>
                  <a:srgbClr val="2F3741"/>
                </a:solidFill>
                <a:effectLst/>
                <a:latin typeface="Georgia" panose="02040502050405020303" pitchFamily="18" charset="0"/>
              </a:rPr>
              <a:t>Why use it?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CEDF1-1BEF-6AAF-C393-25187C19C761}"/>
              </a:ext>
            </a:extLst>
          </p:cNvPr>
          <p:cNvSpPr txBox="1"/>
          <p:nvPr/>
        </p:nvSpPr>
        <p:spPr>
          <a:xfrm>
            <a:off x="3164304" y="6497377"/>
            <a:ext cx="12200020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5400" dirty="0">
                <a:solidFill>
                  <a:srgbClr val="FFFFFF"/>
                </a:solidFill>
                <a:effectLst/>
                <a:latin typeface="Avenir Next LT Pro" panose="020B0504020202020204" pitchFamily="34" charset="77"/>
              </a:rPr>
              <a:t>● </a:t>
            </a:r>
            <a:r>
              <a:rPr lang="en-US" sz="5400" dirty="0">
                <a:solidFill>
                  <a:srgbClr val="2F3741"/>
                </a:solidFill>
                <a:effectLst/>
                <a:latin typeface="Avenir Next LT Pro" panose="020B0504020202020204" pitchFamily="34" charset="77"/>
              </a:rPr>
              <a:t>Plan your strategy</a:t>
            </a:r>
          </a:p>
          <a:p>
            <a:pPr algn="l">
              <a:buNone/>
            </a:pPr>
            <a:r>
              <a:rPr lang="en-US" sz="5400" dirty="0">
                <a:solidFill>
                  <a:srgbClr val="FFFFFF"/>
                </a:solidFill>
                <a:effectLst/>
                <a:latin typeface="Avenir Next LT Pro" panose="020B0504020202020204" pitchFamily="34" charset="77"/>
              </a:rPr>
              <a:t>● </a:t>
            </a:r>
            <a:r>
              <a:rPr lang="en-US" sz="5400" dirty="0">
                <a:solidFill>
                  <a:srgbClr val="2F3741"/>
                </a:solidFill>
                <a:effectLst/>
                <a:latin typeface="Avenir Next LT Pro" panose="020B0504020202020204" pitchFamily="34" charset="77"/>
              </a:rPr>
              <a:t>Share your vision</a:t>
            </a:r>
          </a:p>
          <a:p>
            <a:pPr algn="l">
              <a:buNone/>
            </a:pPr>
            <a:r>
              <a:rPr lang="en-US" sz="5400" dirty="0">
                <a:solidFill>
                  <a:srgbClr val="FFFFFF"/>
                </a:solidFill>
                <a:effectLst/>
                <a:latin typeface="Avenir Next LT Pro" panose="020B0504020202020204" pitchFamily="34" charset="77"/>
              </a:rPr>
              <a:t>● </a:t>
            </a:r>
            <a:r>
              <a:rPr lang="en-US" sz="5400" dirty="0">
                <a:solidFill>
                  <a:srgbClr val="2F3741"/>
                </a:solidFill>
                <a:effectLst/>
                <a:latin typeface="Avenir Next LT Pro" panose="020B0504020202020204" pitchFamily="34" charset="77"/>
              </a:rPr>
              <a:t>Identify gaps</a:t>
            </a:r>
          </a:p>
          <a:p>
            <a:pPr algn="l">
              <a:buNone/>
            </a:pPr>
            <a:r>
              <a:rPr lang="en-US" sz="5400" dirty="0">
                <a:solidFill>
                  <a:srgbClr val="FFFFFF"/>
                </a:solidFill>
                <a:effectLst/>
                <a:latin typeface="Avenir Next LT Pro" panose="020B0504020202020204" pitchFamily="34" charset="77"/>
              </a:rPr>
              <a:t>● </a:t>
            </a:r>
            <a:r>
              <a:rPr lang="en-US" sz="5400" dirty="0">
                <a:solidFill>
                  <a:srgbClr val="2F3741"/>
                </a:solidFill>
                <a:effectLst/>
                <a:latin typeface="Avenir Next LT Pro" panose="020B0504020202020204" pitchFamily="34" charset="77"/>
              </a:rPr>
              <a:t>Grow your business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DF1F41-6E93-4CD4-20E7-2A5254D8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324" y="2298699"/>
            <a:ext cx="9019676" cy="1158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083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C2D3DA-18AA-A1D8-4147-6A466ABD0BA5}"/>
              </a:ext>
            </a:extLst>
          </p:cNvPr>
          <p:cNvSpPr txBox="1">
            <a:spLocks/>
          </p:cNvSpPr>
          <p:nvPr/>
        </p:nvSpPr>
        <p:spPr>
          <a:xfrm>
            <a:off x="8493642" y="1459319"/>
            <a:ext cx="798315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4000" dirty="0">
                <a:latin typeface="Georgia" panose="02040502050405020303" pitchFamily="18" charset="0"/>
              </a:rPr>
              <a:t>Business Model Canvas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87252F-B873-D297-B6E4-2BF7E393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1938"/>
            <a:ext cx="24384000" cy="114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092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C245-1BAA-37CC-AFF3-F24A6238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CDA78C-76F5-371B-456F-F685D5E55C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62099"/>
          <a:stretch>
            <a:fillRect/>
          </a:stretch>
        </p:blipFill>
        <p:spPr>
          <a:xfrm>
            <a:off x="3541410" y="3927259"/>
            <a:ext cx="2945859" cy="5532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A0DE0B-26A8-77AD-F2F5-CB82719C0EF5}"/>
              </a:ext>
            </a:extLst>
          </p:cNvPr>
          <p:cNvSpPr txBox="1"/>
          <p:nvPr/>
        </p:nvSpPr>
        <p:spPr>
          <a:xfrm>
            <a:off x="9795754" y="1142723"/>
            <a:ext cx="5749046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48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Customer Segments</a:t>
            </a:r>
          </a:p>
          <a:p>
            <a:pPr>
              <a:buNone/>
            </a:pPr>
            <a:r>
              <a:rPr lang="en-US" dirty="0">
                <a:solidFill>
                  <a:srgbClr val="F3781A"/>
                </a:solidFill>
                <a:effectLst/>
                <a:latin typeface="Helvetica" pitchFamily="2" charset="0"/>
              </a:rPr>
              <a:t>.</a:t>
            </a: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F2120-5201-9FA4-0ABB-A10E13F5EC4F}"/>
              </a:ext>
            </a:extLst>
          </p:cNvPr>
          <p:cNvSpPr txBox="1"/>
          <p:nvPr/>
        </p:nvSpPr>
        <p:spPr>
          <a:xfrm>
            <a:off x="680938" y="10014732"/>
            <a:ext cx="10952262" cy="2800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FF7510"/>
                </a:solidFill>
                <a:latin typeface="Helvetica" pitchFamily="2" charset="0"/>
              </a:rPr>
              <a:t>The Customer Segments Building Block defines the different groups of people or </a:t>
            </a:r>
            <a:r>
              <a:rPr lang="en-US" sz="4400" dirty="0" err="1">
                <a:solidFill>
                  <a:srgbClr val="FF7510"/>
                </a:solidFill>
                <a:latin typeface="Helvetica" pitchFamily="2" charset="0"/>
              </a:rPr>
              <a:t>organisations</a:t>
            </a:r>
            <a:r>
              <a:rPr lang="en-US" sz="4400" dirty="0">
                <a:solidFill>
                  <a:srgbClr val="FF7510"/>
                </a:solidFill>
                <a:latin typeface="Helvetica" pitchFamily="2" charset="0"/>
              </a:rPr>
              <a:t> an enterprise aims to reach and serve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9122B-8D2D-42DB-E21A-0925C1BDD183}"/>
              </a:ext>
            </a:extLst>
          </p:cNvPr>
          <p:cNvSpPr txBox="1"/>
          <p:nvPr/>
        </p:nvSpPr>
        <p:spPr>
          <a:xfrm>
            <a:off x="12395200" y="2712383"/>
            <a:ext cx="11354342" cy="5509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Customers comprise the heart of any business model. Without (profitable) customers, no company can survive for long. In order to better satisfy customers, a company may group them into distinct segments with common needs, common behaviors, or other attributes. A business model may define one or several large or small customer segments. An organization must make a conscious decision about which segments to serve and which segments to ignore. Once this decision is made, a business model can be carefully designed around a strong understanding of specific customer needs.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45C2D-160B-B5C2-6015-AD4D77AEE838}"/>
              </a:ext>
            </a:extLst>
          </p:cNvPr>
          <p:cNvSpPr txBox="1"/>
          <p:nvPr/>
        </p:nvSpPr>
        <p:spPr>
          <a:xfrm>
            <a:off x="12395200" y="9033847"/>
            <a:ext cx="11307862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dirty="0">
                <a:latin typeface="Helvetica" pitchFamily="2" charset="0"/>
              </a:rPr>
              <a:t>Customer groups represent separate segments if: </a:t>
            </a:r>
          </a:p>
          <a:p>
            <a:pPr algn="l"/>
            <a:endParaRPr lang="en-US" sz="3200" dirty="0">
              <a:latin typeface="Helvetica" pitchFamily="2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Their needs require and justify a distinct offer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They are reached through different distribution channel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They require different types of relationships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They have substantially different </a:t>
            </a:r>
            <a:r>
              <a:rPr lang="en-US" sz="3200" dirty="0" err="1"/>
              <a:t>profitabilities</a:t>
            </a:r>
            <a:r>
              <a:rPr lang="en-US" sz="3200" dirty="0">
                <a:latin typeface="Helvetica" pitchFamily="2" charset="0"/>
              </a:rPr>
              <a:t>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They are willing to pay for different aspects of the offer</a:t>
            </a:r>
          </a:p>
        </p:txBody>
      </p:sp>
    </p:spTree>
    <p:extLst>
      <p:ext uri="{BB962C8B-B14F-4D97-AF65-F5344CB8AC3E}">
        <p14:creationId xmlns:p14="http://schemas.microsoft.com/office/powerpoint/2010/main" val="7792488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C524-69C7-AFC3-9AC3-1A6115E7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0F0321-EBC8-5069-5804-FA0F13CDD44C}"/>
              </a:ext>
            </a:extLst>
          </p:cNvPr>
          <p:cNvSpPr txBox="1"/>
          <p:nvPr/>
        </p:nvSpPr>
        <p:spPr>
          <a:xfrm>
            <a:off x="8054502" y="1142723"/>
            <a:ext cx="785994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latin typeface="Georgia" panose="02040502050405020303" pitchFamily="18" charset="0"/>
              </a:rPr>
              <a:t>Value Proposition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7C32C-CA95-B9C3-9018-8248321CC5B5}"/>
              </a:ext>
            </a:extLst>
          </p:cNvPr>
          <p:cNvSpPr txBox="1"/>
          <p:nvPr/>
        </p:nvSpPr>
        <p:spPr>
          <a:xfrm>
            <a:off x="1513230" y="10262087"/>
            <a:ext cx="10812292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  <a:latin typeface="Helvetica" pitchFamily="2" charset="0"/>
              </a:rPr>
              <a:t>The Value Propositions Building Block describes the bundle of products and services that create value for a specific Customer Segment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801B1-B987-2C1F-E83E-1D7E9440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52" y="4377675"/>
            <a:ext cx="10545248" cy="5489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CDF75-1525-F7C7-1509-F1FE882708C4}"/>
              </a:ext>
            </a:extLst>
          </p:cNvPr>
          <p:cNvSpPr txBox="1"/>
          <p:nvPr/>
        </p:nvSpPr>
        <p:spPr>
          <a:xfrm>
            <a:off x="13005982" y="4860484"/>
            <a:ext cx="10109200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US" sz="3200" dirty="0">
              <a:latin typeface="Avenir Next LT Pro" panose="020B0504020202020204" pitchFamily="34" charset="77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The Value Proposition is the reason why customers turn to one company over another. It solves a customer problem or satisfies a customer need.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Each Value Proposition consists of a selected bundle of products and/or services that caters to the requirements of a specific Customer Segment. </a:t>
            </a:r>
          </a:p>
        </p:txBody>
      </p:sp>
    </p:spTree>
    <p:extLst>
      <p:ext uri="{BB962C8B-B14F-4D97-AF65-F5344CB8AC3E}">
        <p14:creationId xmlns:p14="http://schemas.microsoft.com/office/powerpoint/2010/main" val="106196996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FF36-11EE-61BC-7062-C599A71B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65ABFC-1D40-3593-F06C-94810B65D4EB}"/>
              </a:ext>
            </a:extLst>
          </p:cNvPr>
          <p:cNvSpPr txBox="1"/>
          <p:nvPr/>
        </p:nvSpPr>
        <p:spPr>
          <a:xfrm>
            <a:off x="8054502" y="1142723"/>
            <a:ext cx="785994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Channel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9995D-F2FF-2434-13D8-6BA38DD5EEEA}"/>
              </a:ext>
            </a:extLst>
          </p:cNvPr>
          <p:cNvSpPr txBox="1"/>
          <p:nvPr/>
        </p:nvSpPr>
        <p:spPr>
          <a:xfrm>
            <a:off x="780372" y="9149052"/>
            <a:ext cx="10812292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  <a:latin typeface="Helvetica" pitchFamily="2" charset="0"/>
              </a:rPr>
              <a:t>The Value Propositions Building Block describes the bundle of products and services that create value for a specific Customer Segment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5B2A2-6F55-70E6-8445-F1662A210E48}"/>
              </a:ext>
            </a:extLst>
          </p:cNvPr>
          <p:cNvSpPr txBox="1"/>
          <p:nvPr/>
        </p:nvSpPr>
        <p:spPr>
          <a:xfrm>
            <a:off x="12192000" y="3331499"/>
            <a:ext cx="10455349" cy="79714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Communication, distribution, and sales Channels comprise a company's interface with customers.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Channels are customer touch points that play an important role in the customer experience.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Channels serve several functions, including: 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marL="1143000" indent="-4064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Raising awareness among customers about a company’s products and services </a:t>
            </a:r>
          </a:p>
          <a:p>
            <a:pPr marL="1143000" indent="-4064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Helping customers evaluate a company’s Value Proposition </a:t>
            </a:r>
          </a:p>
          <a:p>
            <a:pPr marL="1143000" indent="-4064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Allowing customers to purchase specific products and services </a:t>
            </a:r>
          </a:p>
          <a:p>
            <a:pPr marL="1143000" indent="-4064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Delivering a Value Proposition to customers </a:t>
            </a:r>
          </a:p>
          <a:p>
            <a:pPr marL="1143000" indent="-4064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Providing post-purchase customer support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E079D2-D518-5B33-DDB1-7B7411E0A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379" y="3885746"/>
            <a:ext cx="8596279" cy="483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7935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7EE8-66A4-4E6D-B5BE-1EF94D95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B2DF38-12C9-E196-D2F1-250B8535F108}"/>
              </a:ext>
            </a:extLst>
          </p:cNvPr>
          <p:cNvSpPr txBox="1"/>
          <p:nvPr/>
        </p:nvSpPr>
        <p:spPr>
          <a:xfrm>
            <a:off x="8054502" y="1142723"/>
            <a:ext cx="8557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Customer Relationship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2B0B0-E2CB-44B7-6C3D-CA75D7BFEA47}"/>
              </a:ext>
            </a:extLst>
          </p:cNvPr>
          <p:cNvSpPr txBox="1"/>
          <p:nvPr/>
        </p:nvSpPr>
        <p:spPr>
          <a:xfrm>
            <a:off x="315962" y="9269155"/>
            <a:ext cx="10812292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</a:rPr>
              <a:t>The Customer Relationships Building Block describes the types of relationships a company establishes with specific Customer Segments</a:t>
            </a:r>
            <a:endParaRPr lang="en-US" sz="4000" dirty="0">
              <a:solidFill>
                <a:srgbClr val="FF7510"/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5183F-08DC-F962-F370-4CBAEBEA1E97}"/>
              </a:ext>
            </a:extLst>
          </p:cNvPr>
          <p:cNvSpPr txBox="1"/>
          <p:nvPr/>
        </p:nvSpPr>
        <p:spPr>
          <a:xfrm>
            <a:off x="12498558" y="4252397"/>
            <a:ext cx="10812292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A company should clarify the type of relationship it wants to establish with each Customer Segment. Relationships can range from personal to automated.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Customer relationships may be driven by the following motivations: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  <a:p>
            <a:pPr marL="1752600" indent="-736600" algn="just">
              <a:buFont typeface="+mj-lt"/>
              <a:buAutoNum type="arabicPeriod"/>
            </a:pPr>
            <a:r>
              <a:rPr lang="en-US" sz="3200" dirty="0">
                <a:latin typeface="Avenir Next LT Pro" panose="020B0504020202020204" pitchFamily="34" charset="77"/>
              </a:rPr>
              <a:t>Customer acquisition </a:t>
            </a:r>
          </a:p>
          <a:p>
            <a:pPr marL="1752600" indent="-736600" algn="just">
              <a:buFont typeface="+mj-lt"/>
              <a:buAutoNum type="arabicPeriod"/>
            </a:pPr>
            <a:r>
              <a:rPr lang="en-US" sz="3200" dirty="0">
                <a:latin typeface="Avenir Next LT Pro" panose="020B0504020202020204" pitchFamily="34" charset="77"/>
              </a:rPr>
              <a:t>Customer retention </a:t>
            </a:r>
          </a:p>
          <a:p>
            <a:pPr marL="1752600" indent="-736600" algn="just">
              <a:buFont typeface="+mj-lt"/>
              <a:buAutoNum type="arabicPeriod"/>
            </a:pPr>
            <a:r>
              <a:rPr lang="en-US" sz="3200" dirty="0">
                <a:latin typeface="Avenir Next LT Pro" panose="020B0504020202020204" pitchFamily="34" charset="77"/>
              </a:rPr>
              <a:t>Boosting sales (upselling)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EBA3F6-49A5-F9F9-38E4-D5E153C9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3728748"/>
            <a:ext cx="9297916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7378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83190-8DE7-BD77-BE46-838D17D8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449086-365D-C89C-AF91-0C0F0536F9E2}"/>
              </a:ext>
            </a:extLst>
          </p:cNvPr>
          <p:cNvSpPr txBox="1"/>
          <p:nvPr/>
        </p:nvSpPr>
        <p:spPr>
          <a:xfrm>
            <a:off x="8054502" y="1142723"/>
            <a:ext cx="8557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Revenue Stream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9EB1B-EFA9-FAFA-9789-513475CFCEDB}"/>
              </a:ext>
            </a:extLst>
          </p:cNvPr>
          <p:cNvSpPr txBox="1"/>
          <p:nvPr/>
        </p:nvSpPr>
        <p:spPr>
          <a:xfrm>
            <a:off x="315962" y="9269155"/>
            <a:ext cx="1081229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</a:rPr>
              <a:t>The Revenue Streams Building Block represents the cash a company generates from each Customer Segment (costs must be subtracted from revenues to create earnings)</a:t>
            </a:r>
            <a:endParaRPr lang="en-US" sz="4000" dirty="0">
              <a:solidFill>
                <a:srgbClr val="FF7510"/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606DC-1BCA-27AC-B226-96C18C314FDE}"/>
              </a:ext>
            </a:extLst>
          </p:cNvPr>
          <p:cNvSpPr txBox="1"/>
          <p:nvPr/>
        </p:nvSpPr>
        <p:spPr>
          <a:xfrm>
            <a:off x="12498558" y="3155949"/>
            <a:ext cx="10812292" cy="9448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/>
              <a:t>If customers comprise the heart of a business model, revenue streams are its arteries. A company must ask itself: </a:t>
            </a:r>
            <a:r>
              <a:rPr lang="en-US" sz="3200" i="1" dirty="0"/>
              <a:t>For what value is each customer segment truly willing to pay?</a:t>
            </a:r>
            <a:r>
              <a:rPr lang="en-US" sz="3200" dirty="0"/>
              <a:t> Successfully answering that question allows the firm to generate one or more revenue streams from each customer segment.</a:t>
            </a:r>
          </a:p>
          <a:p>
            <a:pPr algn="just"/>
            <a:r>
              <a:rPr lang="en-US" sz="3200" dirty="0"/>
              <a:t>Each revenue stream may have different pricing mechanisms, such as fixed list prices, bargaining, auctioning, market dependency, volume dependency, or yield management.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A business model can involve two different types of revenue streams: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Transaction revenues resulting from one-time customer payments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Recurring revenues resulting from ongoing payments to either deliver a value proposition to customers or provide post-purchase customer support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EE858-F4C6-6AB5-207C-8D58472F0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49" y="3155949"/>
            <a:ext cx="9063069" cy="611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704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9CB7-7336-5130-BEB8-1645F703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862FE0-EBEB-252A-A8DE-CE13DA2F0BF0}"/>
              </a:ext>
            </a:extLst>
          </p:cNvPr>
          <p:cNvSpPr txBox="1"/>
          <p:nvPr/>
        </p:nvSpPr>
        <p:spPr>
          <a:xfrm>
            <a:off x="8054502" y="1142723"/>
            <a:ext cx="8557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Key Resources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E5097-BB87-BAF8-9C7B-DD93E800C796}"/>
              </a:ext>
            </a:extLst>
          </p:cNvPr>
          <p:cNvSpPr txBox="1"/>
          <p:nvPr/>
        </p:nvSpPr>
        <p:spPr>
          <a:xfrm>
            <a:off x="1073150" y="9511881"/>
            <a:ext cx="10812292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  <a:latin typeface="Helvetica" pitchFamily="2" charset="0"/>
              </a:rPr>
              <a:t>The Key Resources Building Block describes the most important assets required to make a business model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5869C-3D1A-33CD-60EE-773FE18F08BC}"/>
              </a:ext>
            </a:extLst>
          </p:cNvPr>
          <p:cNvSpPr txBox="1"/>
          <p:nvPr/>
        </p:nvSpPr>
        <p:spPr>
          <a:xfrm>
            <a:off x="12498560" y="3479460"/>
            <a:ext cx="10812292" cy="79714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Every business model requires Key Resources. These resources allow an enterprise to create and offer a Value Proposition, reach markets, maintain relationships with Customer Segments, and earn revenues. Different Key Resources are needed depending on the type of business model.</a:t>
            </a: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A microchip manufacturer requires capital-intensive production facilities, whereas a microchip designer focuses more on human resources. Key resources can be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Physical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Financial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Intellectual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venir Next LT Pro" panose="020B0504020202020204" pitchFamily="34" charset="77"/>
              </a:rPr>
              <a:t>human.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Key resources can be owned or leased by the company or acquired from key partners.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51DA5-A04E-670A-4C04-F84513D88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49" y="2770444"/>
            <a:ext cx="10812293" cy="649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769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DDA1-9734-A3BF-C417-2D9A7898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6DB9E9-24E9-D740-F753-6C03581E292A}"/>
              </a:ext>
            </a:extLst>
          </p:cNvPr>
          <p:cNvSpPr txBox="1"/>
          <p:nvPr/>
        </p:nvSpPr>
        <p:spPr>
          <a:xfrm>
            <a:off x="8054502" y="1142723"/>
            <a:ext cx="8557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Key Activities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4A100-1BB3-3652-39E5-40A36BF58441}"/>
              </a:ext>
            </a:extLst>
          </p:cNvPr>
          <p:cNvSpPr txBox="1"/>
          <p:nvPr/>
        </p:nvSpPr>
        <p:spPr>
          <a:xfrm>
            <a:off x="1073150" y="9511881"/>
            <a:ext cx="10812292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</a:rPr>
              <a:t>The Key Activities Building Block describes the most important things a company must do to make its business model work</a:t>
            </a:r>
            <a:endParaRPr lang="en-US" sz="4000" dirty="0">
              <a:solidFill>
                <a:srgbClr val="FF7510"/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81003-F5DB-286E-54C7-B2FB9B7D3C54}"/>
              </a:ext>
            </a:extLst>
          </p:cNvPr>
          <p:cNvSpPr txBox="1"/>
          <p:nvPr/>
        </p:nvSpPr>
        <p:spPr>
          <a:xfrm>
            <a:off x="12498560" y="3479460"/>
            <a:ext cx="10812292" cy="84638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Every business model calls for a number of Key Activities. These are the most important actions a company must take to operate successfully. 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Like Key Resources, they are required to create and offer a Value Proposition, reach markets, maintain Customer Relationships, and earn revenues. 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And like Key Resources, Key Activities differ depending on business model type. 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For software maker Microsoft, Key Activities include software development. For PC manufacturer Dell, Key Activities include supply chain management. 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For consultancy McKinsey, Key Activities include problem solving.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2D97B-F03C-0540-56C7-536004316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48" y="2870199"/>
            <a:ext cx="10812292" cy="664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36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3B31-75C5-2A8F-BEC9-6A5644C6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4DAF5F-BCA4-00BE-3B91-7822D48E7BFF}"/>
              </a:ext>
            </a:extLst>
          </p:cNvPr>
          <p:cNvSpPr txBox="1"/>
          <p:nvPr/>
        </p:nvSpPr>
        <p:spPr>
          <a:xfrm>
            <a:off x="8054502" y="1142723"/>
            <a:ext cx="8557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Key Partnerships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83418-1C46-4E64-28A5-65B674E1E098}"/>
              </a:ext>
            </a:extLst>
          </p:cNvPr>
          <p:cNvSpPr txBox="1"/>
          <p:nvPr/>
        </p:nvSpPr>
        <p:spPr>
          <a:xfrm>
            <a:off x="1073148" y="10248481"/>
            <a:ext cx="10812292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</a:rPr>
              <a:t>The Key Partnerships Building Block describes the network of suppliers and partners that make the business model work</a:t>
            </a:r>
            <a:endParaRPr lang="en-US" sz="4000" dirty="0">
              <a:solidFill>
                <a:srgbClr val="FF7510"/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EA940-5BBC-5175-E970-F1016A43ABCA}"/>
              </a:ext>
            </a:extLst>
          </p:cNvPr>
          <p:cNvSpPr txBox="1"/>
          <p:nvPr/>
        </p:nvSpPr>
        <p:spPr>
          <a:xfrm>
            <a:off x="12498560" y="3610957"/>
            <a:ext cx="10812292" cy="6001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Companies forge partnerships for many reasons, and partnerships are becoming a cornerstone of many business models. Companies create alliances to optimize their business models, reduce risk, or acquire resources. We can distinguish between four different types of partnerships: 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Strategic alliances between non-competitors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Coopetition: strategic partnerships between competitors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Joint ventures to develop new businesses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Avenir Next LT Pro" panose="020B0504020202020204" pitchFamily="34" charset="77"/>
              </a:rPr>
              <a:t>Buyer-supplier relationships to assure reliable supplies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68B70-B101-A5A6-BCEE-FB21353F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551"/>
          <a:stretch>
            <a:fillRect/>
          </a:stretch>
        </p:blipFill>
        <p:spPr>
          <a:xfrm>
            <a:off x="1073148" y="3138241"/>
            <a:ext cx="10483852" cy="685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1469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8436-705F-3616-F0C3-5A1BD62D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D49EC5-F357-6106-92A3-8ACC23AF96CC}"/>
              </a:ext>
            </a:extLst>
          </p:cNvPr>
          <p:cNvSpPr txBox="1"/>
          <p:nvPr/>
        </p:nvSpPr>
        <p:spPr>
          <a:xfrm>
            <a:off x="8054502" y="1142723"/>
            <a:ext cx="8557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Key Partnerships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B822A-3FB6-C318-FB5F-D1D5B7CDFF6E}"/>
              </a:ext>
            </a:extLst>
          </p:cNvPr>
          <p:cNvSpPr txBox="1"/>
          <p:nvPr/>
        </p:nvSpPr>
        <p:spPr>
          <a:xfrm>
            <a:off x="1073148" y="10248481"/>
            <a:ext cx="10812292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7510"/>
                </a:solidFill>
              </a:rPr>
              <a:t>The Cost Structure describes all costs incurred to operate a business model</a:t>
            </a:r>
            <a:endParaRPr lang="en-US" sz="4000" dirty="0">
              <a:solidFill>
                <a:srgbClr val="FF7510"/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19076-8A66-30B9-8DF6-D2FB20E97454}"/>
              </a:ext>
            </a:extLst>
          </p:cNvPr>
          <p:cNvSpPr txBox="1"/>
          <p:nvPr/>
        </p:nvSpPr>
        <p:spPr>
          <a:xfrm>
            <a:off x="13333228" y="3610957"/>
            <a:ext cx="9977624" cy="69865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This building block describes the most important costs incurred while operating under a particular business model. Creating and delivering value, maintaining customer relationships, and generating revenue all incur costs.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Such costs can be calculated relatively easily after defining key resources, key activities, and key partnerships.</a:t>
            </a:r>
          </a:p>
          <a:p>
            <a:pPr algn="just"/>
            <a:endParaRPr lang="en-US" sz="3200" dirty="0">
              <a:latin typeface="Avenir Next LT Pro" panose="020B0504020202020204" pitchFamily="34" charset="77"/>
            </a:endParaRPr>
          </a:p>
          <a:p>
            <a:pPr algn="just"/>
            <a:r>
              <a:rPr lang="en-US" sz="3200" dirty="0">
                <a:latin typeface="Avenir Next LT Pro" panose="020B0504020202020204" pitchFamily="34" charset="77"/>
              </a:rPr>
              <a:t>Some business models, however, are more cost-driven than others. So-called “no-frills” airlines, for instance, have built business models entirely around low-cost structures.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56C2F9-51D9-107F-B4CF-989AB3CE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37" y="3476425"/>
            <a:ext cx="11753914" cy="676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8847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F31B0D-661B-67C4-F88D-A8320212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17"/>
          <a:stretch>
            <a:fillRect/>
          </a:stretch>
        </p:blipFill>
        <p:spPr>
          <a:xfrm>
            <a:off x="0" y="2362200"/>
            <a:ext cx="24384000" cy="11436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0BE968-248A-77A0-B50D-70A89E656166}"/>
              </a:ext>
            </a:extLst>
          </p:cNvPr>
          <p:cNvSpPr txBox="1"/>
          <p:nvPr/>
        </p:nvSpPr>
        <p:spPr>
          <a:xfrm>
            <a:off x="6389451" y="977205"/>
            <a:ext cx="11605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Google Busines</a:t>
            </a:r>
            <a:r>
              <a:rPr lang="en-US" sz="6000" dirty="0">
                <a:solidFill>
                  <a:srgbClr val="0090D4"/>
                </a:solidFill>
                <a:latin typeface="Georgia" panose="02040502050405020303" pitchFamily="18" charset="0"/>
              </a:rPr>
              <a:t>s Model Canvas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50335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0DCB5F-083A-76C8-1397-6160055C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329" y="2489201"/>
            <a:ext cx="24509329" cy="11277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3D6500-D7AE-6786-6590-1E9560E3C569}"/>
              </a:ext>
            </a:extLst>
          </p:cNvPr>
          <p:cNvSpPr txBox="1"/>
          <p:nvPr/>
        </p:nvSpPr>
        <p:spPr>
          <a:xfrm>
            <a:off x="6389451" y="977205"/>
            <a:ext cx="11605098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solidFill>
                  <a:srgbClr val="0090D4"/>
                </a:solidFill>
                <a:effectLst/>
                <a:latin typeface="Georgia" panose="02040502050405020303" pitchFamily="18" charset="0"/>
              </a:rPr>
              <a:t>Template Busines</a:t>
            </a:r>
            <a:r>
              <a:rPr lang="en-US" sz="6000" dirty="0">
                <a:solidFill>
                  <a:srgbClr val="0090D4"/>
                </a:solidFill>
                <a:latin typeface="Georgia" panose="02040502050405020303" pitchFamily="18" charset="0"/>
              </a:rPr>
              <a:t>s Model Canvas</a:t>
            </a:r>
            <a:endParaRPr lang="en-US" sz="6000" dirty="0">
              <a:solidFill>
                <a:srgbClr val="F3781A"/>
              </a:solidFill>
              <a:effectLst/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●</a:t>
            </a:r>
            <a:endParaRPr lang="en-US" dirty="0">
              <a:solidFill>
                <a:srgbClr val="2F3741"/>
              </a:solidFill>
              <a:effectLst/>
              <a:latin typeface="Helvetica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0F50E2-ADD8-0C0E-0736-CD2CA9738238}"/>
              </a:ext>
            </a:extLst>
          </p:cNvPr>
          <p:cNvGrpSpPr/>
          <p:nvPr/>
        </p:nvGrpSpPr>
        <p:grpSpPr>
          <a:xfrm>
            <a:off x="5170693" y="6396335"/>
            <a:ext cx="17192210" cy="7040265"/>
            <a:chOff x="5170693" y="6396335"/>
            <a:chExt cx="17192210" cy="70402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618551-6B9F-0D7F-C555-915941DB4E7D}"/>
                </a:ext>
              </a:extLst>
            </p:cNvPr>
            <p:cNvSpPr/>
            <p:nvPr/>
          </p:nvSpPr>
          <p:spPr>
            <a:xfrm>
              <a:off x="21782295" y="96983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8D2161-A9DD-E896-BB78-2B7D62D69EE8}"/>
                </a:ext>
              </a:extLst>
            </p:cNvPr>
            <p:cNvSpPr/>
            <p:nvPr/>
          </p:nvSpPr>
          <p:spPr>
            <a:xfrm>
              <a:off x="17616694" y="63963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4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245FCE-74EB-023F-C21A-5D36BAB996E0}"/>
                </a:ext>
              </a:extLst>
            </p:cNvPr>
            <p:cNvSpPr/>
            <p:nvPr/>
          </p:nvSpPr>
          <p:spPr>
            <a:xfrm>
              <a:off x="17616694" y="96983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ED571B-C064-6D89-3509-91233C8A80AC}"/>
                </a:ext>
              </a:extLst>
            </p:cNvPr>
            <p:cNvSpPr/>
            <p:nvPr/>
          </p:nvSpPr>
          <p:spPr>
            <a:xfrm>
              <a:off x="13451095" y="9698335"/>
              <a:ext cx="58060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F0163E-4A16-10A6-8DA5-43E25C704826}"/>
                </a:ext>
              </a:extLst>
            </p:cNvPr>
            <p:cNvSpPr/>
            <p:nvPr/>
          </p:nvSpPr>
          <p:spPr>
            <a:xfrm flipH="1">
              <a:off x="11302038" y="12513270"/>
              <a:ext cx="827297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9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EE3AEA-F738-31ED-1BEF-B7FE3DC3B3D1}"/>
                </a:ext>
              </a:extLst>
            </p:cNvPr>
            <p:cNvSpPr/>
            <p:nvPr/>
          </p:nvSpPr>
          <p:spPr>
            <a:xfrm>
              <a:off x="5170693" y="98761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8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32DA1C-7833-1E79-3AA5-83745046D0D0}"/>
                </a:ext>
              </a:extLst>
            </p:cNvPr>
            <p:cNvSpPr/>
            <p:nvPr/>
          </p:nvSpPr>
          <p:spPr>
            <a:xfrm>
              <a:off x="9310892" y="64725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7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A4CC6D1-112F-8AC3-C20D-4B9845831A9B}"/>
                </a:ext>
              </a:extLst>
            </p:cNvPr>
            <p:cNvSpPr/>
            <p:nvPr/>
          </p:nvSpPr>
          <p:spPr>
            <a:xfrm>
              <a:off x="9336294" y="96983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1D4C75-364C-D503-E1F2-E9998D4355C8}"/>
                </a:ext>
              </a:extLst>
            </p:cNvPr>
            <p:cNvSpPr/>
            <p:nvPr/>
          </p:nvSpPr>
          <p:spPr>
            <a:xfrm>
              <a:off x="21782295" y="12466935"/>
              <a:ext cx="5806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3184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9D90-FE2C-6AB4-B26E-C7EC490E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250463-FD01-189C-C7C5-83753884AB25}"/>
              </a:ext>
            </a:extLst>
          </p:cNvPr>
          <p:cNvSpPr txBox="1"/>
          <p:nvPr/>
        </p:nvSpPr>
        <p:spPr>
          <a:xfrm>
            <a:off x="2209800" y="3369102"/>
            <a:ext cx="18694400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6000" dirty="0">
                <a:latin typeface="Georgia" panose="02040502050405020303" pitchFamily="18" charset="0"/>
              </a:rPr>
              <a:t>“There’s not a single business model . . . There are really a lot of opportunities and a lot of options, and we just have to discover all of them.” </a:t>
            </a:r>
          </a:p>
          <a:p>
            <a:pPr algn="l"/>
            <a:endParaRPr lang="en-US" sz="6000" dirty="0">
              <a:latin typeface="Georgia" panose="02040502050405020303" pitchFamily="18" charset="0"/>
            </a:endParaRPr>
          </a:p>
          <a:p>
            <a:pPr algn="l"/>
            <a:r>
              <a:rPr lang="en-US" sz="6000" dirty="0">
                <a:latin typeface="Georgia" panose="02040502050405020303" pitchFamily="18" charset="0"/>
              </a:rPr>
              <a:t>Tim O’Reilly, CEO, O'Reilly</a:t>
            </a:r>
          </a:p>
        </p:txBody>
      </p:sp>
    </p:spTree>
    <p:extLst>
      <p:ext uri="{BB962C8B-B14F-4D97-AF65-F5344CB8AC3E}">
        <p14:creationId xmlns:p14="http://schemas.microsoft.com/office/powerpoint/2010/main" val="246730758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B0DDB5-E5CB-EC6B-2F5F-3E12118D6230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/>
                <a:uFillTx/>
                <a:latin typeface="Georgia" panose="02040502050405020303" pitchFamily="18" charset="0"/>
                <a:sym typeface="Helvetica Neue"/>
              </a:rPr>
              <a:t>Student Activities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09507-B975-4432-255F-3BC32296121F}"/>
              </a:ext>
            </a:extLst>
          </p:cNvPr>
          <p:cNvSpPr txBox="1"/>
          <p:nvPr/>
        </p:nvSpPr>
        <p:spPr>
          <a:xfrm>
            <a:off x="2866767" y="5457869"/>
            <a:ext cx="15977824" cy="23801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Create Business Model Canvas</a:t>
            </a:r>
            <a:endParaRPr lang="en-ID" sz="36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Coaching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Feedback Session</a:t>
            </a:r>
            <a:endParaRPr lang="en-ID" sz="36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9741886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87-E987-C9BC-066A-432FA50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17B9E-6ECF-DB76-E94A-8DAF51E31D88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/>
                <a:uFillTx/>
                <a:latin typeface="Georgia" panose="02040502050405020303" pitchFamily="18" charset="0"/>
                <a:sym typeface="Helvetica Neue"/>
              </a:rPr>
              <a:t>Next Session Preparation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D1C994-3DEA-3B28-D168-A392FE0EA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9F30B-FBBA-FBA2-85AE-36A99D78751E}"/>
              </a:ext>
            </a:extLst>
          </p:cNvPr>
          <p:cNvSpPr txBox="1"/>
          <p:nvPr/>
        </p:nvSpPr>
        <p:spPr>
          <a:xfrm>
            <a:off x="3365770" y="3575716"/>
            <a:ext cx="1429966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600" dirty="0">
                <a:latin typeface="Avenir Next LT Pro" panose="020B0504020202020204" pitchFamily="34" charset="77"/>
              </a:rPr>
              <a:t>Student Present:</a:t>
            </a:r>
          </a:p>
          <a:p>
            <a:pPr marL="1066800" indent="-508000" algn="l">
              <a:buAutoNum type="arabicPeriod"/>
            </a:pPr>
            <a:r>
              <a:rPr lang="en-US" sz="3600" dirty="0">
                <a:latin typeface="Avenir Next LT Pro" panose="020B0504020202020204" pitchFamily="34" charset="77"/>
              </a:rPr>
              <a:t>Product Or Service show to Domain expert</a:t>
            </a:r>
          </a:p>
          <a:p>
            <a:pPr marL="1066800" indent="-508000" algn="l">
              <a:buAutoNum type="arabicPeriod"/>
            </a:pPr>
            <a:r>
              <a:rPr lang="en-US" sz="3600" dirty="0">
                <a:latin typeface="Avenir Next LT Pro" panose="020B0504020202020204" pitchFamily="34" charset="77"/>
              </a:rPr>
              <a:t>Present Business Model Canvas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600" dirty="0">
                <a:latin typeface="Avenir Next LT Pro" panose="020B0504020202020204" pitchFamily="34" charset="77"/>
              </a:rPr>
              <a:t>Domain Expert Feedback</a:t>
            </a:r>
          </a:p>
        </p:txBody>
      </p:sp>
    </p:spTree>
    <p:extLst>
      <p:ext uri="{BB962C8B-B14F-4D97-AF65-F5344CB8AC3E}">
        <p14:creationId xmlns:p14="http://schemas.microsoft.com/office/powerpoint/2010/main" val="298957396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6C66-F356-8FCB-9B2C-DCBD6B53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511E0B-D53E-E8E3-1DDD-AB222894F8CA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References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B08FA-EE04-804D-8DD2-5278AD99564B}"/>
              </a:ext>
            </a:extLst>
          </p:cNvPr>
          <p:cNvSpPr txBox="1"/>
          <p:nvPr/>
        </p:nvSpPr>
        <p:spPr>
          <a:xfrm>
            <a:off x="3513483" y="5721123"/>
            <a:ext cx="1650392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DAF6F-B4E8-3F01-07A8-8F0BDE657072}"/>
              </a:ext>
            </a:extLst>
          </p:cNvPr>
          <p:cNvSpPr txBox="1"/>
          <p:nvPr/>
        </p:nvSpPr>
        <p:spPr>
          <a:xfrm>
            <a:off x="3062177" y="5413346"/>
            <a:ext cx="15231139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venir Next LT Pro" panose="020B0504020202020204" pitchFamily="34" charset="0"/>
                <a:sym typeface="Helvetica Neue"/>
              </a:rPr>
              <a:t>Osterwalder, A., &amp; Pigneur, Y. (2010). Business model generation: a handbook for visionaries, game changers, and challengers. John Wiley &amp; Sons</a:t>
            </a:r>
            <a:endParaRPr kumimoji="0" lang="en-ID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venir Next LT Pro" panose="020B0504020202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374211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Online Resources 2023_Binus University_BHE Logo</Template>
  <TotalTime>16448</TotalTime>
  <Words>1210</Words>
  <Application>Microsoft Macintosh PowerPoint</Application>
  <PresentationFormat>Custom</PresentationFormat>
  <Paragraphs>151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Georgia</vt:lpstr>
      <vt:lpstr>Open Sans ExtraBold</vt:lpstr>
      <vt:lpstr>Open Sans</vt:lpstr>
      <vt:lpstr>Wingdings</vt:lpstr>
      <vt:lpstr>Courier New</vt:lpstr>
      <vt:lpstr>Open Sans Light</vt:lpstr>
      <vt:lpstr>OCRB</vt:lpstr>
      <vt:lpstr>Avenir Next LT Pro</vt:lpstr>
      <vt:lpstr>Open Sans Semibold</vt:lpstr>
      <vt:lpstr>Arial</vt:lpstr>
      <vt:lpstr>Helvetica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Katherina Anastasya Samosir</dc:creator>
  <cp:lastModifiedBy>Glory A Guzman</cp:lastModifiedBy>
  <cp:revision>30</cp:revision>
  <dcterms:created xsi:type="dcterms:W3CDTF">2025-04-16T03:14:16Z</dcterms:created>
  <dcterms:modified xsi:type="dcterms:W3CDTF">2025-11-09T10:48:35Z</dcterms:modified>
</cp:coreProperties>
</file>