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4"/>
  </p:notesMasterIdLst>
  <p:sldIdLst>
    <p:sldId id="256" r:id="rId2"/>
    <p:sldId id="260" r:id="rId3"/>
    <p:sldId id="257" r:id="rId4"/>
    <p:sldId id="529" r:id="rId5"/>
    <p:sldId id="530" r:id="rId6"/>
    <p:sldId id="515" r:id="rId7"/>
    <p:sldId id="534" r:id="rId8"/>
    <p:sldId id="533" r:id="rId9"/>
    <p:sldId id="535" r:id="rId10"/>
    <p:sldId id="509" r:id="rId11"/>
    <p:sldId id="532" r:id="rId12"/>
    <p:sldId id="514" r:id="rId13"/>
  </p:sldIdLst>
  <p:sldSz cx="24384000" cy="13716000"/>
  <p:notesSz cx="6858000" cy="9144000"/>
  <p:embeddedFontLst>
    <p:embeddedFont>
      <p:font typeface="Avenir Next LT Pro" panose="020B0504020202020204" pitchFamily="34" charset="77"/>
      <p:regular r:id="rId15"/>
      <p:bold r:id="rId16"/>
      <p:italic r:id="rId17"/>
      <p:boldItalic r:id="rId18"/>
    </p:embeddedFont>
    <p:embeddedFont>
      <p:font typeface="Georgia" panose="02040502050405020303" pitchFamily="18" charset="0"/>
      <p:regular r:id="rId19"/>
      <p:bold r:id="rId20"/>
      <p:italic r:id="rId21"/>
      <p:boldItalic r:id="rId22"/>
    </p:embeddedFont>
    <p:embeddedFont>
      <p:font typeface="OCRB" panose="020B0609020202020204" pitchFamily="49" charset="77"/>
      <p:regular r:id="rId23"/>
    </p:embeddedFont>
    <p:embeddedFont>
      <p:font typeface="Open Sans" panose="020B0606030504020204" pitchFamily="34" charset="0"/>
      <p:regular r:id="rId24"/>
      <p:bold r:id="rId25"/>
      <p:italic r:id="rId26"/>
      <p:boldItalic r:id="rId27"/>
    </p:embeddedFont>
    <p:embeddedFont>
      <p:font typeface="Open Sans ExtraBold" panose="020B0906030804020204" pitchFamily="34" charset="0"/>
      <p:bold r:id="rId28"/>
      <p:italic r:id="rId29"/>
      <p:boldItalic r:id="rId30"/>
    </p:embeddedFont>
    <p:embeddedFont>
      <p:font typeface="Open Sans Light" panose="020B0306030504020204" pitchFamily="34" charset="0"/>
      <p:regular r:id="rId31"/>
      <p:italic r:id="rId32"/>
    </p:embeddedFont>
    <p:embeddedFont>
      <p:font typeface="Open Sans Semibold" panose="020B0706030804020204" pitchFamily="34" charset="0"/>
      <p:regular r:id="rId33"/>
      <p:bold r:id="rId34"/>
      <p:italic r:id="rId35"/>
      <p:boldItalic r:id="rId36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0D4"/>
    <a:srgbClr val="FFC000"/>
    <a:srgbClr val="70B40A"/>
    <a:srgbClr val="80BBC3"/>
    <a:srgbClr val="00A5AE"/>
    <a:srgbClr val="FF7510"/>
    <a:srgbClr val="EA222C"/>
    <a:srgbClr val="FFFFFF"/>
    <a:srgbClr val="9B4A96"/>
    <a:srgbClr val="F5AF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284" autoAdjust="0"/>
    <p:restoredTop sz="96197"/>
  </p:normalViewPr>
  <p:slideViewPr>
    <p:cSldViewPr snapToGrid="0" snapToObjects="1">
      <p:cViewPr varScale="1">
        <p:scale>
          <a:sx n="68" d="100"/>
          <a:sy n="68" d="100"/>
        </p:scale>
        <p:origin x="320" y="520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9" Type="http://schemas.openxmlformats.org/officeDocument/2006/relationships/theme" Target="theme/theme1.xml"/><Relationship Id="rId21" Type="http://schemas.openxmlformats.org/officeDocument/2006/relationships/font" Target="fonts/font7.fntdata"/><Relationship Id="rId34" Type="http://schemas.openxmlformats.org/officeDocument/2006/relationships/font" Target="fonts/font20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font" Target="fonts/font19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font" Target="fonts/font22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font" Target="fonts/font21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youtu.be/czx2-3WP4uc" TargetMode="External"/><Relationship Id="rId3" Type="http://schemas.openxmlformats.org/officeDocument/2006/relationships/hyperlink" Target="https://youtu.be/L0NoA-YkLlg" TargetMode="External"/><Relationship Id="rId7" Type="http://schemas.openxmlformats.org/officeDocument/2006/relationships/hyperlink" Target="https://youtu.be/YF-mrDJck6Y" TargetMode="External"/><Relationship Id="rId2" Type="http://schemas.openxmlformats.org/officeDocument/2006/relationships/hyperlink" Target="https://youtu.be/C0LqBd7grrk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youtu.be/EbWOfEEAfzA" TargetMode="External"/><Relationship Id="rId11" Type="http://schemas.openxmlformats.org/officeDocument/2006/relationships/hyperlink" Target="https://youtu.be/47Ris1zZjoY" TargetMode="External"/><Relationship Id="rId5" Type="http://schemas.openxmlformats.org/officeDocument/2006/relationships/hyperlink" Target="https://youtu.be/4lqxRVsQtqE" TargetMode="External"/><Relationship Id="rId10" Type="http://schemas.openxmlformats.org/officeDocument/2006/relationships/hyperlink" Target="https://youtu.be/YeY0dajzXII" TargetMode="External"/><Relationship Id="rId4" Type="http://schemas.openxmlformats.org/officeDocument/2006/relationships/hyperlink" Target="https://youtu.be/sKRapoUwPh4" TargetMode="External"/><Relationship Id="rId9" Type="http://schemas.openxmlformats.org/officeDocument/2006/relationships/hyperlink" Target="https://www.youtube.com/watch?v=8v1it_OXkqU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612850" y="11538583"/>
            <a:ext cx="6401008" cy="745888"/>
          </a:xfrm>
        </p:spPr>
        <p:txBody>
          <a:bodyPr/>
          <a:lstStyle/>
          <a:p>
            <a:r>
              <a:rPr lang="en-US" dirty="0"/>
              <a:t>Dr. Glory Aguzman, S.Sos, M.M., CDMS, CCP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0FF65F-71E4-38D9-8AD7-D80FB9D70369}"/>
              </a:ext>
            </a:extLst>
          </p:cNvPr>
          <p:cNvSpPr txBox="1"/>
          <p:nvPr/>
        </p:nvSpPr>
        <p:spPr>
          <a:xfrm>
            <a:off x="3077497" y="6073170"/>
            <a:ext cx="18229006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D" sz="6000" dirty="0">
                <a:solidFill>
                  <a:schemeClr val="bg1"/>
                </a:solidFill>
                <a:latin typeface="Georgia" panose="02040502050405020303" pitchFamily="18" charset="0"/>
              </a:rPr>
              <a:t>Prototype Iteration &amp; Feedback</a:t>
            </a:r>
            <a:r>
              <a:rPr lang="en-US" sz="6000" dirty="0">
                <a:solidFill>
                  <a:schemeClr val="bg1"/>
                </a:solidFill>
                <a:latin typeface="Georgia" panose="02040502050405020303" pitchFamily="18" charset="0"/>
              </a:rPr>
              <a:t> </a:t>
            </a:r>
            <a:endParaRPr lang="en-ID" sz="6000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0FD7801-9196-A9AE-F097-1B405E1ABFFD}"/>
              </a:ext>
            </a:extLst>
          </p:cNvPr>
          <p:cNvSpPr txBox="1"/>
          <p:nvPr/>
        </p:nvSpPr>
        <p:spPr>
          <a:xfrm>
            <a:off x="3364992" y="4287628"/>
            <a:ext cx="11173968" cy="35496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Avenir Next LT Pro" panose="020B0504020202020204" pitchFamily="34" charset="77"/>
              </a:rPr>
              <a:t>Student Video Interview Presentation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Avenir Next LT Pro" panose="020B0504020202020204" pitchFamily="34" charset="77"/>
              </a:rPr>
              <a:t>Product or Service Demonstration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Avenir Next LT Pro" panose="020B0504020202020204" pitchFamily="34" charset="77"/>
              </a:rPr>
              <a:t>Create a Feedback Grid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Avenir Next LT Pro" panose="020B0504020202020204" pitchFamily="34" charset="77"/>
              </a:rPr>
              <a:t>Present the Feedback Grid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Avenir Next LT Pro" panose="020B0504020202020204" pitchFamily="34" charset="77"/>
              </a:rPr>
              <a:t>Prototype Iteration and Feedback Session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Avenir Next LT Pro" panose="020B0504020202020204" pitchFamily="34" charset="77"/>
              </a:rPr>
              <a:t>Design Iteration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Avenir Next LT Pro" panose="020B0504020202020204" pitchFamily="34" charset="77"/>
              </a:rPr>
              <a:t>Student Activities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Avenir Next LT Pro" panose="020B0504020202020204" pitchFamily="34" charset="77"/>
              </a:rPr>
              <a:t>Next Session Preparation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D14D4E-08A2-2734-1FBD-5D96A961198F}"/>
              </a:ext>
            </a:extLst>
          </p:cNvPr>
          <p:cNvSpPr txBox="1"/>
          <p:nvPr/>
        </p:nvSpPr>
        <p:spPr>
          <a:xfrm>
            <a:off x="5619750" y="1387991"/>
            <a:ext cx="12192000" cy="7078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Georgia" panose="02040502050405020303" pitchFamily="18" charset="0"/>
                <a:sym typeface="Helvetica Neue"/>
              </a:rPr>
              <a:t>Subtopics</a:t>
            </a:r>
            <a:endParaRPr kumimoji="0" lang="en-ID" sz="40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Georgia" panose="02040502050405020303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741212907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CFEBFB-D423-2219-F689-5D305E5D84B2}"/>
              </a:ext>
            </a:extLst>
          </p:cNvPr>
          <p:cNvSpPr txBox="1"/>
          <p:nvPr/>
        </p:nvSpPr>
        <p:spPr>
          <a:xfrm>
            <a:off x="5864772" y="844004"/>
            <a:ext cx="11634952" cy="11182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6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Georgia" panose="02040502050405020303" pitchFamily="18" charset="0"/>
                <a:sym typeface="Helvetica Neue"/>
              </a:rPr>
              <a:t>Acknowledgement</a:t>
            </a:r>
            <a:endParaRPr kumimoji="0" lang="en-ID" sz="66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Georgia" panose="02040502050405020303" pitchFamily="18" charset="0"/>
              <a:sym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9DE532-C175-E367-7C97-21297170F201}"/>
              </a:ext>
            </a:extLst>
          </p:cNvPr>
          <p:cNvSpPr txBox="1"/>
          <p:nvPr/>
        </p:nvSpPr>
        <p:spPr>
          <a:xfrm>
            <a:off x="2126974" y="5928260"/>
            <a:ext cx="16165995" cy="31700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endParaRPr lang="en-US" sz="3200" dirty="0">
              <a:solidFill>
                <a:schemeClr val="tx1"/>
              </a:solidFill>
              <a:latin typeface="Avenir Next LT Pro" panose="020B0504020202020204" pitchFamily="34" charset="77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chemeClr val="tx1"/>
                </a:solidFill>
                <a:latin typeface="Avenir Next LT Pro" panose="020B0504020202020204" pitchFamily="34" charset="77"/>
                <a:ea typeface="Verdana" panose="020B0604030504040204" pitchFamily="34" charset="0"/>
              </a:rPr>
              <a:t>Michael </a:t>
            </a:r>
            <a:r>
              <a:rPr lang="en-AU" sz="3200" dirty="0" err="1">
                <a:solidFill>
                  <a:schemeClr val="tx1"/>
                </a:solidFill>
                <a:latin typeface="Avenir Next LT Pro" panose="020B0504020202020204" pitchFamily="34" charset="77"/>
                <a:ea typeface="Verdana" panose="020B0604030504040204" pitchFamily="34" charset="0"/>
              </a:rPr>
              <a:t>Lewrick</a:t>
            </a:r>
            <a:r>
              <a:rPr lang="en-AU" sz="3200" dirty="0">
                <a:solidFill>
                  <a:schemeClr val="tx1"/>
                </a:solidFill>
                <a:latin typeface="Avenir Next LT Pro" panose="020B0504020202020204" pitchFamily="34" charset="77"/>
                <a:ea typeface="Verdana" panose="020B0604030504040204" pitchFamily="34" charset="0"/>
              </a:rPr>
              <a:t>, Patric Link, Larry Leifer (2018) The Design Thinking Playbook – Mindful Digital Transformation of teams, products, services, Businesses And Ecosystems, Wiley</a:t>
            </a:r>
            <a:r>
              <a:rPr lang="en-US" sz="3200" dirty="0">
                <a:solidFill>
                  <a:schemeClr val="tx1"/>
                </a:solidFill>
                <a:latin typeface="Avenir Next LT Pro" panose="020B0504020202020204" pitchFamily="34" charset="77"/>
                <a:ea typeface="Verdana" panose="020B0604030504040204" pitchFamily="34" charset="0"/>
              </a:rPr>
              <a:t>, P121-123</a:t>
            </a:r>
            <a:endParaRPr lang="en-ID" sz="3200" dirty="0">
              <a:solidFill>
                <a:schemeClr val="tx1"/>
              </a:solidFill>
              <a:latin typeface="Avenir Next LT Pro" panose="020B0504020202020204" pitchFamily="34" charset="77"/>
            </a:endParaRPr>
          </a:p>
          <a:p>
            <a:pPr algn="l"/>
            <a:endParaRPr lang="en-US" b="0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algn="l">
              <a:buNone/>
            </a:pPr>
            <a:b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</a:br>
            <a:endParaRPr lang="en-US" b="0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645439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B300B-1FFF-DEFA-3A3C-3F344F76E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0A732A2-5A90-FDA5-9E2A-4039DBA06CC7}"/>
              </a:ext>
            </a:extLst>
          </p:cNvPr>
          <p:cNvSpPr txBox="1"/>
          <p:nvPr/>
        </p:nvSpPr>
        <p:spPr>
          <a:xfrm>
            <a:off x="2071817" y="4659699"/>
            <a:ext cx="17105869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3600" dirty="0">
                <a:solidFill>
                  <a:schemeClr val="tx1"/>
                </a:solidFill>
                <a:latin typeface="Avenir Next LT Pro" panose="020B0504020202020204" pitchFamily="34" charset="0"/>
              </a:rPr>
              <a:t>LO2</a:t>
            </a:r>
            <a:r>
              <a:rPr lang="en-US" sz="3600">
                <a:solidFill>
                  <a:schemeClr val="tx1"/>
                </a:solidFill>
                <a:latin typeface="Avenir Next LT Pro" panose="020B0504020202020204" pitchFamily="34" charset="0"/>
              </a:rPr>
              <a:t>:    Test  </a:t>
            </a:r>
            <a:r>
              <a:rPr lang="en-US" sz="3600" dirty="0">
                <a:solidFill>
                  <a:schemeClr val="tx1"/>
                </a:solidFill>
                <a:latin typeface="Avenir Next LT Pro" panose="020B0504020202020204" pitchFamily="34" charset="0"/>
              </a:rPr>
              <a:t>the prototype to assess business potential.</a:t>
            </a:r>
          </a:p>
          <a:p>
            <a:pPr algn="l"/>
            <a:endParaRPr lang="en-US" sz="3600" dirty="0">
              <a:solidFill>
                <a:schemeClr val="tx1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EDD198-4CEC-B964-8805-3F0545F67A99}"/>
              </a:ext>
            </a:extLst>
          </p:cNvPr>
          <p:cNvSpPr txBox="1"/>
          <p:nvPr/>
        </p:nvSpPr>
        <p:spPr>
          <a:xfrm>
            <a:off x="6990188" y="1259466"/>
            <a:ext cx="11634952" cy="7797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D" sz="44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Georgia" panose="02040502050405020303" pitchFamily="18" charset="0"/>
                <a:sym typeface="Helvetica Neue"/>
              </a:rPr>
              <a:t>Learning Outcome</a:t>
            </a:r>
          </a:p>
        </p:txBody>
      </p:sp>
    </p:spTree>
    <p:extLst>
      <p:ext uri="{BB962C8B-B14F-4D97-AF65-F5344CB8AC3E}">
        <p14:creationId xmlns:p14="http://schemas.microsoft.com/office/powerpoint/2010/main" val="60370158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B3287-E987-C9BC-066A-432FA502C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B717B9E-6ECF-DB76-E94A-8DAF51E31D88}"/>
              </a:ext>
            </a:extLst>
          </p:cNvPr>
          <p:cNvSpPr txBox="1"/>
          <p:nvPr/>
        </p:nvSpPr>
        <p:spPr>
          <a:xfrm>
            <a:off x="5613400" y="1138347"/>
            <a:ext cx="12903200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rgbClr val="0090D4"/>
                </a:solidFill>
                <a:latin typeface="Georgia" panose="02040502050405020303" pitchFamily="18" charset="0"/>
              </a:rPr>
              <a:t>Document Result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rgbClr val="0090D4"/>
              </a:solidFill>
              <a:effectLst/>
              <a:uFillTx/>
              <a:latin typeface="Georgia" panose="02040502050405020303" pitchFamily="18" charset="0"/>
              <a:sym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CE70B0-FAD4-2EA9-908C-B5FB27122CA8}"/>
              </a:ext>
            </a:extLst>
          </p:cNvPr>
          <p:cNvSpPr txBox="1"/>
          <p:nvPr/>
        </p:nvSpPr>
        <p:spPr>
          <a:xfrm>
            <a:off x="3036530" y="4403779"/>
            <a:ext cx="19520452" cy="61863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141413"/>
                </a:solidFill>
                <a:latin typeface="Avenir Next LT Pro" panose="020B0504020202020204" pitchFamily="34" charset="77"/>
              </a:rPr>
              <a:t>It is of vital importance to document the results. In so doing, we actively observe how users use (and misuse!) what we have given them.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4400" dirty="0">
              <a:solidFill>
                <a:srgbClr val="141413"/>
              </a:solidFill>
              <a:latin typeface="Avenir Next LT Pro" panose="020B0504020202020204" pitchFamily="34" charset="77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141413"/>
                </a:solidFill>
                <a:latin typeface="Avenir Next LT Pro" panose="020B0504020202020204" pitchFamily="34" charset="77"/>
              </a:rPr>
              <a:t>We do not immediately correct what our test participation is doing.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4400" dirty="0">
              <a:solidFill>
                <a:srgbClr val="141413"/>
              </a:solidFill>
              <a:latin typeface="Avenir Next LT Pro" panose="020B0504020202020204" pitchFamily="34" charset="77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141413"/>
                </a:solidFill>
                <a:latin typeface="Avenir Next LT Pro" panose="020B0504020202020204" pitchFamily="34" charset="77"/>
              </a:rPr>
              <a:t>Photos or video recordings are very suitable for documentation.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4400" dirty="0">
              <a:solidFill>
                <a:srgbClr val="141413"/>
              </a:solidFill>
              <a:latin typeface="Avenir Next LT Pro" panose="020B0504020202020204" pitchFamily="34" charset="77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141413"/>
                </a:solidFill>
                <a:latin typeface="Avenir Next LT Pro" panose="020B0504020202020204" pitchFamily="34" charset="77"/>
              </a:rPr>
              <a:t>Digital tools make documentation easier but be careful not to forget to use them.</a:t>
            </a:r>
          </a:p>
        </p:txBody>
      </p:sp>
    </p:spTree>
    <p:extLst>
      <p:ext uri="{BB962C8B-B14F-4D97-AF65-F5344CB8AC3E}">
        <p14:creationId xmlns:p14="http://schemas.microsoft.com/office/powerpoint/2010/main" val="288778812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C4397-52AD-6353-0B71-B57D50EE8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E48D893-ABB5-42F4-D9D1-EA1DD661CF1C}"/>
              </a:ext>
            </a:extLst>
          </p:cNvPr>
          <p:cNvSpPr txBox="1"/>
          <p:nvPr/>
        </p:nvSpPr>
        <p:spPr>
          <a:xfrm>
            <a:off x="5613400" y="1138347"/>
            <a:ext cx="12903200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altLang="en-US" sz="5400" dirty="0">
                <a:solidFill>
                  <a:srgbClr val="0090D4"/>
                </a:solidFill>
                <a:latin typeface="Georgia" panose="02040502050405020303" pitchFamily="18" charset="0"/>
              </a:rPr>
              <a:t>Create a Feedback Grid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13FE87-2FA9-E376-C628-A6E2520FABE7}"/>
              </a:ext>
            </a:extLst>
          </p:cNvPr>
          <p:cNvSpPr txBox="1"/>
          <p:nvPr/>
        </p:nvSpPr>
        <p:spPr>
          <a:xfrm>
            <a:off x="2315184" y="4041844"/>
            <a:ext cx="20603182" cy="61863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141413"/>
                </a:solidFill>
                <a:effectLst/>
                <a:latin typeface="Avenir Next LT Pro" panose="020B0504020202020204" pitchFamily="34" charset="77"/>
              </a:rPr>
              <a:t>This method can be easily applied to groups consisting of two to over 100 people. The simple structure helps to formulate constructive feedback.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3600" dirty="0">
              <a:solidFill>
                <a:srgbClr val="141413"/>
              </a:solidFill>
              <a:latin typeface="Avenir Next LT Pro" panose="020B0504020202020204" pitchFamily="34" charset="77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141413"/>
                </a:solidFill>
                <a:effectLst/>
                <a:latin typeface="Avenir Next LT Pro" panose="020B0504020202020204" pitchFamily="34" charset="77"/>
              </a:rPr>
              <a:t>Giving feedback is one thing</a:t>
            </a:r>
            <a:r>
              <a:rPr lang="en-US" sz="3600" dirty="0">
                <a:solidFill>
                  <a:srgbClr val="141413"/>
                </a:solidFill>
                <a:latin typeface="Avenir Next LT Pro" panose="020B0504020202020204" pitchFamily="34" charset="77"/>
              </a:rPr>
              <a:t>; </a:t>
            </a:r>
            <a:r>
              <a:rPr lang="en-US" sz="3600" dirty="0">
                <a:solidFill>
                  <a:srgbClr val="141413"/>
                </a:solidFill>
                <a:effectLst/>
                <a:latin typeface="Avenir Next LT Pro" panose="020B0504020202020204" pitchFamily="34" charset="77"/>
              </a:rPr>
              <a:t>receiving feedback is quite another. When we receive feedback, we should see it as a gift and express our</a:t>
            </a:r>
            <a:r>
              <a:rPr lang="en-US" sz="3600" dirty="0">
                <a:solidFill>
                  <a:srgbClr val="141413"/>
                </a:solidFill>
                <a:latin typeface="Avenir Next LT Pro" panose="020B0504020202020204" pitchFamily="34" charset="77"/>
              </a:rPr>
              <a:t> </a:t>
            </a:r>
            <a:r>
              <a:rPr lang="en-US" sz="3600" dirty="0">
                <a:solidFill>
                  <a:srgbClr val="141413"/>
                </a:solidFill>
                <a:effectLst/>
                <a:latin typeface="Avenir Next LT Pro" panose="020B0504020202020204" pitchFamily="34" charset="77"/>
              </a:rPr>
              <a:t>gratitude. </a:t>
            </a:r>
            <a:endParaRPr lang="en-US" sz="3600" dirty="0">
              <a:solidFill>
                <a:srgbClr val="141413"/>
              </a:solidFill>
              <a:latin typeface="Avenir Next LT Pro" panose="020B0504020202020204" pitchFamily="34" charset="77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3600" dirty="0">
              <a:solidFill>
                <a:srgbClr val="141413"/>
              </a:solidFill>
              <a:effectLst/>
              <a:latin typeface="Avenir Next LT Pro" panose="020B0504020202020204" pitchFamily="34" charset="77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141413"/>
                </a:solidFill>
                <a:effectLst/>
                <a:latin typeface="Avenir Next LT Pro" panose="020B0504020202020204" pitchFamily="34" charset="77"/>
              </a:rPr>
              <a:t>We listen to the feedback and do not have to answer in any way. In addition, we should avoid justifying ourselves and simply listen </a:t>
            </a:r>
            <a:r>
              <a:rPr lang="en-US" sz="3600" dirty="0">
                <a:solidFill>
                  <a:srgbClr val="141413"/>
                </a:solidFill>
                <a:latin typeface="Avenir Next LT Pro" panose="020B0504020202020204" pitchFamily="34" charset="77"/>
              </a:rPr>
              <a:t>Carefully</a:t>
            </a:r>
            <a:r>
              <a:rPr lang="en-US" sz="3600" dirty="0">
                <a:solidFill>
                  <a:srgbClr val="141413"/>
                </a:solidFill>
                <a:effectLst/>
                <a:latin typeface="Avenir Next LT Pro" panose="020B0504020202020204" pitchFamily="34" charset="77"/>
              </a:rPr>
              <a:t>. </a:t>
            </a:r>
            <a:endParaRPr lang="en-US" sz="3600" dirty="0">
              <a:solidFill>
                <a:srgbClr val="141413"/>
              </a:solidFill>
              <a:latin typeface="Avenir Next LT Pro" panose="020B0504020202020204" pitchFamily="34" charset="77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3600" dirty="0">
              <a:solidFill>
                <a:srgbClr val="141413"/>
              </a:solidFill>
              <a:effectLst/>
              <a:latin typeface="Avenir Next LT Pro" panose="020B0504020202020204" pitchFamily="34" charset="77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141413"/>
                </a:solidFill>
                <a:effectLst/>
                <a:latin typeface="Avenir Next LT Pro" panose="020B0504020202020204" pitchFamily="34" charset="77"/>
              </a:rPr>
              <a:t>At the end, we ask again if we haven’t understood something or if something is still unclear to us.</a:t>
            </a:r>
          </a:p>
        </p:txBody>
      </p:sp>
    </p:spTree>
    <p:extLst>
      <p:ext uri="{BB962C8B-B14F-4D97-AF65-F5344CB8AC3E}">
        <p14:creationId xmlns:p14="http://schemas.microsoft.com/office/powerpoint/2010/main" val="267405018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78B8C-3C80-4275-3989-648C27C06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70D5034-92F0-7907-0E51-33D32D711CEF}"/>
              </a:ext>
            </a:extLst>
          </p:cNvPr>
          <p:cNvSpPr txBox="1"/>
          <p:nvPr/>
        </p:nvSpPr>
        <p:spPr>
          <a:xfrm>
            <a:off x="8823528" y="1050854"/>
            <a:ext cx="8433340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/>
            <a:r>
              <a:rPr lang="en-US" altLang="en-US" sz="5400" dirty="0">
                <a:solidFill>
                  <a:srgbClr val="0090D4"/>
                </a:solidFill>
                <a:latin typeface="Georgia" panose="02040502050405020303" pitchFamily="18" charset="0"/>
              </a:rPr>
              <a:t>Present the Feedback Grid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5449928-5FE0-17D3-70D8-9F1068291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676" y="2801566"/>
            <a:ext cx="11718095" cy="1024278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glow rad="2286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C39E1C-F5EE-C355-9C2B-E265027E9613}"/>
              </a:ext>
            </a:extLst>
          </p:cNvPr>
          <p:cNvSpPr txBox="1"/>
          <p:nvPr/>
        </p:nvSpPr>
        <p:spPr>
          <a:xfrm>
            <a:off x="13092545" y="4156364"/>
            <a:ext cx="10688143" cy="649408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en-US" sz="2800" dirty="0">
                <a:solidFill>
                  <a:srgbClr val="141413"/>
                </a:solidFill>
                <a:effectLst/>
                <a:latin typeface="Avenir Next LT Pro" panose="020B0504020202020204" pitchFamily="34" charset="77"/>
              </a:rPr>
              <a:t>We use the grid to capture the feedback systematically and deliberately in four main areas.</a:t>
            </a:r>
          </a:p>
          <a:p>
            <a:pPr algn="l">
              <a:buNone/>
            </a:pPr>
            <a:endParaRPr lang="en-US" sz="2800" dirty="0">
              <a:solidFill>
                <a:srgbClr val="141413"/>
              </a:solidFill>
              <a:effectLst/>
              <a:latin typeface="Avenir Next LT Pro" panose="020B0504020202020204" pitchFamily="34" charset="77"/>
            </a:endParaRPr>
          </a:p>
          <a:p>
            <a:pPr algn="l">
              <a:buNone/>
            </a:pPr>
            <a:r>
              <a:rPr lang="en-US" sz="2800" dirty="0">
                <a:solidFill>
                  <a:srgbClr val="141413"/>
                </a:solidFill>
                <a:effectLst/>
                <a:latin typeface="Avenir Next LT Pro" panose="020B0504020202020204" pitchFamily="34" charset="77"/>
              </a:rPr>
              <a:t>What do we like?</a:t>
            </a:r>
          </a:p>
          <a:p>
            <a:pPr algn="l">
              <a:buNone/>
            </a:pPr>
            <a:r>
              <a:rPr lang="en-US" sz="2800" dirty="0">
                <a:solidFill>
                  <a:srgbClr val="141413"/>
                </a:solidFill>
                <a:effectLst/>
                <a:latin typeface="Avenir Next LT Pro" panose="020B0504020202020204" pitchFamily="34" charset="77"/>
              </a:rPr>
              <a:t>What wishes do we have?</a:t>
            </a:r>
          </a:p>
          <a:p>
            <a:pPr algn="l">
              <a:buNone/>
            </a:pPr>
            <a:r>
              <a:rPr lang="en-US" sz="2800" dirty="0">
                <a:solidFill>
                  <a:srgbClr val="141413"/>
                </a:solidFill>
                <a:effectLst/>
                <a:latin typeface="Avenir Next LT Pro" panose="020B0504020202020204" pitchFamily="34" charset="77"/>
              </a:rPr>
              <a:t>What questions have come up?</a:t>
            </a:r>
          </a:p>
          <a:p>
            <a:pPr algn="l">
              <a:buNone/>
            </a:pPr>
            <a:r>
              <a:rPr lang="en-US" sz="2800" dirty="0">
                <a:solidFill>
                  <a:srgbClr val="141413"/>
                </a:solidFill>
                <a:effectLst/>
                <a:latin typeface="Avenir Next LT Pro" panose="020B0504020202020204" pitchFamily="34" charset="77"/>
              </a:rPr>
              <a:t>Which initial ideas and solutions have we found?</a:t>
            </a:r>
          </a:p>
          <a:p>
            <a:pPr algn="l">
              <a:buNone/>
            </a:pPr>
            <a:endParaRPr lang="en-US" sz="2800" dirty="0">
              <a:solidFill>
                <a:srgbClr val="141413"/>
              </a:solidFill>
              <a:effectLst/>
              <a:latin typeface="Avenir Next LT Pro" panose="020B0504020202020204" pitchFamily="34" charset="77"/>
            </a:endParaRPr>
          </a:p>
          <a:p>
            <a:pPr algn="l">
              <a:buNone/>
            </a:pPr>
            <a:r>
              <a:rPr lang="en-US" sz="2800" dirty="0">
                <a:solidFill>
                  <a:srgbClr val="141413"/>
                </a:solidFill>
                <a:effectLst/>
                <a:latin typeface="Avenir Next LT Pro" panose="020B0504020202020204" pitchFamily="34" charset="77"/>
              </a:rPr>
              <a:t>Filling in the four quadrants is pretty easy: We write each piece of user feedback in the </a:t>
            </a:r>
            <a:r>
              <a:rPr lang="en-US" sz="2800" dirty="0">
                <a:solidFill>
                  <a:srgbClr val="141413"/>
                </a:solidFill>
                <a:latin typeface="Avenir Next LT Pro" panose="020B0504020202020204" pitchFamily="34" charset="77"/>
              </a:rPr>
              <a:t>appropriate</a:t>
            </a:r>
            <a:r>
              <a:rPr lang="en-US" sz="2800" dirty="0">
                <a:solidFill>
                  <a:srgbClr val="141413"/>
                </a:solidFill>
                <a:effectLst/>
                <a:latin typeface="Avenir Next LT Pro" panose="020B0504020202020204" pitchFamily="34" charset="77"/>
              </a:rPr>
              <a:t> quadrant category.</a:t>
            </a:r>
          </a:p>
          <a:p>
            <a:pPr algn="l">
              <a:buNone/>
            </a:pPr>
            <a:endParaRPr lang="en-US" sz="2800" dirty="0">
              <a:solidFill>
                <a:srgbClr val="141413"/>
              </a:solidFill>
              <a:effectLst/>
              <a:latin typeface="Avenir Next LT Pro" panose="020B0504020202020204" pitchFamily="34" charset="77"/>
            </a:endParaRPr>
          </a:p>
          <a:p>
            <a:pPr algn="l">
              <a:buNone/>
            </a:pPr>
            <a:r>
              <a:rPr lang="en-US" sz="2800" dirty="0">
                <a:solidFill>
                  <a:srgbClr val="141413"/>
                </a:solidFill>
                <a:effectLst/>
                <a:latin typeface="Avenir Next LT Pro" panose="020B0504020202020204" pitchFamily="34" charset="77"/>
              </a:rPr>
              <a:t>As an alternative, we can choose the following areas for the four quadrants: “I like…,” “I wish…,” “What if…,” and “What is the benefit?”</a:t>
            </a:r>
          </a:p>
          <a:p>
            <a:pPr>
              <a:buNone/>
            </a:pPr>
            <a:endParaRPr lang="en-US" dirty="0">
              <a:solidFill>
                <a:srgbClr val="141413"/>
              </a:solidFill>
              <a:effectLst/>
              <a:latin typeface="Helvetica" pitchFamily="2" charset="0"/>
            </a:endParaRPr>
          </a:p>
        </p:txBody>
      </p:sp>
      <p:cxnSp>
        <p:nvCxnSpPr>
          <p:cNvPr id="4" name="Curved Connector 3">
            <a:extLst>
              <a:ext uri="{FF2B5EF4-FFF2-40B4-BE49-F238E27FC236}">
                <a16:creationId xmlns:a16="http://schemas.microsoft.com/office/drawing/2014/main" id="{77035473-D253-0F5E-CF56-DEF8ECA11B17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634283" y="10914433"/>
            <a:ext cx="6819972" cy="817121"/>
          </a:xfrm>
          <a:prstGeom prst="curvedConnector3">
            <a:avLst>
              <a:gd name="adj1" fmla="val 50000"/>
            </a:avLst>
          </a:prstGeom>
          <a:noFill/>
          <a:ln w="76200" cap="flat">
            <a:solidFill>
              <a:schemeClr val="accent1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95244198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61843FF-8CAF-B6FA-4D26-1BB75EBC77DA}"/>
              </a:ext>
            </a:extLst>
          </p:cNvPr>
          <p:cNvSpPr txBox="1"/>
          <p:nvPr/>
        </p:nvSpPr>
        <p:spPr>
          <a:xfrm>
            <a:off x="8122596" y="1442325"/>
            <a:ext cx="12198484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altLang="en-US" sz="3600" dirty="0">
                <a:solidFill>
                  <a:srgbClr val="0090D4"/>
                </a:solidFill>
                <a:latin typeface="Georgia" panose="02040502050405020303" pitchFamily="18" charset="0"/>
              </a:rPr>
              <a:t>Prototype Iteration and Feedback Session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5C555A-60EC-3C2E-8CA9-8D08DC803D85}"/>
              </a:ext>
            </a:extLst>
          </p:cNvPr>
          <p:cNvSpPr txBox="1"/>
          <p:nvPr/>
        </p:nvSpPr>
        <p:spPr>
          <a:xfrm>
            <a:off x="2535382" y="3651409"/>
            <a:ext cx="19908981" cy="7478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lvl="0" algn="l"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" panose="020B0504020202020204" pitchFamily="34" charset="77"/>
              </a:rPr>
              <a:t>Engage with the Prototype: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" panose="020B0504020202020204" pitchFamily="34" charset="77"/>
              </a:rPr>
              <a:t> </a:t>
            </a:r>
            <a:r>
              <a:rPr lang="en-US" sz="3200" dirty="0"/>
              <a:t>explore, and test all its features to see how it works. Don’t worry about breaking it — this is how you learn and find issues.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" panose="020B0504020202020204" pitchFamily="34" charset="77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venir Next LT Pro" panose="020B0504020202020204" pitchFamily="34" charset="77"/>
            </a:endParaRPr>
          </a:p>
          <a:p>
            <a:pPr algn="l"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" panose="020B0504020202020204" pitchFamily="34" charset="77"/>
              </a:rPr>
              <a:t>Provide Feedback: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" panose="020B0504020202020204" pitchFamily="34" charset="77"/>
              </a:rPr>
              <a:t> </a:t>
            </a:r>
            <a:r>
              <a:rPr lang="en-US" sz="3200" dirty="0"/>
              <a:t>Talk about the design, how easy it was to use, and whether it did what you expected. Suggest ways to make it better.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" panose="020B0504020202020204" pitchFamily="34" charset="77"/>
              </a:rPr>
              <a:t>.</a:t>
            </a:r>
            <a:endParaRPr lang="en-US" altLang="en-US" sz="3200" dirty="0">
              <a:solidFill>
                <a:schemeClr val="tx1"/>
              </a:solidFill>
              <a:latin typeface="Avenir Next LT Pro" panose="020B0504020202020204" pitchFamily="34" charset="77"/>
            </a:endParaRPr>
          </a:p>
          <a:p>
            <a:pPr algn="l" defTabSz="914400" eaLnBrk="0" fontAlgn="base">
              <a:spcBef>
                <a:spcPct val="0"/>
              </a:spcBef>
              <a:spcAft>
                <a:spcPct val="0"/>
              </a:spcAft>
            </a:pP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venir Next LT Pro" panose="020B0504020202020204" pitchFamily="34" charset="77"/>
            </a:endParaRPr>
          </a:p>
          <a:p>
            <a:pPr algn="l"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" panose="020B0504020202020204" pitchFamily="34" charset="77"/>
              </a:rPr>
              <a:t>Discuss Observations: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" panose="020B0504020202020204" pitchFamily="34" charset="77"/>
              </a:rPr>
              <a:t> </a:t>
            </a:r>
            <a:r>
              <a:rPr lang="en-US" sz="3200" dirty="0"/>
              <a:t>Work in groups, talk about your experiences, and listen toothers’ opinions. You might see things differently or learn something new from their perspective.</a:t>
            </a:r>
            <a:endParaRPr lang="en-US" sz="3200" b="1" dirty="0">
              <a:solidFill>
                <a:schemeClr val="tx1"/>
              </a:solidFill>
              <a:latin typeface="Avenir Next LT Pro" panose="020B0504020202020204" pitchFamily="34" charset="77"/>
            </a:endParaRPr>
          </a:p>
          <a:p>
            <a:pPr algn="l" defTabSz="914400" eaLnBrk="0" fontAlgn="base">
              <a:spcBef>
                <a:spcPct val="0"/>
              </a:spcBef>
              <a:spcAft>
                <a:spcPct val="0"/>
              </a:spcAft>
            </a:pP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venir Next LT Pro" panose="020B0504020202020204" pitchFamily="34" charset="77"/>
            </a:endParaRPr>
          </a:p>
          <a:p>
            <a:pPr algn="l"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" panose="020B0504020202020204" pitchFamily="34" charset="77"/>
              </a:rPr>
              <a:t>Reflect and Document: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" panose="020B0504020202020204" pitchFamily="34" charset="77"/>
              </a:rPr>
              <a:t> </a:t>
            </a:r>
            <a:r>
              <a:rPr lang="en-US" sz="3200" dirty="0"/>
              <a:t>Summarize what worked well, what didn’t, and what could be improved. This helps the design team understand your experiences clearly.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" panose="020B0504020202020204" pitchFamily="34" charset="77"/>
              </a:rPr>
              <a:t>.</a:t>
            </a:r>
            <a:endParaRPr lang="en-US" altLang="en-US" sz="3200" dirty="0">
              <a:solidFill>
                <a:schemeClr val="tx1"/>
              </a:solidFill>
              <a:latin typeface="Avenir Next LT Pro" panose="020B0504020202020204" pitchFamily="34" charset="77"/>
            </a:endParaRPr>
          </a:p>
          <a:p>
            <a:pPr algn="l" defTabSz="914400" eaLnBrk="0" fontAlgn="base">
              <a:spcBef>
                <a:spcPct val="0"/>
              </a:spcBef>
              <a:spcAft>
                <a:spcPct val="0"/>
              </a:spcAft>
            </a:pP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venir Next LT Pro" panose="020B0504020202020204" pitchFamily="34" charset="77"/>
            </a:endParaRPr>
          </a:p>
          <a:p>
            <a:pPr algn="l"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" panose="020B0504020202020204" pitchFamily="34" charset="77"/>
              </a:rPr>
              <a:t>Support Iteration: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" panose="020B0504020202020204" pitchFamily="34" charset="77"/>
              </a:rPr>
              <a:t> </a:t>
            </a:r>
            <a:r>
              <a:rPr lang="en-US" sz="3200" dirty="0"/>
              <a:t>Test the updated version after changes are made and check </a:t>
            </a:r>
            <a:r>
              <a:rPr lang="en-US" sz="3200" dirty="0" err="1"/>
              <a:t>ithe</a:t>
            </a:r>
            <a:r>
              <a:rPr lang="en-US" sz="3200" dirty="0"/>
              <a:t> new design solves previous problems or creates new ones.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953253269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91AC9C7-ECCC-67C9-543C-653FEF43C0C2}"/>
              </a:ext>
            </a:extLst>
          </p:cNvPr>
          <p:cNvSpPr txBox="1"/>
          <p:nvPr/>
        </p:nvSpPr>
        <p:spPr>
          <a:xfrm>
            <a:off x="3671454" y="4595842"/>
            <a:ext cx="17041091" cy="452431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4800" dirty="0">
                <a:latin typeface="Avenir Next LT Pro" panose="020B0504020202020204" pitchFamily="34" charset="77"/>
              </a:rPr>
              <a:t>is the process of </a:t>
            </a:r>
            <a:r>
              <a:rPr lang="en-US" sz="4800" b="1" dirty="0">
                <a:latin typeface="Avenir Next LT Pro" panose="020B0504020202020204" pitchFamily="34" charset="77"/>
              </a:rPr>
              <a:t>creating, testing, evaluating, and refining</a:t>
            </a:r>
            <a:r>
              <a:rPr lang="en-US" sz="4800" dirty="0">
                <a:latin typeface="Avenir Next LT Pro" panose="020B0504020202020204" pitchFamily="34" charset="77"/>
              </a:rPr>
              <a:t> a design multiple times to make it better.</a:t>
            </a:r>
          </a:p>
          <a:p>
            <a:endParaRPr lang="en-US" sz="4800" dirty="0">
              <a:latin typeface="Avenir Next LT Pro" panose="020B0504020202020204" pitchFamily="34" charset="77"/>
            </a:endParaRPr>
          </a:p>
          <a:p>
            <a:br>
              <a:rPr lang="en-US" sz="4800" dirty="0">
                <a:latin typeface="Avenir Next LT Pro" panose="020B0504020202020204" pitchFamily="34" charset="77"/>
              </a:rPr>
            </a:br>
            <a:r>
              <a:rPr lang="en-US" sz="4800" dirty="0">
                <a:latin typeface="Avenir Next LT Pro" panose="020B0504020202020204" pitchFamily="34" charset="77"/>
              </a:rPr>
              <a:t>Each version (or “iteration”) builds on what was learned from the previous one.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C84478-AAA2-4F99-B641-A6F46455D5AE}"/>
              </a:ext>
            </a:extLst>
          </p:cNvPr>
          <p:cNvSpPr txBox="1"/>
          <p:nvPr/>
        </p:nvSpPr>
        <p:spPr>
          <a:xfrm>
            <a:off x="6254885" y="1403415"/>
            <a:ext cx="12198484" cy="76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4400" dirty="0">
                <a:solidFill>
                  <a:srgbClr val="0090D4"/>
                </a:solidFill>
                <a:latin typeface="Georgia" panose="02040502050405020303" pitchFamily="18" charset="0"/>
              </a:rPr>
              <a:t>Design Iteration </a:t>
            </a:r>
          </a:p>
        </p:txBody>
      </p:sp>
    </p:spTree>
    <p:extLst>
      <p:ext uri="{BB962C8B-B14F-4D97-AF65-F5344CB8AC3E}">
        <p14:creationId xmlns:p14="http://schemas.microsoft.com/office/powerpoint/2010/main" val="3852913805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FC09507-B975-4432-255F-3BC32296121F}"/>
              </a:ext>
            </a:extLst>
          </p:cNvPr>
          <p:cNvSpPr txBox="1"/>
          <p:nvPr/>
        </p:nvSpPr>
        <p:spPr>
          <a:xfrm>
            <a:off x="2866767" y="5180870"/>
            <a:ext cx="15977824" cy="293413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endParaRPr lang="en-US" sz="4000" dirty="0">
              <a:solidFill>
                <a:schemeClr val="tx1"/>
              </a:solidFill>
              <a:latin typeface="Avenir Next LT Pro" panose="020B0504020202020204" pitchFamily="34" charset="77"/>
            </a:endParaRP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1"/>
                </a:solidFill>
                <a:latin typeface="Avenir Next LT Pro" panose="020B0504020202020204" pitchFamily="34" charset="77"/>
              </a:rPr>
              <a:t>Prototyping Testing</a:t>
            </a:r>
            <a:endParaRPr lang="en-ID" sz="3600" dirty="0">
              <a:solidFill>
                <a:schemeClr val="tx1"/>
              </a:solidFill>
              <a:latin typeface="Avenir Next LT Pro" panose="020B0504020202020204" pitchFamily="34" charset="77"/>
            </a:endParaRP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ID" sz="3600" dirty="0">
                <a:solidFill>
                  <a:schemeClr val="tx1"/>
                </a:solidFill>
                <a:latin typeface="Avenir Next LT Pro" panose="020B0504020202020204" pitchFamily="34" charset="77"/>
              </a:rPr>
              <a:t>Create Feedback Grid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altLang="en-US" sz="3600" dirty="0">
                <a:solidFill>
                  <a:schemeClr val="tx1"/>
                </a:solidFill>
                <a:latin typeface="Avenir Next LT Pro" panose="020B0504020202020204" pitchFamily="34" charset="77"/>
              </a:rPr>
              <a:t>Prototype Iteration and Feedback Session</a:t>
            </a:r>
            <a:endParaRPr lang="en-ID" sz="3600" dirty="0">
              <a:solidFill>
                <a:schemeClr val="tx1"/>
              </a:solidFill>
              <a:latin typeface="Avenir Next LT Pro" panose="020B0504020202020204" pitchFamily="34" charset="77"/>
            </a:endParaRP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1"/>
                </a:solidFill>
                <a:latin typeface="Avenir Next LT Pro" panose="020B0504020202020204" pitchFamily="34" charset="77"/>
              </a:rPr>
              <a:t>Design Iteration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A288B-A6C9-EC8F-CA7E-FCC8F9E63A97}"/>
              </a:ext>
            </a:extLst>
          </p:cNvPr>
          <p:cNvSpPr txBox="1"/>
          <p:nvPr/>
        </p:nvSpPr>
        <p:spPr>
          <a:xfrm>
            <a:off x="6092758" y="1310191"/>
            <a:ext cx="12198484" cy="76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4400" dirty="0">
                <a:solidFill>
                  <a:srgbClr val="0090D4"/>
                </a:solidFill>
                <a:latin typeface="Georgia" panose="02040502050405020303" pitchFamily="18" charset="0"/>
              </a:rPr>
              <a:t>Student Activities </a:t>
            </a:r>
          </a:p>
        </p:txBody>
      </p:sp>
    </p:spTree>
    <p:extLst>
      <p:ext uri="{BB962C8B-B14F-4D97-AF65-F5344CB8AC3E}">
        <p14:creationId xmlns:p14="http://schemas.microsoft.com/office/powerpoint/2010/main" val="2997418860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B3287-E987-C9BC-066A-432FA502C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B717B9E-6ECF-DB76-E94A-8DAF51E31D88}"/>
              </a:ext>
            </a:extLst>
          </p:cNvPr>
          <p:cNvSpPr txBox="1"/>
          <p:nvPr/>
        </p:nvSpPr>
        <p:spPr>
          <a:xfrm>
            <a:off x="5613400" y="1138347"/>
            <a:ext cx="12903200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rgbClr val="0090D4"/>
                </a:solidFill>
                <a:effectLst/>
                <a:uFillTx/>
                <a:latin typeface="Georgia" panose="02040502050405020303" pitchFamily="18" charset="0"/>
                <a:sym typeface="Helvetica Neue"/>
              </a:rPr>
              <a:t>Next Session Preparation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D1C994-3DEA-3B28-D168-A392FE0EA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29F30B-FBBA-FBA2-85AE-36A99D78751E}"/>
              </a:ext>
            </a:extLst>
          </p:cNvPr>
          <p:cNvSpPr txBox="1"/>
          <p:nvPr/>
        </p:nvSpPr>
        <p:spPr>
          <a:xfrm>
            <a:off x="3365770" y="3575716"/>
            <a:ext cx="14299660" cy="65556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Avenir Next LT Pro" panose="020B0504020202020204" pitchFamily="34" charset="77"/>
              </a:rPr>
              <a:t>Student Watch BMC Video Before Next Session:</a:t>
            </a:r>
          </a:p>
          <a:p>
            <a:endParaRPr lang="en-US" sz="2800" dirty="0">
              <a:latin typeface="Avenir Next LT Pro" panose="020B0504020202020204" pitchFamily="34" charset="77"/>
            </a:endParaRPr>
          </a:p>
          <a:p>
            <a:pPr marL="1095375" indent="-441325" algn="l">
              <a:buFont typeface="Courier New" panose="02070309020205020404" pitchFamily="49" charset="0"/>
              <a:buChar char="o"/>
            </a:pPr>
            <a:r>
              <a:rPr lang="en-US" sz="2800" dirty="0">
                <a:latin typeface="Avenir Next LT Pro" panose="020B0504020202020204" pitchFamily="34" charset="77"/>
              </a:rPr>
              <a:t>BMC Overview: </a:t>
            </a:r>
            <a:r>
              <a:rPr lang="en-US" sz="2800" dirty="0">
                <a:latin typeface="Avenir Next LT Pro" panose="020B0504020202020204" pitchFamily="34" charset="77"/>
                <a:hlinkClick r:id="rId2"/>
              </a:rPr>
              <a:t>https://youtu.be/C0LqBd7grrk</a:t>
            </a:r>
            <a:endParaRPr lang="en-US" sz="2800" dirty="0">
              <a:latin typeface="Avenir Next LT Pro" panose="020B0504020202020204" pitchFamily="34" charset="77"/>
            </a:endParaRPr>
          </a:p>
          <a:p>
            <a:pPr marL="1095375" indent="-441325" algn="l">
              <a:buFont typeface="Courier New" panose="02070309020205020404" pitchFamily="49" charset="0"/>
              <a:buChar char="o"/>
            </a:pPr>
            <a:r>
              <a:rPr lang="en-US" sz="2800" dirty="0">
                <a:latin typeface="Avenir Next LT Pro" panose="020B0504020202020204" pitchFamily="34" charset="77"/>
              </a:rPr>
              <a:t>BMC Customer Segment: </a:t>
            </a:r>
            <a:r>
              <a:rPr lang="en-US" sz="2800" dirty="0">
                <a:latin typeface="Avenir Next LT Pro" panose="020B0504020202020204" pitchFamily="34" charset="77"/>
                <a:hlinkClick r:id="rId3"/>
              </a:rPr>
              <a:t>https://youtu.be/L0NoA-YkLlg</a:t>
            </a:r>
            <a:endParaRPr lang="en-US" sz="2800" dirty="0">
              <a:latin typeface="Avenir Next LT Pro" panose="020B0504020202020204" pitchFamily="34" charset="77"/>
            </a:endParaRPr>
          </a:p>
          <a:p>
            <a:pPr marL="1095375" indent="-441325" algn="l">
              <a:buFont typeface="Courier New" panose="02070309020205020404" pitchFamily="49" charset="0"/>
              <a:buChar char="o"/>
            </a:pPr>
            <a:r>
              <a:rPr lang="en-US" sz="2800" dirty="0">
                <a:latin typeface="Avenir Next LT Pro" panose="020B0504020202020204" pitchFamily="34" charset="77"/>
              </a:rPr>
              <a:t>BMC Value Proposition: </a:t>
            </a:r>
            <a:r>
              <a:rPr lang="en-US" sz="2800" dirty="0">
                <a:latin typeface="Avenir Next LT Pro" panose="020B0504020202020204" pitchFamily="34" charset="77"/>
                <a:hlinkClick r:id="rId4"/>
              </a:rPr>
              <a:t>https://youtu.be/sKRapoUwPh4</a:t>
            </a:r>
            <a:endParaRPr lang="en-US" sz="2800" dirty="0">
              <a:latin typeface="Avenir Next LT Pro" panose="020B0504020202020204" pitchFamily="34" charset="77"/>
            </a:endParaRPr>
          </a:p>
          <a:p>
            <a:pPr marL="1095375" indent="-441325" algn="l">
              <a:buFont typeface="Courier New" panose="02070309020205020404" pitchFamily="49" charset="0"/>
              <a:buChar char="o"/>
            </a:pPr>
            <a:r>
              <a:rPr lang="en-US" sz="2800" dirty="0">
                <a:latin typeface="Avenir Next LT Pro" panose="020B0504020202020204" pitchFamily="34" charset="77"/>
              </a:rPr>
              <a:t>BMC Channel: </a:t>
            </a:r>
            <a:r>
              <a:rPr lang="en-US" sz="2800" dirty="0">
                <a:latin typeface="Avenir Next LT Pro" panose="020B0504020202020204" pitchFamily="34" charset="77"/>
                <a:hlinkClick r:id="rId5"/>
              </a:rPr>
              <a:t>https://youtu.be/4lqxRVsQtqE</a:t>
            </a:r>
            <a:endParaRPr lang="en-US" sz="2800" dirty="0">
              <a:latin typeface="Avenir Next LT Pro" panose="020B0504020202020204" pitchFamily="34" charset="77"/>
            </a:endParaRPr>
          </a:p>
          <a:p>
            <a:pPr marL="1095375" indent="-441325" algn="l">
              <a:buFont typeface="Courier New" panose="02070309020205020404" pitchFamily="49" charset="0"/>
              <a:buChar char="o"/>
            </a:pPr>
            <a:r>
              <a:rPr lang="en-US" sz="2800" dirty="0">
                <a:latin typeface="Avenir Next LT Pro" panose="020B0504020202020204" pitchFamily="34" charset="77"/>
              </a:rPr>
              <a:t>BMC Customer Relationship: </a:t>
            </a:r>
            <a:r>
              <a:rPr lang="en-US" sz="2800" dirty="0">
                <a:latin typeface="Avenir Next LT Pro" panose="020B0504020202020204" pitchFamily="34" charset="77"/>
                <a:hlinkClick r:id="rId6"/>
              </a:rPr>
              <a:t>https://youtu.be/EbWOfEEAfzA</a:t>
            </a:r>
            <a:endParaRPr lang="en-US" sz="2800" dirty="0">
              <a:latin typeface="Avenir Next LT Pro" panose="020B0504020202020204" pitchFamily="34" charset="77"/>
            </a:endParaRPr>
          </a:p>
          <a:p>
            <a:pPr marL="1095375" indent="-441325" algn="l">
              <a:buFont typeface="Courier New" panose="02070309020205020404" pitchFamily="49" charset="0"/>
              <a:buChar char="o"/>
            </a:pPr>
            <a:r>
              <a:rPr lang="en-US" sz="2800" dirty="0">
                <a:latin typeface="Avenir Next LT Pro" panose="020B0504020202020204" pitchFamily="34" charset="77"/>
              </a:rPr>
              <a:t>BMC Revenue Stream: </a:t>
            </a:r>
            <a:r>
              <a:rPr lang="en-US" sz="2800" dirty="0">
                <a:latin typeface="Avenir Next LT Pro" panose="020B0504020202020204" pitchFamily="34" charset="77"/>
                <a:hlinkClick r:id="rId7"/>
              </a:rPr>
              <a:t>https://youtu.be/YF-mrDJck6Y</a:t>
            </a:r>
            <a:endParaRPr lang="en-US" sz="2800" dirty="0">
              <a:latin typeface="Avenir Next LT Pro" panose="020B0504020202020204" pitchFamily="34" charset="77"/>
            </a:endParaRPr>
          </a:p>
          <a:p>
            <a:pPr marL="1095375" indent="-441325" algn="l">
              <a:buFont typeface="Courier New" panose="02070309020205020404" pitchFamily="49" charset="0"/>
              <a:buChar char="o"/>
            </a:pPr>
            <a:r>
              <a:rPr lang="en-US" sz="2800" dirty="0">
                <a:latin typeface="Avenir Next LT Pro" panose="020B0504020202020204" pitchFamily="34" charset="77"/>
              </a:rPr>
              <a:t>BMC Key Resources: </a:t>
            </a:r>
            <a:r>
              <a:rPr lang="en-US" sz="2800" dirty="0">
                <a:latin typeface="Avenir Next LT Pro" panose="020B0504020202020204" pitchFamily="34" charset="77"/>
                <a:hlinkClick r:id="rId8"/>
              </a:rPr>
              <a:t>https://youtu.be/czx2-3WP4uc</a:t>
            </a:r>
            <a:endParaRPr lang="en-US" sz="2800" dirty="0">
              <a:latin typeface="Avenir Next LT Pro" panose="020B0504020202020204" pitchFamily="34" charset="77"/>
            </a:endParaRPr>
          </a:p>
          <a:p>
            <a:pPr marL="1095375" indent="-441325" algn="l">
              <a:buFont typeface="Courier New" panose="02070309020205020404" pitchFamily="49" charset="0"/>
              <a:buChar char="o"/>
            </a:pPr>
            <a:r>
              <a:rPr lang="en-US" sz="2800" dirty="0">
                <a:latin typeface="Avenir Next LT Pro" panose="020B0504020202020204" pitchFamily="34" charset="77"/>
              </a:rPr>
              <a:t>BMC Key </a:t>
            </a:r>
            <a:r>
              <a:rPr lang="en-US" sz="2800" dirty="0" err="1">
                <a:latin typeface="Avenir Next LT Pro" panose="020B0504020202020204" pitchFamily="34" charset="77"/>
              </a:rPr>
              <a:t>Activities:</a:t>
            </a:r>
            <a:r>
              <a:rPr lang="en-US" sz="2800" dirty="0" err="1">
                <a:latin typeface="Avenir Next LT Pro" panose="020B0504020202020204" pitchFamily="34" charset="77"/>
                <a:hlinkClick r:id="rId9"/>
              </a:rPr>
              <a:t>https</a:t>
            </a:r>
            <a:r>
              <a:rPr lang="en-US" sz="2800" dirty="0">
                <a:latin typeface="Avenir Next LT Pro" panose="020B0504020202020204" pitchFamily="34" charset="77"/>
                <a:hlinkClick r:id="rId9"/>
              </a:rPr>
              <a:t>://www.youtube.com/watch?v=8v1it_OXkqU</a:t>
            </a:r>
            <a:endParaRPr lang="en-US" sz="2800" dirty="0">
              <a:latin typeface="Avenir Next LT Pro" panose="020B0504020202020204" pitchFamily="34" charset="77"/>
            </a:endParaRPr>
          </a:p>
          <a:p>
            <a:pPr marL="1095375" indent="-441325" algn="l">
              <a:buFont typeface="Courier New" panose="02070309020205020404" pitchFamily="49" charset="0"/>
              <a:buChar char="o"/>
            </a:pPr>
            <a:r>
              <a:rPr lang="en-US" sz="2800" dirty="0">
                <a:latin typeface="Avenir Next LT Pro" panose="020B0504020202020204" pitchFamily="34" charset="77"/>
              </a:rPr>
              <a:t>BMC Key Partnership: </a:t>
            </a:r>
            <a:r>
              <a:rPr lang="en-US" sz="2800" dirty="0">
                <a:latin typeface="Avenir Next LT Pro" panose="020B0504020202020204" pitchFamily="34" charset="77"/>
                <a:hlinkClick r:id="rId10"/>
              </a:rPr>
              <a:t>https://youtu.be/YeY0dajzXII</a:t>
            </a:r>
            <a:endParaRPr lang="en-US" sz="2800" dirty="0">
              <a:latin typeface="Avenir Next LT Pro" panose="020B0504020202020204" pitchFamily="34" charset="77"/>
            </a:endParaRPr>
          </a:p>
          <a:p>
            <a:pPr marL="1095375" indent="-441325" algn="l">
              <a:buFont typeface="Courier New" panose="02070309020205020404" pitchFamily="49" charset="0"/>
              <a:buChar char="o"/>
            </a:pPr>
            <a:r>
              <a:rPr lang="en-US" sz="2800" dirty="0">
                <a:latin typeface="Avenir Next LT Pro" panose="020B0504020202020204" pitchFamily="34" charset="77"/>
              </a:rPr>
              <a:t>BMC Cost Structure: </a:t>
            </a:r>
            <a:r>
              <a:rPr lang="en-US" sz="2800" dirty="0">
                <a:latin typeface="Avenir Next LT Pro" panose="020B0504020202020204" pitchFamily="34" charset="77"/>
                <a:hlinkClick r:id="rId11"/>
              </a:rPr>
              <a:t>https://youtu.be/47Ris1zZjoY</a:t>
            </a:r>
            <a:endParaRPr lang="en-US" sz="2800" dirty="0">
              <a:latin typeface="Avenir Next LT Pro" panose="020B0504020202020204" pitchFamily="34" charset="77"/>
            </a:endParaRPr>
          </a:p>
          <a:p>
            <a:endParaRPr lang="en-US" sz="2800" dirty="0">
              <a:latin typeface="Avenir Next LT Pro" panose="020B0504020202020204" pitchFamily="34" charset="77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Avenir Next LT Pro" panose="020B0504020202020204" pitchFamily="34" charset="77"/>
              </a:rPr>
              <a:t>Student Learn Business Model Canvas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Avenir Next LT Pro" panose="020B0504020202020204" pitchFamily="34" charset="77"/>
              </a:rPr>
              <a:t>Students Will Create Business Model Canvas</a:t>
            </a:r>
          </a:p>
        </p:txBody>
      </p:sp>
    </p:spTree>
    <p:extLst>
      <p:ext uri="{BB962C8B-B14F-4D97-AF65-F5344CB8AC3E}">
        <p14:creationId xmlns:p14="http://schemas.microsoft.com/office/powerpoint/2010/main" val="2989573962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96C66-F356-8FCB-9B2C-DCBD6B530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511E0B-D53E-E8E3-1DDD-AB222894F8CA}"/>
              </a:ext>
            </a:extLst>
          </p:cNvPr>
          <p:cNvSpPr txBox="1"/>
          <p:nvPr/>
        </p:nvSpPr>
        <p:spPr>
          <a:xfrm>
            <a:off x="5613400" y="1138347"/>
            <a:ext cx="12903200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rgbClr val="0090D4"/>
                </a:solidFill>
                <a:latin typeface="Georgia" panose="02040502050405020303" pitchFamily="18" charset="0"/>
              </a:rPr>
              <a:t>REFERENCES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rgbClr val="0090D4"/>
              </a:solidFill>
              <a:effectLst/>
              <a:uFillTx/>
              <a:latin typeface="Georgia" panose="02040502050405020303" pitchFamily="18" charset="0"/>
              <a:sym typeface="Helvetica Neu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3B08FA-EE04-804D-8DD2-5278AD99564B}"/>
              </a:ext>
            </a:extLst>
          </p:cNvPr>
          <p:cNvSpPr txBox="1"/>
          <p:nvPr/>
        </p:nvSpPr>
        <p:spPr>
          <a:xfrm>
            <a:off x="3513483" y="5721123"/>
            <a:ext cx="16503926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endParaRPr lang="en-US" dirty="0">
              <a:solidFill>
                <a:schemeClr val="tx1"/>
              </a:solidFill>
              <a:latin typeface="Avenir Next LT Pro" panose="020B0504020202020204" pitchFamily="34" charset="77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tx1"/>
                </a:solidFill>
                <a:latin typeface="Avenir Next LT Pro" panose="020B0504020202020204" pitchFamily="34" charset="77"/>
                <a:ea typeface="Verdana" panose="020B0604030504040204" pitchFamily="34" charset="0"/>
              </a:rPr>
              <a:t>Michael </a:t>
            </a:r>
            <a:r>
              <a:rPr lang="en-AU" dirty="0" err="1">
                <a:solidFill>
                  <a:schemeClr val="tx1"/>
                </a:solidFill>
                <a:latin typeface="Avenir Next LT Pro" panose="020B0504020202020204" pitchFamily="34" charset="77"/>
                <a:ea typeface="Verdana" panose="020B0604030504040204" pitchFamily="34" charset="0"/>
              </a:rPr>
              <a:t>Lewrick</a:t>
            </a:r>
            <a:r>
              <a:rPr lang="en-AU" dirty="0">
                <a:solidFill>
                  <a:schemeClr val="tx1"/>
                </a:solidFill>
                <a:latin typeface="Avenir Next LT Pro" panose="020B0504020202020204" pitchFamily="34" charset="77"/>
                <a:ea typeface="Verdana" panose="020B0604030504040204" pitchFamily="34" charset="0"/>
              </a:rPr>
              <a:t>, Patric Link, Larry Leifer (2018) The Design Thinking Playbook – Mindful Digital Transformation of teams, products, services, Businesses And Ecosystems, Wiley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42116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Online Resources 2023_Binus University_BHE Logo</Template>
  <TotalTime>15035</TotalTime>
  <Words>750</Words>
  <Application>Microsoft Macintosh PowerPoint</Application>
  <PresentationFormat>Custom</PresentationFormat>
  <Paragraphs>84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Courier New</vt:lpstr>
      <vt:lpstr>Open Sans Semibold</vt:lpstr>
      <vt:lpstr>Open Sans ExtraBold</vt:lpstr>
      <vt:lpstr>Avenir Next LT Pro</vt:lpstr>
      <vt:lpstr>Arial</vt:lpstr>
      <vt:lpstr>OCRB</vt:lpstr>
      <vt:lpstr>Helvetica</vt:lpstr>
      <vt:lpstr>Georgia</vt:lpstr>
      <vt:lpstr>Open Sans</vt:lpstr>
      <vt:lpstr>Open Sans Light</vt:lpstr>
      <vt:lpstr>21_BasicWhite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Katherina Anastasya Samosir</dc:creator>
  <cp:lastModifiedBy>Glory A Guzman</cp:lastModifiedBy>
  <cp:revision>27</cp:revision>
  <dcterms:created xsi:type="dcterms:W3CDTF">2025-04-16T03:14:16Z</dcterms:created>
  <dcterms:modified xsi:type="dcterms:W3CDTF">2025-11-10T06:27:57Z</dcterms:modified>
</cp:coreProperties>
</file>