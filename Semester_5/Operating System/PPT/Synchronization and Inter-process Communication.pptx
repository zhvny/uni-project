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308" r:id="rId2"/>
    <p:sldId id="304" r:id="rId3"/>
    <p:sldId id="325" r:id="rId4"/>
    <p:sldId id="324" r:id="rId5"/>
    <p:sldId id="341" r:id="rId6"/>
    <p:sldId id="342" r:id="rId7"/>
    <p:sldId id="326" r:id="rId8"/>
    <p:sldId id="327" r:id="rId9"/>
    <p:sldId id="346" r:id="rId10"/>
    <p:sldId id="329" r:id="rId11"/>
    <p:sldId id="343" r:id="rId12"/>
    <p:sldId id="328" r:id="rId13"/>
    <p:sldId id="344" r:id="rId14"/>
    <p:sldId id="345" r:id="rId15"/>
    <p:sldId id="334" r:id="rId16"/>
    <p:sldId id="335" r:id="rId17"/>
    <p:sldId id="347" r:id="rId18"/>
    <p:sldId id="348" r:id="rId19"/>
    <p:sldId id="349" r:id="rId20"/>
    <p:sldId id="315" r:id="rId21"/>
  </p:sldIdLst>
  <p:sldSz cx="24384000" cy="13716000"/>
  <p:notesSz cx="6858000" cy="9144000"/>
  <p:embeddedFontLst>
    <p:embeddedFont>
      <p:font typeface="Open Sans Light" panose="020B0604020202020204" charset="0"/>
      <p:regular r:id="rId23"/>
      <p:italic r:id="rId24"/>
    </p:embeddedFont>
    <p:embeddedFont>
      <p:font typeface="OCRB" panose="020B0604020202020204" charset="0"/>
      <p:regular r:id="rId25"/>
    </p:embeddedFont>
    <p:embeddedFont>
      <p:font typeface="Open Sans" panose="020B0604020202020204" charset="0"/>
      <p:regular r:id="rId26"/>
      <p:bold r:id="rId27"/>
      <p:italic r:id="rId28"/>
      <p:boldItalic r:id="rId29"/>
    </p:embeddedFont>
    <p:embeddedFont>
      <p:font typeface="Aptos" panose="020B0004020202020204" pitchFamily="34" charset="0"/>
      <p:regular r:id="rId30"/>
      <p:bold r:id="rId31"/>
      <p:italic r:id="rId32"/>
      <p:boldItalic r:id="rId3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7300"/>
    <a:srgbClr val="F2B800"/>
    <a:srgbClr val="FFFAE7"/>
    <a:srgbClr val="FDF3FF"/>
    <a:srgbClr val="FCEFFF"/>
    <a:srgbClr val="F4FCF2"/>
    <a:srgbClr val="FFFF57"/>
    <a:srgbClr val="FFFFA6"/>
    <a:srgbClr val="E5F5FF"/>
    <a:srgbClr val="B7B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5274" autoAdjust="0"/>
  </p:normalViewPr>
  <p:slideViewPr>
    <p:cSldViewPr snapToGrid="0" snapToObjects="1">
      <p:cViewPr varScale="1">
        <p:scale>
          <a:sx n="42" d="100"/>
          <a:sy n="42" d="100"/>
        </p:scale>
        <p:origin x="442" y="5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COMP6697001-Operating Systems</a:t>
            </a:r>
          </a:p>
          <a:p>
            <a:r>
              <a:rPr lang="en-US" dirty="0">
                <a:latin typeface="Aptos" panose="020B0004020202020204" pitchFamily="34" charset="0"/>
              </a:rPr>
              <a:t>Session 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Aptos" panose="020B0004020202020204" pitchFamily="34" charset="0"/>
              </a:rPr>
              <a:t>COncurrency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722" y="11538583"/>
            <a:ext cx="5168556" cy="745888"/>
          </a:xfrm>
        </p:spPr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Dr. Zulfany Erlisa Rasjid </a:t>
            </a:r>
            <a:r>
              <a:rPr lang="en-US" dirty="0" err="1">
                <a:latin typeface="Aptos" panose="020B0004020202020204" pitchFamily="34" charset="0"/>
              </a:rPr>
              <a:t>B.Sc.,MMSI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8378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Fundamental concepts of operating system design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564588"/>
            <a:ext cx="10735056" cy="794544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Aptos" panose="020B0004020202020204" pitchFamily="34" charset="0"/>
                <a:ea typeface="Helvetica Neue Medium"/>
                <a:cs typeface="Helvetica Neue Medium"/>
                <a:sym typeface="Helvetica Neue Medium"/>
              </a:rPr>
              <a:t>Multiprogramming</a:t>
            </a:r>
            <a:endParaRPr kumimoji="0" lang="en-US" sz="4000" b="1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3511532"/>
            <a:ext cx="10735056" cy="587340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Multiprogramming adalah kemampuan sistem operasi untuk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menjalankan beberapa proses secara bergantian</a:t>
            </a: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dalam satu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prosesor tunggal (uniprocessor</a:t>
            </a:r>
            <a:r>
              <a:rPr lang="en-US" sz="25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</a:t>
            </a:r>
            <a:r>
              <a:rPr lang="en-US" sz="25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Hanya satu proses yang dapat dijalankan pada satu waktu oleh </a:t>
            </a:r>
            <a:r>
              <a:rPr lang="en-US" sz="25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</a:t>
            </a: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operasi akan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menyimpan proses lain dalam antrian siap (ready queue)</a:t>
            </a: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dan akan beralih di antara proses tersebut dengan sangat cepat menggunakan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 </a:t>
            </a:r>
            <a:r>
              <a:rPr lang="en-US" sz="25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scheduling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sz="2500" b="1" i="0" u="sng" strike="noStrike" cap="none" spc="0" normalizeH="0" baseline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ptos" panose="020B0004020202020204" pitchFamily="34" charset="0"/>
                <a:sym typeface="Helvetica Neue"/>
              </a:rPr>
              <a:t>Contoh:</a:t>
            </a:r>
            <a:r>
              <a:rPr kumimoji="0" lang="en-US" sz="2500" b="1" i="0" strike="noStrike" cap="none" spc="0" normalizeH="0" baseline="0" smtClean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ptos" panose="020B0004020202020204" pitchFamily="34" charset="0"/>
                <a:sym typeface="Helvetica Neue"/>
              </a:rPr>
              <a:t>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Satu komputer menjalankan program teks, musik, dan browser </a:t>
            </a:r>
            <a:r>
              <a:rPr lang="en-US" sz="25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bersamaan.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 akan berpindah cepat antar program, seolah-olah semuanya berjalan simultan</a:t>
            </a:r>
            <a:endParaRPr kumimoji="0" lang="en-US" sz="2500" b="1" i="0" u="sng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2716256" y="2564588"/>
            <a:ext cx="10728960" cy="794544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smtClean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Aptos" panose="020B0004020202020204" pitchFamily="34" charset="0"/>
                <a:ea typeface="Helvetica Neue Medium"/>
                <a:cs typeface="Helvetica Neue Medium"/>
                <a:sym typeface="Helvetica Neue Medium"/>
              </a:rPr>
              <a:t>Multiprocessing</a:t>
            </a:r>
            <a:endParaRPr kumimoji="0" lang="en-US" sz="4000" b="1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16256" y="3511532"/>
            <a:ext cx="10728960" cy="4719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Multiprocessing adalah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pengelolaan beberapa proses secara bersamaan menggunakan lebih dari satu prosesor (multiprocessor</a:t>
            </a:r>
            <a:r>
              <a:rPr lang="en-US" sz="25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Beberapa CPU (atau core) bekerja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 paralel</a:t>
            </a: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masing-masing menangani proses </a:t>
            </a:r>
            <a:r>
              <a:rPr lang="en-US" sz="25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berbeda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Membutuhkan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koordinasi antar prosesor</a:t>
            </a:r>
            <a:r>
              <a:rPr lang="en-US" sz="25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melalui sistem operasi agar tidak terjadi konflik dalam mengakses sumber </a:t>
            </a:r>
            <a:r>
              <a:rPr lang="en-US" sz="25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daya.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u="sng" smtClean="0">
                <a:solidFill>
                  <a:srgbClr val="FF0000"/>
                </a:solidFill>
                <a:latin typeface="Aptos" panose="020B0004020202020204" pitchFamily="34" charset="0"/>
              </a:rPr>
              <a:t>Contoh:</a:t>
            </a:r>
            <a:r>
              <a:rPr lang="en-US" sz="2500" b="1" smtClean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25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Server dengan 4 CPU yang menjalankan banyak aplikasi sekaligus (web server, database server, file server) secara paralel</a:t>
            </a:r>
            <a:endParaRPr lang="en-US" sz="2500" b="1" u="sng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915508" y="9561156"/>
            <a:ext cx="19828412" cy="79454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/>
            <a:r>
              <a:rPr lang="en-US" sz="40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Distributed Processing</a:t>
            </a:r>
            <a:endParaRPr kumimoji="0" lang="en-US" sz="4000" b="1" i="0" u="none" strike="noStrike" cap="none" spc="0" normalizeH="0" baseline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Aptos" panose="020B0004020202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15508" y="10508100"/>
            <a:ext cx="19828412" cy="26879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Distributed Processing adalah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pengelolaan proses yang berjalan di beberapa komputer berbeda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yang terhubung melalui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jaringan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Setiap komputer disebut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node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dan bekerja sama menyelesaikan tugas besar secara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terdistribusi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u="sng" smtClean="0">
                <a:solidFill>
                  <a:srgbClr val="FF0000"/>
                </a:solidFill>
                <a:latin typeface="Aptos" panose="020B0004020202020204" pitchFamily="34" charset="0"/>
              </a:rPr>
              <a:t>Contoh: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Digunakan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cluster computing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cloud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computing (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Google Search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Engine)</a:t>
            </a:r>
            <a:endParaRPr lang="en-US" sz="2500" b="1" u="sng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48943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Fundamental concepts of operating system design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712341"/>
              </p:ext>
            </p:extLst>
          </p:nvPr>
        </p:nvGraphicFramePr>
        <p:xfrm>
          <a:off x="925146" y="3826718"/>
          <a:ext cx="22685130" cy="6160420"/>
        </p:xfrm>
        <a:graphic>
          <a:graphicData uri="http://schemas.openxmlformats.org/drawingml/2006/table">
            <a:tbl>
              <a:tblPr/>
              <a:tblGrid>
                <a:gridCol w="4537026">
                  <a:extLst>
                    <a:ext uri="{9D8B030D-6E8A-4147-A177-3AD203B41FA5}">
                      <a16:colId xmlns:a16="http://schemas.microsoft.com/office/drawing/2014/main" val="2569520848"/>
                    </a:ext>
                  </a:extLst>
                </a:gridCol>
                <a:gridCol w="4537026">
                  <a:extLst>
                    <a:ext uri="{9D8B030D-6E8A-4147-A177-3AD203B41FA5}">
                      <a16:colId xmlns:a16="http://schemas.microsoft.com/office/drawing/2014/main" val="177412620"/>
                    </a:ext>
                  </a:extLst>
                </a:gridCol>
                <a:gridCol w="4537026">
                  <a:extLst>
                    <a:ext uri="{9D8B030D-6E8A-4147-A177-3AD203B41FA5}">
                      <a16:colId xmlns:a16="http://schemas.microsoft.com/office/drawing/2014/main" val="2283072837"/>
                    </a:ext>
                  </a:extLst>
                </a:gridCol>
                <a:gridCol w="4537026">
                  <a:extLst>
                    <a:ext uri="{9D8B030D-6E8A-4147-A177-3AD203B41FA5}">
                      <a16:colId xmlns:a16="http://schemas.microsoft.com/office/drawing/2014/main" val="3879697544"/>
                    </a:ext>
                  </a:extLst>
                </a:gridCol>
                <a:gridCol w="4537026">
                  <a:extLst>
                    <a:ext uri="{9D8B030D-6E8A-4147-A177-3AD203B41FA5}">
                      <a16:colId xmlns:a16="http://schemas.microsoft.com/office/drawing/2014/main" val="2746856838"/>
                    </a:ext>
                  </a:extLst>
                </a:gridCol>
              </a:tblGrid>
              <a:tr h="1120420">
                <a:tc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Konsep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Jumlah Prosesor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Lokasi Eksekusi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Tujuan Utama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Contoh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69212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Multiprogramming</a:t>
                      </a:r>
                      <a:endPara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Dalam satu komputer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Memaksimalkan penggunaan CPU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PC menjalankan banyak aplikasi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90297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Multiprocessing</a:t>
                      </a:r>
                      <a:endPara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&gt;1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Dalam satu komputer (beberapa prosesor)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Meningkatkan performa dan keandalan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Server multi-core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64969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r>
                        <a:rPr lang="en-US" sz="32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Distributed Processing</a:t>
                      </a:r>
                      <a:endParaRPr lang="en-US" sz="3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Banyak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Di beberapa komputer (jaringan)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Pembagian beban dan skalabilitas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Cloud, cluster computing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535799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4210" y="2781363"/>
            <a:ext cx="3812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Rinkasan Konsep</a:t>
            </a:r>
            <a:endParaRPr lang="en-US" sz="36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7511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>
                <a:latin typeface="Aptos" panose="020B0004020202020204" pitchFamily="34" charset="0"/>
              </a:rPr>
              <a:t>background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44591" y="2740081"/>
            <a:ext cx="951735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4400" b="1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Why Should We Learn Concurrency?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4591" y="3831576"/>
            <a:ext cx="2180918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>
                <a:solidFill>
                  <a:schemeClr val="accent5"/>
                </a:solidFill>
                <a:latin typeface="Aptos" panose="020B0004020202020204" pitchFamily="34" charset="0"/>
              </a:rPr>
              <a:t>Komputer Sekarang </a:t>
            </a:r>
            <a:r>
              <a:rPr lang="en-US" sz="3200" b="1">
                <a:solidFill>
                  <a:schemeClr val="accent5"/>
                </a:solidFill>
                <a:latin typeface="Aptos" panose="020B0004020202020204" pitchFamily="34" charset="0"/>
              </a:rPr>
              <a:t>Sudah </a:t>
            </a:r>
            <a:r>
              <a:rPr lang="en-US" sz="3200" b="1" smtClean="0">
                <a:solidFill>
                  <a:schemeClr val="accent5"/>
                </a:solidFill>
                <a:latin typeface="Aptos" panose="020B0004020202020204" pitchFamily="34" charset="0"/>
              </a:rPr>
              <a:t>Multi Core </a:t>
            </a:r>
            <a:r>
              <a:rPr lang="en-US" sz="3200" b="1">
                <a:solidFill>
                  <a:schemeClr val="accent5"/>
                </a:solidFill>
                <a:latin typeface="Aptos" panose="020B0004020202020204" pitchFamily="34" charset="0"/>
              </a:rPr>
              <a:t>(Bukan </a:t>
            </a:r>
            <a:r>
              <a:rPr lang="en-US" sz="3200" b="1">
                <a:solidFill>
                  <a:schemeClr val="accent5"/>
                </a:solidFill>
                <a:latin typeface="Aptos" panose="020B0004020202020204" pitchFamily="34" charset="0"/>
              </a:rPr>
              <a:t>Lagi </a:t>
            </a:r>
            <a:r>
              <a:rPr lang="en-US" sz="3200" b="1" smtClean="0">
                <a:solidFill>
                  <a:schemeClr val="accent5"/>
                </a:solidFill>
                <a:latin typeface="Aptos" panose="020B0004020202020204" pitchFamily="34" charset="0"/>
              </a:rPr>
              <a:t>Single Core</a:t>
            </a:r>
            <a:r>
              <a:rPr lang="en-US" sz="3200" b="1">
                <a:solidFill>
                  <a:schemeClr val="accent5"/>
                </a:solidFill>
                <a:latin typeface="Aptos" panose="020B0004020202020204" pitchFamily="34" charset="0"/>
              </a:rPr>
              <a:t>)</a:t>
            </a:r>
            <a:r>
              <a:rPr lang="en-US" sz="3200">
                <a:solidFill>
                  <a:schemeClr val="accent5"/>
                </a:solidFill>
                <a:latin typeface="Aptos" panose="020B0004020202020204" pitchFamily="34" charset="0"/>
              </a:rPr>
              <a:t> </a:t>
            </a:r>
            <a:endParaRPr lang="en-US" sz="3200" smtClean="0">
              <a:solidFill>
                <a:schemeClr val="accent5"/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Dulu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komputer hanya punya satu otak (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CPU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single core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 yang mengeksekusi tugas secara bergiliran (</a:t>
            </a:r>
            <a:r>
              <a:rPr lang="en-US" sz="32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sequential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). 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Hari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ini, bahkan </a:t>
            </a:r>
            <a:r>
              <a:rPr lang="en-US" sz="32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smartphone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sudah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punya prosesor 4, 8, hingga belasan inti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(</a:t>
            </a:r>
            <a:r>
              <a:rPr lang="en-US" sz="3200" i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multi core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). </a:t>
            </a: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Kalau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program kita ditulis secara konvensional (satu jalur),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kita sedang menyia-nyiakan 90% kekuatan hardware yang ada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Dengan </a:t>
            </a:r>
            <a:r>
              <a:rPr lang="en-US" sz="32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concurrency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kita bisa membagi tugas ke banyak core sekaligus agar berjalan jauh lebih cepat.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4591" y="8012202"/>
            <a:ext cx="2180918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>
                <a:solidFill>
                  <a:schemeClr val="accent5"/>
                </a:solidFill>
                <a:latin typeface="Aptos" panose="020B0004020202020204" pitchFamily="34" charset="0"/>
              </a:rPr>
              <a:t>Menangani Jutaan Pengguna Bersamaan (Skalabilitas Sistem </a:t>
            </a:r>
            <a:r>
              <a:rPr lang="en-US" sz="3200" b="1">
                <a:solidFill>
                  <a:schemeClr val="accent5"/>
                </a:solidFill>
                <a:latin typeface="Aptos" panose="020B0004020202020204" pitchFamily="34" charset="0"/>
              </a:rPr>
              <a:t>Enterprise</a:t>
            </a:r>
            <a:r>
              <a:rPr lang="en-US" sz="3200" b="1" smtClean="0">
                <a:solidFill>
                  <a:schemeClr val="accent5"/>
                </a:solidFill>
                <a:latin typeface="Aptos" panose="020B0004020202020204" pitchFamily="34" charset="0"/>
              </a:rPr>
              <a:t>)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modern seperti Gojek, Tokopedia, atau Netflix melayani jutaan </a:t>
            </a:r>
            <a:r>
              <a:rPr lang="en-US" sz="32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request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dari jutaan pengguna di detik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sama.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Tanpa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pemahaman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tentang 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concurrency 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(bagaimana mengatur banyak proses tanpa saling tabrak), server dipastikan akan </a:t>
            </a:r>
            <a:r>
              <a:rPr lang="en-US" sz="32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down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data berantakan (</a:t>
            </a:r>
            <a:r>
              <a:rPr lang="en-US" sz="32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race condition</a:t>
            </a:r>
            <a:r>
              <a:rPr lang="en-US" sz="32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), dan aplikasi lumpuh.</a:t>
            </a:r>
          </a:p>
        </p:txBody>
      </p:sp>
    </p:spTree>
    <p:extLst>
      <p:ext uri="{BB962C8B-B14F-4D97-AF65-F5344CB8AC3E}">
        <p14:creationId xmlns:p14="http://schemas.microsoft.com/office/powerpoint/2010/main" val="19452120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ptos" panose="020B0004020202020204" pitchFamily="34" charset="0"/>
              </a:rPr>
              <a:t>definition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33728" y="3201954"/>
            <a:ext cx="21262848" cy="8556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50000"/>
              </a:lnSpc>
            </a:pPr>
            <a:r>
              <a:rPr lang="en-US" sz="4400" b="1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Concurrency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sistem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operasi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merujuk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pada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kemampuan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sistem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untuk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menangani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beberapa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tugas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atau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proses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b="1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simultan</a:t>
            </a:r>
            <a:r>
              <a:rPr lang="en-US" sz="44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4400" smtClean="0">
              <a:solidFill>
                <a:schemeClr val="tx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571500" indent="-5715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44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Dalam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konteks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ini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beberapa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proses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atau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thread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dapat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berjalan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atau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dieksekusi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bersamaan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4400" b="1" u="sng" dirty="0" err="1">
                <a:solidFill>
                  <a:srgbClr val="FF0000"/>
                </a:solidFill>
                <a:latin typeface="Aptos" panose="020B0004020202020204" pitchFamily="34" charset="0"/>
              </a:rPr>
              <a:t>namun</a:t>
            </a:r>
            <a:r>
              <a:rPr lang="en-US" sz="4400" b="1" u="sng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4400" b="1" u="sng" dirty="0" err="1">
                <a:solidFill>
                  <a:srgbClr val="FF0000"/>
                </a:solidFill>
                <a:latin typeface="Aptos" panose="020B0004020202020204" pitchFamily="34" charset="0"/>
              </a:rPr>
              <a:t>tidak</a:t>
            </a:r>
            <a:r>
              <a:rPr lang="en-US" sz="4400" b="1" u="sng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4400" b="1" u="sng" dirty="0" err="1">
                <a:solidFill>
                  <a:srgbClr val="FF0000"/>
                </a:solidFill>
                <a:latin typeface="Aptos" panose="020B0004020202020204" pitchFamily="34" charset="0"/>
              </a:rPr>
              <a:t>selalu</a:t>
            </a:r>
            <a:r>
              <a:rPr lang="en-US" sz="4400" b="1" u="sng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4400" b="1" u="sng" dirty="0" err="1">
                <a:solidFill>
                  <a:srgbClr val="FF0000"/>
                </a:solidFill>
                <a:latin typeface="Aptos" panose="020B0004020202020204" pitchFamily="34" charset="0"/>
              </a:rPr>
              <a:t>harus</a:t>
            </a:r>
            <a:r>
              <a:rPr lang="en-US" sz="4400" b="1" u="sng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4400" b="1" u="sng" dirty="0" err="1">
                <a:solidFill>
                  <a:srgbClr val="FF0000"/>
                </a:solidFill>
                <a:latin typeface="Aptos" panose="020B0004020202020204" pitchFamily="34" charset="0"/>
              </a:rPr>
              <a:t>berjalan</a:t>
            </a:r>
            <a:r>
              <a:rPr lang="en-US" sz="4400" b="1" u="sng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4400" b="1" u="sng" dirty="0" err="1">
                <a:solidFill>
                  <a:srgbClr val="FF0000"/>
                </a:solidFill>
                <a:latin typeface="Aptos" panose="020B0004020202020204" pitchFamily="34" charset="0"/>
              </a:rPr>
              <a:t>secara</a:t>
            </a:r>
            <a:r>
              <a:rPr lang="en-US" sz="4400" b="1" u="sng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4400" b="1" u="sng" dirty="0" err="1">
                <a:solidFill>
                  <a:srgbClr val="FF0000"/>
                </a:solidFill>
                <a:latin typeface="Aptos" panose="020B0004020202020204" pitchFamily="34" charset="0"/>
              </a:rPr>
              <a:t>paralel</a:t>
            </a:r>
            <a:r>
              <a:rPr lang="en-US" sz="4400" b="1" u="sng" dirty="0">
                <a:solidFill>
                  <a:srgbClr val="FF0000"/>
                </a:solidFill>
                <a:latin typeface="Aptos" panose="020B0004020202020204" pitchFamily="34" charset="0"/>
              </a:rPr>
              <a:t> 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(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pada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waktu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yang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persis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4400" dirty="0" err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sama</a:t>
            </a:r>
            <a:r>
              <a:rPr lang="en-US" sz="4400" dirty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689017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What are the differences between these four?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2064" y="3066288"/>
            <a:ext cx="5705856" cy="23591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57150" cap="flat">
            <a:solidFill>
              <a:schemeClr val="accent5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5577840"/>
            <a:ext cx="5705856" cy="23591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5715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923776" y="7970520"/>
            <a:ext cx="5705856" cy="23591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7150" cap="flat">
            <a:solidFill>
              <a:schemeClr val="accent2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629632" y="10482072"/>
            <a:ext cx="5705856" cy="23591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 cap="flat">
            <a:solidFill>
              <a:schemeClr val="accent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81601" y="3686738"/>
            <a:ext cx="2766783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1" i="0" u="none" strike="noStrike" cap="none" spc="0" normalizeH="0" baseline="0" smtClean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Aptos" panose="020B0004020202020204" pitchFamily="34" charset="0"/>
                <a:sym typeface="Helvetica Neue"/>
              </a:rPr>
              <a:t>Thread</a:t>
            </a:r>
            <a:endParaRPr kumimoji="0" lang="en-US" sz="6600" b="1" i="0" u="none" strike="noStrike" cap="none" spc="0" normalizeH="0" baseline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19056" y="6198288"/>
            <a:ext cx="4903586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1" i="0" u="none" strike="noStrike" cap="none" spc="0" normalizeH="0" baseline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FillTx/>
                <a:latin typeface="Aptos" panose="020B0004020202020204" pitchFamily="34" charset="0"/>
                <a:sym typeface="Helvetica Neue"/>
              </a:rPr>
              <a:t>Multi Thread</a:t>
            </a:r>
            <a:endParaRPr kumimoji="0" lang="en-US" sz="6600" b="1" i="0" u="none" strike="noStrike" cap="none" spc="0" normalizeH="0" baseline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48105" y="8590968"/>
            <a:ext cx="4057201" cy="11182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600" b="1" i="0" u="none" strike="noStrike" cap="none" spc="0" normalizeH="0" baseline="0" smtClean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FillTx/>
                <a:latin typeface="Aptos" panose="020B0004020202020204" pitchFamily="34" charset="0"/>
                <a:sym typeface="Helvetica Neue"/>
              </a:rPr>
              <a:t>Scheduler</a:t>
            </a:r>
            <a:endParaRPr kumimoji="0" lang="en-US" sz="6600" b="1" i="0" u="none" strike="noStrike" cap="none" spc="0" normalizeH="0" baseline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085270" y="11133297"/>
            <a:ext cx="4794582" cy="10567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200" b="1" i="0" u="none" strike="noStrike" cap="none" spc="0" normalizeH="0" baseline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Aptos" panose="020B0004020202020204" pitchFamily="34" charset="0"/>
                <a:sym typeface="Helvetica Neue"/>
              </a:rPr>
              <a:t>Concurrency</a:t>
            </a:r>
            <a:endParaRPr kumimoji="0" lang="en-US" sz="6200" b="1" i="0" u="none" strike="noStrike" cap="none" spc="0" normalizeH="0" baseline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FillTx/>
              <a:latin typeface="Aptos" panose="020B0004020202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658304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Concurrency </a:t>
            </a:r>
            <a:r>
              <a:rPr lang="en-US" smtClean="0">
                <a:latin typeface="Aptos" panose="020B0004020202020204" pitchFamily="34" charset="0"/>
              </a:rPr>
              <a:t>arises  </a:t>
            </a:r>
            <a:r>
              <a:rPr lang="en-US">
                <a:latin typeface="Aptos" panose="020B0004020202020204" pitchFamily="34" charset="0"/>
              </a:rPr>
              <a:t>in three different </a:t>
            </a:r>
            <a:r>
              <a:rPr lang="en-US" smtClean="0">
                <a:latin typeface="Aptos" panose="020B0004020202020204" pitchFamily="34" charset="0"/>
              </a:rPr>
              <a:t>contexts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325080"/>
            <a:ext cx="10735056" cy="862648"/>
          </a:xfrm>
          <a:prstGeom prst="roundRect">
            <a:avLst/>
          </a:prstGeom>
          <a:solidFill>
            <a:schemeClr val="accent3"/>
          </a:solidFill>
          <a:ln>
            <a:solidFill>
              <a:srgbClr val="00B05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/>
            <a:r>
              <a:rPr lang="en-US" sz="4400" b="1">
                <a:solidFill>
                  <a:schemeClr val="bg1"/>
                </a:solidFill>
                <a:latin typeface="Aptos" panose="020B0004020202020204" pitchFamily="34" charset="0"/>
              </a:rPr>
              <a:t>Multiple Applications</a:t>
            </a:r>
            <a:endParaRPr lang="en-US" sz="4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Elbow Connector 7"/>
          <p:cNvCxnSpPr>
            <a:stCxn id="6" idx="1"/>
            <a:endCxn id="9" idx="1"/>
          </p:cNvCxnSpPr>
          <p:nvPr/>
        </p:nvCxnSpPr>
        <p:spPr>
          <a:xfrm rot="10800000" flipH="1" flipV="1">
            <a:off x="731519" y="3756403"/>
            <a:ext cx="717927" cy="5168537"/>
          </a:xfrm>
          <a:prstGeom prst="bentConnector3">
            <a:avLst>
              <a:gd name="adj1" fmla="val -31842"/>
            </a:avLst>
          </a:prstGeom>
          <a:noFill/>
          <a:ln w="28575" cap="flat">
            <a:solidFill>
              <a:srgbClr val="00B05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ounded Rectangle 8"/>
          <p:cNvSpPr/>
          <p:nvPr/>
        </p:nvSpPr>
        <p:spPr>
          <a:xfrm>
            <a:off x="1449447" y="4602008"/>
            <a:ext cx="10017129" cy="7869386"/>
          </a:xfrm>
          <a:prstGeom prst="roundRect">
            <a:avLst>
              <a:gd name="adj" fmla="val 4343"/>
            </a:avLst>
          </a:prstGeom>
          <a:noFill/>
          <a:ln>
            <a:solidFill>
              <a:srgbClr val="00B05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Concurrency pada konteks ini muncul karena adanya 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banyak aplikasi aktif secara bersamaan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pada satu sistem 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computer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Tujuannya agar 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waktu pemrosesan CPU dapat dibagi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di antara aplikasi-aplikasi yang berjalan 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bersamaan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 u="sng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CONTOH</a:t>
            </a:r>
            <a:r>
              <a:rPr lang="en-US" sz="33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Saat Anda mengetik di Word sambil mendengarkan musik, sistem tetap berjalan lancar karena CPU membagi waktunya secara efisien di antara aplikasi tersebut</a:t>
            </a:r>
            <a:endParaRPr lang="en-US" sz="3300" b="1" u="sng" dirty="0">
              <a:solidFill>
                <a:schemeClr val="tx1">
                  <a:lumMod val="5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2818012" y="3325080"/>
            <a:ext cx="10735056" cy="862648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/>
            <a:r>
              <a:rPr lang="en-US" sz="4400" b="1">
                <a:solidFill>
                  <a:schemeClr val="bg1"/>
                </a:solidFill>
                <a:latin typeface="Aptos" panose="020B0004020202020204" pitchFamily="34" charset="0"/>
              </a:rPr>
              <a:t>Structured Applications</a:t>
            </a:r>
            <a:endParaRPr lang="en-US" sz="4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18" name="Elbow Connector 17"/>
          <p:cNvCxnSpPr>
            <a:stCxn id="17" idx="1"/>
            <a:endCxn id="19" idx="1"/>
          </p:cNvCxnSpPr>
          <p:nvPr/>
        </p:nvCxnSpPr>
        <p:spPr>
          <a:xfrm rot="10800000" flipH="1" flipV="1">
            <a:off x="12818011" y="3756404"/>
            <a:ext cx="717927" cy="5168538"/>
          </a:xfrm>
          <a:prstGeom prst="bentConnector3">
            <a:avLst>
              <a:gd name="adj1" fmla="val -31842"/>
            </a:avLst>
          </a:prstGeom>
          <a:noFill/>
          <a:ln w="28575" cap="flat">
            <a:solidFill>
              <a:schemeClr val="accent6">
                <a:lumMod val="5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/>
          <p:cNvSpPr/>
          <p:nvPr/>
        </p:nvSpPr>
        <p:spPr>
          <a:xfrm>
            <a:off x="13535939" y="4602008"/>
            <a:ext cx="10017129" cy="8645867"/>
          </a:xfrm>
          <a:prstGeom prst="roundRect">
            <a:avLst>
              <a:gd name="adj" fmla="val 4343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Concurrency pada konteks ini merupakan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pengembangan dari desain modular dan pemrograman </a:t>
            </a:r>
            <a:r>
              <a:rPr lang="en-US" sz="33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terstruktur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Tujuannya dengan membagi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besar menjadi beberapa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modul atau proses kecil (subproses)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yang dapat dijalankan secara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bersamaan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 u="sng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CONTOH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Aplikasi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web server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(seperti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Apache)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memiliki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terpisah untuk menangani permintaan dari setiap klien agar respons lebih cepat</a:t>
            </a:r>
            <a:endParaRPr lang="en-US" sz="3300" b="1" u="sng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9533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Concurrency </a:t>
            </a:r>
            <a:r>
              <a:rPr lang="en-US" smtClean="0">
                <a:latin typeface="Aptos" panose="020B0004020202020204" pitchFamily="34" charset="0"/>
              </a:rPr>
              <a:t>arises  </a:t>
            </a:r>
            <a:r>
              <a:rPr lang="en-US">
                <a:latin typeface="Aptos" panose="020B0004020202020204" pitchFamily="34" charset="0"/>
              </a:rPr>
              <a:t>in three different </a:t>
            </a:r>
            <a:r>
              <a:rPr lang="en-US" smtClean="0">
                <a:latin typeface="Aptos" panose="020B0004020202020204" pitchFamily="34" charset="0"/>
              </a:rPr>
              <a:t>contexts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06655" y="3137796"/>
            <a:ext cx="21917466" cy="123721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4400" b="1">
                <a:solidFill>
                  <a:schemeClr val="bg1"/>
                </a:solidFill>
              </a:rPr>
              <a:t>Operating System Structure</a:t>
            </a:r>
            <a:endParaRPr lang="en-US" sz="4400" b="1" u="sng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cxnSp>
        <p:nvCxnSpPr>
          <p:cNvPr id="8" name="Elbow Connector 7"/>
          <p:cNvCxnSpPr>
            <a:stCxn id="6" idx="1"/>
            <a:endCxn id="9" idx="1"/>
          </p:cNvCxnSpPr>
          <p:nvPr/>
        </p:nvCxnSpPr>
        <p:spPr>
          <a:xfrm rot="10800000" flipH="1" flipV="1">
            <a:off x="1106655" y="3756404"/>
            <a:ext cx="717928" cy="5168537"/>
          </a:xfrm>
          <a:prstGeom prst="bentConnector3">
            <a:avLst>
              <a:gd name="adj1" fmla="val -31842"/>
            </a:avLst>
          </a:prstGeom>
          <a:noFill/>
          <a:ln w="28575" cap="flat">
            <a:solidFill>
              <a:schemeClr val="accent1">
                <a:lumMod val="75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Rounded Rectangle 8"/>
          <p:cNvSpPr/>
          <p:nvPr/>
        </p:nvSpPr>
        <p:spPr>
          <a:xfrm>
            <a:off x="1824583" y="4602008"/>
            <a:ext cx="21199538" cy="8645867"/>
          </a:xfrm>
          <a:prstGeom prst="roundRect">
            <a:avLst>
              <a:gd name="adj" fmla="val 4343"/>
            </a:avLst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Concurrency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juga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muncul di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 struktur internal sistem operasi itu </a:t>
            </a:r>
            <a:r>
              <a:rPr lang="en-US" sz="33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sendiri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operasi modern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bisa diimplementasikan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sebagai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sekumpulan proses atau thread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yang berjalan secara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parallel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Contohnya</a:t>
            </a:r>
            <a:r>
              <a:rPr lang="en-US" alt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sistem operasi memiliki proses terpisah untuk </a:t>
            </a:r>
            <a:r>
              <a:rPr lang="en-US" alt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file management</a:t>
            </a:r>
            <a:r>
              <a:rPr lang="en-US" alt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alt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memory management</a:t>
            </a:r>
            <a:r>
              <a:rPr lang="en-US" alt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dan </a:t>
            </a:r>
            <a:r>
              <a:rPr lang="en-US" alt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device </a:t>
            </a:r>
            <a:r>
              <a:rPr lang="en-US" altLang="en-US" sz="3300" i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management</a:t>
            </a:r>
            <a:r>
              <a:rPr lang="en-US" alt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Dengan </a:t>
            </a:r>
            <a:r>
              <a:rPr lang="en-US" alt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cara ini, sistem operasi bisa menangani banyak tugas sekaligus tanpa saling mengganggu</a:t>
            </a:r>
            <a:r>
              <a:rPr lang="en-US" alt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71500" lvl="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Pada Windows atau Linux, ada banyak background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services.</a:t>
            </a:r>
          </a:p>
          <a:p>
            <a:pPr marL="530225" lvl="0" algn="just">
              <a:lnSpc>
                <a:spcPct val="150000"/>
              </a:lnSpc>
            </a:pP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Misalnya pada windows ada:</a:t>
            </a:r>
          </a:p>
          <a:p>
            <a:pPr marL="1352550" lvl="1" indent="-571500" algn="just">
              <a:lnSpc>
                <a:spcPct val="150000"/>
              </a:lnSpc>
              <a:buFont typeface="+mj-lt"/>
              <a:buAutoNum type="arabicPeriod"/>
            </a:pPr>
            <a:r>
              <a:rPr lang="en-US" sz="3300" smtClean="0">
                <a:solidFill>
                  <a:srgbClr val="0070C0"/>
                </a:solidFill>
                <a:latin typeface="Aptos" panose="020B0004020202020204" pitchFamily="34" charset="0"/>
              </a:rPr>
              <a:t>explorer.exe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: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roses yang bertanggung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jawab atas seluruh antarmuka grafis (GUI) utama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Windows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Seperti contohnya mengatur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Taskbar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Start Menu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ikon di desktop, hingga jendela folder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yang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dibuka.</a:t>
            </a:r>
            <a:endParaRPr lang="en-US" sz="33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352550" lvl="1" indent="-571500" algn="just">
              <a:lnSpc>
                <a:spcPct val="150000"/>
              </a:lnSpc>
              <a:buFont typeface="+mj-lt"/>
              <a:buAutoNum type="arabicPeriod"/>
            </a:pPr>
            <a:r>
              <a:rPr lang="en-US" sz="3300" smtClean="0">
                <a:solidFill>
                  <a:srgbClr val="0070C0"/>
                </a:solidFill>
                <a:latin typeface="Aptos" panose="020B0004020202020204" pitchFamily="34" charset="0"/>
              </a:rPr>
              <a:t>dwm.exe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: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Pengelola jendela desktop berbasis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visual/efek 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grafis.</a:t>
            </a:r>
            <a:endParaRPr lang="en-US" altLang="en-US" sz="33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26366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latin typeface="Aptos" panose="020B0004020202020204" pitchFamily="34" charset="0"/>
              </a:rPr>
              <a:t>Ilustration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29840"/>
            <a:ext cx="11740896" cy="1039977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2856464" y="3161522"/>
            <a:ext cx="1060704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3600" dirty="0" err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Konsep</a:t>
            </a:r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concurrency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operasi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di mana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beberapa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dieksekusi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secara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bersamaan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dengan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CPU </a:t>
            </a:r>
            <a:r>
              <a:rPr lang="en-US" sz="360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melakukan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time slicing</a:t>
            </a:r>
            <a:r>
              <a:rPr 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context switching</a:t>
            </a:r>
            <a:r>
              <a:rPr lang="en-US" sz="36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antara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proses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tersebut</a:t>
            </a:r>
            <a:r>
              <a:rPr lang="en-US" sz="36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 </a:t>
            </a:r>
            <a:endParaRPr lang="en-US" sz="36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3009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13104" y="3440291"/>
            <a:ext cx="21994368" cy="9623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Adanya banyak proses atau thread aktif secara bersamaan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modern menjalankan banyak aplikasi sekaligus (multitasking), sehingga diperlukan pengaturan agar tidak saling mengganggu.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endParaRPr lang="en-US" sz="3200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berbagi sumber daya bersama (shared resources)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Misalnya variabel global, file, memori, atau printer digunakan oleh lebih dari satu proses.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endParaRPr lang="en-US" sz="3200" b="1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Kebutuhan efisiensi CPU dan waktu respons cepat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Agar sistem tetap responsif, proses dijalankan bergantian dalam waktu sangat singkat.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endParaRPr lang="en-US" sz="3200" b="1" smtClean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Interaksi antar proses (</a:t>
            </a:r>
            <a:r>
              <a:rPr lang="en-US" sz="3200" b="1" i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inter-process communication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</a:t>
            </a: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sz="32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sering saling mengirim data atau pesan, hal ini memerlukan sinkronisasi agar tidak terjadi konflik atau kehilangan data</a:t>
            </a:r>
            <a:endParaRPr lang="en-US" sz="32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3104" y="2711583"/>
            <a:ext cx="102050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3600" b="1">
                <a:solidFill>
                  <a:srgbClr val="FF0000"/>
                </a:solidFill>
                <a:latin typeface="Aptos" panose="020B0004020202020204" pitchFamily="34" charset="0"/>
              </a:rPr>
              <a:t>Penyebab Terjadinya Concurrency Management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Concurrency Management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9511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5904" y="2817771"/>
            <a:ext cx="228173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40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Apa dampaknya jika </a:t>
            </a:r>
            <a:r>
              <a:rPr lang="en-US" sz="40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melanggar aturan </a:t>
            </a:r>
            <a:r>
              <a:rPr lang="en-US" sz="40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sinkronisasi </a:t>
            </a:r>
            <a:r>
              <a:rPr lang="en-US" sz="4000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atau </a:t>
            </a:r>
            <a:r>
              <a:rPr lang="en-US" sz="40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kita gagal </a:t>
            </a:r>
            <a:r>
              <a:rPr lang="en-US" sz="4000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merancang </a:t>
            </a:r>
            <a:r>
              <a:rPr lang="en-US" sz="40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sistem </a:t>
            </a:r>
            <a:r>
              <a:rPr lang="en-US" sz="400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dengan </a:t>
            </a:r>
            <a:r>
              <a:rPr lang="en-US" sz="4000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benar</a:t>
            </a:r>
            <a:r>
              <a:rPr lang="en-US" sz="4000" b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??</a:t>
            </a:r>
            <a:endParaRPr lang="en-US" sz="4000" b="1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Concurrency Management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351647"/>
              </p:ext>
            </p:extLst>
          </p:nvPr>
        </p:nvGraphicFramePr>
        <p:xfrm>
          <a:off x="755904" y="3913692"/>
          <a:ext cx="22652736" cy="88841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74976">
                  <a:extLst>
                    <a:ext uri="{9D8B030D-6E8A-4147-A177-3AD203B41FA5}">
                      <a16:colId xmlns:a16="http://schemas.microsoft.com/office/drawing/2014/main" val="3288577740"/>
                    </a:ext>
                  </a:extLst>
                </a:gridCol>
                <a:gridCol w="16277760">
                  <a:extLst>
                    <a:ext uri="{9D8B030D-6E8A-4147-A177-3AD203B41FA5}">
                      <a16:colId xmlns:a16="http://schemas.microsoft.com/office/drawing/2014/main" val="2528452036"/>
                    </a:ext>
                  </a:extLst>
                </a:gridCol>
              </a:tblGrid>
              <a:tr h="788052"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Concurrency Management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Definisi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313524"/>
                  </a:ext>
                </a:extLst>
              </a:tr>
              <a:tr h="18453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Deadlock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nn-NO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Situasi di mana </a:t>
                      </a:r>
                      <a:r>
                        <a:rPr lang="nn-NO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dua atau lebih proses saling menunggu sumber daya yang dimiliki proses lain</a:t>
                      </a:r>
                      <a:r>
                        <a:rPr lang="nn-NO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, sehingga tidak ada yang bisa melanjutkan eksekusi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666856"/>
                  </a:ext>
                </a:extLst>
              </a:tr>
              <a:tr h="188366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Livelock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Mirip seperti deadlock, tetapi dalam livelock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proses terus berubah status,</a:t>
                      </a:r>
                      <a:r>
                        <a:rPr lang="en-US" sz="24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untuk mencoba menyelesaikan konflik,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namun tidak menghasilkan pekerjaan yang berguna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.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090848"/>
                  </a:ext>
                </a:extLst>
              </a:tr>
              <a:tr h="184708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Race Condition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Terjadi ketika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dua atau lebih proses/thread mengakses dan memodifikasi data yang sama secara bersamaan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, dan hasil akhirnya tergantung pada urutan eksekusi yang tidak pasti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416319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Starvation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indent="-342900" algn="just" defTabSz="584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Kondisi di mana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sebuah proses terus-menerus diabaikan oleh scheduler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, sehingga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tidak pernah mendapat giliran menggunakan CPU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meskipun siap untuk 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dijalankan.</a:t>
                      </a:r>
                    </a:p>
                    <a:p>
                      <a:pPr marL="342900" marR="0" indent="-342900" algn="just" defTabSz="584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Proses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prioritas tinggi selalu dipilih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, sementara yang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prioritas rendah tidak pernah 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dieksekusi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359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61326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Terms Used in Synchronization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583070"/>
              </p:ext>
            </p:extLst>
          </p:nvPr>
        </p:nvGraphicFramePr>
        <p:xfrm>
          <a:off x="605224" y="3734932"/>
          <a:ext cx="23242328" cy="75977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2536">
                  <a:extLst>
                    <a:ext uri="{9D8B030D-6E8A-4147-A177-3AD203B41FA5}">
                      <a16:colId xmlns:a16="http://schemas.microsoft.com/office/drawing/2014/main" val="3288577740"/>
                    </a:ext>
                  </a:extLst>
                </a:gridCol>
                <a:gridCol w="10405872">
                  <a:extLst>
                    <a:ext uri="{9D8B030D-6E8A-4147-A177-3AD203B41FA5}">
                      <a16:colId xmlns:a16="http://schemas.microsoft.com/office/drawing/2014/main" val="2528452036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1006504144"/>
                    </a:ext>
                  </a:extLst>
                </a:gridCol>
              </a:tblGrid>
              <a:tr h="788052"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Concurrency Management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Definisi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Tujuan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313524"/>
                  </a:ext>
                </a:extLst>
              </a:tr>
              <a:tr h="219057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Atomic Operation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Operasi atomik adalah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aksi yang tidak dapat dibagi (indivisible)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. Artinya, operasi tersebut akan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dieksekusi sepenuhnya atau tidak sama sekali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tanpa bisa diinterupsi oleh proses lain</a:t>
                      </a:r>
                      <a:endParaRPr lang="en-US" sz="2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Untuk menjamin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konsistensi data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ketika beberapa proses mengakses sumber daya yang sama</a:t>
                      </a:r>
                      <a:endParaRPr lang="en-US" sz="2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16708"/>
                  </a:ext>
                </a:extLst>
              </a:tr>
              <a:tr h="274929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Critical Section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b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Bagian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kode dalam suatu program </a:t>
                      </a:r>
                      <a:r>
                        <a:rPr lang="en-US" sz="2200" b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yang mengakses data atau sumber daya bersama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(shared resource)</a:t>
                      </a:r>
                      <a:r>
                        <a:rPr lang="en-US" sz="2200" b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,</a:t>
                      </a:r>
                      <a:r>
                        <a:rPr lang="en-US" sz="2200" b="0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seperti variabel, file, atau perangkat. Dan kode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Tidak boleh dijalankan bersamaan oleh lebih dari satu proses atau thread</a:t>
                      </a:r>
                      <a:endParaRPr lang="en-US" sz="2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Menjaga konsistensi data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agar tidak rusak akibat akses bersamaan dan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menghindari konflik (race condition)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saat beberapa proses mengubah data yang sama</a:t>
                      </a:r>
                      <a:endParaRPr lang="en-US" sz="2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650639"/>
                  </a:ext>
                </a:extLst>
              </a:tr>
              <a:tr h="17129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Mutual Exclusion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Prinsip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atau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mekanisme</a:t>
                      </a:r>
                      <a:r>
                        <a:rPr lang="en-US" sz="2200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atau </a:t>
                      </a:r>
                      <a:r>
                        <a:rPr lang="en-US" sz="22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alat</a:t>
                      </a:r>
                      <a:r>
                        <a:rPr lang="en-US" sz="2200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yang memastikan 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bahwa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hanya satu proses yang boleh mengakses critical section pada suatu waktu</a:t>
                      </a:r>
                      <a:endParaRPr lang="en-US" sz="2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Untuk </a:t>
                      </a:r>
                      <a:r>
                        <a:rPr lang="en-US" sz="2200" b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mencegah terjadinya konflik</a:t>
                      </a:r>
                      <a:r>
                        <a:rPr lang="en-US" sz="22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 dalam penggunaan sumber daya bersama</a:t>
                      </a:r>
                      <a:endParaRPr lang="en-US" sz="220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13988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227016" y="2751487"/>
            <a:ext cx="224010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Dibawah ini adalah prinsip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turan, mekanisme dan toolsnya untuk menghindari terjadinya kegagalan</a:t>
            </a:r>
            <a:endParaRPr lang="en-US" sz="32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8686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Terms Used in Synchronization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641264"/>
              </p:ext>
            </p:extLst>
          </p:nvPr>
        </p:nvGraphicFramePr>
        <p:xfrm>
          <a:off x="605224" y="3734932"/>
          <a:ext cx="23242328" cy="8268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2536">
                  <a:extLst>
                    <a:ext uri="{9D8B030D-6E8A-4147-A177-3AD203B41FA5}">
                      <a16:colId xmlns:a16="http://schemas.microsoft.com/office/drawing/2014/main" val="3288577740"/>
                    </a:ext>
                  </a:extLst>
                </a:gridCol>
                <a:gridCol w="10405872">
                  <a:extLst>
                    <a:ext uri="{9D8B030D-6E8A-4147-A177-3AD203B41FA5}">
                      <a16:colId xmlns:a16="http://schemas.microsoft.com/office/drawing/2014/main" val="2528452036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1006504144"/>
                    </a:ext>
                  </a:extLst>
                </a:gridCol>
              </a:tblGrid>
              <a:tr h="788052"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Concurrency Management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Definisi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Tujuan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313524"/>
                  </a:ext>
                </a:extLst>
              </a:tr>
              <a:tr h="21905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7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Semaphore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Variabel integer yang digunakan untuk memberi sinyal antar proses (melalui operasi </a:t>
                      </a:r>
                      <a:r>
                        <a:rPr lang="en-US" sz="25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wait </a:t>
                      </a: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dan </a:t>
                      </a:r>
                      <a:r>
                        <a:rPr lang="en-US" sz="25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signal</a:t>
                      </a: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). </a:t>
                      </a:r>
                      <a:endParaRPr lang="en-US" sz="250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Aptos" panose="020B0004020202020204" pitchFamily="34" charset="0"/>
                      </a:endParaRPr>
                    </a:p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50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Bisa </a:t>
                      </a: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berbentuk </a:t>
                      </a:r>
                      <a:r>
                        <a:rPr lang="en-US" sz="25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counting semaphore</a:t>
                      </a: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Mengatur akses ke sumber daya bersama oleh beberapa proses sekaligus.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16708"/>
                  </a:ext>
                </a:extLst>
              </a:tr>
              <a:tr h="1706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7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Binary Semaphore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Versi khusus semaphore dengan nilai hanya 0 atau 1 (</a:t>
                      </a:r>
                      <a:r>
                        <a:rPr lang="en-US" sz="2500" u="sng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mirip mutex</a:t>
                      </a: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Mengatur agar hanya satu proses yang dapat mengakses sumber daya dalam satu waktu.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650639"/>
                  </a:ext>
                </a:extLst>
              </a:tr>
              <a:tr h="17129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7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Condition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Struktur data yang memungkinkan proses atau thread menunggu sampai kondisi tertentu terpenuhi.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Sinkronisasi antar thread berdasarkan kondisi tertentu.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313988"/>
                  </a:ext>
                </a:extLst>
              </a:tr>
              <a:tr h="17129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7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Event Flags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Variabel memori khusus yang digunakan untuk menandai atau memicu kejadian tertentu.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Memberi sinyal antar thread untuk melanjutkan kerja setelah event terjadi.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54185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227016" y="2751487"/>
            <a:ext cx="224010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Dibawah ini adalah prinsip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turan, mekanisme dan toolsnya untuk menghindari terjadinya kegagalan</a:t>
            </a:r>
            <a:endParaRPr lang="en-US" sz="32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5884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Terms Used in Synchronization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781607"/>
              </p:ext>
            </p:extLst>
          </p:nvPr>
        </p:nvGraphicFramePr>
        <p:xfrm>
          <a:off x="605224" y="3734932"/>
          <a:ext cx="23242328" cy="4842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2536">
                  <a:extLst>
                    <a:ext uri="{9D8B030D-6E8A-4147-A177-3AD203B41FA5}">
                      <a16:colId xmlns:a16="http://schemas.microsoft.com/office/drawing/2014/main" val="3288577740"/>
                    </a:ext>
                  </a:extLst>
                </a:gridCol>
                <a:gridCol w="10405872">
                  <a:extLst>
                    <a:ext uri="{9D8B030D-6E8A-4147-A177-3AD203B41FA5}">
                      <a16:colId xmlns:a16="http://schemas.microsoft.com/office/drawing/2014/main" val="2528452036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1006504144"/>
                    </a:ext>
                  </a:extLst>
                </a:gridCol>
              </a:tblGrid>
              <a:tr h="788052"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Concurrency Management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Definisi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Tujuan</a:t>
                      </a:r>
                      <a:endParaRPr lang="en-US" sz="2800" b="1">
                        <a:solidFill>
                          <a:schemeClr val="bg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313524"/>
                  </a:ext>
                </a:extLst>
              </a:tr>
              <a:tr h="21905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7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Mailboxes /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Mekanisme pertukaran pesan antar proses (IPC – Inter Process Communication).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Mengirim dan menerima data antar proses secara aman tanpa berbagi memori langsung.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016708"/>
                  </a:ext>
                </a:extLst>
              </a:tr>
              <a:tr h="1706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700" b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Spinlocks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Mekanisme </a:t>
                      </a:r>
                      <a:r>
                        <a:rPr lang="en-US" sz="25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busy waiting </a:t>
                      </a:r>
                      <a:r>
                        <a:rPr lang="en-US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di mana thread terus memeriksa ketersediaan lock tanpa tidur.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nn-NO" sz="250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ptos" panose="020B0004020202020204" pitchFamily="34" charset="0"/>
                        </a:rPr>
                        <a:t>Digunakan untuk locking cepat di sistem multiprosesor dengan waktu tunggu singkat.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C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650639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227016" y="2751487"/>
            <a:ext cx="224010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Dibawah ini adalah prinsip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2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</a:t>
            </a:r>
            <a:r>
              <a:rPr lang="en-US" sz="32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turan, mekanisme dan toolsnya untuk menghindari terjadinya kegagalan</a:t>
            </a:r>
            <a:endParaRPr lang="en-US" sz="3200" b="1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17800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>
                <a:latin typeface="Aptos" panose="020B0004020202020204" pitchFamily="34" charset="0"/>
              </a:rPr>
              <a:t>Mutual Exclusion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4" name="Round Diagonal Corner Rectangle 3"/>
          <p:cNvSpPr/>
          <p:nvPr/>
        </p:nvSpPr>
        <p:spPr>
          <a:xfrm>
            <a:off x="742574" y="2688336"/>
            <a:ext cx="22666066" cy="1152144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 w="12700" cap="flat">
            <a:solidFill>
              <a:schemeClr val="accent5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84990" y="2941242"/>
            <a:ext cx="892744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4000" b="1" smtClean="0">
                <a:solidFill>
                  <a:schemeClr val="bg1"/>
                </a:solidFill>
                <a:latin typeface="Aptos" panose="020B0004020202020204" pitchFamily="34" charset="0"/>
              </a:rPr>
              <a:t>Mutual Exclusion: Software Approach</a:t>
            </a:r>
            <a:endParaRPr lang="en-US" sz="4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2574" y="3953893"/>
            <a:ext cx="1158353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Pendekatan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software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menggunakan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algoritma logika (tanpa bantuan perangkat keras khusus)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untuk memastikan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hanya satu proses yang berada di critical section pada satu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waktu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Semua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pengendalian dilakukan melalui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kode program atau variabel bersama (shared variables)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574" y="8632423"/>
            <a:ext cx="1158353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u="sng">
                <a:solidFill>
                  <a:srgbClr val="FF0000"/>
                </a:solidFill>
                <a:latin typeface="Aptos" panose="020B0004020202020204" pitchFamily="34" charset="0"/>
              </a:rPr>
              <a:t>Contoh Algoritma</a:t>
            </a:r>
          </a:p>
          <a:p>
            <a:pPr marL="514350" lvl="0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Dekker’s Algorithm</a:t>
            </a: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Menggunakan dua variabel </a:t>
            </a:r>
            <a:r>
              <a:rPr lang="en-US" altLang="en-US" sz="28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flag[i]</a:t>
            </a: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dan turn untuk mengatur giliran antar dua proses.</a:t>
            </a:r>
          </a:p>
          <a:p>
            <a:pPr marL="514350" lvl="0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Peterson’s Algorithm</a:t>
            </a: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alt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Versi yang lebih efisien dan mudah dipahami untuk dua proses.</a:t>
            </a:r>
          </a:p>
          <a:p>
            <a:pPr lvl="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533120" y="4102906"/>
            <a:ext cx="987552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Kekurangan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Kompleks jika proses &gt;2.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Membutuhkan </a:t>
            </a:r>
            <a:r>
              <a:rPr lang="en-US" sz="28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busy waiting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(proses menunggu aktif).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Tidak efisien di sistem multiprosesor.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0" y="7158814"/>
            <a:ext cx="9875520" cy="5701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700" b="1" u="sng">
                <a:solidFill>
                  <a:srgbClr val="FF0000"/>
                </a:solidFill>
                <a:latin typeface="Aptos" panose="020B0004020202020204" pitchFamily="34" charset="0"/>
              </a:rPr>
              <a:t>Contoh Kasus Nyata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Sebuah </a:t>
            </a:r>
            <a:r>
              <a:rPr lang="en-US" altLang="en-US" sz="27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kasir toko kecil</a:t>
            </a:r>
            <a:r>
              <a:rPr lang="en-US" alt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memiliki dua thread:</a:t>
            </a:r>
          </a:p>
          <a:p>
            <a:pPr marL="135255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A: memperbarui stok barang.</a:t>
            </a:r>
          </a:p>
          <a:p>
            <a:pPr marL="135255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Thread B: menghitung total penjualan.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Keduanya memakai variabel yang sama </a:t>
            </a:r>
            <a:r>
              <a:rPr lang="en-US" altLang="en-US" sz="2700" b="1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(jumlah_barang_tersisa</a:t>
            </a:r>
            <a:r>
              <a:rPr lang="en-US" altLang="en-US" sz="2700" b="1" i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</a:t>
            </a:r>
            <a:r>
              <a:rPr lang="en-US" alt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7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Dengan </a:t>
            </a:r>
            <a:r>
              <a:rPr lang="en-US" altLang="en-US" sz="27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Peterson’s Algorithm</a:t>
            </a:r>
            <a:r>
              <a:rPr lang="en-US" altLang="en-US" sz="27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sistem menjamin hanya satu thread yang dapat mengakses variabel tersebut pada satu waktu, sehingga data stok tidak salah.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2902184" y="4261104"/>
            <a:ext cx="18288" cy="8375904"/>
          </a:xfrm>
          <a:prstGeom prst="line">
            <a:avLst/>
          </a:prstGeom>
          <a:noFill/>
          <a:ln w="25400" cap="flat">
            <a:solidFill>
              <a:schemeClr val="accent5">
                <a:lumMod val="50000"/>
              </a:schemeClr>
            </a:solidFill>
            <a:prstDash val="dash"/>
            <a:miter lim="400000"/>
            <a:headEnd type="oval" w="med" len="med"/>
            <a:tailEnd type="oval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19916233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Diagonal Corner Rectangle 3"/>
          <p:cNvSpPr/>
          <p:nvPr/>
        </p:nvSpPr>
        <p:spPr>
          <a:xfrm>
            <a:off x="742574" y="2688336"/>
            <a:ext cx="22666066" cy="1152144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F2B800"/>
          </a:solidFill>
          <a:ln w="12700" cap="flat">
            <a:solidFill>
              <a:srgbClr val="8E73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84990" y="2941242"/>
            <a:ext cx="912140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4000" b="1" smtClean="0">
                <a:solidFill>
                  <a:schemeClr val="bg1"/>
                </a:solidFill>
                <a:latin typeface="Aptos" panose="020B0004020202020204" pitchFamily="34" charset="0"/>
              </a:rPr>
              <a:t>Mutual Exclusion: Hardware Approach</a:t>
            </a:r>
            <a:endParaRPr lang="en-US" sz="4000" b="1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2574" y="3953893"/>
            <a:ext cx="1158353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Pendekatan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hardware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menggunakan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instruksi khusus dari prosesor (CPU)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untuk mengatur </a:t>
            </a:r>
            <a:r>
              <a:rPr lang="en-US" sz="28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locking mechanism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secara 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otomatis.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Tujuannya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membuat operasi pada memori menjadi </a:t>
            </a:r>
            <a:r>
              <a:rPr lang="en-US" sz="2800" b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atomic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tidak bisa diinterupsi oleh proses lain.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33120" y="4102906"/>
            <a:ext cx="98755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Kekurangan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Butuh 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dukungan arsitektur hardware tertentu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42574" y="7913947"/>
            <a:ext cx="2266606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u="sng" smtClean="0">
                <a:solidFill>
                  <a:srgbClr val="FF0000"/>
                </a:solidFill>
                <a:latin typeface="Aptos" panose="020B0004020202020204" pitchFamily="34" charset="0"/>
              </a:rPr>
              <a:t>Contoh Kasus Nyata</a:t>
            </a: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 sistem operasi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Linux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atau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Windows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ketika beberapa thread mengakses variabel global pada </a:t>
            </a:r>
            <a:r>
              <a:rPr lang="en-US" sz="2800" i="1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kernel</a:t>
            </a:r>
            <a:endParaRPr 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457200" lvl="0" indent="-4572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Contohnya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saat beberapa proses mencoba mengakses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tabel file sistem (file system table)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hanya satu proses yang diizinkan menulis pada suatu waktu</a:t>
            </a:r>
            <a:r>
              <a:rPr lang="en-US" sz="28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altLang="en-US" sz="28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902184" y="4261104"/>
            <a:ext cx="18288" cy="3907421"/>
          </a:xfrm>
          <a:prstGeom prst="line">
            <a:avLst/>
          </a:prstGeom>
          <a:noFill/>
          <a:ln w="25400" cap="flat">
            <a:solidFill>
              <a:srgbClr val="F2B800"/>
            </a:solidFill>
            <a:prstDash val="dash"/>
            <a:miter lim="400000"/>
            <a:headEnd type="oval" w="med" len="med"/>
            <a:tailEnd type="oval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smtClean="0">
                <a:latin typeface="Aptos" panose="020B0004020202020204" pitchFamily="34" charset="0"/>
              </a:rPr>
              <a:t>Mutual Exclusion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3531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13104" y="3687320"/>
            <a:ext cx="21994368" cy="6874831"/>
          </a:xfrm>
          <a:prstGeom prst="rect">
            <a:avLst/>
          </a:prstGeom>
          <a:solidFill>
            <a:srgbClr val="FFFAE7"/>
          </a:solidFill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</a:t>
            </a:r>
            <a:r>
              <a:rPr lang="en-US" sz="33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: Sistem Bank Online</a:t>
            </a:r>
            <a:endParaRPr lang="en-US" sz="3300" u="sng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427163" indent="-531813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Dua nasabah melakukan transaksi pada rekening yang sama di waktu bersamaan (misalnya satu melakukan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transfer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, yang lain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cek saldo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).</a:t>
            </a:r>
          </a:p>
          <a:p>
            <a:pPr marL="1427163" indent="-531813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Kedua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proses mengakses data saldo yang sama (shared resource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).</a:t>
            </a:r>
          </a:p>
          <a:p>
            <a:pPr marL="1427163" indent="-531813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Tanpa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concurrency management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(misalnya mutex atau semaphore), nilai saldo bisa menjadi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tidak konsisten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karena terjadi 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race condition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 smtClean="0">
                <a:solidFill>
                  <a:srgbClr val="0070C0"/>
                </a:solidFill>
                <a:latin typeface="Aptos" panose="020B0004020202020204" pitchFamily="34" charset="0"/>
              </a:rPr>
              <a:t>Solusi</a:t>
            </a:r>
            <a:r>
              <a:rPr lang="en-US" sz="3300" b="1">
                <a:solidFill>
                  <a:srgbClr val="0070C0"/>
                </a:solidFill>
                <a:latin typeface="Aptos" panose="020B0004020202020204" pitchFamily="34" charset="0"/>
              </a:rPr>
              <a:t>: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Sistem harus menerapkan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critical section 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dan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mekanisme penguncian (mutex/lock)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agar satu transaksi selesai lebih dulu sebelum transaksi lain memproses data yang sama.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13104" y="2844720"/>
            <a:ext cx="52998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4000" b="1">
                <a:solidFill>
                  <a:srgbClr val="FF0000"/>
                </a:solidFill>
                <a:latin typeface="Aptos" panose="020B0004020202020204" pitchFamily="34" charset="0"/>
              </a:rPr>
              <a:t>Model </a:t>
            </a:r>
            <a:r>
              <a:rPr lang="en-US" sz="4000" b="1" smtClean="0">
                <a:solidFill>
                  <a:srgbClr val="FF0000"/>
                </a:solidFill>
                <a:latin typeface="Aptos" panose="020B0004020202020204" pitchFamily="34" charset="0"/>
              </a:rPr>
              <a:t>Kasus - Analogi</a:t>
            </a:r>
            <a:endParaRPr lang="en-US" sz="4000" b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Concurrency Management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8901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13104" y="3687320"/>
            <a:ext cx="21994368" cy="8979381"/>
          </a:xfrm>
          <a:prstGeom prst="rect">
            <a:avLst/>
          </a:prstGeom>
          <a:solidFill>
            <a:srgbClr val="FFFAE7"/>
          </a:solidFill>
        </p:spPr>
        <p:txBody>
          <a:bodyPr wrap="square">
            <a:spAutoFit/>
          </a:bodyPr>
          <a:lstStyle/>
          <a:p>
            <a:pPr marL="571500" indent="-4794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Contoh: </a:t>
            </a:r>
            <a:r>
              <a:rPr lang="en-US" sz="33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File Management System</a:t>
            </a:r>
            <a:endParaRPr lang="en-US" sz="3300" u="sng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427163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Dalam aplikasi yang mengelola penyimpanan file atau 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file sharing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, 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Ketika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dua pengguna mencoba mengedit file yang sama di sistem penyimpanan 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cloud.</a:t>
            </a:r>
          </a:p>
          <a:p>
            <a:pPr marL="1427163" indent="-57150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Hanya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satu pengguna yang dapat menulis perubahan ke file pada satu waktu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30225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300" b="1" smtClean="0">
                <a:solidFill>
                  <a:srgbClr val="0070C0"/>
                </a:solidFill>
                <a:latin typeface="Aptos" panose="020B0004020202020204" pitchFamily="34" charset="0"/>
              </a:rPr>
              <a:t>Solusi:</a:t>
            </a:r>
          </a:p>
          <a:p>
            <a:pPr marL="1427163" indent="-531813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Menggunakan </a:t>
            </a:r>
            <a:r>
              <a:rPr lang="en-US" sz="33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mutex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untuk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memastikan bahwa file yang sama 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tidak dimodifikasi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oleh beberapa pengguna secara 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bersamaan. </a:t>
            </a:r>
            <a:r>
              <a:rPr lang="en-US" sz="33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Mutex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 digunakan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untuk 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mengunci file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tersebut sehingga 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hanya satu pengguna 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yang dapat menulis perubahan ke file </a:t>
            </a: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pada satu </a:t>
            </a:r>
            <a:r>
              <a:rPr lang="en-US" sz="3300" b="1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waktu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1427163" indent="-531813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3300" b="1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Setelah pengguna pertama selesai dan mutex dilepas</a:t>
            </a:r>
            <a:r>
              <a:rPr lang="en-US" sz="330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, pengguna lain bisa mulai mengedit file </a:t>
            </a:r>
            <a:r>
              <a:rPr lang="en-US" sz="3300" smtClean="0">
                <a:solidFill>
                  <a:schemeClr val="tx1">
                    <a:lumMod val="50000"/>
                  </a:schemeClr>
                </a:solidFill>
                <a:latin typeface="Aptos" panose="020B0004020202020204" pitchFamily="34" charset="0"/>
              </a:rPr>
              <a:t>tersebut.</a:t>
            </a:r>
            <a:endParaRPr lang="en-US" sz="3300" b="1" smtClean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213104" y="2844720"/>
            <a:ext cx="52998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4000" b="1">
                <a:solidFill>
                  <a:srgbClr val="FF0000"/>
                </a:solidFill>
                <a:latin typeface="Aptos" panose="020B0004020202020204" pitchFamily="34" charset="0"/>
              </a:rPr>
              <a:t>Model </a:t>
            </a:r>
            <a:r>
              <a:rPr lang="en-US" sz="4000" b="1" smtClean="0">
                <a:solidFill>
                  <a:srgbClr val="FF0000"/>
                </a:solidFill>
                <a:latin typeface="Aptos" panose="020B0004020202020204" pitchFamily="34" charset="0"/>
              </a:rPr>
              <a:t>Kasus - Analogi</a:t>
            </a:r>
            <a:endParaRPr lang="en-US" sz="4000" b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Concurrency Management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52857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13104" y="2844720"/>
            <a:ext cx="529984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4000" b="1">
                <a:solidFill>
                  <a:srgbClr val="FF0000"/>
                </a:solidFill>
                <a:latin typeface="Aptos" panose="020B0004020202020204" pitchFamily="34" charset="0"/>
              </a:rPr>
              <a:t>Model </a:t>
            </a:r>
            <a:r>
              <a:rPr lang="en-US" sz="4000" b="1" smtClean="0">
                <a:solidFill>
                  <a:srgbClr val="FF0000"/>
                </a:solidFill>
                <a:latin typeface="Aptos" panose="020B0004020202020204" pitchFamily="34" charset="0"/>
              </a:rPr>
              <a:t>Kasus - Analogi</a:t>
            </a:r>
            <a:endParaRPr lang="en-US" sz="4000" b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13104" y="3729992"/>
            <a:ext cx="21994368" cy="4016484"/>
          </a:xfrm>
          <a:prstGeom prst="rect">
            <a:avLst/>
          </a:prstGeom>
          <a:solidFill>
            <a:srgbClr val="FFFAE7"/>
          </a:solidFill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u="sng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Contoh: </a:t>
            </a:r>
            <a:r>
              <a:rPr lang="en-US" sz="3400" b="1" u="sng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Printer Management</a:t>
            </a:r>
            <a:endParaRPr lang="en-US" sz="3400" u="sng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1517650" indent="-6223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Dalam sistem antrian printer kantor, proses prioritas tinggi (dokumen penting manajer) terus </a:t>
            </a:r>
            <a:r>
              <a:rPr lang="en-US" sz="3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dicetak, sementara </a:t>
            </a:r>
            <a:r>
              <a:rPr lang="en-US" sz="3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dokumen staf biasa tidak pernah mendapat giliran</a:t>
            </a:r>
            <a:r>
              <a:rPr lang="en-US" sz="3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400" b="1" smtClean="0">
                <a:solidFill>
                  <a:srgbClr val="0070C0"/>
                </a:solidFill>
                <a:latin typeface="Aptos" panose="020B0004020202020204" pitchFamily="34" charset="0"/>
              </a:rPr>
              <a:t>Solusi</a:t>
            </a:r>
            <a:r>
              <a:rPr lang="en-US" sz="3400" b="1">
                <a:solidFill>
                  <a:srgbClr val="0070C0"/>
                </a:solidFill>
                <a:latin typeface="Aptos" panose="020B0004020202020204" pitchFamily="34" charset="0"/>
              </a:rPr>
              <a:t>:</a:t>
            </a:r>
            <a:r>
              <a:rPr lang="en-US" sz="3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/>
            </a:r>
            <a:br>
              <a:rPr lang="en-US" sz="3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US" sz="3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Menggunakan </a:t>
            </a:r>
            <a:r>
              <a:rPr lang="en-US" sz="3400" b="1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aging</a:t>
            </a:r>
            <a:r>
              <a:rPr lang="en-US" sz="340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 (menaikkan prioritas proses yang menunggu terlalu lama)</a:t>
            </a:r>
            <a:r>
              <a:rPr lang="en-US" sz="3400" smtClean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.</a:t>
            </a:r>
            <a:endParaRPr lang="en-US" sz="340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>
                <a:latin typeface="Aptos" panose="020B0004020202020204" pitchFamily="34" charset="0"/>
              </a:rPr>
              <a:t>Concurrency Management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5037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References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8FC85-AB76-CFC5-D4ED-B50A93C39C06}"/>
              </a:ext>
            </a:extLst>
          </p:cNvPr>
          <p:cNvSpPr txBox="1">
            <a:spLocks/>
          </p:cNvSpPr>
          <p:nvPr/>
        </p:nvSpPr>
        <p:spPr>
          <a:xfrm>
            <a:off x="2720937" y="3989490"/>
            <a:ext cx="17556480" cy="9786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Stallings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, W. (201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). 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Operating Systems: Internals and Design Principles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. 8</a:t>
            </a:r>
            <a: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th. </a:t>
            </a:r>
            <a:b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ISBN: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 978-0-13-380591-8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Abraham Silberschatz, Peter B. Galvin, Greg Gagne (201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8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). Operating System Concepts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10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th ed.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 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</a:rPr>
              <a:t>ISBN: 978-1-119-32091-3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A. Tanenbaum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 and H. Bos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(20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15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), Modern Operating System,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4th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  ISBN: 978-0-13-359162-0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rPr>
              <a:t> 	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0B00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99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2594</TotalTime>
  <Words>1709</Words>
  <Application>Microsoft Office PowerPoint</Application>
  <PresentationFormat>Custom</PresentationFormat>
  <Paragraphs>197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Helvetica Neue Medium</vt:lpstr>
      <vt:lpstr>Helvetica Neue</vt:lpstr>
      <vt:lpstr>Arial</vt:lpstr>
      <vt:lpstr>Open Sans ExtraBold</vt:lpstr>
      <vt:lpstr>Open Sans Light</vt:lpstr>
      <vt:lpstr>Open Sans Semibold</vt:lpstr>
      <vt:lpstr>OCRB</vt:lpstr>
      <vt:lpstr>Open Sans</vt:lpstr>
      <vt:lpstr>Wingdings</vt:lpstr>
      <vt:lpstr>Aptos</vt:lpstr>
      <vt:lpstr>21_BasicWhite</vt:lpstr>
      <vt:lpstr>COncurrency</vt:lpstr>
      <vt:lpstr>Fundamental concepts of operating system design</vt:lpstr>
      <vt:lpstr>Fundamental concepts of operating system design</vt:lpstr>
      <vt:lpstr>background</vt:lpstr>
      <vt:lpstr>definition</vt:lpstr>
      <vt:lpstr>What are the differences between these four?</vt:lpstr>
      <vt:lpstr>Concurrency arises  in three different contexts</vt:lpstr>
      <vt:lpstr>Concurrency arises  in three different contexts</vt:lpstr>
      <vt:lpstr>Ilustration</vt:lpstr>
      <vt:lpstr>Concurrency Management</vt:lpstr>
      <vt:lpstr>Concurrency Management</vt:lpstr>
      <vt:lpstr>Terms Used in Synchronization</vt:lpstr>
      <vt:lpstr>Terms Used in Synchronization</vt:lpstr>
      <vt:lpstr>Terms Used in Synchronization</vt:lpstr>
      <vt:lpstr>Mutual Exclusion</vt:lpstr>
      <vt:lpstr>Mutual Exclusion</vt:lpstr>
      <vt:lpstr>Concurrency Management</vt:lpstr>
      <vt:lpstr>Concurrency Management</vt:lpstr>
      <vt:lpstr>Concurrency Management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Fachri Riyanto</dc:creator>
  <cp:lastModifiedBy>Muhammad Ihsan Arief Nurhakim</cp:lastModifiedBy>
  <cp:revision>39</cp:revision>
  <dcterms:created xsi:type="dcterms:W3CDTF">2023-03-03T09:44:40Z</dcterms:created>
  <dcterms:modified xsi:type="dcterms:W3CDTF">2026-10-18T16:37:12Z</dcterms:modified>
</cp:coreProperties>
</file>