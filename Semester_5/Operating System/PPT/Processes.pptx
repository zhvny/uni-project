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9"/>
  </p:notesMasterIdLst>
  <p:sldIdLst>
    <p:sldId id="256" r:id="rId2"/>
    <p:sldId id="258" r:id="rId3"/>
    <p:sldId id="260" r:id="rId4"/>
    <p:sldId id="261" r:id="rId5"/>
    <p:sldId id="262" r:id="rId6"/>
    <p:sldId id="304" r:id="rId7"/>
    <p:sldId id="319" r:id="rId8"/>
    <p:sldId id="320" r:id="rId9"/>
    <p:sldId id="321" r:id="rId10"/>
    <p:sldId id="307" r:id="rId11"/>
    <p:sldId id="263" r:id="rId12"/>
    <p:sldId id="265" r:id="rId13"/>
    <p:sldId id="305" r:id="rId14"/>
    <p:sldId id="266" r:id="rId15"/>
    <p:sldId id="267" r:id="rId16"/>
    <p:sldId id="310" r:id="rId17"/>
    <p:sldId id="323" r:id="rId18"/>
    <p:sldId id="322" r:id="rId19"/>
    <p:sldId id="271" r:id="rId20"/>
    <p:sldId id="324" r:id="rId21"/>
    <p:sldId id="268" r:id="rId22"/>
    <p:sldId id="269" r:id="rId23"/>
    <p:sldId id="325" r:id="rId24"/>
    <p:sldId id="272" r:id="rId25"/>
    <p:sldId id="326" r:id="rId26"/>
    <p:sldId id="311" r:id="rId27"/>
    <p:sldId id="273" r:id="rId28"/>
    <p:sldId id="274" r:id="rId29"/>
    <p:sldId id="334" r:id="rId30"/>
    <p:sldId id="327" r:id="rId31"/>
    <p:sldId id="312" r:id="rId32"/>
    <p:sldId id="314" r:id="rId33"/>
    <p:sldId id="315" r:id="rId34"/>
    <p:sldId id="316" r:id="rId35"/>
    <p:sldId id="330" r:id="rId36"/>
    <p:sldId id="331" r:id="rId37"/>
    <p:sldId id="332" r:id="rId38"/>
    <p:sldId id="333" r:id="rId39"/>
    <p:sldId id="317" r:id="rId40"/>
    <p:sldId id="318" r:id="rId41"/>
    <p:sldId id="283" r:id="rId42"/>
    <p:sldId id="290" r:id="rId43"/>
    <p:sldId id="289" r:id="rId44"/>
    <p:sldId id="291" r:id="rId45"/>
    <p:sldId id="292" r:id="rId46"/>
    <p:sldId id="306" r:id="rId47"/>
    <p:sldId id="303" r:id="rId48"/>
  </p:sldIdLst>
  <p:sldSz cx="24384000" cy="13716000"/>
  <p:notesSz cx="6858000" cy="9144000"/>
  <p:embeddedFontLst>
    <p:embeddedFont>
      <p:font typeface="Open Sans Light" panose="020B0604020202020204" charset="0"/>
      <p:regular r:id="rId50"/>
      <p:italic r:id="rId51"/>
    </p:embeddedFont>
    <p:embeddedFont>
      <p:font typeface="Calibri" panose="020F0502020204030204" pitchFamily="34" charset="0"/>
      <p:regular r:id="rId52"/>
      <p:bold r:id="rId53"/>
      <p:italic r:id="rId54"/>
      <p:boldItalic r:id="rId55"/>
    </p:embeddedFont>
    <p:embeddedFont>
      <p:font typeface=" Italic" panose="020B0003030000020004" pitchFamily="34" charset="0"/>
      <p:italic r:id="rId56"/>
      <p:boldItalic r:id="rId57"/>
    </p:embeddedFont>
    <p:embeddedFont>
      <p:font typeface="Open Sans ExtraBold" panose="020B0604020202020204" charset="0"/>
      <p:bold r:id="rId58"/>
      <p:italic r:id="rId59"/>
      <p:boldItalic r:id="rId60"/>
    </p:embeddedFont>
    <p:embeddedFont>
      <p:font typeface="OCRB" panose="020B0604020202020204" charset="0"/>
      <p:regular r:id="rId61"/>
    </p:embeddedFont>
    <p:embeddedFont>
      <p:font typeface="Open Sans" panose="020B0604020202020204" charset="0"/>
      <p:regular r:id="rId62"/>
      <p:bold r:id="rId63"/>
      <p:italic r:id="rId64"/>
      <p:boldItalic r:id="rId65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FDFA"/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81" autoAdjust="0"/>
    <p:restoredTop sz="93905" autoAdjust="0"/>
  </p:normalViewPr>
  <p:slideViewPr>
    <p:cSldViewPr snapToGrid="0" snapToObjects="1">
      <p:cViewPr varScale="1">
        <p:scale>
          <a:sx n="39" d="100"/>
          <a:sy n="39" d="100"/>
        </p:scale>
        <p:origin x="850" y="82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4.fntdata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4.fntdata"/><Relationship Id="rId58" Type="http://schemas.openxmlformats.org/officeDocument/2006/relationships/font" Target="fonts/font9.fntdata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font" Target="fonts/font12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7.fntdata"/><Relationship Id="rId64" Type="http://schemas.openxmlformats.org/officeDocument/2006/relationships/font" Target="fonts/font15.fntdata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0.fntdata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5.fntdata"/><Relationship Id="rId62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57" Type="http://schemas.openxmlformats.org/officeDocument/2006/relationships/font" Target="fonts/font8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3.fntdata"/><Relationship Id="rId60" Type="http://schemas.openxmlformats.org/officeDocument/2006/relationships/font" Target="fonts/font11.fntdata"/><Relationship Id="rId65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font" Target="fonts/font1.fntdata"/><Relationship Id="rId55" Type="http://schemas.openxmlformats.org/officeDocument/2006/relationships/font" Target="fonts/font6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31C334-AF11-3542-8C59-02AACA818E6A}" type="doc">
      <dgm:prSet loTypeId="urn:microsoft.com/office/officeart/2005/8/layout/hList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D1E7E1C-1A61-644F-80B9-C9E770F86FC9}">
      <dgm:prSet/>
      <dgm:spPr>
        <a:solidFill>
          <a:srgbClr val="0070C0"/>
        </a:solidFill>
      </dgm:spPr>
      <dgm:t>
        <a:bodyPr/>
        <a:lstStyle/>
        <a:p>
          <a:pPr rtl="0"/>
          <a:r>
            <a:rPr lang="en-US" b="1" i="1" dirty="0"/>
            <a:t>Process spawning</a:t>
          </a:r>
          <a:endParaRPr lang="en-US" dirty="0"/>
        </a:p>
      </dgm:t>
    </dgm:pt>
    <dgm:pt modelId="{6A3405C7-2E36-2E4D-AF8C-9D4AE8F645B0}" type="parTrans" cxnId="{AF843B3F-6031-A747-A9BE-5F055E43CA33}">
      <dgm:prSet/>
      <dgm:spPr/>
      <dgm:t>
        <a:bodyPr/>
        <a:lstStyle/>
        <a:p>
          <a:endParaRPr lang="en-US"/>
        </a:p>
      </dgm:t>
    </dgm:pt>
    <dgm:pt modelId="{90E8D42C-57D6-4F41-A553-0CEB155CE500}" type="sibTrans" cxnId="{AF843B3F-6031-A747-A9BE-5F055E43CA33}">
      <dgm:prSet/>
      <dgm:spPr/>
      <dgm:t>
        <a:bodyPr/>
        <a:lstStyle/>
        <a:p>
          <a:endParaRPr lang="en-US"/>
        </a:p>
      </dgm:t>
    </dgm:pt>
    <dgm:pt modelId="{1C2237B4-0F8E-2941-A3BA-092D9D2BD042}">
      <dgm:prSet custT="1"/>
      <dgm:spPr>
        <a:solidFill>
          <a:schemeClr val="bg1"/>
        </a:solidFill>
        <a:ln>
          <a:noFill/>
        </a:ln>
      </dgm:spPr>
      <dgm:t>
        <a:bodyPr/>
        <a:lstStyle/>
        <a:p>
          <a:pPr marL="361950" indent="-361950" rtl="0"/>
          <a:r>
            <a:rPr lang="fi-FI" sz="4800" dirty="0" smtClean="0"/>
            <a:t>Saat OS membuat proses atas </a:t>
          </a:r>
          <a:r>
            <a:rPr lang="fi-FI" sz="4800" b="1" dirty="0" smtClean="0"/>
            <a:t>permintaan eksplisit </a:t>
          </a:r>
          <a:r>
            <a:rPr lang="fi-FI" sz="4800" dirty="0" smtClean="0"/>
            <a:t>dari proses lain</a:t>
          </a:r>
          <a:endParaRPr lang="en-NZ" sz="4800" b="1" i="1" dirty="0"/>
        </a:p>
      </dgm:t>
    </dgm:pt>
    <dgm:pt modelId="{C08496CE-D553-E440-80BB-72B3C7632A65}" type="parTrans" cxnId="{A4EAA01F-4E9E-C746-879A-CEAB74D1B356}">
      <dgm:prSet/>
      <dgm:spPr/>
      <dgm:t>
        <a:bodyPr/>
        <a:lstStyle/>
        <a:p>
          <a:endParaRPr lang="en-US"/>
        </a:p>
      </dgm:t>
    </dgm:pt>
    <dgm:pt modelId="{660E20E5-A02C-0F47-BBC0-CED7556C02D8}" type="sibTrans" cxnId="{A4EAA01F-4E9E-C746-879A-CEAB74D1B356}">
      <dgm:prSet/>
      <dgm:spPr/>
      <dgm:t>
        <a:bodyPr/>
        <a:lstStyle/>
        <a:p>
          <a:endParaRPr lang="en-US"/>
        </a:p>
      </dgm:t>
    </dgm:pt>
    <dgm:pt modelId="{92B932D3-E2E3-3E4F-B639-04EAC8B67265}">
      <dgm:prSet/>
      <dgm:spPr>
        <a:solidFill>
          <a:srgbClr val="0070C0"/>
        </a:solidFill>
      </dgm:spPr>
      <dgm:t>
        <a:bodyPr/>
        <a:lstStyle/>
        <a:p>
          <a:pPr rtl="0"/>
          <a:r>
            <a:rPr lang="en-US" b="1" i="1" dirty="0"/>
            <a:t>Parent process</a:t>
          </a:r>
          <a:endParaRPr lang="en-US" dirty="0"/>
        </a:p>
      </dgm:t>
    </dgm:pt>
    <dgm:pt modelId="{653244E0-F4CD-724F-A7EA-A3BB8C8D3358}" type="parTrans" cxnId="{703C341B-DDFD-1941-8C04-EC63E722421B}">
      <dgm:prSet/>
      <dgm:spPr/>
      <dgm:t>
        <a:bodyPr/>
        <a:lstStyle/>
        <a:p>
          <a:endParaRPr lang="en-US"/>
        </a:p>
      </dgm:t>
    </dgm:pt>
    <dgm:pt modelId="{D3A17F77-0C2B-EE4F-8F09-4E7D9F8AA8C6}" type="sibTrans" cxnId="{703C341B-DDFD-1941-8C04-EC63E722421B}">
      <dgm:prSet/>
      <dgm:spPr/>
      <dgm:t>
        <a:bodyPr/>
        <a:lstStyle/>
        <a:p>
          <a:endParaRPr lang="en-US"/>
        </a:p>
      </dgm:t>
    </dgm:pt>
    <dgm:pt modelId="{3B113823-13D8-0248-9A31-CA30A16088AA}">
      <dgm:prSet/>
      <dgm:spPr>
        <a:solidFill>
          <a:schemeClr val="bg1"/>
        </a:solidFill>
        <a:ln>
          <a:noFill/>
        </a:ln>
      </dgm:spPr>
      <dgm:t>
        <a:bodyPr/>
        <a:lstStyle/>
        <a:p>
          <a:pPr rtl="0"/>
          <a:r>
            <a:rPr lang="nb-NO" dirty="0" smtClean="0"/>
            <a:t>Proses </a:t>
          </a:r>
          <a:r>
            <a:rPr lang="nb-NO" i="1" dirty="0" smtClean="0"/>
            <a:t>parent</a:t>
          </a:r>
          <a:r>
            <a:rPr lang="nb-NO" dirty="0" smtClean="0"/>
            <a:t> Adalah proses asli</a:t>
          </a:r>
          <a:endParaRPr lang="en-US" dirty="0"/>
        </a:p>
      </dgm:t>
    </dgm:pt>
    <dgm:pt modelId="{51D43687-5E0F-BA48-AE6F-F654B76895B8}" type="parTrans" cxnId="{C949E86E-05FE-3D4F-A8B5-661370EB1B73}">
      <dgm:prSet/>
      <dgm:spPr/>
      <dgm:t>
        <a:bodyPr/>
        <a:lstStyle/>
        <a:p>
          <a:endParaRPr lang="en-US"/>
        </a:p>
      </dgm:t>
    </dgm:pt>
    <dgm:pt modelId="{5AF1763B-4594-BC47-A83F-C2C2ACA61A5C}" type="sibTrans" cxnId="{C949E86E-05FE-3D4F-A8B5-661370EB1B73}">
      <dgm:prSet/>
      <dgm:spPr/>
      <dgm:t>
        <a:bodyPr/>
        <a:lstStyle/>
        <a:p>
          <a:endParaRPr lang="en-US"/>
        </a:p>
      </dgm:t>
    </dgm:pt>
    <dgm:pt modelId="{ED327EA9-617D-874F-AE2D-F1A810D41DF1}">
      <dgm:prSet/>
      <dgm:spPr>
        <a:solidFill>
          <a:srgbClr val="0070C0"/>
        </a:solidFill>
      </dgm:spPr>
      <dgm:t>
        <a:bodyPr/>
        <a:lstStyle/>
        <a:p>
          <a:pPr rtl="0"/>
          <a:r>
            <a:rPr lang="en-US" b="1" i="1" dirty="0"/>
            <a:t>Child process </a:t>
          </a:r>
          <a:endParaRPr lang="en-US" dirty="0"/>
        </a:p>
      </dgm:t>
    </dgm:pt>
    <dgm:pt modelId="{CFFD1146-1D74-744E-9489-D7E3933DB7B2}" type="parTrans" cxnId="{2913DAFB-5020-3143-A403-52DCDDBFBD97}">
      <dgm:prSet/>
      <dgm:spPr/>
      <dgm:t>
        <a:bodyPr/>
        <a:lstStyle/>
        <a:p>
          <a:endParaRPr lang="en-US"/>
        </a:p>
      </dgm:t>
    </dgm:pt>
    <dgm:pt modelId="{84657F64-6C09-DF49-8D5B-A12A22A9E488}" type="sibTrans" cxnId="{2913DAFB-5020-3143-A403-52DCDDBFBD97}">
      <dgm:prSet/>
      <dgm:spPr/>
      <dgm:t>
        <a:bodyPr/>
        <a:lstStyle/>
        <a:p>
          <a:endParaRPr lang="en-US"/>
        </a:p>
      </dgm:t>
    </dgm:pt>
    <dgm:pt modelId="{797AA155-809C-5C4E-815A-79B6CDA5DC6A}">
      <dgm:prSet/>
      <dgm:spPr>
        <a:solidFill>
          <a:schemeClr val="bg1"/>
        </a:solidFill>
        <a:ln>
          <a:noFill/>
        </a:ln>
      </dgm:spPr>
      <dgm:t>
        <a:bodyPr/>
        <a:lstStyle/>
        <a:p>
          <a:pPr rtl="0"/>
          <a:r>
            <a:rPr lang="en-US" dirty="0" err="1" smtClean="0"/>
            <a:t>Sebuah</a:t>
          </a:r>
          <a:r>
            <a:rPr lang="en-US" dirty="0" smtClean="0"/>
            <a:t> proses </a:t>
          </a:r>
          <a:r>
            <a:rPr lang="en-US" dirty="0" err="1" smtClean="0"/>
            <a:t>baru</a:t>
          </a:r>
          <a:endParaRPr lang="en-US" dirty="0"/>
        </a:p>
      </dgm:t>
    </dgm:pt>
    <dgm:pt modelId="{5361A0B3-E234-A041-8161-DD3C19FBF858}" type="parTrans" cxnId="{30BA5E2A-5D1E-4248-8710-822407BCD2E5}">
      <dgm:prSet/>
      <dgm:spPr/>
      <dgm:t>
        <a:bodyPr/>
        <a:lstStyle/>
        <a:p>
          <a:endParaRPr lang="en-US"/>
        </a:p>
      </dgm:t>
    </dgm:pt>
    <dgm:pt modelId="{14DEFE90-1527-4940-A7A6-1430E624F954}" type="sibTrans" cxnId="{30BA5E2A-5D1E-4248-8710-822407BCD2E5}">
      <dgm:prSet/>
      <dgm:spPr/>
      <dgm:t>
        <a:bodyPr/>
        <a:lstStyle/>
        <a:p>
          <a:endParaRPr lang="en-US"/>
        </a:p>
      </dgm:t>
    </dgm:pt>
    <dgm:pt modelId="{F3C9979B-06C3-7E45-BD10-6207B7A1BBF5}">
      <dgm:prSet/>
      <dgm:spPr>
        <a:solidFill>
          <a:schemeClr val="bg1"/>
        </a:solidFill>
        <a:ln>
          <a:noFill/>
        </a:ln>
      </dgm:spPr>
      <dgm:t>
        <a:bodyPr/>
        <a:lstStyle/>
        <a:p>
          <a:pPr rtl="0"/>
          <a:endParaRPr lang="en-NZ" dirty="0"/>
        </a:p>
      </dgm:t>
    </dgm:pt>
    <dgm:pt modelId="{BA78826C-F616-EA47-A677-9118C5D360C6}" type="parTrans" cxnId="{6DCEF32D-CA4D-3645-9DA0-A1B77CA73BD4}">
      <dgm:prSet/>
      <dgm:spPr/>
      <dgm:t>
        <a:bodyPr/>
        <a:lstStyle/>
        <a:p>
          <a:endParaRPr lang="en-US"/>
        </a:p>
      </dgm:t>
    </dgm:pt>
    <dgm:pt modelId="{DB87B744-1CA6-5C40-86F9-2A00A7756880}" type="sibTrans" cxnId="{6DCEF32D-CA4D-3645-9DA0-A1B77CA73BD4}">
      <dgm:prSet/>
      <dgm:spPr/>
      <dgm:t>
        <a:bodyPr/>
        <a:lstStyle/>
        <a:p>
          <a:endParaRPr lang="en-US"/>
        </a:p>
      </dgm:t>
    </dgm:pt>
    <dgm:pt modelId="{F5D36B78-1F81-EE4A-A629-A47EF8A594F4}" type="pres">
      <dgm:prSet presAssocID="{6731C334-AF11-3542-8C59-02AACA818E6A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74C8154-08E7-4447-BD1E-1681AA752A13}" type="pres">
      <dgm:prSet presAssocID="{9D1E7E1C-1A61-644F-80B9-C9E770F86FC9}" presName="composite" presStyleCnt="0"/>
      <dgm:spPr/>
    </dgm:pt>
    <dgm:pt modelId="{7012A570-2292-6042-8F87-375482494525}" type="pres">
      <dgm:prSet presAssocID="{9D1E7E1C-1A61-644F-80B9-C9E770F86FC9}" presName="parTx" presStyleLbl="alignNode1" presStyleIdx="0" presStyleCnt="3" custLinFactNeighborX="3023" custLinFactNeighborY="-1489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E5587B0-CB6B-5F49-99BC-8512D84E1718}" type="pres">
      <dgm:prSet presAssocID="{9D1E7E1C-1A61-644F-80B9-C9E770F86FC9}" presName="desTx" presStyleLbl="alignAccFollowNode1" presStyleIdx="0" presStyleCnt="3" custLinFactNeighborX="3023" custLinFactNeighborY="24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3FDB912-E463-BB43-A426-495E5C1B9F59}" type="pres">
      <dgm:prSet presAssocID="{90E8D42C-57D6-4F41-A553-0CEB155CE500}" presName="space" presStyleCnt="0"/>
      <dgm:spPr/>
    </dgm:pt>
    <dgm:pt modelId="{06FA7E0C-365E-3049-8EF9-25EB43125646}" type="pres">
      <dgm:prSet presAssocID="{92B932D3-E2E3-3E4F-B639-04EAC8B67265}" presName="composite" presStyleCnt="0"/>
      <dgm:spPr/>
    </dgm:pt>
    <dgm:pt modelId="{3B7AAAD3-B4B2-894D-BD62-FBDCA5DB86E5}" type="pres">
      <dgm:prSet presAssocID="{92B932D3-E2E3-3E4F-B639-04EAC8B67265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94610A3-C2C3-B640-879C-283BC4C4886A}" type="pres">
      <dgm:prSet presAssocID="{92B932D3-E2E3-3E4F-B639-04EAC8B67265}" presName="desTx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C752E20-1E1D-EE4F-94ED-EDF611B1745D}" type="pres">
      <dgm:prSet presAssocID="{D3A17F77-0C2B-EE4F-8F09-4E7D9F8AA8C6}" presName="space" presStyleCnt="0"/>
      <dgm:spPr/>
    </dgm:pt>
    <dgm:pt modelId="{C9D5DCC4-6884-7847-A551-EB55BE19C0CA}" type="pres">
      <dgm:prSet presAssocID="{ED327EA9-617D-874F-AE2D-F1A810D41DF1}" presName="composite" presStyleCnt="0"/>
      <dgm:spPr/>
    </dgm:pt>
    <dgm:pt modelId="{B5437CEF-732C-D940-ADAA-BDDAA09C9E8D}" type="pres">
      <dgm:prSet presAssocID="{ED327EA9-617D-874F-AE2D-F1A810D41DF1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830ED57-4DAF-3040-BF6C-9CF6B5560015}" type="pres">
      <dgm:prSet presAssocID="{ED327EA9-617D-874F-AE2D-F1A810D41DF1}" presName="desTx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A1EA2BC-9197-E047-8BD8-F52C5CF89C6E}" type="presOf" srcId="{797AA155-809C-5C4E-815A-79B6CDA5DC6A}" destId="{B830ED57-4DAF-3040-BF6C-9CF6B5560015}" srcOrd="0" destOrd="0" presId="urn:microsoft.com/office/officeart/2005/8/layout/hList1"/>
    <dgm:cxn modelId="{C949E86E-05FE-3D4F-A8B5-661370EB1B73}" srcId="{92B932D3-E2E3-3E4F-B639-04EAC8B67265}" destId="{3B113823-13D8-0248-9A31-CA30A16088AA}" srcOrd="0" destOrd="0" parTransId="{51D43687-5E0F-BA48-AE6F-F654B76895B8}" sibTransId="{5AF1763B-4594-BC47-A83F-C2C2ACA61A5C}"/>
    <dgm:cxn modelId="{CC07F658-8313-2342-9875-CF984D3F2483}" type="presOf" srcId="{3B113823-13D8-0248-9A31-CA30A16088AA}" destId="{094610A3-C2C3-B640-879C-283BC4C4886A}" srcOrd="0" destOrd="0" presId="urn:microsoft.com/office/officeart/2005/8/layout/hList1"/>
    <dgm:cxn modelId="{E3D3B6C1-E269-344E-BB98-4E64A8111C89}" type="presOf" srcId="{F3C9979B-06C3-7E45-BD10-6207B7A1BBF5}" destId="{B830ED57-4DAF-3040-BF6C-9CF6B5560015}" srcOrd="0" destOrd="1" presId="urn:microsoft.com/office/officeart/2005/8/layout/hList1"/>
    <dgm:cxn modelId="{AF843B3F-6031-A747-A9BE-5F055E43CA33}" srcId="{6731C334-AF11-3542-8C59-02AACA818E6A}" destId="{9D1E7E1C-1A61-644F-80B9-C9E770F86FC9}" srcOrd="0" destOrd="0" parTransId="{6A3405C7-2E36-2E4D-AF8C-9D4AE8F645B0}" sibTransId="{90E8D42C-57D6-4F41-A553-0CEB155CE500}"/>
    <dgm:cxn modelId="{598F4250-89B9-EF4D-A94E-E432766E65F5}" type="presOf" srcId="{ED327EA9-617D-874F-AE2D-F1A810D41DF1}" destId="{B5437CEF-732C-D940-ADAA-BDDAA09C9E8D}" srcOrd="0" destOrd="0" presId="urn:microsoft.com/office/officeart/2005/8/layout/hList1"/>
    <dgm:cxn modelId="{A4EAA01F-4E9E-C746-879A-CEAB74D1B356}" srcId="{9D1E7E1C-1A61-644F-80B9-C9E770F86FC9}" destId="{1C2237B4-0F8E-2941-A3BA-092D9D2BD042}" srcOrd="0" destOrd="0" parTransId="{C08496CE-D553-E440-80BB-72B3C7632A65}" sibTransId="{660E20E5-A02C-0F47-BBC0-CED7556C02D8}"/>
    <dgm:cxn modelId="{71AD5493-7BCF-1643-A412-C1F9EB4D0372}" type="presOf" srcId="{9D1E7E1C-1A61-644F-80B9-C9E770F86FC9}" destId="{7012A570-2292-6042-8F87-375482494525}" srcOrd="0" destOrd="0" presId="urn:microsoft.com/office/officeart/2005/8/layout/hList1"/>
    <dgm:cxn modelId="{0889CCD0-0301-DD4F-A06E-15832D815033}" type="presOf" srcId="{92B932D3-E2E3-3E4F-B639-04EAC8B67265}" destId="{3B7AAAD3-B4B2-894D-BD62-FBDCA5DB86E5}" srcOrd="0" destOrd="0" presId="urn:microsoft.com/office/officeart/2005/8/layout/hList1"/>
    <dgm:cxn modelId="{6DCEF32D-CA4D-3645-9DA0-A1B77CA73BD4}" srcId="{ED327EA9-617D-874F-AE2D-F1A810D41DF1}" destId="{F3C9979B-06C3-7E45-BD10-6207B7A1BBF5}" srcOrd="1" destOrd="0" parTransId="{BA78826C-F616-EA47-A677-9118C5D360C6}" sibTransId="{DB87B744-1CA6-5C40-86F9-2A00A7756880}"/>
    <dgm:cxn modelId="{2913DAFB-5020-3143-A403-52DCDDBFBD97}" srcId="{6731C334-AF11-3542-8C59-02AACA818E6A}" destId="{ED327EA9-617D-874F-AE2D-F1A810D41DF1}" srcOrd="2" destOrd="0" parTransId="{CFFD1146-1D74-744E-9489-D7E3933DB7B2}" sibTransId="{84657F64-6C09-DF49-8D5B-A12A22A9E488}"/>
    <dgm:cxn modelId="{82B0EDF7-4578-574E-BAF3-ADD2C8398058}" type="presOf" srcId="{1C2237B4-0F8E-2941-A3BA-092D9D2BD042}" destId="{6E5587B0-CB6B-5F49-99BC-8512D84E1718}" srcOrd="0" destOrd="0" presId="urn:microsoft.com/office/officeart/2005/8/layout/hList1"/>
    <dgm:cxn modelId="{B221ABD5-DB13-BF45-A463-6C41EC0D4CDF}" type="presOf" srcId="{6731C334-AF11-3542-8C59-02AACA818E6A}" destId="{F5D36B78-1F81-EE4A-A629-A47EF8A594F4}" srcOrd="0" destOrd="0" presId="urn:microsoft.com/office/officeart/2005/8/layout/hList1"/>
    <dgm:cxn modelId="{703C341B-DDFD-1941-8C04-EC63E722421B}" srcId="{6731C334-AF11-3542-8C59-02AACA818E6A}" destId="{92B932D3-E2E3-3E4F-B639-04EAC8B67265}" srcOrd="1" destOrd="0" parTransId="{653244E0-F4CD-724F-A7EA-A3BB8C8D3358}" sibTransId="{D3A17F77-0C2B-EE4F-8F09-4E7D9F8AA8C6}"/>
    <dgm:cxn modelId="{30BA5E2A-5D1E-4248-8710-822407BCD2E5}" srcId="{ED327EA9-617D-874F-AE2D-F1A810D41DF1}" destId="{797AA155-809C-5C4E-815A-79B6CDA5DC6A}" srcOrd="0" destOrd="0" parTransId="{5361A0B3-E234-A041-8161-DD3C19FBF858}" sibTransId="{14DEFE90-1527-4940-A7A6-1430E624F954}"/>
    <dgm:cxn modelId="{32C6298E-0907-0840-BF39-2F4437FA5480}" type="presParOf" srcId="{F5D36B78-1F81-EE4A-A629-A47EF8A594F4}" destId="{A74C8154-08E7-4447-BD1E-1681AA752A13}" srcOrd="0" destOrd="0" presId="urn:microsoft.com/office/officeart/2005/8/layout/hList1"/>
    <dgm:cxn modelId="{A01EED05-70F6-A241-AF12-737D2CB88AF4}" type="presParOf" srcId="{A74C8154-08E7-4447-BD1E-1681AA752A13}" destId="{7012A570-2292-6042-8F87-375482494525}" srcOrd="0" destOrd="0" presId="urn:microsoft.com/office/officeart/2005/8/layout/hList1"/>
    <dgm:cxn modelId="{7A9D1DB5-6219-834E-8BC4-94E46D2BBAD7}" type="presParOf" srcId="{A74C8154-08E7-4447-BD1E-1681AA752A13}" destId="{6E5587B0-CB6B-5F49-99BC-8512D84E1718}" srcOrd="1" destOrd="0" presId="urn:microsoft.com/office/officeart/2005/8/layout/hList1"/>
    <dgm:cxn modelId="{A0779B66-451A-F74E-B364-CA34421FCA39}" type="presParOf" srcId="{F5D36B78-1F81-EE4A-A629-A47EF8A594F4}" destId="{83FDB912-E463-BB43-A426-495E5C1B9F59}" srcOrd="1" destOrd="0" presId="urn:microsoft.com/office/officeart/2005/8/layout/hList1"/>
    <dgm:cxn modelId="{276C280C-899C-8649-BA67-DC925DF5E9D4}" type="presParOf" srcId="{F5D36B78-1F81-EE4A-A629-A47EF8A594F4}" destId="{06FA7E0C-365E-3049-8EF9-25EB43125646}" srcOrd="2" destOrd="0" presId="urn:microsoft.com/office/officeart/2005/8/layout/hList1"/>
    <dgm:cxn modelId="{F07F5D9E-898B-F542-BF05-E2043F69FACF}" type="presParOf" srcId="{06FA7E0C-365E-3049-8EF9-25EB43125646}" destId="{3B7AAAD3-B4B2-894D-BD62-FBDCA5DB86E5}" srcOrd="0" destOrd="0" presId="urn:microsoft.com/office/officeart/2005/8/layout/hList1"/>
    <dgm:cxn modelId="{E84F5A4C-A972-C840-8C55-CEAA20F19598}" type="presParOf" srcId="{06FA7E0C-365E-3049-8EF9-25EB43125646}" destId="{094610A3-C2C3-B640-879C-283BC4C4886A}" srcOrd="1" destOrd="0" presId="urn:microsoft.com/office/officeart/2005/8/layout/hList1"/>
    <dgm:cxn modelId="{B4C78625-FB5E-A24D-B44E-8A0D308D951E}" type="presParOf" srcId="{F5D36B78-1F81-EE4A-A629-A47EF8A594F4}" destId="{CC752E20-1E1D-EE4F-94ED-EDF611B1745D}" srcOrd="3" destOrd="0" presId="urn:microsoft.com/office/officeart/2005/8/layout/hList1"/>
    <dgm:cxn modelId="{67CE2A38-73E5-AF44-A08D-71B88808FB5C}" type="presParOf" srcId="{F5D36B78-1F81-EE4A-A629-A47EF8A594F4}" destId="{C9D5DCC4-6884-7847-A551-EB55BE19C0CA}" srcOrd="4" destOrd="0" presId="urn:microsoft.com/office/officeart/2005/8/layout/hList1"/>
    <dgm:cxn modelId="{7C0BDF64-F0B1-1941-8D1B-7F6E04B65F1D}" type="presParOf" srcId="{C9D5DCC4-6884-7847-A551-EB55BE19C0CA}" destId="{B5437CEF-732C-D940-ADAA-BDDAA09C9E8D}" srcOrd="0" destOrd="0" presId="urn:microsoft.com/office/officeart/2005/8/layout/hList1"/>
    <dgm:cxn modelId="{8B502041-55E6-D247-8A7D-6DAB86AD7993}" type="presParOf" srcId="{C9D5DCC4-6884-7847-A551-EB55BE19C0CA}" destId="{B830ED57-4DAF-3040-BF6C-9CF6B556001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CDBB81C-2E50-BF48-A4AE-72E7EA7AEDEB}" type="doc">
      <dgm:prSet loTypeId="urn:microsoft.com/office/officeart/2005/8/layout/default#1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4BCFAB0-9BDD-6A4C-BDA3-38544E1BA07C}">
      <dgm:prSet phldrT="[Text]"/>
      <dgm:spPr>
        <a:solidFill>
          <a:schemeClr val="accent6"/>
        </a:solidFill>
      </dgm:spPr>
      <dgm:t>
        <a:bodyPr/>
        <a:lstStyle/>
        <a:p>
          <a:r>
            <a:rPr lang="en-US" dirty="0"/>
            <a:t>Identifier</a:t>
          </a:r>
        </a:p>
      </dgm:t>
    </dgm:pt>
    <dgm:pt modelId="{181B9A04-3E97-AC4B-B0D3-45D2CFCF36F3}" type="parTrans" cxnId="{94B777FE-C758-B041-BF04-66700F503577}">
      <dgm:prSet/>
      <dgm:spPr/>
      <dgm:t>
        <a:bodyPr/>
        <a:lstStyle/>
        <a:p>
          <a:endParaRPr lang="en-US"/>
        </a:p>
      </dgm:t>
    </dgm:pt>
    <dgm:pt modelId="{1F5FEA36-125C-C546-BF17-E399976F0522}" type="sibTrans" cxnId="{94B777FE-C758-B041-BF04-66700F503577}">
      <dgm:prSet/>
      <dgm:spPr/>
      <dgm:t>
        <a:bodyPr/>
        <a:lstStyle/>
        <a:p>
          <a:endParaRPr lang="en-US"/>
        </a:p>
      </dgm:t>
    </dgm:pt>
    <dgm:pt modelId="{A22EA74F-013B-934F-81B5-A61D7773663C}">
      <dgm:prSet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US" dirty="0"/>
            <a:t>State</a:t>
          </a:r>
        </a:p>
      </dgm:t>
    </dgm:pt>
    <dgm:pt modelId="{11A75EB7-B46C-0F46-B791-946256687DF5}" type="parTrans" cxnId="{7B5E7862-2FCC-C04C-A1F7-1B7B624286CB}">
      <dgm:prSet/>
      <dgm:spPr/>
      <dgm:t>
        <a:bodyPr/>
        <a:lstStyle/>
        <a:p>
          <a:endParaRPr lang="en-US"/>
        </a:p>
      </dgm:t>
    </dgm:pt>
    <dgm:pt modelId="{D7C600B0-36F9-1942-89B4-6165C2B30ADA}" type="sibTrans" cxnId="{7B5E7862-2FCC-C04C-A1F7-1B7B624286CB}">
      <dgm:prSet/>
      <dgm:spPr/>
      <dgm:t>
        <a:bodyPr/>
        <a:lstStyle/>
        <a:p>
          <a:endParaRPr lang="en-US"/>
        </a:p>
      </dgm:t>
    </dgm:pt>
    <dgm:pt modelId="{E90F924F-9396-2442-BDA3-BF3934D5AB60}">
      <dgm:prSet/>
      <dgm:spPr/>
      <dgm:t>
        <a:bodyPr/>
        <a:lstStyle/>
        <a:p>
          <a:r>
            <a:rPr lang="en-US" dirty="0"/>
            <a:t>Priority</a:t>
          </a:r>
        </a:p>
      </dgm:t>
    </dgm:pt>
    <dgm:pt modelId="{8C88B6AE-623E-C34E-BC73-D913467AE923}" type="parTrans" cxnId="{D11826D9-C42F-604B-A5FB-49F75F15EF21}">
      <dgm:prSet/>
      <dgm:spPr/>
      <dgm:t>
        <a:bodyPr/>
        <a:lstStyle/>
        <a:p>
          <a:endParaRPr lang="en-US"/>
        </a:p>
      </dgm:t>
    </dgm:pt>
    <dgm:pt modelId="{60E8B68D-DBEE-FC42-B8FF-A51F1633897F}" type="sibTrans" cxnId="{D11826D9-C42F-604B-A5FB-49F75F15EF21}">
      <dgm:prSet/>
      <dgm:spPr/>
      <dgm:t>
        <a:bodyPr/>
        <a:lstStyle/>
        <a:p>
          <a:endParaRPr lang="en-US"/>
        </a:p>
      </dgm:t>
    </dgm:pt>
    <dgm:pt modelId="{715CFDD4-B3DA-BE4A-9A9E-CD0BCBFEBF8C}">
      <dgm:prSet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/>
            <a:t>Program counter</a:t>
          </a:r>
        </a:p>
      </dgm:t>
    </dgm:pt>
    <dgm:pt modelId="{6AF81781-7F0F-8049-A28E-7FEA6AB1332B}" type="parTrans" cxnId="{B62CBCC7-E483-3247-A54D-0B9E0E859E94}">
      <dgm:prSet/>
      <dgm:spPr/>
      <dgm:t>
        <a:bodyPr/>
        <a:lstStyle/>
        <a:p>
          <a:endParaRPr lang="en-US"/>
        </a:p>
      </dgm:t>
    </dgm:pt>
    <dgm:pt modelId="{3E9D0AA6-A96B-184D-B5F1-76679BE3EBAC}" type="sibTrans" cxnId="{B62CBCC7-E483-3247-A54D-0B9E0E859E94}">
      <dgm:prSet/>
      <dgm:spPr/>
      <dgm:t>
        <a:bodyPr/>
        <a:lstStyle/>
        <a:p>
          <a:endParaRPr lang="en-US"/>
        </a:p>
      </dgm:t>
    </dgm:pt>
    <dgm:pt modelId="{19C7F067-6540-364F-AF6B-A3236C627A2B}">
      <dgm:prSet/>
      <dgm:spPr>
        <a:solidFill>
          <a:srgbClr val="660066"/>
        </a:solidFill>
      </dgm:spPr>
      <dgm:t>
        <a:bodyPr/>
        <a:lstStyle/>
        <a:p>
          <a:r>
            <a:rPr lang="en-US" dirty="0"/>
            <a:t>Memory pointers</a:t>
          </a:r>
        </a:p>
      </dgm:t>
    </dgm:pt>
    <dgm:pt modelId="{29284481-9978-CA4D-B013-AA4E7E29BA25}" type="parTrans" cxnId="{D3680B97-74C3-1E42-BC94-A82A050499ED}">
      <dgm:prSet/>
      <dgm:spPr/>
      <dgm:t>
        <a:bodyPr/>
        <a:lstStyle/>
        <a:p>
          <a:endParaRPr lang="en-US"/>
        </a:p>
      </dgm:t>
    </dgm:pt>
    <dgm:pt modelId="{A080CD70-E361-284F-9C78-74B99DD4BCB6}" type="sibTrans" cxnId="{D3680B97-74C3-1E42-BC94-A82A050499ED}">
      <dgm:prSet/>
      <dgm:spPr/>
      <dgm:t>
        <a:bodyPr/>
        <a:lstStyle/>
        <a:p>
          <a:endParaRPr lang="en-US"/>
        </a:p>
      </dgm:t>
    </dgm:pt>
    <dgm:pt modelId="{0C8479D2-2CDE-6B40-A71B-1E3405C8F018}">
      <dgm:prSet/>
      <dgm:spPr>
        <a:solidFill>
          <a:schemeClr val="tx1"/>
        </a:solidFill>
      </dgm:spPr>
      <dgm:t>
        <a:bodyPr/>
        <a:lstStyle/>
        <a:p>
          <a:r>
            <a:rPr lang="en-US" dirty="0"/>
            <a:t>Context data</a:t>
          </a:r>
        </a:p>
      </dgm:t>
    </dgm:pt>
    <dgm:pt modelId="{B60EBA34-062E-F04E-BA3F-648E9A095B91}" type="parTrans" cxnId="{E94B71F2-E47D-5F42-8026-568B259FB73D}">
      <dgm:prSet/>
      <dgm:spPr/>
      <dgm:t>
        <a:bodyPr/>
        <a:lstStyle/>
        <a:p>
          <a:endParaRPr lang="en-US"/>
        </a:p>
      </dgm:t>
    </dgm:pt>
    <dgm:pt modelId="{BEFD6BE7-F3CB-CE4C-AC80-0CD3E62D3C67}" type="sibTrans" cxnId="{E94B71F2-E47D-5F42-8026-568B259FB73D}">
      <dgm:prSet/>
      <dgm:spPr/>
      <dgm:t>
        <a:bodyPr/>
        <a:lstStyle/>
        <a:p>
          <a:endParaRPr lang="en-US"/>
        </a:p>
      </dgm:t>
    </dgm:pt>
    <dgm:pt modelId="{582286A7-690C-4840-B35D-D2575D0CA780}">
      <dgm:prSet/>
      <dgm:spPr>
        <a:solidFill>
          <a:schemeClr val="tx2"/>
        </a:solidFill>
      </dgm:spPr>
      <dgm:t>
        <a:bodyPr/>
        <a:lstStyle/>
        <a:p>
          <a:r>
            <a:rPr lang="en-US" dirty="0"/>
            <a:t>I/O status information</a:t>
          </a:r>
        </a:p>
      </dgm:t>
    </dgm:pt>
    <dgm:pt modelId="{AB572F8D-D126-E24C-AF7D-C56801B4CDF1}" type="parTrans" cxnId="{32451E63-39E0-6746-A222-CACC7AF9EF8D}">
      <dgm:prSet/>
      <dgm:spPr/>
      <dgm:t>
        <a:bodyPr/>
        <a:lstStyle/>
        <a:p>
          <a:endParaRPr lang="en-US"/>
        </a:p>
      </dgm:t>
    </dgm:pt>
    <dgm:pt modelId="{0D8A5698-71EC-0B40-AA18-B8D55498C836}" type="sibTrans" cxnId="{32451E63-39E0-6746-A222-CACC7AF9EF8D}">
      <dgm:prSet/>
      <dgm:spPr/>
      <dgm:t>
        <a:bodyPr/>
        <a:lstStyle/>
        <a:p>
          <a:endParaRPr lang="en-US"/>
        </a:p>
      </dgm:t>
    </dgm:pt>
    <dgm:pt modelId="{B6242E29-052A-3A41-8102-2545FCCE8336}">
      <dgm:prSet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US" dirty="0"/>
            <a:t>Accounting information</a:t>
          </a:r>
        </a:p>
      </dgm:t>
    </dgm:pt>
    <dgm:pt modelId="{FE2AE043-DA28-CF42-AC1E-77698602D003}" type="parTrans" cxnId="{5E9E2A84-9A7D-A44C-9465-DB3354B56A81}">
      <dgm:prSet/>
      <dgm:spPr/>
      <dgm:t>
        <a:bodyPr/>
        <a:lstStyle/>
        <a:p>
          <a:endParaRPr lang="en-US"/>
        </a:p>
      </dgm:t>
    </dgm:pt>
    <dgm:pt modelId="{4E7ADB18-FE2B-6146-A7BB-7D528526954C}" type="sibTrans" cxnId="{5E9E2A84-9A7D-A44C-9465-DB3354B56A81}">
      <dgm:prSet/>
      <dgm:spPr/>
      <dgm:t>
        <a:bodyPr/>
        <a:lstStyle/>
        <a:p>
          <a:endParaRPr lang="en-US"/>
        </a:p>
      </dgm:t>
    </dgm:pt>
    <dgm:pt modelId="{685CC5D3-5A33-4348-9730-FBED9A117716}" type="pres">
      <dgm:prSet presAssocID="{ECDBB81C-2E50-BF48-A4AE-72E7EA7AEDEB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43458A4-26D2-2C44-B9FB-71A1610693F2}" type="pres">
      <dgm:prSet presAssocID="{94BCFAB0-9BDD-6A4C-BDA3-38544E1BA07C}" presName="node" presStyleLbl="node1" presStyleIdx="0" presStyleCnt="8" custScaleY="85911" custLinFactX="83129" custLinFactNeighborX="100000" custLinFactNeighborY="-2778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05486F8-265A-344C-997A-20E64C179B1B}" type="pres">
      <dgm:prSet presAssocID="{1F5FEA36-125C-C546-BF17-E399976F0522}" presName="sibTrans" presStyleCnt="0"/>
      <dgm:spPr/>
    </dgm:pt>
    <dgm:pt modelId="{FFB3EB76-2E6C-B649-857A-BF94DBD248C3}" type="pres">
      <dgm:prSet presAssocID="{A22EA74F-013B-934F-81B5-A61D7773663C}" presName="node" presStyleLbl="node1" presStyleIdx="1" presStyleCnt="8" custLinFactNeighborX="-26466" custLinFactNeighborY="6517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B3A30A3-E8E2-1740-9022-E95420533982}" type="pres">
      <dgm:prSet presAssocID="{D7C600B0-36F9-1942-89B4-6165C2B30ADA}" presName="sibTrans" presStyleCnt="0"/>
      <dgm:spPr/>
    </dgm:pt>
    <dgm:pt modelId="{F9C2771E-E09D-7E4B-8BC7-2EACC928AB9D}" type="pres">
      <dgm:prSet presAssocID="{E90F924F-9396-2442-BDA3-BF3934D5AB60}" presName="node" presStyleLbl="node1" presStyleIdx="2" presStyleCnt="8" custLinFactNeighborX="-36870" custLinFactNeighborY="6517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C4059F1-FE40-9F4A-8D0D-A07772629B23}" type="pres">
      <dgm:prSet presAssocID="{60E8B68D-DBEE-FC42-B8FF-A51F1633897F}" presName="sibTrans" presStyleCnt="0"/>
      <dgm:spPr/>
    </dgm:pt>
    <dgm:pt modelId="{B373FAC3-5061-AF49-B501-530831A6C23F}" type="pres">
      <dgm:prSet presAssocID="{715CFDD4-B3DA-BE4A-9A9E-CD0BCBFEBF8C}" presName="node" presStyleLbl="node1" presStyleIdx="3" presStyleCnt="8" custLinFactNeighborX="-47275" custLinFactNeighborY="6517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6357438-5BB6-2941-8CAF-C76EAF764FBD}" type="pres">
      <dgm:prSet presAssocID="{3E9D0AA6-A96B-184D-B5F1-76679BE3EBAC}" presName="sibTrans" presStyleCnt="0"/>
      <dgm:spPr/>
    </dgm:pt>
    <dgm:pt modelId="{C89EF9B4-EDC8-C84D-A659-29B518ACADDB}" type="pres">
      <dgm:prSet presAssocID="{19C7F067-6540-364F-AF6B-A3236C627A2B}" presName="node" presStyleLbl="node1" presStyleIdx="4" presStyleCnt="8" custLinFactNeighborX="27761" custLinFactNeighborY="481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C75E8E5-983A-6348-83ED-A5DE3C2B5ADF}" type="pres">
      <dgm:prSet presAssocID="{A080CD70-E361-284F-9C78-74B99DD4BCB6}" presName="sibTrans" presStyleCnt="0"/>
      <dgm:spPr/>
    </dgm:pt>
    <dgm:pt modelId="{5787ADE3-2B9F-7944-82CB-CE71DF883FF9}" type="pres">
      <dgm:prSet presAssocID="{0C8479D2-2CDE-6B40-A71B-1E3405C8F018}" presName="node" presStyleLbl="node1" presStyleIdx="5" presStyleCnt="8" custLinFactNeighborX="17356" custLinFactNeighborY="481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19EA49A-43C9-6648-932D-ADF84E4B4D6F}" type="pres">
      <dgm:prSet presAssocID="{BEFD6BE7-F3CB-CE4C-AC80-0CD3E62D3C67}" presName="sibTrans" presStyleCnt="0"/>
      <dgm:spPr/>
    </dgm:pt>
    <dgm:pt modelId="{F5765459-F0DD-B04E-8F83-90F8421A8211}" type="pres">
      <dgm:prSet presAssocID="{582286A7-690C-4840-B35D-D2575D0CA780}" presName="node" presStyleLbl="node1" presStyleIdx="6" presStyleCnt="8" custLinFactNeighborX="6951" custLinFactNeighborY="481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DCAB91D-9C5C-6D4E-B913-58A90D09C08A}" type="pres">
      <dgm:prSet presAssocID="{0D8A5698-71EC-0B40-AA18-B8D55498C836}" presName="sibTrans" presStyleCnt="0"/>
      <dgm:spPr/>
    </dgm:pt>
    <dgm:pt modelId="{4B2744D8-5219-FE41-ACC6-C2EE72C25ABB}" type="pres">
      <dgm:prSet presAssocID="{B6242E29-052A-3A41-8102-2545FCCE8336}" presName="node" presStyleLbl="node1" presStyleIdx="7" presStyleCnt="8" custLinFactNeighborX="-3453" custLinFactNeighborY="481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94B71F2-E47D-5F42-8026-568B259FB73D}" srcId="{ECDBB81C-2E50-BF48-A4AE-72E7EA7AEDEB}" destId="{0C8479D2-2CDE-6B40-A71B-1E3405C8F018}" srcOrd="5" destOrd="0" parTransId="{B60EBA34-062E-F04E-BA3F-648E9A095B91}" sibTransId="{BEFD6BE7-F3CB-CE4C-AC80-0CD3E62D3C67}"/>
    <dgm:cxn modelId="{32451E63-39E0-6746-A222-CACC7AF9EF8D}" srcId="{ECDBB81C-2E50-BF48-A4AE-72E7EA7AEDEB}" destId="{582286A7-690C-4840-B35D-D2575D0CA780}" srcOrd="6" destOrd="0" parTransId="{AB572F8D-D126-E24C-AF7D-C56801B4CDF1}" sibTransId="{0D8A5698-71EC-0B40-AA18-B8D55498C836}"/>
    <dgm:cxn modelId="{F8A8FCB9-EDE4-E14C-AA60-BC652F5FDC92}" type="presOf" srcId="{19C7F067-6540-364F-AF6B-A3236C627A2B}" destId="{C89EF9B4-EDC8-C84D-A659-29B518ACADDB}" srcOrd="0" destOrd="0" presId="urn:microsoft.com/office/officeart/2005/8/layout/default#1"/>
    <dgm:cxn modelId="{B62CBCC7-E483-3247-A54D-0B9E0E859E94}" srcId="{ECDBB81C-2E50-BF48-A4AE-72E7EA7AEDEB}" destId="{715CFDD4-B3DA-BE4A-9A9E-CD0BCBFEBF8C}" srcOrd="3" destOrd="0" parTransId="{6AF81781-7F0F-8049-A28E-7FEA6AB1332B}" sibTransId="{3E9D0AA6-A96B-184D-B5F1-76679BE3EBAC}"/>
    <dgm:cxn modelId="{5E9E2A84-9A7D-A44C-9465-DB3354B56A81}" srcId="{ECDBB81C-2E50-BF48-A4AE-72E7EA7AEDEB}" destId="{B6242E29-052A-3A41-8102-2545FCCE8336}" srcOrd="7" destOrd="0" parTransId="{FE2AE043-DA28-CF42-AC1E-77698602D003}" sibTransId="{4E7ADB18-FE2B-6146-A7BB-7D528526954C}"/>
    <dgm:cxn modelId="{9C298117-6321-6245-94ED-4369A1AD1112}" type="presOf" srcId="{ECDBB81C-2E50-BF48-A4AE-72E7EA7AEDEB}" destId="{685CC5D3-5A33-4348-9730-FBED9A117716}" srcOrd="0" destOrd="0" presId="urn:microsoft.com/office/officeart/2005/8/layout/default#1"/>
    <dgm:cxn modelId="{76ED1D46-3EBB-E043-BA49-C5A49027C917}" type="presOf" srcId="{715CFDD4-B3DA-BE4A-9A9E-CD0BCBFEBF8C}" destId="{B373FAC3-5061-AF49-B501-530831A6C23F}" srcOrd="0" destOrd="0" presId="urn:microsoft.com/office/officeart/2005/8/layout/default#1"/>
    <dgm:cxn modelId="{D3680B97-74C3-1E42-BC94-A82A050499ED}" srcId="{ECDBB81C-2E50-BF48-A4AE-72E7EA7AEDEB}" destId="{19C7F067-6540-364F-AF6B-A3236C627A2B}" srcOrd="4" destOrd="0" parTransId="{29284481-9978-CA4D-B013-AA4E7E29BA25}" sibTransId="{A080CD70-E361-284F-9C78-74B99DD4BCB6}"/>
    <dgm:cxn modelId="{7B5E7862-2FCC-C04C-A1F7-1B7B624286CB}" srcId="{ECDBB81C-2E50-BF48-A4AE-72E7EA7AEDEB}" destId="{A22EA74F-013B-934F-81B5-A61D7773663C}" srcOrd="1" destOrd="0" parTransId="{11A75EB7-B46C-0F46-B791-946256687DF5}" sibTransId="{D7C600B0-36F9-1942-89B4-6165C2B30ADA}"/>
    <dgm:cxn modelId="{DA718B85-FAFC-6A4B-90FA-02073F22134E}" type="presOf" srcId="{582286A7-690C-4840-B35D-D2575D0CA780}" destId="{F5765459-F0DD-B04E-8F83-90F8421A8211}" srcOrd="0" destOrd="0" presId="urn:microsoft.com/office/officeart/2005/8/layout/default#1"/>
    <dgm:cxn modelId="{8D7692C7-16D8-A34F-9BEC-C0CC13E47028}" type="presOf" srcId="{E90F924F-9396-2442-BDA3-BF3934D5AB60}" destId="{F9C2771E-E09D-7E4B-8BC7-2EACC928AB9D}" srcOrd="0" destOrd="0" presId="urn:microsoft.com/office/officeart/2005/8/layout/default#1"/>
    <dgm:cxn modelId="{D11826D9-C42F-604B-A5FB-49F75F15EF21}" srcId="{ECDBB81C-2E50-BF48-A4AE-72E7EA7AEDEB}" destId="{E90F924F-9396-2442-BDA3-BF3934D5AB60}" srcOrd="2" destOrd="0" parTransId="{8C88B6AE-623E-C34E-BC73-D913467AE923}" sibTransId="{60E8B68D-DBEE-FC42-B8FF-A51F1633897F}"/>
    <dgm:cxn modelId="{E0357F0D-F7AF-934D-9A06-E5A754B0559D}" type="presOf" srcId="{0C8479D2-2CDE-6B40-A71B-1E3405C8F018}" destId="{5787ADE3-2B9F-7944-82CB-CE71DF883FF9}" srcOrd="0" destOrd="0" presId="urn:microsoft.com/office/officeart/2005/8/layout/default#1"/>
    <dgm:cxn modelId="{B87879C1-41F8-2244-B440-5AF0A67260B3}" type="presOf" srcId="{A22EA74F-013B-934F-81B5-A61D7773663C}" destId="{FFB3EB76-2E6C-B649-857A-BF94DBD248C3}" srcOrd="0" destOrd="0" presId="urn:microsoft.com/office/officeart/2005/8/layout/default#1"/>
    <dgm:cxn modelId="{94B777FE-C758-B041-BF04-66700F503577}" srcId="{ECDBB81C-2E50-BF48-A4AE-72E7EA7AEDEB}" destId="{94BCFAB0-9BDD-6A4C-BDA3-38544E1BA07C}" srcOrd="0" destOrd="0" parTransId="{181B9A04-3E97-AC4B-B0D3-45D2CFCF36F3}" sibTransId="{1F5FEA36-125C-C546-BF17-E399976F0522}"/>
    <dgm:cxn modelId="{658A2C7B-F7A7-BA4C-A820-AFD02D6412B1}" type="presOf" srcId="{B6242E29-052A-3A41-8102-2545FCCE8336}" destId="{4B2744D8-5219-FE41-ACC6-C2EE72C25ABB}" srcOrd="0" destOrd="0" presId="urn:microsoft.com/office/officeart/2005/8/layout/default#1"/>
    <dgm:cxn modelId="{5C6184B1-C248-0244-9D3B-CB3286EE82C6}" type="presOf" srcId="{94BCFAB0-9BDD-6A4C-BDA3-38544E1BA07C}" destId="{843458A4-26D2-2C44-B9FB-71A1610693F2}" srcOrd="0" destOrd="0" presId="urn:microsoft.com/office/officeart/2005/8/layout/default#1"/>
    <dgm:cxn modelId="{7EF2C9DA-85EF-7442-A4A9-7B581D60E7B8}" type="presParOf" srcId="{685CC5D3-5A33-4348-9730-FBED9A117716}" destId="{843458A4-26D2-2C44-B9FB-71A1610693F2}" srcOrd="0" destOrd="0" presId="urn:microsoft.com/office/officeart/2005/8/layout/default#1"/>
    <dgm:cxn modelId="{5C8F52C9-B5CF-6449-8A4D-9A70028BC589}" type="presParOf" srcId="{685CC5D3-5A33-4348-9730-FBED9A117716}" destId="{505486F8-265A-344C-997A-20E64C179B1B}" srcOrd="1" destOrd="0" presId="urn:microsoft.com/office/officeart/2005/8/layout/default#1"/>
    <dgm:cxn modelId="{16931890-2685-4E49-88CE-620FF1BBCE6F}" type="presParOf" srcId="{685CC5D3-5A33-4348-9730-FBED9A117716}" destId="{FFB3EB76-2E6C-B649-857A-BF94DBD248C3}" srcOrd="2" destOrd="0" presId="urn:microsoft.com/office/officeart/2005/8/layout/default#1"/>
    <dgm:cxn modelId="{0B00EBED-7E94-2246-9226-DF4649402497}" type="presParOf" srcId="{685CC5D3-5A33-4348-9730-FBED9A117716}" destId="{3B3A30A3-E8E2-1740-9022-E95420533982}" srcOrd="3" destOrd="0" presId="urn:microsoft.com/office/officeart/2005/8/layout/default#1"/>
    <dgm:cxn modelId="{732A31AB-B05F-804C-81F1-BA6EBBB76D96}" type="presParOf" srcId="{685CC5D3-5A33-4348-9730-FBED9A117716}" destId="{F9C2771E-E09D-7E4B-8BC7-2EACC928AB9D}" srcOrd="4" destOrd="0" presId="urn:microsoft.com/office/officeart/2005/8/layout/default#1"/>
    <dgm:cxn modelId="{7672E6C8-EB69-DE42-B633-4A052796C174}" type="presParOf" srcId="{685CC5D3-5A33-4348-9730-FBED9A117716}" destId="{6C4059F1-FE40-9F4A-8D0D-A07772629B23}" srcOrd="5" destOrd="0" presId="urn:microsoft.com/office/officeart/2005/8/layout/default#1"/>
    <dgm:cxn modelId="{7C237E49-7C18-D242-8569-2D312C0F0547}" type="presParOf" srcId="{685CC5D3-5A33-4348-9730-FBED9A117716}" destId="{B373FAC3-5061-AF49-B501-530831A6C23F}" srcOrd="6" destOrd="0" presId="urn:microsoft.com/office/officeart/2005/8/layout/default#1"/>
    <dgm:cxn modelId="{10526CC4-8B66-4A42-88E5-E90ED268E972}" type="presParOf" srcId="{685CC5D3-5A33-4348-9730-FBED9A117716}" destId="{16357438-5BB6-2941-8CAF-C76EAF764FBD}" srcOrd="7" destOrd="0" presId="urn:microsoft.com/office/officeart/2005/8/layout/default#1"/>
    <dgm:cxn modelId="{55AB9F21-3FA3-1D43-9052-DC0B95C5AE6C}" type="presParOf" srcId="{685CC5D3-5A33-4348-9730-FBED9A117716}" destId="{C89EF9B4-EDC8-C84D-A659-29B518ACADDB}" srcOrd="8" destOrd="0" presId="urn:microsoft.com/office/officeart/2005/8/layout/default#1"/>
    <dgm:cxn modelId="{11261CBA-B301-A946-97BE-9449D17B4C05}" type="presParOf" srcId="{685CC5D3-5A33-4348-9730-FBED9A117716}" destId="{DC75E8E5-983A-6348-83ED-A5DE3C2B5ADF}" srcOrd="9" destOrd="0" presId="urn:microsoft.com/office/officeart/2005/8/layout/default#1"/>
    <dgm:cxn modelId="{1BC9729C-2CF8-E140-AB9C-278D0A638EEB}" type="presParOf" srcId="{685CC5D3-5A33-4348-9730-FBED9A117716}" destId="{5787ADE3-2B9F-7944-82CB-CE71DF883FF9}" srcOrd="10" destOrd="0" presId="urn:microsoft.com/office/officeart/2005/8/layout/default#1"/>
    <dgm:cxn modelId="{0CB81EF3-D786-A94F-B3FA-9A14F577EC74}" type="presParOf" srcId="{685CC5D3-5A33-4348-9730-FBED9A117716}" destId="{019EA49A-43C9-6648-932D-ADF84E4B4D6F}" srcOrd="11" destOrd="0" presId="urn:microsoft.com/office/officeart/2005/8/layout/default#1"/>
    <dgm:cxn modelId="{5B9413BC-C58A-9D47-BA77-99E98E16DB29}" type="presParOf" srcId="{685CC5D3-5A33-4348-9730-FBED9A117716}" destId="{F5765459-F0DD-B04E-8F83-90F8421A8211}" srcOrd="12" destOrd="0" presId="urn:microsoft.com/office/officeart/2005/8/layout/default#1"/>
    <dgm:cxn modelId="{4877862B-8475-D047-8BC3-FB8987FB0CF4}" type="presParOf" srcId="{685CC5D3-5A33-4348-9730-FBED9A117716}" destId="{7DCAB91D-9C5C-6D4E-B913-58A90D09C08A}" srcOrd="13" destOrd="0" presId="urn:microsoft.com/office/officeart/2005/8/layout/default#1"/>
    <dgm:cxn modelId="{DA7E1A16-06A0-C944-BFD7-757C56DB1565}" type="presParOf" srcId="{685CC5D3-5A33-4348-9730-FBED9A117716}" destId="{4B2744D8-5219-FE41-ACC6-C2EE72C25ABB}" srcOrd="14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12A570-2292-6042-8F87-375482494525}">
      <dsp:nvSpPr>
        <dsp:cNvPr id="0" name=""/>
        <dsp:cNvSpPr/>
      </dsp:nvSpPr>
      <dsp:spPr>
        <a:xfrm>
          <a:off x="191035" y="0"/>
          <a:ext cx="6112026" cy="2328309"/>
        </a:xfrm>
        <a:prstGeom prst="rect">
          <a:avLst/>
        </a:prstGeom>
        <a:solidFill>
          <a:srgbClr val="0070C0"/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608" tIns="239776" rIns="419608" bIns="239776" numCol="1" spcCol="1270" anchor="ctr" anchorCtr="0">
          <a:noAutofit/>
        </a:bodyPr>
        <a:lstStyle/>
        <a:p>
          <a:pPr lvl="0" algn="ctr" defTabSz="2622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900" b="1" i="1" kern="1200" dirty="0"/>
            <a:t>Process spawning</a:t>
          </a:r>
          <a:endParaRPr lang="en-US" sz="5900" kern="1200" dirty="0"/>
        </a:p>
      </dsp:txBody>
      <dsp:txXfrm>
        <a:off x="191035" y="0"/>
        <a:ext cx="6112026" cy="2328309"/>
      </dsp:txXfrm>
    </dsp:sp>
    <dsp:sp modelId="{6E5587B0-CB6B-5F49-99BC-8512D84E1718}">
      <dsp:nvSpPr>
        <dsp:cNvPr id="0" name=""/>
        <dsp:cNvSpPr/>
      </dsp:nvSpPr>
      <dsp:spPr>
        <a:xfrm>
          <a:off x="191035" y="2341753"/>
          <a:ext cx="6112026" cy="4453762"/>
        </a:xfrm>
        <a:prstGeom prst="rect">
          <a:avLst/>
        </a:prstGeom>
        <a:solidFill>
          <a:schemeClr val="bg1"/>
        </a:solidFill>
        <a:ln w="9525" cap="flat" cmpd="sng" algn="ctr">
          <a:noFill/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032" tIns="256032" rIns="341376" bIns="384048" numCol="1" spcCol="1270" anchor="t" anchorCtr="0">
          <a:noAutofit/>
        </a:bodyPr>
        <a:lstStyle/>
        <a:p>
          <a:pPr marL="361950" lvl="1" indent="-361950" algn="l" defTabSz="21336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i-FI" sz="4800" kern="1200" dirty="0" smtClean="0"/>
            <a:t>Saat OS membuat proses atas </a:t>
          </a:r>
          <a:r>
            <a:rPr lang="fi-FI" sz="4800" b="1" kern="1200" dirty="0" smtClean="0"/>
            <a:t>permintaan eksplisit </a:t>
          </a:r>
          <a:r>
            <a:rPr lang="fi-FI" sz="4800" kern="1200" dirty="0" smtClean="0"/>
            <a:t>dari proses lain</a:t>
          </a:r>
          <a:endParaRPr lang="en-NZ" sz="4800" b="1" i="1" kern="1200" dirty="0"/>
        </a:p>
      </dsp:txBody>
      <dsp:txXfrm>
        <a:off x="191035" y="2341753"/>
        <a:ext cx="6112026" cy="4453762"/>
      </dsp:txXfrm>
    </dsp:sp>
    <dsp:sp modelId="{3B7AAAD3-B4B2-894D-BD62-FBDCA5DB86E5}">
      <dsp:nvSpPr>
        <dsp:cNvPr id="0" name=""/>
        <dsp:cNvSpPr/>
      </dsp:nvSpPr>
      <dsp:spPr>
        <a:xfrm>
          <a:off x="6973979" y="6722"/>
          <a:ext cx="6112026" cy="2328309"/>
        </a:xfrm>
        <a:prstGeom prst="rect">
          <a:avLst/>
        </a:prstGeom>
        <a:solidFill>
          <a:srgbClr val="0070C0"/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608" tIns="239776" rIns="419608" bIns="239776" numCol="1" spcCol="1270" anchor="ctr" anchorCtr="0">
          <a:noAutofit/>
        </a:bodyPr>
        <a:lstStyle/>
        <a:p>
          <a:pPr lvl="0" algn="ctr" defTabSz="2622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900" b="1" i="1" kern="1200" dirty="0"/>
            <a:t>Parent process</a:t>
          </a:r>
          <a:endParaRPr lang="en-US" sz="5900" kern="1200" dirty="0"/>
        </a:p>
      </dsp:txBody>
      <dsp:txXfrm>
        <a:off x="6973979" y="6722"/>
        <a:ext cx="6112026" cy="2328309"/>
      </dsp:txXfrm>
    </dsp:sp>
    <dsp:sp modelId="{094610A3-C2C3-B640-879C-283BC4C4886A}">
      <dsp:nvSpPr>
        <dsp:cNvPr id="0" name=""/>
        <dsp:cNvSpPr/>
      </dsp:nvSpPr>
      <dsp:spPr>
        <a:xfrm>
          <a:off x="6973979" y="2335031"/>
          <a:ext cx="6112026" cy="4453762"/>
        </a:xfrm>
        <a:prstGeom prst="rect">
          <a:avLst/>
        </a:prstGeom>
        <a:solidFill>
          <a:schemeClr val="bg1"/>
        </a:solidFill>
        <a:ln w="9525" cap="flat" cmpd="sng" algn="ctr">
          <a:noFill/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4706" tIns="314706" rIns="419608" bIns="472059" numCol="1" spcCol="1270" anchor="t" anchorCtr="0">
          <a:noAutofit/>
        </a:bodyPr>
        <a:lstStyle/>
        <a:p>
          <a:pPr marL="285750" lvl="1" indent="-285750" algn="l" defTabSz="2622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nb-NO" sz="5900" kern="1200" dirty="0" smtClean="0"/>
            <a:t>Proses </a:t>
          </a:r>
          <a:r>
            <a:rPr lang="nb-NO" sz="5900" i="1" kern="1200" dirty="0" smtClean="0"/>
            <a:t>parent</a:t>
          </a:r>
          <a:r>
            <a:rPr lang="nb-NO" sz="5900" kern="1200" dirty="0" smtClean="0"/>
            <a:t> Adalah proses asli</a:t>
          </a:r>
          <a:endParaRPr lang="en-US" sz="5900" kern="1200" dirty="0"/>
        </a:p>
      </dsp:txBody>
      <dsp:txXfrm>
        <a:off x="6973979" y="2335031"/>
        <a:ext cx="6112026" cy="4453762"/>
      </dsp:txXfrm>
    </dsp:sp>
    <dsp:sp modelId="{B5437CEF-732C-D940-ADAA-BDDAA09C9E8D}">
      <dsp:nvSpPr>
        <dsp:cNvPr id="0" name=""/>
        <dsp:cNvSpPr/>
      </dsp:nvSpPr>
      <dsp:spPr>
        <a:xfrm>
          <a:off x="13941689" y="6722"/>
          <a:ext cx="6112026" cy="2328309"/>
        </a:xfrm>
        <a:prstGeom prst="rect">
          <a:avLst/>
        </a:prstGeom>
        <a:solidFill>
          <a:srgbClr val="0070C0"/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608" tIns="239776" rIns="419608" bIns="239776" numCol="1" spcCol="1270" anchor="ctr" anchorCtr="0">
          <a:noAutofit/>
        </a:bodyPr>
        <a:lstStyle/>
        <a:p>
          <a:pPr lvl="0" algn="ctr" defTabSz="2622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900" b="1" i="1" kern="1200" dirty="0"/>
            <a:t>Child process </a:t>
          </a:r>
          <a:endParaRPr lang="en-US" sz="5900" kern="1200" dirty="0"/>
        </a:p>
      </dsp:txBody>
      <dsp:txXfrm>
        <a:off x="13941689" y="6722"/>
        <a:ext cx="6112026" cy="2328309"/>
      </dsp:txXfrm>
    </dsp:sp>
    <dsp:sp modelId="{B830ED57-4DAF-3040-BF6C-9CF6B5560015}">
      <dsp:nvSpPr>
        <dsp:cNvPr id="0" name=""/>
        <dsp:cNvSpPr/>
      </dsp:nvSpPr>
      <dsp:spPr>
        <a:xfrm>
          <a:off x="13941689" y="2335031"/>
          <a:ext cx="6112026" cy="4453762"/>
        </a:xfrm>
        <a:prstGeom prst="rect">
          <a:avLst/>
        </a:prstGeom>
        <a:solidFill>
          <a:schemeClr val="bg1"/>
        </a:solidFill>
        <a:ln w="9525" cap="flat" cmpd="sng" algn="ctr">
          <a:noFill/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4706" tIns="314706" rIns="419608" bIns="472059" numCol="1" spcCol="1270" anchor="t" anchorCtr="0">
          <a:noAutofit/>
        </a:bodyPr>
        <a:lstStyle/>
        <a:p>
          <a:pPr marL="285750" lvl="1" indent="-285750" algn="l" defTabSz="2622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5900" kern="1200" dirty="0" err="1" smtClean="0"/>
            <a:t>Sebuah</a:t>
          </a:r>
          <a:r>
            <a:rPr lang="en-US" sz="5900" kern="1200" dirty="0" smtClean="0"/>
            <a:t> proses </a:t>
          </a:r>
          <a:r>
            <a:rPr lang="en-US" sz="5900" kern="1200" dirty="0" err="1" smtClean="0"/>
            <a:t>baru</a:t>
          </a:r>
          <a:endParaRPr lang="en-US" sz="5900" kern="1200" dirty="0"/>
        </a:p>
        <a:p>
          <a:pPr marL="285750" lvl="1" indent="-285750" algn="l" defTabSz="2622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NZ" sz="5900" kern="1200" dirty="0"/>
        </a:p>
      </dsp:txBody>
      <dsp:txXfrm>
        <a:off x="13941689" y="2335031"/>
        <a:ext cx="6112026" cy="44537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3458A4-26D2-2C44-B9FB-71A1610693F2}">
      <dsp:nvSpPr>
        <dsp:cNvPr id="0" name=""/>
        <dsp:cNvSpPr/>
      </dsp:nvSpPr>
      <dsp:spPr>
        <a:xfrm>
          <a:off x="7454900" y="482627"/>
          <a:ext cx="4068046" cy="2096939"/>
        </a:xfrm>
        <a:prstGeom prst="rect">
          <a:avLst/>
        </a:prstGeom>
        <a:solidFill>
          <a:schemeClr val="accent6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lvl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200" kern="1200" dirty="0"/>
            <a:t>Identifier</a:t>
          </a:r>
        </a:p>
      </dsp:txBody>
      <dsp:txXfrm>
        <a:off x="7454900" y="482627"/>
        <a:ext cx="4068046" cy="2096939"/>
      </dsp:txXfrm>
    </dsp:sp>
    <dsp:sp modelId="{FFB3EB76-2E6C-B649-857A-BF94DBD248C3}">
      <dsp:nvSpPr>
        <dsp:cNvPr id="0" name=""/>
        <dsp:cNvSpPr/>
      </dsp:nvSpPr>
      <dsp:spPr>
        <a:xfrm>
          <a:off x="3403329" y="2579554"/>
          <a:ext cx="4068046" cy="2440827"/>
        </a:xfrm>
        <a:prstGeom prst="rect">
          <a:avLst/>
        </a:prstGeom>
        <a:solidFill>
          <a:schemeClr val="accent3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lvl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200" kern="1200" dirty="0"/>
            <a:t>State</a:t>
          </a:r>
        </a:p>
      </dsp:txBody>
      <dsp:txXfrm>
        <a:off x="3403329" y="2579554"/>
        <a:ext cx="4068046" cy="2440827"/>
      </dsp:txXfrm>
    </dsp:sp>
    <dsp:sp modelId="{F9C2771E-E09D-7E4B-8BC7-2EACC928AB9D}">
      <dsp:nvSpPr>
        <dsp:cNvPr id="0" name=""/>
        <dsp:cNvSpPr/>
      </dsp:nvSpPr>
      <dsp:spPr>
        <a:xfrm>
          <a:off x="7454941" y="2579554"/>
          <a:ext cx="4068046" cy="244082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29999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lvl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200" kern="1200" dirty="0"/>
            <a:t>Priority</a:t>
          </a:r>
        </a:p>
      </dsp:txBody>
      <dsp:txXfrm>
        <a:off x="7454941" y="2579554"/>
        <a:ext cx="4068046" cy="2440827"/>
      </dsp:txXfrm>
    </dsp:sp>
    <dsp:sp modelId="{B373FAC3-5061-AF49-B501-530831A6C23F}">
      <dsp:nvSpPr>
        <dsp:cNvPr id="0" name=""/>
        <dsp:cNvSpPr/>
      </dsp:nvSpPr>
      <dsp:spPr>
        <a:xfrm>
          <a:off x="11506512" y="2579554"/>
          <a:ext cx="4068046" cy="2440827"/>
        </a:xfrm>
        <a:prstGeom prst="rect">
          <a:avLst/>
        </a:prstGeom>
        <a:solidFill>
          <a:schemeClr val="accent2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lvl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200" kern="1200" dirty="0"/>
            <a:t>Program counter</a:t>
          </a:r>
        </a:p>
      </dsp:txBody>
      <dsp:txXfrm>
        <a:off x="11506512" y="2579554"/>
        <a:ext cx="4068046" cy="2440827"/>
      </dsp:txXfrm>
    </dsp:sp>
    <dsp:sp modelId="{C89EF9B4-EDC8-C84D-A659-29B518ACADDB}">
      <dsp:nvSpPr>
        <dsp:cNvPr id="0" name=""/>
        <dsp:cNvSpPr/>
      </dsp:nvSpPr>
      <dsp:spPr>
        <a:xfrm>
          <a:off x="1134458" y="4825123"/>
          <a:ext cx="4068046" cy="2440827"/>
        </a:xfrm>
        <a:prstGeom prst="rect">
          <a:avLst/>
        </a:prstGeom>
        <a:solidFill>
          <a:srgbClr val="660066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lvl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200" kern="1200" dirty="0"/>
            <a:t>Memory pointers</a:t>
          </a:r>
        </a:p>
      </dsp:txBody>
      <dsp:txXfrm>
        <a:off x="1134458" y="4825123"/>
        <a:ext cx="4068046" cy="2440827"/>
      </dsp:txXfrm>
    </dsp:sp>
    <dsp:sp modelId="{5787ADE3-2B9F-7944-82CB-CE71DF883FF9}">
      <dsp:nvSpPr>
        <dsp:cNvPr id="0" name=""/>
        <dsp:cNvSpPr/>
      </dsp:nvSpPr>
      <dsp:spPr>
        <a:xfrm>
          <a:off x="5186029" y="4825123"/>
          <a:ext cx="4068046" cy="2440827"/>
        </a:xfrm>
        <a:prstGeom prst="rect">
          <a:avLst/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lvl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200" kern="1200" dirty="0"/>
            <a:t>Context data</a:t>
          </a:r>
        </a:p>
      </dsp:txBody>
      <dsp:txXfrm>
        <a:off x="5186029" y="4825123"/>
        <a:ext cx="4068046" cy="2440827"/>
      </dsp:txXfrm>
    </dsp:sp>
    <dsp:sp modelId="{F5765459-F0DD-B04E-8F83-90F8421A8211}">
      <dsp:nvSpPr>
        <dsp:cNvPr id="0" name=""/>
        <dsp:cNvSpPr/>
      </dsp:nvSpPr>
      <dsp:spPr>
        <a:xfrm>
          <a:off x="9237600" y="4825123"/>
          <a:ext cx="4068046" cy="2440827"/>
        </a:xfrm>
        <a:prstGeom prst="rect">
          <a:avLst/>
        </a:prstGeom>
        <a:solidFill>
          <a:schemeClr val="tx2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lvl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200" kern="1200" dirty="0"/>
            <a:t>I/O status information</a:t>
          </a:r>
        </a:p>
      </dsp:txBody>
      <dsp:txXfrm>
        <a:off x="9237600" y="4825123"/>
        <a:ext cx="4068046" cy="2440827"/>
      </dsp:txXfrm>
    </dsp:sp>
    <dsp:sp modelId="{4B2744D8-5219-FE41-ACC6-C2EE72C25ABB}">
      <dsp:nvSpPr>
        <dsp:cNvPr id="0" name=""/>
        <dsp:cNvSpPr/>
      </dsp:nvSpPr>
      <dsp:spPr>
        <a:xfrm>
          <a:off x="13289211" y="4825123"/>
          <a:ext cx="4068046" cy="2440827"/>
        </a:xfrm>
        <a:prstGeom prst="rect">
          <a:avLst/>
        </a:prstGeom>
        <a:solidFill>
          <a:schemeClr val="accent4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lvl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200" kern="1200" dirty="0"/>
            <a:t>Accounting information</a:t>
          </a:r>
        </a:p>
      </dsp:txBody>
      <dsp:txXfrm>
        <a:off x="13289211" y="4825123"/>
        <a:ext cx="4068046" cy="24408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smtClean="0"/>
              <a:t>Kesimpulan</a:t>
            </a:r>
            <a:endParaRPr lang="en-US" b="1" dirty="0" smtClean="0"/>
          </a:p>
          <a:p>
            <a:pPr marL="457200" indent="-457200">
              <a:buFont typeface="+mj-lt"/>
              <a:buAutoNum type="arabicPeriod"/>
            </a:pPr>
            <a:r>
              <a:rPr lang="en-US" b="1" dirty="0" smtClean="0"/>
              <a:t>Batch Processing</a:t>
            </a:r>
            <a:r>
              <a:rPr lang="en-US" dirty="0" smtClean="0"/>
              <a:t> </a:t>
            </a:r>
            <a:r>
              <a:rPr lang="en-US" dirty="0" err="1" smtClean="0"/>
              <a:t>lebih</a:t>
            </a:r>
            <a:r>
              <a:rPr lang="en-US" dirty="0" smtClean="0"/>
              <a:t> </a:t>
            </a:r>
            <a:r>
              <a:rPr lang="en-US" dirty="0" err="1" smtClean="0"/>
              <a:t>baik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aplikasi</a:t>
            </a:r>
            <a:r>
              <a:rPr lang="en-US" dirty="0" smtClean="0"/>
              <a:t> yang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memerlukan</a:t>
            </a:r>
            <a:r>
              <a:rPr lang="en-US" dirty="0" smtClean="0"/>
              <a:t> </a:t>
            </a:r>
            <a:r>
              <a:rPr lang="en-US" dirty="0" err="1" smtClean="0"/>
              <a:t>respons</a:t>
            </a:r>
            <a:r>
              <a:rPr lang="en-US" dirty="0" smtClean="0"/>
              <a:t> </a:t>
            </a:r>
            <a:r>
              <a:rPr lang="en-US" dirty="0" err="1" smtClean="0"/>
              <a:t>instan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bisa</a:t>
            </a:r>
            <a:r>
              <a:rPr lang="en-US" dirty="0" smtClean="0"/>
              <a:t> </a:t>
            </a:r>
            <a:r>
              <a:rPr lang="en-US" dirty="0" err="1" smtClean="0"/>
              <a:t>memproses</a:t>
            </a:r>
            <a:r>
              <a:rPr lang="en-US" dirty="0" smtClean="0"/>
              <a:t> data 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jumlah</a:t>
            </a:r>
            <a:r>
              <a:rPr lang="en-US" dirty="0" smtClean="0"/>
              <a:t> </a:t>
            </a:r>
            <a:r>
              <a:rPr lang="en-US" dirty="0" err="1" smtClean="0"/>
              <a:t>besar</a:t>
            </a:r>
            <a:r>
              <a:rPr lang="en-US" dirty="0" smtClean="0"/>
              <a:t> </a:t>
            </a:r>
            <a:r>
              <a:rPr lang="en-US" dirty="0" err="1" smtClean="0"/>
              <a:t>secara</a:t>
            </a:r>
            <a:r>
              <a:rPr lang="en-US" dirty="0" smtClean="0"/>
              <a:t> </a:t>
            </a:r>
            <a:r>
              <a:rPr lang="en-US" dirty="0" err="1" smtClean="0"/>
              <a:t>efisien</a:t>
            </a:r>
            <a:r>
              <a:rPr lang="en-US" dirty="0" smtClean="0"/>
              <a:t>, </a:t>
            </a:r>
            <a:r>
              <a:rPr lang="en-US" dirty="0" err="1" smtClean="0"/>
              <a:t>seperti</a:t>
            </a:r>
            <a:r>
              <a:rPr lang="en-US" dirty="0" smtClean="0"/>
              <a:t> </a:t>
            </a:r>
            <a:r>
              <a:rPr lang="en-US" dirty="0" err="1" smtClean="0"/>
              <a:t>laporan</a:t>
            </a:r>
            <a:r>
              <a:rPr lang="en-US" dirty="0" smtClean="0"/>
              <a:t> </a:t>
            </a:r>
            <a:r>
              <a:rPr lang="en-US" dirty="0" err="1" smtClean="0"/>
              <a:t>keuangan</a:t>
            </a:r>
            <a:r>
              <a:rPr lang="en-US" dirty="0" smtClean="0"/>
              <a:t>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pengolahan</a:t>
            </a:r>
            <a:r>
              <a:rPr lang="en-US" dirty="0" smtClean="0"/>
              <a:t> </a:t>
            </a:r>
            <a:r>
              <a:rPr lang="en-US" dirty="0" err="1" smtClean="0"/>
              <a:t>transaksi</a:t>
            </a:r>
            <a:r>
              <a:rPr lang="en-US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smtClean="0"/>
              <a:t>Real-Time Processing</a:t>
            </a:r>
            <a:r>
              <a:rPr lang="en-US" dirty="0" smtClean="0"/>
              <a:t> </a:t>
            </a:r>
            <a:r>
              <a:rPr lang="en-US" dirty="0" err="1" smtClean="0"/>
              <a:t>lebih</a:t>
            </a:r>
            <a:r>
              <a:rPr lang="en-US" dirty="0" smtClean="0"/>
              <a:t> </a:t>
            </a:r>
            <a:r>
              <a:rPr lang="en-US" dirty="0" err="1" smtClean="0"/>
              <a:t>baik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aplikasi</a:t>
            </a:r>
            <a:r>
              <a:rPr lang="en-US" dirty="0" smtClean="0"/>
              <a:t> yang </a:t>
            </a:r>
            <a:r>
              <a:rPr lang="en-US" dirty="0" err="1" smtClean="0"/>
              <a:t>memerlukan</a:t>
            </a:r>
            <a:r>
              <a:rPr lang="en-US" dirty="0" smtClean="0"/>
              <a:t> </a:t>
            </a:r>
            <a:r>
              <a:rPr lang="en-US" dirty="0" err="1" smtClean="0"/>
              <a:t>kecepatan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respons</a:t>
            </a:r>
            <a:r>
              <a:rPr lang="en-US" dirty="0" smtClean="0"/>
              <a:t> </a:t>
            </a:r>
            <a:r>
              <a:rPr lang="en-US" dirty="0" err="1" smtClean="0"/>
              <a:t>cepat</a:t>
            </a:r>
            <a:r>
              <a:rPr lang="en-US" dirty="0" smtClean="0"/>
              <a:t>, </a:t>
            </a:r>
            <a:r>
              <a:rPr lang="en-US" dirty="0" err="1" smtClean="0"/>
              <a:t>seperti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r>
              <a:rPr lang="en-US" dirty="0" smtClean="0"/>
              <a:t> </a:t>
            </a:r>
            <a:r>
              <a:rPr lang="en-US" dirty="0" err="1" smtClean="0"/>
              <a:t>pengendalian</a:t>
            </a:r>
            <a:r>
              <a:rPr lang="en-US" dirty="0" smtClean="0"/>
              <a:t> </a:t>
            </a:r>
            <a:r>
              <a:rPr lang="en-US" dirty="0" err="1" smtClean="0"/>
              <a:t>lalu</a:t>
            </a:r>
            <a:r>
              <a:rPr lang="en-US" dirty="0" smtClean="0"/>
              <a:t> </a:t>
            </a:r>
            <a:r>
              <a:rPr lang="en-US" dirty="0" err="1" smtClean="0"/>
              <a:t>lintas</a:t>
            </a:r>
            <a:r>
              <a:rPr lang="en-US" dirty="0" smtClean="0"/>
              <a:t>, </a:t>
            </a:r>
            <a:r>
              <a:rPr lang="en-US" dirty="0" err="1" smtClean="0"/>
              <a:t>aplikasi</a:t>
            </a:r>
            <a:r>
              <a:rPr lang="en-US" dirty="0" smtClean="0"/>
              <a:t> </a:t>
            </a:r>
            <a:r>
              <a:rPr lang="en-US" dirty="0" err="1" smtClean="0"/>
              <a:t>medis</a:t>
            </a:r>
            <a:r>
              <a:rPr lang="en-US" dirty="0" smtClean="0"/>
              <a:t>,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r>
              <a:rPr lang="en-US" dirty="0" smtClean="0"/>
              <a:t> </a:t>
            </a:r>
            <a:r>
              <a:rPr lang="en-US" dirty="0" err="1" smtClean="0"/>
              <a:t>perdagangan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2619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7541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46879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2091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6488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Pilihan</a:t>
            </a:r>
            <a:r>
              <a:rPr lang="en-US" dirty="0" smtClean="0"/>
              <a:t> </a:t>
            </a:r>
            <a:r>
              <a:rPr lang="en-US" dirty="0" err="1" smtClean="0"/>
              <a:t>antara</a:t>
            </a:r>
            <a:r>
              <a:rPr lang="en-US" dirty="0" smtClean="0"/>
              <a:t> </a:t>
            </a:r>
            <a:r>
              <a:rPr lang="en-US" b="1" dirty="0" smtClean="0"/>
              <a:t>batch processing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b="1" dirty="0" smtClean="0"/>
              <a:t>real-time processing</a:t>
            </a:r>
            <a:r>
              <a:rPr lang="en-US" dirty="0" smtClean="0"/>
              <a:t> </a:t>
            </a:r>
            <a:r>
              <a:rPr lang="en-US" dirty="0" err="1" smtClean="0"/>
              <a:t>tergantung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kebutuhan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konteks</a:t>
            </a:r>
            <a:r>
              <a:rPr lang="en-US" dirty="0" smtClean="0"/>
              <a:t> </a:t>
            </a:r>
            <a:r>
              <a:rPr lang="en-US" dirty="0" err="1" smtClean="0"/>
              <a:t>aplikasi</a:t>
            </a:r>
            <a:r>
              <a:rPr lang="en-US" dirty="0" smtClean="0"/>
              <a:t> yang </a:t>
            </a:r>
            <a:r>
              <a:rPr lang="en-US" dirty="0" err="1" smtClean="0"/>
              <a:t>dihadapi</a:t>
            </a:r>
            <a:r>
              <a:rPr lang="en-US" dirty="0" smtClean="0"/>
              <a:t>. </a:t>
            </a:r>
            <a:r>
              <a:rPr lang="en-US" dirty="0" err="1" smtClean="0"/>
              <a:t>Berikut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perbandingan</a:t>
            </a:r>
            <a:r>
              <a:rPr lang="en-US" dirty="0" smtClean="0"/>
              <a:t> </a:t>
            </a:r>
            <a:r>
              <a:rPr lang="en-US" dirty="0" err="1" smtClean="0"/>
              <a:t>keduanya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membantu</a:t>
            </a:r>
            <a:r>
              <a:rPr lang="en-US" dirty="0" smtClean="0"/>
              <a:t> </a:t>
            </a:r>
            <a:r>
              <a:rPr lang="en-US" dirty="0" err="1" smtClean="0"/>
              <a:t>menentukan</a:t>
            </a:r>
            <a:r>
              <a:rPr lang="en-US" dirty="0" smtClean="0"/>
              <a:t> mana yang paling </a:t>
            </a:r>
            <a:r>
              <a:rPr lang="en-US" dirty="0" err="1" smtClean="0"/>
              <a:t>baik</a:t>
            </a:r>
            <a:r>
              <a:rPr lang="en-US" dirty="0" smtClean="0"/>
              <a:t> </a:t>
            </a:r>
            <a:r>
              <a:rPr lang="en-US" dirty="0" err="1" smtClean="0"/>
              <a:t>sesuai</a:t>
            </a:r>
            <a:r>
              <a:rPr lang="en-US" dirty="0" smtClean="0"/>
              <a:t> </a:t>
            </a:r>
            <a:r>
              <a:rPr lang="en-US" dirty="0" err="1" smtClean="0"/>
              <a:t>situasi</a:t>
            </a:r>
            <a:r>
              <a:rPr lang="en-US" dirty="0" smtClean="0"/>
              <a:t> </a:t>
            </a:r>
            <a:r>
              <a:rPr lang="en-US" dirty="0" err="1" smtClean="0"/>
              <a:t>tertentu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r>
              <a:rPr lang="en-US" b="1" dirty="0" smtClean="0"/>
              <a:t>Batch Processing</a:t>
            </a:r>
          </a:p>
          <a:p>
            <a:r>
              <a:rPr lang="en-US" b="1" dirty="0" err="1" smtClean="0"/>
              <a:t>Kelebihan</a:t>
            </a:r>
            <a:r>
              <a:rPr lang="en-US" b="1" dirty="0" smtClean="0"/>
              <a:t>:</a:t>
            </a:r>
            <a:endParaRPr lang="en-US" dirty="0" smtClean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b="1" dirty="0" err="1" smtClean="0"/>
              <a:t>Efisiensi</a:t>
            </a:r>
            <a:r>
              <a:rPr lang="en-US" b="1" dirty="0" smtClean="0"/>
              <a:t> </a:t>
            </a:r>
            <a:r>
              <a:rPr lang="en-US" b="1" dirty="0" err="1" smtClean="0"/>
              <a:t>Sumber</a:t>
            </a:r>
            <a:r>
              <a:rPr lang="en-US" b="1" dirty="0" smtClean="0"/>
              <a:t> </a:t>
            </a:r>
            <a:r>
              <a:rPr lang="en-US" b="1" dirty="0" err="1" smtClean="0"/>
              <a:t>Daya</a:t>
            </a:r>
            <a:r>
              <a:rPr lang="en-US" dirty="0" smtClean="0"/>
              <a:t>: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menjalankan</a:t>
            </a:r>
            <a:r>
              <a:rPr lang="en-US" dirty="0" smtClean="0"/>
              <a:t> </a:t>
            </a:r>
            <a:r>
              <a:rPr lang="en-US" dirty="0" err="1" smtClean="0"/>
              <a:t>banyak</a:t>
            </a:r>
            <a:r>
              <a:rPr lang="en-US" dirty="0" smtClean="0"/>
              <a:t> </a:t>
            </a:r>
            <a:r>
              <a:rPr lang="en-US" dirty="0" err="1" smtClean="0"/>
              <a:t>tugas</a:t>
            </a:r>
            <a:r>
              <a:rPr lang="en-US" dirty="0" smtClean="0"/>
              <a:t> </a:t>
            </a:r>
            <a:r>
              <a:rPr lang="en-US" dirty="0" err="1" smtClean="0"/>
              <a:t>sekaligus</a:t>
            </a:r>
            <a:r>
              <a:rPr lang="en-US" dirty="0" smtClean="0"/>
              <a:t>, </a:t>
            </a:r>
            <a:r>
              <a:rPr lang="en-US" dirty="0" err="1" smtClean="0"/>
              <a:t>mengoptimalkan</a:t>
            </a:r>
            <a:r>
              <a:rPr lang="en-US" dirty="0" smtClean="0"/>
              <a:t> </a:t>
            </a:r>
            <a:r>
              <a:rPr lang="en-US" dirty="0" err="1" smtClean="0"/>
              <a:t>penggunaan</a:t>
            </a:r>
            <a:r>
              <a:rPr lang="en-US" dirty="0" smtClean="0"/>
              <a:t> CPU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memori</a:t>
            </a:r>
            <a:r>
              <a:rPr lang="en-US" dirty="0" smtClean="0"/>
              <a:t>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b="1" dirty="0" err="1" smtClean="0"/>
              <a:t>Pengolahan</a:t>
            </a:r>
            <a:r>
              <a:rPr lang="en-US" b="1" dirty="0" smtClean="0"/>
              <a:t> Data </a:t>
            </a:r>
            <a:r>
              <a:rPr lang="en-US" b="1" dirty="0" err="1" smtClean="0"/>
              <a:t>Besar</a:t>
            </a:r>
            <a:r>
              <a:rPr lang="en-US" dirty="0" smtClean="0"/>
              <a:t>: </a:t>
            </a:r>
            <a:r>
              <a:rPr lang="en-US" dirty="0" err="1" smtClean="0"/>
              <a:t>Cocok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analisis</a:t>
            </a:r>
            <a:r>
              <a:rPr lang="en-US" dirty="0" smtClean="0"/>
              <a:t> data 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jumlah</a:t>
            </a:r>
            <a:r>
              <a:rPr lang="en-US" dirty="0" smtClean="0"/>
              <a:t> </a:t>
            </a:r>
            <a:r>
              <a:rPr lang="en-US" dirty="0" err="1" smtClean="0"/>
              <a:t>besar</a:t>
            </a:r>
            <a:r>
              <a:rPr lang="en-US" dirty="0" smtClean="0"/>
              <a:t>, </a:t>
            </a:r>
            <a:r>
              <a:rPr lang="en-US" dirty="0" err="1" smtClean="0"/>
              <a:t>seperti</a:t>
            </a:r>
            <a:r>
              <a:rPr lang="en-US" dirty="0" smtClean="0"/>
              <a:t> </a:t>
            </a:r>
            <a:r>
              <a:rPr lang="en-US" dirty="0" err="1" smtClean="0"/>
              <a:t>laporan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rekonsiliasi</a:t>
            </a:r>
            <a:r>
              <a:rPr lang="en-US" dirty="0" smtClean="0"/>
              <a:t>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b="1" dirty="0" err="1" smtClean="0"/>
              <a:t>Jadwal</a:t>
            </a:r>
            <a:r>
              <a:rPr lang="en-US" b="1" dirty="0" smtClean="0"/>
              <a:t> </a:t>
            </a:r>
            <a:r>
              <a:rPr lang="en-US" b="1" dirty="0" err="1" smtClean="0"/>
              <a:t>Fleksibel</a:t>
            </a:r>
            <a:r>
              <a:rPr lang="en-US" dirty="0" smtClean="0"/>
              <a:t>: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dijadwalkan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waktu</a:t>
            </a:r>
            <a:r>
              <a:rPr lang="en-US" dirty="0" smtClean="0"/>
              <a:t> di </a:t>
            </a:r>
            <a:r>
              <a:rPr lang="en-US" dirty="0" err="1" smtClean="0"/>
              <a:t>luar</a:t>
            </a:r>
            <a:r>
              <a:rPr lang="en-US" dirty="0" smtClean="0"/>
              <a:t> jam </a:t>
            </a:r>
            <a:r>
              <a:rPr lang="en-US" dirty="0" err="1" smtClean="0"/>
              <a:t>sibuk</a:t>
            </a:r>
            <a:r>
              <a:rPr lang="en-US" dirty="0" smtClean="0"/>
              <a:t>, </a:t>
            </a:r>
            <a:r>
              <a:rPr lang="en-US" dirty="0" err="1" smtClean="0"/>
              <a:t>mengurangi</a:t>
            </a:r>
            <a:r>
              <a:rPr lang="en-US" dirty="0" smtClean="0"/>
              <a:t> </a:t>
            </a:r>
            <a:r>
              <a:rPr lang="en-US" dirty="0" err="1" smtClean="0"/>
              <a:t>beban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r>
              <a:rPr lang="en-US" dirty="0" smtClean="0"/>
              <a:t> </a:t>
            </a:r>
            <a:r>
              <a:rPr lang="en-US" dirty="0" err="1" smtClean="0"/>
              <a:t>saat</a:t>
            </a:r>
            <a:r>
              <a:rPr lang="en-US" dirty="0" smtClean="0"/>
              <a:t> </a:t>
            </a:r>
            <a:r>
              <a:rPr lang="en-US" dirty="0" err="1" smtClean="0"/>
              <a:t>beban</a:t>
            </a:r>
            <a:r>
              <a:rPr lang="en-US" dirty="0" smtClean="0"/>
              <a:t> </a:t>
            </a:r>
            <a:r>
              <a:rPr lang="en-US" dirty="0" err="1" smtClean="0"/>
              <a:t>kerja</a:t>
            </a:r>
            <a:r>
              <a:rPr lang="en-US" dirty="0" smtClean="0"/>
              <a:t> </a:t>
            </a:r>
            <a:r>
              <a:rPr lang="en-US" dirty="0" err="1" smtClean="0"/>
              <a:t>tinggi</a:t>
            </a:r>
            <a:r>
              <a:rPr lang="en-US" dirty="0" smtClean="0"/>
              <a:t>.</a:t>
            </a:r>
          </a:p>
          <a:p>
            <a:endParaRPr lang="en-US" b="1" dirty="0" smtClean="0"/>
          </a:p>
          <a:p>
            <a:r>
              <a:rPr lang="en-US" b="1" dirty="0" err="1" smtClean="0"/>
              <a:t>Kekurangan</a:t>
            </a:r>
            <a:r>
              <a:rPr lang="en-US" b="1" dirty="0" smtClean="0"/>
              <a:t>:</a:t>
            </a: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/>
              <a:t>Latency Tinggi</a:t>
            </a:r>
            <a:r>
              <a:rPr lang="en-US" dirty="0" smtClean="0"/>
              <a:t>: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cocok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aplikasi</a:t>
            </a:r>
            <a:r>
              <a:rPr lang="en-US" dirty="0" smtClean="0"/>
              <a:t> yang </a:t>
            </a:r>
            <a:r>
              <a:rPr lang="en-US" dirty="0" err="1" smtClean="0"/>
              <a:t>memerlukan</a:t>
            </a:r>
            <a:r>
              <a:rPr lang="en-US" dirty="0" smtClean="0"/>
              <a:t> </a:t>
            </a:r>
            <a:r>
              <a:rPr lang="en-US" dirty="0" err="1" smtClean="0"/>
              <a:t>respons</a:t>
            </a:r>
            <a:r>
              <a:rPr lang="en-US" dirty="0" smtClean="0"/>
              <a:t> </a:t>
            </a:r>
            <a:r>
              <a:rPr lang="en-US" dirty="0" err="1" smtClean="0"/>
              <a:t>cepat</a:t>
            </a:r>
            <a:r>
              <a:rPr lang="en-US" dirty="0" smtClean="0"/>
              <a:t> </a:t>
            </a:r>
            <a:r>
              <a:rPr lang="en-US" dirty="0" err="1" smtClean="0"/>
              <a:t>karena</a:t>
            </a:r>
            <a:r>
              <a:rPr lang="en-US" dirty="0" smtClean="0"/>
              <a:t> </a:t>
            </a:r>
            <a:r>
              <a:rPr lang="en-US" dirty="0" err="1" smtClean="0"/>
              <a:t>memerlukan</a:t>
            </a:r>
            <a:r>
              <a:rPr lang="en-US" dirty="0" smtClean="0"/>
              <a:t> </a:t>
            </a:r>
            <a:r>
              <a:rPr lang="en-US" dirty="0" err="1" smtClean="0"/>
              <a:t>waktu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mengumpulkan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memproses</a:t>
            </a:r>
            <a:r>
              <a:rPr lang="en-US" dirty="0" smtClean="0"/>
              <a:t>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err="1" smtClean="0"/>
              <a:t>Interaksi</a:t>
            </a:r>
            <a:r>
              <a:rPr lang="en-US" b="1" dirty="0" smtClean="0"/>
              <a:t> </a:t>
            </a:r>
            <a:r>
              <a:rPr lang="en-US" b="1" dirty="0" err="1" smtClean="0"/>
              <a:t>Terbatas</a:t>
            </a:r>
            <a:r>
              <a:rPr lang="en-US" dirty="0" smtClean="0"/>
              <a:t>: </a:t>
            </a:r>
            <a:r>
              <a:rPr lang="en-US" dirty="0" err="1" smtClean="0"/>
              <a:t>Kurang</a:t>
            </a:r>
            <a:r>
              <a:rPr lang="en-US" dirty="0" smtClean="0"/>
              <a:t> ideal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r>
              <a:rPr lang="en-US" dirty="0" smtClean="0"/>
              <a:t> yang </a:t>
            </a:r>
            <a:r>
              <a:rPr lang="en-US" dirty="0" err="1" smtClean="0"/>
              <a:t>memerlukan</a:t>
            </a:r>
            <a:r>
              <a:rPr lang="en-US" dirty="0" smtClean="0"/>
              <a:t> </a:t>
            </a:r>
            <a:r>
              <a:rPr lang="en-US" dirty="0" err="1" smtClean="0"/>
              <a:t>interaksi</a:t>
            </a:r>
            <a:r>
              <a:rPr lang="en-US" dirty="0" smtClean="0"/>
              <a:t> </a:t>
            </a:r>
            <a:r>
              <a:rPr lang="en-US" dirty="0" err="1" smtClean="0"/>
              <a:t>langsung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pengguna</a:t>
            </a:r>
            <a:r>
              <a:rPr lang="en-US" dirty="0" smtClean="0"/>
              <a:t>.</a:t>
            </a:r>
          </a:p>
          <a:p>
            <a:endParaRPr lang="en-US" b="1" dirty="0" smtClean="0"/>
          </a:p>
          <a:p>
            <a:r>
              <a:rPr lang="en-US" b="1" dirty="0" smtClean="0"/>
              <a:t>Real-Time Processing</a:t>
            </a:r>
          </a:p>
          <a:p>
            <a:r>
              <a:rPr lang="en-US" b="1" dirty="0" err="1" smtClean="0"/>
              <a:t>Kelebihan</a:t>
            </a:r>
            <a:r>
              <a:rPr lang="en-US" b="1" dirty="0" smtClean="0"/>
              <a:t>:</a:t>
            </a: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err="1" smtClean="0"/>
              <a:t>Responsif</a:t>
            </a:r>
            <a:r>
              <a:rPr lang="en-US" dirty="0" smtClean="0"/>
              <a:t>: </a:t>
            </a:r>
            <a:r>
              <a:rPr lang="en-US" dirty="0" err="1" smtClean="0"/>
              <a:t>Memberikan</a:t>
            </a:r>
            <a:r>
              <a:rPr lang="en-US" dirty="0" smtClean="0"/>
              <a:t> </a:t>
            </a:r>
            <a:r>
              <a:rPr lang="en-US" dirty="0" err="1" smtClean="0"/>
              <a:t>hasil</a:t>
            </a:r>
            <a:r>
              <a:rPr lang="en-US" dirty="0" smtClean="0"/>
              <a:t> </a:t>
            </a:r>
            <a:r>
              <a:rPr lang="en-US" dirty="0" err="1" smtClean="0"/>
              <a:t>segera</a:t>
            </a:r>
            <a:r>
              <a:rPr lang="en-US" dirty="0" smtClean="0"/>
              <a:t>, </a:t>
            </a:r>
            <a:r>
              <a:rPr lang="en-US" dirty="0" err="1" smtClean="0"/>
              <a:t>cocok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aplikasi</a:t>
            </a:r>
            <a:r>
              <a:rPr lang="en-US" dirty="0" smtClean="0"/>
              <a:t> yang </a:t>
            </a:r>
            <a:r>
              <a:rPr lang="en-US" dirty="0" err="1" smtClean="0"/>
              <a:t>memerlukan</a:t>
            </a:r>
            <a:r>
              <a:rPr lang="en-US" dirty="0" smtClean="0"/>
              <a:t> </a:t>
            </a:r>
            <a:r>
              <a:rPr lang="en-US" dirty="0" err="1" smtClean="0"/>
              <a:t>interaksi</a:t>
            </a:r>
            <a:r>
              <a:rPr lang="en-US" dirty="0" smtClean="0"/>
              <a:t> </a:t>
            </a:r>
            <a:r>
              <a:rPr lang="en-US" dirty="0" err="1" smtClean="0"/>
              <a:t>langsung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keputusan</a:t>
            </a:r>
            <a:r>
              <a:rPr lang="en-US" dirty="0" smtClean="0"/>
              <a:t> </a:t>
            </a:r>
            <a:r>
              <a:rPr lang="en-US" dirty="0" err="1" smtClean="0"/>
              <a:t>cepat</a:t>
            </a:r>
            <a:r>
              <a:rPr lang="en-US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err="1" smtClean="0"/>
              <a:t>Pengendalian</a:t>
            </a:r>
            <a:r>
              <a:rPr lang="en-US" b="1" dirty="0" smtClean="0"/>
              <a:t> </a:t>
            </a:r>
            <a:r>
              <a:rPr lang="en-US" b="1" dirty="0" err="1" smtClean="0"/>
              <a:t>Dinamis</a:t>
            </a:r>
            <a:r>
              <a:rPr lang="en-US" dirty="0" smtClean="0"/>
              <a:t>: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menangani</a:t>
            </a:r>
            <a:r>
              <a:rPr lang="en-US" dirty="0" smtClean="0"/>
              <a:t> </a:t>
            </a:r>
            <a:r>
              <a:rPr lang="en-US" dirty="0" err="1" smtClean="0"/>
              <a:t>situasi</a:t>
            </a:r>
            <a:r>
              <a:rPr lang="en-US" dirty="0" smtClean="0"/>
              <a:t> yang </a:t>
            </a:r>
            <a:r>
              <a:rPr lang="en-US" dirty="0" err="1" smtClean="0"/>
              <a:t>berubah-ubah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memberikan</a:t>
            </a:r>
            <a:r>
              <a:rPr lang="en-US" dirty="0" smtClean="0"/>
              <a:t> </a:t>
            </a:r>
            <a:r>
              <a:rPr lang="en-US" dirty="0" err="1" smtClean="0"/>
              <a:t>umpan</a:t>
            </a:r>
            <a:r>
              <a:rPr lang="en-US" dirty="0" smtClean="0"/>
              <a:t> </a:t>
            </a:r>
            <a:r>
              <a:rPr lang="en-US" dirty="0" err="1" smtClean="0"/>
              <a:t>balik</a:t>
            </a:r>
            <a:r>
              <a:rPr lang="en-US" dirty="0" smtClean="0"/>
              <a:t> </a:t>
            </a:r>
            <a:r>
              <a:rPr lang="en-US" dirty="0" err="1" smtClean="0"/>
              <a:t>instan</a:t>
            </a:r>
            <a:r>
              <a:rPr lang="en-US" dirty="0" smtClean="0"/>
              <a:t>.</a:t>
            </a:r>
          </a:p>
          <a:p>
            <a:endParaRPr lang="en-US" b="1" dirty="0" smtClean="0"/>
          </a:p>
          <a:p>
            <a:r>
              <a:rPr lang="en-US" b="1" dirty="0" err="1" smtClean="0"/>
              <a:t>Kekurangan</a:t>
            </a:r>
            <a:r>
              <a:rPr lang="en-US" b="1" dirty="0" smtClean="0"/>
              <a:t>:</a:t>
            </a: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err="1" smtClean="0"/>
              <a:t>Lebih</a:t>
            </a:r>
            <a:r>
              <a:rPr lang="en-US" b="1" dirty="0" smtClean="0"/>
              <a:t> </a:t>
            </a:r>
            <a:r>
              <a:rPr lang="en-US" b="1" dirty="0" err="1" smtClean="0"/>
              <a:t>Kompleks</a:t>
            </a:r>
            <a:r>
              <a:rPr lang="en-US" dirty="0" smtClean="0"/>
              <a:t>: </a:t>
            </a:r>
            <a:r>
              <a:rPr lang="en-US" dirty="0" err="1" smtClean="0"/>
              <a:t>Memerlukan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r>
              <a:rPr lang="en-US" dirty="0" smtClean="0"/>
              <a:t> yang </a:t>
            </a:r>
            <a:r>
              <a:rPr lang="en-US" dirty="0" err="1" smtClean="0"/>
              <a:t>lebih</a:t>
            </a:r>
            <a:r>
              <a:rPr lang="en-US" dirty="0" smtClean="0"/>
              <a:t> </a:t>
            </a:r>
            <a:r>
              <a:rPr lang="en-US" dirty="0" err="1" smtClean="0"/>
              <a:t>rumit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menjamin</a:t>
            </a:r>
            <a:r>
              <a:rPr lang="en-US" dirty="0" smtClean="0"/>
              <a:t> </a:t>
            </a:r>
            <a:r>
              <a:rPr lang="en-US" dirty="0" err="1" smtClean="0"/>
              <a:t>waktu</a:t>
            </a:r>
            <a:r>
              <a:rPr lang="en-US" dirty="0" smtClean="0"/>
              <a:t> </a:t>
            </a:r>
            <a:r>
              <a:rPr lang="en-US" dirty="0" err="1" smtClean="0"/>
              <a:t>respons</a:t>
            </a:r>
            <a:r>
              <a:rPr lang="en-US" dirty="0" smtClean="0"/>
              <a:t> yang </a:t>
            </a:r>
            <a:r>
              <a:rPr lang="en-US" dirty="0" err="1" smtClean="0"/>
              <a:t>konsisten</a:t>
            </a:r>
            <a:r>
              <a:rPr lang="en-US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err="1" smtClean="0"/>
              <a:t>Penggunaan</a:t>
            </a:r>
            <a:r>
              <a:rPr lang="en-US" b="1" dirty="0" smtClean="0"/>
              <a:t> </a:t>
            </a:r>
            <a:r>
              <a:rPr lang="en-US" b="1" dirty="0" err="1" smtClean="0"/>
              <a:t>Sumber</a:t>
            </a:r>
            <a:r>
              <a:rPr lang="en-US" b="1" dirty="0" smtClean="0"/>
              <a:t> </a:t>
            </a:r>
            <a:r>
              <a:rPr lang="en-US" b="1" dirty="0" err="1" smtClean="0"/>
              <a:t>Daya</a:t>
            </a:r>
            <a:r>
              <a:rPr lang="en-US" b="1" dirty="0" smtClean="0"/>
              <a:t> Tinggi</a:t>
            </a:r>
            <a:r>
              <a:rPr lang="en-US" dirty="0" smtClean="0"/>
              <a:t>: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membebani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r>
              <a:rPr lang="en-US" dirty="0" smtClean="0"/>
              <a:t> </a:t>
            </a:r>
            <a:r>
              <a:rPr lang="en-US" dirty="0" err="1" smtClean="0"/>
              <a:t>karena</a:t>
            </a:r>
            <a:r>
              <a:rPr lang="en-US" dirty="0" smtClean="0"/>
              <a:t> </a:t>
            </a:r>
            <a:r>
              <a:rPr lang="en-US" dirty="0" err="1" smtClean="0"/>
              <a:t>memerlukan</a:t>
            </a:r>
            <a:r>
              <a:rPr lang="en-US" dirty="0" smtClean="0"/>
              <a:t> </a:t>
            </a:r>
            <a:r>
              <a:rPr lang="en-US" dirty="0" err="1" smtClean="0"/>
              <a:t>pemrosesan</a:t>
            </a:r>
            <a:r>
              <a:rPr lang="en-US" dirty="0" smtClean="0"/>
              <a:t> </a:t>
            </a:r>
            <a:r>
              <a:rPr lang="en-US" dirty="0" err="1" smtClean="0"/>
              <a:t>terus-menerus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real-time.</a:t>
            </a:r>
          </a:p>
          <a:p>
            <a:endParaRPr lang="en-US" b="1" dirty="0" smtClean="0"/>
          </a:p>
          <a:p>
            <a:r>
              <a:rPr lang="en-US" b="1" dirty="0" err="1" smtClean="0"/>
              <a:t>Kesimpulan</a:t>
            </a:r>
            <a:endParaRPr lang="en-US" b="1" dirty="0" smtClean="0"/>
          </a:p>
          <a:p>
            <a:pPr marL="457200" indent="-457200">
              <a:buFont typeface="+mj-lt"/>
              <a:buAutoNum type="arabicPeriod"/>
            </a:pPr>
            <a:r>
              <a:rPr lang="en-US" b="1" dirty="0" smtClean="0"/>
              <a:t>Batch Processing</a:t>
            </a:r>
            <a:r>
              <a:rPr lang="en-US" dirty="0" smtClean="0"/>
              <a:t> </a:t>
            </a:r>
            <a:r>
              <a:rPr lang="en-US" dirty="0" err="1" smtClean="0"/>
              <a:t>lebih</a:t>
            </a:r>
            <a:r>
              <a:rPr lang="en-US" dirty="0" smtClean="0"/>
              <a:t> </a:t>
            </a:r>
            <a:r>
              <a:rPr lang="en-US" dirty="0" err="1" smtClean="0"/>
              <a:t>baik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aplikasi</a:t>
            </a:r>
            <a:r>
              <a:rPr lang="en-US" dirty="0" smtClean="0"/>
              <a:t> yang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memerlukan</a:t>
            </a:r>
            <a:r>
              <a:rPr lang="en-US" dirty="0" smtClean="0"/>
              <a:t> </a:t>
            </a:r>
            <a:r>
              <a:rPr lang="en-US" dirty="0" err="1" smtClean="0"/>
              <a:t>respons</a:t>
            </a:r>
            <a:r>
              <a:rPr lang="en-US" dirty="0" smtClean="0"/>
              <a:t> </a:t>
            </a:r>
            <a:r>
              <a:rPr lang="en-US" dirty="0" err="1" smtClean="0"/>
              <a:t>instan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bisa</a:t>
            </a:r>
            <a:r>
              <a:rPr lang="en-US" dirty="0" smtClean="0"/>
              <a:t> </a:t>
            </a:r>
            <a:r>
              <a:rPr lang="en-US" dirty="0" err="1" smtClean="0"/>
              <a:t>memproses</a:t>
            </a:r>
            <a:r>
              <a:rPr lang="en-US" dirty="0" smtClean="0"/>
              <a:t> data 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jumlah</a:t>
            </a:r>
            <a:r>
              <a:rPr lang="en-US" dirty="0" smtClean="0"/>
              <a:t> </a:t>
            </a:r>
            <a:r>
              <a:rPr lang="en-US" dirty="0" err="1" smtClean="0"/>
              <a:t>besar</a:t>
            </a:r>
            <a:r>
              <a:rPr lang="en-US" dirty="0" smtClean="0"/>
              <a:t> </a:t>
            </a:r>
            <a:r>
              <a:rPr lang="en-US" dirty="0" err="1" smtClean="0"/>
              <a:t>secara</a:t>
            </a:r>
            <a:r>
              <a:rPr lang="en-US" dirty="0" smtClean="0"/>
              <a:t> </a:t>
            </a:r>
            <a:r>
              <a:rPr lang="en-US" dirty="0" err="1" smtClean="0"/>
              <a:t>efisien</a:t>
            </a:r>
            <a:r>
              <a:rPr lang="en-US" dirty="0" smtClean="0"/>
              <a:t>, </a:t>
            </a:r>
            <a:r>
              <a:rPr lang="en-US" dirty="0" err="1" smtClean="0"/>
              <a:t>seperti</a:t>
            </a:r>
            <a:r>
              <a:rPr lang="en-US" dirty="0" smtClean="0"/>
              <a:t> </a:t>
            </a:r>
            <a:r>
              <a:rPr lang="en-US" dirty="0" err="1" smtClean="0"/>
              <a:t>laporan</a:t>
            </a:r>
            <a:r>
              <a:rPr lang="en-US" dirty="0" smtClean="0"/>
              <a:t> </a:t>
            </a:r>
            <a:r>
              <a:rPr lang="en-US" dirty="0" err="1" smtClean="0"/>
              <a:t>keuangan</a:t>
            </a:r>
            <a:r>
              <a:rPr lang="en-US" dirty="0" smtClean="0"/>
              <a:t>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pengolahan</a:t>
            </a:r>
            <a:r>
              <a:rPr lang="en-US" dirty="0" smtClean="0"/>
              <a:t> </a:t>
            </a:r>
            <a:r>
              <a:rPr lang="en-US" dirty="0" err="1" smtClean="0"/>
              <a:t>transaksi</a:t>
            </a:r>
            <a:r>
              <a:rPr lang="en-US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smtClean="0"/>
              <a:t>Real-Time Processing</a:t>
            </a:r>
            <a:r>
              <a:rPr lang="en-US" dirty="0" smtClean="0"/>
              <a:t> </a:t>
            </a:r>
            <a:r>
              <a:rPr lang="en-US" dirty="0" err="1" smtClean="0"/>
              <a:t>lebih</a:t>
            </a:r>
            <a:r>
              <a:rPr lang="en-US" dirty="0" smtClean="0"/>
              <a:t> </a:t>
            </a:r>
            <a:r>
              <a:rPr lang="en-US" dirty="0" err="1" smtClean="0"/>
              <a:t>baik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aplikasi</a:t>
            </a:r>
            <a:r>
              <a:rPr lang="en-US" dirty="0" smtClean="0"/>
              <a:t> yang </a:t>
            </a:r>
            <a:r>
              <a:rPr lang="en-US" dirty="0" err="1" smtClean="0"/>
              <a:t>memerlukan</a:t>
            </a:r>
            <a:r>
              <a:rPr lang="en-US" dirty="0" smtClean="0"/>
              <a:t> </a:t>
            </a:r>
            <a:r>
              <a:rPr lang="en-US" dirty="0" err="1" smtClean="0"/>
              <a:t>kecepatan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respons</a:t>
            </a:r>
            <a:r>
              <a:rPr lang="en-US" dirty="0" smtClean="0"/>
              <a:t> </a:t>
            </a:r>
            <a:r>
              <a:rPr lang="en-US" dirty="0" err="1" smtClean="0"/>
              <a:t>cepat</a:t>
            </a:r>
            <a:r>
              <a:rPr lang="en-US" dirty="0" smtClean="0"/>
              <a:t>, </a:t>
            </a:r>
            <a:r>
              <a:rPr lang="en-US" dirty="0" err="1" smtClean="0"/>
              <a:t>seperti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r>
              <a:rPr lang="en-US" dirty="0" smtClean="0"/>
              <a:t> </a:t>
            </a:r>
            <a:r>
              <a:rPr lang="en-US" dirty="0" err="1" smtClean="0"/>
              <a:t>pengendalian</a:t>
            </a:r>
            <a:r>
              <a:rPr lang="en-US" dirty="0" smtClean="0"/>
              <a:t> </a:t>
            </a:r>
            <a:r>
              <a:rPr lang="en-US" dirty="0" err="1" smtClean="0"/>
              <a:t>lalu</a:t>
            </a:r>
            <a:r>
              <a:rPr lang="en-US" dirty="0" smtClean="0"/>
              <a:t> </a:t>
            </a:r>
            <a:r>
              <a:rPr lang="en-US" dirty="0" err="1" smtClean="0"/>
              <a:t>lintas</a:t>
            </a:r>
            <a:r>
              <a:rPr lang="en-US" dirty="0" smtClean="0"/>
              <a:t>, </a:t>
            </a:r>
            <a:r>
              <a:rPr lang="en-US" dirty="0" err="1" smtClean="0"/>
              <a:t>aplikasi</a:t>
            </a:r>
            <a:r>
              <a:rPr lang="en-US" dirty="0" smtClean="0"/>
              <a:t> </a:t>
            </a:r>
            <a:r>
              <a:rPr lang="en-US" dirty="0" err="1" smtClean="0"/>
              <a:t>medis</a:t>
            </a:r>
            <a:r>
              <a:rPr lang="en-US" dirty="0" smtClean="0"/>
              <a:t>,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r>
              <a:rPr lang="en-US" dirty="0" smtClean="0"/>
              <a:t> </a:t>
            </a:r>
            <a:r>
              <a:rPr lang="en-US" dirty="0" err="1" smtClean="0"/>
              <a:t>perdagangan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9066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Pilihan</a:t>
            </a:r>
            <a:r>
              <a:rPr lang="en-US" dirty="0" smtClean="0"/>
              <a:t> </a:t>
            </a:r>
            <a:r>
              <a:rPr lang="en-US" dirty="0" err="1" smtClean="0"/>
              <a:t>antara</a:t>
            </a:r>
            <a:r>
              <a:rPr lang="en-US" dirty="0" smtClean="0"/>
              <a:t> </a:t>
            </a:r>
            <a:r>
              <a:rPr lang="en-US" b="1" dirty="0" smtClean="0"/>
              <a:t>batch processing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b="1" dirty="0" smtClean="0"/>
              <a:t>real-time processing</a:t>
            </a:r>
            <a:r>
              <a:rPr lang="en-US" dirty="0" smtClean="0"/>
              <a:t> </a:t>
            </a:r>
            <a:r>
              <a:rPr lang="en-US" dirty="0" err="1" smtClean="0"/>
              <a:t>tergantung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kebutuhan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konteks</a:t>
            </a:r>
            <a:r>
              <a:rPr lang="en-US" dirty="0" smtClean="0"/>
              <a:t> </a:t>
            </a:r>
            <a:r>
              <a:rPr lang="en-US" dirty="0" err="1" smtClean="0"/>
              <a:t>aplikasi</a:t>
            </a:r>
            <a:r>
              <a:rPr lang="en-US" dirty="0" smtClean="0"/>
              <a:t> yang </a:t>
            </a:r>
            <a:r>
              <a:rPr lang="en-US" dirty="0" err="1" smtClean="0"/>
              <a:t>dihadapi</a:t>
            </a:r>
            <a:r>
              <a:rPr lang="en-US" dirty="0" smtClean="0"/>
              <a:t>. </a:t>
            </a:r>
            <a:r>
              <a:rPr lang="en-US" dirty="0" err="1" smtClean="0"/>
              <a:t>Berikut</a:t>
            </a:r>
            <a:r>
              <a:rPr lang="en-US" dirty="0" smtClean="0"/>
              <a:t>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perbandingan</a:t>
            </a:r>
            <a:r>
              <a:rPr lang="en-US" dirty="0" smtClean="0"/>
              <a:t> </a:t>
            </a:r>
            <a:r>
              <a:rPr lang="en-US" dirty="0" err="1" smtClean="0"/>
              <a:t>keduanya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membantu</a:t>
            </a:r>
            <a:r>
              <a:rPr lang="en-US" dirty="0" smtClean="0"/>
              <a:t> </a:t>
            </a:r>
            <a:r>
              <a:rPr lang="en-US" dirty="0" err="1" smtClean="0"/>
              <a:t>menentukan</a:t>
            </a:r>
            <a:r>
              <a:rPr lang="en-US" dirty="0" smtClean="0"/>
              <a:t> mana yang paling </a:t>
            </a:r>
            <a:r>
              <a:rPr lang="en-US" dirty="0" err="1" smtClean="0"/>
              <a:t>baik</a:t>
            </a:r>
            <a:r>
              <a:rPr lang="en-US" dirty="0" smtClean="0"/>
              <a:t> </a:t>
            </a:r>
            <a:r>
              <a:rPr lang="en-US" dirty="0" err="1" smtClean="0"/>
              <a:t>sesuai</a:t>
            </a:r>
            <a:r>
              <a:rPr lang="en-US" dirty="0" smtClean="0"/>
              <a:t> </a:t>
            </a:r>
            <a:r>
              <a:rPr lang="en-US" dirty="0" err="1" smtClean="0"/>
              <a:t>situasi</a:t>
            </a:r>
            <a:r>
              <a:rPr lang="en-US" dirty="0" smtClean="0"/>
              <a:t> </a:t>
            </a:r>
            <a:r>
              <a:rPr lang="en-US" dirty="0" err="1" smtClean="0"/>
              <a:t>tertentu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r>
              <a:rPr lang="en-US" b="1" dirty="0" smtClean="0"/>
              <a:t>Batch Processing</a:t>
            </a:r>
          </a:p>
          <a:p>
            <a:r>
              <a:rPr lang="en-US" b="1" dirty="0" err="1" smtClean="0"/>
              <a:t>Kelebihan</a:t>
            </a:r>
            <a:r>
              <a:rPr lang="en-US" b="1" dirty="0" smtClean="0"/>
              <a:t>:</a:t>
            </a:r>
            <a:endParaRPr lang="en-US" dirty="0" smtClean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b="1" dirty="0" err="1" smtClean="0"/>
              <a:t>Efisiensi</a:t>
            </a:r>
            <a:r>
              <a:rPr lang="en-US" b="1" dirty="0" smtClean="0"/>
              <a:t> </a:t>
            </a:r>
            <a:r>
              <a:rPr lang="en-US" b="1" dirty="0" err="1" smtClean="0"/>
              <a:t>Sumber</a:t>
            </a:r>
            <a:r>
              <a:rPr lang="en-US" b="1" dirty="0" smtClean="0"/>
              <a:t> </a:t>
            </a:r>
            <a:r>
              <a:rPr lang="en-US" b="1" dirty="0" err="1" smtClean="0"/>
              <a:t>Daya</a:t>
            </a:r>
            <a:r>
              <a:rPr lang="en-US" dirty="0" smtClean="0"/>
              <a:t>: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menjalankan</a:t>
            </a:r>
            <a:r>
              <a:rPr lang="en-US" dirty="0" smtClean="0"/>
              <a:t> </a:t>
            </a:r>
            <a:r>
              <a:rPr lang="en-US" dirty="0" err="1" smtClean="0"/>
              <a:t>banyak</a:t>
            </a:r>
            <a:r>
              <a:rPr lang="en-US" dirty="0" smtClean="0"/>
              <a:t> </a:t>
            </a:r>
            <a:r>
              <a:rPr lang="en-US" dirty="0" err="1" smtClean="0"/>
              <a:t>tugas</a:t>
            </a:r>
            <a:r>
              <a:rPr lang="en-US" dirty="0" smtClean="0"/>
              <a:t> </a:t>
            </a:r>
            <a:r>
              <a:rPr lang="en-US" dirty="0" err="1" smtClean="0"/>
              <a:t>sekaligus</a:t>
            </a:r>
            <a:r>
              <a:rPr lang="en-US" dirty="0" smtClean="0"/>
              <a:t>, </a:t>
            </a:r>
            <a:r>
              <a:rPr lang="en-US" dirty="0" err="1" smtClean="0"/>
              <a:t>mengoptimalkan</a:t>
            </a:r>
            <a:r>
              <a:rPr lang="en-US" dirty="0" smtClean="0"/>
              <a:t> </a:t>
            </a:r>
            <a:r>
              <a:rPr lang="en-US" dirty="0" err="1" smtClean="0"/>
              <a:t>penggunaan</a:t>
            </a:r>
            <a:r>
              <a:rPr lang="en-US" dirty="0" smtClean="0"/>
              <a:t> CPU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memori</a:t>
            </a:r>
            <a:r>
              <a:rPr lang="en-US" dirty="0" smtClean="0"/>
              <a:t>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b="1" dirty="0" err="1" smtClean="0"/>
              <a:t>Pengolahan</a:t>
            </a:r>
            <a:r>
              <a:rPr lang="en-US" b="1" dirty="0" smtClean="0"/>
              <a:t> Data </a:t>
            </a:r>
            <a:r>
              <a:rPr lang="en-US" b="1" dirty="0" err="1" smtClean="0"/>
              <a:t>Besar</a:t>
            </a:r>
            <a:r>
              <a:rPr lang="en-US" dirty="0" smtClean="0"/>
              <a:t>: </a:t>
            </a:r>
            <a:r>
              <a:rPr lang="en-US" dirty="0" err="1" smtClean="0"/>
              <a:t>Cocok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analisis</a:t>
            </a:r>
            <a:r>
              <a:rPr lang="en-US" dirty="0" smtClean="0"/>
              <a:t> data 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jumlah</a:t>
            </a:r>
            <a:r>
              <a:rPr lang="en-US" dirty="0" smtClean="0"/>
              <a:t> </a:t>
            </a:r>
            <a:r>
              <a:rPr lang="en-US" dirty="0" err="1" smtClean="0"/>
              <a:t>besar</a:t>
            </a:r>
            <a:r>
              <a:rPr lang="en-US" dirty="0" smtClean="0"/>
              <a:t>, </a:t>
            </a:r>
            <a:r>
              <a:rPr lang="en-US" dirty="0" err="1" smtClean="0"/>
              <a:t>seperti</a:t>
            </a:r>
            <a:r>
              <a:rPr lang="en-US" dirty="0" smtClean="0"/>
              <a:t> </a:t>
            </a:r>
            <a:r>
              <a:rPr lang="en-US" dirty="0" err="1" smtClean="0"/>
              <a:t>laporan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rekonsiliasi</a:t>
            </a:r>
            <a:r>
              <a:rPr lang="en-US" dirty="0" smtClean="0"/>
              <a:t>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b="1" dirty="0" err="1" smtClean="0"/>
              <a:t>Jadwal</a:t>
            </a:r>
            <a:r>
              <a:rPr lang="en-US" b="1" dirty="0" smtClean="0"/>
              <a:t> </a:t>
            </a:r>
            <a:r>
              <a:rPr lang="en-US" b="1" dirty="0" err="1" smtClean="0"/>
              <a:t>Fleksibel</a:t>
            </a:r>
            <a:r>
              <a:rPr lang="en-US" dirty="0" smtClean="0"/>
              <a:t>: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dijadwalkan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waktu</a:t>
            </a:r>
            <a:r>
              <a:rPr lang="en-US" dirty="0" smtClean="0"/>
              <a:t> di </a:t>
            </a:r>
            <a:r>
              <a:rPr lang="en-US" dirty="0" err="1" smtClean="0"/>
              <a:t>luar</a:t>
            </a:r>
            <a:r>
              <a:rPr lang="en-US" dirty="0" smtClean="0"/>
              <a:t> jam </a:t>
            </a:r>
            <a:r>
              <a:rPr lang="en-US" dirty="0" err="1" smtClean="0"/>
              <a:t>sibuk</a:t>
            </a:r>
            <a:r>
              <a:rPr lang="en-US" dirty="0" smtClean="0"/>
              <a:t>, </a:t>
            </a:r>
            <a:r>
              <a:rPr lang="en-US" dirty="0" err="1" smtClean="0"/>
              <a:t>mengurangi</a:t>
            </a:r>
            <a:r>
              <a:rPr lang="en-US" dirty="0" smtClean="0"/>
              <a:t> </a:t>
            </a:r>
            <a:r>
              <a:rPr lang="en-US" dirty="0" err="1" smtClean="0"/>
              <a:t>beban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r>
              <a:rPr lang="en-US" dirty="0" smtClean="0"/>
              <a:t> </a:t>
            </a:r>
            <a:r>
              <a:rPr lang="en-US" dirty="0" err="1" smtClean="0"/>
              <a:t>saat</a:t>
            </a:r>
            <a:r>
              <a:rPr lang="en-US" dirty="0" smtClean="0"/>
              <a:t> </a:t>
            </a:r>
            <a:r>
              <a:rPr lang="en-US" dirty="0" err="1" smtClean="0"/>
              <a:t>beban</a:t>
            </a:r>
            <a:r>
              <a:rPr lang="en-US" dirty="0" smtClean="0"/>
              <a:t> </a:t>
            </a:r>
            <a:r>
              <a:rPr lang="en-US" dirty="0" err="1" smtClean="0"/>
              <a:t>kerja</a:t>
            </a:r>
            <a:r>
              <a:rPr lang="en-US" dirty="0" smtClean="0"/>
              <a:t> </a:t>
            </a:r>
            <a:r>
              <a:rPr lang="en-US" dirty="0" err="1" smtClean="0"/>
              <a:t>tinggi</a:t>
            </a:r>
            <a:r>
              <a:rPr lang="en-US" dirty="0" smtClean="0"/>
              <a:t>.</a:t>
            </a:r>
          </a:p>
          <a:p>
            <a:endParaRPr lang="en-US" b="1" dirty="0" smtClean="0"/>
          </a:p>
          <a:p>
            <a:r>
              <a:rPr lang="en-US" b="1" dirty="0" err="1" smtClean="0"/>
              <a:t>Kekurangan</a:t>
            </a:r>
            <a:r>
              <a:rPr lang="en-US" b="1" dirty="0" smtClean="0"/>
              <a:t>:</a:t>
            </a: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/>
              <a:t>Latency Tinggi</a:t>
            </a:r>
            <a:r>
              <a:rPr lang="en-US" dirty="0" smtClean="0"/>
              <a:t>: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cocok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aplikasi</a:t>
            </a:r>
            <a:r>
              <a:rPr lang="en-US" dirty="0" smtClean="0"/>
              <a:t> yang </a:t>
            </a:r>
            <a:r>
              <a:rPr lang="en-US" dirty="0" err="1" smtClean="0"/>
              <a:t>memerlukan</a:t>
            </a:r>
            <a:r>
              <a:rPr lang="en-US" dirty="0" smtClean="0"/>
              <a:t> </a:t>
            </a:r>
            <a:r>
              <a:rPr lang="en-US" dirty="0" err="1" smtClean="0"/>
              <a:t>respons</a:t>
            </a:r>
            <a:r>
              <a:rPr lang="en-US" dirty="0" smtClean="0"/>
              <a:t> </a:t>
            </a:r>
            <a:r>
              <a:rPr lang="en-US" dirty="0" err="1" smtClean="0"/>
              <a:t>cepat</a:t>
            </a:r>
            <a:r>
              <a:rPr lang="en-US" dirty="0" smtClean="0"/>
              <a:t> </a:t>
            </a:r>
            <a:r>
              <a:rPr lang="en-US" dirty="0" err="1" smtClean="0"/>
              <a:t>karena</a:t>
            </a:r>
            <a:r>
              <a:rPr lang="en-US" dirty="0" smtClean="0"/>
              <a:t> </a:t>
            </a:r>
            <a:r>
              <a:rPr lang="en-US" dirty="0" err="1" smtClean="0"/>
              <a:t>memerlukan</a:t>
            </a:r>
            <a:r>
              <a:rPr lang="en-US" dirty="0" smtClean="0"/>
              <a:t> </a:t>
            </a:r>
            <a:r>
              <a:rPr lang="en-US" dirty="0" err="1" smtClean="0"/>
              <a:t>waktu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mengumpulkan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memproses</a:t>
            </a:r>
            <a:r>
              <a:rPr lang="en-US" dirty="0" smtClean="0"/>
              <a:t>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err="1" smtClean="0"/>
              <a:t>Interaksi</a:t>
            </a:r>
            <a:r>
              <a:rPr lang="en-US" b="1" dirty="0" smtClean="0"/>
              <a:t> </a:t>
            </a:r>
            <a:r>
              <a:rPr lang="en-US" b="1" dirty="0" err="1" smtClean="0"/>
              <a:t>Terbatas</a:t>
            </a:r>
            <a:r>
              <a:rPr lang="en-US" dirty="0" smtClean="0"/>
              <a:t>: </a:t>
            </a:r>
            <a:r>
              <a:rPr lang="en-US" dirty="0" err="1" smtClean="0"/>
              <a:t>Kurang</a:t>
            </a:r>
            <a:r>
              <a:rPr lang="en-US" dirty="0" smtClean="0"/>
              <a:t> ideal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r>
              <a:rPr lang="en-US" dirty="0" smtClean="0"/>
              <a:t> yang </a:t>
            </a:r>
            <a:r>
              <a:rPr lang="en-US" dirty="0" err="1" smtClean="0"/>
              <a:t>memerlukan</a:t>
            </a:r>
            <a:r>
              <a:rPr lang="en-US" dirty="0" smtClean="0"/>
              <a:t> </a:t>
            </a:r>
            <a:r>
              <a:rPr lang="en-US" dirty="0" err="1" smtClean="0"/>
              <a:t>interaksi</a:t>
            </a:r>
            <a:r>
              <a:rPr lang="en-US" dirty="0" smtClean="0"/>
              <a:t> </a:t>
            </a:r>
            <a:r>
              <a:rPr lang="en-US" dirty="0" err="1" smtClean="0"/>
              <a:t>langsung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pengguna</a:t>
            </a:r>
            <a:r>
              <a:rPr lang="en-US" dirty="0" smtClean="0"/>
              <a:t>.</a:t>
            </a:r>
          </a:p>
          <a:p>
            <a:endParaRPr lang="en-US" b="1" dirty="0" smtClean="0"/>
          </a:p>
          <a:p>
            <a:r>
              <a:rPr lang="en-US" b="1" dirty="0" smtClean="0"/>
              <a:t>Real-Time Processing</a:t>
            </a:r>
          </a:p>
          <a:p>
            <a:r>
              <a:rPr lang="en-US" b="1" dirty="0" err="1" smtClean="0"/>
              <a:t>Kelebihan</a:t>
            </a:r>
            <a:r>
              <a:rPr lang="en-US" b="1" dirty="0" smtClean="0"/>
              <a:t>:</a:t>
            </a: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err="1" smtClean="0"/>
              <a:t>Responsif</a:t>
            </a:r>
            <a:r>
              <a:rPr lang="en-US" dirty="0" smtClean="0"/>
              <a:t>: </a:t>
            </a:r>
            <a:r>
              <a:rPr lang="en-US" dirty="0" err="1" smtClean="0"/>
              <a:t>Memberikan</a:t>
            </a:r>
            <a:r>
              <a:rPr lang="en-US" dirty="0" smtClean="0"/>
              <a:t> </a:t>
            </a:r>
            <a:r>
              <a:rPr lang="en-US" dirty="0" err="1" smtClean="0"/>
              <a:t>hasil</a:t>
            </a:r>
            <a:r>
              <a:rPr lang="en-US" dirty="0" smtClean="0"/>
              <a:t> </a:t>
            </a:r>
            <a:r>
              <a:rPr lang="en-US" dirty="0" err="1" smtClean="0"/>
              <a:t>segera</a:t>
            </a:r>
            <a:r>
              <a:rPr lang="en-US" dirty="0" smtClean="0"/>
              <a:t>, </a:t>
            </a:r>
            <a:r>
              <a:rPr lang="en-US" dirty="0" err="1" smtClean="0"/>
              <a:t>cocok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aplikasi</a:t>
            </a:r>
            <a:r>
              <a:rPr lang="en-US" dirty="0" smtClean="0"/>
              <a:t> yang </a:t>
            </a:r>
            <a:r>
              <a:rPr lang="en-US" dirty="0" err="1" smtClean="0"/>
              <a:t>memerlukan</a:t>
            </a:r>
            <a:r>
              <a:rPr lang="en-US" dirty="0" smtClean="0"/>
              <a:t> </a:t>
            </a:r>
            <a:r>
              <a:rPr lang="en-US" dirty="0" err="1" smtClean="0"/>
              <a:t>interaksi</a:t>
            </a:r>
            <a:r>
              <a:rPr lang="en-US" dirty="0" smtClean="0"/>
              <a:t> </a:t>
            </a:r>
            <a:r>
              <a:rPr lang="en-US" dirty="0" err="1" smtClean="0"/>
              <a:t>langsung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keputusan</a:t>
            </a:r>
            <a:r>
              <a:rPr lang="en-US" dirty="0" smtClean="0"/>
              <a:t> </a:t>
            </a:r>
            <a:r>
              <a:rPr lang="en-US" dirty="0" err="1" smtClean="0"/>
              <a:t>cepat</a:t>
            </a:r>
            <a:r>
              <a:rPr lang="en-US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err="1" smtClean="0"/>
              <a:t>Pengendalian</a:t>
            </a:r>
            <a:r>
              <a:rPr lang="en-US" b="1" dirty="0" smtClean="0"/>
              <a:t> </a:t>
            </a:r>
            <a:r>
              <a:rPr lang="en-US" b="1" dirty="0" err="1" smtClean="0"/>
              <a:t>Dinamis</a:t>
            </a:r>
            <a:r>
              <a:rPr lang="en-US" dirty="0" smtClean="0"/>
              <a:t>: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menangani</a:t>
            </a:r>
            <a:r>
              <a:rPr lang="en-US" dirty="0" smtClean="0"/>
              <a:t> </a:t>
            </a:r>
            <a:r>
              <a:rPr lang="en-US" dirty="0" err="1" smtClean="0"/>
              <a:t>situasi</a:t>
            </a:r>
            <a:r>
              <a:rPr lang="en-US" dirty="0" smtClean="0"/>
              <a:t> yang </a:t>
            </a:r>
            <a:r>
              <a:rPr lang="en-US" dirty="0" err="1" smtClean="0"/>
              <a:t>berubah-ubah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memberikan</a:t>
            </a:r>
            <a:r>
              <a:rPr lang="en-US" dirty="0" smtClean="0"/>
              <a:t> </a:t>
            </a:r>
            <a:r>
              <a:rPr lang="en-US" dirty="0" err="1" smtClean="0"/>
              <a:t>umpan</a:t>
            </a:r>
            <a:r>
              <a:rPr lang="en-US" dirty="0" smtClean="0"/>
              <a:t> </a:t>
            </a:r>
            <a:r>
              <a:rPr lang="en-US" dirty="0" err="1" smtClean="0"/>
              <a:t>balik</a:t>
            </a:r>
            <a:r>
              <a:rPr lang="en-US" dirty="0" smtClean="0"/>
              <a:t> </a:t>
            </a:r>
            <a:r>
              <a:rPr lang="en-US" dirty="0" err="1" smtClean="0"/>
              <a:t>instan</a:t>
            </a:r>
            <a:r>
              <a:rPr lang="en-US" dirty="0" smtClean="0"/>
              <a:t>.</a:t>
            </a:r>
          </a:p>
          <a:p>
            <a:endParaRPr lang="en-US" b="1" dirty="0" smtClean="0"/>
          </a:p>
          <a:p>
            <a:r>
              <a:rPr lang="en-US" b="1" dirty="0" err="1" smtClean="0"/>
              <a:t>Kekurangan</a:t>
            </a:r>
            <a:r>
              <a:rPr lang="en-US" b="1" dirty="0" smtClean="0"/>
              <a:t>:</a:t>
            </a:r>
            <a:endParaRPr lang="en-US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err="1" smtClean="0"/>
              <a:t>Lebih</a:t>
            </a:r>
            <a:r>
              <a:rPr lang="en-US" b="1" dirty="0" smtClean="0"/>
              <a:t> </a:t>
            </a:r>
            <a:r>
              <a:rPr lang="en-US" b="1" dirty="0" err="1" smtClean="0"/>
              <a:t>Kompleks</a:t>
            </a:r>
            <a:r>
              <a:rPr lang="en-US" dirty="0" smtClean="0"/>
              <a:t>: </a:t>
            </a:r>
            <a:r>
              <a:rPr lang="en-US" dirty="0" err="1" smtClean="0"/>
              <a:t>Memerlukan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r>
              <a:rPr lang="en-US" dirty="0" smtClean="0"/>
              <a:t> yang </a:t>
            </a:r>
            <a:r>
              <a:rPr lang="en-US" dirty="0" err="1" smtClean="0"/>
              <a:t>lebih</a:t>
            </a:r>
            <a:r>
              <a:rPr lang="en-US" dirty="0" smtClean="0"/>
              <a:t> </a:t>
            </a:r>
            <a:r>
              <a:rPr lang="en-US" dirty="0" err="1" smtClean="0"/>
              <a:t>rumit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menjamin</a:t>
            </a:r>
            <a:r>
              <a:rPr lang="en-US" dirty="0" smtClean="0"/>
              <a:t> </a:t>
            </a:r>
            <a:r>
              <a:rPr lang="en-US" dirty="0" err="1" smtClean="0"/>
              <a:t>waktu</a:t>
            </a:r>
            <a:r>
              <a:rPr lang="en-US" dirty="0" smtClean="0"/>
              <a:t> </a:t>
            </a:r>
            <a:r>
              <a:rPr lang="en-US" dirty="0" err="1" smtClean="0"/>
              <a:t>respons</a:t>
            </a:r>
            <a:r>
              <a:rPr lang="en-US" dirty="0" smtClean="0"/>
              <a:t> yang </a:t>
            </a:r>
            <a:r>
              <a:rPr lang="en-US" dirty="0" err="1" smtClean="0"/>
              <a:t>konsisten</a:t>
            </a:r>
            <a:r>
              <a:rPr lang="en-US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err="1" smtClean="0"/>
              <a:t>Penggunaan</a:t>
            </a:r>
            <a:r>
              <a:rPr lang="en-US" b="1" dirty="0" smtClean="0"/>
              <a:t> </a:t>
            </a:r>
            <a:r>
              <a:rPr lang="en-US" b="1" dirty="0" err="1" smtClean="0"/>
              <a:t>Sumber</a:t>
            </a:r>
            <a:r>
              <a:rPr lang="en-US" b="1" dirty="0" smtClean="0"/>
              <a:t> </a:t>
            </a:r>
            <a:r>
              <a:rPr lang="en-US" b="1" dirty="0" err="1" smtClean="0"/>
              <a:t>Daya</a:t>
            </a:r>
            <a:r>
              <a:rPr lang="en-US" b="1" dirty="0" smtClean="0"/>
              <a:t> Tinggi</a:t>
            </a:r>
            <a:r>
              <a:rPr lang="en-US" dirty="0" smtClean="0"/>
              <a:t>: </a:t>
            </a:r>
            <a:r>
              <a:rPr lang="en-US" dirty="0" err="1" smtClean="0"/>
              <a:t>Dapat</a:t>
            </a:r>
            <a:r>
              <a:rPr lang="en-US" dirty="0" smtClean="0"/>
              <a:t> </a:t>
            </a:r>
            <a:r>
              <a:rPr lang="en-US" dirty="0" err="1" smtClean="0"/>
              <a:t>membebani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r>
              <a:rPr lang="en-US" dirty="0" smtClean="0"/>
              <a:t> </a:t>
            </a:r>
            <a:r>
              <a:rPr lang="en-US" dirty="0" err="1" smtClean="0"/>
              <a:t>karena</a:t>
            </a:r>
            <a:r>
              <a:rPr lang="en-US" dirty="0" smtClean="0"/>
              <a:t> </a:t>
            </a:r>
            <a:r>
              <a:rPr lang="en-US" dirty="0" err="1" smtClean="0"/>
              <a:t>memerlukan</a:t>
            </a:r>
            <a:r>
              <a:rPr lang="en-US" dirty="0" smtClean="0"/>
              <a:t> </a:t>
            </a:r>
            <a:r>
              <a:rPr lang="en-US" dirty="0" err="1" smtClean="0"/>
              <a:t>pemrosesan</a:t>
            </a:r>
            <a:r>
              <a:rPr lang="en-US" dirty="0" smtClean="0"/>
              <a:t> </a:t>
            </a:r>
            <a:r>
              <a:rPr lang="en-US" dirty="0" err="1" smtClean="0"/>
              <a:t>terus-menerus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real-time.</a:t>
            </a:r>
          </a:p>
          <a:p>
            <a:endParaRPr lang="en-US" b="1" dirty="0" smtClean="0"/>
          </a:p>
          <a:p>
            <a:r>
              <a:rPr lang="en-US" b="1" dirty="0" err="1" smtClean="0"/>
              <a:t>Kesimpulan</a:t>
            </a:r>
            <a:endParaRPr lang="en-US" b="1" dirty="0" smtClean="0"/>
          </a:p>
          <a:p>
            <a:pPr marL="457200" indent="-457200">
              <a:buFont typeface="+mj-lt"/>
              <a:buAutoNum type="arabicPeriod"/>
            </a:pPr>
            <a:r>
              <a:rPr lang="en-US" b="1" dirty="0" smtClean="0"/>
              <a:t>Batch Processing</a:t>
            </a:r>
            <a:r>
              <a:rPr lang="en-US" dirty="0" smtClean="0"/>
              <a:t> </a:t>
            </a:r>
            <a:r>
              <a:rPr lang="en-US" dirty="0" err="1" smtClean="0"/>
              <a:t>lebih</a:t>
            </a:r>
            <a:r>
              <a:rPr lang="en-US" dirty="0" smtClean="0"/>
              <a:t> </a:t>
            </a:r>
            <a:r>
              <a:rPr lang="en-US" dirty="0" err="1" smtClean="0"/>
              <a:t>baik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aplikasi</a:t>
            </a:r>
            <a:r>
              <a:rPr lang="en-US" dirty="0" smtClean="0"/>
              <a:t> yang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memerlukan</a:t>
            </a:r>
            <a:r>
              <a:rPr lang="en-US" dirty="0" smtClean="0"/>
              <a:t> </a:t>
            </a:r>
            <a:r>
              <a:rPr lang="en-US" dirty="0" err="1" smtClean="0"/>
              <a:t>respons</a:t>
            </a:r>
            <a:r>
              <a:rPr lang="en-US" dirty="0" smtClean="0"/>
              <a:t> </a:t>
            </a:r>
            <a:r>
              <a:rPr lang="en-US" dirty="0" err="1" smtClean="0"/>
              <a:t>instan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bisa</a:t>
            </a:r>
            <a:r>
              <a:rPr lang="en-US" dirty="0" smtClean="0"/>
              <a:t> </a:t>
            </a:r>
            <a:r>
              <a:rPr lang="en-US" dirty="0" err="1" smtClean="0"/>
              <a:t>memproses</a:t>
            </a:r>
            <a:r>
              <a:rPr lang="en-US" dirty="0" smtClean="0"/>
              <a:t> data 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jumlah</a:t>
            </a:r>
            <a:r>
              <a:rPr lang="en-US" dirty="0" smtClean="0"/>
              <a:t> </a:t>
            </a:r>
            <a:r>
              <a:rPr lang="en-US" dirty="0" err="1" smtClean="0"/>
              <a:t>besar</a:t>
            </a:r>
            <a:r>
              <a:rPr lang="en-US" dirty="0" smtClean="0"/>
              <a:t> </a:t>
            </a:r>
            <a:r>
              <a:rPr lang="en-US" dirty="0" err="1" smtClean="0"/>
              <a:t>secara</a:t>
            </a:r>
            <a:r>
              <a:rPr lang="en-US" dirty="0" smtClean="0"/>
              <a:t> </a:t>
            </a:r>
            <a:r>
              <a:rPr lang="en-US" dirty="0" err="1" smtClean="0"/>
              <a:t>efisien</a:t>
            </a:r>
            <a:r>
              <a:rPr lang="en-US" dirty="0" smtClean="0"/>
              <a:t>, </a:t>
            </a:r>
            <a:r>
              <a:rPr lang="en-US" dirty="0" err="1" smtClean="0"/>
              <a:t>seperti</a:t>
            </a:r>
            <a:r>
              <a:rPr lang="en-US" dirty="0" smtClean="0"/>
              <a:t> </a:t>
            </a:r>
            <a:r>
              <a:rPr lang="en-US" dirty="0" err="1" smtClean="0"/>
              <a:t>laporan</a:t>
            </a:r>
            <a:r>
              <a:rPr lang="en-US" dirty="0" smtClean="0"/>
              <a:t> </a:t>
            </a:r>
            <a:r>
              <a:rPr lang="en-US" dirty="0" err="1" smtClean="0"/>
              <a:t>keuangan</a:t>
            </a:r>
            <a:r>
              <a:rPr lang="en-US" dirty="0" smtClean="0"/>
              <a:t>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pengolahan</a:t>
            </a:r>
            <a:r>
              <a:rPr lang="en-US" dirty="0" smtClean="0"/>
              <a:t> </a:t>
            </a:r>
            <a:r>
              <a:rPr lang="en-US" dirty="0" err="1" smtClean="0"/>
              <a:t>transaksi</a:t>
            </a:r>
            <a:r>
              <a:rPr lang="en-US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smtClean="0"/>
              <a:t>Real-Time Processing</a:t>
            </a:r>
            <a:r>
              <a:rPr lang="en-US" dirty="0" smtClean="0"/>
              <a:t> </a:t>
            </a:r>
            <a:r>
              <a:rPr lang="en-US" dirty="0" err="1" smtClean="0"/>
              <a:t>lebih</a:t>
            </a:r>
            <a:r>
              <a:rPr lang="en-US" dirty="0" smtClean="0"/>
              <a:t> </a:t>
            </a:r>
            <a:r>
              <a:rPr lang="en-US" dirty="0" err="1" smtClean="0"/>
              <a:t>baik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aplikasi</a:t>
            </a:r>
            <a:r>
              <a:rPr lang="en-US" dirty="0" smtClean="0"/>
              <a:t> yang </a:t>
            </a:r>
            <a:r>
              <a:rPr lang="en-US" dirty="0" err="1" smtClean="0"/>
              <a:t>memerlukan</a:t>
            </a:r>
            <a:r>
              <a:rPr lang="en-US" dirty="0" smtClean="0"/>
              <a:t> </a:t>
            </a:r>
            <a:r>
              <a:rPr lang="en-US" dirty="0" err="1" smtClean="0"/>
              <a:t>kecepatan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respons</a:t>
            </a:r>
            <a:r>
              <a:rPr lang="en-US" dirty="0" smtClean="0"/>
              <a:t> </a:t>
            </a:r>
            <a:r>
              <a:rPr lang="en-US" dirty="0" err="1" smtClean="0"/>
              <a:t>cepat</a:t>
            </a:r>
            <a:r>
              <a:rPr lang="en-US" dirty="0" smtClean="0"/>
              <a:t>, </a:t>
            </a:r>
            <a:r>
              <a:rPr lang="en-US" dirty="0" err="1" smtClean="0"/>
              <a:t>seperti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r>
              <a:rPr lang="en-US" dirty="0" smtClean="0"/>
              <a:t> </a:t>
            </a:r>
            <a:r>
              <a:rPr lang="en-US" dirty="0" err="1" smtClean="0"/>
              <a:t>pengendalian</a:t>
            </a:r>
            <a:r>
              <a:rPr lang="en-US" dirty="0" smtClean="0"/>
              <a:t> </a:t>
            </a:r>
            <a:r>
              <a:rPr lang="en-US" dirty="0" err="1" smtClean="0"/>
              <a:t>lalu</a:t>
            </a:r>
            <a:r>
              <a:rPr lang="en-US" dirty="0" smtClean="0"/>
              <a:t> </a:t>
            </a:r>
            <a:r>
              <a:rPr lang="en-US" dirty="0" err="1" smtClean="0"/>
              <a:t>lintas</a:t>
            </a:r>
            <a:r>
              <a:rPr lang="en-US" dirty="0" smtClean="0"/>
              <a:t>, </a:t>
            </a:r>
            <a:r>
              <a:rPr lang="en-US" dirty="0" err="1" smtClean="0"/>
              <a:t>aplikasi</a:t>
            </a:r>
            <a:r>
              <a:rPr lang="en-US" dirty="0" smtClean="0"/>
              <a:t> </a:t>
            </a:r>
            <a:r>
              <a:rPr lang="en-US" dirty="0" err="1" smtClean="0"/>
              <a:t>medis</a:t>
            </a:r>
            <a:r>
              <a:rPr lang="en-US" dirty="0" smtClean="0"/>
              <a:t>, </a:t>
            </a:r>
            <a:r>
              <a:rPr lang="en-US" dirty="0" err="1" smtClean="0"/>
              <a:t>atau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r>
              <a:rPr lang="en-US" dirty="0" smtClean="0"/>
              <a:t> </a:t>
            </a:r>
            <a:r>
              <a:rPr lang="en-US" dirty="0" err="1" smtClean="0"/>
              <a:t>perdagangan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168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1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l.mtu.edu/cs4411.ck/www/NOTES/process/fork/create.html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l.mtu.edu/cs4411.ck/www/NOTES/process/fork/create.html" TargetMode="External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nlinegdb.com/online_c_compiler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COMP6697001-Operating Systems</a:t>
            </a:r>
          </a:p>
          <a:p>
            <a:r>
              <a:rPr lang="en-US" dirty="0"/>
              <a:t>Session 2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Description and Control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607722" y="11538583"/>
            <a:ext cx="5168556" cy="745888"/>
          </a:xfrm>
        </p:spPr>
        <p:txBody>
          <a:bodyPr/>
          <a:lstStyle/>
          <a:p>
            <a:r>
              <a:rPr lang="en-US" dirty="0"/>
              <a:t>Dr. Zulfany Erlisa Rasjid </a:t>
            </a:r>
            <a:r>
              <a:rPr lang="en-US" dirty="0" err="1"/>
              <a:t>B.Sc.,MMSI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D69D5-C9F7-F630-AFBC-C6919367E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Operating Systems Process Control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3C48D5-03CE-6CDC-F193-7A0A730E23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125" y="3413640"/>
            <a:ext cx="9768875" cy="5849630"/>
          </a:xfrm>
        </p:spPr>
        <p:txBody>
          <a:bodyPr>
            <a:normAutofit/>
          </a:bodyPr>
          <a:lstStyle/>
          <a:p>
            <a:r>
              <a:rPr lang="en-US" dirty="0"/>
              <a:t>- Process Control Block</a:t>
            </a:r>
          </a:p>
          <a:p>
            <a:r>
              <a:rPr lang="en-US" dirty="0"/>
              <a:t>-  Process States</a:t>
            </a:r>
          </a:p>
          <a:p>
            <a:r>
              <a:rPr lang="en-US" dirty="0"/>
              <a:t>-  Process Creation and Termination</a:t>
            </a:r>
          </a:p>
          <a:p>
            <a:r>
              <a:rPr lang="en-US" dirty="0"/>
              <a:t>-  Process Control Structure</a:t>
            </a:r>
          </a:p>
          <a:p>
            <a:r>
              <a:rPr lang="en-US" dirty="0"/>
              <a:t>-  Unix Process Management</a:t>
            </a:r>
          </a:p>
          <a:p>
            <a:r>
              <a:rPr lang="en-US" dirty="0"/>
              <a:t>-  Process Management System Calls</a:t>
            </a:r>
          </a:p>
        </p:txBody>
      </p:sp>
    </p:spTree>
    <p:extLst>
      <p:ext uri="{BB962C8B-B14F-4D97-AF65-F5344CB8AC3E}">
        <p14:creationId xmlns:p14="http://schemas.microsoft.com/office/powerpoint/2010/main" val="198192688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D9B38-047A-8D82-4E64-63C84FB76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/>
              <a:t>Acknowledgement</a:t>
            </a:r>
            <a:br>
              <a:rPr lang="en-US" sz="3600" b="1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ED6962-EEBC-671A-7193-94836A9E68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3773040"/>
            <a:ext cx="11768079" cy="4932048"/>
          </a:xfrm>
        </p:spPr>
        <p:txBody>
          <a:bodyPr>
            <a:normAutofit/>
          </a:bodyPr>
          <a:lstStyle/>
          <a:p>
            <a:r>
              <a:rPr lang="en-US" dirty="0"/>
              <a:t>These slides have been adapted from: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Stallings, W. (2018). Operating Systems: Internals and Design Principles. 9th. </a:t>
            </a:r>
            <a:br>
              <a:rPr lang="en-US" dirty="0"/>
            </a:br>
            <a:r>
              <a:rPr lang="en-US" dirty="0"/>
              <a:t>ISBN: 978-1-292-21429-0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Chapter 3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030248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F3BD4-D0D0-FE79-710A-DA37F3C95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72058"/>
            <a:ext cx="14950191" cy="1236902"/>
          </a:xfrm>
        </p:spPr>
        <p:txBody>
          <a:bodyPr>
            <a:normAutofit fontScale="900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Learning Objectives</a:t>
            </a:r>
            <a:b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8FAA0F-F03B-77D2-AEE0-EEFAE1EDB9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49922" y="4102224"/>
            <a:ext cx="18122910" cy="6139056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altLang="en-US" dirty="0"/>
              <a:t>At the end of this lecture, students are able to:</a:t>
            </a:r>
          </a:p>
          <a:p>
            <a:pPr>
              <a:buFontTx/>
              <a:buNone/>
            </a:pPr>
            <a:r>
              <a:rPr lang="en-US" altLang="en-US" dirty="0"/>
              <a:t>LO2 :  Explain the concept of Process</a:t>
            </a:r>
          </a:p>
          <a:p>
            <a:pPr>
              <a:buFontTx/>
              <a:buNone/>
            </a:pPr>
            <a:r>
              <a:rPr lang="en-US" altLang="en-US" dirty="0"/>
              <a:t>LO2 :  Explain different Process states</a:t>
            </a:r>
          </a:p>
          <a:p>
            <a:pPr>
              <a:buFontTx/>
              <a:buNone/>
            </a:pPr>
            <a:r>
              <a:rPr lang="en-US" altLang="en-US" dirty="0"/>
              <a:t>LO4 :  Writing program using process management system calls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63763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953" y="1767229"/>
            <a:ext cx="14715569" cy="510281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is a process?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645694-0245-B02B-B721-7DE4A9FEA7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79913" y="3536058"/>
            <a:ext cx="18486783" cy="4826892"/>
          </a:xfrm>
        </p:spPr>
        <p:txBody>
          <a:bodyPr>
            <a:noAutofit/>
          </a:bodyPr>
          <a:lstStyle/>
          <a:p>
            <a:pPr marL="571500" indent="-5715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sv-SE" sz="3600" dirty="0"/>
              <a:t>Sebuah program yang sedang </a:t>
            </a:r>
            <a:r>
              <a:rPr lang="sv-SE" sz="3600" dirty="0" smtClean="0"/>
              <a:t>dijalankan</a:t>
            </a:r>
          </a:p>
          <a:p>
            <a:pPr marL="571500" indent="-5715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3600" dirty="0" err="1"/>
              <a:t>Contoh</a:t>
            </a:r>
            <a:r>
              <a:rPr lang="en-US" sz="3600" dirty="0"/>
              <a:t> program yang </a:t>
            </a:r>
            <a:r>
              <a:rPr lang="en-US" sz="3600" dirty="0" err="1"/>
              <a:t>berjalan</a:t>
            </a:r>
            <a:r>
              <a:rPr lang="en-US" sz="3600" dirty="0"/>
              <a:t> di </a:t>
            </a:r>
            <a:r>
              <a:rPr lang="en-US" sz="3600" dirty="0" smtClean="0"/>
              <a:t>computer</a:t>
            </a:r>
          </a:p>
          <a:p>
            <a:pPr marL="571500" indent="-5715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3600" dirty="0" err="1"/>
              <a:t>Entitas</a:t>
            </a:r>
            <a:r>
              <a:rPr lang="en-US" sz="3600" dirty="0"/>
              <a:t> yang </a:t>
            </a:r>
            <a:r>
              <a:rPr lang="en-US" sz="3600" dirty="0" err="1"/>
              <a:t>dapat</a:t>
            </a:r>
            <a:r>
              <a:rPr lang="en-US" sz="3600" dirty="0"/>
              <a:t> </a:t>
            </a:r>
            <a:r>
              <a:rPr lang="en-US" sz="3600" dirty="0" err="1"/>
              <a:t>ditetapkan</a:t>
            </a:r>
            <a:r>
              <a:rPr lang="en-US" sz="3600" dirty="0"/>
              <a:t> </a:t>
            </a:r>
            <a:r>
              <a:rPr lang="en-US" sz="3600" dirty="0" err="1"/>
              <a:t>dan</a:t>
            </a:r>
            <a:r>
              <a:rPr lang="en-US" sz="3600" dirty="0"/>
              <a:t> </a:t>
            </a:r>
            <a:r>
              <a:rPr lang="en-US" sz="3600" dirty="0" err="1"/>
              <a:t>dieksekusi</a:t>
            </a:r>
            <a:r>
              <a:rPr lang="en-US" sz="3600" dirty="0"/>
              <a:t> </a:t>
            </a:r>
            <a:r>
              <a:rPr lang="en-US" sz="3600" dirty="0" err="1"/>
              <a:t>pada</a:t>
            </a:r>
            <a:r>
              <a:rPr lang="en-US" sz="3600" dirty="0"/>
              <a:t> </a:t>
            </a:r>
            <a:r>
              <a:rPr lang="en-US" sz="3600" dirty="0" err="1" smtClean="0"/>
              <a:t>prosesor</a:t>
            </a:r>
            <a:endParaRPr lang="en-US" sz="3600" dirty="0" smtClean="0"/>
          </a:p>
        </p:txBody>
      </p:sp>
    </p:spTree>
    <p:extLst>
      <p:ext uri="{BB962C8B-B14F-4D97-AF65-F5344CB8AC3E}">
        <p14:creationId xmlns:p14="http://schemas.microsoft.com/office/powerpoint/2010/main" val="2187725472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A83F6-8AF0-A949-D3B1-95B1C9981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Process Creation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62FB5874-7C03-522F-262E-06A4C7DBA1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3548187"/>
              </p:ext>
            </p:extLst>
          </p:nvPr>
        </p:nvGraphicFramePr>
        <p:xfrm>
          <a:off x="2507406" y="4762500"/>
          <a:ext cx="20059985" cy="67955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394158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A83F6-8AF0-A949-D3B1-95B1C9981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Process Creation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83091" y="2703374"/>
            <a:ext cx="12972889" cy="91409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4000" b="1">
                <a:solidFill>
                  <a:schemeClr val="tx1">
                    <a:lumMod val="50000"/>
                  </a:schemeClr>
                </a:solidFill>
              </a:rPr>
              <a:t>Parent Process</a:t>
            </a:r>
          </a:p>
          <a:p>
            <a:pPr marL="457200" lvl="0" indent="-45720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smtClean="0">
                <a:solidFill>
                  <a:schemeClr val="tx1">
                    <a:lumMod val="50000"/>
                  </a:schemeClr>
                </a:solidFill>
              </a:rPr>
              <a:t>Proses </a:t>
            </a:r>
            <a:r>
              <a:rPr lang="en-US" altLang="en-US" sz="3200">
                <a:solidFill>
                  <a:schemeClr val="tx1">
                    <a:lumMod val="50000"/>
                  </a:schemeClr>
                </a:solidFill>
              </a:rPr>
              <a:t>yang </a:t>
            </a:r>
            <a:r>
              <a:rPr lang="en-US" altLang="en-US" sz="3200" b="1">
                <a:solidFill>
                  <a:schemeClr val="tx1">
                    <a:lumMod val="50000"/>
                  </a:schemeClr>
                </a:solidFill>
              </a:rPr>
              <a:t>memulai</a:t>
            </a:r>
            <a:r>
              <a:rPr lang="en-US" altLang="en-US" sz="3200">
                <a:solidFill>
                  <a:schemeClr val="tx1">
                    <a:lumMod val="50000"/>
                  </a:schemeClr>
                </a:solidFill>
              </a:rPr>
              <a:t> atau </a:t>
            </a:r>
            <a:r>
              <a:rPr lang="en-US" altLang="en-US" sz="3200" b="1">
                <a:solidFill>
                  <a:schemeClr val="tx1">
                    <a:lumMod val="50000"/>
                  </a:schemeClr>
                </a:solidFill>
              </a:rPr>
              <a:t>menciptakan</a:t>
            </a:r>
            <a:r>
              <a:rPr lang="en-US" altLang="en-US" sz="3200">
                <a:solidFill>
                  <a:schemeClr val="tx1">
                    <a:lumMod val="50000"/>
                  </a:schemeClr>
                </a:solidFill>
              </a:rPr>
              <a:t> proses lain (child).</a:t>
            </a:r>
          </a:p>
          <a:p>
            <a:pPr marL="457200" lvl="0" indent="-45720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smtClean="0">
                <a:solidFill>
                  <a:srgbClr val="FF0000"/>
                </a:solidFill>
              </a:rPr>
              <a:t>Induk </a:t>
            </a:r>
            <a:r>
              <a:rPr lang="en-US" altLang="en-US" sz="3200">
                <a:solidFill>
                  <a:srgbClr val="FF0000"/>
                </a:solidFill>
              </a:rPr>
              <a:t>yang melakukan </a:t>
            </a:r>
            <a:r>
              <a:rPr lang="en-US" altLang="en-US" sz="3200" i="1">
                <a:solidFill>
                  <a:srgbClr val="FF0000"/>
                </a:solidFill>
              </a:rPr>
              <a:t>spawning</a:t>
            </a:r>
            <a:r>
              <a:rPr lang="en-US" altLang="en-US" sz="3200">
                <a:solidFill>
                  <a:srgbClr val="FF0000"/>
                </a:solidFill>
              </a:rPr>
              <a:t>.</a:t>
            </a:r>
          </a:p>
          <a:p>
            <a:pPr marL="457200" lvl="0" indent="-45720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b="1">
                <a:solidFill>
                  <a:schemeClr val="tx1">
                    <a:lumMod val="50000"/>
                  </a:schemeClr>
                </a:solidFill>
              </a:rPr>
              <a:t>Ciri khas</a:t>
            </a:r>
            <a:r>
              <a:rPr lang="en-US" altLang="en-US" sz="3200">
                <a:solidFill>
                  <a:schemeClr val="tx1">
                    <a:lumMod val="50000"/>
                  </a:schemeClr>
                </a:solidFill>
              </a:rPr>
              <a:t>:</a:t>
            </a:r>
          </a:p>
          <a:p>
            <a:pPr marL="1349375" lvl="1" indent="-51435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3200">
                <a:solidFill>
                  <a:schemeClr val="tx1">
                    <a:lumMod val="50000"/>
                  </a:schemeClr>
                </a:solidFill>
              </a:rPr>
              <a:t>Memiliki ID proses (PID) sendiri.</a:t>
            </a:r>
          </a:p>
          <a:p>
            <a:pPr marL="1349375" lvl="1" indent="-51435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3200">
                <a:solidFill>
                  <a:schemeClr val="tx1">
                    <a:lumMod val="50000"/>
                  </a:schemeClr>
                </a:solidFill>
              </a:rPr>
              <a:t>Tercatat sebagai “parent” dalam tabel proses OS.</a:t>
            </a:r>
          </a:p>
          <a:p>
            <a:pPr marL="1349375" lvl="1" indent="-51435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3200">
                <a:solidFill>
                  <a:schemeClr val="tx1">
                    <a:lumMod val="50000"/>
                  </a:schemeClr>
                </a:solidFill>
              </a:rPr>
              <a:t>Bisa mengontrol child-nya (misalnya menunggu, menghentikan, atau membaca status exit).</a:t>
            </a:r>
          </a:p>
          <a:p>
            <a:pPr marL="457200" lvl="0" indent="-45720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b="1">
                <a:solidFill>
                  <a:schemeClr val="tx1">
                    <a:lumMod val="50000"/>
                  </a:schemeClr>
                </a:solidFill>
              </a:rPr>
              <a:t>Contoh</a:t>
            </a:r>
            <a:r>
              <a:rPr lang="en-US" altLang="en-US" sz="3200">
                <a:solidFill>
                  <a:schemeClr val="tx1">
                    <a:lumMod val="50000"/>
                  </a:schemeClr>
                </a:solidFill>
              </a:rPr>
              <a:t>:</a:t>
            </a:r>
          </a:p>
          <a:p>
            <a:pPr marL="1349375" lvl="1" indent="-51435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3200">
                <a:solidFill>
                  <a:schemeClr val="tx1">
                    <a:lumMod val="50000"/>
                  </a:schemeClr>
                </a:solidFill>
              </a:rPr>
              <a:t>Browser utama (Chrome/Firefox</a:t>
            </a:r>
            <a:r>
              <a:rPr lang="en-US" altLang="en-US" sz="3200" smtClean="0">
                <a:solidFill>
                  <a:schemeClr val="tx1">
                    <a:lumMod val="50000"/>
                  </a:schemeClr>
                </a:solidFill>
              </a:rPr>
              <a:t>).</a:t>
            </a:r>
            <a:endParaRPr lang="en-US" altLang="en-US" sz="3200">
              <a:solidFill>
                <a:schemeClr val="tx1">
                  <a:lumMod val="50000"/>
                </a:schemeClr>
              </a:solidFill>
            </a:endParaRPr>
          </a:p>
          <a:p>
            <a:pPr marL="1349375" lvl="1" indent="-51435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3200">
                <a:solidFill>
                  <a:schemeClr val="tx1">
                    <a:lumMod val="50000"/>
                  </a:schemeClr>
                </a:solidFill>
              </a:rPr>
              <a:t>Steam launcher saat menjalankan game.</a:t>
            </a:r>
          </a:p>
          <a:p>
            <a:pPr lvl="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3200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7831" y="5583735"/>
            <a:ext cx="12466758" cy="7012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79464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A83F6-8AF0-A949-D3B1-95B1C9981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Process Creation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83091" y="2703374"/>
            <a:ext cx="10161109" cy="10618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4000" b="1">
                <a:solidFill>
                  <a:schemeClr val="tx1">
                    <a:lumMod val="50000"/>
                  </a:schemeClr>
                </a:solidFill>
              </a:rPr>
              <a:t>Child Process</a:t>
            </a:r>
          </a:p>
          <a:p>
            <a:pPr marL="457200" lvl="0" indent="-45720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smtClean="0">
                <a:solidFill>
                  <a:schemeClr val="tx1">
                    <a:lumMod val="50000"/>
                  </a:schemeClr>
                </a:solidFill>
              </a:rPr>
              <a:t>Proses </a:t>
            </a:r>
            <a:r>
              <a:rPr lang="en-US" altLang="en-US" sz="3200" b="1">
                <a:solidFill>
                  <a:schemeClr val="tx1">
                    <a:lumMod val="50000"/>
                  </a:schemeClr>
                </a:solidFill>
              </a:rPr>
              <a:t>baru</a:t>
            </a:r>
            <a:r>
              <a:rPr lang="en-US" altLang="en-US" sz="3200">
                <a:solidFill>
                  <a:schemeClr val="tx1">
                    <a:lumMod val="50000"/>
                  </a:schemeClr>
                </a:solidFill>
              </a:rPr>
              <a:t> yang dihasilkan dari </a:t>
            </a:r>
            <a:r>
              <a:rPr lang="en-US" altLang="en-US" sz="3200" i="1">
                <a:solidFill>
                  <a:schemeClr val="tx1">
                    <a:lumMod val="50000"/>
                  </a:schemeClr>
                </a:solidFill>
              </a:rPr>
              <a:t>spawning</a:t>
            </a:r>
            <a:r>
              <a:rPr lang="en-US" altLang="en-US" sz="3200">
                <a:solidFill>
                  <a:schemeClr val="tx1">
                    <a:lumMod val="50000"/>
                  </a:schemeClr>
                </a:solidFill>
              </a:rPr>
              <a:t> oleh parent.</a:t>
            </a:r>
          </a:p>
          <a:p>
            <a:pPr marL="457200" lvl="0" indent="-45720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b="1">
                <a:solidFill>
                  <a:schemeClr val="tx1">
                    <a:lumMod val="50000"/>
                  </a:schemeClr>
                </a:solidFill>
              </a:rPr>
              <a:t>Ciri khas</a:t>
            </a:r>
            <a:r>
              <a:rPr lang="en-US" altLang="en-US" sz="3200">
                <a:solidFill>
                  <a:schemeClr val="tx1">
                    <a:lumMod val="50000"/>
                  </a:schemeClr>
                </a:solidFill>
              </a:rPr>
              <a:t>:</a:t>
            </a:r>
          </a:p>
          <a:p>
            <a:pPr marL="1257300" lvl="1" indent="-549275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tabLst>
                <a:tab pos="1349375" algn="l"/>
              </a:tabLst>
            </a:pPr>
            <a:r>
              <a:rPr lang="en-US" altLang="en-US" sz="3200">
                <a:solidFill>
                  <a:schemeClr val="tx1">
                    <a:lumMod val="50000"/>
                  </a:schemeClr>
                </a:solidFill>
              </a:rPr>
              <a:t>Memiliki PID unik.</a:t>
            </a:r>
          </a:p>
          <a:p>
            <a:pPr marL="1257300" lvl="1" indent="-549275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tabLst>
                <a:tab pos="1349375" algn="l"/>
              </a:tabLst>
            </a:pPr>
            <a:r>
              <a:rPr lang="en-US" altLang="en-US" sz="3200">
                <a:solidFill>
                  <a:schemeClr val="tx1">
                    <a:lumMod val="50000"/>
                  </a:schemeClr>
                </a:solidFill>
              </a:rPr>
              <a:t>Memiliki catatan parent (PPID = Parent Process ID).</a:t>
            </a:r>
          </a:p>
          <a:p>
            <a:pPr marL="1257300" lvl="1" indent="-549275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tabLst>
                <a:tab pos="1349375" algn="l"/>
              </a:tabLst>
            </a:pPr>
            <a:r>
              <a:rPr lang="en-US" altLang="en-US" sz="3200">
                <a:solidFill>
                  <a:schemeClr val="tx1">
                    <a:lumMod val="50000"/>
                  </a:schemeClr>
                </a:solidFill>
              </a:rPr>
              <a:t>Bisa mewarisi sebagian properti parent (misalnya environment variables).</a:t>
            </a:r>
          </a:p>
          <a:p>
            <a:pPr marL="457200" lvl="0" indent="-45720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b="1">
                <a:solidFill>
                  <a:schemeClr val="tx1">
                    <a:lumMod val="50000"/>
                  </a:schemeClr>
                </a:solidFill>
              </a:rPr>
              <a:t>Contoh</a:t>
            </a:r>
            <a:r>
              <a:rPr lang="en-US" altLang="en-US" sz="3200">
                <a:solidFill>
                  <a:schemeClr val="tx1">
                    <a:lumMod val="50000"/>
                  </a:schemeClr>
                </a:solidFill>
              </a:rPr>
              <a:t>:</a:t>
            </a:r>
          </a:p>
          <a:p>
            <a:pPr marL="1257300" lvl="1" indent="-549275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3200" b="1" smtClean="0">
                <a:solidFill>
                  <a:schemeClr val="tx1">
                    <a:lumMod val="50000"/>
                  </a:schemeClr>
                </a:solidFill>
              </a:rPr>
              <a:t>Tab</a:t>
            </a:r>
            <a:r>
              <a:rPr lang="en-US" altLang="en-US" sz="3200" smtClean="0">
                <a:solidFill>
                  <a:schemeClr val="tx1">
                    <a:lumMod val="50000"/>
                  </a:schemeClr>
                </a:solidFill>
              </a:rPr>
              <a:t> browser baru</a:t>
            </a:r>
            <a:r>
              <a:rPr lang="en-US" altLang="en-US" sz="3200">
                <a:solidFill>
                  <a:schemeClr val="tx1">
                    <a:lumMod val="50000"/>
                  </a:schemeClr>
                </a:solidFill>
              </a:rPr>
              <a:t>.</a:t>
            </a:r>
          </a:p>
          <a:p>
            <a:pPr marL="1257300" lvl="1" indent="-549275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3200" smtClean="0">
                <a:solidFill>
                  <a:schemeClr val="tx1">
                    <a:lumMod val="50000"/>
                  </a:schemeClr>
                </a:solidFill>
              </a:rPr>
              <a:t>Proses </a:t>
            </a:r>
            <a:r>
              <a:rPr lang="en-US" altLang="en-US" sz="3200">
                <a:solidFill>
                  <a:schemeClr val="tx1">
                    <a:lumMod val="50000"/>
                  </a:schemeClr>
                </a:solidFill>
              </a:rPr>
              <a:t>printing yang dipanggil dari Microsoft Word.</a:t>
            </a:r>
          </a:p>
          <a:p>
            <a:pPr lvl="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3200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2900452"/>
            <a:ext cx="13205819" cy="509980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8175218"/>
            <a:ext cx="11945300" cy="1859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60905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A83F6-8AF0-A949-D3B1-95B1C9981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Process Creation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83091" y="2909114"/>
            <a:ext cx="15022669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 defTabSz="914400" eaLnBrk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4000" b="1">
                <a:solidFill>
                  <a:schemeClr val="tx1">
                    <a:lumMod val="50000"/>
                  </a:schemeClr>
                </a:solidFill>
              </a:rPr>
              <a:t>Spawning Process</a:t>
            </a:r>
          </a:p>
          <a:p>
            <a:pPr marL="457200" lvl="0" indent="-45720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smtClean="0">
                <a:solidFill>
                  <a:schemeClr val="tx1">
                    <a:lumMod val="50000"/>
                  </a:schemeClr>
                </a:solidFill>
              </a:rPr>
              <a:t>Aksi </a:t>
            </a:r>
            <a:r>
              <a:rPr lang="en-US" altLang="en-US" sz="3200">
                <a:solidFill>
                  <a:schemeClr val="tx1">
                    <a:lumMod val="50000"/>
                  </a:schemeClr>
                </a:solidFill>
              </a:rPr>
              <a:t>atau mekanisme ketika </a:t>
            </a:r>
            <a:r>
              <a:rPr lang="en-US" altLang="en-US" sz="3200" b="1">
                <a:solidFill>
                  <a:schemeClr val="tx1">
                    <a:lumMod val="50000"/>
                  </a:schemeClr>
                </a:solidFill>
              </a:rPr>
              <a:t>parent process membuat child process baru</a:t>
            </a:r>
            <a:r>
              <a:rPr lang="en-US" altLang="en-US" sz="3200">
                <a:solidFill>
                  <a:schemeClr val="tx1">
                    <a:lumMod val="50000"/>
                  </a:schemeClr>
                </a:solidFill>
              </a:rPr>
              <a:t>.</a:t>
            </a:r>
          </a:p>
          <a:p>
            <a:pPr marL="457200" lvl="0" indent="-45720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b="1">
                <a:solidFill>
                  <a:schemeClr val="tx1">
                    <a:lumMod val="50000"/>
                  </a:schemeClr>
                </a:solidFill>
              </a:rPr>
              <a:t>Contoh</a:t>
            </a:r>
            <a:r>
              <a:rPr lang="en-US" altLang="en-US" sz="3200">
                <a:solidFill>
                  <a:schemeClr val="tx1">
                    <a:lumMod val="50000"/>
                  </a:schemeClr>
                </a:solidFill>
              </a:rPr>
              <a:t>:</a:t>
            </a:r>
          </a:p>
          <a:p>
            <a:pPr marL="1349375" lvl="1" indent="-51435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3200">
                <a:solidFill>
                  <a:schemeClr val="tx1">
                    <a:lumMod val="50000"/>
                  </a:schemeClr>
                </a:solidFill>
              </a:rPr>
              <a:t>fork() di Linux/Unix.</a:t>
            </a:r>
          </a:p>
          <a:p>
            <a:pPr marL="1349375" lvl="1" indent="-51435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3200">
                <a:solidFill>
                  <a:schemeClr val="tx1">
                    <a:lumMod val="50000"/>
                  </a:schemeClr>
                </a:solidFill>
              </a:rPr>
              <a:t>CreateProcess() di Windows.</a:t>
            </a:r>
          </a:p>
          <a:p>
            <a:pPr marL="1349375" lvl="1" indent="-51435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3200">
                <a:solidFill>
                  <a:schemeClr val="tx1">
                    <a:lumMod val="50000"/>
                  </a:schemeClr>
                </a:solidFill>
              </a:rPr>
              <a:t>User klik "Open New Tab" → browser melakukan </a:t>
            </a:r>
            <a:r>
              <a:rPr lang="en-US" altLang="en-US" sz="3200" i="1">
                <a:solidFill>
                  <a:schemeClr val="tx1">
                    <a:lumMod val="50000"/>
                  </a:schemeClr>
                </a:solidFill>
              </a:rPr>
              <a:t>spawning</a:t>
            </a:r>
            <a:r>
              <a:rPr lang="en-US" altLang="en-US" sz="320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altLang="en-US" sz="3200" smtClean="0">
                <a:solidFill>
                  <a:schemeClr val="tx1">
                    <a:lumMod val="50000"/>
                  </a:schemeClr>
                </a:solidFill>
              </a:rPr>
              <a:t>/ menciptakan / melahirkan tab </a:t>
            </a:r>
            <a:r>
              <a:rPr lang="en-US" altLang="en-US" sz="3200">
                <a:solidFill>
                  <a:schemeClr val="tx1">
                    <a:lumMod val="50000"/>
                  </a:schemeClr>
                </a:solidFill>
              </a:rPr>
              <a:t>baru.</a:t>
            </a:r>
          </a:p>
          <a:p>
            <a:pPr marL="457200" lvl="0" indent="-457200" algn="l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200">
                <a:solidFill>
                  <a:schemeClr val="tx1">
                    <a:lumMod val="50000"/>
                  </a:schemeClr>
                </a:solidFill>
              </a:rPr>
              <a:t>Jadi </a:t>
            </a:r>
            <a:r>
              <a:rPr lang="en-US" sz="3200" b="1">
                <a:solidFill>
                  <a:schemeClr val="tx1">
                    <a:lumMod val="50000"/>
                  </a:schemeClr>
                </a:solidFill>
              </a:rPr>
              <a:t>spawning = tindakan / proses melahirkan</a:t>
            </a:r>
            <a:r>
              <a:rPr lang="en-US" sz="3200">
                <a:solidFill>
                  <a:schemeClr val="tx1">
                    <a:lumMod val="50000"/>
                  </a:schemeClr>
                </a:solidFill>
              </a:rPr>
              <a:t>.</a:t>
            </a:r>
            <a:endParaRPr lang="en-US" altLang="en-US" sz="3200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2480" y="3606337"/>
            <a:ext cx="7945119" cy="713888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1289" y="7548125"/>
            <a:ext cx="5249118" cy="5700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14384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A83F6-8AF0-A949-D3B1-95B1C9981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Process Creation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723901" y="2838800"/>
            <a:ext cx="23050500" cy="7940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Proses spawning 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biasanya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 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melibatkan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 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dua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 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langkah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 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utama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400" b="0" i="0" u="none" strike="noStrike" cap="none" normalizeH="0" baseline="0" dirty="0" smtClean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3400" b="1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Forking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: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Proses yang 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sudah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 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ada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 (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disebut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 proses 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induk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) 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memanggil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 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fungsi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 fork() yang 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akan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 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membuat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 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salinan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 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baru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 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dari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 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dirinya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 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sendiri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 (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disebut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 proses 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anak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). Proses 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anak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 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memiliki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 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ruang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 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alamat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 yang 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terpisah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, 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tetapi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 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awalnya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 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memiliki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 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konten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 yang 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sama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 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dengan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 proses 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induk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400" b="0" i="0" u="none" strike="noStrike" cap="none" normalizeH="0" baseline="0" dirty="0" smtClean="0">
              <a:ln>
                <a:noFill/>
              </a:ln>
              <a:solidFill>
                <a:schemeClr val="tx1">
                  <a:lumMod val="50000"/>
                </a:schemeClr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3400" b="1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Exec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: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Setelah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 proses 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anak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 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dibuat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, proses 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ini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 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sering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 kali 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menjalankan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 program yang 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berbeda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 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dengan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 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menggunakan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 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fungsi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 exec(), yang 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menggantikan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 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konten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 proses 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anak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 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dengan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 program 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baru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 yang 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ingin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 </a:t>
            </a:r>
            <a:r>
              <a:rPr kumimoji="0" lang="en-US" altLang="en-US" sz="3400" b="0" i="0" u="none" strike="noStrike" cap="none" normalizeH="0" baseline="0" dirty="0" err="1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dijalankan</a:t>
            </a:r>
            <a:r>
              <a:rPr kumimoji="0" lang="en-US" altLang="en-US" sz="3400" b="0" i="0" u="none" strike="noStrike" cap="none" normalizeH="0" baseline="0" dirty="0" smtClean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</a:rPr>
              <a:t>. </a:t>
            </a:r>
          </a:p>
        </p:txBody>
      </p:sp>
      <p:sp>
        <p:nvSpPr>
          <p:cNvPr id="4" name="Rectangle 3"/>
          <p:cNvSpPr/>
          <p:nvPr/>
        </p:nvSpPr>
        <p:spPr>
          <a:xfrm>
            <a:off x="723901" y="11332759"/>
            <a:ext cx="23050500" cy="14909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dirty="0">
                <a:solidFill>
                  <a:schemeClr val="accent5">
                    <a:lumMod val="75000"/>
                  </a:schemeClr>
                </a:solidFill>
              </a:rPr>
              <a:t>Proses spawning </a:t>
            </a:r>
            <a:r>
              <a:rPr lang="en-US" altLang="en-US" sz="3200" dirty="0" err="1">
                <a:solidFill>
                  <a:schemeClr val="accent5">
                    <a:lumMod val="75000"/>
                  </a:schemeClr>
                </a:solidFill>
              </a:rPr>
              <a:t>ini</a:t>
            </a:r>
            <a:r>
              <a:rPr lang="en-US" altLang="en-US" sz="32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altLang="en-US" sz="3200" dirty="0" err="1">
                <a:solidFill>
                  <a:schemeClr val="accent5">
                    <a:lumMod val="75000"/>
                  </a:schemeClr>
                </a:solidFill>
              </a:rPr>
              <a:t>penting</a:t>
            </a:r>
            <a:r>
              <a:rPr lang="en-US" altLang="en-US" sz="32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altLang="en-US" sz="3200" dirty="0" err="1">
                <a:solidFill>
                  <a:schemeClr val="accent5">
                    <a:lumMod val="75000"/>
                  </a:schemeClr>
                </a:solidFill>
              </a:rPr>
              <a:t>dalam</a:t>
            </a:r>
            <a:r>
              <a:rPr lang="en-US" altLang="en-US" sz="3200" dirty="0">
                <a:solidFill>
                  <a:schemeClr val="accent5">
                    <a:lumMod val="75000"/>
                  </a:schemeClr>
                </a:solidFill>
              </a:rPr>
              <a:t> multitasking, </a:t>
            </a:r>
            <a:r>
              <a:rPr lang="en-US" altLang="en-US" sz="3200" dirty="0" err="1">
                <a:solidFill>
                  <a:schemeClr val="accent5">
                    <a:lumMod val="75000"/>
                  </a:schemeClr>
                </a:solidFill>
              </a:rPr>
              <a:t>karena</a:t>
            </a:r>
            <a:r>
              <a:rPr lang="en-US" altLang="en-US" sz="32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altLang="en-US" sz="3200" dirty="0" err="1">
                <a:solidFill>
                  <a:schemeClr val="accent5">
                    <a:lumMod val="75000"/>
                  </a:schemeClr>
                </a:solidFill>
              </a:rPr>
              <a:t>memungkinkan</a:t>
            </a:r>
            <a:r>
              <a:rPr lang="en-US" altLang="en-US" sz="32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altLang="en-US" sz="3200" dirty="0" err="1">
                <a:solidFill>
                  <a:schemeClr val="accent5">
                    <a:lumMod val="75000"/>
                  </a:schemeClr>
                </a:solidFill>
              </a:rPr>
              <a:t>sistem</a:t>
            </a:r>
            <a:r>
              <a:rPr lang="en-US" altLang="en-US" sz="32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altLang="en-US" sz="3200" dirty="0" err="1">
                <a:solidFill>
                  <a:schemeClr val="accent5">
                    <a:lumMod val="75000"/>
                  </a:schemeClr>
                </a:solidFill>
              </a:rPr>
              <a:t>operasi</a:t>
            </a:r>
            <a:r>
              <a:rPr lang="en-US" altLang="en-US" sz="32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altLang="en-US" sz="3200" dirty="0" err="1">
                <a:solidFill>
                  <a:schemeClr val="accent5">
                    <a:lumMod val="75000"/>
                  </a:schemeClr>
                </a:solidFill>
              </a:rPr>
              <a:t>untuk</a:t>
            </a:r>
            <a:r>
              <a:rPr lang="en-US" altLang="en-US" sz="32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altLang="en-US" sz="3200" dirty="0" err="1">
                <a:solidFill>
                  <a:schemeClr val="accent5">
                    <a:lumMod val="75000"/>
                  </a:schemeClr>
                </a:solidFill>
              </a:rPr>
              <a:t>menjalankan</a:t>
            </a:r>
            <a:r>
              <a:rPr lang="en-US" altLang="en-US" sz="32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altLang="en-US" sz="3200" dirty="0" err="1">
                <a:solidFill>
                  <a:schemeClr val="accent5">
                    <a:lumMod val="75000"/>
                  </a:schemeClr>
                </a:solidFill>
              </a:rPr>
              <a:t>banyak</a:t>
            </a:r>
            <a:r>
              <a:rPr lang="en-US" altLang="en-US" sz="32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altLang="en-US" sz="3200" dirty="0" err="1">
                <a:solidFill>
                  <a:schemeClr val="accent5">
                    <a:lumMod val="75000"/>
                  </a:schemeClr>
                </a:solidFill>
              </a:rPr>
              <a:t>tugas</a:t>
            </a:r>
            <a:r>
              <a:rPr lang="en-US" altLang="en-US" sz="32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altLang="en-US" sz="3200" dirty="0" err="1">
                <a:solidFill>
                  <a:schemeClr val="accent5">
                    <a:lumMod val="75000"/>
                  </a:schemeClr>
                </a:solidFill>
              </a:rPr>
              <a:t>secara</a:t>
            </a:r>
            <a:r>
              <a:rPr lang="en-US" altLang="en-US" sz="32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altLang="en-US" sz="3200" dirty="0" err="1">
                <a:solidFill>
                  <a:schemeClr val="accent5">
                    <a:lumMod val="75000"/>
                  </a:schemeClr>
                </a:solidFill>
              </a:rPr>
              <a:t>bersamaan</a:t>
            </a:r>
            <a:r>
              <a:rPr lang="en-US" altLang="en-US" sz="3200" dirty="0">
                <a:solidFill>
                  <a:schemeClr val="accent5">
                    <a:lumMod val="75000"/>
                  </a:schemeClr>
                </a:solidFill>
              </a:rPr>
              <a:t>, </a:t>
            </a:r>
            <a:r>
              <a:rPr lang="en-US" altLang="en-US" sz="3200" dirty="0" err="1">
                <a:solidFill>
                  <a:schemeClr val="accent5">
                    <a:lumMod val="75000"/>
                  </a:schemeClr>
                </a:solidFill>
              </a:rPr>
              <a:t>meningkatkan</a:t>
            </a:r>
            <a:r>
              <a:rPr lang="en-US" altLang="en-US" sz="32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altLang="en-US" sz="3200" dirty="0" err="1">
                <a:solidFill>
                  <a:schemeClr val="accent5">
                    <a:lumMod val="75000"/>
                  </a:schemeClr>
                </a:solidFill>
              </a:rPr>
              <a:t>efisiensi</a:t>
            </a:r>
            <a:r>
              <a:rPr lang="en-US" altLang="en-US" sz="32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altLang="en-US" sz="3200" dirty="0" err="1">
                <a:solidFill>
                  <a:schemeClr val="accent5">
                    <a:lumMod val="75000"/>
                  </a:schemeClr>
                </a:solidFill>
              </a:rPr>
              <a:t>dan</a:t>
            </a:r>
            <a:r>
              <a:rPr lang="en-US" altLang="en-US" sz="32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altLang="en-US" sz="3200" dirty="0" err="1">
                <a:solidFill>
                  <a:schemeClr val="accent5">
                    <a:lumMod val="75000"/>
                  </a:schemeClr>
                </a:solidFill>
              </a:rPr>
              <a:t>responsivitas</a:t>
            </a:r>
            <a:r>
              <a:rPr lang="en-US" altLang="en-US" sz="32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altLang="en-US" sz="3200" dirty="0" err="1">
                <a:solidFill>
                  <a:schemeClr val="accent5">
                    <a:lumMod val="75000"/>
                  </a:schemeClr>
                </a:solidFill>
              </a:rPr>
              <a:t>sistem</a:t>
            </a:r>
            <a:endParaRPr lang="en-US" altLang="en-US" sz="32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005912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 err="1"/>
              <a:t>Proces</a:t>
            </a:r>
            <a:r>
              <a:rPr lang="en-NZ" dirty="0"/>
              <a:t> elements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212D49-B4F7-4974-7E55-53E2F9EACBBA}"/>
              </a:ext>
            </a:extLst>
          </p:cNvPr>
          <p:cNvSpPr txBox="1"/>
          <p:nvPr/>
        </p:nvSpPr>
        <p:spPr>
          <a:xfrm>
            <a:off x="2167377" y="2804163"/>
            <a:ext cx="21208438" cy="21236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lvl="0" algn="l" defTabSz="914400" hangingPunct="1">
              <a:lnSpc>
                <a:spcPct val="150000"/>
              </a:lnSpc>
              <a:defRPr/>
            </a:pPr>
            <a:r>
              <a:rPr lang="en-US" sz="4400" kern="1200" dirty="0" err="1">
                <a:solidFill>
                  <a:prstClr val="black"/>
                </a:solidFill>
                <a:latin typeface="Calibri"/>
              </a:rPr>
              <a:t>Ketika</a:t>
            </a:r>
            <a:r>
              <a:rPr lang="en-US" sz="4400" kern="12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4400" u="sng" kern="1200" dirty="0">
                <a:solidFill>
                  <a:prstClr val="black"/>
                </a:solidFill>
                <a:latin typeface="Calibri"/>
              </a:rPr>
              <a:t>program </a:t>
            </a:r>
            <a:r>
              <a:rPr lang="en-US" sz="4400" u="sng" kern="1200" dirty="0" err="1">
                <a:solidFill>
                  <a:prstClr val="black"/>
                </a:solidFill>
                <a:latin typeface="Calibri"/>
              </a:rPr>
              <a:t>sedang</a:t>
            </a:r>
            <a:r>
              <a:rPr lang="en-US" sz="4400" u="sng" kern="12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4400" u="sng" kern="1200" dirty="0" err="1">
                <a:solidFill>
                  <a:prstClr val="black"/>
                </a:solidFill>
                <a:latin typeface="Calibri"/>
              </a:rPr>
              <a:t>dijalankan</a:t>
            </a:r>
            <a:r>
              <a:rPr lang="en-US" sz="4400" kern="1200" dirty="0">
                <a:solidFill>
                  <a:prstClr val="black"/>
                </a:solidFill>
                <a:latin typeface="Calibri"/>
              </a:rPr>
              <a:t>, </a:t>
            </a:r>
            <a:r>
              <a:rPr lang="en-US" sz="4400" u="sng" kern="1200" dirty="0" err="1" smtClean="0">
                <a:solidFill>
                  <a:prstClr val="black"/>
                </a:solidFill>
                <a:latin typeface="Calibri"/>
              </a:rPr>
              <a:t>sebuah</a:t>
            </a:r>
            <a:r>
              <a:rPr lang="en-US" sz="4400" u="sng" kern="1200" dirty="0" smtClean="0">
                <a:solidFill>
                  <a:prstClr val="black"/>
                </a:solidFill>
                <a:latin typeface="Calibri"/>
              </a:rPr>
              <a:t> proses </a:t>
            </a:r>
            <a:r>
              <a:rPr lang="en-US" sz="4400" u="sng" kern="1200" dirty="0" err="1" smtClean="0">
                <a:solidFill>
                  <a:prstClr val="black"/>
                </a:solidFill>
                <a:latin typeface="Calibri"/>
              </a:rPr>
              <a:t>dapat</a:t>
            </a:r>
            <a:r>
              <a:rPr lang="en-US" sz="4400" u="sng" kern="1200" dirty="0" smtClean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4400" u="sng" kern="1200" dirty="0" err="1">
                <a:solidFill>
                  <a:prstClr val="black"/>
                </a:solidFill>
                <a:latin typeface="Calibri"/>
              </a:rPr>
              <a:t>dicirikan</a:t>
            </a:r>
            <a:r>
              <a:rPr lang="en-US" sz="4400" u="sng" kern="12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4400" u="sng" kern="1200" dirty="0" err="1">
                <a:solidFill>
                  <a:prstClr val="black"/>
                </a:solidFill>
                <a:latin typeface="Calibri"/>
              </a:rPr>
              <a:t>secara</a:t>
            </a:r>
            <a:r>
              <a:rPr lang="en-US" sz="4400" u="sng" kern="12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4400" u="sng" kern="1200" dirty="0" err="1">
                <a:solidFill>
                  <a:prstClr val="black"/>
                </a:solidFill>
                <a:latin typeface="Calibri"/>
              </a:rPr>
              <a:t>unik</a:t>
            </a:r>
            <a:r>
              <a:rPr lang="en-US" sz="4400" u="sng" kern="12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4400" u="sng" kern="1200" dirty="0" err="1">
                <a:solidFill>
                  <a:prstClr val="black"/>
                </a:solidFill>
                <a:latin typeface="Calibri"/>
              </a:rPr>
              <a:t>oleh</a:t>
            </a:r>
            <a:r>
              <a:rPr lang="en-US" sz="4400" u="sng" kern="12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4400" u="sng" kern="1200" dirty="0" err="1">
                <a:solidFill>
                  <a:prstClr val="black"/>
                </a:solidFill>
                <a:latin typeface="Calibri"/>
              </a:rPr>
              <a:t>sejumlah</a:t>
            </a:r>
            <a:r>
              <a:rPr lang="en-US" sz="4400" u="sng" kern="12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4400" u="sng" kern="1200" dirty="0" err="1" smtClean="0">
                <a:solidFill>
                  <a:prstClr val="black"/>
                </a:solidFill>
                <a:latin typeface="Calibri"/>
              </a:rPr>
              <a:t>elemen</a:t>
            </a:r>
            <a:r>
              <a:rPr lang="en-US" sz="4400" kern="1200" dirty="0" smtClean="0">
                <a:solidFill>
                  <a:prstClr val="black"/>
                </a:solidFill>
                <a:latin typeface="Calibri"/>
              </a:rPr>
              <a:t>, </a:t>
            </a:r>
            <a:r>
              <a:rPr lang="en-US" sz="4400" kern="1200" dirty="0" err="1" smtClean="0">
                <a:solidFill>
                  <a:prstClr val="black"/>
                </a:solidFill>
                <a:latin typeface="Calibri"/>
              </a:rPr>
              <a:t>diantaranya</a:t>
            </a:r>
            <a:r>
              <a:rPr lang="en-US" sz="4400" kern="1200" dirty="0" smtClean="0">
                <a:solidFill>
                  <a:prstClr val="black"/>
                </a:solidFill>
                <a:latin typeface="Calibri"/>
              </a:rPr>
              <a:t>: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DBF34B76-F761-AE00-1347-8EED8D966C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2290021"/>
              </p:ext>
            </p:extLst>
          </p:nvPr>
        </p:nvGraphicFramePr>
        <p:xfrm>
          <a:off x="4020168" y="4927821"/>
          <a:ext cx="17502856" cy="72659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502340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/>
              <a:t>Two-state process model</a:t>
            </a:r>
            <a:endParaRPr lang="en-US" dirty="0"/>
          </a:p>
        </p:txBody>
      </p:sp>
      <p:pic>
        <p:nvPicPr>
          <p:cNvPr id="3" name="Picture 2" descr="f5.pdf">
            <a:extLst>
              <a:ext uri="{FF2B5EF4-FFF2-40B4-BE49-F238E27FC236}">
                <a16:creationId xmlns:a16="http://schemas.microsoft.com/office/drawing/2014/main" id="{218BF8A6-5401-17AD-30D2-13470005E7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45" t="5882" r="15455" b="57647"/>
          <a:stretch>
            <a:fillRect/>
          </a:stretch>
        </p:blipFill>
        <p:spPr>
          <a:xfrm>
            <a:off x="615867" y="2892620"/>
            <a:ext cx="13692251" cy="5512638"/>
          </a:xfrm>
          <a:prstGeom prst="rect">
            <a:avLst/>
          </a:prstGeom>
        </p:spPr>
      </p:pic>
      <p:pic>
        <p:nvPicPr>
          <p:cNvPr id="7" name="Picture 6" descr="f2.pdf">
            <a:extLst>
              <a:ext uri="{FF2B5EF4-FFF2-40B4-BE49-F238E27FC236}">
                <a16:creationId xmlns:a16="http://schemas.microsoft.com/office/drawing/2014/main" id="{C61E9319-C4DF-A8F1-496F-4255FA60B2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161" y="4433345"/>
            <a:ext cx="14734907" cy="1138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31212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/>
              <a:t>Two-state process model</a:t>
            </a:r>
            <a:endParaRPr lang="en-US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66F1DA85-D75A-AD68-AD27-AB3B790E45E1}"/>
              </a:ext>
            </a:extLst>
          </p:cNvPr>
          <p:cNvSpPr txBox="1">
            <a:spLocks/>
          </p:cNvSpPr>
          <p:nvPr/>
        </p:nvSpPr>
        <p:spPr>
          <a:xfrm>
            <a:off x="1726476" y="12364584"/>
            <a:ext cx="20419551" cy="675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prstClr val="black">
                    <a:tint val="75000"/>
                  </a:prstClr>
                </a:solidFill>
                <a:latin typeface="Calibri"/>
              </a:rPr>
              <a:t>© 2017 Pearson Education, Inc., Hoboken, NJ. All rights reserved.</a:t>
            </a:r>
          </a:p>
        </p:txBody>
      </p:sp>
      <p:pic>
        <p:nvPicPr>
          <p:cNvPr id="4" name="Picture 3" descr="f5.pdf">
            <a:extLst>
              <a:ext uri="{FF2B5EF4-FFF2-40B4-BE49-F238E27FC236}">
                <a16:creationId xmlns:a16="http://schemas.microsoft.com/office/drawing/2014/main" id="{36F9BA85-45F1-81D2-2620-03FC2A93BF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45" t="45882" r="19091" b="7059"/>
          <a:stretch>
            <a:fillRect/>
          </a:stretch>
        </p:blipFill>
        <p:spPr>
          <a:xfrm>
            <a:off x="4935779" y="3454400"/>
            <a:ext cx="14153661" cy="7755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41659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smtClean="0"/>
              <a:t>Five-state </a:t>
            </a:r>
            <a:r>
              <a:rPr lang="en-NZ" dirty="0"/>
              <a:t>process model</a:t>
            </a:r>
            <a:endParaRPr lang="en-US" dirty="0"/>
          </a:p>
        </p:txBody>
      </p:sp>
      <p:pic>
        <p:nvPicPr>
          <p:cNvPr id="7" name="Picture 6" descr="f6.pdf">
            <a:extLst>
              <a:ext uri="{FF2B5EF4-FFF2-40B4-BE49-F238E27FC236}">
                <a16:creationId xmlns:a16="http://schemas.microsoft.com/office/drawing/2014/main" id="{8C532D94-8B8D-86E5-A592-DE1AE92CD1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64" t="24706" r="8182" b="16471"/>
          <a:stretch>
            <a:fillRect/>
          </a:stretch>
        </p:blipFill>
        <p:spPr>
          <a:xfrm>
            <a:off x="399726" y="2844801"/>
            <a:ext cx="14186768" cy="754610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907520" y="5045133"/>
            <a:ext cx="11785600" cy="6029984"/>
          </a:xfrm>
          <a:prstGeom prst="rect">
            <a:avLst/>
          </a:prstGeom>
          <a:solidFill>
            <a:srgbClr val="E7FDFA"/>
          </a:solidFill>
          <a:ln w="38100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600">
                <a:solidFill>
                  <a:schemeClr val="tx1">
                    <a:lumMod val="50000"/>
                  </a:schemeClr>
                </a:solidFill>
              </a:rPr>
              <a:t>Dalam model ini, proses </a:t>
            </a:r>
            <a:r>
              <a:rPr lang="en-US" sz="2600" smtClean="0">
                <a:solidFill>
                  <a:schemeClr val="tx1">
                    <a:lumMod val="50000"/>
                  </a:schemeClr>
                </a:solidFill>
              </a:rPr>
              <a:t>berada </a:t>
            </a:r>
            <a:r>
              <a:rPr lang="en-US" sz="2600">
                <a:solidFill>
                  <a:schemeClr val="tx1">
                    <a:lumMod val="50000"/>
                  </a:schemeClr>
                </a:solidFill>
              </a:rPr>
              <a:t>di </a:t>
            </a:r>
            <a:r>
              <a:rPr lang="en-US" sz="2600" b="1">
                <a:solidFill>
                  <a:schemeClr val="tx1">
                    <a:lumMod val="50000"/>
                  </a:schemeClr>
                </a:solidFill>
              </a:rPr>
              <a:t>lima state</a:t>
            </a:r>
            <a:r>
              <a:rPr lang="en-US" sz="2600">
                <a:solidFill>
                  <a:schemeClr val="tx1">
                    <a:lumMod val="50000"/>
                  </a:schemeClr>
                </a:solidFill>
              </a:rPr>
              <a:t>: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600" b="1">
                <a:solidFill>
                  <a:schemeClr val="tx1">
                    <a:lumMod val="50000"/>
                  </a:schemeClr>
                </a:solidFill>
              </a:rPr>
              <a:t>New</a:t>
            </a:r>
            <a:r>
              <a:rPr lang="en-US" sz="2600">
                <a:solidFill>
                  <a:schemeClr val="tx1">
                    <a:lumMod val="50000"/>
                  </a:schemeClr>
                </a:solidFill>
              </a:rPr>
              <a:t> – proses baru dibuat (</a:t>
            </a:r>
            <a:r>
              <a:rPr lang="en-US" sz="2600" i="1">
                <a:solidFill>
                  <a:schemeClr val="tx1">
                    <a:lumMod val="50000"/>
                  </a:schemeClr>
                </a:solidFill>
              </a:rPr>
              <a:t>just created</a:t>
            </a:r>
            <a:r>
              <a:rPr lang="en-US" sz="2600">
                <a:solidFill>
                  <a:schemeClr val="tx1">
                    <a:lumMod val="50000"/>
                  </a:schemeClr>
                </a:solidFill>
              </a:rPr>
              <a:t>).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600" b="1">
                <a:solidFill>
                  <a:schemeClr val="tx1">
                    <a:lumMod val="50000"/>
                  </a:schemeClr>
                </a:solidFill>
              </a:rPr>
              <a:t>Ready</a:t>
            </a:r>
            <a:r>
              <a:rPr lang="en-US" sz="2600">
                <a:solidFill>
                  <a:schemeClr val="tx1">
                    <a:lumMod val="50000"/>
                  </a:schemeClr>
                </a:solidFill>
              </a:rPr>
              <a:t> – proses siap dieksekusi, menunggu CPU.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600" b="1">
                <a:solidFill>
                  <a:schemeClr val="tx1">
                    <a:lumMod val="50000"/>
                  </a:schemeClr>
                </a:solidFill>
              </a:rPr>
              <a:t>Running</a:t>
            </a:r>
            <a:r>
              <a:rPr lang="en-US" sz="2600">
                <a:solidFill>
                  <a:schemeClr val="tx1">
                    <a:lumMod val="50000"/>
                  </a:schemeClr>
                </a:solidFill>
              </a:rPr>
              <a:t> – proses sedang dieksekusi oleh CPU.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600" b="1">
                <a:solidFill>
                  <a:schemeClr val="tx1">
                    <a:lumMod val="50000"/>
                  </a:schemeClr>
                </a:solidFill>
              </a:rPr>
              <a:t>Blocked/Waiting</a:t>
            </a:r>
            <a:r>
              <a:rPr lang="en-US" sz="2600">
                <a:solidFill>
                  <a:schemeClr val="tx1">
                    <a:lumMod val="50000"/>
                  </a:schemeClr>
                </a:solidFill>
              </a:rPr>
              <a:t> – proses berhenti sementara karena menunggu event/IO (misalnya menunggu input dari disk).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600" b="1">
                <a:solidFill>
                  <a:schemeClr val="tx1">
                    <a:lumMod val="50000"/>
                  </a:schemeClr>
                </a:solidFill>
              </a:rPr>
              <a:t>Exit/Terminated</a:t>
            </a:r>
            <a:r>
              <a:rPr lang="en-US" sz="2600">
                <a:solidFill>
                  <a:schemeClr val="tx1">
                    <a:lumMod val="50000"/>
                  </a:schemeClr>
                </a:solidFill>
              </a:rPr>
              <a:t> – proses sudah selesai atau dihentikan.</a:t>
            </a:r>
          </a:p>
          <a:p>
            <a:pPr algn="just">
              <a:lnSpc>
                <a:spcPct val="150000"/>
              </a:lnSpc>
            </a:pPr>
            <a:endParaRPr lang="en-US" sz="2600" b="1" smtClean="0">
              <a:solidFill>
                <a:schemeClr val="tx1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2600" b="1" smtClean="0">
                <a:solidFill>
                  <a:schemeClr val="tx1">
                    <a:lumMod val="50000"/>
                  </a:schemeClr>
                </a:solidFill>
              </a:rPr>
              <a:t>Kelebihan </a:t>
            </a:r>
            <a:r>
              <a:rPr lang="en-US" sz="2600" b="1">
                <a:solidFill>
                  <a:schemeClr val="tx1">
                    <a:lumMod val="50000"/>
                  </a:schemeClr>
                </a:solidFill>
              </a:rPr>
              <a:t>model ini:</a:t>
            </a:r>
            <a:r>
              <a:rPr lang="en-US" sz="2600">
                <a:solidFill>
                  <a:schemeClr val="tx1">
                    <a:lumMod val="50000"/>
                  </a:schemeClr>
                </a:solidFill>
              </a:rPr>
              <a:t> lebih realistis, karena memperhitungkan kondisi nyata proses seperti </a:t>
            </a:r>
            <a:r>
              <a:rPr lang="en-US" sz="2600" b="1">
                <a:solidFill>
                  <a:schemeClr val="tx1">
                    <a:lumMod val="50000"/>
                  </a:schemeClr>
                </a:solidFill>
              </a:rPr>
              <a:t>waiting (blocked)</a:t>
            </a:r>
            <a:r>
              <a:rPr lang="en-US" sz="2600">
                <a:solidFill>
                  <a:schemeClr val="tx1">
                    <a:lumMod val="50000"/>
                  </a:schemeClr>
                </a:solidFill>
              </a:rPr>
              <a:t> dan </a:t>
            </a:r>
            <a:r>
              <a:rPr lang="en-US" sz="2600" b="1">
                <a:solidFill>
                  <a:schemeClr val="tx1">
                    <a:lumMod val="50000"/>
                  </a:schemeClr>
                </a:solidFill>
              </a:rPr>
              <a:t>new</a:t>
            </a:r>
            <a:r>
              <a:rPr lang="en-US" sz="2600">
                <a:solidFill>
                  <a:schemeClr val="tx1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5913" y="10390910"/>
            <a:ext cx="9610300" cy="23083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sv-SE" b="1" smtClean="0">
                <a:solidFill>
                  <a:schemeClr val="tx1">
                    <a:lumMod val="50000"/>
                  </a:schemeClr>
                </a:solidFill>
              </a:rPr>
              <a:t>Analogi lain : Five-State</a:t>
            </a:r>
            <a:r>
              <a:rPr lang="sv-SE" smtClean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sv-SE">
                <a:solidFill>
                  <a:schemeClr val="tx1">
                    <a:lumMod val="50000"/>
                  </a:schemeClr>
                </a:solidFill>
              </a:rPr>
              <a:t>= seperti </a:t>
            </a:r>
            <a:r>
              <a:rPr lang="sv-SE" b="1">
                <a:solidFill>
                  <a:schemeClr val="tx1">
                    <a:lumMod val="50000"/>
                  </a:schemeClr>
                </a:solidFill>
              </a:rPr>
              <a:t>proses makan</a:t>
            </a:r>
            <a:r>
              <a:rPr lang="sv-SE">
                <a:solidFill>
                  <a:schemeClr val="tx1">
                    <a:lumMod val="50000"/>
                  </a:schemeClr>
                </a:solidFill>
              </a:rPr>
              <a:t>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sv-SE" b="1">
                <a:solidFill>
                  <a:schemeClr val="tx1">
                    <a:lumMod val="50000"/>
                  </a:schemeClr>
                </a:solidFill>
              </a:rPr>
              <a:t>New</a:t>
            </a:r>
            <a:r>
              <a:rPr lang="sv-SE">
                <a:solidFill>
                  <a:schemeClr val="tx1">
                    <a:lumMod val="50000"/>
                  </a:schemeClr>
                </a:solidFill>
              </a:rPr>
              <a:t>: makanan baru datang.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sv-SE" b="1">
                <a:solidFill>
                  <a:schemeClr val="tx1">
                    <a:lumMod val="50000"/>
                  </a:schemeClr>
                </a:solidFill>
              </a:rPr>
              <a:t>Ready</a:t>
            </a:r>
            <a:r>
              <a:rPr lang="sv-SE">
                <a:solidFill>
                  <a:schemeClr val="tx1">
                    <a:lumMod val="50000"/>
                  </a:schemeClr>
                </a:solidFill>
              </a:rPr>
              <a:t>: makanan ada di meja, siap dimakan.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sv-SE" b="1">
                <a:solidFill>
                  <a:schemeClr val="tx1">
                    <a:lumMod val="50000"/>
                  </a:schemeClr>
                </a:solidFill>
              </a:rPr>
              <a:t>Running</a:t>
            </a:r>
            <a:r>
              <a:rPr lang="sv-SE">
                <a:solidFill>
                  <a:schemeClr val="tx1">
                    <a:lumMod val="50000"/>
                  </a:schemeClr>
                </a:solidFill>
              </a:rPr>
              <a:t>: sedang dimakan.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sv-SE" b="1">
                <a:solidFill>
                  <a:schemeClr val="tx1">
                    <a:lumMod val="50000"/>
                  </a:schemeClr>
                </a:solidFill>
              </a:rPr>
              <a:t>Blocked</a:t>
            </a:r>
            <a:r>
              <a:rPr lang="sv-SE">
                <a:solidFill>
                  <a:schemeClr val="tx1">
                    <a:lumMod val="50000"/>
                  </a:schemeClr>
                </a:solidFill>
              </a:rPr>
              <a:t>: berhenti sebentar karena kepedasan, minum dulu.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sv-SE" b="1">
                <a:solidFill>
                  <a:schemeClr val="tx1">
                    <a:lumMod val="50000"/>
                  </a:schemeClr>
                </a:solidFill>
              </a:rPr>
              <a:t>Exit</a:t>
            </a:r>
            <a:r>
              <a:rPr lang="sv-SE">
                <a:solidFill>
                  <a:schemeClr val="tx1">
                    <a:lumMod val="50000"/>
                  </a:schemeClr>
                </a:solidFill>
              </a:rPr>
              <a:t>: selesai makan.</a:t>
            </a:r>
          </a:p>
        </p:txBody>
      </p:sp>
    </p:spTree>
    <p:extLst>
      <p:ext uri="{BB962C8B-B14F-4D97-AF65-F5344CB8AC3E}">
        <p14:creationId xmlns:p14="http://schemas.microsoft.com/office/powerpoint/2010/main" val="252240959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801" y="1872058"/>
            <a:ext cx="14715569" cy="510281"/>
          </a:xfrm>
        </p:spPr>
        <p:txBody>
          <a:bodyPr>
            <a:normAutofit fontScale="90000"/>
          </a:bodyPr>
          <a:lstStyle/>
          <a:p>
            <a:r>
              <a:rPr lang="en-NZ" smtClean="0"/>
              <a:t>Swapping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F7FD195-CC07-7D23-9582-2F8B6F09C0A9}"/>
              </a:ext>
            </a:extLst>
          </p:cNvPr>
          <p:cNvSpPr txBox="1">
            <a:spLocks/>
          </p:cNvSpPr>
          <p:nvPr/>
        </p:nvSpPr>
        <p:spPr>
          <a:xfrm>
            <a:off x="2501653" y="2590781"/>
            <a:ext cx="20827269" cy="6013957"/>
          </a:xfrm>
          <a:prstGeom prst="rect">
            <a:avLst/>
          </a:prstGeom>
        </p:spPr>
        <p:txBody>
          <a:bodyPr>
            <a:noAutofit/>
          </a:bodyPr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lvl="1" indent="0" algn="just">
              <a:lnSpc>
                <a:spcPct val="200000"/>
              </a:lnSpc>
              <a:spcBef>
                <a:spcPts val="1800"/>
              </a:spcBef>
              <a:buNone/>
            </a:pPr>
            <a:r>
              <a:rPr lang="en-US" sz="4400" b="1" dirty="0">
                <a:solidFill>
                  <a:schemeClr val="tx1">
                    <a:lumMod val="50000"/>
                  </a:schemeClr>
                </a:solidFill>
              </a:rPr>
              <a:t>Swapping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3600" smtClean="0">
                <a:solidFill>
                  <a:schemeClr val="tx1">
                    <a:lumMod val="50000"/>
                  </a:schemeClr>
                </a:solidFill>
                <a:latin typeface="+mn-lt"/>
              </a:rPr>
              <a:t>Mekanisme </a:t>
            </a:r>
            <a:r>
              <a:rPr lang="en-US" altLang="en-US" sz="3600">
                <a:solidFill>
                  <a:schemeClr val="tx1">
                    <a:lumMod val="50000"/>
                  </a:schemeClr>
                </a:solidFill>
                <a:latin typeface="+mn-lt"/>
              </a:rPr>
              <a:t>di mana </a:t>
            </a:r>
            <a:r>
              <a:rPr lang="en-US" altLang="en-US" sz="3600" b="1">
                <a:solidFill>
                  <a:schemeClr val="tx1">
                    <a:lumMod val="50000"/>
                  </a:schemeClr>
                </a:solidFill>
                <a:latin typeface="+mn-lt"/>
              </a:rPr>
              <a:t>proses yang ada di memori utama (RAM) dipindahkan sementara ke disk (backing store/secondary storage)</a:t>
            </a:r>
            <a:r>
              <a:rPr lang="en-US" altLang="en-US" sz="3600">
                <a:solidFill>
                  <a:schemeClr val="tx1">
                    <a:lumMod val="50000"/>
                  </a:schemeClr>
                </a:solidFill>
                <a:latin typeface="+mn-lt"/>
              </a:rPr>
              <a:t> untuk memberi ruang bagi proses lain.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en-US" sz="3600">
                <a:solidFill>
                  <a:schemeClr val="tx1">
                    <a:lumMod val="50000"/>
                  </a:schemeClr>
                </a:solidFill>
                <a:latin typeface="+mn-lt"/>
              </a:rPr>
              <a:t>Nantinya, proses itu bisa dipanggil balik ke RAM ketika giliran eksekusinya </a:t>
            </a:r>
            <a:r>
              <a:rPr lang="en-US" altLang="en-US" sz="3600" smtClean="0">
                <a:solidFill>
                  <a:schemeClr val="tx1">
                    <a:lumMod val="50000"/>
                  </a:schemeClr>
                </a:solidFill>
                <a:latin typeface="+mn-lt"/>
              </a:rPr>
              <a:t>datang.</a:t>
            </a:r>
            <a:endParaRPr lang="en-US" altLang="en-US" sz="3600">
              <a:solidFill>
                <a:schemeClr val="tx1">
                  <a:lumMod val="50000"/>
                </a:schemeClr>
              </a:solidFill>
              <a:latin typeface="+mn-l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93FF0DD-5826-D9A4-76F5-9D376685C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409488">
            <a:off x="965947" y="2970268"/>
            <a:ext cx="952107" cy="121683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501652" y="8241329"/>
            <a:ext cx="2082726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b="1" dirty="0">
                <a:solidFill>
                  <a:srgbClr val="0070C0"/>
                </a:solidFill>
              </a:rPr>
              <a:t>Proses</a:t>
            </a:r>
            <a:r>
              <a:rPr lang="en-US" sz="3200" dirty="0">
                <a:solidFill>
                  <a:srgbClr val="0070C0"/>
                </a:solidFill>
              </a:rPr>
              <a:t>:</a:t>
            </a:r>
          </a:p>
          <a:p>
            <a:pPr marL="457200" indent="-4572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200" b="1" dirty="0" err="1">
                <a:solidFill>
                  <a:schemeClr val="tx1">
                    <a:lumMod val="50000"/>
                  </a:schemeClr>
                </a:solidFill>
              </a:rPr>
              <a:t>Penyimpanan</a:t>
            </a:r>
            <a:r>
              <a:rPr lang="en-US" sz="3200" dirty="0">
                <a:solidFill>
                  <a:schemeClr val="tx1">
                    <a:lumMod val="50000"/>
                  </a:schemeClr>
                </a:solidFill>
              </a:rPr>
              <a:t>: </a:t>
            </a:r>
            <a:r>
              <a:rPr lang="en-US" sz="3200" dirty="0" err="1">
                <a:solidFill>
                  <a:schemeClr val="tx1">
                    <a:lumMod val="50000"/>
                  </a:schemeClr>
                </a:solidFill>
              </a:rPr>
              <a:t>Ketika</a:t>
            </a:r>
            <a:r>
              <a:rPr lang="en-US" sz="32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1">
                    <a:lumMod val="50000"/>
                  </a:schemeClr>
                </a:solidFill>
              </a:rPr>
              <a:t>memori</a:t>
            </a:r>
            <a:r>
              <a:rPr lang="en-US" sz="32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1">
                    <a:lumMod val="50000"/>
                  </a:schemeClr>
                </a:solidFill>
              </a:rPr>
              <a:t>utama</a:t>
            </a:r>
            <a:r>
              <a:rPr lang="en-US" sz="32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1">
                    <a:lumMod val="50000"/>
                  </a:schemeClr>
                </a:solidFill>
              </a:rPr>
              <a:t>penuh</a:t>
            </a:r>
            <a:r>
              <a:rPr lang="en-US" sz="32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1">
                    <a:lumMod val="50000"/>
                  </a:schemeClr>
                </a:solidFill>
              </a:rPr>
              <a:t>dan</a:t>
            </a:r>
            <a:r>
              <a:rPr lang="en-US" sz="32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1">
                    <a:lumMod val="50000"/>
                  </a:schemeClr>
                </a:solidFill>
              </a:rPr>
              <a:t>ada</a:t>
            </a:r>
            <a:r>
              <a:rPr lang="en-US" sz="32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1">
                    <a:lumMod val="50000"/>
                  </a:schemeClr>
                </a:solidFill>
              </a:rPr>
              <a:t>permintaan</a:t>
            </a:r>
            <a:r>
              <a:rPr lang="en-US" sz="32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1">
                    <a:lumMod val="50000"/>
                  </a:schemeClr>
                </a:solidFill>
              </a:rPr>
              <a:t>untuk</a:t>
            </a:r>
            <a:r>
              <a:rPr lang="en-US" sz="32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1">
                    <a:lumMod val="50000"/>
                  </a:schemeClr>
                </a:solidFill>
              </a:rPr>
              <a:t>memulai</a:t>
            </a:r>
            <a:r>
              <a:rPr lang="en-US" sz="3200" dirty="0">
                <a:solidFill>
                  <a:schemeClr val="tx1">
                    <a:lumMod val="50000"/>
                  </a:schemeClr>
                </a:solidFill>
              </a:rPr>
              <a:t> proses </a:t>
            </a:r>
            <a:r>
              <a:rPr lang="en-US" sz="3200" dirty="0" err="1">
                <a:solidFill>
                  <a:schemeClr val="tx1">
                    <a:lumMod val="50000"/>
                  </a:schemeClr>
                </a:solidFill>
              </a:rPr>
              <a:t>baru</a:t>
            </a:r>
            <a:r>
              <a:rPr lang="en-US" sz="3200" dirty="0">
                <a:solidFill>
                  <a:schemeClr val="tx1">
                    <a:lumMod val="50000"/>
                  </a:schemeClr>
                </a:solidFill>
              </a:rPr>
              <a:t>, </a:t>
            </a:r>
            <a:r>
              <a:rPr lang="en-US" sz="3200" dirty="0" err="1">
                <a:solidFill>
                  <a:schemeClr val="tx1">
                    <a:lumMod val="50000"/>
                  </a:schemeClr>
                </a:solidFill>
              </a:rPr>
              <a:t>sistem</a:t>
            </a:r>
            <a:r>
              <a:rPr lang="en-US" sz="32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1">
                    <a:lumMod val="50000"/>
                  </a:schemeClr>
                </a:solidFill>
              </a:rPr>
              <a:t>operasi</a:t>
            </a:r>
            <a:r>
              <a:rPr lang="en-US" sz="32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1">
                    <a:lumMod val="50000"/>
                  </a:schemeClr>
                </a:solidFill>
              </a:rPr>
              <a:t>memilih</a:t>
            </a:r>
            <a:r>
              <a:rPr lang="en-US" sz="3200" dirty="0">
                <a:solidFill>
                  <a:schemeClr val="tx1">
                    <a:lumMod val="50000"/>
                  </a:schemeClr>
                </a:solidFill>
              </a:rPr>
              <a:t> proses yang </a:t>
            </a:r>
            <a:r>
              <a:rPr lang="en-US" sz="3200" dirty="0" err="1">
                <a:solidFill>
                  <a:schemeClr val="tx1">
                    <a:lumMod val="50000"/>
                  </a:schemeClr>
                </a:solidFill>
              </a:rPr>
              <a:t>tidak</a:t>
            </a:r>
            <a:r>
              <a:rPr lang="en-US" sz="32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1">
                    <a:lumMod val="50000"/>
                  </a:schemeClr>
                </a:solidFill>
              </a:rPr>
              <a:t>aktif</a:t>
            </a:r>
            <a:r>
              <a:rPr lang="en-US" sz="32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1">
                    <a:lumMod val="50000"/>
                  </a:schemeClr>
                </a:solidFill>
              </a:rPr>
              <a:t>dan</a:t>
            </a:r>
            <a:r>
              <a:rPr lang="en-US" sz="32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1">
                    <a:lumMod val="50000"/>
                  </a:schemeClr>
                </a:solidFill>
              </a:rPr>
              <a:t>memindahkannya</a:t>
            </a:r>
            <a:r>
              <a:rPr lang="en-US" sz="32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1">
                    <a:lumMod val="50000"/>
                  </a:schemeClr>
                </a:solidFill>
              </a:rPr>
              <a:t>ke</a:t>
            </a:r>
            <a:r>
              <a:rPr lang="en-US" sz="3200" dirty="0">
                <a:solidFill>
                  <a:schemeClr val="tx1">
                    <a:lumMod val="50000"/>
                  </a:schemeClr>
                </a:solidFill>
              </a:rPr>
              <a:t> disk. Proses </a:t>
            </a:r>
            <a:r>
              <a:rPr lang="en-US" sz="3200" dirty="0" err="1">
                <a:solidFill>
                  <a:schemeClr val="tx1">
                    <a:lumMod val="50000"/>
                  </a:schemeClr>
                </a:solidFill>
              </a:rPr>
              <a:t>ini</a:t>
            </a:r>
            <a:r>
              <a:rPr lang="en-US" sz="32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1">
                    <a:lumMod val="50000"/>
                  </a:schemeClr>
                </a:solidFill>
              </a:rPr>
              <a:t>disebut</a:t>
            </a:r>
            <a:r>
              <a:rPr lang="en-US" sz="32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200" i="1" dirty="0">
                <a:solidFill>
                  <a:schemeClr val="tx1">
                    <a:lumMod val="50000"/>
                  </a:schemeClr>
                </a:solidFill>
              </a:rPr>
              <a:t>swapping </a:t>
            </a:r>
            <a:r>
              <a:rPr lang="en-US" sz="3200" i="1" dirty="0" smtClean="0">
                <a:solidFill>
                  <a:schemeClr val="tx1">
                    <a:lumMod val="50000"/>
                  </a:schemeClr>
                </a:solidFill>
              </a:rPr>
              <a:t>out</a:t>
            </a:r>
            <a:r>
              <a:rPr lang="en-US" sz="3200" dirty="0" smtClean="0">
                <a:solidFill>
                  <a:schemeClr val="tx1">
                    <a:lumMod val="50000"/>
                  </a:schemeClr>
                </a:solidFill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3200" b="1" dirty="0" err="1" smtClean="0">
                <a:solidFill>
                  <a:schemeClr val="tx1">
                    <a:lumMod val="50000"/>
                  </a:schemeClr>
                </a:solidFill>
              </a:rPr>
              <a:t>Pengambilan</a:t>
            </a:r>
            <a:r>
              <a:rPr lang="en-US" sz="3200" dirty="0">
                <a:solidFill>
                  <a:schemeClr val="tx1">
                    <a:lumMod val="50000"/>
                  </a:schemeClr>
                </a:solidFill>
              </a:rPr>
              <a:t>: </a:t>
            </a:r>
            <a:r>
              <a:rPr lang="en-US" sz="3200" dirty="0" err="1">
                <a:solidFill>
                  <a:schemeClr val="tx1">
                    <a:lumMod val="50000"/>
                  </a:schemeClr>
                </a:solidFill>
              </a:rPr>
              <a:t>Ketika</a:t>
            </a:r>
            <a:r>
              <a:rPr lang="en-US" sz="3200" dirty="0">
                <a:solidFill>
                  <a:schemeClr val="tx1">
                    <a:lumMod val="50000"/>
                  </a:schemeClr>
                </a:solidFill>
              </a:rPr>
              <a:t> proses yang </a:t>
            </a:r>
            <a:r>
              <a:rPr lang="en-US" sz="3200" dirty="0" err="1">
                <a:solidFill>
                  <a:schemeClr val="tx1">
                    <a:lumMod val="50000"/>
                  </a:schemeClr>
                </a:solidFill>
              </a:rPr>
              <a:t>telah</a:t>
            </a:r>
            <a:r>
              <a:rPr lang="en-US" sz="32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1">
                    <a:lumMod val="50000"/>
                  </a:schemeClr>
                </a:solidFill>
              </a:rPr>
              <a:t>dipindahkan</a:t>
            </a:r>
            <a:r>
              <a:rPr lang="en-US" sz="32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1">
                    <a:lumMod val="50000"/>
                  </a:schemeClr>
                </a:solidFill>
              </a:rPr>
              <a:t>kembali</a:t>
            </a:r>
            <a:r>
              <a:rPr lang="en-US" sz="32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1">
                    <a:lumMod val="50000"/>
                  </a:schemeClr>
                </a:solidFill>
              </a:rPr>
              <a:t>diperlukan</a:t>
            </a:r>
            <a:r>
              <a:rPr lang="en-US" sz="3200" dirty="0">
                <a:solidFill>
                  <a:schemeClr val="tx1">
                    <a:lumMod val="50000"/>
                  </a:schemeClr>
                </a:solidFill>
              </a:rPr>
              <a:t>, </a:t>
            </a:r>
            <a:r>
              <a:rPr lang="en-US" sz="3200" dirty="0" err="1">
                <a:solidFill>
                  <a:schemeClr val="tx1">
                    <a:lumMod val="50000"/>
                  </a:schemeClr>
                </a:solidFill>
              </a:rPr>
              <a:t>sistem</a:t>
            </a:r>
            <a:r>
              <a:rPr lang="en-US" sz="32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1">
                    <a:lumMod val="50000"/>
                  </a:schemeClr>
                </a:solidFill>
              </a:rPr>
              <a:t>operasi</a:t>
            </a:r>
            <a:r>
              <a:rPr lang="en-US" sz="32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1">
                    <a:lumMod val="50000"/>
                  </a:schemeClr>
                </a:solidFill>
              </a:rPr>
              <a:t>akan</a:t>
            </a:r>
            <a:r>
              <a:rPr lang="en-US" sz="32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1">
                    <a:lumMod val="50000"/>
                  </a:schemeClr>
                </a:solidFill>
              </a:rPr>
              <a:t>memindahkannya</a:t>
            </a:r>
            <a:r>
              <a:rPr lang="en-US" sz="32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1">
                    <a:lumMod val="50000"/>
                  </a:schemeClr>
                </a:solidFill>
              </a:rPr>
              <a:t>kembali</a:t>
            </a:r>
            <a:r>
              <a:rPr lang="en-US" sz="32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1">
                    <a:lumMod val="50000"/>
                  </a:schemeClr>
                </a:solidFill>
              </a:rPr>
              <a:t>ke</a:t>
            </a:r>
            <a:r>
              <a:rPr lang="en-US" sz="32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1">
                    <a:lumMod val="50000"/>
                  </a:schemeClr>
                </a:solidFill>
              </a:rPr>
              <a:t>memori</a:t>
            </a:r>
            <a:r>
              <a:rPr lang="en-US" sz="32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200" dirty="0" err="1">
                <a:solidFill>
                  <a:schemeClr val="tx1">
                    <a:lumMod val="50000"/>
                  </a:schemeClr>
                </a:solidFill>
              </a:rPr>
              <a:t>utama</a:t>
            </a:r>
            <a:r>
              <a:rPr lang="en-US" sz="3200" dirty="0">
                <a:solidFill>
                  <a:schemeClr val="tx1">
                    <a:lumMod val="50000"/>
                  </a:schemeClr>
                </a:solidFill>
              </a:rPr>
              <a:t>, yang </a:t>
            </a:r>
            <a:r>
              <a:rPr lang="en-US" sz="3200" dirty="0" err="1">
                <a:solidFill>
                  <a:schemeClr val="tx1">
                    <a:lumMod val="50000"/>
                  </a:schemeClr>
                </a:solidFill>
              </a:rPr>
              <a:t>disebut</a:t>
            </a:r>
            <a:r>
              <a:rPr lang="en-US" sz="32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200" i="1" dirty="0">
                <a:solidFill>
                  <a:schemeClr val="tx1">
                    <a:lumMod val="50000"/>
                  </a:schemeClr>
                </a:solidFill>
              </a:rPr>
              <a:t>swapping in</a:t>
            </a:r>
            <a:r>
              <a:rPr lang="en-US" sz="3200" dirty="0">
                <a:solidFill>
                  <a:schemeClr val="tx1">
                    <a:lumMod val="5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9094355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801" y="1872058"/>
            <a:ext cx="14715569" cy="510281"/>
          </a:xfrm>
        </p:spPr>
        <p:txBody>
          <a:bodyPr>
            <a:normAutofit fontScale="90000"/>
          </a:bodyPr>
          <a:lstStyle/>
          <a:p>
            <a:r>
              <a:rPr lang="en-NZ" smtClean="0"/>
              <a:t>Swapping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F7FD195-CC07-7D23-9582-2F8B6F09C0A9}"/>
              </a:ext>
            </a:extLst>
          </p:cNvPr>
          <p:cNvSpPr txBox="1">
            <a:spLocks/>
          </p:cNvSpPr>
          <p:nvPr/>
        </p:nvSpPr>
        <p:spPr>
          <a:xfrm>
            <a:off x="2501653" y="2590781"/>
            <a:ext cx="20827269" cy="6013957"/>
          </a:xfrm>
          <a:prstGeom prst="rect">
            <a:avLst/>
          </a:prstGeom>
        </p:spPr>
        <p:txBody>
          <a:bodyPr>
            <a:noAutofit/>
          </a:bodyPr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3600" b="1" dirty="0" err="1" smtClean="0"/>
              <a:t>Manfaat</a:t>
            </a:r>
            <a:r>
              <a:rPr lang="en-US" sz="3600" b="1" dirty="0" smtClean="0"/>
              <a:t> </a:t>
            </a:r>
            <a:r>
              <a:rPr lang="en-US" sz="3600" b="1" dirty="0"/>
              <a:t>Swapping</a:t>
            </a:r>
          </a:p>
          <a:p>
            <a:pPr lvl="1" algn="just">
              <a:lnSpc>
                <a:spcPct val="150000"/>
              </a:lnSpc>
            </a:pPr>
            <a:r>
              <a:rPr lang="en-US" sz="3600" b="1" dirty="0" err="1"/>
              <a:t>Manajemen</a:t>
            </a:r>
            <a:r>
              <a:rPr lang="en-US" sz="3600" b="1" dirty="0"/>
              <a:t> </a:t>
            </a:r>
            <a:r>
              <a:rPr lang="en-US" sz="3600" b="1" dirty="0" err="1"/>
              <a:t>Memori</a:t>
            </a:r>
            <a:r>
              <a:rPr lang="en-US" sz="3600" dirty="0"/>
              <a:t>: </a:t>
            </a:r>
            <a:r>
              <a:rPr lang="en-US" sz="3600" dirty="0" err="1"/>
              <a:t>Memungkinkan</a:t>
            </a:r>
            <a:r>
              <a:rPr lang="en-US" sz="3600" dirty="0"/>
              <a:t> </a:t>
            </a:r>
            <a:r>
              <a:rPr lang="en-US" sz="3600" dirty="0" err="1"/>
              <a:t>lebih</a:t>
            </a:r>
            <a:r>
              <a:rPr lang="en-US" sz="3600" dirty="0"/>
              <a:t> </a:t>
            </a:r>
            <a:r>
              <a:rPr lang="en-US" sz="3600" dirty="0" err="1"/>
              <a:t>banyak</a:t>
            </a:r>
            <a:r>
              <a:rPr lang="en-US" sz="3600" dirty="0"/>
              <a:t> proses </a:t>
            </a:r>
            <a:r>
              <a:rPr lang="en-US" sz="3600" dirty="0" err="1"/>
              <a:t>berjalan</a:t>
            </a:r>
            <a:r>
              <a:rPr lang="en-US" sz="3600" dirty="0"/>
              <a:t> </a:t>
            </a:r>
            <a:r>
              <a:rPr lang="en-US" sz="3600" dirty="0" err="1"/>
              <a:t>secara</a:t>
            </a:r>
            <a:r>
              <a:rPr lang="en-US" sz="3600" dirty="0"/>
              <a:t> </a:t>
            </a:r>
            <a:r>
              <a:rPr lang="en-US" sz="3600" dirty="0" err="1"/>
              <a:t>bersamaan</a:t>
            </a:r>
            <a:r>
              <a:rPr lang="en-US" sz="3600" dirty="0"/>
              <a:t> </a:t>
            </a:r>
            <a:r>
              <a:rPr lang="en-US" sz="3600" dirty="0" err="1"/>
              <a:t>daripada</a:t>
            </a:r>
            <a:r>
              <a:rPr lang="en-US" sz="3600" dirty="0"/>
              <a:t> yang </a:t>
            </a:r>
            <a:r>
              <a:rPr lang="en-US" sz="3600" dirty="0" err="1"/>
              <a:t>dapat</a:t>
            </a:r>
            <a:r>
              <a:rPr lang="en-US" sz="3600" dirty="0"/>
              <a:t> </a:t>
            </a:r>
            <a:r>
              <a:rPr lang="en-US" sz="3600" dirty="0" err="1"/>
              <a:t>ditampung</a:t>
            </a:r>
            <a:r>
              <a:rPr lang="en-US" sz="3600" dirty="0"/>
              <a:t> </a:t>
            </a:r>
            <a:r>
              <a:rPr lang="en-US" sz="3600" dirty="0" err="1"/>
              <a:t>dalam</a:t>
            </a:r>
            <a:r>
              <a:rPr lang="en-US" sz="3600" dirty="0"/>
              <a:t> </a:t>
            </a:r>
            <a:r>
              <a:rPr lang="en-US" sz="3600" dirty="0" err="1"/>
              <a:t>memori</a:t>
            </a:r>
            <a:r>
              <a:rPr lang="en-US" sz="3600" dirty="0"/>
              <a:t> </a:t>
            </a:r>
            <a:r>
              <a:rPr lang="en-US" sz="3600" dirty="0" err="1"/>
              <a:t>utama</a:t>
            </a:r>
            <a:r>
              <a:rPr lang="en-US" sz="3600" dirty="0"/>
              <a:t>.</a:t>
            </a:r>
          </a:p>
          <a:p>
            <a:pPr lvl="1" algn="just">
              <a:lnSpc>
                <a:spcPct val="150000"/>
              </a:lnSpc>
            </a:pPr>
            <a:r>
              <a:rPr lang="en-US" sz="3600" b="1" dirty="0" err="1"/>
              <a:t>Optimisasi</a:t>
            </a:r>
            <a:r>
              <a:rPr lang="en-US" sz="3600" b="1" dirty="0"/>
              <a:t> </a:t>
            </a:r>
            <a:r>
              <a:rPr lang="en-US" sz="3600" b="1" dirty="0" err="1"/>
              <a:t>Sumber</a:t>
            </a:r>
            <a:r>
              <a:rPr lang="en-US" sz="3600" b="1" dirty="0"/>
              <a:t> </a:t>
            </a:r>
            <a:r>
              <a:rPr lang="en-US" sz="3600" b="1" dirty="0" err="1"/>
              <a:t>Daya</a:t>
            </a:r>
            <a:r>
              <a:rPr lang="en-US" sz="3600" dirty="0"/>
              <a:t>: </a:t>
            </a:r>
            <a:r>
              <a:rPr lang="en-US" sz="3600" dirty="0" err="1"/>
              <a:t>Memungkinkan</a:t>
            </a:r>
            <a:r>
              <a:rPr lang="en-US" sz="3600" dirty="0"/>
              <a:t> </a:t>
            </a:r>
            <a:r>
              <a:rPr lang="en-US" sz="3600" dirty="0" err="1"/>
              <a:t>sistem</a:t>
            </a:r>
            <a:r>
              <a:rPr lang="en-US" sz="3600" dirty="0"/>
              <a:t> </a:t>
            </a:r>
            <a:r>
              <a:rPr lang="en-US" sz="3600" dirty="0" err="1"/>
              <a:t>untuk</a:t>
            </a:r>
            <a:r>
              <a:rPr lang="en-US" sz="3600" dirty="0"/>
              <a:t> </a:t>
            </a:r>
            <a:r>
              <a:rPr lang="en-US" sz="3600" dirty="0" err="1"/>
              <a:t>menggunakan</a:t>
            </a:r>
            <a:r>
              <a:rPr lang="en-US" sz="3600" dirty="0"/>
              <a:t> </a:t>
            </a:r>
            <a:r>
              <a:rPr lang="en-US" sz="3600" dirty="0" err="1"/>
              <a:t>sumber</a:t>
            </a:r>
            <a:r>
              <a:rPr lang="en-US" sz="3600" dirty="0"/>
              <a:t> </a:t>
            </a:r>
            <a:r>
              <a:rPr lang="en-US" sz="3600" dirty="0" err="1"/>
              <a:t>daya</a:t>
            </a:r>
            <a:r>
              <a:rPr lang="en-US" sz="3600" dirty="0"/>
              <a:t> </a:t>
            </a:r>
            <a:r>
              <a:rPr lang="en-US" sz="3600" dirty="0" err="1"/>
              <a:t>dengan</a:t>
            </a:r>
            <a:r>
              <a:rPr lang="en-US" sz="3600" dirty="0"/>
              <a:t> </a:t>
            </a:r>
            <a:r>
              <a:rPr lang="en-US" sz="3600" dirty="0" err="1"/>
              <a:t>lebih</a:t>
            </a:r>
            <a:r>
              <a:rPr lang="en-US" sz="3600" dirty="0"/>
              <a:t> </a:t>
            </a:r>
            <a:r>
              <a:rPr lang="en-US" sz="3600" dirty="0" err="1"/>
              <a:t>efisien</a:t>
            </a:r>
            <a:r>
              <a:rPr lang="en-US" sz="3600" dirty="0"/>
              <a:t>, </a:t>
            </a:r>
            <a:r>
              <a:rPr lang="en-US" sz="3600" dirty="0" err="1"/>
              <a:t>terutama</a:t>
            </a:r>
            <a:r>
              <a:rPr lang="en-US" sz="3600" dirty="0"/>
              <a:t> </a:t>
            </a:r>
            <a:r>
              <a:rPr lang="en-US" sz="3600" dirty="0" err="1"/>
              <a:t>dalam</a:t>
            </a:r>
            <a:r>
              <a:rPr lang="en-US" sz="3600" dirty="0"/>
              <a:t> </a:t>
            </a:r>
            <a:r>
              <a:rPr lang="en-US" sz="3600" dirty="0" err="1"/>
              <a:t>sistem</a:t>
            </a:r>
            <a:r>
              <a:rPr lang="en-US" sz="3600" dirty="0"/>
              <a:t> </a:t>
            </a:r>
            <a:r>
              <a:rPr lang="en-US" sz="3600" dirty="0" err="1"/>
              <a:t>dengan</a:t>
            </a:r>
            <a:r>
              <a:rPr lang="en-US" sz="3600" dirty="0"/>
              <a:t> </a:t>
            </a:r>
            <a:r>
              <a:rPr lang="en-US" sz="3600" dirty="0" err="1"/>
              <a:t>memori</a:t>
            </a:r>
            <a:r>
              <a:rPr lang="en-US" sz="3600" dirty="0"/>
              <a:t> </a:t>
            </a:r>
            <a:r>
              <a:rPr lang="en-US" sz="3600" dirty="0" err="1"/>
              <a:t>terbatas</a:t>
            </a:r>
            <a:r>
              <a:rPr lang="en-US" sz="3600" dirty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3600" b="1" dirty="0" err="1"/>
              <a:t>Kekurangan</a:t>
            </a:r>
            <a:endParaRPr lang="en-US" sz="3600" b="1" dirty="0"/>
          </a:p>
          <a:p>
            <a:pPr algn="just">
              <a:lnSpc>
                <a:spcPct val="150000"/>
              </a:lnSpc>
            </a:pPr>
            <a:r>
              <a:rPr lang="en-US" sz="3600" b="1" dirty="0" err="1"/>
              <a:t>Waktu</a:t>
            </a:r>
            <a:r>
              <a:rPr lang="en-US" sz="3600" b="1" dirty="0"/>
              <a:t> </a:t>
            </a:r>
            <a:r>
              <a:rPr lang="en-US" sz="3600" b="1" dirty="0" err="1"/>
              <a:t>Akses</a:t>
            </a:r>
            <a:r>
              <a:rPr lang="en-US" sz="3600" dirty="0"/>
              <a:t>: Swapping </a:t>
            </a:r>
            <a:r>
              <a:rPr lang="en-US" sz="3600" dirty="0" err="1"/>
              <a:t>dapat</a:t>
            </a:r>
            <a:r>
              <a:rPr lang="en-US" sz="3600" dirty="0"/>
              <a:t> </a:t>
            </a:r>
            <a:r>
              <a:rPr lang="en-US" sz="3600" dirty="0" err="1"/>
              <a:t>memperlambat</a:t>
            </a:r>
            <a:r>
              <a:rPr lang="en-US" sz="3600" dirty="0"/>
              <a:t> </a:t>
            </a:r>
            <a:r>
              <a:rPr lang="en-US" sz="3600" dirty="0" err="1"/>
              <a:t>sistem</a:t>
            </a:r>
            <a:r>
              <a:rPr lang="en-US" sz="3600" dirty="0"/>
              <a:t> </a:t>
            </a:r>
            <a:r>
              <a:rPr lang="en-US" sz="3600" dirty="0" err="1"/>
              <a:t>karena</a:t>
            </a:r>
            <a:r>
              <a:rPr lang="en-US" sz="3600" dirty="0"/>
              <a:t> </a:t>
            </a:r>
            <a:r>
              <a:rPr lang="en-US" sz="3600" dirty="0" err="1"/>
              <a:t>akses</a:t>
            </a:r>
            <a:r>
              <a:rPr lang="en-US" sz="3600" dirty="0"/>
              <a:t> </a:t>
            </a:r>
            <a:r>
              <a:rPr lang="en-US" sz="3600" dirty="0" err="1"/>
              <a:t>ke</a:t>
            </a:r>
            <a:r>
              <a:rPr lang="en-US" sz="3600" dirty="0"/>
              <a:t> disk </a:t>
            </a:r>
            <a:r>
              <a:rPr lang="en-US" sz="3600" dirty="0" err="1"/>
              <a:t>jauh</a:t>
            </a:r>
            <a:r>
              <a:rPr lang="en-US" sz="3600" dirty="0"/>
              <a:t> </a:t>
            </a:r>
            <a:r>
              <a:rPr lang="en-US" sz="3600" dirty="0" err="1"/>
              <a:t>lebih</a:t>
            </a:r>
            <a:r>
              <a:rPr lang="en-US" sz="3600" dirty="0"/>
              <a:t> </a:t>
            </a:r>
            <a:r>
              <a:rPr lang="en-US" sz="3600" dirty="0" err="1"/>
              <a:t>lambat</a:t>
            </a:r>
            <a:r>
              <a:rPr lang="en-US" sz="3600" dirty="0"/>
              <a:t> </a:t>
            </a:r>
            <a:r>
              <a:rPr lang="en-US" sz="3600" dirty="0" err="1"/>
              <a:t>dibandingkan</a:t>
            </a:r>
            <a:r>
              <a:rPr lang="en-US" sz="3600" dirty="0"/>
              <a:t> </a:t>
            </a:r>
            <a:r>
              <a:rPr lang="en-US" sz="3600" dirty="0" err="1"/>
              <a:t>dengan</a:t>
            </a:r>
            <a:r>
              <a:rPr lang="en-US" sz="3600" dirty="0"/>
              <a:t> </a:t>
            </a:r>
            <a:r>
              <a:rPr lang="en-US" sz="3600" dirty="0" err="1"/>
              <a:t>akses</a:t>
            </a:r>
            <a:r>
              <a:rPr lang="en-US" sz="3600" dirty="0"/>
              <a:t> </a:t>
            </a:r>
            <a:r>
              <a:rPr lang="en-US" sz="3600" dirty="0" err="1"/>
              <a:t>ke</a:t>
            </a:r>
            <a:r>
              <a:rPr lang="en-US" sz="3600" dirty="0"/>
              <a:t> </a:t>
            </a:r>
            <a:r>
              <a:rPr lang="en-US" sz="3600" dirty="0" err="1"/>
              <a:t>memori</a:t>
            </a:r>
            <a:r>
              <a:rPr lang="en-US" sz="3600" dirty="0"/>
              <a:t> </a:t>
            </a:r>
            <a:r>
              <a:rPr lang="en-US" sz="3600" dirty="0" err="1"/>
              <a:t>utama</a:t>
            </a:r>
            <a:r>
              <a:rPr lang="en-US" sz="3600" dirty="0"/>
              <a:t>.</a:t>
            </a:r>
          </a:p>
          <a:p>
            <a:pPr marL="0" lvl="1" indent="0" algn="just">
              <a:lnSpc>
                <a:spcPct val="150000"/>
              </a:lnSpc>
              <a:spcBef>
                <a:spcPts val="1800"/>
              </a:spcBef>
              <a:buNone/>
            </a:pPr>
            <a:endParaRPr lang="en-US" sz="44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93FF0DD-5826-D9A4-76F5-9D376685C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409488">
            <a:off x="965947" y="2970268"/>
            <a:ext cx="952107" cy="12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24633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801" y="1872058"/>
            <a:ext cx="14715569" cy="510281"/>
          </a:xfrm>
        </p:spPr>
        <p:txBody>
          <a:bodyPr>
            <a:normAutofit fontScale="90000"/>
          </a:bodyPr>
          <a:lstStyle/>
          <a:p>
            <a:r>
              <a:rPr lang="en-NZ" smtClean="0"/>
              <a:t>Swapping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913680" y="2696478"/>
            <a:ext cx="12639760" cy="493981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3000" b="1">
                <a:solidFill>
                  <a:schemeClr val="tx1">
                    <a:lumMod val="50000"/>
                  </a:schemeClr>
                </a:solidFill>
              </a:rPr>
              <a:t>PC/Laptop dengan Banyak Aplikasi</a:t>
            </a:r>
          </a:p>
          <a:p>
            <a:pPr marL="995363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>
                <a:solidFill>
                  <a:schemeClr val="tx1">
                    <a:lumMod val="50000"/>
                  </a:schemeClr>
                </a:solidFill>
              </a:rPr>
              <a:t>Misalnya kamu buka: </a:t>
            </a:r>
            <a:r>
              <a:rPr lang="en-US" sz="3000" b="1">
                <a:solidFill>
                  <a:schemeClr val="tx1">
                    <a:lumMod val="50000"/>
                  </a:schemeClr>
                </a:solidFill>
              </a:rPr>
              <a:t>Chrome + Word + Photoshop + Spotify</a:t>
            </a:r>
            <a:r>
              <a:rPr lang="en-US" sz="3000">
                <a:solidFill>
                  <a:schemeClr val="tx1">
                    <a:lumMod val="50000"/>
                  </a:schemeClr>
                </a:solidFill>
              </a:rPr>
              <a:t>.</a:t>
            </a:r>
          </a:p>
          <a:p>
            <a:pPr marL="995363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>
                <a:solidFill>
                  <a:schemeClr val="tx1">
                    <a:lumMod val="50000"/>
                  </a:schemeClr>
                </a:solidFill>
              </a:rPr>
              <a:t>RAM terbatas → OS akan </a:t>
            </a:r>
            <a:r>
              <a:rPr lang="en-US" sz="3000" b="1">
                <a:solidFill>
                  <a:schemeClr val="tx1">
                    <a:lumMod val="50000"/>
                  </a:schemeClr>
                </a:solidFill>
              </a:rPr>
              <a:t>swap</a:t>
            </a:r>
            <a:r>
              <a:rPr lang="en-US" sz="3000">
                <a:solidFill>
                  <a:schemeClr val="tx1">
                    <a:lumMod val="50000"/>
                  </a:schemeClr>
                </a:solidFill>
              </a:rPr>
              <a:t> aplikasi yang sedang tidak aktif ke disk (swap file / pagefile).</a:t>
            </a:r>
          </a:p>
          <a:p>
            <a:pPr marL="995363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>
                <a:solidFill>
                  <a:schemeClr val="tx1">
                    <a:lumMod val="50000"/>
                  </a:schemeClr>
                </a:solidFill>
              </a:rPr>
              <a:t>Kalau kamu balik ke Photoshop setelah lama idle, butuh waktu sedikit lebih lama karena proses </a:t>
            </a:r>
            <a:r>
              <a:rPr lang="en-US" sz="3000" b="1">
                <a:solidFill>
                  <a:schemeClr val="tx1">
                    <a:lumMod val="50000"/>
                  </a:schemeClr>
                </a:solidFill>
              </a:rPr>
              <a:t>dibawa balik dari disk ke RAM</a:t>
            </a:r>
            <a:r>
              <a:rPr lang="en-US" sz="3000">
                <a:solidFill>
                  <a:schemeClr val="tx1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7680" y="7949660"/>
            <a:ext cx="12639760" cy="493981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 startAt="2"/>
            </a:pPr>
            <a:r>
              <a:rPr lang="en-US" sz="3000" b="1">
                <a:solidFill>
                  <a:schemeClr val="tx1">
                    <a:lumMod val="50000"/>
                  </a:schemeClr>
                </a:solidFill>
              </a:rPr>
              <a:t>Smartphone (Android/iOS)</a:t>
            </a:r>
          </a:p>
          <a:p>
            <a:pPr marL="995363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>
                <a:solidFill>
                  <a:schemeClr val="tx1">
                    <a:lumMod val="50000"/>
                  </a:schemeClr>
                </a:solidFill>
              </a:rPr>
              <a:t>Ketika user buka banyak aplikasi (WhatsApp, Instagram, YouTube, Maps), sementara RAM kecil (misalnya 3 GB).</a:t>
            </a:r>
          </a:p>
          <a:p>
            <a:pPr marL="995363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>
                <a:solidFill>
                  <a:schemeClr val="tx1">
                    <a:lumMod val="50000"/>
                  </a:schemeClr>
                </a:solidFill>
              </a:rPr>
              <a:t>Aplikasi yang jarang dipakai </a:t>
            </a:r>
            <a:r>
              <a:rPr lang="en-US" sz="3000" b="1">
                <a:solidFill>
                  <a:schemeClr val="tx1">
                    <a:lumMod val="50000"/>
                  </a:schemeClr>
                </a:solidFill>
              </a:rPr>
              <a:t>dipindah ke storage (swap/virtual memory)</a:t>
            </a:r>
            <a:r>
              <a:rPr lang="en-US" sz="3000">
                <a:solidFill>
                  <a:schemeClr val="tx1">
                    <a:lumMod val="50000"/>
                  </a:schemeClr>
                </a:solidFill>
              </a:rPr>
              <a:t>.</a:t>
            </a:r>
          </a:p>
          <a:p>
            <a:pPr marL="995363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>
                <a:solidFill>
                  <a:schemeClr val="tx1">
                    <a:lumMod val="50000"/>
                  </a:schemeClr>
                </a:solidFill>
              </a:rPr>
              <a:t>Kalau user buka lagi → terasa “reload” → itu karena OS melakukan </a:t>
            </a:r>
            <a:r>
              <a:rPr lang="en-US" sz="3000" b="1">
                <a:solidFill>
                  <a:schemeClr val="tx1">
                    <a:lumMod val="50000"/>
                  </a:schemeClr>
                </a:solidFill>
              </a:rPr>
              <a:t>swapping balik</a:t>
            </a:r>
            <a:r>
              <a:rPr lang="en-US" sz="3000">
                <a:solidFill>
                  <a:schemeClr val="tx1">
                    <a:lumMod val="50000"/>
                  </a:schemeClr>
                </a:solidFill>
              </a:rPr>
              <a:t> dari storage ke RAM.</a:t>
            </a:r>
          </a:p>
        </p:txBody>
      </p:sp>
      <p:sp>
        <p:nvSpPr>
          <p:cNvPr id="5" name="Rectangle 4"/>
          <p:cNvSpPr/>
          <p:nvPr/>
        </p:nvSpPr>
        <p:spPr>
          <a:xfrm>
            <a:off x="2390716" y="8997495"/>
            <a:ext cx="5134739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800" b="1" u="sng" smtClean="0">
                <a:solidFill>
                  <a:srgbClr val="FF0000"/>
                </a:solidFill>
              </a:rPr>
              <a:t>CONTOH</a:t>
            </a:r>
            <a:endParaRPr lang="en-US" sz="8800" b="1" u="sng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015247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801" y="1872058"/>
            <a:ext cx="14715569" cy="510281"/>
          </a:xfrm>
        </p:spPr>
        <p:txBody>
          <a:bodyPr>
            <a:normAutofit fontScale="90000"/>
          </a:bodyPr>
          <a:lstStyle/>
          <a:p>
            <a:r>
              <a:rPr lang="en-NZ" dirty="0"/>
              <a:t>Suspended processes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097280" y="3095227"/>
            <a:ext cx="22209760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b="1" smtClean="0">
                <a:solidFill>
                  <a:schemeClr val="bg2">
                    <a:lumMod val="10000"/>
                  </a:schemeClr>
                </a:solidFill>
              </a:rPr>
              <a:t>Definisi</a:t>
            </a:r>
            <a:r>
              <a:rPr lang="en-US" sz="3300">
                <a:solidFill>
                  <a:schemeClr val="bg2">
                    <a:lumMod val="10000"/>
                  </a:schemeClr>
                </a:solidFill>
              </a:rPr>
              <a:t>: Status proses yang </a:t>
            </a:r>
            <a:r>
              <a:rPr lang="en-US" sz="3300" b="1">
                <a:solidFill>
                  <a:schemeClr val="bg2">
                    <a:lumMod val="10000"/>
                  </a:schemeClr>
                </a:solidFill>
              </a:rPr>
              <a:t>dihentikan sementara (paused)</a:t>
            </a:r>
            <a:r>
              <a:rPr lang="en-US" sz="3300">
                <a:solidFill>
                  <a:schemeClr val="bg2">
                    <a:lumMod val="10000"/>
                  </a:schemeClr>
                </a:solidFill>
              </a:rPr>
              <a:t> oleh sistem operasi atau user.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b="1">
                <a:solidFill>
                  <a:schemeClr val="bg2">
                    <a:lumMod val="10000"/>
                  </a:schemeClr>
                </a:solidFill>
              </a:rPr>
              <a:t>Tujuan</a:t>
            </a:r>
            <a:r>
              <a:rPr lang="en-US" sz="3300">
                <a:solidFill>
                  <a:schemeClr val="bg2">
                    <a:lumMod val="10000"/>
                  </a:schemeClr>
                </a:solidFill>
              </a:rPr>
              <a:t>: Biasanya untuk administrasi, debugging, atau menunggu resource tertentu</a:t>
            </a:r>
            <a:r>
              <a:rPr lang="en-US" sz="3300" smtClean="0">
                <a:solidFill>
                  <a:schemeClr val="bg2">
                    <a:lumMod val="10000"/>
                  </a:schemeClr>
                </a:solidFill>
              </a:rPr>
              <a:t>.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300" b="1">
                <a:solidFill>
                  <a:schemeClr val="bg2">
                    <a:lumMod val="10000"/>
                  </a:schemeClr>
                </a:solidFill>
              </a:rPr>
              <a:t>Ciri</a:t>
            </a:r>
            <a:r>
              <a:rPr lang="en-US" sz="3300">
                <a:solidFill>
                  <a:schemeClr val="bg2">
                    <a:lumMod val="10000"/>
                  </a:schemeClr>
                </a:solidFill>
              </a:rPr>
              <a:t>:</a:t>
            </a:r>
          </a:p>
          <a:p>
            <a:pPr marL="1604963" indent="-742950" algn="just">
              <a:lnSpc>
                <a:spcPct val="150000"/>
              </a:lnSpc>
              <a:buFont typeface="+mj-lt"/>
              <a:buAutoNum type="arabicPeriod"/>
            </a:pPr>
            <a:r>
              <a:rPr lang="en-US" sz="3300">
                <a:solidFill>
                  <a:schemeClr val="bg2">
                    <a:lumMod val="10000"/>
                  </a:schemeClr>
                </a:solidFill>
              </a:rPr>
              <a:t>Proses tidak bisa langsung dijalankan walaupun CPU dan memori tersedia.</a:t>
            </a:r>
          </a:p>
          <a:p>
            <a:pPr marL="1604963" indent="-742950" algn="just">
              <a:lnSpc>
                <a:spcPct val="150000"/>
              </a:lnSpc>
              <a:buFont typeface="+mj-lt"/>
              <a:buAutoNum type="arabicPeriod"/>
            </a:pPr>
            <a:r>
              <a:rPr lang="en-US" sz="3300">
                <a:solidFill>
                  <a:schemeClr val="bg2">
                    <a:lumMod val="10000"/>
                  </a:schemeClr>
                </a:solidFill>
              </a:rPr>
              <a:t>Harus di-</a:t>
            </a:r>
            <a:r>
              <a:rPr lang="en-US" sz="3300" i="1">
                <a:solidFill>
                  <a:schemeClr val="bg2">
                    <a:lumMod val="10000"/>
                  </a:schemeClr>
                </a:solidFill>
              </a:rPr>
              <a:t>resume</a:t>
            </a:r>
            <a:r>
              <a:rPr lang="en-US" sz="3300">
                <a:solidFill>
                  <a:schemeClr val="bg2">
                    <a:lumMod val="10000"/>
                  </a:schemeClr>
                </a:solidFill>
              </a:rPr>
              <a:t> dulu supaya bisa aktif lagi.</a:t>
            </a:r>
          </a:p>
          <a:p>
            <a:pPr marL="1604963" indent="-742950" algn="just">
              <a:lnSpc>
                <a:spcPct val="150000"/>
              </a:lnSpc>
              <a:buFont typeface="+mj-lt"/>
              <a:buAutoNum type="arabicPeriod"/>
            </a:pPr>
            <a:r>
              <a:rPr lang="en-US" sz="3300">
                <a:solidFill>
                  <a:schemeClr val="bg2">
                    <a:lumMod val="10000"/>
                  </a:schemeClr>
                </a:solidFill>
              </a:rPr>
              <a:t>Bisa tetap di RAM (suspended in memory) atau dipindah ke disk (suspended swapped out</a:t>
            </a:r>
            <a:r>
              <a:rPr lang="en-US" sz="3300" smtClean="0">
                <a:solidFill>
                  <a:schemeClr val="bg2">
                    <a:lumMod val="10000"/>
                  </a:schemeClr>
                </a:solidFill>
              </a:rPr>
              <a:t>)</a:t>
            </a:r>
            <a:endParaRPr lang="en-US" sz="330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97280" y="8470930"/>
            <a:ext cx="19669760" cy="30469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 algn="just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 u="sng" smtClean="0">
                <a:solidFill>
                  <a:schemeClr val="bg2">
                    <a:lumMod val="10000"/>
                  </a:schemeClr>
                </a:solidFill>
              </a:rPr>
              <a:t>CONTOH</a:t>
            </a:r>
          </a:p>
          <a:p>
            <a:pPr marL="342900" lvl="0" indent="-342900" algn="just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 smtClean="0">
                <a:solidFill>
                  <a:schemeClr val="bg2">
                    <a:lumMod val="10000"/>
                  </a:schemeClr>
                </a:solidFill>
              </a:rPr>
              <a:t>User </a:t>
            </a:r>
            <a:r>
              <a:rPr lang="en-US" altLang="en-US" sz="3200">
                <a:solidFill>
                  <a:schemeClr val="bg2">
                    <a:lumMod val="10000"/>
                  </a:schemeClr>
                </a:solidFill>
              </a:rPr>
              <a:t>menekan </a:t>
            </a:r>
            <a:r>
              <a:rPr lang="en-US" altLang="en-US" sz="3200" b="1">
                <a:solidFill>
                  <a:schemeClr val="bg2">
                    <a:lumMod val="10000"/>
                  </a:schemeClr>
                </a:solidFill>
              </a:rPr>
              <a:t>Ctrl+Z</a:t>
            </a:r>
            <a:r>
              <a:rPr lang="en-US" altLang="en-US" sz="3200">
                <a:solidFill>
                  <a:schemeClr val="bg2">
                    <a:lumMod val="10000"/>
                  </a:schemeClr>
                </a:solidFill>
              </a:rPr>
              <a:t> di Linux → proses masuk state </a:t>
            </a:r>
            <a:r>
              <a:rPr lang="en-US" altLang="en-US" sz="3200" i="1">
                <a:solidFill>
                  <a:schemeClr val="bg2">
                    <a:lumMod val="10000"/>
                  </a:schemeClr>
                </a:solidFill>
              </a:rPr>
              <a:t>suspended</a:t>
            </a:r>
            <a:r>
              <a:rPr lang="en-US" altLang="en-US" sz="3200">
                <a:solidFill>
                  <a:schemeClr val="bg2">
                    <a:lumMod val="10000"/>
                  </a:schemeClr>
                </a:solidFill>
              </a:rPr>
              <a:t>.</a:t>
            </a:r>
          </a:p>
          <a:p>
            <a:pPr marL="342900" lvl="0" indent="-342900" algn="just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chemeClr val="bg2">
                    <a:lumMod val="10000"/>
                  </a:schemeClr>
                </a:solidFill>
              </a:rPr>
              <a:t>Download Manager yang di-</a:t>
            </a:r>
            <a:r>
              <a:rPr lang="en-US" altLang="en-US" sz="3200" i="1">
                <a:solidFill>
                  <a:schemeClr val="bg2">
                    <a:lumMod val="10000"/>
                  </a:schemeClr>
                </a:solidFill>
              </a:rPr>
              <a:t>pause</a:t>
            </a:r>
            <a:r>
              <a:rPr lang="en-US" altLang="en-US" sz="3200">
                <a:solidFill>
                  <a:schemeClr val="bg2">
                    <a:lumMod val="10000"/>
                  </a:schemeClr>
                </a:solidFill>
              </a:rPr>
              <a:t>.</a:t>
            </a:r>
          </a:p>
          <a:p>
            <a:pPr marL="342900" lvl="0" indent="-342900" algn="just" defTabSz="914400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200">
                <a:solidFill>
                  <a:schemeClr val="bg2">
                    <a:lumMod val="10000"/>
                  </a:schemeClr>
                </a:solidFill>
              </a:rPr>
              <a:t>Aplikasi mobile yang “dibekukan” oleh sistem saat masuk background agar tidak makan resource.</a:t>
            </a:r>
          </a:p>
        </p:txBody>
      </p:sp>
    </p:spTree>
    <p:extLst>
      <p:ext uri="{BB962C8B-B14F-4D97-AF65-F5344CB8AC3E}">
        <p14:creationId xmlns:p14="http://schemas.microsoft.com/office/powerpoint/2010/main" val="171377714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/>
              <a:t>Reasons for suspension</a:t>
            </a: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026101"/>
              </p:ext>
            </p:extLst>
          </p:nvPr>
        </p:nvGraphicFramePr>
        <p:xfrm>
          <a:off x="1397159" y="2739813"/>
          <a:ext cx="21117400" cy="102721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18041">
                  <a:extLst>
                    <a:ext uri="{9D8B030D-6E8A-4147-A177-3AD203B41FA5}">
                      <a16:colId xmlns:a16="http://schemas.microsoft.com/office/drawing/2014/main" val="97774491"/>
                    </a:ext>
                  </a:extLst>
                </a:gridCol>
                <a:gridCol w="15199359">
                  <a:extLst>
                    <a:ext uri="{9D8B030D-6E8A-4147-A177-3AD203B41FA5}">
                      <a16:colId xmlns:a16="http://schemas.microsoft.com/office/drawing/2014/main" val="3983450100"/>
                    </a:ext>
                  </a:extLst>
                </a:gridCol>
              </a:tblGrid>
              <a:tr h="673947">
                <a:tc>
                  <a:txBody>
                    <a:bodyPr/>
                    <a:lstStyle/>
                    <a:p>
                      <a:r>
                        <a:rPr lang="en-US" sz="2800" b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Reason</a:t>
                      </a:r>
                      <a:r>
                        <a:rPr lang="en-US" sz="2800" b="1" baseline="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for Suspension</a:t>
                      </a:r>
                      <a:endParaRPr lang="en-US" sz="2800" b="1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Explaination</a:t>
                      </a:r>
                      <a:endParaRPr lang="en-US" sz="2800" b="1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532408"/>
                  </a:ext>
                </a:extLst>
              </a:tr>
              <a:tr h="1808480">
                <a:tc>
                  <a:txBody>
                    <a:bodyPr/>
                    <a:lstStyle/>
                    <a:p>
                      <a:r>
                        <a:rPr lang="en-US" sz="2400" b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Swapping</a:t>
                      </a:r>
                      <a:endParaRPr lang="en-US" sz="2400" b="1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OS harus melepas sebagian memori utama (RAM) untuk memberi ruang pada proses lain yang siap dieksekusi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Jika ada proses baru yang butuh memori sementara RAM penuh, OS akan menyuspend (swap out) proses yang tidak aktif ke disk agar proses baru bisa masuk ke RAM</a:t>
                      </a:r>
                      <a:endParaRPr lang="en-US" sz="24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5420703"/>
                  </a:ext>
                </a:extLst>
              </a:tr>
              <a:tr h="1389443">
                <a:tc>
                  <a:txBody>
                    <a:bodyPr/>
                    <a:lstStyle/>
                    <a:p>
                      <a:pPr algn="ctr"/>
                      <a:r>
                        <a:rPr lang="en-US" sz="2400" b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Other OS Reason</a:t>
                      </a:r>
                      <a:endParaRPr lang="en-US" sz="2400" b="1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OS men-suspend proses background atau utility yang sedang tidak prioritas, atau proses yang dicurigai menyebabkan masalah (misalnya crash, memory leak)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24280205"/>
                  </a:ext>
                </a:extLst>
              </a:tr>
              <a:tr h="1930400">
                <a:tc>
                  <a:txBody>
                    <a:bodyPr/>
                    <a:lstStyle/>
                    <a:p>
                      <a:pPr algn="ctr"/>
                      <a:r>
                        <a:rPr lang="en-US" sz="2400" b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Interactive User Request</a:t>
                      </a:r>
                      <a:endParaRPr lang="en-US" sz="2400" b="1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User bisa meminta proses dihentikan sementara, misalnya untuk debugging atau saat menggunakan resource tertentu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Contohnya developer melakukan </a:t>
                      </a:r>
                      <a:r>
                        <a:rPr lang="en-US" sz="2400" b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pause</a:t>
                      </a:r>
                      <a:r>
                        <a:rPr lang="en-US" sz="240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pada debugger, atau user menekan </a:t>
                      </a:r>
                      <a:r>
                        <a:rPr lang="en-US" sz="2400" b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pause</a:t>
                      </a:r>
                      <a:r>
                        <a:rPr lang="en-US" sz="240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 pada aplikasi download manager</a:t>
                      </a:r>
                      <a:endParaRPr lang="en-US" sz="24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0893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b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Timing</a:t>
                      </a:r>
                      <a:endParaRPr lang="en-US" sz="2400" b="1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Beberapa proses yang hanya perlu jalan secara periodik, misalnya program akuntansi harian, atau system monitoring. Sambil menunggu waktu berikutnya, proses bisa disuspend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86356758"/>
                  </a:ext>
                </a:extLst>
              </a:tr>
              <a:tr h="24480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400" b="1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Parent process request</a:t>
                      </a:r>
                      <a:endParaRPr lang="en-US" sz="2400" b="1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Parent process bisa men-suspend child-nya untuk diperiksa, dimodifikasi, atau agar koordinasi antar-child lebih mudah</a:t>
                      </a:r>
                    </a:p>
                    <a:p>
                      <a:pPr marL="285750" indent="-285750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smtClean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Contohnya pada saat parent melakukan pause pada child untuk sinkronisasi data sebelum semua child melanjutkan eksekusi</a:t>
                      </a:r>
                      <a:endParaRPr lang="en-US" sz="2400">
                        <a:solidFill>
                          <a:schemeClr val="bg2">
                            <a:lumMod val="1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88686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534296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/>
              <a:t>Reasons for suspension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463040" y="2713732"/>
            <a:ext cx="21417280" cy="5509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4000" b="1" smtClean="0">
                <a:solidFill>
                  <a:srgbClr val="FF0000"/>
                </a:solidFill>
              </a:rPr>
              <a:t>Swapping </a:t>
            </a:r>
            <a:r>
              <a:rPr lang="en-US" b="1">
                <a:solidFill>
                  <a:schemeClr val="bg2">
                    <a:lumMod val="10000"/>
                  </a:schemeClr>
                </a:solidFill>
              </a:rPr>
              <a:t>(paling sering)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b="1">
                <a:solidFill>
                  <a:schemeClr val="bg2">
                    <a:lumMod val="10000"/>
                  </a:schemeClr>
                </a:solidFill>
              </a:rPr>
              <a:t>Sering terjadi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</a:rPr>
              <a:t> pada OS karena keterbatasan RAM.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2">
                    <a:lumMod val="10000"/>
                  </a:schemeClr>
                </a:solidFill>
              </a:rPr>
              <a:t>OS modern (Windows, Linux, macOS, Android) menggunakan </a:t>
            </a:r>
            <a:r>
              <a:rPr lang="en-US" sz="2800" b="1">
                <a:solidFill>
                  <a:schemeClr val="bg2">
                    <a:lumMod val="10000"/>
                  </a:schemeClr>
                </a:solidFill>
              </a:rPr>
              <a:t>virtual memory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</a:rPr>
              <a:t> dan </a:t>
            </a:r>
            <a:r>
              <a:rPr lang="en-US" sz="2800" b="1">
                <a:solidFill>
                  <a:schemeClr val="bg2">
                    <a:lumMod val="10000"/>
                  </a:schemeClr>
                </a:solidFill>
              </a:rPr>
              <a:t>pagefile/swap space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</a:rPr>
              <a:t>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2">
                    <a:lumMod val="10000"/>
                  </a:schemeClr>
                </a:solidFill>
              </a:rPr>
              <a:t>Proses yang idle dipindahkan ke disk → disuspend (swap out), lalu dipanggil kembali (swap in) saat dibutuhkan.</a:t>
            </a:r>
          </a:p>
          <a:p>
            <a:pPr marL="457200" indent="-4572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b="1">
                <a:solidFill>
                  <a:schemeClr val="bg2">
                    <a:lumMod val="10000"/>
                  </a:schemeClr>
                </a:solidFill>
              </a:rPr>
              <a:t>Kenapa sering?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</a:rPr>
              <a:t> Karena ini otomatis dan sangat umum di semua OS, terutama jika banyak aplikasi terbuka melebihi kapasitas RAM.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8554710"/>
            <a:ext cx="21417280" cy="28011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3600" b="1">
                <a:solidFill>
                  <a:srgbClr val="FF0000"/>
                </a:solidFill>
              </a:rPr>
              <a:t>Interactive user request </a:t>
            </a:r>
            <a:r>
              <a:rPr lang="en-US" sz="3600" b="1" smtClean="0">
                <a:solidFill>
                  <a:srgbClr val="FF0000"/>
                </a:solidFill>
              </a:rPr>
              <a:t> </a:t>
            </a:r>
            <a:r>
              <a:rPr lang="en-US" b="1">
                <a:solidFill>
                  <a:schemeClr val="bg2">
                    <a:lumMod val="10000"/>
                  </a:schemeClr>
                </a:solidFill>
              </a:rPr>
              <a:t>(cukup sering, tapi manual)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2">
                    <a:lumMod val="10000"/>
                  </a:schemeClr>
                </a:solidFill>
              </a:rPr>
              <a:t>Contoh: User </a:t>
            </a:r>
            <a:r>
              <a:rPr lang="en-US" sz="2800" b="1">
                <a:solidFill>
                  <a:schemeClr val="bg2">
                    <a:lumMod val="10000"/>
                  </a:schemeClr>
                </a:solidFill>
              </a:rPr>
              <a:t>pause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</a:rPr>
              <a:t> aplikasi download, tekan </a:t>
            </a:r>
            <a:r>
              <a:rPr lang="en-US" sz="2800" b="1">
                <a:solidFill>
                  <a:schemeClr val="bg2">
                    <a:lumMod val="10000"/>
                  </a:schemeClr>
                </a:solidFill>
              </a:rPr>
              <a:t>Ctrl+Z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</a:rPr>
              <a:t> di Linux, atau debugger berhenti di breakpoint.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b="1">
                <a:solidFill>
                  <a:schemeClr val="bg2">
                    <a:lumMod val="10000"/>
                  </a:schemeClr>
                </a:solidFill>
              </a:rPr>
              <a:t>Kenapa tidak selalu ada?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</a:rPr>
              <a:t> Karena butuh intervensi user, tidak otomatis di siklus OS.</a:t>
            </a:r>
          </a:p>
        </p:txBody>
      </p:sp>
    </p:spTree>
    <p:extLst>
      <p:ext uri="{BB962C8B-B14F-4D97-AF65-F5344CB8AC3E}">
        <p14:creationId xmlns:p14="http://schemas.microsoft.com/office/powerpoint/2010/main" val="77427068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38347"/>
            <a:ext cx="14715569" cy="510281"/>
          </a:xfrm>
        </p:spPr>
        <p:txBody>
          <a:bodyPr>
            <a:normAutofit fontScale="90000"/>
          </a:bodyPr>
          <a:lstStyle/>
          <a:p>
            <a:r>
              <a:rPr lang="en-NZ" dirty="0"/>
              <a:t>Process State diagram with one Suspend States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5B14047-F374-3E8C-AEFD-AB15DF804C4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 descr="f9.pdf">
            <a:extLst>
              <a:ext uri="{FF2B5EF4-FFF2-40B4-BE49-F238E27FC236}">
                <a16:creationId xmlns:a16="http://schemas.microsoft.com/office/drawing/2014/main" id="{E3798A56-C6F8-4040-D938-1F2E91D27A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45" b="65455"/>
          <a:stretch>
            <a:fillRect/>
          </a:stretch>
        </p:blipFill>
        <p:spPr>
          <a:xfrm>
            <a:off x="3739310" y="4721056"/>
            <a:ext cx="15097998" cy="5861280"/>
          </a:xfrm>
          <a:prstGeom prst="rect">
            <a:avLst/>
          </a:prstGeom>
        </p:spPr>
      </p:pic>
      <p:pic>
        <p:nvPicPr>
          <p:cNvPr id="9" name="Picture 8" descr="f9.pdf">
            <a:extLst>
              <a:ext uri="{FF2B5EF4-FFF2-40B4-BE49-F238E27FC236}">
                <a16:creationId xmlns:a16="http://schemas.microsoft.com/office/drawing/2014/main" id="{B264F270-0620-FEA6-1DB7-22034554E8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1818" b="11818"/>
          <a:stretch>
            <a:fillRect/>
          </a:stretch>
        </p:blipFill>
        <p:spPr>
          <a:xfrm>
            <a:off x="3454338" y="10789726"/>
            <a:ext cx="15667941" cy="1290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68562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DAF9C75-4554-CF8E-0C5D-F5479CB102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9497E71E-5985-17E2-529B-EEB53C73644F}"/>
              </a:ext>
            </a:extLst>
          </p:cNvPr>
          <p:cNvSpPr txBox="1">
            <a:spLocks/>
          </p:cNvSpPr>
          <p:nvPr/>
        </p:nvSpPr>
        <p:spPr>
          <a:xfrm>
            <a:off x="2167377" y="13142267"/>
            <a:ext cx="20419551" cy="675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prstClr val="black">
                    <a:tint val="75000"/>
                  </a:prstClr>
                </a:solidFill>
                <a:latin typeface="Calibri"/>
              </a:rPr>
              <a:t>© 2017 Pearson Education, Inc., Hoboken, NJ. All rights reserved.</a:t>
            </a:r>
          </a:p>
        </p:txBody>
      </p:sp>
      <p:pic>
        <p:nvPicPr>
          <p:cNvPr id="3" name="Picture 2" descr="f9.pdf">
            <a:extLst>
              <a:ext uri="{FF2B5EF4-FFF2-40B4-BE49-F238E27FC236}">
                <a16:creationId xmlns:a16="http://schemas.microsoft.com/office/drawing/2014/main" id="{9C50D90B-5414-72A9-138A-35A83BD593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545" b="12727"/>
          <a:stretch>
            <a:fillRect/>
          </a:stretch>
        </p:blipFill>
        <p:spPr>
          <a:xfrm>
            <a:off x="4885979" y="3678602"/>
            <a:ext cx="11996967" cy="818610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7377" y="1838347"/>
            <a:ext cx="14715569" cy="510281"/>
          </a:xfrm>
        </p:spPr>
        <p:txBody>
          <a:bodyPr>
            <a:normAutofit fontScale="90000"/>
          </a:bodyPr>
          <a:lstStyle/>
          <a:p>
            <a:r>
              <a:rPr lang="en-NZ" dirty="0"/>
              <a:t>Process State diagram </a:t>
            </a:r>
            <a:r>
              <a:rPr lang="en-NZ"/>
              <a:t>with </a:t>
            </a:r>
            <a:r>
              <a:rPr lang="en-NZ" smtClean="0"/>
              <a:t>Two </a:t>
            </a:r>
            <a:r>
              <a:rPr lang="en-NZ" dirty="0"/>
              <a:t>Suspend States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649853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/>
              <a:t>Process </a:t>
            </a:r>
            <a:r>
              <a:rPr lang="en-NZ"/>
              <a:t>state </a:t>
            </a:r>
            <a:r>
              <a:rPr lang="en-NZ" smtClean="0"/>
              <a:t>Diagram </a:t>
            </a:r>
            <a:r>
              <a:rPr lang="en-NZ"/>
              <a:t>with </a:t>
            </a:r>
            <a:r>
              <a:rPr lang="en-NZ" smtClean="0"/>
              <a:t>suspend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377007"/>
              </p:ext>
            </p:extLst>
          </p:nvPr>
        </p:nvGraphicFramePr>
        <p:xfrm>
          <a:off x="1206500" y="3643178"/>
          <a:ext cx="21971001" cy="7143756"/>
        </p:xfrm>
        <a:graphic>
          <a:graphicData uri="http://schemas.openxmlformats.org/drawingml/2006/table">
            <a:tbl>
              <a:tblPr/>
              <a:tblGrid>
                <a:gridCol w="6494780">
                  <a:extLst>
                    <a:ext uri="{9D8B030D-6E8A-4147-A177-3AD203B41FA5}">
                      <a16:colId xmlns:a16="http://schemas.microsoft.com/office/drawing/2014/main" val="2321280245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4032294404"/>
                    </a:ext>
                  </a:extLst>
                </a:gridCol>
                <a:gridCol w="8526781">
                  <a:extLst>
                    <a:ext uri="{9D8B030D-6E8A-4147-A177-3AD203B41FA5}">
                      <a16:colId xmlns:a16="http://schemas.microsoft.com/office/drawing/2014/main" val="2551235927"/>
                    </a:ext>
                  </a:extLst>
                </a:gridCol>
              </a:tblGrid>
              <a:tr h="1026636">
                <a:tc>
                  <a:txBody>
                    <a:bodyPr/>
                    <a:lstStyle/>
                    <a:p>
                      <a:r>
                        <a:rPr lang="en-US" sz="3200" b="1">
                          <a:solidFill>
                            <a:sysClr val="windowText" lastClr="000000"/>
                          </a:solidFill>
                        </a:rPr>
                        <a:t>Aspek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>
                          <a:solidFill>
                            <a:sysClr val="windowText" lastClr="000000"/>
                          </a:solidFill>
                        </a:rPr>
                        <a:t>One Suspend State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>
                          <a:solidFill>
                            <a:sysClr val="windowText" lastClr="000000"/>
                          </a:solidFill>
                        </a:rPr>
                        <a:t>Two Suspend States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6873921"/>
                  </a:ext>
                </a:extLst>
              </a:tr>
              <a:tr h="874800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ysClr val="windowText" lastClr="000000"/>
                          </a:solidFill>
                        </a:rPr>
                        <a:t>Jumlah state suspend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ysClr val="windowText" lastClr="000000"/>
                          </a:solidFill>
                        </a:rPr>
                        <a:t>1 (umum)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ysClr val="windowText" lastClr="000000"/>
                          </a:solidFill>
                        </a:rPr>
                        <a:t>2 (Ready-Suspend &amp; Blocked-Suspend)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2314374"/>
                  </a:ext>
                </a:extLst>
              </a:tr>
              <a:tr h="874800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ysClr val="windowText" lastClr="000000"/>
                          </a:solidFill>
                        </a:rPr>
                        <a:t>Tingkat detail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ysClr val="windowText" lastClr="000000"/>
                          </a:solidFill>
                        </a:rPr>
                        <a:t>Sederhana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ysClr val="windowText" lastClr="000000"/>
                          </a:solidFill>
                        </a:rPr>
                        <a:t>Lebih rinci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4446557"/>
                  </a:ext>
                </a:extLst>
              </a:tr>
              <a:tr h="874800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ysClr val="windowText" lastClr="000000"/>
                          </a:solidFill>
                        </a:rPr>
                        <a:t>Kemudahan implementasi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ysClr val="windowText" lastClr="000000"/>
                          </a:solidFill>
                        </a:rPr>
                        <a:t>Mudah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ysClr val="windowText" lastClr="000000"/>
                          </a:solidFill>
                        </a:rPr>
                        <a:t>Lebih rumit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0550133"/>
                  </a:ext>
                </a:extLst>
              </a:tr>
              <a:tr h="1764720"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ysClr val="windowText" lastClr="000000"/>
                          </a:solidFill>
                        </a:rPr>
                        <a:t>Efisiensi scheduling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ysClr val="windowText" lastClr="000000"/>
                          </a:solidFill>
                        </a:rPr>
                        <a:t>Rendah (semua dianggap sama)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3200">
                          <a:solidFill>
                            <a:sysClr val="windowText" lastClr="000000"/>
                          </a:solidFill>
                        </a:rPr>
                        <a:t>Tinggi (bisa dibedakan mana yang siap dieksekusi vs menunggu I/O)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5942172"/>
                  </a:ext>
                </a:extLst>
              </a:tr>
              <a:tr h="1728000">
                <a:tc>
                  <a:txBody>
                    <a:bodyPr/>
                    <a:lstStyle/>
                    <a:p>
                      <a:pPr algn="ctr"/>
                      <a:r>
                        <a:rPr lang="en-US" sz="3200" smtClean="0">
                          <a:solidFill>
                            <a:sysClr val="windowText" lastClr="000000"/>
                          </a:solidFill>
                        </a:rPr>
                        <a:t>Cocok</a:t>
                      </a:r>
                      <a:endParaRPr lang="en-US" sz="320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>
                          <a:solidFill>
                            <a:sysClr val="windowText" lastClr="000000"/>
                          </a:solidFill>
                        </a:rPr>
                        <a:t>OS sederhana, konsep dasar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3200">
                          <a:solidFill>
                            <a:sysClr val="windowText" lastClr="000000"/>
                          </a:solidFill>
                        </a:rPr>
                        <a:t>OS modern dengan multiprogramming kompleks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8473649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206500" y="2953612"/>
            <a:ext cx="56509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smtClean="0">
                <a:solidFill>
                  <a:schemeClr val="bg2">
                    <a:lumMod val="10000"/>
                  </a:schemeClr>
                </a:solidFill>
              </a:rPr>
              <a:t>Perbedaan dalam penggunaan</a:t>
            </a:r>
            <a:endParaRPr lang="en-US" sz="2800" b="1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8100223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/>
              <a:t>Process termination</a:t>
            </a:r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1746B91-E565-665C-0DC5-6F8FDD721DDB}"/>
              </a:ext>
            </a:extLst>
          </p:cNvPr>
          <p:cNvSpPr txBox="1">
            <a:spLocks/>
          </p:cNvSpPr>
          <p:nvPr/>
        </p:nvSpPr>
        <p:spPr>
          <a:xfrm>
            <a:off x="2167377" y="13142267"/>
            <a:ext cx="20419551" cy="675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prstClr val="black">
                    <a:tint val="75000"/>
                  </a:prstClr>
                </a:solidFill>
                <a:latin typeface="Calibri"/>
              </a:rPr>
              <a:t>© 2017 Pearson Education, Inc., Hoboken, NJ. All rights reserved.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34D880F-A94B-A5B9-F612-0BA7BCF05282}"/>
              </a:ext>
            </a:extLst>
          </p:cNvPr>
          <p:cNvSpPr txBox="1">
            <a:spLocks/>
          </p:cNvSpPr>
          <p:nvPr/>
        </p:nvSpPr>
        <p:spPr>
          <a:xfrm>
            <a:off x="1411690" y="6196415"/>
            <a:ext cx="21930923" cy="1809665"/>
          </a:xfrm>
          <a:prstGeom prst="rect">
            <a:avLst/>
          </a:prstGeom>
        </p:spPr>
        <p:txBody>
          <a:bodyPr>
            <a:noAutofit/>
          </a:bodyPr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8000" b="1" smtClean="0">
                <a:solidFill>
                  <a:srgbClr val="FF0000"/>
                </a:solidFill>
              </a:rPr>
              <a:t>Process Termination &gt;&gt; </a:t>
            </a:r>
            <a:r>
              <a:rPr lang="en-US" sz="8000" b="1" u="sng" smtClean="0">
                <a:solidFill>
                  <a:srgbClr val="FF0000"/>
                </a:solidFill>
              </a:rPr>
              <a:t>Pelajari mandiri</a:t>
            </a:r>
            <a:endParaRPr lang="en-US" sz="8000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238631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/>
              <a:t>Process termination</a:t>
            </a:r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1746B91-E565-665C-0DC5-6F8FDD721DDB}"/>
              </a:ext>
            </a:extLst>
          </p:cNvPr>
          <p:cNvSpPr txBox="1">
            <a:spLocks/>
          </p:cNvSpPr>
          <p:nvPr/>
        </p:nvSpPr>
        <p:spPr>
          <a:xfrm>
            <a:off x="2167377" y="13142267"/>
            <a:ext cx="20419551" cy="675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prstClr val="black">
                    <a:tint val="75000"/>
                  </a:prstClr>
                </a:solidFill>
                <a:latin typeface="Calibri"/>
              </a:rPr>
              <a:t>© 2017 Pearson Education, Inc., Hoboken, NJ. All rights reserved.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34D880F-A94B-A5B9-F612-0BA7BCF05282}"/>
              </a:ext>
            </a:extLst>
          </p:cNvPr>
          <p:cNvSpPr txBox="1">
            <a:spLocks/>
          </p:cNvSpPr>
          <p:nvPr/>
        </p:nvSpPr>
        <p:spPr>
          <a:xfrm>
            <a:off x="1562123" y="2843615"/>
            <a:ext cx="21930923" cy="6430175"/>
          </a:xfrm>
          <a:prstGeom prst="rect">
            <a:avLst/>
          </a:prstGeom>
        </p:spPr>
        <p:txBody>
          <a:bodyPr>
            <a:noAutofit/>
          </a:bodyPr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sz="3300" dirty="0"/>
              <a:t>Process termination </a:t>
            </a:r>
            <a:r>
              <a:rPr lang="en-US" sz="3300" dirty="0" err="1"/>
              <a:t>dalam</a:t>
            </a:r>
            <a:r>
              <a:rPr lang="en-US" sz="3300" dirty="0"/>
              <a:t> </a:t>
            </a:r>
            <a:r>
              <a:rPr lang="en-US" sz="3300" dirty="0" err="1"/>
              <a:t>sistem</a:t>
            </a:r>
            <a:r>
              <a:rPr lang="en-US" sz="3300" dirty="0"/>
              <a:t> </a:t>
            </a:r>
            <a:r>
              <a:rPr lang="en-US" sz="3300" dirty="0" err="1"/>
              <a:t>operasi</a:t>
            </a:r>
            <a:r>
              <a:rPr lang="en-US" sz="3300" dirty="0"/>
              <a:t> </a:t>
            </a:r>
            <a:r>
              <a:rPr lang="en-US" sz="3300" dirty="0" err="1"/>
              <a:t>adalah</a:t>
            </a:r>
            <a:r>
              <a:rPr lang="en-US" sz="3300" dirty="0"/>
              <a:t> proses di mana </a:t>
            </a:r>
            <a:r>
              <a:rPr lang="en-US" sz="3300" dirty="0" err="1"/>
              <a:t>sebuah</a:t>
            </a:r>
            <a:r>
              <a:rPr lang="en-US" sz="3300" dirty="0"/>
              <a:t> proses yang </a:t>
            </a:r>
            <a:r>
              <a:rPr lang="en-US" sz="3300" dirty="0" err="1"/>
              <a:t>sedang</a:t>
            </a:r>
            <a:r>
              <a:rPr lang="en-US" sz="3300" dirty="0"/>
              <a:t> </a:t>
            </a:r>
            <a:r>
              <a:rPr lang="en-US" sz="3300" dirty="0" err="1"/>
              <a:t>berjalan</a:t>
            </a:r>
            <a:r>
              <a:rPr lang="en-US" sz="3300" dirty="0"/>
              <a:t> </a:t>
            </a:r>
            <a:r>
              <a:rPr lang="en-US" sz="3300" dirty="0" err="1"/>
              <a:t>dihentikan</a:t>
            </a:r>
            <a:r>
              <a:rPr lang="en-US" sz="3300" dirty="0"/>
              <a:t> </a:t>
            </a:r>
            <a:r>
              <a:rPr lang="en-US" sz="3300" dirty="0" err="1"/>
              <a:t>dan</a:t>
            </a:r>
            <a:r>
              <a:rPr lang="en-US" sz="3300" dirty="0"/>
              <a:t> </a:t>
            </a:r>
            <a:r>
              <a:rPr lang="en-US" sz="3300" dirty="0" err="1"/>
              <a:t>dihapus</a:t>
            </a:r>
            <a:r>
              <a:rPr lang="en-US" sz="3300" dirty="0"/>
              <a:t> </a:t>
            </a:r>
            <a:r>
              <a:rPr lang="en-US" sz="3300" dirty="0" err="1"/>
              <a:t>dari</a:t>
            </a:r>
            <a:r>
              <a:rPr lang="en-US" sz="3300" dirty="0"/>
              <a:t> </a:t>
            </a:r>
            <a:r>
              <a:rPr lang="en-US" sz="3300" dirty="0" err="1"/>
              <a:t>memori</a:t>
            </a:r>
            <a:r>
              <a:rPr lang="en-US" sz="3300" dirty="0"/>
              <a:t>. </a:t>
            </a:r>
            <a:r>
              <a:rPr lang="en-US" sz="3300" dirty="0" err="1"/>
              <a:t>Ini</a:t>
            </a:r>
            <a:r>
              <a:rPr lang="en-US" sz="3300" dirty="0"/>
              <a:t> </a:t>
            </a:r>
            <a:r>
              <a:rPr lang="en-US" sz="3300" dirty="0" err="1"/>
              <a:t>dapat</a:t>
            </a:r>
            <a:r>
              <a:rPr lang="en-US" sz="3300" dirty="0"/>
              <a:t> </a:t>
            </a:r>
            <a:r>
              <a:rPr lang="en-US" sz="3300" dirty="0" err="1"/>
              <a:t>terjadi</a:t>
            </a:r>
            <a:r>
              <a:rPr lang="en-US" sz="3300" dirty="0"/>
              <a:t> </a:t>
            </a:r>
            <a:r>
              <a:rPr lang="en-US" sz="3300" dirty="0" err="1"/>
              <a:t>karena</a:t>
            </a:r>
            <a:r>
              <a:rPr lang="en-US" sz="3300" dirty="0"/>
              <a:t> </a:t>
            </a:r>
            <a:r>
              <a:rPr lang="en-US" sz="3300" dirty="0" err="1"/>
              <a:t>beberapa</a:t>
            </a:r>
            <a:r>
              <a:rPr lang="en-US" sz="3300" dirty="0"/>
              <a:t> </a:t>
            </a:r>
            <a:r>
              <a:rPr lang="en-US" sz="3300" dirty="0" err="1"/>
              <a:t>alasan</a:t>
            </a:r>
            <a:r>
              <a:rPr lang="en-US" sz="3300" dirty="0"/>
              <a:t>, </a:t>
            </a:r>
            <a:r>
              <a:rPr lang="en-US" sz="3300" dirty="0" err="1"/>
              <a:t>seperti</a:t>
            </a:r>
            <a:r>
              <a:rPr lang="en-US" sz="3300" dirty="0"/>
              <a:t>:</a:t>
            </a:r>
          </a:p>
          <a:p>
            <a:pPr>
              <a:lnSpc>
                <a:spcPct val="150000"/>
              </a:lnSpc>
            </a:pPr>
            <a:r>
              <a:rPr lang="en-US" sz="3300" b="1" dirty="0"/>
              <a:t>Normal Termination</a:t>
            </a:r>
            <a:r>
              <a:rPr lang="en-US" sz="3300" dirty="0"/>
              <a:t>: Proses </a:t>
            </a:r>
            <a:r>
              <a:rPr lang="en-US" sz="3300" dirty="0" err="1"/>
              <a:t>menyelesaikan</a:t>
            </a:r>
            <a:r>
              <a:rPr lang="en-US" sz="3300" dirty="0"/>
              <a:t> </a:t>
            </a:r>
            <a:r>
              <a:rPr lang="en-US" sz="3300" dirty="0" err="1"/>
              <a:t>tugasnya</a:t>
            </a:r>
            <a:r>
              <a:rPr lang="en-US" sz="3300" dirty="0"/>
              <a:t> </a:t>
            </a:r>
            <a:r>
              <a:rPr lang="en-US" sz="3300" dirty="0" err="1"/>
              <a:t>dengan</a:t>
            </a:r>
            <a:r>
              <a:rPr lang="en-US" sz="3300" dirty="0"/>
              <a:t> </a:t>
            </a:r>
            <a:r>
              <a:rPr lang="en-US" sz="3300" dirty="0" err="1"/>
              <a:t>sukses</a:t>
            </a:r>
            <a:r>
              <a:rPr lang="en-US" sz="3300" dirty="0"/>
              <a:t> </a:t>
            </a:r>
            <a:r>
              <a:rPr lang="en-US" sz="3300" dirty="0" err="1"/>
              <a:t>dan</a:t>
            </a:r>
            <a:r>
              <a:rPr lang="en-US" sz="3300" dirty="0"/>
              <a:t> </a:t>
            </a:r>
            <a:r>
              <a:rPr lang="en-US" sz="3300" dirty="0" err="1"/>
              <a:t>mengeluarkan</a:t>
            </a:r>
            <a:r>
              <a:rPr lang="en-US" sz="3300" dirty="0"/>
              <a:t> </a:t>
            </a:r>
            <a:r>
              <a:rPr lang="en-US" sz="3300" dirty="0" err="1"/>
              <a:t>hasil</a:t>
            </a:r>
            <a:r>
              <a:rPr lang="en-US" sz="3300" dirty="0"/>
              <a:t> yang </a:t>
            </a:r>
            <a:r>
              <a:rPr lang="en-US" sz="3300" dirty="0" err="1"/>
              <a:t>diharapkan</a:t>
            </a:r>
            <a:r>
              <a:rPr lang="en-US" sz="33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3300" b="1" dirty="0"/>
              <a:t>Error Termination</a:t>
            </a:r>
            <a:r>
              <a:rPr lang="en-US" sz="3300" dirty="0"/>
              <a:t>: Proses </a:t>
            </a:r>
            <a:r>
              <a:rPr lang="en-US" sz="3300" dirty="0" err="1"/>
              <a:t>mengalami</a:t>
            </a:r>
            <a:r>
              <a:rPr lang="en-US" sz="3300" dirty="0"/>
              <a:t> </a:t>
            </a:r>
            <a:r>
              <a:rPr lang="en-US" sz="3300" dirty="0" err="1"/>
              <a:t>kesalahan</a:t>
            </a:r>
            <a:r>
              <a:rPr lang="en-US" sz="3300" dirty="0"/>
              <a:t> yang </a:t>
            </a:r>
            <a:r>
              <a:rPr lang="en-US" sz="3300" dirty="0" err="1"/>
              <a:t>tidak</a:t>
            </a:r>
            <a:r>
              <a:rPr lang="en-US" sz="3300" dirty="0"/>
              <a:t> </a:t>
            </a:r>
            <a:r>
              <a:rPr lang="en-US" sz="3300" dirty="0" err="1"/>
              <a:t>dapat</a:t>
            </a:r>
            <a:r>
              <a:rPr lang="en-US" sz="3300" dirty="0"/>
              <a:t> </a:t>
            </a:r>
            <a:r>
              <a:rPr lang="en-US" sz="3300" dirty="0" err="1"/>
              <a:t>diatasi</a:t>
            </a:r>
            <a:r>
              <a:rPr lang="en-US" sz="3300" dirty="0"/>
              <a:t>, </a:t>
            </a:r>
            <a:r>
              <a:rPr lang="en-US" sz="3300" dirty="0" err="1"/>
              <a:t>seperti</a:t>
            </a:r>
            <a:r>
              <a:rPr lang="en-US" sz="3300" dirty="0"/>
              <a:t> </a:t>
            </a:r>
            <a:r>
              <a:rPr lang="en-US" sz="3300" dirty="0" err="1"/>
              <a:t>pembagian</a:t>
            </a:r>
            <a:r>
              <a:rPr lang="en-US" sz="3300" dirty="0"/>
              <a:t> </a:t>
            </a:r>
            <a:r>
              <a:rPr lang="en-US" sz="3300" dirty="0" err="1"/>
              <a:t>dengan</a:t>
            </a:r>
            <a:r>
              <a:rPr lang="en-US" sz="3300" dirty="0"/>
              <a:t> </a:t>
            </a:r>
            <a:r>
              <a:rPr lang="en-US" sz="3300" dirty="0" err="1"/>
              <a:t>nol</a:t>
            </a:r>
            <a:r>
              <a:rPr lang="en-US" sz="3300" dirty="0"/>
              <a:t> </a:t>
            </a:r>
            <a:r>
              <a:rPr lang="en-US" sz="3300" dirty="0" err="1"/>
              <a:t>atau</a:t>
            </a:r>
            <a:r>
              <a:rPr lang="en-US" sz="3300" dirty="0"/>
              <a:t> </a:t>
            </a:r>
            <a:r>
              <a:rPr lang="en-US" sz="3300" dirty="0" err="1"/>
              <a:t>kesalahan</a:t>
            </a:r>
            <a:r>
              <a:rPr lang="en-US" sz="3300" dirty="0"/>
              <a:t> </a:t>
            </a:r>
            <a:r>
              <a:rPr lang="en-US" sz="3300" dirty="0" err="1"/>
              <a:t>memori</a:t>
            </a:r>
            <a:r>
              <a:rPr lang="en-US" sz="33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3300" b="1" dirty="0"/>
              <a:t>User Termination</a:t>
            </a:r>
            <a:r>
              <a:rPr lang="en-US" sz="3300" dirty="0"/>
              <a:t>: </a:t>
            </a:r>
            <a:r>
              <a:rPr lang="en-US" sz="3300" dirty="0" err="1"/>
              <a:t>Pengguna</a:t>
            </a:r>
            <a:r>
              <a:rPr lang="en-US" sz="3300" dirty="0"/>
              <a:t> </a:t>
            </a:r>
            <a:r>
              <a:rPr lang="en-US" sz="3300" dirty="0" err="1"/>
              <a:t>memutuskan</a:t>
            </a:r>
            <a:r>
              <a:rPr lang="en-US" sz="3300" dirty="0"/>
              <a:t> </a:t>
            </a:r>
            <a:r>
              <a:rPr lang="en-US" sz="3300" dirty="0" err="1"/>
              <a:t>untuk</a:t>
            </a:r>
            <a:r>
              <a:rPr lang="en-US" sz="3300" dirty="0"/>
              <a:t> </a:t>
            </a:r>
            <a:r>
              <a:rPr lang="en-US" sz="3300" dirty="0" err="1"/>
              <a:t>menghentikan</a:t>
            </a:r>
            <a:r>
              <a:rPr lang="en-US" sz="3300" dirty="0"/>
              <a:t> proses </a:t>
            </a:r>
            <a:r>
              <a:rPr lang="en-US" sz="3300" dirty="0" err="1"/>
              <a:t>secara</a:t>
            </a:r>
            <a:r>
              <a:rPr lang="en-US" sz="3300" dirty="0"/>
              <a:t> manual, </a:t>
            </a:r>
            <a:r>
              <a:rPr lang="en-US" sz="3300" dirty="0" err="1"/>
              <a:t>misalnya</a:t>
            </a:r>
            <a:r>
              <a:rPr lang="en-US" sz="3300" dirty="0"/>
              <a:t> </a:t>
            </a:r>
            <a:r>
              <a:rPr lang="en-US" sz="3300" dirty="0" err="1"/>
              <a:t>dengan</a:t>
            </a:r>
            <a:r>
              <a:rPr lang="en-US" sz="3300" dirty="0"/>
              <a:t> </a:t>
            </a:r>
            <a:r>
              <a:rPr lang="en-US" sz="3300" dirty="0" err="1"/>
              <a:t>menggunakan</a:t>
            </a:r>
            <a:r>
              <a:rPr lang="en-US" sz="3300" dirty="0"/>
              <a:t> </a:t>
            </a:r>
            <a:r>
              <a:rPr lang="en-US" sz="3300" dirty="0" err="1"/>
              <a:t>perintah</a:t>
            </a:r>
            <a:r>
              <a:rPr lang="en-US" sz="3300" dirty="0"/>
              <a:t> </a:t>
            </a:r>
            <a:r>
              <a:rPr lang="en-US" sz="3300" dirty="0" err="1"/>
              <a:t>tertentu</a:t>
            </a:r>
            <a:r>
              <a:rPr lang="en-US" sz="33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300" dirty="0" err="1"/>
              <a:t>Saat</a:t>
            </a:r>
            <a:r>
              <a:rPr lang="en-US" sz="3300" dirty="0"/>
              <a:t> proses </a:t>
            </a:r>
            <a:r>
              <a:rPr lang="en-US" sz="3300" dirty="0" err="1"/>
              <a:t>terterminasi</a:t>
            </a:r>
            <a:r>
              <a:rPr lang="en-US" sz="3300" dirty="0"/>
              <a:t>, </a:t>
            </a:r>
            <a:r>
              <a:rPr lang="en-US" sz="3300" dirty="0" err="1"/>
              <a:t>sistem</a:t>
            </a:r>
            <a:r>
              <a:rPr lang="en-US" sz="3300" dirty="0"/>
              <a:t> </a:t>
            </a:r>
            <a:r>
              <a:rPr lang="en-US" sz="3300" dirty="0" err="1"/>
              <a:t>operasi</a:t>
            </a:r>
            <a:r>
              <a:rPr lang="en-US" sz="3300" dirty="0"/>
              <a:t> </a:t>
            </a:r>
            <a:r>
              <a:rPr lang="en-US" sz="3300" dirty="0" err="1"/>
              <a:t>akan</a:t>
            </a:r>
            <a:r>
              <a:rPr lang="en-US" sz="3300" dirty="0"/>
              <a:t> </a:t>
            </a:r>
            <a:r>
              <a:rPr lang="en-US" sz="3300" dirty="0" err="1"/>
              <a:t>menghapus</a:t>
            </a:r>
            <a:r>
              <a:rPr lang="en-US" sz="3300" dirty="0"/>
              <a:t> </a:t>
            </a:r>
            <a:r>
              <a:rPr lang="en-US" sz="3300" dirty="0" err="1"/>
              <a:t>semua</a:t>
            </a:r>
            <a:r>
              <a:rPr lang="en-US" sz="3300" dirty="0"/>
              <a:t> </a:t>
            </a:r>
            <a:r>
              <a:rPr lang="en-US" sz="3300" dirty="0" err="1"/>
              <a:t>sumber</a:t>
            </a:r>
            <a:r>
              <a:rPr lang="en-US" sz="3300" dirty="0"/>
              <a:t> </a:t>
            </a:r>
            <a:r>
              <a:rPr lang="en-US" sz="3300" dirty="0" err="1"/>
              <a:t>daya</a:t>
            </a:r>
            <a:r>
              <a:rPr lang="en-US" sz="3300" dirty="0"/>
              <a:t> yang </a:t>
            </a:r>
            <a:r>
              <a:rPr lang="en-US" sz="3300" dirty="0" err="1"/>
              <a:t>dialokasikan</a:t>
            </a:r>
            <a:r>
              <a:rPr lang="en-US" sz="3300" dirty="0"/>
              <a:t> </a:t>
            </a:r>
            <a:r>
              <a:rPr lang="en-US" sz="3300" dirty="0" err="1"/>
              <a:t>untuk</a:t>
            </a:r>
            <a:r>
              <a:rPr lang="en-US" sz="3300" dirty="0"/>
              <a:t> proses </a:t>
            </a:r>
            <a:r>
              <a:rPr lang="en-US" sz="3300" dirty="0" err="1"/>
              <a:t>tersebut</a:t>
            </a:r>
            <a:r>
              <a:rPr lang="en-US" sz="3300" dirty="0"/>
              <a:t>, </a:t>
            </a:r>
            <a:r>
              <a:rPr lang="en-US" sz="3300" dirty="0" err="1"/>
              <a:t>termasuk</a:t>
            </a:r>
            <a:r>
              <a:rPr lang="en-US" sz="3300" dirty="0"/>
              <a:t> </a:t>
            </a:r>
            <a:r>
              <a:rPr lang="en-US" sz="3300" dirty="0" err="1"/>
              <a:t>memori</a:t>
            </a:r>
            <a:r>
              <a:rPr lang="en-US" sz="3300" dirty="0"/>
              <a:t> </a:t>
            </a:r>
            <a:r>
              <a:rPr lang="en-US" sz="3300" dirty="0" err="1"/>
              <a:t>dan</a:t>
            </a:r>
            <a:r>
              <a:rPr lang="en-US" sz="3300" dirty="0"/>
              <a:t> </a:t>
            </a:r>
            <a:r>
              <a:rPr lang="en-US" sz="3300" dirty="0" err="1"/>
              <a:t>entri</a:t>
            </a:r>
            <a:r>
              <a:rPr lang="en-US" sz="3300" dirty="0"/>
              <a:t> </a:t>
            </a:r>
            <a:r>
              <a:rPr lang="en-US" sz="3300" dirty="0" err="1"/>
              <a:t>pada</a:t>
            </a:r>
            <a:r>
              <a:rPr lang="en-US" sz="3300" dirty="0"/>
              <a:t> </a:t>
            </a:r>
            <a:r>
              <a:rPr lang="en-US" sz="3300" dirty="0" err="1"/>
              <a:t>tabel</a:t>
            </a:r>
            <a:r>
              <a:rPr lang="en-US" sz="3300" dirty="0"/>
              <a:t> proses</a:t>
            </a:r>
          </a:p>
        </p:txBody>
      </p:sp>
    </p:spTree>
    <p:extLst>
      <p:ext uri="{BB962C8B-B14F-4D97-AF65-F5344CB8AC3E}">
        <p14:creationId xmlns:p14="http://schemas.microsoft.com/office/powerpoint/2010/main" val="228558588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/>
              <a:t>Process termination</a:t>
            </a:r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1746B91-E565-665C-0DC5-6F8FDD721DDB}"/>
              </a:ext>
            </a:extLst>
          </p:cNvPr>
          <p:cNvSpPr txBox="1">
            <a:spLocks/>
          </p:cNvSpPr>
          <p:nvPr/>
        </p:nvSpPr>
        <p:spPr>
          <a:xfrm>
            <a:off x="2167377" y="13142267"/>
            <a:ext cx="20419551" cy="675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prstClr val="black">
                    <a:tint val="75000"/>
                  </a:prstClr>
                </a:solidFill>
                <a:latin typeface="Calibri"/>
              </a:rPr>
              <a:t>© 2017 Pearson Education, Inc., Hoboken, NJ. All rights reserved.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34D880F-A94B-A5B9-F612-0BA7BCF05282}"/>
              </a:ext>
            </a:extLst>
          </p:cNvPr>
          <p:cNvSpPr txBox="1">
            <a:spLocks/>
          </p:cNvSpPr>
          <p:nvPr/>
        </p:nvSpPr>
        <p:spPr>
          <a:xfrm>
            <a:off x="1562123" y="2843615"/>
            <a:ext cx="21930923" cy="6430175"/>
          </a:xfrm>
          <a:prstGeom prst="rect">
            <a:avLst/>
          </a:prstGeom>
        </p:spPr>
        <p:txBody>
          <a:bodyPr>
            <a:noAutofit/>
          </a:bodyPr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3600" b="1" dirty="0">
                <a:solidFill>
                  <a:schemeClr val="tx1">
                    <a:lumMod val="50000"/>
                  </a:schemeClr>
                </a:solidFill>
              </a:rPr>
              <a:t>Zombie Processes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: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Jika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proses </a:t>
            </a:r>
            <a:r>
              <a:rPr lang="en-US" sz="3600" dirty="0" err="1" smtClean="0">
                <a:solidFill>
                  <a:schemeClr val="tx1">
                    <a:lumMod val="50000"/>
                  </a:schemeClr>
                </a:solidFill>
              </a:rPr>
              <a:t>induk</a:t>
            </a:r>
            <a:r>
              <a:rPr lang="en-US" sz="3600" dirty="0" smtClean="0">
                <a:solidFill>
                  <a:schemeClr val="tx1">
                    <a:lumMod val="50000"/>
                  </a:schemeClr>
                </a:solidFill>
              </a:rPr>
              <a:t> (Parent)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tidak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mengambil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kode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keluar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dari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proses yang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terterminasi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, proses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tersebut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menjadi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smtClean="0">
                <a:solidFill>
                  <a:schemeClr val="tx1">
                    <a:lumMod val="50000"/>
                  </a:schemeClr>
                </a:solidFill>
              </a:rPr>
              <a:t>zombie. Yang </a:t>
            </a:r>
            <a:r>
              <a:rPr lang="en-US" sz="3600" dirty="0" err="1" smtClean="0">
                <a:solidFill>
                  <a:schemeClr val="tx1">
                    <a:lumMod val="50000"/>
                  </a:schemeClr>
                </a:solidFill>
              </a:rPr>
              <a:t>berarti</a:t>
            </a:r>
            <a:r>
              <a:rPr lang="en-US" sz="3600" dirty="0" smtClean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proses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sudah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selesai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tetapi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masih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ada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entri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dalam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tx1">
                    <a:lumMod val="50000"/>
                  </a:schemeClr>
                </a:solidFill>
              </a:rPr>
              <a:t>tabel</a:t>
            </a:r>
            <a:r>
              <a:rPr lang="en-US" sz="3600" dirty="0">
                <a:solidFill>
                  <a:schemeClr val="tx1">
                    <a:lumMod val="50000"/>
                  </a:schemeClr>
                </a:solidFill>
              </a:rPr>
              <a:t> proses</a:t>
            </a:r>
            <a:r>
              <a:rPr lang="en-US" sz="3600" dirty="0" smtClean="0">
                <a:solidFill>
                  <a:schemeClr val="tx1">
                    <a:lumMod val="50000"/>
                  </a:schemeClr>
                </a:solidFill>
              </a:rPr>
              <a:t>.</a:t>
            </a:r>
          </a:p>
          <a:p>
            <a:pPr lvl="0" algn="just">
              <a:lnSpc>
                <a:spcPct val="150000"/>
              </a:lnSpc>
            </a:pPr>
            <a:r>
              <a:rPr lang="en-US" altLang="en-US" sz="3600" b="1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Orphan Processes</a:t>
            </a:r>
            <a:r>
              <a:rPr lang="en-US" altLang="en-US" sz="36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: </a:t>
            </a:r>
            <a:r>
              <a:rPr lang="en-US" altLang="en-US" sz="3600" dirty="0" err="1">
                <a:solidFill>
                  <a:schemeClr val="tx1">
                    <a:lumMod val="50000"/>
                  </a:schemeClr>
                </a:solidFill>
                <a:latin typeface="+mn-lt"/>
              </a:rPr>
              <a:t>Jika</a:t>
            </a:r>
            <a:r>
              <a:rPr lang="en-US" altLang="en-US" sz="36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 proses </a:t>
            </a:r>
            <a:r>
              <a:rPr lang="en-US" altLang="en-US" sz="3600" dirty="0" err="1">
                <a:solidFill>
                  <a:schemeClr val="tx1">
                    <a:lumMod val="50000"/>
                  </a:schemeClr>
                </a:solidFill>
                <a:latin typeface="+mn-lt"/>
              </a:rPr>
              <a:t>induk</a:t>
            </a:r>
            <a:r>
              <a:rPr lang="en-US" altLang="en-US" sz="36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 </a:t>
            </a:r>
            <a:r>
              <a:rPr lang="en-US" altLang="en-US" sz="3600" dirty="0" err="1">
                <a:solidFill>
                  <a:schemeClr val="tx1">
                    <a:lumMod val="50000"/>
                  </a:schemeClr>
                </a:solidFill>
                <a:latin typeface="+mn-lt"/>
              </a:rPr>
              <a:t>dihentikan</a:t>
            </a:r>
            <a:r>
              <a:rPr lang="en-US" altLang="en-US" sz="36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 </a:t>
            </a:r>
            <a:r>
              <a:rPr lang="en-US" altLang="en-US" sz="3600" dirty="0" err="1">
                <a:solidFill>
                  <a:schemeClr val="tx1">
                    <a:lumMod val="50000"/>
                  </a:schemeClr>
                </a:solidFill>
                <a:latin typeface="+mn-lt"/>
              </a:rPr>
              <a:t>sebelum</a:t>
            </a:r>
            <a:r>
              <a:rPr lang="en-US" altLang="en-US" sz="36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 proses </a:t>
            </a:r>
            <a:r>
              <a:rPr lang="en-US" altLang="en-US" sz="3600" dirty="0" err="1">
                <a:solidFill>
                  <a:schemeClr val="tx1">
                    <a:lumMod val="50000"/>
                  </a:schemeClr>
                </a:solidFill>
                <a:latin typeface="+mn-lt"/>
              </a:rPr>
              <a:t>anaknya</a:t>
            </a:r>
            <a:r>
              <a:rPr lang="en-US" altLang="en-US" sz="36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, proses </a:t>
            </a:r>
            <a:r>
              <a:rPr lang="en-US" altLang="en-US" sz="3600" dirty="0" err="1">
                <a:solidFill>
                  <a:schemeClr val="tx1">
                    <a:lumMod val="50000"/>
                  </a:schemeClr>
                </a:solidFill>
                <a:latin typeface="+mn-lt"/>
              </a:rPr>
              <a:t>anak</a:t>
            </a:r>
            <a:r>
              <a:rPr lang="en-US" altLang="en-US" sz="36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 </a:t>
            </a:r>
            <a:r>
              <a:rPr lang="en-US" altLang="en-US" sz="3600" dirty="0" err="1">
                <a:solidFill>
                  <a:schemeClr val="tx1">
                    <a:lumMod val="50000"/>
                  </a:schemeClr>
                </a:solidFill>
                <a:latin typeface="+mn-lt"/>
              </a:rPr>
              <a:t>tersebut</a:t>
            </a:r>
            <a:r>
              <a:rPr lang="en-US" altLang="en-US" sz="36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 </a:t>
            </a:r>
            <a:r>
              <a:rPr lang="en-US" altLang="en-US" sz="3600" dirty="0" err="1">
                <a:solidFill>
                  <a:schemeClr val="tx1">
                    <a:lumMod val="50000"/>
                  </a:schemeClr>
                </a:solidFill>
                <a:latin typeface="+mn-lt"/>
              </a:rPr>
              <a:t>menjadi</a:t>
            </a:r>
            <a:r>
              <a:rPr lang="en-US" altLang="en-US" sz="36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 orphan. </a:t>
            </a:r>
            <a:r>
              <a:rPr lang="en-US" altLang="en-US" sz="3600" dirty="0" err="1">
                <a:solidFill>
                  <a:schemeClr val="tx1">
                    <a:lumMod val="50000"/>
                  </a:schemeClr>
                </a:solidFill>
                <a:latin typeface="+mn-lt"/>
              </a:rPr>
              <a:t>Sistem</a:t>
            </a:r>
            <a:r>
              <a:rPr lang="en-US" altLang="en-US" sz="36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 </a:t>
            </a:r>
            <a:r>
              <a:rPr lang="en-US" altLang="en-US" sz="3600" dirty="0" err="1">
                <a:solidFill>
                  <a:schemeClr val="tx1">
                    <a:lumMod val="50000"/>
                  </a:schemeClr>
                </a:solidFill>
                <a:latin typeface="+mn-lt"/>
              </a:rPr>
              <a:t>operasi</a:t>
            </a:r>
            <a:r>
              <a:rPr lang="en-US" altLang="en-US" sz="36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 </a:t>
            </a:r>
            <a:r>
              <a:rPr lang="en-US" altLang="en-US" sz="3600" dirty="0" err="1">
                <a:solidFill>
                  <a:schemeClr val="tx1">
                    <a:lumMod val="50000"/>
                  </a:schemeClr>
                </a:solidFill>
                <a:latin typeface="+mn-lt"/>
              </a:rPr>
              <a:t>biasanya</a:t>
            </a:r>
            <a:r>
              <a:rPr lang="en-US" altLang="en-US" sz="36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 </a:t>
            </a:r>
            <a:r>
              <a:rPr lang="en-US" altLang="en-US" sz="3600" dirty="0" err="1">
                <a:solidFill>
                  <a:schemeClr val="tx1">
                    <a:lumMod val="50000"/>
                  </a:schemeClr>
                </a:solidFill>
                <a:latin typeface="+mn-lt"/>
              </a:rPr>
              <a:t>akan</a:t>
            </a:r>
            <a:r>
              <a:rPr lang="en-US" altLang="en-US" sz="36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 </a:t>
            </a:r>
            <a:r>
              <a:rPr lang="en-US" altLang="en-US" sz="3600" dirty="0" err="1">
                <a:solidFill>
                  <a:schemeClr val="tx1">
                    <a:lumMod val="50000"/>
                  </a:schemeClr>
                </a:solidFill>
                <a:latin typeface="+mn-lt"/>
              </a:rPr>
              <a:t>mengalihkan</a:t>
            </a:r>
            <a:r>
              <a:rPr lang="en-US" altLang="en-US" sz="36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 orphan processes </a:t>
            </a:r>
            <a:r>
              <a:rPr lang="en-US" altLang="en-US" sz="3600" dirty="0" err="1">
                <a:solidFill>
                  <a:schemeClr val="tx1">
                    <a:lumMod val="50000"/>
                  </a:schemeClr>
                </a:solidFill>
                <a:latin typeface="+mn-lt"/>
              </a:rPr>
              <a:t>ke</a:t>
            </a:r>
            <a:r>
              <a:rPr lang="en-US" altLang="en-US" sz="36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 proses </a:t>
            </a:r>
            <a:r>
              <a:rPr lang="en-US" altLang="en-US" sz="3600" dirty="0" err="1">
                <a:solidFill>
                  <a:schemeClr val="tx1">
                    <a:lumMod val="50000"/>
                  </a:schemeClr>
                </a:solidFill>
                <a:latin typeface="+mn-lt"/>
              </a:rPr>
              <a:t>khusus</a:t>
            </a:r>
            <a:r>
              <a:rPr lang="en-US" altLang="en-US" sz="36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, </a:t>
            </a:r>
            <a:r>
              <a:rPr lang="en-US" altLang="en-US" sz="3600" dirty="0" err="1">
                <a:solidFill>
                  <a:schemeClr val="tx1">
                    <a:lumMod val="50000"/>
                  </a:schemeClr>
                </a:solidFill>
                <a:latin typeface="+mn-lt"/>
              </a:rPr>
              <a:t>seperti</a:t>
            </a:r>
            <a:r>
              <a:rPr lang="en-US" altLang="en-US" sz="36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 </a:t>
            </a:r>
            <a:r>
              <a:rPr lang="en-US" altLang="en-US" sz="3600" dirty="0" smtClean="0">
                <a:solidFill>
                  <a:schemeClr val="tx1">
                    <a:lumMod val="50000"/>
                  </a:schemeClr>
                </a:solidFill>
                <a:latin typeface="+mn-lt"/>
              </a:rPr>
              <a:t>(</a:t>
            </a:r>
            <a:r>
              <a:rPr lang="en-US" altLang="en-US" sz="4400" dirty="0" err="1" smtClean="0">
                <a:solidFill>
                  <a:schemeClr val="tx1">
                    <a:lumMod val="50000"/>
                  </a:schemeClr>
                </a:solidFill>
                <a:latin typeface=" Italic" panose="020B0003030000020004" pitchFamily="34" charset="0"/>
              </a:rPr>
              <a:t>init</a:t>
            </a:r>
            <a:r>
              <a:rPr lang="en-US" altLang="en-US" sz="4400" dirty="0" smtClean="0">
                <a:solidFill>
                  <a:schemeClr val="tx1">
                    <a:lumMod val="50000"/>
                  </a:schemeClr>
                </a:solidFill>
                <a:latin typeface="+mn-lt"/>
              </a:rPr>
              <a:t>)</a:t>
            </a:r>
            <a:r>
              <a:rPr lang="en-US" altLang="en-US" sz="3200" dirty="0" smtClean="0">
                <a:solidFill>
                  <a:schemeClr val="tx1">
                    <a:lumMod val="50000"/>
                  </a:schemeClr>
                </a:solidFill>
                <a:latin typeface="+mn-lt"/>
              </a:rPr>
              <a:t>, </a:t>
            </a:r>
            <a:r>
              <a:rPr lang="en-US" altLang="en-US" sz="3600" dirty="0" err="1">
                <a:solidFill>
                  <a:schemeClr val="tx1">
                    <a:lumMod val="50000"/>
                  </a:schemeClr>
                </a:solidFill>
                <a:latin typeface="+mn-lt"/>
              </a:rPr>
              <a:t>untuk</a:t>
            </a:r>
            <a:r>
              <a:rPr lang="en-US" altLang="en-US" sz="36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 </a:t>
            </a:r>
            <a:r>
              <a:rPr lang="en-US" altLang="en-US" sz="3600" dirty="0" err="1">
                <a:solidFill>
                  <a:schemeClr val="tx1">
                    <a:lumMod val="50000"/>
                  </a:schemeClr>
                </a:solidFill>
                <a:latin typeface="+mn-lt"/>
              </a:rPr>
              <a:t>mengelola</a:t>
            </a:r>
            <a:r>
              <a:rPr lang="en-US" altLang="en-US" sz="3600" dirty="0">
                <a:solidFill>
                  <a:schemeClr val="tx1">
                    <a:lumMod val="50000"/>
                  </a:schemeClr>
                </a:solidFill>
                <a:latin typeface="+mn-lt"/>
              </a:rPr>
              <a:t> </a:t>
            </a:r>
            <a:r>
              <a:rPr lang="en-US" altLang="en-US" sz="3600" dirty="0" err="1" smtClean="0">
                <a:solidFill>
                  <a:schemeClr val="tx1">
                    <a:lumMod val="50000"/>
                  </a:schemeClr>
                </a:solidFill>
                <a:latin typeface="+mn-lt"/>
              </a:rPr>
              <a:t>mereka</a:t>
            </a:r>
            <a:r>
              <a:rPr lang="en-US" altLang="en-US" sz="3600" dirty="0" smtClean="0">
                <a:solidFill>
                  <a:schemeClr val="tx1">
                    <a:lumMod val="50000"/>
                  </a:schemeClr>
                </a:solidFill>
                <a:latin typeface="+mn-lt"/>
              </a:rPr>
              <a:t>. (</a:t>
            </a:r>
            <a:r>
              <a:rPr lang="en-US" altLang="en-US" sz="3600" i="1" dirty="0" err="1" smtClean="0">
                <a:solidFill>
                  <a:schemeClr val="tx1">
                    <a:lumMod val="50000"/>
                  </a:schemeClr>
                </a:solidFill>
                <a:latin typeface="+mn-lt"/>
              </a:rPr>
              <a:t>Mematikan</a:t>
            </a:r>
            <a:r>
              <a:rPr lang="en-US" altLang="en-US" sz="3600" i="1" dirty="0" smtClean="0">
                <a:solidFill>
                  <a:schemeClr val="tx1">
                    <a:lumMod val="50000"/>
                  </a:schemeClr>
                </a:solidFill>
                <a:latin typeface="+mn-lt"/>
              </a:rPr>
              <a:t> server </a:t>
            </a:r>
            <a:r>
              <a:rPr lang="en-US" altLang="en-US" sz="3600" i="1" dirty="0" err="1" smtClean="0">
                <a:solidFill>
                  <a:schemeClr val="tx1">
                    <a:lumMod val="50000"/>
                  </a:schemeClr>
                </a:solidFill>
                <a:latin typeface="+mn-lt"/>
              </a:rPr>
              <a:t>secara</a:t>
            </a:r>
            <a:r>
              <a:rPr lang="en-US" altLang="en-US" sz="3600" i="1" dirty="0" smtClean="0">
                <a:solidFill>
                  <a:schemeClr val="tx1">
                    <a:lumMod val="50000"/>
                  </a:schemeClr>
                </a:solidFill>
                <a:latin typeface="+mn-lt"/>
              </a:rPr>
              <a:t> </a:t>
            </a:r>
            <a:r>
              <a:rPr lang="en-US" altLang="en-US" sz="3600" i="1" dirty="0" err="1" smtClean="0">
                <a:solidFill>
                  <a:schemeClr val="tx1">
                    <a:lumMod val="50000"/>
                  </a:schemeClr>
                </a:solidFill>
                <a:latin typeface="+mn-lt"/>
              </a:rPr>
              <a:t>tiba-tiba</a:t>
            </a:r>
            <a:r>
              <a:rPr lang="en-US" altLang="en-US" sz="3600" i="1" dirty="0" smtClean="0">
                <a:solidFill>
                  <a:schemeClr val="tx1">
                    <a:lumMod val="50000"/>
                  </a:schemeClr>
                </a:solidFill>
                <a:latin typeface="+mn-lt"/>
              </a:rPr>
              <a:t>, </a:t>
            </a:r>
            <a:r>
              <a:rPr lang="en-US" altLang="en-US" sz="3600" i="1" dirty="0" err="1" smtClean="0">
                <a:solidFill>
                  <a:schemeClr val="tx1">
                    <a:lumMod val="50000"/>
                  </a:schemeClr>
                </a:solidFill>
                <a:latin typeface="+mn-lt"/>
              </a:rPr>
              <a:t>padahal</a:t>
            </a:r>
            <a:r>
              <a:rPr lang="en-US" altLang="en-US" sz="3600" i="1" dirty="0" smtClean="0">
                <a:solidFill>
                  <a:schemeClr val="tx1">
                    <a:lumMod val="50000"/>
                  </a:schemeClr>
                </a:solidFill>
                <a:latin typeface="+mn-lt"/>
              </a:rPr>
              <a:t> </a:t>
            </a:r>
            <a:r>
              <a:rPr lang="en-US" altLang="en-US" sz="3600" i="1" dirty="0" err="1" smtClean="0">
                <a:solidFill>
                  <a:schemeClr val="tx1">
                    <a:lumMod val="50000"/>
                  </a:schemeClr>
                </a:solidFill>
                <a:latin typeface="+mn-lt"/>
              </a:rPr>
              <a:t>banyak</a:t>
            </a:r>
            <a:r>
              <a:rPr lang="en-US" altLang="en-US" sz="3600" i="1" dirty="0" smtClean="0">
                <a:solidFill>
                  <a:schemeClr val="tx1">
                    <a:lumMod val="50000"/>
                  </a:schemeClr>
                </a:solidFill>
                <a:latin typeface="+mn-lt"/>
              </a:rPr>
              <a:t> process yang </a:t>
            </a:r>
            <a:r>
              <a:rPr lang="en-US" altLang="en-US" sz="3600" i="1" dirty="0" err="1" smtClean="0">
                <a:solidFill>
                  <a:schemeClr val="tx1">
                    <a:lumMod val="50000"/>
                  </a:schemeClr>
                </a:solidFill>
                <a:latin typeface="+mn-lt"/>
              </a:rPr>
              <a:t>belum</a:t>
            </a:r>
            <a:r>
              <a:rPr lang="en-US" altLang="en-US" sz="3600" i="1" dirty="0" smtClean="0">
                <a:solidFill>
                  <a:schemeClr val="tx1">
                    <a:lumMod val="50000"/>
                  </a:schemeClr>
                </a:solidFill>
                <a:latin typeface="+mn-lt"/>
              </a:rPr>
              <a:t> </a:t>
            </a:r>
            <a:r>
              <a:rPr lang="en-US" altLang="en-US" sz="3600" i="1" dirty="0" err="1" smtClean="0">
                <a:solidFill>
                  <a:schemeClr val="tx1">
                    <a:lumMod val="50000"/>
                  </a:schemeClr>
                </a:solidFill>
                <a:latin typeface="+mn-lt"/>
              </a:rPr>
              <a:t>terselesaikan</a:t>
            </a:r>
            <a:r>
              <a:rPr lang="en-US" altLang="en-US" sz="3600" dirty="0" smtClean="0">
                <a:solidFill>
                  <a:schemeClr val="tx1">
                    <a:lumMod val="50000"/>
                  </a:schemeClr>
                </a:solidFill>
                <a:latin typeface="+mn-lt"/>
              </a:rPr>
              <a:t>)</a:t>
            </a:r>
            <a:endParaRPr lang="en-US" altLang="en-US" sz="3600" dirty="0">
              <a:solidFill>
                <a:schemeClr val="tx1">
                  <a:lumMod val="50000"/>
                </a:schemeClr>
              </a:solidFill>
              <a:latin typeface="+mn-lt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3300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149167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4" y="3167608"/>
            <a:ext cx="6195573" cy="3853034"/>
          </a:xfrm>
        </p:spPr>
        <p:txBody>
          <a:bodyPr>
            <a:normAutofit/>
          </a:bodyPr>
          <a:lstStyle/>
          <a:p>
            <a:r>
              <a:rPr lang="en-NZ" dirty="0"/>
              <a:t>REASONS FOR process termination</a:t>
            </a:r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3A20BBB-5AC4-8257-86CD-7C58306D5ACA}"/>
              </a:ext>
            </a:extLst>
          </p:cNvPr>
          <p:cNvSpPr txBox="1">
            <a:spLocks/>
          </p:cNvSpPr>
          <p:nvPr/>
        </p:nvSpPr>
        <p:spPr>
          <a:xfrm>
            <a:off x="2167377" y="13142267"/>
            <a:ext cx="20419551" cy="675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prstClr val="black">
                    <a:tint val="75000"/>
                  </a:prstClr>
                </a:solidFill>
                <a:latin typeface="Calibri"/>
              </a:rPr>
              <a:t>© 2017 Pearson Education, Inc., Hoboken, NJ. All rights reserved.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19415CA-ACEB-2979-2E95-CBFD45A249F7}"/>
              </a:ext>
            </a:extLst>
          </p:cNvPr>
          <p:cNvGrpSpPr/>
          <p:nvPr/>
        </p:nvGrpSpPr>
        <p:grpSpPr>
          <a:xfrm>
            <a:off x="6477001" y="1543950"/>
            <a:ext cx="14420850" cy="12095850"/>
            <a:chOff x="3124200" y="610394"/>
            <a:chExt cx="5562600" cy="588248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E62982F-8B05-B012-89F1-B85D915092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24200" y="625154"/>
              <a:ext cx="5562600" cy="5867721"/>
            </a:xfrm>
            <a:prstGeom prst="rect">
              <a:avLst/>
            </a:prstGeom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DB37BBD-1A72-7D00-CAB3-BD9DAEC8D6E6}"/>
                </a:ext>
              </a:extLst>
            </p:cNvPr>
            <p:cNvCxnSpPr/>
            <p:nvPr/>
          </p:nvCxnSpPr>
          <p:spPr>
            <a:xfrm rot="5400000">
              <a:off x="1714500" y="3543300"/>
              <a:ext cx="58674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DE103D1-911F-4340-E924-17646836FA79}"/>
                </a:ext>
              </a:extLst>
            </p:cNvPr>
            <p:cNvCxnSpPr/>
            <p:nvPr/>
          </p:nvCxnSpPr>
          <p:spPr>
            <a:xfrm>
              <a:off x="3200400" y="6097588"/>
              <a:ext cx="54102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6A613AF-0FE2-0399-31E4-09A9DAB98702}"/>
                </a:ext>
              </a:extLst>
            </p:cNvPr>
            <p:cNvCxnSpPr/>
            <p:nvPr/>
          </p:nvCxnSpPr>
          <p:spPr>
            <a:xfrm>
              <a:off x="3200400" y="2895600"/>
              <a:ext cx="54102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4FE99CC-FD09-9FB1-791D-2BD1FA6A332B}"/>
                </a:ext>
              </a:extLst>
            </p:cNvPr>
            <p:cNvCxnSpPr/>
            <p:nvPr/>
          </p:nvCxnSpPr>
          <p:spPr>
            <a:xfrm>
              <a:off x="3200400" y="2438400"/>
              <a:ext cx="54102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F9972B9-FE35-6630-F0C3-523733DB5F12}"/>
                </a:ext>
              </a:extLst>
            </p:cNvPr>
            <p:cNvCxnSpPr/>
            <p:nvPr/>
          </p:nvCxnSpPr>
          <p:spPr>
            <a:xfrm>
              <a:off x="3200400" y="2209800"/>
              <a:ext cx="54102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90B9140-5514-EC40-D1A8-B09FC2D2EE20}"/>
                </a:ext>
              </a:extLst>
            </p:cNvPr>
            <p:cNvCxnSpPr/>
            <p:nvPr/>
          </p:nvCxnSpPr>
          <p:spPr>
            <a:xfrm>
              <a:off x="3200400" y="1905000"/>
              <a:ext cx="54102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D69167F-6714-93FD-08FC-8E3BA2C92404}"/>
                </a:ext>
              </a:extLst>
            </p:cNvPr>
            <p:cNvCxnSpPr/>
            <p:nvPr/>
          </p:nvCxnSpPr>
          <p:spPr>
            <a:xfrm>
              <a:off x="3200400" y="1066800"/>
              <a:ext cx="54102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81B990-4346-C166-2B9C-78DF8400707F}"/>
                </a:ext>
              </a:extLst>
            </p:cNvPr>
            <p:cNvCxnSpPr/>
            <p:nvPr/>
          </p:nvCxnSpPr>
          <p:spPr>
            <a:xfrm>
              <a:off x="3200400" y="3276600"/>
              <a:ext cx="54102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EBA469C-BC63-6FFB-705A-EAA1C0181B6F}"/>
                </a:ext>
              </a:extLst>
            </p:cNvPr>
            <p:cNvCxnSpPr/>
            <p:nvPr/>
          </p:nvCxnSpPr>
          <p:spPr>
            <a:xfrm>
              <a:off x="3200400" y="3657600"/>
              <a:ext cx="54102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F774505-1432-164D-06F8-CEB312931FD6}"/>
                </a:ext>
              </a:extLst>
            </p:cNvPr>
            <p:cNvCxnSpPr/>
            <p:nvPr/>
          </p:nvCxnSpPr>
          <p:spPr>
            <a:xfrm>
              <a:off x="3200400" y="5715000"/>
              <a:ext cx="54102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53FEBDB-D563-58BC-E43D-70DA08BD73FA}"/>
                </a:ext>
              </a:extLst>
            </p:cNvPr>
            <p:cNvCxnSpPr/>
            <p:nvPr/>
          </p:nvCxnSpPr>
          <p:spPr>
            <a:xfrm>
              <a:off x="3200400" y="5334000"/>
              <a:ext cx="54102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0897F6D-4DB8-2925-0471-61E9D6BBA0EC}"/>
                </a:ext>
              </a:extLst>
            </p:cNvPr>
            <p:cNvCxnSpPr/>
            <p:nvPr/>
          </p:nvCxnSpPr>
          <p:spPr>
            <a:xfrm>
              <a:off x="3200400" y="5029200"/>
              <a:ext cx="54102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6DD8B63-319F-FB2E-C476-2C19002FC092}"/>
                </a:ext>
              </a:extLst>
            </p:cNvPr>
            <p:cNvCxnSpPr/>
            <p:nvPr/>
          </p:nvCxnSpPr>
          <p:spPr>
            <a:xfrm>
              <a:off x="3200400" y="4724400"/>
              <a:ext cx="54102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BE84A71-10C0-8EB3-3F56-108FEE0A0208}"/>
                </a:ext>
              </a:extLst>
            </p:cNvPr>
            <p:cNvCxnSpPr/>
            <p:nvPr/>
          </p:nvCxnSpPr>
          <p:spPr>
            <a:xfrm>
              <a:off x="3200400" y="4343400"/>
              <a:ext cx="5410200" cy="158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0255465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/>
              <a:t>Process Tables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0579DEB-B65A-F836-18F1-DE8B506E6EB2}"/>
              </a:ext>
            </a:extLst>
          </p:cNvPr>
          <p:cNvSpPr txBox="1">
            <a:spLocks/>
          </p:cNvSpPr>
          <p:nvPr/>
        </p:nvSpPr>
        <p:spPr>
          <a:xfrm>
            <a:off x="1272026" y="2743200"/>
            <a:ext cx="22216624" cy="5709920"/>
          </a:xfrm>
          <a:prstGeom prst="rect">
            <a:avLst/>
          </a:prstGeom>
        </p:spPr>
        <p:txBody>
          <a:bodyPr>
            <a:noAutofit/>
          </a:bodyPr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>
              <a:buNone/>
            </a:pPr>
            <a:r>
              <a:rPr lang="en-US" sz="4000" b="1">
                <a:solidFill>
                  <a:srgbClr val="FF0000"/>
                </a:solidFill>
              </a:rPr>
              <a:t>Apa itu Process Table?</a:t>
            </a:r>
          </a:p>
          <a:p>
            <a:pPr>
              <a:lnSpc>
                <a:spcPct val="150000"/>
              </a:lnSpc>
            </a:pPr>
            <a:r>
              <a:rPr lang="en-US" sz="3000" b="1"/>
              <a:t>Process Table</a:t>
            </a:r>
            <a:r>
              <a:rPr lang="en-US" sz="3000"/>
              <a:t> adalah </a:t>
            </a:r>
            <a:r>
              <a:rPr lang="en-US" sz="3000" b="1"/>
              <a:t>struktur data</a:t>
            </a:r>
            <a:r>
              <a:rPr lang="en-US" sz="3000"/>
              <a:t> yang digunakan oleh </a:t>
            </a:r>
            <a:r>
              <a:rPr lang="en-US" sz="3000" b="1"/>
              <a:t>Operating System (OS)</a:t>
            </a:r>
            <a:r>
              <a:rPr lang="en-US" sz="3000"/>
              <a:t> untuk menyimpan </a:t>
            </a:r>
            <a:r>
              <a:rPr lang="en-US" sz="3000" b="1"/>
              <a:t>informasi tentang semua proses yang sedang </a:t>
            </a:r>
            <a:r>
              <a:rPr lang="en-US" sz="3000" b="1" smtClean="0"/>
              <a:t>aktif</a:t>
            </a:r>
            <a:r>
              <a:rPr lang="en-US" sz="300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sz="3000" smtClean="0"/>
              <a:t>Bisa </a:t>
            </a:r>
            <a:r>
              <a:rPr lang="en-US" sz="3000"/>
              <a:t>dianggap sebagai </a:t>
            </a:r>
            <a:r>
              <a:rPr lang="en-US" sz="3000" b="1"/>
              <a:t>daftar catatan</a:t>
            </a:r>
            <a:r>
              <a:rPr lang="en-US" sz="3000"/>
              <a:t> (registry) proses dalam sistem.</a:t>
            </a:r>
          </a:p>
          <a:p>
            <a:pPr>
              <a:lnSpc>
                <a:spcPct val="150000"/>
              </a:lnSpc>
            </a:pPr>
            <a:r>
              <a:rPr lang="en-US" sz="3000"/>
              <a:t>Setiap baris dalam tabel mewakili </a:t>
            </a:r>
            <a:r>
              <a:rPr lang="en-US" sz="3000" b="1"/>
              <a:t>satu proses</a:t>
            </a:r>
            <a:r>
              <a:rPr lang="en-US" sz="3000"/>
              <a:t>, dan menyimpan detail penting tentang status proses tersebut</a:t>
            </a:r>
          </a:p>
        </p:txBody>
      </p:sp>
      <p:sp>
        <p:nvSpPr>
          <p:cNvPr id="3" name="Rectangle 2"/>
          <p:cNvSpPr/>
          <p:nvPr/>
        </p:nvSpPr>
        <p:spPr>
          <a:xfrm>
            <a:off x="1272026" y="8448221"/>
            <a:ext cx="22216624" cy="3711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4000" b="1">
                <a:solidFill>
                  <a:srgbClr val="FF0000"/>
                </a:solidFill>
              </a:rPr>
              <a:t>Fungsi Process Table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3000" b="1">
                <a:solidFill>
                  <a:schemeClr val="bg2">
                    <a:lumMod val="10000"/>
                  </a:schemeClr>
                </a:solidFill>
              </a:rPr>
              <a:t>Tracking proses</a:t>
            </a:r>
            <a:r>
              <a:rPr lang="en-US" sz="3000">
                <a:solidFill>
                  <a:schemeClr val="bg2">
                    <a:lumMod val="10000"/>
                  </a:schemeClr>
                </a:solidFill>
              </a:rPr>
              <a:t> – OS tahu proses apa saja yang sedang ada.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3000" b="1">
                <a:solidFill>
                  <a:schemeClr val="bg2">
                    <a:lumMod val="10000"/>
                  </a:schemeClr>
                </a:solidFill>
              </a:rPr>
              <a:t>Context Switching</a:t>
            </a:r>
            <a:r>
              <a:rPr lang="en-US" sz="3000">
                <a:solidFill>
                  <a:schemeClr val="bg2">
                    <a:lumMod val="10000"/>
                  </a:schemeClr>
                </a:solidFill>
              </a:rPr>
              <a:t> – saat CPU berpindah dari satu proses ke proses lain, OS menyimpan/restore informasi dari tabel.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3000" b="1">
                <a:solidFill>
                  <a:schemeClr val="bg2">
                    <a:lumMod val="10000"/>
                  </a:schemeClr>
                </a:solidFill>
              </a:rPr>
              <a:t>Resource Allocation</a:t>
            </a:r>
            <a:r>
              <a:rPr lang="en-US" sz="3000">
                <a:solidFill>
                  <a:schemeClr val="bg2">
                    <a:lumMod val="10000"/>
                  </a:schemeClr>
                </a:solidFill>
              </a:rPr>
              <a:t> – memastikan proses mendapat jatah memori, CPU, dan I/O sesuai kebutuhan.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3000" b="1">
                <a:solidFill>
                  <a:schemeClr val="bg2">
                    <a:lumMod val="10000"/>
                  </a:schemeClr>
                </a:solidFill>
              </a:rPr>
              <a:t>Scheduling</a:t>
            </a:r>
            <a:r>
              <a:rPr lang="en-US" sz="3000">
                <a:solidFill>
                  <a:schemeClr val="bg2">
                    <a:lumMod val="10000"/>
                  </a:schemeClr>
                </a:solidFill>
              </a:rPr>
              <a:t> – membantu scheduler menentukan proses mana yang siap jalan.</a:t>
            </a:r>
          </a:p>
        </p:txBody>
      </p:sp>
    </p:spTree>
    <p:extLst>
      <p:ext uri="{BB962C8B-B14F-4D97-AF65-F5344CB8AC3E}">
        <p14:creationId xmlns:p14="http://schemas.microsoft.com/office/powerpoint/2010/main" val="333414087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/>
              <a:t>Process Tables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377" y="2694214"/>
            <a:ext cx="19986173" cy="1083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23926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/>
              <a:t>Process Tables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0579DEB-B65A-F836-18F1-DE8B506E6EB2}"/>
              </a:ext>
            </a:extLst>
          </p:cNvPr>
          <p:cNvSpPr txBox="1">
            <a:spLocks/>
          </p:cNvSpPr>
          <p:nvPr/>
        </p:nvSpPr>
        <p:spPr>
          <a:xfrm>
            <a:off x="1190746" y="2883150"/>
            <a:ext cx="22216624" cy="9999730"/>
          </a:xfrm>
          <a:prstGeom prst="rect">
            <a:avLst/>
          </a:prstGeom>
        </p:spPr>
        <p:txBody>
          <a:bodyPr>
            <a:noAutofit/>
          </a:bodyPr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3200" smtClean="0"/>
              <a:t>Setiap </a:t>
            </a:r>
            <a:r>
              <a:rPr lang="en-US" sz="3200" dirty="0" err="1"/>
              <a:t>entri</a:t>
            </a:r>
            <a:r>
              <a:rPr lang="en-US" sz="3200" dirty="0"/>
              <a:t> </a:t>
            </a:r>
            <a:r>
              <a:rPr lang="en-US" sz="3200" err="1"/>
              <a:t>dalam</a:t>
            </a:r>
            <a:r>
              <a:rPr lang="en-US" sz="3200"/>
              <a:t> </a:t>
            </a:r>
            <a:r>
              <a:rPr lang="en-US" sz="3200" smtClean="0"/>
              <a:t>tabel, </a:t>
            </a:r>
            <a:r>
              <a:rPr lang="en-US" sz="3200" dirty="0"/>
              <a:t>yang </a:t>
            </a:r>
            <a:r>
              <a:rPr lang="en-US" sz="3200" dirty="0" err="1"/>
              <a:t>disebut</a:t>
            </a:r>
            <a:r>
              <a:rPr lang="en-US" sz="3200" dirty="0"/>
              <a:t> </a:t>
            </a:r>
            <a:r>
              <a:rPr lang="en-US" sz="3200" b="1" dirty="0"/>
              <a:t>process control block (PCB)</a:t>
            </a:r>
            <a:r>
              <a:rPr lang="en-US" sz="3200" dirty="0"/>
              <a:t>, </a:t>
            </a:r>
            <a:r>
              <a:rPr lang="en-US" sz="3200" dirty="0" err="1"/>
              <a:t>berisi</a:t>
            </a:r>
            <a:r>
              <a:rPr lang="en-US" sz="3200" dirty="0"/>
              <a:t> </a:t>
            </a:r>
            <a:r>
              <a:rPr lang="en-US" sz="3200" dirty="0" err="1"/>
              <a:t>informasi</a:t>
            </a:r>
            <a:r>
              <a:rPr lang="en-US" sz="3200" dirty="0"/>
              <a:t> </a:t>
            </a:r>
            <a:r>
              <a:rPr lang="en-US" sz="3200" dirty="0" err="1"/>
              <a:t>penting</a:t>
            </a:r>
            <a:r>
              <a:rPr lang="en-US" sz="3200" dirty="0"/>
              <a:t> </a:t>
            </a:r>
            <a:r>
              <a:rPr lang="en-US" sz="3200" dirty="0" err="1"/>
              <a:t>seperti</a:t>
            </a:r>
            <a:r>
              <a:rPr lang="en-US" sz="3200" dirty="0"/>
              <a:t>:</a:t>
            </a:r>
          </a:p>
          <a:p>
            <a:pPr lvl="1" algn="just"/>
            <a:r>
              <a:rPr lang="en-US" sz="3200" b="1" dirty="0" err="1"/>
              <a:t>Identitas</a:t>
            </a:r>
            <a:r>
              <a:rPr lang="en-US" sz="3200" b="1" dirty="0"/>
              <a:t> Proses</a:t>
            </a:r>
            <a:r>
              <a:rPr lang="en-US" sz="3200" dirty="0"/>
              <a:t>: ID proses (PID) yang </a:t>
            </a:r>
            <a:r>
              <a:rPr lang="en-US" sz="3200" dirty="0" err="1"/>
              <a:t>unik</a:t>
            </a:r>
            <a:r>
              <a:rPr lang="en-US" sz="3200" dirty="0"/>
              <a:t> </a:t>
            </a:r>
            <a:r>
              <a:rPr lang="en-US" sz="3200" dirty="0" err="1"/>
              <a:t>untuk</a:t>
            </a:r>
            <a:r>
              <a:rPr lang="en-US" sz="3200" dirty="0"/>
              <a:t> </a:t>
            </a:r>
            <a:r>
              <a:rPr lang="en-US" sz="3200" dirty="0" err="1"/>
              <a:t>mengidentifikasi</a:t>
            </a:r>
            <a:r>
              <a:rPr lang="en-US" sz="3200" dirty="0"/>
              <a:t> </a:t>
            </a:r>
            <a:r>
              <a:rPr lang="en-US" sz="3200" dirty="0" err="1"/>
              <a:t>setiap</a:t>
            </a:r>
            <a:r>
              <a:rPr lang="en-US" sz="3200" dirty="0"/>
              <a:t> proses.</a:t>
            </a:r>
          </a:p>
          <a:p>
            <a:pPr lvl="1" algn="just"/>
            <a:r>
              <a:rPr lang="en-US" sz="3200" b="1" dirty="0"/>
              <a:t>Status Proses</a:t>
            </a:r>
            <a:r>
              <a:rPr lang="en-US" sz="3200" dirty="0"/>
              <a:t>: Status </a:t>
            </a:r>
            <a:r>
              <a:rPr lang="en-US" sz="3200" dirty="0" err="1"/>
              <a:t>saat</a:t>
            </a:r>
            <a:r>
              <a:rPr lang="en-US" sz="3200" dirty="0"/>
              <a:t> </a:t>
            </a:r>
            <a:r>
              <a:rPr lang="en-US" sz="3200" dirty="0" err="1"/>
              <a:t>ini</a:t>
            </a:r>
            <a:r>
              <a:rPr lang="en-US" sz="3200" dirty="0"/>
              <a:t>, </a:t>
            </a:r>
            <a:r>
              <a:rPr lang="en-US" sz="3200" dirty="0" err="1"/>
              <a:t>seperti</a:t>
            </a:r>
            <a:r>
              <a:rPr lang="en-US" sz="3200" dirty="0"/>
              <a:t> </a:t>
            </a:r>
            <a:r>
              <a:rPr lang="en-US" sz="3200" dirty="0" err="1"/>
              <a:t>berjalan</a:t>
            </a:r>
            <a:r>
              <a:rPr lang="en-US" sz="3200" dirty="0"/>
              <a:t>, </a:t>
            </a:r>
            <a:r>
              <a:rPr lang="en-US" sz="3200" dirty="0" err="1"/>
              <a:t>tertahan</a:t>
            </a:r>
            <a:r>
              <a:rPr lang="en-US" sz="3200" dirty="0"/>
              <a:t>, </a:t>
            </a:r>
            <a:r>
              <a:rPr lang="en-US" sz="3200" dirty="0" err="1"/>
              <a:t>atau</a:t>
            </a:r>
            <a:r>
              <a:rPr lang="en-US" sz="3200" dirty="0"/>
              <a:t> </a:t>
            </a:r>
            <a:r>
              <a:rPr lang="en-US" sz="3200" dirty="0" err="1"/>
              <a:t>selesai</a:t>
            </a:r>
            <a:r>
              <a:rPr lang="en-US" sz="3200" dirty="0"/>
              <a:t>.</a:t>
            </a:r>
          </a:p>
          <a:p>
            <a:pPr lvl="1" algn="just"/>
            <a:r>
              <a:rPr lang="en-US" sz="3200" b="1" dirty="0"/>
              <a:t>Program Counter</a:t>
            </a:r>
            <a:r>
              <a:rPr lang="en-US" sz="3200" dirty="0"/>
              <a:t>: </a:t>
            </a:r>
            <a:r>
              <a:rPr lang="en-US" sz="3200" dirty="0" err="1"/>
              <a:t>Alamat</a:t>
            </a:r>
            <a:r>
              <a:rPr lang="en-US" sz="3200" dirty="0"/>
              <a:t> </a:t>
            </a:r>
            <a:r>
              <a:rPr lang="en-US" sz="3200" dirty="0" err="1"/>
              <a:t>instruksi</a:t>
            </a:r>
            <a:r>
              <a:rPr lang="en-US" sz="3200" dirty="0"/>
              <a:t> </a:t>
            </a:r>
            <a:r>
              <a:rPr lang="en-US" sz="3200" dirty="0" err="1"/>
              <a:t>berikutnya</a:t>
            </a:r>
            <a:r>
              <a:rPr lang="en-US" sz="3200" dirty="0"/>
              <a:t> yang </a:t>
            </a:r>
            <a:r>
              <a:rPr lang="en-US" sz="3200" dirty="0" err="1"/>
              <a:t>akan</a:t>
            </a:r>
            <a:r>
              <a:rPr lang="en-US" sz="3200" dirty="0"/>
              <a:t> </a:t>
            </a:r>
            <a:r>
              <a:rPr lang="en-US" sz="3200" dirty="0" err="1"/>
              <a:t>dieksekusi</a:t>
            </a:r>
            <a:r>
              <a:rPr lang="en-US" sz="3200" dirty="0"/>
              <a:t>.</a:t>
            </a:r>
          </a:p>
          <a:p>
            <a:pPr lvl="1" algn="just"/>
            <a:r>
              <a:rPr lang="en-US" sz="3200" b="1" dirty="0"/>
              <a:t>Register</a:t>
            </a:r>
            <a:r>
              <a:rPr lang="en-US" sz="3200" dirty="0"/>
              <a:t>: </a:t>
            </a:r>
            <a:r>
              <a:rPr lang="en-US" sz="3200" dirty="0" err="1"/>
              <a:t>Nilai</a:t>
            </a:r>
            <a:r>
              <a:rPr lang="en-US" sz="3200" dirty="0"/>
              <a:t> </a:t>
            </a:r>
            <a:r>
              <a:rPr lang="en-US" sz="3200" dirty="0" err="1"/>
              <a:t>dari</a:t>
            </a:r>
            <a:r>
              <a:rPr lang="en-US" sz="3200" dirty="0"/>
              <a:t> register CPU yang </a:t>
            </a:r>
            <a:r>
              <a:rPr lang="en-US" sz="3200" dirty="0" err="1"/>
              <a:t>diperlukan</a:t>
            </a:r>
            <a:r>
              <a:rPr lang="en-US" sz="3200" dirty="0"/>
              <a:t> </a:t>
            </a:r>
            <a:r>
              <a:rPr lang="en-US" sz="3200" dirty="0" err="1"/>
              <a:t>untuk</a:t>
            </a:r>
            <a:r>
              <a:rPr lang="en-US" sz="3200" dirty="0"/>
              <a:t> </a:t>
            </a:r>
            <a:r>
              <a:rPr lang="en-US" sz="3200" dirty="0" err="1"/>
              <a:t>melanjutkan</a:t>
            </a:r>
            <a:r>
              <a:rPr lang="en-US" sz="3200" dirty="0"/>
              <a:t> </a:t>
            </a:r>
            <a:r>
              <a:rPr lang="en-US" sz="3200" dirty="0" err="1"/>
              <a:t>eksekusi</a:t>
            </a:r>
            <a:r>
              <a:rPr lang="en-US" sz="3200" dirty="0"/>
              <a:t>.</a:t>
            </a:r>
          </a:p>
          <a:p>
            <a:pPr lvl="1" algn="just"/>
            <a:r>
              <a:rPr lang="en-US" sz="3200" b="1" dirty="0" err="1"/>
              <a:t>Memori</a:t>
            </a:r>
            <a:r>
              <a:rPr lang="en-US" sz="3200" dirty="0"/>
              <a:t>: </a:t>
            </a:r>
            <a:r>
              <a:rPr lang="en-US" sz="3200" dirty="0" err="1"/>
              <a:t>Informasi</a:t>
            </a:r>
            <a:r>
              <a:rPr lang="en-US" sz="3200" dirty="0"/>
              <a:t> </a:t>
            </a:r>
            <a:r>
              <a:rPr lang="en-US" sz="3200" dirty="0" err="1"/>
              <a:t>tentang</a:t>
            </a:r>
            <a:r>
              <a:rPr lang="en-US" sz="3200" dirty="0"/>
              <a:t> </a:t>
            </a:r>
            <a:r>
              <a:rPr lang="en-US" sz="3200" dirty="0" err="1"/>
              <a:t>ruang</a:t>
            </a:r>
            <a:r>
              <a:rPr lang="en-US" sz="3200" dirty="0"/>
              <a:t> </a:t>
            </a:r>
            <a:r>
              <a:rPr lang="en-US" sz="3200" dirty="0" err="1"/>
              <a:t>memori</a:t>
            </a:r>
            <a:r>
              <a:rPr lang="en-US" sz="3200" dirty="0"/>
              <a:t> yang </a:t>
            </a:r>
            <a:r>
              <a:rPr lang="en-US" sz="3200" dirty="0" err="1"/>
              <a:t>dialokasikan</a:t>
            </a:r>
            <a:r>
              <a:rPr lang="en-US" sz="3200" dirty="0"/>
              <a:t> </a:t>
            </a:r>
            <a:r>
              <a:rPr lang="en-US" sz="3200" dirty="0" err="1"/>
              <a:t>untuk</a:t>
            </a:r>
            <a:r>
              <a:rPr lang="en-US" sz="3200" dirty="0"/>
              <a:t> proses.</a:t>
            </a:r>
          </a:p>
          <a:p>
            <a:pPr lvl="1" algn="just"/>
            <a:r>
              <a:rPr lang="en-US" sz="3200" b="1" dirty="0" err="1"/>
              <a:t>Prioritas</a:t>
            </a:r>
            <a:r>
              <a:rPr lang="en-US" sz="3200" dirty="0"/>
              <a:t>: Tingkat </a:t>
            </a:r>
            <a:r>
              <a:rPr lang="en-US" sz="3200" dirty="0" err="1"/>
              <a:t>prioritas</a:t>
            </a:r>
            <a:r>
              <a:rPr lang="en-US" sz="3200" dirty="0"/>
              <a:t> proses, yang </a:t>
            </a:r>
            <a:r>
              <a:rPr lang="en-US" sz="3200" dirty="0" err="1"/>
              <a:t>dapat</a:t>
            </a:r>
            <a:r>
              <a:rPr lang="en-US" sz="3200" dirty="0"/>
              <a:t> </a:t>
            </a:r>
            <a:r>
              <a:rPr lang="en-US" sz="3200" dirty="0" err="1"/>
              <a:t>memengaruhi</a:t>
            </a:r>
            <a:r>
              <a:rPr lang="en-US" sz="3200" dirty="0"/>
              <a:t> </a:t>
            </a:r>
            <a:r>
              <a:rPr lang="en-US" sz="3200" dirty="0" err="1"/>
              <a:t>penjadwalan</a:t>
            </a:r>
            <a:r>
              <a:rPr lang="en-US" sz="3200" dirty="0"/>
              <a:t>.</a:t>
            </a:r>
          </a:p>
          <a:p>
            <a:pPr lvl="1" algn="just"/>
            <a:r>
              <a:rPr lang="en-US" sz="3200" b="1" dirty="0"/>
              <a:t>I/O Status</a:t>
            </a:r>
            <a:r>
              <a:rPr lang="en-US" sz="3200" dirty="0"/>
              <a:t>: </a:t>
            </a:r>
            <a:r>
              <a:rPr lang="en-US" sz="3200" dirty="0" err="1"/>
              <a:t>Informasi</a:t>
            </a:r>
            <a:r>
              <a:rPr lang="en-US" sz="3200" dirty="0"/>
              <a:t> </a:t>
            </a:r>
            <a:r>
              <a:rPr lang="en-US" sz="3200" dirty="0" err="1"/>
              <a:t>tentang</a:t>
            </a:r>
            <a:r>
              <a:rPr lang="en-US" sz="3200" dirty="0"/>
              <a:t> </a:t>
            </a:r>
            <a:r>
              <a:rPr lang="en-US" sz="3200" dirty="0" err="1"/>
              <a:t>perangkat</a:t>
            </a:r>
            <a:r>
              <a:rPr lang="en-US" sz="3200" dirty="0"/>
              <a:t> input/output yang </a:t>
            </a:r>
            <a:r>
              <a:rPr lang="en-US" sz="3200" dirty="0" err="1"/>
              <a:t>sedang</a:t>
            </a:r>
            <a:r>
              <a:rPr lang="en-US" sz="3200" dirty="0"/>
              <a:t> </a:t>
            </a:r>
            <a:r>
              <a:rPr lang="en-US" sz="3200" dirty="0" err="1"/>
              <a:t>digunakan</a:t>
            </a:r>
            <a:r>
              <a:rPr lang="en-US" sz="3200" dirty="0"/>
              <a:t> </a:t>
            </a:r>
            <a:r>
              <a:rPr lang="en-US" sz="3200" dirty="0" err="1"/>
              <a:t>oleh</a:t>
            </a:r>
            <a:r>
              <a:rPr lang="en-US" sz="3200" dirty="0"/>
              <a:t> proses.</a:t>
            </a:r>
          </a:p>
        </p:txBody>
      </p:sp>
    </p:spTree>
    <p:extLst>
      <p:ext uri="{BB962C8B-B14F-4D97-AF65-F5344CB8AC3E}">
        <p14:creationId xmlns:p14="http://schemas.microsoft.com/office/powerpoint/2010/main" val="287399663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/>
              <a:t>Process Tables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424426" y="10834856"/>
            <a:ext cx="22216624" cy="14909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Process table </a:t>
            </a:r>
            <a:r>
              <a:rPr lang="en-US" sz="3200" dirty="0" err="1">
                <a:solidFill>
                  <a:srgbClr val="FF0000"/>
                </a:solidFill>
              </a:rPr>
              <a:t>sangat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penting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untuk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manajemen</a:t>
            </a:r>
            <a:r>
              <a:rPr lang="en-US" sz="3200" dirty="0">
                <a:solidFill>
                  <a:srgbClr val="FF0000"/>
                </a:solidFill>
              </a:rPr>
              <a:t> proses </a:t>
            </a:r>
            <a:r>
              <a:rPr lang="en-US" sz="3200" dirty="0" err="1">
                <a:solidFill>
                  <a:srgbClr val="FF0000"/>
                </a:solidFill>
              </a:rPr>
              <a:t>dan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penjadwalan</a:t>
            </a:r>
            <a:r>
              <a:rPr lang="en-US" sz="3200" dirty="0">
                <a:solidFill>
                  <a:srgbClr val="FF0000"/>
                </a:solidFill>
              </a:rPr>
              <a:t>, </a:t>
            </a:r>
            <a:r>
              <a:rPr lang="en-US" sz="3200" dirty="0" err="1">
                <a:solidFill>
                  <a:srgbClr val="FF0000"/>
                </a:solidFill>
              </a:rPr>
              <a:t>karena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memungkinkan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sistem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operasi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untuk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melacak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dan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mengelola</a:t>
            </a:r>
            <a:r>
              <a:rPr lang="en-US" sz="3200" dirty="0">
                <a:solidFill>
                  <a:srgbClr val="FF0000"/>
                </a:solidFill>
              </a:rPr>
              <a:t> proses-proses yang </a:t>
            </a:r>
            <a:r>
              <a:rPr lang="en-US" sz="3200" dirty="0" err="1">
                <a:solidFill>
                  <a:srgbClr val="FF0000"/>
                </a:solidFill>
              </a:rPr>
              <a:t>berjalan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secara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efisien</a:t>
            </a:r>
            <a:r>
              <a:rPr lang="en-US" sz="3200" dirty="0">
                <a:solidFill>
                  <a:srgbClr val="FF0000"/>
                </a:solidFill>
              </a:rPr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8060" y="2706188"/>
            <a:ext cx="13766484" cy="786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90680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 smtClean="0"/>
              <a:t>Process control block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381760" y="2382339"/>
            <a:ext cx="2172208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4000" b="1" dirty="0" err="1" smtClean="0">
                <a:solidFill>
                  <a:schemeClr val="tx1">
                    <a:lumMod val="50000"/>
                  </a:schemeClr>
                </a:solidFill>
              </a:rPr>
              <a:t>Manfaat</a:t>
            </a:r>
            <a:r>
              <a:rPr lang="en-US" sz="4000" b="1" dirty="0" smtClean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4000" b="1" dirty="0">
                <a:solidFill>
                  <a:schemeClr val="tx1">
                    <a:lumMod val="50000"/>
                  </a:schemeClr>
                </a:solidFill>
              </a:rPr>
              <a:t>PCB</a:t>
            </a:r>
            <a:r>
              <a:rPr lang="en-US" sz="2800" b="1" dirty="0">
                <a:solidFill>
                  <a:schemeClr val="tx1">
                    <a:lumMod val="50000"/>
                  </a:schemeClr>
                </a:solidFill>
              </a:rPr>
              <a:t>:</a:t>
            </a:r>
          </a:p>
          <a:p>
            <a:pPr marL="514350" lvl="0" indent="-514350" algn="l" defTabSz="914400" eaLnBrk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3200" b="1">
                <a:solidFill>
                  <a:schemeClr val="bg2">
                    <a:lumMod val="10000"/>
                  </a:schemeClr>
                </a:solidFill>
              </a:rPr>
              <a:t>fisiensi Eksekusi</a:t>
            </a:r>
            <a:r>
              <a:rPr lang="en-US" altLang="en-US" sz="3200">
                <a:solidFill>
                  <a:schemeClr val="bg2">
                    <a:lumMod val="10000"/>
                  </a:schemeClr>
                </a:solidFill>
              </a:rPr>
              <a:t> → Mempercepat context switching antar proses.</a:t>
            </a:r>
          </a:p>
          <a:p>
            <a:pPr marL="514350" lvl="0" indent="-514350" algn="l" defTabSz="914400" eaLnBrk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3200" b="1">
                <a:solidFill>
                  <a:schemeClr val="bg2">
                    <a:lumMod val="10000"/>
                  </a:schemeClr>
                </a:solidFill>
              </a:rPr>
              <a:t>Manajemen Sumber Daya</a:t>
            </a:r>
            <a:r>
              <a:rPr lang="en-US" altLang="en-US" sz="3200">
                <a:solidFill>
                  <a:schemeClr val="bg2">
                    <a:lumMod val="10000"/>
                  </a:schemeClr>
                </a:solidFill>
              </a:rPr>
              <a:t> → Mengatur alokasi memori dan I/O dengan aman.</a:t>
            </a:r>
          </a:p>
          <a:p>
            <a:pPr marL="514350" lvl="0" indent="-514350" algn="l" defTabSz="914400" eaLnBrk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3200" b="1">
                <a:solidFill>
                  <a:schemeClr val="bg2">
                    <a:lumMod val="10000"/>
                  </a:schemeClr>
                </a:solidFill>
              </a:rPr>
              <a:t>Keamanan &amp; Isolasi</a:t>
            </a:r>
            <a:r>
              <a:rPr lang="en-US" altLang="en-US" sz="3200">
                <a:solidFill>
                  <a:schemeClr val="bg2">
                    <a:lumMod val="10000"/>
                  </a:schemeClr>
                </a:solidFill>
              </a:rPr>
              <a:t> → Menjaga proses tetap terpisah agar tidak saling mengakses data.</a:t>
            </a:r>
          </a:p>
          <a:p>
            <a:pPr marL="514350" lvl="0" indent="-514350" algn="l" defTabSz="914400" eaLnBrk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3200" b="1">
                <a:solidFill>
                  <a:schemeClr val="bg2">
                    <a:lumMod val="10000"/>
                  </a:schemeClr>
                </a:solidFill>
              </a:rPr>
              <a:t>Pemulihan Proses</a:t>
            </a:r>
            <a:r>
              <a:rPr lang="en-US" altLang="en-US" sz="3200">
                <a:solidFill>
                  <a:schemeClr val="bg2">
                    <a:lumMod val="10000"/>
                  </a:schemeClr>
                </a:solidFill>
              </a:rPr>
              <a:t> → Memungkinkan melanjutkan proses setelah error/interupsi.</a:t>
            </a:r>
          </a:p>
          <a:p>
            <a:pPr marL="514350" lvl="0" indent="-514350" algn="l" defTabSz="914400" eaLnBrk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3200" b="1">
                <a:solidFill>
                  <a:schemeClr val="bg2">
                    <a:lumMod val="10000"/>
                  </a:schemeClr>
                </a:solidFill>
              </a:rPr>
              <a:t>Analisis Kinerja</a:t>
            </a:r>
            <a:r>
              <a:rPr lang="en-US" altLang="en-US" sz="3200">
                <a:solidFill>
                  <a:schemeClr val="bg2">
                    <a:lumMod val="10000"/>
                  </a:schemeClr>
                </a:solidFill>
              </a:rPr>
              <a:t> → Menyediakan data untuk evaluasi dan optimasi sistem.</a:t>
            </a:r>
          </a:p>
        </p:txBody>
      </p:sp>
      <p:sp>
        <p:nvSpPr>
          <p:cNvPr id="3" name="Rectangle 2"/>
          <p:cNvSpPr/>
          <p:nvPr/>
        </p:nvSpPr>
        <p:spPr>
          <a:xfrm>
            <a:off x="1381760" y="9140484"/>
            <a:ext cx="21153120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Dengan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demikian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, PCB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adalah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komponen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vital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dalam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manajemen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proses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dalam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sistem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operasi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, yang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mendukung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kinerja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,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keamanan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,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dan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efisiensi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keseluruhan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sistem</a:t>
            </a:r>
            <a:endParaRPr lang="en-US" sz="2800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904728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dirty="0" smtClean="0"/>
              <a:t>Process control block - Example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47701" y="3473440"/>
            <a:ext cx="10934700" cy="8270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3000" dirty="0" err="1">
                <a:solidFill>
                  <a:schemeClr val="tx1">
                    <a:lumMod val="50000"/>
                  </a:schemeClr>
                </a:solidFill>
              </a:rPr>
              <a:t>Dalam</a:t>
            </a:r>
            <a:r>
              <a:rPr lang="en-US" sz="3000" dirty="0">
                <a:solidFill>
                  <a:schemeClr val="tx1">
                    <a:lumMod val="50000"/>
                  </a:schemeClr>
                </a:solidFill>
              </a:rPr>
              <a:t> batch </a:t>
            </a:r>
            <a:r>
              <a:rPr lang="en-US" sz="3000" smtClean="0">
                <a:solidFill>
                  <a:schemeClr val="tx1">
                    <a:lumMod val="50000"/>
                  </a:schemeClr>
                </a:solidFill>
              </a:rPr>
              <a:t>processing (ERP – SAP</a:t>
            </a:r>
            <a:r>
              <a:rPr lang="en-US" sz="3000" dirty="0" smtClean="0">
                <a:solidFill>
                  <a:schemeClr val="tx1">
                    <a:lumMod val="50000"/>
                  </a:schemeClr>
                </a:solidFill>
              </a:rPr>
              <a:t>), </a:t>
            </a:r>
            <a:r>
              <a:rPr lang="en-US" sz="3000" dirty="0" err="1">
                <a:solidFill>
                  <a:schemeClr val="tx1">
                    <a:lumMod val="50000"/>
                  </a:schemeClr>
                </a:solidFill>
              </a:rPr>
              <a:t>sistem</a:t>
            </a:r>
            <a:r>
              <a:rPr lang="en-US" sz="30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000" dirty="0" err="1">
                <a:solidFill>
                  <a:schemeClr val="tx1">
                    <a:lumMod val="50000"/>
                  </a:schemeClr>
                </a:solidFill>
              </a:rPr>
              <a:t>menjalankan</a:t>
            </a:r>
            <a:r>
              <a:rPr lang="en-US" sz="30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000" dirty="0" err="1">
                <a:solidFill>
                  <a:schemeClr val="tx1">
                    <a:lumMod val="50000"/>
                  </a:schemeClr>
                </a:solidFill>
              </a:rPr>
              <a:t>serangkaian</a:t>
            </a:r>
            <a:r>
              <a:rPr lang="en-US" sz="30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000" dirty="0" err="1">
                <a:solidFill>
                  <a:schemeClr val="tx1">
                    <a:lumMod val="50000"/>
                  </a:schemeClr>
                </a:solidFill>
              </a:rPr>
              <a:t>tugas</a:t>
            </a:r>
            <a:r>
              <a:rPr lang="en-US" sz="30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000" dirty="0" err="1">
                <a:solidFill>
                  <a:schemeClr val="tx1">
                    <a:lumMod val="50000"/>
                  </a:schemeClr>
                </a:solidFill>
              </a:rPr>
              <a:t>atau</a:t>
            </a:r>
            <a:r>
              <a:rPr lang="en-US" sz="3000" dirty="0">
                <a:solidFill>
                  <a:schemeClr val="tx1">
                    <a:lumMod val="50000"/>
                  </a:schemeClr>
                </a:solidFill>
              </a:rPr>
              <a:t> proses </a:t>
            </a:r>
            <a:r>
              <a:rPr lang="en-US" sz="3000" dirty="0" err="1">
                <a:solidFill>
                  <a:schemeClr val="tx1">
                    <a:lumMod val="50000"/>
                  </a:schemeClr>
                </a:solidFill>
              </a:rPr>
              <a:t>secara</a:t>
            </a:r>
            <a:r>
              <a:rPr lang="en-US" sz="30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000" dirty="0" err="1">
                <a:solidFill>
                  <a:schemeClr val="tx1">
                    <a:lumMod val="50000"/>
                  </a:schemeClr>
                </a:solidFill>
              </a:rPr>
              <a:t>berurutan</a:t>
            </a:r>
            <a:r>
              <a:rPr lang="en-US" sz="30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000" dirty="0" err="1">
                <a:solidFill>
                  <a:schemeClr val="tx1">
                    <a:lumMod val="50000"/>
                  </a:schemeClr>
                </a:solidFill>
              </a:rPr>
              <a:t>tanpa</a:t>
            </a:r>
            <a:r>
              <a:rPr lang="en-US" sz="30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000" dirty="0" err="1">
                <a:solidFill>
                  <a:schemeClr val="tx1">
                    <a:lumMod val="50000"/>
                  </a:schemeClr>
                </a:solidFill>
              </a:rPr>
              <a:t>interaksi</a:t>
            </a:r>
            <a:r>
              <a:rPr lang="en-US" sz="30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000" dirty="0" err="1">
                <a:solidFill>
                  <a:schemeClr val="tx1">
                    <a:lumMod val="50000"/>
                  </a:schemeClr>
                </a:solidFill>
              </a:rPr>
              <a:t>pengguna</a:t>
            </a:r>
            <a:r>
              <a:rPr lang="en-US" sz="3000" dirty="0">
                <a:solidFill>
                  <a:schemeClr val="tx1">
                    <a:lumMod val="50000"/>
                  </a:schemeClr>
                </a:solidFill>
              </a:rPr>
              <a:t>. PCB </a:t>
            </a:r>
            <a:r>
              <a:rPr lang="en-US" sz="3000" dirty="0" err="1">
                <a:solidFill>
                  <a:schemeClr val="tx1">
                    <a:lumMod val="50000"/>
                  </a:schemeClr>
                </a:solidFill>
              </a:rPr>
              <a:t>digunakan</a:t>
            </a:r>
            <a:r>
              <a:rPr lang="en-US" sz="30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000" dirty="0" err="1">
                <a:solidFill>
                  <a:schemeClr val="tx1">
                    <a:lumMod val="50000"/>
                  </a:schemeClr>
                </a:solidFill>
              </a:rPr>
              <a:t>untuk</a:t>
            </a:r>
            <a:r>
              <a:rPr lang="en-US" sz="3000" dirty="0">
                <a:solidFill>
                  <a:schemeClr val="tx1">
                    <a:lumMod val="50000"/>
                  </a:schemeClr>
                </a:solidFill>
              </a:rPr>
              <a:t>:</a:t>
            </a:r>
          </a:p>
          <a:p>
            <a:pPr marL="514350" lvl="0" indent="-514350" algn="just" defTabSz="914400" eaLnBrk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3000" b="1">
                <a:solidFill>
                  <a:schemeClr val="bg2">
                    <a:lumMod val="10000"/>
                  </a:schemeClr>
                </a:solidFill>
              </a:rPr>
              <a:t>Mengelola Proses</a:t>
            </a:r>
            <a:r>
              <a:rPr lang="en-US" altLang="en-US" sz="3000">
                <a:solidFill>
                  <a:schemeClr val="bg2">
                    <a:lumMod val="10000"/>
                  </a:schemeClr>
                </a:solidFill>
              </a:rPr>
              <a:t> → Simpan status, prioritas, dan alokasi sumber daya tiap pekerjaan.</a:t>
            </a:r>
          </a:p>
          <a:p>
            <a:pPr marL="514350" lvl="0" indent="-514350" algn="just" defTabSz="914400" eaLnBrk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3000" b="1">
                <a:solidFill>
                  <a:schemeClr val="bg2">
                    <a:lumMod val="10000"/>
                  </a:schemeClr>
                </a:solidFill>
              </a:rPr>
              <a:t>Penjadwalan</a:t>
            </a:r>
            <a:r>
              <a:rPr lang="en-US" altLang="en-US" sz="3000">
                <a:solidFill>
                  <a:schemeClr val="bg2">
                    <a:lumMod val="10000"/>
                  </a:schemeClr>
                </a:solidFill>
              </a:rPr>
              <a:t> → Atur eksekusi pekerjaan berdasarkan prioritas/waktu.</a:t>
            </a:r>
          </a:p>
          <a:p>
            <a:pPr marL="514350" lvl="0" indent="-514350" algn="just" defTabSz="914400" eaLnBrk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3000" b="1">
                <a:solidFill>
                  <a:schemeClr val="bg2">
                    <a:lumMod val="10000"/>
                  </a:schemeClr>
                </a:solidFill>
              </a:rPr>
              <a:t>Pemulihan &amp; Monitoring</a:t>
            </a:r>
            <a:r>
              <a:rPr lang="en-US" altLang="en-US" sz="3000">
                <a:solidFill>
                  <a:schemeClr val="bg2">
                    <a:lumMod val="10000"/>
                  </a:schemeClr>
                </a:solidFill>
              </a:rPr>
              <a:t> → Lacak proses gagal dan pulihkan eksekusi.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7700" y="2888665"/>
            <a:ext cx="42290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>
                <a:solidFill>
                  <a:schemeClr val="tx1">
                    <a:lumMod val="50000"/>
                  </a:schemeClr>
                </a:solidFill>
              </a:rPr>
              <a:t>BATCH PROCESSING</a:t>
            </a:r>
            <a:endParaRPr lang="en-US" sz="3200" dirty="0"/>
          </a:p>
        </p:txBody>
      </p:sp>
      <p:sp>
        <p:nvSpPr>
          <p:cNvPr id="7" name="Rectangle 6"/>
          <p:cNvSpPr/>
          <p:nvPr/>
        </p:nvSpPr>
        <p:spPr>
          <a:xfrm>
            <a:off x="12731262" y="3473440"/>
            <a:ext cx="11019693" cy="91941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3000" dirty="0" err="1">
                <a:solidFill>
                  <a:schemeClr val="tx1">
                    <a:lumMod val="50000"/>
                  </a:schemeClr>
                </a:solidFill>
              </a:rPr>
              <a:t>Dalam</a:t>
            </a:r>
            <a:r>
              <a:rPr lang="en-US" sz="30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000" dirty="0" err="1">
                <a:solidFill>
                  <a:schemeClr val="tx1">
                    <a:lumMod val="50000"/>
                  </a:schemeClr>
                </a:solidFill>
              </a:rPr>
              <a:t>sistem</a:t>
            </a:r>
            <a:r>
              <a:rPr lang="en-US" sz="3000" dirty="0">
                <a:solidFill>
                  <a:schemeClr val="tx1">
                    <a:lumMod val="50000"/>
                  </a:schemeClr>
                </a:solidFill>
              </a:rPr>
              <a:t> ERP </a:t>
            </a:r>
            <a:r>
              <a:rPr lang="en-US" sz="3000" dirty="0" err="1">
                <a:solidFill>
                  <a:schemeClr val="tx1">
                    <a:lumMod val="50000"/>
                  </a:schemeClr>
                </a:solidFill>
              </a:rPr>
              <a:t>seperti</a:t>
            </a:r>
            <a:r>
              <a:rPr lang="en-US" sz="3000" dirty="0">
                <a:solidFill>
                  <a:schemeClr val="tx1">
                    <a:lumMod val="50000"/>
                  </a:schemeClr>
                </a:solidFill>
              </a:rPr>
              <a:t> SAP, scheduler </a:t>
            </a:r>
            <a:r>
              <a:rPr lang="en-US" sz="3000" dirty="0" err="1">
                <a:solidFill>
                  <a:schemeClr val="tx1">
                    <a:lumMod val="50000"/>
                  </a:schemeClr>
                </a:solidFill>
              </a:rPr>
              <a:t>mengatur</a:t>
            </a:r>
            <a:r>
              <a:rPr lang="en-US" sz="30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000" dirty="0" err="1">
                <a:solidFill>
                  <a:schemeClr val="tx1">
                    <a:lumMod val="50000"/>
                  </a:schemeClr>
                </a:solidFill>
              </a:rPr>
              <a:t>dan</a:t>
            </a:r>
            <a:r>
              <a:rPr lang="en-US" sz="30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000" dirty="0" err="1">
                <a:solidFill>
                  <a:schemeClr val="tx1">
                    <a:lumMod val="50000"/>
                  </a:schemeClr>
                </a:solidFill>
              </a:rPr>
              <a:t>mengelola</a:t>
            </a:r>
            <a:r>
              <a:rPr lang="en-US" sz="3000" dirty="0">
                <a:solidFill>
                  <a:schemeClr val="tx1">
                    <a:lumMod val="50000"/>
                  </a:schemeClr>
                </a:solidFill>
              </a:rPr>
              <a:t> proses yang </a:t>
            </a:r>
            <a:r>
              <a:rPr lang="en-US" sz="3000" dirty="0" err="1">
                <a:solidFill>
                  <a:schemeClr val="tx1">
                    <a:lumMod val="50000"/>
                  </a:schemeClr>
                </a:solidFill>
              </a:rPr>
              <a:t>kompleks</a:t>
            </a:r>
            <a:r>
              <a:rPr lang="en-US" sz="30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000" dirty="0" err="1">
                <a:solidFill>
                  <a:schemeClr val="tx1">
                    <a:lumMod val="50000"/>
                  </a:schemeClr>
                </a:solidFill>
              </a:rPr>
              <a:t>dan</a:t>
            </a:r>
            <a:r>
              <a:rPr lang="en-US" sz="30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000" dirty="0" err="1">
                <a:solidFill>
                  <a:schemeClr val="tx1">
                    <a:lumMod val="50000"/>
                  </a:schemeClr>
                </a:solidFill>
              </a:rPr>
              <a:t>terintegrasi</a:t>
            </a:r>
            <a:r>
              <a:rPr lang="en-US" sz="3000" dirty="0">
                <a:solidFill>
                  <a:schemeClr val="tx1">
                    <a:lumMod val="50000"/>
                  </a:schemeClr>
                </a:solidFill>
              </a:rPr>
              <a:t>. PCB </a:t>
            </a:r>
            <a:r>
              <a:rPr lang="en-US" sz="3000" dirty="0" err="1">
                <a:solidFill>
                  <a:schemeClr val="tx1">
                    <a:lumMod val="50000"/>
                  </a:schemeClr>
                </a:solidFill>
              </a:rPr>
              <a:t>berfungsi</a:t>
            </a:r>
            <a:r>
              <a:rPr lang="en-US" sz="30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3000" err="1">
                <a:solidFill>
                  <a:schemeClr val="tx1">
                    <a:lumMod val="50000"/>
                  </a:schemeClr>
                </a:solidFill>
              </a:rPr>
              <a:t>untuk</a:t>
            </a:r>
            <a:r>
              <a:rPr lang="en-US" sz="3000" smtClean="0">
                <a:solidFill>
                  <a:schemeClr val="tx1">
                    <a:lumMod val="50000"/>
                  </a:schemeClr>
                </a:solidFill>
              </a:rPr>
              <a:t>:</a:t>
            </a:r>
          </a:p>
          <a:p>
            <a:pPr marL="514350" lvl="0" indent="-514350" algn="just" defTabSz="914400" eaLnBrk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3000" b="1">
                <a:solidFill>
                  <a:schemeClr val="bg2">
                    <a:lumMod val="10000"/>
                  </a:schemeClr>
                </a:solidFill>
              </a:rPr>
              <a:t>Mengelola Transaksi</a:t>
            </a:r>
            <a:r>
              <a:rPr lang="en-US" altLang="en-US" sz="3000">
                <a:solidFill>
                  <a:schemeClr val="bg2">
                    <a:lumMod val="10000"/>
                  </a:schemeClr>
                </a:solidFill>
              </a:rPr>
              <a:t> → Simpan status &amp; eksekusi transaksi agar efisien.</a:t>
            </a:r>
          </a:p>
          <a:p>
            <a:pPr marL="514350" lvl="0" indent="-514350" algn="just" defTabSz="914400" eaLnBrk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3000" b="1">
                <a:solidFill>
                  <a:schemeClr val="bg2">
                    <a:lumMod val="10000"/>
                  </a:schemeClr>
                </a:solidFill>
              </a:rPr>
              <a:t>Optimasi Sumber Daya</a:t>
            </a:r>
            <a:r>
              <a:rPr lang="en-US" altLang="en-US" sz="3000">
                <a:solidFill>
                  <a:schemeClr val="bg2">
                    <a:lumMod val="10000"/>
                  </a:schemeClr>
                </a:solidFill>
              </a:rPr>
              <a:t> → Pastikan CPU/memori dipakai optimal saat transaksi.</a:t>
            </a:r>
          </a:p>
          <a:p>
            <a:pPr marL="514350" lvl="0" indent="-514350" algn="just" defTabSz="914400" eaLnBrk="0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3000" b="1">
                <a:solidFill>
                  <a:schemeClr val="bg2">
                    <a:lumMod val="10000"/>
                  </a:schemeClr>
                </a:solidFill>
              </a:rPr>
              <a:t>Monitoring Kinerja</a:t>
            </a:r>
            <a:r>
              <a:rPr lang="en-US" altLang="en-US" sz="3000">
                <a:solidFill>
                  <a:schemeClr val="bg2">
                    <a:lumMod val="10000"/>
                  </a:schemeClr>
                </a:solidFill>
              </a:rPr>
              <a:t> → Analisis performa sistem lewat informasi eksekusi</a:t>
            </a:r>
            <a:r>
              <a:rPr lang="en-US" altLang="en-US" sz="3000">
                <a:solidFill>
                  <a:schemeClr val="tx1"/>
                </a:solidFill>
              </a:rPr>
              <a:t>.</a:t>
            </a:r>
          </a:p>
          <a:p>
            <a:pPr algn="just">
              <a:lnSpc>
                <a:spcPct val="200000"/>
              </a:lnSpc>
            </a:pPr>
            <a:endParaRPr lang="en-US" sz="30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2731264" y="2888664"/>
            <a:ext cx="256352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>
                <a:solidFill>
                  <a:schemeClr val="tx1">
                    <a:lumMod val="50000"/>
                  </a:schemeClr>
                </a:solidFill>
              </a:rPr>
              <a:t>SCHEDULER</a:t>
            </a:r>
            <a:endParaRPr lang="en-US" sz="3200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2250616" y="2876251"/>
            <a:ext cx="46892" cy="10010819"/>
          </a:xfrm>
          <a:prstGeom prst="line">
            <a:avLst/>
          </a:prstGeom>
          <a:noFill/>
          <a:ln w="28575" cap="flat">
            <a:solidFill>
              <a:srgbClr val="000000"/>
            </a:solidFill>
            <a:prstDash val="solid"/>
            <a:miter lim="400000"/>
            <a:headEnd type="diamond" w="med" len="med"/>
            <a:tailEnd type="diamond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07814881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30957" y="6648759"/>
            <a:ext cx="852509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dirty="0" smtClean="0">
                <a:solidFill>
                  <a:schemeClr val="tx1">
                    <a:lumMod val="50000"/>
                  </a:schemeClr>
                </a:solidFill>
              </a:rPr>
              <a:t>BATCH PROCESSING</a:t>
            </a:r>
            <a:endParaRPr lang="en-US" sz="6600" dirty="0"/>
          </a:p>
        </p:txBody>
      </p:sp>
      <p:sp>
        <p:nvSpPr>
          <p:cNvPr id="11" name="Rectangle 10"/>
          <p:cNvSpPr/>
          <p:nvPr/>
        </p:nvSpPr>
        <p:spPr>
          <a:xfrm>
            <a:off x="13931063" y="6648759"/>
            <a:ext cx="10054355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600" b="1" dirty="0" smtClean="0">
                <a:solidFill>
                  <a:schemeClr val="tx1">
                    <a:lumMod val="50000"/>
                  </a:schemeClr>
                </a:solidFill>
              </a:rPr>
              <a:t>REAL TIME PROCESSING</a:t>
            </a:r>
            <a:endParaRPr lang="en-US" sz="6600" dirty="0"/>
          </a:p>
        </p:txBody>
      </p:sp>
      <p:sp>
        <p:nvSpPr>
          <p:cNvPr id="3" name="Rectangle 2"/>
          <p:cNvSpPr/>
          <p:nvPr/>
        </p:nvSpPr>
        <p:spPr>
          <a:xfrm rot="20780289">
            <a:off x="9600960" y="4778298"/>
            <a:ext cx="4107215" cy="450892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700" b="1" dirty="0">
                <a:solidFill>
                  <a:schemeClr val="tx1">
                    <a:lumMod val="50000"/>
                  </a:schemeClr>
                </a:solidFill>
              </a:rPr>
              <a:t>vs</a:t>
            </a:r>
            <a:endParaRPr lang="en-US" sz="287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discussion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24714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discussion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056640" y="2682191"/>
            <a:ext cx="21620480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4400" b="1">
                <a:solidFill>
                  <a:srgbClr val="00B050"/>
                </a:solidFill>
              </a:rPr>
              <a:t>Aplikasi Keuangan:</a:t>
            </a:r>
            <a:endParaRPr lang="en-US" sz="4400">
              <a:solidFill>
                <a:srgbClr val="00B050"/>
              </a:solidFill>
            </a:endParaRPr>
          </a:p>
          <a:p>
            <a:pPr marL="971550" lvl="1" indent="-514350" algn="just">
              <a:lnSpc>
                <a:spcPct val="200000"/>
              </a:lnSpc>
              <a:buFont typeface="+mj-lt"/>
              <a:buAutoNum type="alphaLcParenR"/>
            </a:pPr>
            <a:r>
              <a:rPr lang="en-US" sz="3600" b="1">
                <a:solidFill>
                  <a:schemeClr val="tx1">
                    <a:lumMod val="50000"/>
                  </a:schemeClr>
                </a:solidFill>
              </a:rPr>
              <a:t>Kasus Batch Processing</a:t>
            </a:r>
            <a:r>
              <a:rPr lang="en-US" sz="3600">
                <a:solidFill>
                  <a:schemeClr val="tx1">
                    <a:lumMod val="50000"/>
                  </a:schemeClr>
                </a:solidFill>
              </a:rPr>
              <a:t>: Diskusikan bagaimana sistem pemrosesan gaji dalam perusahaan dapat menggunakan batch processing. Apa keuntungan dan tantangan yang mungkin dihadapi?</a:t>
            </a:r>
          </a:p>
          <a:p>
            <a:pPr marL="971550" lvl="1" indent="-514350" algn="just">
              <a:lnSpc>
                <a:spcPct val="200000"/>
              </a:lnSpc>
              <a:buFont typeface="+mj-lt"/>
              <a:buAutoNum type="alphaLcParenR"/>
            </a:pPr>
            <a:r>
              <a:rPr lang="en-US" sz="3600" b="1">
                <a:solidFill>
                  <a:schemeClr val="tx1">
                    <a:lumMod val="50000"/>
                  </a:schemeClr>
                </a:solidFill>
              </a:rPr>
              <a:t>Kasus Real-Time Processing</a:t>
            </a:r>
            <a:r>
              <a:rPr lang="en-US" sz="3600">
                <a:solidFill>
                  <a:schemeClr val="tx1">
                    <a:lumMod val="50000"/>
                  </a:schemeClr>
                </a:solidFill>
              </a:rPr>
              <a:t>: Bagaimana sistem transaksi kartu kredit memerlukan real-time processing? Apa konsekuensi jika sistem ini tidak dapat memberikan respons instan?</a:t>
            </a:r>
            <a:endParaRPr lang="en-US" sz="3600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38880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discussion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056640" y="2382339"/>
            <a:ext cx="21620480" cy="114492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4400" b="1">
                <a:solidFill>
                  <a:srgbClr val="00B050"/>
                </a:solidFill>
              </a:rPr>
              <a:t>Aplikasi Keuangan</a:t>
            </a:r>
            <a:r>
              <a:rPr lang="en-US" sz="4400" b="1" smtClean="0">
                <a:solidFill>
                  <a:srgbClr val="00B050"/>
                </a:solidFill>
              </a:rPr>
              <a:t>:</a:t>
            </a:r>
          </a:p>
          <a:p>
            <a:pPr marL="742950" indent="-742950" algn="just">
              <a:lnSpc>
                <a:spcPct val="150000"/>
              </a:lnSpc>
              <a:buFont typeface="+mj-lt"/>
              <a:buAutoNum type="alphaLcParenR"/>
            </a:pPr>
            <a:r>
              <a:rPr lang="en-US" sz="2800" b="1">
                <a:solidFill>
                  <a:schemeClr val="bg2">
                    <a:lumMod val="10000"/>
                  </a:schemeClr>
                </a:solidFill>
              </a:rPr>
              <a:t>Sistem Pemrosesan Gaji</a:t>
            </a:r>
          </a:p>
          <a:p>
            <a:pPr algn="just">
              <a:lnSpc>
                <a:spcPct val="150000"/>
              </a:lnSpc>
            </a:pPr>
            <a:r>
              <a:rPr lang="en-US" sz="2800" b="1">
                <a:solidFill>
                  <a:schemeClr val="bg2">
                    <a:lumMod val="10000"/>
                  </a:schemeClr>
                </a:solidFill>
              </a:rPr>
              <a:t>Contoh:</a:t>
            </a:r>
            <a:endParaRPr lang="en-US" sz="2800">
              <a:solidFill>
                <a:schemeClr val="bg2">
                  <a:lumMod val="10000"/>
                </a:schemeClr>
              </a:solidFill>
            </a:endParaRPr>
          </a:p>
          <a:p>
            <a:pPr marL="8128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2">
                    <a:lumMod val="10000"/>
                  </a:schemeClr>
                </a:solidFill>
              </a:rPr>
              <a:t>Perusahaan menjalankan </a:t>
            </a:r>
            <a:r>
              <a:rPr lang="en-US" sz="2800" b="1">
                <a:solidFill>
                  <a:schemeClr val="bg2">
                    <a:lumMod val="10000"/>
                  </a:schemeClr>
                </a:solidFill>
              </a:rPr>
              <a:t>payroll system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</a:rPr>
              <a:t> setiap akhir bulan.</a:t>
            </a:r>
          </a:p>
          <a:p>
            <a:pPr marL="8128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2">
                    <a:lumMod val="10000"/>
                  </a:schemeClr>
                </a:solidFill>
              </a:rPr>
              <a:t>Data gaji karyawan (jam kerja, tunjangan, potongan, pajak) dikumpulkan selama sebulan penuh.</a:t>
            </a:r>
          </a:p>
          <a:p>
            <a:pPr marL="8128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2">
                    <a:lumMod val="10000"/>
                  </a:schemeClr>
                </a:solidFill>
              </a:rPr>
              <a:t>Proses perhitungan gaji dilakukan secara </a:t>
            </a:r>
            <a:r>
              <a:rPr lang="en-US" sz="2800" b="1">
                <a:solidFill>
                  <a:schemeClr val="bg2">
                    <a:lumMod val="10000"/>
                  </a:schemeClr>
                </a:solidFill>
              </a:rPr>
              <a:t>batch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</a:rPr>
              <a:t> → semua karyawan diproses sekaligus, bukan satu per satu secara langsung.</a:t>
            </a:r>
          </a:p>
          <a:p>
            <a:pPr algn="just">
              <a:lnSpc>
                <a:spcPct val="150000"/>
              </a:lnSpc>
            </a:pPr>
            <a:r>
              <a:rPr lang="en-US" sz="2800" b="1">
                <a:solidFill>
                  <a:schemeClr val="bg2">
                    <a:lumMod val="10000"/>
                  </a:schemeClr>
                </a:solidFill>
              </a:rPr>
              <a:t>Keuntungan:</a:t>
            </a:r>
            <a:endParaRPr lang="en-US" sz="2800">
              <a:solidFill>
                <a:schemeClr val="bg2">
                  <a:lumMod val="10000"/>
                </a:schemeClr>
              </a:solidFill>
            </a:endParaRPr>
          </a:p>
          <a:p>
            <a:pPr marL="8128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>
                <a:solidFill>
                  <a:schemeClr val="bg2">
                    <a:lumMod val="10000"/>
                  </a:schemeClr>
                </a:solidFill>
              </a:rPr>
              <a:t>Efisiensi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</a:rPr>
              <a:t>: Pemrosesan dilakukan sekali dalam jumlah besar → hemat waktu dan sumber daya.</a:t>
            </a:r>
          </a:p>
          <a:p>
            <a:pPr marL="8128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>
                <a:solidFill>
                  <a:schemeClr val="bg2">
                    <a:lumMod val="10000"/>
                  </a:schemeClr>
                </a:solidFill>
              </a:rPr>
              <a:t>Terjadwal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</a:rPr>
              <a:t>: Bisa diotomasi misalnya setiap akhir bulan tanpa perlu interaksi user terus-menerus.</a:t>
            </a:r>
          </a:p>
          <a:p>
            <a:pPr marL="8128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>
                <a:solidFill>
                  <a:schemeClr val="bg2">
                    <a:lumMod val="10000"/>
                  </a:schemeClr>
                </a:solidFill>
              </a:rPr>
              <a:t>Konsistensi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</a:rPr>
              <a:t>: Semua gaji diproses dengan formula yang sama sehingga minim kesalahan manual.</a:t>
            </a:r>
          </a:p>
          <a:p>
            <a:pPr algn="just">
              <a:lnSpc>
                <a:spcPct val="150000"/>
              </a:lnSpc>
            </a:pPr>
            <a:r>
              <a:rPr lang="en-US" sz="2800" b="1">
                <a:solidFill>
                  <a:schemeClr val="bg2">
                    <a:lumMod val="10000"/>
                  </a:schemeClr>
                </a:solidFill>
              </a:rPr>
              <a:t>Tantangan:</a:t>
            </a:r>
            <a:endParaRPr lang="en-US" sz="2800">
              <a:solidFill>
                <a:schemeClr val="bg2">
                  <a:lumMod val="10000"/>
                </a:schemeClr>
              </a:solidFill>
            </a:endParaRPr>
          </a:p>
          <a:p>
            <a:pPr marL="8128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>
                <a:solidFill>
                  <a:schemeClr val="bg2">
                    <a:lumMod val="10000"/>
                  </a:schemeClr>
                </a:solidFill>
              </a:rPr>
              <a:t>Kurang fleksibel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</a:rPr>
              <a:t>: Jika ada kesalahan data, baru ketahuan saat batch sudah jalan → butuh koreksi manual.</a:t>
            </a:r>
          </a:p>
          <a:p>
            <a:pPr marL="8128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>
                <a:solidFill>
                  <a:schemeClr val="bg2">
                    <a:lumMod val="10000"/>
                  </a:schemeClr>
                </a:solidFill>
              </a:rPr>
              <a:t>Tidak instan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</a:rPr>
              <a:t>: Karyawan tidak bisa langsung melihat hasil update (misalnya lembur baru dimasukkan), harus menunggu batch berikutnya.</a:t>
            </a:r>
          </a:p>
          <a:p>
            <a:pPr marL="8128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>
                <a:solidFill>
                  <a:schemeClr val="bg2">
                    <a:lumMod val="10000"/>
                  </a:schemeClr>
                </a:solidFill>
              </a:rPr>
              <a:t>Bottleneck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</a:rPr>
              <a:t>: Proses batch yang besar bisa memakan banyak resource jika data karyawan sangat banyak.</a:t>
            </a:r>
          </a:p>
          <a:p>
            <a:pPr algn="just">
              <a:lnSpc>
                <a:spcPct val="150000"/>
              </a:lnSpc>
            </a:pPr>
            <a:endParaRPr lang="en-US" sz="280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64841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discussion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056640" y="2382339"/>
            <a:ext cx="21620480" cy="10087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4400" b="1">
                <a:solidFill>
                  <a:srgbClr val="00B050"/>
                </a:solidFill>
              </a:rPr>
              <a:t>Aplikasi Keuangan</a:t>
            </a:r>
            <a:r>
              <a:rPr lang="en-US" sz="4400" b="1" smtClean="0">
                <a:solidFill>
                  <a:srgbClr val="00B050"/>
                </a:solidFill>
              </a:rPr>
              <a:t>:</a:t>
            </a:r>
          </a:p>
          <a:p>
            <a:pPr marL="708025" indent="-708025" algn="just">
              <a:lnSpc>
                <a:spcPct val="150000"/>
              </a:lnSpc>
              <a:buFont typeface="+mj-lt"/>
              <a:buAutoNum type="alphaLcParenR" startAt="2"/>
            </a:pPr>
            <a:r>
              <a:rPr lang="en-US" sz="2800" b="1">
                <a:solidFill>
                  <a:schemeClr val="bg2">
                    <a:lumMod val="10000"/>
                  </a:schemeClr>
                </a:solidFill>
              </a:rPr>
              <a:t>Transaksi Kartu Kredit</a:t>
            </a:r>
          </a:p>
          <a:p>
            <a:pPr algn="just">
              <a:lnSpc>
                <a:spcPct val="150000"/>
              </a:lnSpc>
            </a:pPr>
            <a:r>
              <a:rPr lang="en-US" sz="2800" b="1">
                <a:solidFill>
                  <a:schemeClr val="bg2">
                    <a:lumMod val="10000"/>
                  </a:schemeClr>
                </a:solidFill>
              </a:rPr>
              <a:t>Contoh:</a:t>
            </a:r>
            <a:endParaRPr lang="en-US" sz="2800">
              <a:solidFill>
                <a:schemeClr val="bg2">
                  <a:lumMod val="10000"/>
                </a:schemeClr>
              </a:solidFill>
            </a:endParaRPr>
          </a:p>
          <a:p>
            <a:pPr marL="8001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2">
                    <a:lumMod val="10000"/>
                  </a:schemeClr>
                </a:solidFill>
              </a:rPr>
              <a:t>Saat pelanggan melakukan pembayaran dengan kartu kredit di toko, sistem bank harus segera:</a:t>
            </a:r>
          </a:p>
          <a:p>
            <a:pPr marL="8001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2">
                    <a:lumMod val="10000"/>
                  </a:schemeClr>
                </a:solidFill>
              </a:rPr>
              <a:t>Mengecek saldo/kredit limit.</a:t>
            </a:r>
          </a:p>
          <a:p>
            <a:pPr marL="8001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2">
                    <a:lumMod val="10000"/>
                  </a:schemeClr>
                </a:solidFill>
              </a:rPr>
              <a:t>Memvalidasi keaslian kartu &amp; transaksi.</a:t>
            </a:r>
          </a:p>
          <a:p>
            <a:pPr marL="8001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2">
                    <a:lumMod val="10000"/>
                  </a:schemeClr>
                </a:solidFill>
              </a:rPr>
              <a:t>Memberikan approval atau penolakan dalam hitungan detik.</a:t>
            </a:r>
          </a:p>
          <a:p>
            <a:pPr algn="just">
              <a:lnSpc>
                <a:spcPct val="150000"/>
              </a:lnSpc>
            </a:pPr>
            <a:r>
              <a:rPr lang="en-US" sz="2800" b="1">
                <a:solidFill>
                  <a:schemeClr val="bg2">
                    <a:lumMod val="10000"/>
                  </a:schemeClr>
                </a:solidFill>
              </a:rPr>
              <a:t>Mengapa butuh real-time?</a:t>
            </a:r>
            <a:endParaRPr lang="en-US" sz="2800">
              <a:solidFill>
                <a:schemeClr val="bg2">
                  <a:lumMod val="10000"/>
                </a:schemeClr>
              </a:solidFill>
            </a:endParaRPr>
          </a:p>
          <a:p>
            <a:pPr marL="8001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2">
                    <a:lumMod val="10000"/>
                  </a:schemeClr>
                </a:solidFill>
              </a:rPr>
              <a:t>Karena transaksi finansial harus segera dipastikan </a:t>
            </a:r>
            <a:r>
              <a:rPr lang="en-US" sz="2800" b="1">
                <a:solidFill>
                  <a:schemeClr val="bg2">
                    <a:lumMod val="10000"/>
                  </a:schemeClr>
                </a:solidFill>
              </a:rPr>
              <a:t>valid &amp; aman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</a:rPr>
              <a:t>.</a:t>
            </a:r>
          </a:p>
          <a:p>
            <a:pPr marL="8001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>
                <a:solidFill>
                  <a:schemeClr val="bg2">
                    <a:lumMod val="10000"/>
                  </a:schemeClr>
                </a:solidFill>
              </a:rPr>
              <a:t>User (kasir dan pelanggan) mengharapkan jawaban instan.</a:t>
            </a:r>
          </a:p>
          <a:p>
            <a:pPr algn="just">
              <a:lnSpc>
                <a:spcPct val="150000"/>
              </a:lnSpc>
            </a:pPr>
            <a:r>
              <a:rPr lang="en-US" sz="2800" b="1">
                <a:solidFill>
                  <a:schemeClr val="bg2">
                    <a:lumMod val="10000"/>
                  </a:schemeClr>
                </a:solidFill>
              </a:rPr>
              <a:t>Konsekuensi jika tidak instan:</a:t>
            </a:r>
            <a:endParaRPr lang="en-US" sz="2800">
              <a:solidFill>
                <a:schemeClr val="bg2">
                  <a:lumMod val="10000"/>
                </a:schemeClr>
              </a:solidFill>
            </a:endParaRPr>
          </a:p>
          <a:p>
            <a:pPr marL="800100" indent="-525463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>
                <a:solidFill>
                  <a:schemeClr val="bg2">
                    <a:lumMod val="10000"/>
                  </a:schemeClr>
                </a:solidFill>
              </a:rPr>
              <a:t>Fraud/Risiko Keamanan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</a:rPr>
              <a:t>: Transaksi ilegal bisa lolos sebelum diverifikasi.</a:t>
            </a:r>
          </a:p>
          <a:p>
            <a:pPr marL="800100" indent="-525463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>
                <a:solidFill>
                  <a:schemeClr val="bg2">
                    <a:lumMod val="10000"/>
                  </a:schemeClr>
                </a:solidFill>
              </a:rPr>
              <a:t>Pengalaman Buruk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</a:rPr>
              <a:t>: Pelanggan menunggu lama di kasir, mengurangi kepercayaan pada bank/merchant.</a:t>
            </a:r>
          </a:p>
          <a:p>
            <a:pPr marL="800100" indent="-525463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>
                <a:solidFill>
                  <a:schemeClr val="bg2">
                    <a:lumMod val="10000"/>
                  </a:schemeClr>
                </a:solidFill>
              </a:rPr>
              <a:t>Kerugian Finansial</a:t>
            </a:r>
            <a:r>
              <a:rPr lang="en-US" sz="2800">
                <a:solidFill>
                  <a:schemeClr val="bg2">
                    <a:lumMod val="10000"/>
                  </a:schemeClr>
                </a:solidFill>
              </a:rPr>
              <a:t>: Merchant bisa kehilangan penjualan, bank bisa menanggung transaksi yang tidak sah.</a:t>
            </a:r>
          </a:p>
          <a:p>
            <a:pPr algn="just">
              <a:lnSpc>
                <a:spcPct val="150000"/>
              </a:lnSpc>
            </a:pPr>
            <a:endParaRPr lang="en-US" sz="280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164745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discussion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056640" y="3479619"/>
            <a:ext cx="21620480" cy="7901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0150" lvl="1" indent="-742950" algn="just">
              <a:lnSpc>
                <a:spcPct val="200000"/>
              </a:lnSpc>
              <a:buClr>
                <a:schemeClr val="bg2">
                  <a:lumMod val="10000"/>
                </a:schemeClr>
              </a:buClr>
              <a:buFont typeface="+mj-lt"/>
              <a:buAutoNum type="arabicPeriod"/>
            </a:pPr>
            <a:r>
              <a:rPr lang="en-US" sz="3700" smtClean="0">
                <a:solidFill>
                  <a:schemeClr val="accent5"/>
                </a:solidFill>
              </a:rPr>
              <a:t>Kasus </a:t>
            </a:r>
            <a:r>
              <a:rPr lang="en-US" sz="3700">
                <a:solidFill>
                  <a:schemeClr val="accent5"/>
                </a:solidFill>
              </a:rPr>
              <a:t>Batch Processing</a:t>
            </a:r>
            <a:r>
              <a:rPr lang="en-US" sz="3700">
                <a:solidFill>
                  <a:schemeClr val="tx1">
                    <a:lumMod val="50000"/>
                  </a:schemeClr>
                </a:solidFill>
              </a:rPr>
              <a:t>: Diskusikan bagaimana sistem e-commerce dapat menggunakan batch processing untuk memperbarui inventaris dan mengolah pesanan di akhir hari.</a:t>
            </a:r>
          </a:p>
          <a:p>
            <a:pPr marL="1200150" lvl="1" indent="-742950" algn="just">
              <a:lnSpc>
                <a:spcPct val="200000"/>
              </a:lnSpc>
              <a:buClr>
                <a:schemeClr val="bg2">
                  <a:lumMod val="10000"/>
                </a:schemeClr>
              </a:buClr>
              <a:buFont typeface="+mj-lt"/>
              <a:buAutoNum type="arabicPeriod"/>
            </a:pPr>
            <a:r>
              <a:rPr lang="en-US" sz="3700">
                <a:solidFill>
                  <a:srgbClr val="FFC000"/>
                </a:solidFill>
              </a:rPr>
              <a:t>Kasus Real-Time Processing</a:t>
            </a:r>
            <a:r>
              <a:rPr lang="en-US" sz="3700">
                <a:solidFill>
                  <a:schemeClr val="tx1">
                    <a:lumMod val="50000"/>
                  </a:schemeClr>
                </a:solidFill>
              </a:rPr>
              <a:t>: Bagaimana aplikasi e-commerce memanfaatkan real-time processing untuk memberikan rekomendasi produk kepada pengguna berdasarkan perilaku browsing mereka? Mengapa ini penting</a:t>
            </a:r>
            <a:r>
              <a:rPr lang="en-US" sz="3700" smtClean="0">
                <a:solidFill>
                  <a:schemeClr val="tx1">
                    <a:lumMod val="50000"/>
                  </a:schemeClr>
                </a:solidFill>
              </a:rPr>
              <a:t>?</a:t>
            </a:r>
          </a:p>
          <a:p>
            <a:pPr marL="1200150" lvl="1" indent="-742950" algn="just">
              <a:lnSpc>
                <a:spcPct val="200000"/>
              </a:lnSpc>
              <a:buClr>
                <a:schemeClr val="bg2">
                  <a:lumMod val="10000"/>
                </a:schemeClr>
              </a:buClr>
              <a:buFont typeface="+mj-lt"/>
              <a:buAutoNum type="arabicPeriod"/>
            </a:pPr>
            <a:r>
              <a:rPr lang="en-US" sz="3700">
                <a:solidFill>
                  <a:schemeClr val="tx1">
                    <a:lumMod val="50000"/>
                  </a:schemeClr>
                </a:solidFill>
              </a:rPr>
              <a:t>Dalam situasi tertentu, apakah ada aplikasi yang mungkin membutuhkan kombinasi antara batch processing dan real-time processing? Berikan contoh dan jelaskan</a:t>
            </a:r>
            <a:r>
              <a:rPr lang="en-US" sz="3700" smtClean="0">
                <a:solidFill>
                  <a:schemeClr val="tx1">
                    <a:lumMod val="50000"/>
                  </a:schemeClr>
                </a:solidFill>
              </a:rPr>
              <a:t>.</a:t>
            </a:r>
            <a:endParaRPr lang="en-US" sz="370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19718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discussion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065406" y="2698666"/>
            <a:ext cx="22544870" cy="10364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 err="1">
                <a:solidFill>
                  <a:schemeClr val="tx1">
                    <a:lumMod val="50000"/>
                  </a:schemeClr>
                </a:solidFill>
              </a:rPr>
              <a:t>Soal</a:t>
            </a:r>
            <a:r>
              <a:rPr lang="en-US" sz="2800" b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tx1">
                    <a:lumMod val="50000"/>
                  </a:schemeClr>
                </a:solidFill>
              </a:rPr>
              <a:t>Diskusi</a:t>
            </a:r>
            <a:endParaRPr lang="en-US" sz="2800" b="1" dirty="0">
              <a:solidFill>
                <a:schemeClr val="tx1">
                  <a:lumMod val="50000"/>
                </a:schemeClr>
              </a:solidFill>
            </a:endParaRP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 err="1">
                <a:solidFill>
                  <a:schemeClr val="tx1">
                    <a:lumMod val="50000"/>
                  </a:schemeClr>
                </a:solidFill>
              </a:rPr>
              <a:t>Aplikasi</a:t>
            </a:r>
            <a:r>
              <a:rPr lang="en-US" sz="2800" b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tx1">
                    <a:lumMod val="50000"/>
                  </a:schemeClr>
                </a:solidFill>
              </a:rPr>
              <a:t>Keuangan</a:t>
            </a:r>
            <a:r>
              <a:rPr lang="en-US" sz="2800" b="1" dirty="0">
                <a:solidFill>
                  <a:schemeClr val="tx1">
                    <a:lumMod val="50000"/>
                  </a:schemeClr>
                </a:solidFill>
              </a:rPr>
              <a:t>:</a:t>
            </a:r>
            <a:endParaRPr lang="en-US" sz="2800" dirty="0">
              <a:solidFill>
                <a:schemeClr val="tx1">
                  <a:lumMod val="50000"/>
                </a:schemeClr>
              </a:solidFill>
            </a:endParaRPr>
          </a:p>
          <a:p>
            <a:pPr marL="971550" lvl="1" indent="-514350" algn="just">
              <a:lnSpc>
                <a:spcPct val="150000"/>
              </a:lnSpc>
              <a:buFont typeface="+mj-lt"/>
              <a:buAutoNum type="alphaLcParenR"/>
            </a:pPr>
            <a:r>
              <a:rPr lang="en-US" sz="2800" b="1" dirty="0" err="1">
                <a:solidFill>
                  <a:schemeClr val="tx1">
                    <a:lumMod val="50000"/>
                  </a:schemeClr>
                </a:solidFill>
              </a:rPr>
              <a:t>Kasus</a:t>
            </a:r>
            <a:r>
              <a:rPr lang="en-US" sz="2800" b="1" dirty="0">
                <a:solidFill>
                  <a:schemeClr val="tx1">
                    <a:lumMod val="50000"/>
                  </a:schemeClr>
                </a:solidFill>
              </a:rPr>
              <a:t> Batch Processing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: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Diskusikan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bagaimana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sistem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pemrosesan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gaji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dalam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perusahaan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dapat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menggunakan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batch processing.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Apa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keuntungan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dan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tantangan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yang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mungkin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dihadapi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?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lphaLcParenR"/>
            </a:pPr>
            <a:r>
              <a:rPr lang="en-US" sz="2800" b="1" dirty="0" err="1">
                <a:solidFill>
                  <a:schemeClr val="tx1">
                    <a:lumMod val="50000"/>
                  </a:schemeClr>
                </a:solidFill>
              </a:rPr>
              <a:t>Kasus</a:t>
            </a:r>
            <a:r>
              <a:rPr lang="en-US" sz="2800" b="1" dirty="0">
                <a:solidFill>
                  <a:schemeClr val="tx1">
                    <a:lumMod val="50000"/>
                  </a:schemeClr>
                </a:solidFill>
              </a:rPr>
              <a:t> Real-Time Processing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: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Bagaimana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sistem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transaksi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kartu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kredit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memerlukan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real-time processing?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Apa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konsekuensi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jika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sistem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ini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tidak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dapat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memberikan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respons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 smtClean="0">
                <a:solidFill>
                  <a:schemeClr val="tx1">
                    <a:lumMod val="50000"/>
                  </a:schemeClr>
                </a:solidFill>
              </a:rPr>
              <a:t>instan</a:t>
            </a:r>
            <a:r>
              <a:rPr lang="en-US" sz="2800" dirty="0" smtClean="0">
                <a:solidFill>
                  <a:schemeClr val="tx1">
                    <a:lumMod val="50000"/>
                  </a:schemeClr>
                </a:solidFill>
              </a:rPr>
              <a:t>?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 err="1" smtClean="0">
                <a:solidFill>
                  <a:schemeClr val="tx1">
                    <a:lumMod val="50000"/>
                  </a:schemeClr>
                </a:solidFill>
              </a:rPr>
              <a:t>Pengolahan</a:t>
            </a:r>
            <a:r>
              <a:rPr lang="en-US" sz="2800" b="1" dirty="0" smtClean="0">
                <a:solidFill>
                  <a:schemeClr val="tx1">
                    <a:lumMod val="50000"/>
                  </a:schemeClr>
                </a:solidFill>
              </a:rPr>
              <a:t> Data:</a:t>
            </a:r>
            <a:endParaRPr lang="en-US" sz="2800" dirty="0" smtClean="0">
              <a:solidFill>
                <a:schemeClr val="tx1">
                  <a:lumMod val="50000"/>
                </a:schemeClr>
              </a:solidFill>
            </a:endParaRPr>
          </a:p>
          <a:p>
            <a:pPr marL="971550" lvl="1" indent="-514350" algn="just">
              <a:lnSpc>
                <a:spcPct val="150000"/>
              </a:lnSpc>
              <a:buFont typeface="+mj-lt"/>
              <a:buAutoNum type="alphaLcParenR"/>
            </a:pPr>
            <a:r>
              <a:rPr lang="en-US" sz="2800" b="1" dirty="0" err="1" smtClean="0">
                <a:solidFill>
                  <a:schemeClr val="tx1">
                    <a:lumMod val="50000"/>
                  </a:schemeClr>
                </a:solidFill>
              </a:rPr>
              <a:t>Kasus</a:t>
            </a:r>
            <a:r>
              <a:rPr lang="en-US" sz="2800" b="1" dirty="0" smtClean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b="1" dirty="0">
                <a:solidFill>
                  <a:schemeClr val="tx1">
                    <a:lumMod val="50000"/>
                  </a:schemeClr>
                </a:solidFill>
              </a:rPr>
              <a:t>Batch Processing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: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Diskusikan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bagaimana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aplikasi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analisis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data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besar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(big data)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seperti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Apache Hadoop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menggunakan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batch processing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untuk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pemrosesan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data.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Apa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manfaat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dari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pendekatan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ini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?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lphaLcParenR"/>
            </a:pPr>
            <a:r>
              <a:rPr lang="en-US" sz="2800" b="1" dirty="0" err="1">
                <a:solidFill>
                  <a:schemeClr val="tx1">
                    <a:lumMod val="50000"/>
                  </a:schemeClr>
                </a:solidFill>
              </a:rPr>
              <a:t>Kasus</a:t>
            </a:r>
            <a:r>
              <a:rPr lang="en-US" sz="2800" b="1" dirty="0">
                <a:solidFill>
                  <a:schemeClr val="tx1">
                    <a:lumMod val="50000"/>
                  </a:schemeClr>
                </a:solidFill>
              </a:rPr>
              <a:t> Real-Time Processing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: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Bagaimana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aplikasi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pemantauan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kesehatan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(health monitoring)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dapat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memanfaatkan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real-time processing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untuk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memberikan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informasi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kepada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dokter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?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Apa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risiko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jika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ada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keterlambatan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dalam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pemrosesan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smtClean="0">
                <a:solidFill>
                  <a:schemeClr val="tx1">
                    <a:lumMod val="50000"/>
                  </a:schemeClr>
                </a:solidFill>
              </a:rPr>
              <a:t>data?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b="1" dirty="0" err="1" smtClean="0">
                <a:solidFill>
                  <a:schemeClr val="tx1">
                    <a:lumMod val="50000"/>
                  </a:schemeClr>
                </a:solidFill>
              </a:rPr>
              <a:t>Sistem</a:t>
            </a:r>
            <a:r>
              <a:rPr lang="en-US" sz="2800" b="1" dirty="0" smtClean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b="1" dirty="0" err="1" smtClean="0">
                <a:solidFill>
                  <a:schemeClr val="tx1">
                    <a:lumMod val="50000"/>
                  </a:schemeClr>
                </a:solidFill>
              </a:rPr>
              <a:t>Transportasi</a:t>
            </a:r>
            <a:r>
              <a:rPr lang="en-US" sz="2800" b="1" dirty="0" smtClean="0">
                <a:solidFill>
                  <a:schemeClr val="tx1">
                    <a:lumMod val="50000"/>
                  </a:schemeClr>
                </a:solidFill>
              </a:rPr>
              <a:t>:</a:t>
            </a:r>
            <a:endParaRPr lang="en-US" sz="2800" dirty="0" smtClean="0">
              <a:solidFill>
                <a:schemeClr val="tx1">
                  <a:lumMod val="50000"/>
                </a:schemeClr>
              </a:solidFill>
            </a:endParaRPr>
          </a:p>
          <a:p>
            <a:pPr marL="971550" lvl="1" indent="-514350" algn="just">
              <a:lnSpc>
                <a:spcPct val="150000"/>
              </a:lnSpc>
              <a:buFont typeface="+mj-lt"/>
              <a:buAutoNum type="alphaLcParenR"/>
            </a:pPr>
            <a:r>
              <a:rPr lang="en-US" sz="2800" b="1" dirty="0" err="1" smtClean="0">
                <a:solidFill>
                  <a:schemeClr val="tx1">
                    <a:lumMod val="50000"/>
                  </a:schemeClr>
                </a:solidFill>
              </a:rPr>
              <a:t>Kasus</a:t>
            </a:r>
            <a:r>
              <a:rPr lang="en-US" sz="2800" b="1" dirty="0" smtClean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b="1" dirty="0">
                <a:solidFill>
                  <a:schemeClr val="tx1">
                    <a:lumMod val="50000"/>
                  </a:schemeClr>
                </a:solidFill>
              </a:rPr>
              <a:t>Batch Processing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: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Diskusikan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bagaimana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sistem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pengelolaan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transportasi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umum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dapat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menggunakan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batch processing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untuk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menghasilkan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laporan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bulanan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mengenai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jumlah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penumpang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.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lphaLcParenR"/>
            </a:pPr>
            <a:r>
              <a:rPr lang="en-US" sz="2800" b="1" dirty="0" err="1">
                <a:solidFill>
                  <a:schemeClr val="tx1">
                    <a:lumMod val="50000"/>
                  </a:schemeClr>
                </a:solidFill>
              </a:rPr>
              <a:t>Kasus</a:t>
            </a:r>
            <a:r>
              <a:rPr lang="en-US" sz="2800" b="1" dirty="0">
                <a:solidFill>
                  <a:schemeClr val="tx1">
                    <a:lumMod val="50000"/>
                  </a:schemeClr>
                </a:solidFill>
              </a:rPr>
              <a:t> Real-Time Processing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: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Bagaimana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aplikasi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navigasi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seperti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Google Maps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menggunakan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real-time processing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untuk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memberikan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informasi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lalu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lintas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terkini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?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Apa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dampak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jika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informasi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tersebut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terlambat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diperbarui</a:t>
            </a:r>
            <a:r>
              <a:rPr lang="en-US" sz="2800" dirty="0" smtClean="0">
                <a:solidFill>
                  <a:schemeClr val="tx1">
                    <a:lumMod val="50000"/>
                  </a:schemeClr>
                </a:solidFill>
              </a:rPr>
              <a:t>?</a:t>
            </a:r>
            <a:endParaRPr lang="en-US" sz="2800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78524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discussion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041961" y="2636044"/>
            <a:ext cx="22521424" cy="78483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 err="1">
                <a:solidFill>
                  <a:schemeClr val="tx1">
                    <a:lumMod val="50000"/>
                  </a:schemeClr>
                </a:solidFill>
              </a:rPr>
              <a:t>Soal</a:t>
            </a:r>
            <a:r>
              <a:rPr lang="en-US" sz="2800" b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tx1">
                    <a:lumMod val="50000"/>
                  </a:schemeClr>
                </a:solidFill>
              </a:rPr>
              <a:t>Diskusi</a:t>
            </a:r>
            <a:endParaRPr lang="en-US" sz="2800" b="1" dirty="0">
              <a:solidFill>
                <a:schemeClr val="tx1">
                  <a:lumMod val="50000"/>
                </a:schemeClr>
              </a:solidFill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4"/>
            </a:pPr>
            <a:r>
              <a:rPr lang="en-US" sz="2800" b="1" dirty="0" smtClean="0">
                <a:solidFill>
                  <a:schemeClr val="tx1">
                    <a:lumMod val="50000"/>
                  </a:schemeClr>
                </a:solidFill>
              </a:rPr>
              <a:t>E-Commerce</a:t>
            </a:r>
            <a:r>
              <a:rPr lang="en-US" sz="2800" b="1" dirty="0">
                <a:solidFill>
                  <a:schemeClr val="tx1">
                    <a:lumMod val="50000"/>
                  </a:schemeClr>
                </a:solidFill>
              </a:rPr>
              <a:t>:</a:t>
            </a:r>
            <a:endParaRPr lang="en-US" sz="2800" dirty="0">
              <a:solidFill>
                <a:schemeClr val="tx1">
                  <a:lumMod val="50000"/>
                </a:schemeClr>
              </a:solidFill>
            </a:endParaRPr>
          </a:p>
          <a:p>
            <a:pPr marL="971550" lvl="1" indent="-514350" algn="just">
              <a:lnSpc>
                <a:spcPct val="150000"/>
              </a:lnSpc>
              <a:buFont typeface="+mj-lt"/>
              <a:buAutoNum type="alphaLcParenR"/>
            </a:pPr>
            <a:r>
              <a:rPr lang="en-US" sz="2800" b="1" dirty="0" err="1">
                <a:solidFill>
                  <a:schemeClr val="tx1">
                    <a:lumMod val="50000"/>
                  </a:schemeClr>
                </a:solidFill>
              </a:rPr>
              <a:t>Kasus</a:t>
            </a:r>
            <a:r>
              <a:rPr lang="en-US" sz="2800" b="1" dirty="0">
                <a:solidFill>
                  <a:schemeClr val="tx1">
                    <a:lumMod val="50000"/>
                  </a:schemeClr>
                </a:solidFill>
              </a:rPr>
              <a:t> Batch Processing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: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Diskusikan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bagaimana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sistem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e-commerce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dapat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menggunakan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batch processing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untuk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memperbarui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inventaris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dan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mengolah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pesanan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di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akhir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hari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.</a:t>
            </a:r>
          </a:p>
          <a:p>
            <a:pPr marL="971550" lvl="1" indent="-514350" algn="just">
              <a:lnSpc>
                <a:spcPct val="150000"/>
              </a:lnSpc>
              <a:buFont typeface="+mj-lt"/>
              <a:buAutoNum type="alphaLcParenR"/>
            </a:pPr>
            <a:r>
              <a:rPr lang="en-US" sz="2800" b="1" dirty="0" err="1">
                <a:solidFill>
                  <a:schemeClr val="tx1">
                    <a:lumMod val="50000"/>
                  </a:schemeClr>
                </a:solidFill>
              </a:rPr>
              <a:t>Kasus</a:t>
            </a:r>
            <a:r>
              <a:rPr lang="en-US" sz="2800" b="1" dirty="0">
                <a:solidFill>
                  <a:schemeClr val="tx1">
                    <a:lumMod val="50000"/>
                  </a:schemeClr>
                </a:solidFill>
              </a:rPr>
              <a:t> Real-Time Processing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: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Bagaimana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aplikasi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e-commerce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memanfaatkan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real-time processing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untuk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memberikan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rekomendasi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produk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kepada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pengguna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berdasarkan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perilaku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browsing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mereka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?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Mengapa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ini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 smtClean="0">
                <a:solidFill>
                  <a:schemeClr val="tx1">
                    <a:lumMod val="50000"/>
                  </a:schemeClr>
                </a:solidFill>
              </a:rPr>
              <a:t>penting</a:t>
            </a:r>
            <a:r>
              <a:rPr lang="en-US" sz="2800" dirty="0" smtClean="0">
                <a:solidFill>
                  <a:schemeClr val="tx1">
                    <a:lumMod val="50000"/>
                  </a:schemeClr>
                </a:solidFill>
              </a:rPr>
              <a:t>?</a:t>
            </a:r>
          </a:p>
          <a:p>
            <a:pPr algn="just">
              <a:lnSpc>
                <a:spcPct val="150000"/>
              </a:lnSpc>
            </a:pPr>
            <a:endParaRPr lang="en-US" sz="2800" b="1" dirty="0" smtClean="0">
              <a:solidFill>
                <a:schemeClr val="tx1">
                  <a:lumMod val="50000"/>
                </a:schemeClr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US" sz="2800" b="1" dirty="0" err="1" smtClean="0">
                <a:solidFill>
                  <a:schemeClr val="tx1">
                    <a:lumMod val="50000"/>
                  </a:schemeClr>
                </a:solidFill>
              </a:rPr>
              <a:t>Pertanyaan</a:t>
            </a:r>
            <a:r>
              <a:rPr lang="en-US" sz="2800" b="1" dirty="0" smtClean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tx1">
                    <a:lumMod val="50000"/>
                  </a:schemeClr>
                </a:solidFill>
              </a:rPr>
              <a:t>Tambahan</a:t>
            </a:r>
            <a:endParaRPr lang="en-US" sz="2800" b="1" dirty="0">
              <a:solidFill>
                <a:schemeClr val="tx1">
                  <a:lumMod val="50000"/>
                </a:schemeClr>
              </a:solidFill>
            </a:endParaRPr>
          </a:p>
          <a:p>
            <a:pPr marL="514350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Dalam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situasi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tertentu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,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apakah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ada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aplikasi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yang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mungkin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membutuhkan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kombinasi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antara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batch processing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dan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real-time processing?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Berikan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contoh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dan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jelaskan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.</a:t>
            </a:r>
          </a:p>
          <a:p>
            <a:pPr marL="514350" lvl="1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Apa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faktor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yang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harus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dipertimbangkan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oleh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organisasi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saat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memilih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antara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batch processing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dan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real-time processing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untuk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aplikasi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tx1">
                    <a:lumMod val="50000"/>
                  </a:schemeClr>
                </a:solidFill>
              </a:rPr>
              <a:t>tertentu</a:t>
            </a:r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6403185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Mechanisms for Interrupting the Execution of a Process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A58F16-17D8-8B19-56DD-58C337D98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8884" y="3552703"/>
            <a:ext cx="16454735" cy="7435611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577B5E9-7B65-F402-3A75-E40775D9531C}"/>
              </a:ext>
            </a:extLst>
          </p:cNvPr>
          <p:cNvSpPr txBox="1">
            <a:spLocks/>
          </p:cNvSpPr>
          <p:nvPr/>
        </p:nvSpPr>
        <p:spPr>
          <a:xfrm>
            <a:off x="1447265" y="12158678"/>
            <a:ext cx="19079526" cy="9923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800" dirty="0"/>
              <a:t>© 2017 Pearson Education, Inc., Hoboken, NJ.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68501039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Fork()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0C2DA47-FEE1-E0A6-64A1-29EF0C029C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BFED223-F633-907B-16FB-FFCE68EB3D48}"/>
              </a:ext>
            </a:extLst>
          </p:cNvPr>
          <p:cNvSpPr txBox="1">
            <a:spLocks/>
          </p:cNvSpPr>
          <p:nvPr/>
        </p:nvSpPr>
        <p:spPr>
          <a:xfrm>
            <a:off x="2167376" y="3614058"/>
            <a:ext cx="16512510" cy="3243942"/>
          </a:xfrm>
          <a:prstGeom prst="rect">
            <a:avLst/>
          </a:prstGeom>
        </p:spPr>
        <p:txBody>
          <a:bodyPr>
            <a:normAutofit/>
          </a:bodyPr>
          <a:lstStyle>
            <a:lvl1pPr marL="609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1pPr>
            <a:lvl2pPr marL="1219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2pPr>
            <a:lvl3pPr marL="1828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3pPr>
            <a:lvl4pPr marL="2438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4pPr>
            <a:lvl5pPr marL="30480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eaLnBrk="0" fontAlgn="base" hangingPunct="0">
              <a:spcAft>
                <a:spcPct val="0"/>
              </a:spcAft>
              <a:defRPr/>
            </a:pPr>
            <a:r>
              <a:rPr lang="en-US" sz="3600" dirty="0"/>
              <a:t>When fork() is executed, it makes two identical copies of the address space</a:t>
            </a:r>
          </a:p>
          <a:p>
            <a:pPr eaLnBrk="0" fontAlgn="base" hangingPunct="0">
              <a:spcAft>
                <a:spcPct val="0"/>
              </a:spcAft>
              <a:defRPr/>
            </a:pPr>
            <a:r>
              <a:rPr lang="en-US" sz="3600" dirty="0"/>
              <a:t>Both processes start execution afterwards</a:t>
            </a:r>
          </a:p>
          <a:p>
            <a:pPr eaLnBrk="0" fontAlgn="base" hangingPunct="0">
              <a:spcAft>
                <a:spcPct val="0"/>
              </a:spcAft>
              <a:defRPr/>
            </a:pPr>
            <a:r>
              <a:rPr lang="en-US" sz="3600" dirty="0"/>
              <a:t>Therefore parent and child runs independently</a:t>
            </a:r>
          </a:p>
          <a:p>
            <a:pPr eaLnBrk="0" fontAlgn="base" hangingPunct="0">
              <a:spcAft>
                <a:spcPct val="0"/>
              </a:spcAft>
              <a:buFontTx/>
              <a:buNone/>
              <a:defRPr/>
            </a:pPr>
            <a:endParaRPr lang="en-US" sz="3600" dirty="0"/>
          </a:p>
          <a:p>
            <a:pPr eaLnBrk="0" fontAlgn="base" hangingPunct="0">
              <a:spcAft>
                <a:spcPct val="0"/>
              </a:spcAft>
              <a:defRPr/>
            </a:pPr>
            <a:endParaRPr lang="en-US" sz="3600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77B03AFF-A4BC-6FE7-3804-AA0308CDF0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08537" y="6858000"/>
            <a:ext cx="9799218" cy="47352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94606A9-1CA5-1EFE-2CDD-00E99A701A31}"/>
              </a:ext>
            </a:extLst>
          </p:cNvPr>
          <p:cNvSpPr txBox="1"/>
          <p:nvPr/>
        </p:nvSpPr>
        <p:spPr>
          <a:xfrm>
            <a:off x="2819400" y="9143206"/>
            <a:ext cx="397328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id-ID" u="sng" dirty="0">
                <a:hlinkClick r:id="rId3"/>
              </a:rPr>
              <a:t>Source: </a:t>
            </a:r>
            <a:r>
              <a:rPr lang="id-ID" dirty="0">
                <a:hlinkClick r:id="rId3"/>
              </a:rPr>
              <a:t>http://www.csl.mtu.edu/cs4411.ck/www/NOTES/process/fork/create.html</a:t>
            </a:r>
            <a:endParaRPr lang="id-ID" dirty="0"/>
          </a:p>
          <a:p>
            <a:pPr algn="l"/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795550095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Fork()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DAF9C75-4554-CF8E-0C5D-F5479CB102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C1376909-D833-95AD-6529-8D37B9805465}"/>
              </a:ext>
            </a:extLst>
          </p:cNvPr>
          <p:cNvSpPr txBox="1">
            <a:spLocks/>
          </p:cNvSpPr>
          <p:nvPr/>
        </p:nvSpPr>
        <p:spPr>
          <a:xfrm>
            <a:off x="2167377" y="13142267"/>
            <a:ext cx="20419551" cy="675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3200" dirty="0">
                <a:solidFill>
                  <a:prstClr val="black">
                    <a:tint val="75000"/>
                  </a:prstClr>
                </a:solidFill>
                <a:latin typeface="Calibri"/>
              </a:rPr>
              <a:t>© 2017 Pearson Education, Inc., Hoboken, NJ. All rights reserved.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278E25-1D79-361B-9B9C-E7CA381F95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1468" y="3260663"/>
            <a:ext cx="11671478" cy="69067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E86642-DE6C-4D03-20A3-E7A69BA2557F}"/>
              </a:ext>
            </a:extLst>
          </p:cNvPr>
          <p:cNvSpPr txBox="1"/>
          <p:nvPr/>
        </p:nvSpPr>
        <p:spPr>
          <a:xfrm>
            <a:off x="3796656" y="10630280"/>
            <a:ext cx="147155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i="1" u="sng" dirty="0">
                <a:hlinkClick r:id="rId3"/>
              </a:rPr>
              <a:t>Source: </a:t>
            </a:r>
            <a:r>
              <a:rPr lang="id-ID" sz="2800" dirty="0">
                <a:hlinkClick r:id="rId3"/>
              </a:rPr>
              <a:t>http://www.csl.mtu.edu/cs4411.ck/www/NOTES/process/fork/create.html</a:t>
            </a:r>
            <a:endParaRPr lang="id-ID" sz="2800" dirty="0"/>
          </a:p>
          <a:p>
            <a:endParaRPr lang="id-ID" sz="2800" dirty="0"/>
          </a:p>
        </p:txBody>
      </p:sp>
    </p:spTree>
    <p:extLst>
      <p:ext uri="{BB962C8B-B14F-4D97-AF65-F5344CB8AC3E}">
        <p14:creationId xmlns:p14="http://schemas.microsoft.com/office/powerpoint/2010/main" val="525155477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Fork()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DAF9C75-4554-CF8E-0C5D-F5479CB102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0F5D4D-4267-0638-D82F-D83F47131479}"/>
              </a:ext>
            </a:extLst>
          </p:cNvPr>
          <p:cNvSpPr txBox="1"/>
          <p:nvPr/>
        </p:nvSpPr>
        <p:spPr>
          <a:xfrm>
            <a:off x="2167377" y="5980837"/>
            <a:ext cx="26822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hlinkClick r:id="rId2"/>
              </a:rPr>
              <a:t>Online compiler</a:t>
            </a:r>
            <a:endParaRPr lang="en-US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249EC0-B1C9-A28C-B9B4-E9E9B316FC9A}"/>
              </a:ext>
            </a:extLst>
          </p:cNvPr>
          <p:cNvSpPr txBox="1"/>
          <p:nvPr/>
        </p:nvSpPr>
        <p:spPr>
          <a:xfrm>
            <a:off x="6611471" y="2662189"/>
            <a:ext cx="8266515" cy="10064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algn="l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stdlib.h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algn="l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#include&lt;unistd.h&gt;</a:t>
            </a:r>
          </a:p>
          <a:p>
            <a:pPr algn="l"/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pPr algn="l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algn="l"/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pid_t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retval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algn="l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retval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fork();</a:t>
            </a:r>
          </a:p>
          <a:p>
            <a:pPr algn="l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retval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== 0)</a:t>
            </a:r>
          </a:p>
          <a:p>
            <a:pPr algn="l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{   // this is the child code</a:t>
            </a:r>
          </a:p>
          <a:p>
            <a:pPr algn="l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 "\n Child Process ID: %d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getpid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pPr algn="l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exit;</a:t>
            </a:r>
          </a:p>
          <a:p>
            <a:pPr algn="l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algn="l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algn="l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{// parent code</a:t>
            </a:r>
          </a:p>
          <a:p>
            <a:pPr algn="l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if 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retval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== -1)</a:t>
            </a:r>
          </a:p>
          <a:p>
            <a:pPr algn="l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{         // fork failed</a:t>
            </a:r>
          </a:p>
          <a:p>
            <a:pPr algn="l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("\n Unable to fork child" );</a:t>
            </a:r>
          </a:p>
          <a:p>
            <a:pPr algn="l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algn="l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else</a:t>
            </a:r>
          </a:p>
          <a:p>
            <a:pPr algn="l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("\n Parent Process ID: %d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getpid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pPr algn="l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algn="l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return 0;</a:t>
            </a:r>
          </a:p>
          <a:p>
            <a:pPr algn="l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9980839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Execl</a:t>
            </a:r>
            <a:r>
              <a:rPr lang="en-US" dirty="0"/>
              <a:t>()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DAF9C75-4554-CF8E-0C5D-F5479CB102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FAD526-8ED8-694A-B316-5E974180FFF6}"/>
              </a:ext>
            </a:extLst>
          </p:cNvPr>
          <p:cNvSpPr txBox="1"/>
          <p:nvPr/>
        </p:nvSpPr>
        <p:spPr>
          <a:xfrm>
            <a:off x="3432314" y="4226510"/>
            <a:ext cx="15998686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3600" dirty="0"/>
              <a:t>The </a:t>
            </a:r>
            <a:r>
              <a:rPr lang="en-US" sz="3600" dirty="0" err="1"/>
              <a:t>execl</a:t>
            </a:r>
            <a:r>
              <a:rPr lang="en-US" sz="3600" dirty="0"/>
              <a:t>() function is part of &lt;</a:t>
            </a:r>
            <a:r>
              <a:rPr lang="en-US" sz="3600" dirty="0" err="1"/>
              <a:t>unistd.h</a:t>
            </a:r>
            <a:r>
              <a:rPr lang="en-US" sz="3600" dirty="0"/>
              <a:t>&gt;.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3600" dirty="0"/>
              <a:t>The function has the following form: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3600" dirty="0"/>
              <a:t>int </a:t>
            </a:r>
            <a:r>
              <a:rPr lang="en-US" sz="3600" dirty="0" err="1"/>
              <a:t>execl</a:t>
            </a:r>
            <a:r>
              <a:rPr lang="en-US" sz="3600" dirty="0"/>
              <a:t>(const char *path, const char *arg0, ..., const char *</a:t>
            </a:r>
            <a:r>
              <a:rPr lang="en-US" sz="3600" dirty="0" err="1"/>
              <a:t>argn</a:t>
            </a:r>
            <a:r>
              <a:rPr lang="en-US" sz="3600" dirty="0"/>
              <a:t>, char * /*NULL*/);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3600" dirty="0"/>
              <a:t>The path points to the name of the file holding the command.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3600" dirty="0"/>
              <a:t>The arg0 argument points to a string the same as the path or at least the last component.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3600" dirty="0"/>
              <a:t>The arg1 ... </a:t>
            </a:r>
            <a:r>
              <a:rPr lang="en-US" sz="3600" dirty="0" err="1"/>
              <a:t>argn</a:t>
            </a:r>
            <a:r>
              <a:rPr lang="en-US" sz="3600" dirty="0"/>
              <a:t> are pointers to arguments for the command. The NULL indicates the end of the argument list.</a:t>
            </a:r>
          </a:p>
          <a:p>
            <a:pPr algn="l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176846085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Execl</a:t>
            </a:r>
            <a:r>
              <a:rPr lang="en-US" dirty="0"/>
              <a:t>()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DAF9C75-4554-CF8E-0C5D-F5479CB102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C57A60-447F-1E71-9E83-420B79C32D93}"/>
              </a:ext>
            </a:extLst>
          </p:cNvPr>
          <p:cNvSpPr txBox="1"/>
          <p:nvPr/>
        </p:nvSpPr>
        <p:spPr>
          <a:xfrm>
            <a:off x="6367346" y="4475435"/>
            <a:ext cx="12409714" cy="8217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pPr algn="l"/>
            <a:r>
              <a:rPr lang="en-US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4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stdlib.h</a:t>
            </a:r>
            <a:r>
              <a:rPr lang="en-US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algn="l"/>
            <a:r>
              <a:rPr lang="en-US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using namespace std;</a:t>
            </a:r>
          </a:p>
          <a:p>
            <a:pPr algn="l"/>
            <a:r>
              <a:rPr lang="en-US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pPr algn="l"/>
            <a:r>
              <a:rPr lang="en-US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algn="l"/>
            <a:r>
              <a:rPr lang="en-US" sz="4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execl</a:t>
            </a:r>
            <a:r>
              <a:rPr lang="en-US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("/</a:t>
            </a:r>
            <a:r>
              <a:rPr lang="en-US" sz="4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usr</a:t>
            </a:r>
            <a:r>
              <a:rPr lang="en-US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/bin/ls", "ls", "-la", 0);</a:t>
            </a:r>
          </a:p>
          <a:p>
            <a:pPr algn="l"/>
            <a:r>
              <a:rPr lang="en-US" sz="4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"done";</a:t>
            </a:r>
          </a:p>
          <a:p>
            <a:pPr algn="l"/>
            <a:r>
              <a:rPr lang="en-US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return 0;</a:t>
            </a:r>
          </a:p>
          <a:p>
            <a:pPr algn="l"/>
            <a:r>
              <a:rPr lang="en-US" sz="4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algn="l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above code will execute the ls program then terminate.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FD3090-964B-36B7-CE97-4AD7C97E1BE8}"/>
              </a:ext>
            </a:extLst>
          </p:cNvPr>
          <p:cNvSpPr txBox="1"/>
          <p:nvPr/>
        </p:nvSpPr>
        <p:spPr>
          <a:xfrm>
            <a:off x="1926772" y="3556967"/>
            <a:ext cx="36801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1500516500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8337-35E9-B8F0-0577-AA8E4DC3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DAF9C75-4554-CF8E-0C5D-F5479CB102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B98FC85-AB76-CFC5-D4ED-B50A93C39C06}"/>
              </a:ext>
            </a:extLst>
          </p:cNvPr>
          <p:cNvSpPr txBox="1">
            <a:spLocks/>
          </p:cNvSpPr>
          <p:nvPr/>
        </p:nvSpPr>
        <p:spPr>
          <a:xfrm>
            <a:off x="2720937" y="3989490"/>
            <a:ext cx="17556480" cy="97865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Open Sans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Stallings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, W. (201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4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). </a:t>
            </a:r>
            <a:r>
              <a:rPr kumimoji="0" lang="id-ID" sz="36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Operating Systems: Internals and Design Principles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. 8</a:t>
            </a:r>
            <a:r>
              <a:rPr kumimoji="0" lang="id-ID" sz="3600" b="0" i="0" u="none" strike="noStrike" kern="1200" cap="none" spc="0" normalizeH="0" baseline="30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th. </a:t>
            </a:r>
            <a:br>
              <a:rPr kumimoji="0" lang="id-ID" sz="3600" b="0" i="0" u="none" strike="noStrike" kern="1200" cap="none" spc="0" normalizeH="0" baseline="30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ISBN: 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 978-0-13-380591-8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Abraham Silberschatz, Peter B. Galvin, Greg Gagne (201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8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). Operating System Concepts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10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th ed.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  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ISBN: 978-1-119-32091-3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A. Tanenbaum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 and H. Bos 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(20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15</a:t>
            </a: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), Modern Operating System,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4th</a:t>
            </a:r>
            <a:endParaRPr kumimoji="0" lang="id-ID" sz="3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  ISBN: 978-0-13-359162-0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id-ID" sz="3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 	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id-ID" sz="3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264977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2683</TotalTime>
  <Words>3657</Words>
  <Application>Microsoft Office PowerPoint</Application>
  <PresentationFormat>Custom</PresentationFormat>
  <Paragraphs>411</Paragraphs>
  <Slides>47</Slides>
  <Notes>7</Notes>
  <HiddenSlides>11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61" baseType="lpstr">
      <vt:lpstr>Open Sans Light</vt:lpstr>
      <vt:lpstr>Times New Roman</vt:lpstr>
      <vt:lpstr>Wingdings</vt:lpstr>
      <vt:lpstr>Open Sans Semibold</vt:lpstr>
      <vt:lpstr>Calibri</vt:lpstr>
      <vt:lpstr> Italic</vt:lpstr>
      <vt:lpstr>Arial</vt:lpstr>
      <vt:lpstr>Open Sans ExtraBold</vt:lpstr>
      <vt:lpstr>Helvetica Neue Medium</vt:lpstr>
      <vt:lpstr>Helvetica Neue</vt:lpstr>
      <vt:lpstr>OCRB</vt:lpstr>
      <vt:lpstr>Courier New</vt:lpstr>
      <vt:lpstr>Open Sans</vt:lpstr>
      <vt:lpstr>21_BasicWhite</vt:lpstr>
      <vt:lpstr>Process Description and Control</vt:lpstr>
      <vt:lpstr>Operating Systems Process Control</vt:lpstr>
      <vt:lpstr>Acknowledgement </vt:lpstr>
      <vt:lpstr>Learning Objectives </vt:lpstr>
      <vt:lpstr>What is a process?</vt:lpstr>
      <vt:lpstr>Process Creation</vt:lpstr>
      <vt:lpstr>Process Creation</vt:lpstr>
      <vt:lpstr>Process Creation</vt:lpstr>
      <vt:lpstr>Process Creation</vt:lpstr>
      <vt:lpstr>Process Creation</vt:lpstr>
      <vt:lpstr>Proces elements</vt:lpstr>
      <vt:lpstr>Two-state process model</vt:lpstr>
      <vt:lpstr>Two-state process model</vt:lpstr>
      <vt:lpstr>Five-state process model</vt:lpstr>
      <vt:lpstr>Swapping</vt:lpstr>
      <vt:lpstr>Swapping</vt:lpstr>
      <vt:lpstr>Swapping</vt:lpstr>
      <vt:lpstr>Suspended processes</vt:lpstr>
      <vt:lpstr>Reasons for suspension</vt:lpstr>
      <vt:lpstr>Reasons for suspension</vt:lpstr>
      <vt:lpstr>Process State diagram with one Suspend States</vt:lpstr>
      <vt:lpstr>Process State diagram with Two Suspend States</vt:lpstr>
      <vt:lpstr>Process state Diagram with suspend</vt:lpstr>
      <vt:lpstr>Process termination</vt:lpstr>
      <vt:lpstr>Process termination</vt:lpstr>
      <vt:lpstr>Process termination</vt:lpstr>
      <vt:lpstr>REASONS FOR process termination</vt:lpstr>
      <vt:lpstr>Process Tables</vt:lpstr>
      <vt:lpstr>Process Tables</vt:lpstr>
      <vt:lpstr>Process Tables</vt:lpstr>
      <vt:lpstr>Process Tables</vt:lpstr>
      <vt:lpstr>Process control block</vt:lpstr>
      <vt:lpstr>Process control block - Example</vt:lpstr>
      <vt:lpstr>discussion</vt:lpstr>
      <vt:lpstr>discussion</vt:lpstr>
      <vt:lpstr>discussion</vt:lpstr>
      <vt:lpstr>discussion</vt:lpstr>
      <vt:lpstr>discussion</vt:lpstr>
      <vt:lpstr>discussion</vt:lpstr>
      <vt:lpstr>discussion</vt:lpstr>
      <vt:lpstr>Mechanisms for Interrupting the Execution of a Process</vt:lpstr>
      <vt:lpstr>Fork()</vt:lpstr>
      <vt:lpstr>Fork()</vt:lpstr>
      <vt:lpstr>Fork()</vt:lpstr>
      <vt:lpstr>Execl()</vt:lpstr>
      <vt:lpstr>Execl()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Fachri Riyanto</dc:creator>
  <cp:lastModifiedBy>Muhammad Ihsan Arief Nurhakim</cp:lastModifiedBy>
  <cp:revision>19</cp:revision>
  <dcterms:created xsi:type="dcterms:W3CDTF">2023-03-03T09:44:40Z</dcterms:created>
  <dcterms:modified xsi:type="dcterms:W3CDTF">2026-10-02T03:41:09Z</dcterms:modified>
</cp:coreProperties>
</file>