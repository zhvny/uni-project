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5"/>
  </p:notesMasterIdLst>
  <p:sldIdLst>
    <p:sldId id="256" r:id="rId2"/>
    <p:sldId id="303" r:id="rId3"/>
    <p:sldId id="337" r:id="rId4"/>
    <p:sldId id="336" r:id="rId5"/>
    <p:sldId id="305" r:id="rId6"/>
    <p:sldId id="338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340" r:id="rId15"/>
    <p:sldId id="339" r:id="rId16"/>
    <p:sldId id="335" r:id="rId17"/>
    <p:sldId id="341" r:id="rId18"/>
    <p:sldId id="342" r:id="rId19"/>
    <p:sldId id="343" r:id="rId20"/>
    <p:sldId id="344" r:id="rId21"/>
    <p:sldId id="345" r:id="rId22"/>
    <p:sldId id="346" r:id="rId23"/>
    <p:sldId id="315" r:id="rId24"/>
  </p:sldIdLst>
  <p:sldSz cx="24384000" cy="13716000"/>
  <p:notesSz cx="6858000" cy="9144000"/>
  <p:embeddedFontLst>
    <p:embeddedFont>
      <p:font typeface="Open Sans Light" panose="020B0604020202020204" charset="0"/>
      <p:regular r:id="rId26"/>
      <p:italic r:id="rId27"/>
    </p:embeddedFont>
    <p:embeddedFont>
      <p:font typeface="Open Sans" panose="020B0604020202020204" charset="0"/>
      <p:regular r:id="rId28"/>
      <p:bold r:id="rId29"/>
      <p:italic r:id="rId30"/>
      <p:boldItalic r:id="rId31"/>
    </p:embeddedFont>
    <p:embeddedFont>
      <p:font typeface="Open Sans ExtraBold" panose="020B0604020202020204" charset="0"/>
      <p:bold r:id="rId32"/>
      <p:italic r:id="rId33"/>
      <p:boldItalic r:id="rId34"/>
    </p:embeddedFont>
    <p:embeddedFont>
      <p:font typeface="Aptos" panose="020B0004020202020204" pitchFamily="34" charset="0"/>
      <p:regular r:id="rId35"/>
      <p:bold r:id="rId36"/>
      <p:italic r:id="rId37"/>
      <p:boldItalic r:id="rId38"/>
    </p:embeddedFont>
    <p:embeddedFont>
      <p:font typeface="OCRB" panose="020B0604020202020204" charset="0"/>
      <p:regular r:id="rId39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DAFF"/>
    <a:srgbClr val="FFE1F0"/>
    <a:srgbClr val="E5F5FF"/>
    <a:srgbClr val="B7BCC6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81" autoAdjust="0"/>
    <p:restoredTop sz="95274" autoAdjust="0"/>
  </p:normalViewPr>
  <p:slideViewPr>
    <p:cSldViewPr snapToGrid="0" snapToObjects="1">
      <p:cViewPr varScale="1">
        <p:scale>
          <a:sx n="42" d="100"/>
          <a:sy n="42" d="100"/>
        </p:scale>
        <p:origin x="595" y="58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1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COMP6697001-Operating Systems</a:t>
            </a:r>
          </a:p>
          <a:p>
            <a:r>
              <a:rPr lang="en-US" dirty="0"/>
              <a:t>Session </a:t>
            </a:r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Process Scheduling 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7722" y="11538583"/>
            <a:ext cx="5168556" cy="745888"/>
          </a:xfrm>
        </p:spPr>
        <p:txBody>
          <a:bodyPr/>
          <a:lstStyle/>
          <a:p>
            <a:r>
              <a:rPr lang="en-US" dirty="0"/>
              <a:t>Dr. Zulfany Erlisa Rasjid </a:t>
            </a:r>
            <a:r>
              <a:rPr lang="en-US" dirty="0" err="1"/>
              <a:t>B.Sc.,MMSI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Discussion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207710" y="2841552"/>
            <a:ext cx="1165415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b="1" i="1">
                <a:solidFill>
                  <a:srgbClr val="FF0000"/>
                </a:solidFill>
                <a:latin typeface="Aptos" panose="020B0004020202020204" pitchFamily="34" charset="0"/>
              </a:rPr>
              <a:t>Who sets up/manages your laptops?</a:t>
            </a:r>
          </a:p>
        </p:txBody>
      </p:sp>
      <p:sp>
        <p:nvSpPr>
          <p:cNvPr id="6" name="Rectangle 5"/>
          <p:cNvSpPr/>
          <p:nvPr/>
        </p:nvSpPr>
        <p:spPr>
          <a:xfrm>
            <a:off x="2555271" y="4224095"/>
            <a:ext cx="181030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3600">
                <a:solidFill>
                  <a:srgbClr val="C00000"/>
                </a:solidFill>
                <a:latin typeface="Aptos" panose="020B0004020202020204" pitchFamily="34" charset="0"/>
              </a:rPr>
              <a:t>Bagaimana komputer </a:t>
            </a:r>
            <a:r>
              <a:rPr lang="en-US" sz="3600" smtClean="0">
                <a:solidFill>
                  <a:srgbClr val="C00000"/>
                </a:solidFill>
                <a:latin typeface="Aptos" panose="020B0004020202020204" pitchFamily="34" charset="0"/>
              </a:rPr>
              <a:t>bisa membagi </a:t>
            </a:r>
            <a:r>
              <a:rPr lang="en-US" sz="3600">
                <a:solidFill>
                  <a:srgbClr val="C00000"/>
                </a:solidFill>
                <a:latin typeface="Aptos" panose="020B0004020202020204" pitchFamily="34" charset="0"/>
              </a:rPr>
              <a:t>waktu untuk melayani semua aktivitas </a:t>
            </a:r>
            <a:r>
              <a:rPr lang="en-US" sz="3600" smtClean="0">
                <a:solidFill>
                  <a:srgbClr val="C00000"/>
                </a:solidFill>
                <a:latin typeface="Aptos" panose="020B0004020202020204" pitchFamily="34" charset="0"/>
              </a:rPr>
              <a:t>teman-teman?</a:t>
            </a:r>
            <a:endParaRPr lang="en-US" sz="3600">
              <a:solidFill>
                <a:srgbClr val="C00000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Straight Arrow Connector 7"/>
          <p:cNvCxnSpPr>
            <a:stCxn id="4" idx="1"/>
            <a:endCxn id="6" idx="1"/>
          </p:cNvCxnSpPr>
          <p:nvPr/>
        </p:nvCxnSpPr>
        <p:spPr>
          <a:xfrm rot="10800000" flipH="1" flipV="1">
            <a:off x="1207709" y="3303217"/>
            <a:ext cx="1347561" cy="1244044"/>
          </a:xfrm>
          <a:prstGeom prst="bentConnector3">
            <a:avLst>
              <a:gd name="adj1" fmla="val -16964"/>
            </a:avLst>
          </a:prstGeom>
          <a:noFill/>
          <a:ln w="381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Rectangle 8"/>
          <p:cNvSpPr/>
          <p:nvPr/>
        </p:nvSpPr>
        <p:spPr>
          <a:xfrm>
            <a:off x="1771129" y="5606566"/>
            <a:ext cx="908444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smtClean="0">
                <a:solidFill>
                  <a:srgbClr val="FF0000"/>
                </a:solidFill>
                <a:latin typeface="Aptos" panose="020B0004020202020204" pitchFamily="34" charset="0"/>
              </a:rPr>
              <a:t>Analogi :</a:t>
            </a:r>
          </a:p>
          <a:p>
            <a:pPr algn="just">
              <a:lnSpc>
                <a:spcPct val="150000"/>
              </a:lnSpc>
            </a:pP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Saat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kuliah, kalian menjalankan beberapa aktivitas sekaligus: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Mengikuti kelas melalui Zoom.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Membuka browser untuk mencari materi.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Mengetik catatan.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Mengunduh file.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Menjalankan pemindaian antivirus.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938786" y="5207647"/>
            <a:ext cx="1580115" cy="6862433"/>
            <a:chOff x="14807184" y="5508755"/>
            <a:chExt cx="3170812" cy="4701411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0" name="Rectangle 9"/>
            <p:cNvSpPr/>
            <p:nvPr/>
          </p:nvSpPr>
          <p:spPr>
            <a:xfrm>
              <a:off x="14959585" y="5508755"/>
              <a:ext cx="3018411" cy="300386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4959585" y="9909780"/>
              <a:ext cx="3018411" cy="300386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4807184" y="5508755"/>
              <a:ext cx="868527" cy="4699928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4" name="Rectangle 13"/>
          <p:cNvSpPr/>
          <p:nvPr/>
        </p:nvSpPr>
        <p:spPr>
          <a:xfrm>
            <a:off x="12216384" y="6564685"/>
            <a:ext cx="11893296" cy="30469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Contoh: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Ketika </a:t>
            </a:r>
            <a:r>
              <a:rPr 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antivirus sedang bekerja, apakah kalian harus menunggu pemindaiannya selesai dahulu sebelum bisa mengetik</a:t>
            </a:r>
            <a:r>
              <a:rPr 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?</a:t>
            </a:r>
            <a:endParaRPr lang="en-US" sz="3200" b="1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64977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Discussion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207710" y="2841552"/>
            <a:ext cx="1165415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b="1" i="1">
                <a:solidFill>
                  <a:srgbClr val="FF0000"/>
                </a:solidFill>
                <a:latin typeface="Aptos" panose="020B0004020202020204" pitchFamily="34" charset="0"/>
              </a:rPr>
              <a:t>Who sets up/manages your laptops?</a:t>
            </a:r>
          </a:p>
        </p:txBody>
      </p:sp>
      <p:sp>
        <p:nvSpPr>
          <p:cNvPr id="6" name="Rectangle 5"/>
          <p:cNvSpPr/>
          <p:nvPr/>
        </p:nvSpPr>
        <p:spPr>
          <a:xfrm>
            <a:off x="2555270" y="4224095"/>
            <a:ext cx="15768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600">
                <a:solidFill>
                  <a:srgbClr val="C00000"/>
                </a:solidFill>
                <a:latin typeface="Aptos" panose="020B0004020202020204" pitchFamily="34" charset="0"/>
              </a:rPr>
              <a:t>Haruskah satu proses selesai sebelum yang lain mendapat giliran?</a:t>
            </a:r>
          </a:p>
        </p:txBody>
      </p:sp>
      <p:cxnSp>
        <p:nvCxnSpPr>
          <p:cNvPr id="8" name="Straight Arrow Connector 7"/>
          <p:cNvCxnSpPr>
            <a:stCxn id="4" idx="1"/>
            <a:endCxn id="6" idx="1"/>
          </p:cNvCxnSpPr>
          <p:nvPr/>
        </p:nvCxnSpPr>
        <p:spPr>
          <a:xfrm rot="10800000" flipH="1" flipV="1">
            <a:off x="1207709" y="3303217"/>
            <a:ext cx="1347561" cy="1244044"/>
          </a:xfrm>
          <a:prstGeom prst="bentConnector3">
            <a:avLst>
              <a:gd name="adj1" fmla="val -16964"/>
            </a:avLst>
          </a:prstGeom>
          <a:noFill/>
          <a:ln w="381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Rectangle 8"/>
          <p:cNvSpPr/>
          <p:nvPr/>
        </p:nvSpPr>
        <p:spPr>
          <a:xfrm>
            <a:off x="1771129" y="5606566"/>
            <a:ext cx="9084440" cy="19620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700" b="1" smtClean="0">
                <a:solidFill>
                  <a:srgbClr val="FF0000"/>
                </a:solidFill>
                <a:latin typeface="Aptos" panose="020B0004020202020204" pitchFamily="34" charset="0"/>
              </a:rPr>
              <a:t>Bayangkan ada 3 proses: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7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Proses A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7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Proses B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7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Proses C</a:t>
            </a:r>
            <a:endParaRPr lang="en-US" sz="27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938786" y="5207647"/>
            <a:ext cx="1580115" cy="6862433"/>
            <a:chOff x="14807184" y="5508755"/>
            <a:chExt cx="3170812" cy="4701411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0" name="Rectangle 9"/>
            <p:cNvSpPr/>
            <p:nvPr/>
          </p:nvSpPr>
          <p:spPr>
            <a:xfrm>
              <a:off x="14959585" y="5508755"/>
              <a:ext cx="3018411" cy="300386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4959585" y="9909780"/>
              <a:ext cx="3018411" cy="300386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4807184" y="5508755"/>
              <a:ext cx="868527" cy="4699928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4" name="Rectangle 13"/>
          <p:cNvSpPr/>
          <p:nvPr/>
        </p:nvSpPr>
        <p:spPr>
          <a:xfrm>
            <a:off x="9107424" y="5929731"/>
            <a:ext cx="11362944" cy="14986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Aturan mana yang membuat semua proses lebih cepat memperoleh kesempatan </a:t>
            </a:r>
            <a:r>
              <a:rPr 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untuk di eksekusi?</a:t>
            </a:r>
            <a:endParaRPr lang="en-US" sz="3200" b="1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66816" y="7711500"/>
            <a:ext cx="6965704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7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Di CPU ada (misal) dua </a:t>
            </a:r>
            <a:r>
              <a:rPr lang="en-US" sz="27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pilihan aturan: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Proses A </a:t>
            </a:r>
            <a:r>
              <a:rPr lang="en-US" sz="27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memakai CPU sampai selesai.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Atau setiap </a:t>
            </a:r>
            <a:r>
              <a:rPr lang="en-US" sz="27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proses mendapat giliran maksimal 1 ms, kemudian bergantian jika masih ada proses lain yang </a:t>
            </a:r>
            <a:r>
              <a:rPr lang="en-US" sz="27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siap (proses B dan C).</a:t>
            </a:r>
            <a:endParaRPr lang="en-US" sz="27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89949" y="9738794"/>
            <a:ext cx="930226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sv-SE" sz="4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Saat kalian mengetik sambil menjalankan pekerjaan berat, mana yang lebih terasa: </a:t>
            </a:r>
            <a:endParaRPr lang="sv-SE" sz="40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742950" indent="-742950" algn="just">
              <a:buFont typeface="+mj-lt"/>
              <a:buAutoNum type="arabicPeriod"/>
            </a:pPr>
            <a:r>
              <a:rPr lang="sv-SE" sz="4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Pekerjaan </a:t>
            </a:r>
            <a:r>
              <a:rPr lang="sv-SE" sz="4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berat selesai sedikit lebih cepat atau </a:t>
            </a:r>
            <a:endParaRPr lang="sv-SE" sz="40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742950" indent="-742950" algn="just">
              <a:buFont typeface="+mj-lt"/>
              <a:buAutoNum type="arabicPeriod"/>
            </a:pPr>
            <a:r>
              <a:rPr lang="sv-SE" sz="4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Ketikan teman-teman segera muncul pada layar?</a:t>
            </a:r>
            <a:endParaRPr lang="en-US" sz="40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2211" y="9375089"/>
            <a:ext cx="4336457" cy="4336457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0057843" y="9893980"/>
            <a:ext cx="432814" cy="2404482"/>
          </a:xfrm>
          <a:prstGeom prst="rect">
            <a:avLst/>
          </a:prstGeom>
          <a:solidFill>
            <a:srgbClr val="C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9000111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377696" y="3130588"/>
            <a:ext cx="21793200" cy="16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1">
                    <a:lumMod val="50000"/>
                  </a:schemeClr>
                </a:solidFill>
              </a:rPr>
              <a:t>Scheduling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di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dalam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sistem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operasi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adalah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proses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pengaturan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dan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pengelolaan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waktu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eksekusi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berbagai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tugas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atau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proses yang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dijalankan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oleh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CPU (Central Processing Unit)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7696" y="5822728"/>
            <a:ext cx="217932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 err="1">
                <a:solidFill>
                  <a:schemeClr val="tx1">
                    <a:lumMod val="50000"/>
                  </a:schemeClr>
                </a:solidFill>
              </a:rPr>
              <a:t>Tujuan</a:t>
            </a:r>
            <a:r>
              <a:rPr lang="en-US" sz="36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tx1">
                    <a:lumMod val="50000"/>
                  </a:schemeClr>
                </a:solidFill>
              </a:rPr>
              <a:t>utama</a:t>
            </a:r>
            <a:r>
              <a:rPr lang="en-US" sz="36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dari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scheduling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adalah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untuk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tx1">
                    <a:lumMod val="50000"/>
                  </a:schemeClr>
                </a:solidFill>
              </a:rPr>
              <a:t>memastikan</a:t>
            </a:r>
            <a:r>
              <a:rPr lang="en-US" sz="36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tx1">
                    <a:lumMod val="50000"/>
                  </a:schemeClr>
                </a:solidFill>
              </a:rPr>
              <a:t>bahwa</a:t>
            </a:r>
            <a:r>
              <a:rPr lang="en-US" sz="36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tx1">
                    <a:lumMod val="50000"/>
                  </a:schemeClr>
                </a:solidFill>
              </a:rPr>
              <a:t>sumber</a:t>
            </a:r>
            <a:r>
              <a:rPr lang="en-US" sz="36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tx1">
                    <a:lumMod val="50000"/>
                  </a:schemeClr>
                </a:solidFill>
              </a:rPr>
              <a:t>daya</a:t>
            </a:r>
            <a:r>
              <a:rPr lang="en-US" sz="36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tx1">
                    <a:lumMod val="50000"/>
                  </a:schemeClr>
                </a:solidFill>
              </a:rPr>
              <a:t>sistem</a:t>
            </a:r>
            <a:r>
              <a:rPr lang="en-US" sz="3600" b="1" dirty="0">
                <a:solidFill>
                  <a:schemeClr val="tx1">
                    <a:lumMod val="50000"/>
                  </a:schemeClr>
                </a:solidFill>
              </a:rPr>
              <a:t> (</a:t>
            </a:r>
            <a:r>
              <a:rPr lang="en-US" sz="3600" b="1" dirty="0" err="1">
                <a:solidFill>
                  <a:schemeClr val="tx1">
                    <a:lumMod val="50000"/>
                  </a:schemeClr>
                </a:solidFill>
              </a:rPr>
              <a:t>terutama</a:t>
            </a:r>
            <a:r>
              <a:rPr lang="en-US" sz="3600" b="1" dirty="0">
                <a:solidFill>
                  <a:schemeClr val="tx1">
                    <a:lumMod val="50000"/>
                  </a:schemeClr>
                </a:solidFill>
              </a:rPr>
              <a:t> CPU) </a:t>
            </a:r>
            <a:r>
              <a:rPr lang="en-US" sz="3600" b="1" dirty="0" err="1">
                <a:solidFill>
                  <a:schemeClr val="tx1">
                    <a:lumMod val="50000"/>
                  </a:schemeClr>
                </a:solidFill>
              </a:rPr>
              <a:t>digunakan</a:t>
            </a:r>
            <a:r>
              <a:rPr lang="en-US" sz="36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tx1">
                    <a:lumMod val="50000"/>
                  </a:schemeClr>
                </a:solidFill>
              </a:rPr>
              <a:t>secara</a:t>
            </a:r>
            <a:r>
              <a:rPr lang="en-US" sz="36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tx1">
                    <a:lumMod val="50000"/>
                  </a:schemeClr>
                </a:solidFill>
              </a:rPr>
              <a:t>efisien</a:t>
            </a:r>
            <a:r>
              <a:rPr lang="en-US" sz="3600" b="1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lang="en-US" sz="3600" b="1" dirty="0" err="1">
                <a:solidFill>
                  <a:schemeClr val="tx1">
                    <a:lumMod val="50000"/>
                  </a:schemeClr>
                </a:solidFill>
              </a:rPr>
              <a:t>adil</a:t>
            </a:r>
            <a:r>
              <a:rPr lang="en-US" sz="3600" b="1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lang="en-US" sz="3600" b="1" dirty="0" err="1">
                <a:solidFill>
                  <a:schemeClr val="tx1">
                    <a:lumMod val="50000"/>
                  </a:schemeClr>
                </a:solidFill>
              </a:rPr>
              <a:t>dan</a:t>
            </a:r>
            <a:r>
              <a:rPr lang="en-US" sz="3600" b="1" dirty="0">
                <a:solidFill>
                  <a:schemeClr val="tx1">
                    <a:lumMod val="50000"/>
                  </a:schemeClr>
                </a:solidFill>
              </a:rPr>
              <a:t> optimal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serta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untuk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memastikan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bahwa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sistem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dapat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merespons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kebutuhan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pengguna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dan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proses yang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berbeda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secara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tepat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waktu</a:t>
            </a:r>
            <a:endParaRPr lang="en-US" sz="36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4932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Scheduling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322832" y="2567660"/>
            <a:ext cx="21811488" cy="1006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Beberapa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tugas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utama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dari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scheduling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dalam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sistem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operasi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 smtClean="0">
                <a:solidFill>
                  <a:schemeClr val="tx1">
                    <a:lumMod val="50000"/>
                  </a:schemeClr>
                </a:solidFill>
              </a:rPr>
              <a:t>meliputi</a:t>
            </a:r>
            <a:r>
              <a:rPr lang="en-US" sz="3600" dirty="0" smtClean="0">
                <a:solidFill>
                  <a:schemeClr val="tx1">
                    <a:lumMod val="50000"/>
                  </a:schemeClr>
                </a:solidFill>
              </a:rPr>
              <a:t>:</a:t>
            </a:r>
          </a:p>
          <a:p>
            <a:pPr marL="742950" indent="-7429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b="1" dirty="0" err="1" smtClean="0">
                <a:solidFill>
                  <a:schemeClr val="tx1">
                    <a:lumMod val="50000"/>
                  </a:schemeClr>
                </a:solidFill>
              </a:rPr>
              <a:t>Menentukan</a:t>
            </a:r>
            <a:r>
              <a:rPr lang="en-US" sz="3600" b="1" dirty="0" smtClean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tx1">
                    <a:lumMod val="50000"/>
                  </a:schemeClr>
                </a:solidFill>
              </a:rPr>
              <a:t>Urutan</a:t>
            </a:r>
            <a:r>
              <a:rPr lang="en-US" sz="36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tx1">
                    <a:lumMod val="50000"/>
                  </a:schemeClr>
                </a:solidFill>
              </a:rPr>
              <a:t>Eksekusi</a:t>
            </a:r>
            <a:r>
              <a:rPr lang="en-US" sz="3600" b="1" dirty="0">
                <a:solidFill>
                  <a:schemeClr val="tx1">
                    <a:lumMod val="50000"/>
                  </a:schemeClr>
                </a:solidFill>
              </a:rPr>
              <a:t> Proses: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Scheduling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menentukan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proses mana yang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akan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dijalankan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selanjutnya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ketika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ada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lebih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dari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satu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proses yang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siap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untuk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 smtClean="0">
                <a:solidFill>
                  <a:schemeClr val="tx1">
                    <a:lumMod val="50000"/>
                  </a:schemeClr>
                </a:solidFill>
              </a:rPr>
              <a:t>dieksekusi</a:t>
            </a:r>
            <a:r>
              <a:rPr lang="en-US" sz="3600" dirty="0" smtClean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pPr marL="742950" indent="-7429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b="1" dirty="0" err="1" smtClean="0">
                <a:solidFill>
                  <a:schemeClr val="tx1">
                    <a:lumMod val="50000"/>
                  </a:schemeClr>
                </a:solidFill>
              </a:rPr>
              <a:t>Memaksimalkan</a:t>
            </a:r>
            <a:r>
              <a:rPr lang="en-US" sz="3600" b="1" dirty="0" smtClean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tx1">
                    <a:lumMod val="50000"/>
                  </a:schemeClr>
                </a:solidFill>
              </a:rPr>
              <a:t>Penggunaan</a:t>
            </a:r>
            <a:r>
              <a:rPr lang="en-US" sz="3600" b="1" dirty="0">
                <a:solidFill>
                  <a:schemeClr val="tx1">
                    <a:lumMod val="50000"/>
                  </a:schemeClr>
                </a:solidFill>
              </a:rPr>
              <a:t> CPU: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Scheduling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berusaha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meminimalkan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waktu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idle CPU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sehingga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proses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dapat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dieksekusi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seefisien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 smtClean="0">
                <a:solidFill>
                  <a:schemeClr val="tx1">
                    <a:lumMod val="50000"/>
                  </a:schemeClr>
                </a:solidFill>
              </a:rPr>
              <a:t>mungkin</a:t>
            </a:r>
            <a:r>
              <a:rPr lang="en-US" sz="3600" dirty="0" smtClean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pPr marL="742950" indent="-7429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b="1" dirty="0" err="1" smtClean="0">
                <a:solidFill>
                  <a:schemeClr val="tx1">
                    <a:lumMod val="50000"/>
                  </a:schemeClr>
                </a:solidFill>
              </a:rPr>
              <a:t>Memastikan</a:t>
            </a:r>
            <a:r>
              <a:rPr lang="en-US" sz="3600" b="1" dirty="0" smtClean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b="1" dirty="0">
                <a:solidFill>
                  <a:schemeClr val="tx1">
                    <a:lumMod val="50000"/>
                  </a:schemeClr>
                </a:solidFill>
              </a:rPr>
              <a:t>Fairness: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Sistem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operasi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mencoba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untuk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memberikan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alokasi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waktu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CPU yang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adil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bagi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semua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proses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sehingga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tidak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ada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proses yang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terlalu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lama </a:t>
            </a:r>
            <a:r>
              <a:rPr lang="en-US" sz="3600" dirty="0" err="1" smtClean="0">
                <a:solidFill>
                  <a:schemeClr val="tx1">
                    <a:lumMod val="50000"/>
                  </a:schemeClr>
                </a:solidFill>
              </a:rPr>
              <a:t>menunggu</a:t>
            </a:r>
            <a:r>
              <a:rPr lang="en-US" sz="3600" dirty="0" smtClean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pPr marL="742950" indent="-7429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b="1" dirty="0" err="1" smtClean="0">
                <a:solidFill>
                  <a:schemeClr val="tx1">
                    <a:lumMod val="50000"/>
                  </a:schemeClr>
                </a:solidFill>
              </a:rPr>
              <a:t>Meningkatkan</a:t>
            </a:r>
            <a:r>
              <a:rPr lang="en-US" sz="3600" b="1" dirty="0" smtClean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tx1">
                    <a:lumMod val="50000"/>
                  </a:schemeClr>
                </a:solidFill>
              </a:rPr>
              <a:t>Responsifitas</a:t>
            </a:r>
            <a:r>
              <a:rPr lang="en-US" sz="3600" b="1" dirty="0">
                <a:solidFill>
                  <a:schemeClr val="tx1">
                    <a:lumMod val="50000"/>
                  </a:schemeClr>
                </a:solidFill>
              </a:rPr>
              <a:t>: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Scheduling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membantu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memastikan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bahwa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proses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interaktif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(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seperti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aplikasi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pengguna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)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dapat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merespons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input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secara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cepat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58814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Scheduling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322832" y="2567660"/>
            <a:ext cx="21811488" cy="1264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4400" u="sng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Jadi intinya kita belajar memahami apa itu </a:t>
            </a:r>
            <a:r>
              <a:rPr lang="en-US" sz="4400" b="1" u="sng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scheduling </a:t>
            </a:r>
            <a:r>
              <a:rPr lang="en-US" sz="4400" u="sng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adalah</a:t>
            </a:r>
          </a:p>
        </p:txBody>
      </p:sp>
      <p:sp>
        <p:nvSpPr>
          <p:cNvPr id="3" name="Rectangle 2"/>
          <p:cNvSpPr/>
          <p:nvPr/>
        </p:nvSpPr>
        <p:spPr>
          <a:xfrm>
            <a:off x="1322832" y="4338660"/>
            <a:ext cx="21811488" cy="67403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685800" indent="-6858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54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Karena </a:t>
            </a:r>
            <a:r>
              <a:rPr lang="en-US" sz="54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banyak proses membutuhkan CPU, sementara kapasitas CPU terbatas.</a:t>
            </a:r>
            <a:r>
              <a:rPr lang="en-US" sz="54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</a:p>
          <a:p>
            <a:pPr marL="685800" indent="-6858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54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Dan Sistem </a:t>
            </a:r>
            <a:r>
              <a:rPr lang="en-US" sz="54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operasi harus mengatur proses mana yang berjalan, kapan, dan berapa lama mendapat giliran.</a:t>
            </a:r>
            <a:endParaRPr lang="en-US" sz="54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29888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Jenis Scheduling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67016"/>
              </p:ext>
            </p:extLst>
          </p:nvPr>
        </p:nvGraphicFramePr>
        <p:xfrm>
          <a:off x="721985" y="2935562"/>
          <a:ext cx="23006696" cy="9061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10135">
                  <a:extLst>
                    <a:ext uri="{9D8B030D-6E8A-4147-A177-3AD203B41FA5}">
                      <a16:colId xmlns:a16="http://schemas.microsoft.com/office/drawing/2014/main" val="2345933925"/>
                    </a:ext>
                  </a:extLst>
                </a:gridCol>
                <a:gridCol w="12070080">
                  <a:extLst>
                    <a:ext uri="{9D8B030D-6E8A-4147-A177-3AD203B41FA5}">
                      <a16:colId xmlns:a16="http://schemas.microsoft.com/office/drawing/2014/main" val="3230906646"/>
                    </a:ext>
                  </a:extLst>
                </a:gridCol>
                <a:gridCol w="6126481">
                  <a:extLst>
                    <a:ext uri="{9D8B030D-6E8A-4147-A177-3AD203B41FA5}">
                      <a16:colId xmlns:a16="http://schemas.microsoft.com/office/drawing/2014/main" val="2856065923"/>
                    </a:ext>
                  </a:extLst>
                </a:gridCol>
              </a:tblGrid>
              <a:tr h="758614">
                <a:tc>
                  <a:txBody>
                    <a:bodyPr/>
                    <a:lstStyle/>
                    <a:p>
                      <a:r>
                        <a:rPr lang="en-US" sz="3200" b="1" smtClean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Jenis</a:t>
                      </a:r>
                      <a:r>
                        <a:rPr lang="en-US" sz="3200" b="1" baseline="0" smtClean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 Scheduling</a:t>
                      </a:r>
                      <a:endParaRPr lang="en-US" sz="3200" b="1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smtClean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Definisi</a:t>
                      </a:r>
                      <a:endParaRPr lang="en-US" sz="3200" b="1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smtClean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Tujuan Utama</a:t>
                      </a:r>
                      <a:endParaRPr lang="en-US" sz="3200" b="1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697792"/>
                  </a:ext>
                </a:extLst>
              </a:tr>
              <a:tr h="2776962">
                <a:tc>
                  <a:txBody>
                    <a:bodyPr/>
                    <a:lstStyle/>
                    <a:p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Long</a:t>
                      </a:r>
                      <a:r>
                        <a:rPr lang="en-US" sz="2400" b="1" baseline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term scheduling</a:t>
                      </a:r>
                      <a:endParaRPr lang="en-US" sz="2400" b="1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Menentukan proses mana yang </a:t>
                      </a:r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boleh masuk ke sistem</a:t>
                      </a: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 untuk dikerjakan. 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Bisa diibaratkan seperti penjaga gerbang yang mengatur berapa banyak proses yang boleh “mendaftar” ke sistem.</a:t>
                      </a:r>
                      <a:endParaRPr lang="en-US" sz="2400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Mengatur </a:t>
                      </a:r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jumlah proses</a:t>
                      </a: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 yang aktif di sistem agar CPU tidak terlalu penuh</a:t>
                      </a:r>
                      <a:endParaRPr lang="en-US" sz="2400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0136135"/>
                  </a:ext>
                </a:extLst>
              </a:tr>
              <a:tr h="1993392">
                <a:tc>
                  <a:txBody>
                    <a:bodyPr/>
                    <a:lstStyle/>
                    <a:p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Medium</a:t>
                      </a:r>
                      <a:r>
                        <a:rPr lang="en-US" sz="2400" b="1" baseline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term scheduling</a:t>
                      </a:r>
                      <a:endParaRPr lang="en-US" sz="2400" b="1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Mengatur proses mana yang </a:t>
                      </a:r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tetap berada di memori utama (RAM)</a:t>
                      </a: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 dan mana yang </a:t>
                      </a:r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sementara disimpan di disk (swap).</a:t>
                      </a:r>
                      <a:endParaRPr lang="en-US" sz="2400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nn-NO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Mengelola </a:t>
                      </a:r>
                      <a:r>
                        <a:rPr lang="nn-NO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penggunaan memori</a:t>
                      </a:r>
                      <a:r>
                        <a:rPr lang="nn-NO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 agar tidak penuh dan tetap efisien.</a:t>
                      </a:r>
                      <a:endParaRPr lang="en-US" sz="2400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6808553"/>
                  </a:ext>
                </a:extLst>
              </a:tr>
              <a:tr h="1444752">
                <a:tc>
                  <a:txBody>
                    <a:bodyPr/>
                    <a:lstStyle/>
                    <a:p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Short</a:t>
                      </a:r>
                      <a:r>
                        <a:rPr lang="en-US" sz="2400" b="1" baseline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term scheduling</a:t>
                      </a:r>
                      <a:endParaRPr lang="en-US" sz="2400" b="1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Memilih proses mana yang </a:t>
                      </a:r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akan dijalankan oleh CPU</a:t>
                      </a: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 dari daftar proses yang siap (</a:t>
                      </a:r>
                      <a:r>
                        <a:rPr lang="en-US" sz="240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ready queue</a:t>
                      </a: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).</a:t>
                      </a:r>
                      <a:endParaRPr lang="en-US" sz="2400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Mengatur </a:t>
                      </a:r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urutan proses</a:t>
                      </a: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 yang menggunakan CPU.</a:t>
                      </a:r>
                      <a:endParaRPr lang="en-US" sz="2400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4893239"/>
                  </a:ext>
                </a:extLst>
              </a:tr>
              <a:tr h="2088000">
                <a:tc>
                  <a:txBody>
                    <a:bodyPr/>
                    <a:lstStyle/>
                    <a:p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I/O scheduling</a:t>
                      </a:r>
                      <a:endParaRPr lang="en-US" sz="2400" b="1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Mengatur proses mana yang </a:t>
                      </a:r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akan dilayani oleh perangkat input/output</a:t>
                      </a: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 (seperti disk, printer, atau jaringan).</a:t>
                      </a:r>
                      <a:endParaRPr lang="en-US" sz="2400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Menjadwalkan </a:t>
                      </a:r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permintaan I/O</a:t>
                      </a: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 agar berjalan cepat dan efisien.</a:t>
                      </a:r>
                      <a:endParaRPr lang="en-US" sz="2400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6660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158024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The Role of Various Types of Scheduling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35152" y="3373871"/>
            <a:ext cx="5454779" cy="2630739"/>
          </a:xfrm>
          <a:prstGeom prst="roundRect">
            <a:avLst>
              <a:gd name="adj" fmla="val 12766"/>
            </a:avLst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36320" y="3574128"/>
            <a:ext cx="5013091" cy="784939"/>
          </a:xfrm>
          <a:prstGeom prst="roundRect">
            <a:avLst>
              <a:gd name="adj" fmla="val 41963"/>
            </a:avLst>
          </a:prstGeom>
          <a:solidFill>
            <a:schemeClr val="accent1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spc="0" normalizeH="0" baseline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rPr>
              <a:t>Long Term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44881" y="4586356"/>
            <a:ext cx="5162170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Memilih proses baru yang diterima untuk dieksekusi serta mengendalikan jumlah proses dalam sistem</a:t>
            </a:r>
            <a:endParaRPr kumimoji="0" lang="en-US" b="0" i="0" u="none" strike="noStrike" cap="none" spc="0" normalizeH="0" baseline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Aptos" panose="020B0004020202020204" pitchFamily="34" charset="0"/>
              <a:sym typeface="Helvetica Neue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107346" y="5762986"/>
            <a:ext cx="5124424" cy="2667782"/>
          </a:xfrm>
          <a:prstGeom prst="roundRect">
            <a:avLst>
              <a:gd name="adj" fmla="val 12766"/>
            </a:avLst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21017" y="6004610"/>
            <a:ext cx="4502249" cy="702206"/>
          </a:xfrm>
          <a:prstGeom prst="roundRect">
            <a:avLst>
              <a:gd name="adj" fmla="val 41963"/>
            </a:avLst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b="1" smtClean="0">
                <a:solidFill>
                  <a:schemeClr val="tx1">
                    <a:lumMod val="50000"/>
                  </a:schemeClr>
                </a:solidFill>
                <a:ea typeface="Helvetica Neue Medium"/>
                <a:cs typeface="Helvetica Neue Medium"/>
                <a:sym typeface="Helvetica Neue Medium"/>
              </a:rPr>
              <a:t>Medium</a:t>
            </a:r>
            <a:r>
              <a:rPr kumimoji="0" lang="en-US" sz="3200" b="1" i="0" u="none" strike="noStrike" cap="none" spc="0" normalizeH="0" baseline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rPr>
              <a:t> Term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34928" y="6769234"/>
            <a:ext cx="4528124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Menangguhkan dan mengaktifkan kembali proses, misalnya melalui </a:t>
            </a:r>
            <a:r>
              <a:rPr lang="en-US" b="1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swap out/in</a:t>
            </a:r>
            <a:r>
              <a:rPr lang="en-US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untuk membantu pengelolaan memori.</a:t>
            </a:r>
            <a:endParaRPr kumimoji="0" lang="en-US" b="0" i="0" u="none" strike="noStrike" cap="none" spc="0" normalizeH="0" baseline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Aptos" panose="020B0004020202020204" pitchFamily="34" charset="0"/>
              <a:sym typeface="Helvetica Neue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2880410" y="8288439"/>
            <a:ext cx="4983289" cy="2389115"/>
          </a:xfrm>
          <a:prstGeom prst="roundRect">
            <a:avLst>
              <a:gd name="adj" fmla="val 12766"/>
            </a:avLst>
          </a:prstGeom>
          <a:solidFill>
            <a:schemeClr val="accent3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3120930" y="8530062"/>
            <a:ext cx="4502249" cy="702206"/>
          </a:xfrm>
          <a:prstGeom prst="roundRect">
            <a:avLst>
              <a:gd name="adj" fmla="val 41963"/>
            </a:avLst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b="1" smtClean="0">
                <a:solidFill>
                  <a:schemeClr val="tx1">
                    <a:lumMod val="50000"/>
                  </a:schemeClr>
                </a:solidFill>
                <a:ea typeface="Helvetica Neue Medium"/>
                <a:cs typeface="Helvetica Neue Medium"/>
                <a:sym typeface="Helvetica Neue Medium"/>
              </a:rPr>
              <a:t>Short</a:t>
            </a:r>
            <a:r>
              <a:rPr kumimoji="0" lang="en-US" sz="3200" b="1" i="0" u="none" strike="noStrike" cap="none" spc="0" normalizeH="0" baseline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rPr>
              <a:t> Term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107992" y="9429558"/>
            <a:ext cx="4528124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Memilih proses dari </a:t>
            </a:r>
            <a:r>
              <a:rPr lang="en-US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ready queue</a:t>
            </a:r>
            <a:r>
              <a:rPr lang="en-US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untuk mendapatkan giliran CPU</a:t>
            </a:r>
            <a:endParaRPr kumimoji="0" lang="en-US" b="0" i="0" u="none" strike="noStrike" cap="none" spc="0" normalizeH="0" baseline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Aptos" panose="020B0004020202020204" pitchFamily="34" charset="0"/>
              <a:sym typeface="Helvetica Neue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8667000" y="10677554"/>
            <a:ext cx="4983289" cy="2389115"/>
          </a:xfrm>
          <a:prstGeom prst="roundRect">
            <a:avLst>
              <a:gd name="adj" fmla="val 12766"/>
            </a:avLst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8907520" y="10919177"/>
            <a:ext cx="4502249" cy="702206"/>
          </a:xfrm>
          <a:prstGeom prst="roundRect">
            <a:avLst>
              <a:gd name="adj" fmla="val 41963"/>
            </a:avLst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b="1" smtClean="0">
                <a:solidFill>
                  <a:schemeClr val="tx1">
                    <a:lumMod val="50000"/>
                  </a:schemeClr>
                </a:solidFill>
                <a:ea typeface="Helvetica Neue Medium"/>
                <a:cs typeface="Helvetica Neue Medium"/>
                <a:sym typeface="Helvetica Neue Medium"/>
              </a:rPr>
              <a:t>I/O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894582" y="11634007"/>
            <a:ext cx="4528124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Mengatur urutan pelayanan permintaan I/O, misalnya baca/tulis pada disk.</a:t>
            </a:r>
            <a:endParaRPr kumimoji="0" lang="en-US" b="0" i="0" u="none" strike="noStrike" cap="none" spc="0" normalizeH="0" baseline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Aptos" panose="020B0004020202020204" pitchFamily="34" charset="0"/>
              <a:sym typeface="Helvetica Neue"/>
            </a:endParaRPr>
          </a:p>
        </p:txBody>
      </p:sp>
      <p:sp>
        <p:nvSpPr>
          <p:cNvPr id="20" name="Bent-Up Arrow 19"/>
          <p:cNvSpPr/>
          <p:nvPr/>
        </p:nvSpPr>
        <p:spPr>
          <a:xfrm rot="10800000" flipH="1">
            <a:off x="6288754" y="4317701"/>
            <a:ext cx="2845897" cy="1372172"/>
          </a:xfrm>
          <a:prstGeom prst="bentUpArrow">
            <a:avLst>
              <a:gd name="adj1" fmla="val 17051"/>
              <a:gd name="adj2" fmla="val 25000"/>
              <a:gd name="adj3" fmla="val 26192"/>
            </a:avLst>
          </a:prstGeom>
          <a:solidFill>
            <a:schemeClr val="bg2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Bent-Up Arrow 20"/>
          <p:cNvSpPr/>
          <p:nvPr/>
        </p:nvSpPr>
        <p:spPr>
          <a:xfrm rot="10800000" flipH="1">
            <a:off x="12231771" y="6916267"/>
            <a:ext cx="2845897" cy="1372172"/>
          </a:xfrm>
          <a:prstGeom prst="bentUpArrow">
            <a:avLst>
              <a:gd name="adj1" fmla="val 17051"/>
              <a:gd name="adj2" fmla="val 25000"/>
              <a:gd name="adj3" fmla="val 26192"/>
            </a:avLst>
          </a:prstGeom>
          <a:solidFill>
            <a:schemeClr val="bg2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Bent-Up Arrow 21"/>
          <p:cNvSpPr/>
          <p:nvPr/>
        </p:nvSpPr>
        <p:spPr>
          <a:xfrm rot="10800000" flipH="1">
            <a:off x="17863699" y="9308380"/>
            <a:ext cx="2845897" cy="1372172"/>
          </a:xfrm>
          <a:prstGeom prst="bentUpArrow">
            <a:avLst>
              <a:gd name="adj1" fmla="val 17051"/>
              <a:gd name="adj2" fmla="val 25000"/>
              <a:gd name="adj3" fmla="val 26192"/>
            </a:avLst>
          </a:prstGeom>
          <a:solidFill>
            <a:schemeClr val="bg2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91875" y="4462247"/>
            <a:ext cx="31313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i="1">
                <a:solidFill>
                  <a:srgbClr val="FF0000"/>
                </a:solidFill>
              </a:rPr>
              <a:t>digunakan bila diperlukan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496191" y="9347484"/>
            <a:ext cx="265625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i="1" smtClean="0">
                <a:solidFill>
                  <a:srgbClr val="FF0000"/>
                </a:solidFill>
              </a:rPr>
              <a:t>Hanya saat dibutuhkan</a:t>
            </a:r>
            <a:endParaRPr lang="en-US" sz="2700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11728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/>
          <p:cNvSpPr/>
          <p:nvPr/>
        </p:nvSpPr>
        <p:spPr>
          <a:xfrm>
            <a:off x="1361817" y="2755391"/>
            <a:ext cx="21568521" cy="3680759"/>
          </a:xfrm>
          <a:prstGeom prst="roundRect">
            <a:avLst>
              <a:gd name="adj" fmla="val 12766"/>
            </a:avLst>
          </a:prstGeom>
          <a:solidFill>
            <a:schemeClr val="bg1"/>
          </a:solidFill>
          <a:ln w="127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The Role of Various Types of Scheduling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846604" y="3067146"/>
            <a:ext cx="20591366" cy="30572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sz="4800" b="1" smtClean="0">
                <a:solidFill>
                  <a:srgbClr val="FF0000"/>
                </a:solidFill>
                <a:latin typeface="Aptos" panose="020B0004020202020204" pitchFamily="34" charset="0"/>
              </a:rPr>
              <a:t>Ke empat jenis scheduling tidak bersaing, melainkan berbagi tugas dalam satu siklus kerja sistem operasi</a:t>
            </a:r>
            <a:endParaRPr kumimoji="0" lang="en-US" sz="48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Aptos" panose="020B0004020202020204" pitchFamily="34" charset="0"/>
              <a:sym typeface="Helvetica Neue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0" y="6909580"/>
            <a:ext cx="6846277" cy="841256"/>
          </a:xfrm>
          <a:prstGeom prst="rect">
            <a:avLst/>
          </a:prstGeom>
          <a:solidFill>
            <a:srgbClr val="C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r>
              <a:rPr lang="en-US" sz="4800" b="1" smtClean="0">
                <a:solidFill>
                  <a:schemeClr val="bg1"/>
                </a:solidFill>
                <a:latin typeface="Aptos" panose="020B0004020202020204" pitchFamily="34" charset="0"/>
              </a:rPr>
              <a:t>Contoh – Analogi:</a:t>
            </a:r>
            <a:endParaRPr kumimoji="0" lang="en-US" sz="48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Aptos" panose="020B0004020202020204" pitchFamily="34" charset="0"/>
              <a:sym typeface="Helvetica Neue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846604" y="8009731"/>
            <a:ext cx="1667585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3600" u="sng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Dapat dibayangkan </a:t>
            </a:r>
            <a:r>
              <a:rPr lang="en-US" altLang="en-US" sz="3600" u="sng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seperti </a:t>
            </a:r>
            <a:r>
              <a:rPr lang="en-US" altLang="en-US" sz="3600" b="1" u="sng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rantai logistik</a:t>
            </a:r>
            <a:r>
              <a:rPr lang="en-US" altLang="en-US" sz="3600" u="sng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:</a:t>
            </a:r>
          </a:p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endParaRPr lang="en-US" altLang="en-US" sz="3600" u="sng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457200" lvl="0" indent="-457200" algn="l" defTabSz="914400" eaLnBrk="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6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Long-term</a:t>
            </a:r>
            <a:r>
              <a:rPr lang="en-US" altLang="en-US" sz="36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= </a:t>
            </a:r>
            <a:r>
              <a:rPr lang="en-US" altLang="en-US" sz="36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Memilih </a:t>
            </a:r>
            <a:r>
              <a:rPr lang="en-US" altLang="en-US" sz="36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kargo yang masuk ke </a:t>
            </a:r>
            <a:r>
              <a:rPr lang="en-US" altLang="en-US" sz="36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gudang</a:t>
            </a:r>
          </a:p>
          <a:p>
            <a:pPr marL="457200" lvl="0" indent="-457200" algn="l" defTabSz="914400" eaLnBrk="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36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457200" lvl="0" indent="-457200" algn="l" defTabSz="914400" eaLnBrk="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6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Medium-term</a:t>
            </a:r>
            <a:r>
              <a:rPr lang="en-US" altLang="en-US" sz="36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altLang="en-US" sz="36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= </a:t>
            </a:r>
            <a:r>
              <a:rPr lang="en-US" altLang="en-US" sz="36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Mengatur </a:t>
            </a:r>
            <a:r>
              <a:rPr lang="en-US" altLang="en-US" sz="36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ruang di </a:t>
            </a:r>
            <a:r>
              <a:rPr lang="en-US" altLang="en-US" sz="36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gudang</a:t>
            </a:r>
          </a:p>
          <a:p>
            <a:pPr marL="457200" lvl="0" indent="-457200" algn="l" defTabSz="914400" eaLnBrk="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36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457200" lvl="0" indent="-457200" algn="l" defTabSz="914400" eaLnBrk="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6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Short-term</a:t>
            </a:r>
            <a:r>
              <a:rPr lang="en-US" altLang="en-US" sz="36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altLang="en-US" sz="36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= </a:t>
            </a:r>
            <a:r>
              <a:rPr lang="en-US" altLang="en-US" sz="36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Menentukan </a:t>
            </a:r>
            <a:r>
              <a:rPr lang="en-US" altLang="en-US" sz="36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urutan pengiriman </a:t>
            </a:r>
            <a:r>
              <a:rPr lang="en-US" altLang="en-US" sz="36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barang</a:t>
            </a:r>
          </a:p>
          <a:p>
            <a:pPr marL="457200" lvl="0" indent="-457200" algn="l" defTabSz="914400" eaLnBrk="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36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457200" lvl="0" indent="-457200" algn="l" defTabSz="914400" eaLnBrk="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6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I/O</a:t>
            </a:r>
            <a:r>
              <a:rPr lang="en-US" altLang="en-US" sz="36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altLang="en-US" sz="36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= </a:t>
            </a:r>
            <a:r>
              <a:rPr lang="en-US" altLang="en-US" sz="36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Mengatur </a:t>
            </a:r>
            <a:r>
              <a:rPr lang="en-US" altLang="en-US" sz="36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kendaraan yang akan mengirimkan barang ke luar</a:t>
            </a:r>
          </a:p>
        </p:txBody>
      </p:sp>
    </p:spTree>
    <p:extLst>
      <p:ext uri="{BB962C8B-B14F-4D97-AF65-F5344CB8AC3E}">
        <p14:creationId xmlns:p14="http://schemas.microsoft.com/office/powerpoint/2010/main" val="420169800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The Role of Various Types of Scheduling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351689" y="3131334"/>
            <a:ext cx="19143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smtClean="0">
                <a:solidFill>
                  <a:schemeClr val="tx1">
                    <a:lumMod val="50000"/>
                  </a:schemeClr>
                </a:solidFill>
              </a:rPr>
              <a:t>Analogi</a:t>
            </a:r>
            <a:endParaRPr lang="en-US" sz="3600"/>
          </a:p>
        </p:txBody>
      </p:sp>
      <p:cxnSp>
        <p:nvCxnSpPr>
          <p:cNvPr id="7" name="Straight Connector 6"/>
          <p:cNvCxnSpPr/>
          <p:nvPr/>
        </p:nvCxnSpPr>
        <p:spPr>
          <a:xfrm>
            <a:off x="1447068" y="3879826"/>
            <a:ext cx="3202022" cy="0"/>
          </a:xfrm>
          <a:prstGeom prst="line">
            <a:avLst/>
          </a:prstGeom>
          <a:noFill/>
          <a:ln w="28575" cap="flat">
            <a:solidFill>
              <a:schemeClr val="accent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689" y="4106184"/>
            <a:ext cx="5474682" cy="26337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15913" y="2918129"/>
            <a:ext cx="1585731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Long Term Scheduling sebagai Job Scheduler.</a:t>
            </a:r>
          </a:p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Scheduler ini memilih 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pekerjaan (</a:t>
            </a:r>
            <a:r>
              <a:rPr lang="en-US" altLang="en-US" sz="3200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job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) baru yang diterima ke dalam sistem untuk diproses.</a:t>
            </a:r>
          </a:p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Mengendalikan </a:t>
            </a:r>
            <a:r>
              <a:rPr lang="en-US" alt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degree of </a:t>
            </a:r>
            <a:r>
              <a:rPr lang="en-US" alt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multiprogramming,</a:t>
            </a:r>
            <a:r>
              <a:rPr lang="en-US" alt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yaitu </a:t>
            </a:r>
            <a:r>
              <a:rPr lang="en-US" altLang="en-US" sz="3200" u="sng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jumlah proses 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yang </a:t>
            </a:r>
            <a:r>
              <a:rPr lang="en-US" altLang="en-US" sz="3200" u="sng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berada dalam memori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</a:p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Mengatur penerimaan pekerjaan agar sesuai dengan kapasitas sumber daya </a:t>
            </a:r>
            <a:r>
              <a:rPr lang="en-US" alt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sistem.</a:t>
            </a:r>
            <a:endParaRPr lang="en-US" altLang="en-US" sz="32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51689" y="7978234"/>
            <a:ext cx="9968583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Contoh:</a:t>
            </a:r>
            <a:endParaRPr lang="en-US" sz="32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Pada </a:t>
            </a: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sistem batch, terdapat 20 pekerjaan </a:t>
            </a: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menunggu.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Sistem </a:t>
            </a: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menerima 5 pekerjaan terlebih dahulu sesuai kapasitas sumber daya. </a:t>
            </a:r>
            <a:endParaRPr lang="en-US" sz="30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Pekerjaan </a:t>
            </a: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lainnya menunggu hingga tersedia kapasitas.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5" y="8266348"/>
            <a:ext cx="249377" cy="240448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825984" y="8266348"/>
            <a:ext cx="10381488" cy="28623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Analogi:</a:t>
            </a:r>
            <a:endParaRPr lang="en-US" sz="30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Seperti </a:t>
            </a: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petugas yang mengatur jumlah pengunjung masuk ke ruang pelayanan agar tidak melebihi </a:t>
            </a: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kapasitas  (saat covid dulu)</a:t>
            </a:r>
            <a:endParaRPr lang="en-US" sz="30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20786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689" y="4106184"/>
            <a:ext cx="5474682" cy="2719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The Role of Various Types of Scheduling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351689" y="3131334"/>
            <a:ext cx="19143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smtClean="0">
                <a:solidFill>
                  <a:schemeClr val="tx1">
                    <a:lumMod val="50000"/>
                  </a:schemeClr>
                </a:solidFill>
              </a:rPr>
              <a:t>Analogi</a:t>
            </a:r>
            <a:endParaRPr lang="en-US" sz="3600"/>
          </a:p>
        </p:txBody>
      </p:sp>
      <p:cxnSp>
        <p:nvCxnSpPr>
          <p:cNvPr id="7" name="Straight Connector 6"/>
          <p:cNvCxnSpPr/>
          <p:nvPr/>
        </p:nvCxnSpPr>
        <p:spPr>
          <a:xfrm>
            <a:off x="1447068" y="3879826"/>
            <a:ext cx="3202022" cy="0"/>
          </a:xfrm>
          <a:prstGeom prst="line">
            <a:avLst/>
          </a:prstGeom>
          <a:noFill/>
          <a:ln w="28575" cap="flat">
            <a:solidFill>
              <a:schemeClr val="accent4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Rectangle 9"/>
          <p:cNvSpPr/>
          <p:nvPr/>
        </p:nvSpPr>
        <p:spPr>
          <a:xfrm>
            <a:off x="7715913" y="2918129"/>
            <a:ext cx="1585731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Menentukan proses yang </a:t>
            </a:r>
            <a:r>
              <a:rPr lang="en-US" alt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ditangguhkan sementara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dan kapan proses tersebut diaktifkan kembali.</a:t>
            </a:r>
          </a:p>
          <a:p>
            <a:pPr marL="457200" lvl="0" indent="-4572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Dalam model </a:t>
            </a:r>
            <a:r>
              <a:rPr lang="en-US" altLang="en-US" sz="3200" i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swapping</a:t>
            </a:r>
            <a:r>
              <a:rPr lang="en-US" alt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alt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swap out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memindahkan isi memori proses dari RAM ke disk, sedangkan </a:t>
            </a:r>
            <a:r>
              <a:rPr lang="en-US" alt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swap in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mengembalikannya ke RAM.</a:t>
            </a:r>
          </a:p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Tujuannya membantu mengurangi beban memori dan mengatur jumlah proses yang berada di </a:t>
            </a:r>
            <a:r>
              <a:rPr lang="en-US" alt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memori.</a:t>
            </a:r>
            <a:endParaRPr lang="en-US" altLang="en-US" sz="32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51689" y="7978234"/>
            <a:ext cx="9968583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Contoh:</a:t>
            </a:r>
            <a:endParaRPr lang="en-US" sz="32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365125" indent="-36512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Ketika RAM terbatas, sistem menangguhkan proses </a:t>
            </a: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(contoh: </a:t>
            </a:r>
            <a:r>
              <a:rPr lang="en-US" sz="30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P2</a:t>
            </a: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) </a:t>
            </a: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dan memindahkan isi memorinya ke disk. </a:t>
            </a:r>
            <a:endParaRPr lang="en-US" sz="30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365125" indent="-36512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Saat </a:t>
            </a: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kapasitas tersedia, P2 dikembalikan ke RAM untuk melanjutkan </a:t>
            </a: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pekerjaan.</a:t>
            </a:r>
            <a:endParaRPr lang="en-US" sz="30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50975" y="8266348"/>
            <a:ext cx="249377" cy="2404482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2825984" y="8266348"/>
            <a:ext cx="10381488" cy="28623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Analogi:</a:t>
            </a:r>
            <a:endParaRPr lang="en-US" sz="30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Seperti memindahkan sementara berkas dari meja kerja ke lemari agar meja lebih lapang, kemudian mengambilnya kembali saat pekerjaan akan dilanjutkan.</a:t>
            </a:r>
          </a:p>
        </p:txBody>
      </p:sp>
    </p:spTree>
    <p:extLst>
      <p:ext uri="{BB962C8B-B14F-4D97-AF65-F5344CB8AC3E}">
        <p14:creationId xmlns:p14="http://schemas.microsoft.com/office/powerpoint/2010/main" val="322475064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689" y="4106184"/>
            <a:ext cx="5474682" cy="2719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The Role of Various Types of Scheduling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351689" y="3131334"/>
            <a:ext cx="19143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smtClean="0">
                <a:solidFill>
                  <a:schemeClr val="tx1">
                    <a:lumMod val="50000"/>
                  </a:schemeClr>
                </a:solidFill>
              </a:rPr>
              <a:t>Analogi</a:t>
            </a:r>
            <a:endParaRPr lang="en-US" sz="3600"/>
          </a:p>
        </p:txBody>
      </p:sp>
      <p:cxnSp>
        <p:nvCxnSpPr>
          <p:cNvPr id="7" name="Straight Connector 6"/>
          <p:cNvCxnSpPr/>
          <p:nvPr/>
        </p:nvCxnSpPr>
        <p:spPr>
          <a:xfrm>
            <a:off x="1447068" y="3879826"/>
            <a:ext cx="3202022" cy="0"/>
          </a:xfrm>
          <a:prstGeom prst="line">
            <a:avLst/>
          </a:prstGeom>
          <a:noFill/>
          <a:ln w="28575" cap="flat">
            <a:solidFill>
              <a:schemeClr val="accent3">
                <a:lumMod val="75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Rectangle 11"/>
          <p:cNvSpPr/>
          <p:nvPr/>
        </p:nvSpPr>
        <p:spPr>
          <a:xfrm>
            <a:off x="7715913" y="3466769"/>
            <a:ext cx="1585731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Memilih proses dari </a:t>
            </a:r>
            <a:r>
              <a:rPr lang="en-US" alt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ready queue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untuk mendapatkan giliran CPU.</a:t>
            </a:r>
          </a:p>
          <a:p>
            <a:pPr marL="457200" lvl="0" indent="-4572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Bekerja sangat sering </a:t>
            </a:r>
            <a:r>
              <a:rPr lang="en-US" alt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agar dapat memberikan 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keputusan penjadwalan </a:t>
            </a:r>
            <a:r>
              <a:rPr lang="en-US" alt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yang cepat.</a:t>
            </a:r>
            <a:endParaRPr lang="en-US" altLang="en-US" sz="32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351689" y="7978234"/>
            <a:ext cx="8688423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Contoh:</a:t>
            </a:r>
            <a:endParaRPr lang="en-US" sz="32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365125" indent="-36512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Saat pengguna mengetik di Word sambil menjalankan program Python untuk mengolah data.</a:t>
            </a:r>
          </a:p>
          <a:p>
            <a:pPr marL="365125" indent="-36512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Scheduler mengatur giliran penggunaan CPU agar aplikasi Word tetap merespons ketikan dan Python tetap melanjutkan pengolahan data.</a:t>
            </a:r>
            <a:endParaRPr lang="en-US" sz="30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50975" y="8266348"/>
            <a:ext cx="249377" cy="240448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210544" y="6512004"/>
            <a:ext cx="12618720" cy="66479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3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Analogi:</a:t>
            </a:r>
            <a:endParaRPr lang="en-US" sz="3200" b="1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Ada antrean 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panjang di kasir supermarket: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Kasir =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CPU</a:t>
            </a:r>
            <a:endParaRPr lang="en-US" sz="28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Antrian pelanggan =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ready queue</a:t>
            </a:r>
            <a:endParaRPr lang="en-US" sz="28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Kasir memilih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pelanggan berikutnya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yang akan dilayani.</a:t>
            </a:r>
          </a:p>
          <a:p>
            <a:pPr algn="just">
              <a:lnSpc>
                <a:spcPct val="150000"/>
              </a:lnSpc>
            </a:pPr>
            <a:endParaRPr lang="en-US" sz="28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u="sng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Setiap </a:t>
            </a:r>
            <a:r>
              <a:rPr lang="en-US" sz="2800" u="sng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kasir punya gaya kerja: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Kasir 1: melayani berdasarkan urutan datang (</a:t>
            </a:r>
            <a:r>
              <a:rPr lang="en-US" sz="2800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First Come First Served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Kasir 2: melayani pelanggan dengan sedikit barang dulu (</a:t>
            </a:r>
            <a:r>
              <a:rPr lang="en-US" sz="2800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Shortest Job First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Kasir 3: bergantian memberi giliran setiap orang sedikit-sedikit (</a:t>
            </a:r>
            <a:r>
              <a:rPr lang="en-US" sz="2800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Round Robin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77775661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688" y="4115082"/>
            <a:ext cx="5474683" cy="27101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The Role of Various Types of Scheduling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351689" y="3131334"/>
            <a:ext cx="19143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smtClean="0">
                <a:solidFill>
                  <a:schemeClr val="tx1">
                    <a:lumMod val="50000"/>
                  </a:schemeClr>
                </a:solidFill>
              </a:rPr>
              <a:t>Analogi</a:t>
            </a:r>
            <a:endParaRPr lang="en-US" sz="3600"/>
          </a:p>
        </p:txBody>
      </p:sp>
      <p:cxnSp>
        <p:nvCxnSpPr>
          <p:cNvPr id="7" name="Straight Connector 6"/>
          <p:cNvCxnSpPr/>
          <p:nvPr/>
        </p:nvCxnSpPr>
        <p:spPr>
          <a:xfrm>
            <a:off x="1447068" y="3879826"/>
            <a:ext cx="3202022" cy="0"/>
          </a:xfrm>
          <a:prstGeom prst="line">
            <a:avLst/>
          </a:prstGeom>
          <a:noFill/>
          <a:ln w="28575" cap="flat">
            <a:solidFill>
              <a:schemeClr val="accent6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Rectangle 11"/>
          <p:cNvSpPr/>
          <p:nvPr/>
        </p:nvSpPr>
        <p:spPr>
          <a:xfrm>
            <a:off x="7715913" y="3137585"/>
            <a:ext cx="15857319" cy="4179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I</a:t>
            </a:r>
            <a:r>
              <a:rPr lang="en-US" sz="30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/O </a:t>
            </a:r>
            <a:r>
              <a:rPr lang="en-US" sz="30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Scheduling</a:t>
            </a: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adalah mekanisme sistem operasi untuk menentukan urutan pelayanan permintaan input/output dari berbagai proses, misalnya membaca atau menulis data pada perangkat </a:t>
            </a: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penyimpanan.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Perbedaan antara </a:t>
            </a: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CPU </a:t>
            </a: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scheduler dengan I/O adalah, CPU scheduler </a:t>
            </a: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memilih proses/thread yang mendapat giliran CPU, sedangkan I/O scheduler memilih permintaan I/O yang dilayani oleh perangkat.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51689" y="7978234"/>
            <a:ext cx="19478343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Contoh: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Menyalin </a:t>
            </a:r>
            <a:r>
              <a:rPr lang="en-US" sz="30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file sambil membuka </a:t>
            </a:r>
            <a:r>
              <a:rPr lang="en-US" sz="30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aplikasi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Saat </a:t>
            </a: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pengguna menyalin video ke SSD dan </a:t>
            </a: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juga membuka </a:t>
            </a: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PowerPoint dari SSD yang </a:t>
            </a: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sama.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Maka akan ada </a:t>
            </a: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permintaan baca/tulis untuk </a:t>
            </a: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penyalinan video ke SSD sekaligus </a:t>
            </a: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permintaan baca file aplikasi</a:t>
            </a: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I/O </a:t>
            </a:r>
            <a:r>
              <a:rPr lang="en-US" sz="30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scheduler mengatur pelayanan permintaan </a:t>
            </a:r>
            <a:r>
              <a:rPr lang="en-US" sz="30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tersebut</a:t>
            </a:r>
            <a:r>
              <a:rPr lang="en-US" sz="30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  <a:endParaRPr lang="en-US" sz="30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50975" y="8266348"/>
            <a:ext cx="249377" cy="240448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14449324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Peran Sistem Operasi dan Developer dalam Scheduling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651836"/>
              </p:ext>
            </p:extLst>
          </p:nvPr>
        </p:nvGraphicFramePr>
        <p:xfrm>
          <a:off x="1206500" y="2597436"/>
          <a:ext cx="21971000" cy="3921444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5944108">
                  <a:extLst>
                    <a:ext uri="{9D8B030D-6E8A-4147-A177-3AD203B41FA5}">
                      <a16:colId xmlns:a16="http://schemas.microsoft.com/office/drawing/2014/main" val="3358010665"/>
                    </a:ext>
                  </a:extLst>
                </a:gridCol>
                <a:gridCol w="16026892">
                  <a:extLst>
                    <a:ext uri="{9D8B030D-6E8A-4147-A177-3AD203B41FA5}">
                      <a16:colId xmlns:a16="http://schemas.microsoft.com/office/drawing/2014/main" val="41498535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32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Level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Tanggung jawab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916996"/>
                  </a:ext>
                </a:extLst>
              </a:tr>
              <a:tr h="1578324"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Sistem operasi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Memilih thread yang mendapat CPU, mengatur giliran dan prioritas, serta menghentikan sementara eksekusi jika diperlukan.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1434651"/>
                  </a:ext>
                </a:extLst>
              </a:tr>
              <a:tr h="1764000"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Developer aplikasi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Membagi pekerjaan menjadi task/thread, mengelola pekerjaan yang berjalan bersamaan, dan menjaga agar pekerjaan berat tidak menghambat respons aplikasi.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80246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86384" y="6884640"/>
            <a:ext cx="22933152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9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Contoh :</a:t>
            </a:r>
            <a:endParaRPr lang="en-US" sz="29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Aplikasi 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memiliki tombol </a:t>
            </a: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/ fitur </a:t>
            </a:r>
            <a:r>
              <a:rPr lang="en-US" sz="29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“Olah </a:t>
            </a:r>
            <a:r>
              <a:rPr lang="en-US" sz="29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Data”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untuk memproses jutaan baris.</a:t>
            </a:r>
          </a:p>
          <a:p>
            <a:pPr marL="438150" indent="-4381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Jika seluruh pengolahan dilakukan pada </a:t>
            </a:r>
            <a:r>
              <a:rPr lang="en-US" sz="29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UI thread</a:t>
            </a: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tampilan dapat tidak responsif selama pekerjaan berlangsung.</a:t>
            </a:r>
          </a:p>
          <a:p>
            <a:pPr marL="438150" indent="-4381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Developer dapat memindahkan pengolahan ke </a:t>
            </a:r>
            <a:r>
              <a:rPr lang="en-US" sz="29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worker thread atau proses terpisah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agar UI tetap bisa menangani klik dan menampilkan progres.</a:t>
            </a:r>
          </a:p>
          <a:p>
            <a:pPr marL="438150" indent="-4381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9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OS tetap menentukan kapan setiap thread mendapat giliran CPU.</a:t>
            </a:r>
          </a:p>
          <a:p>
            <a:pPr marL="438150" indent="-4381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Sedangkan Developer disisi lain 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dapat membuat </a:t>
            </a:r>
            <a:r>
              <a:rPr lang="en-US" sz="29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penjadwalan pada level aplikasi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misalnya menentukan urutan tugas dalam antrean unggahan atau pekerjaan latar belakang. Namun, pelaksanaan </a:t>
            </a: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thread nya 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tetap mengikuti penjadwalan OS</a:t>
            </a: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  <a:endParaRPr lang="en-US" sz="29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37396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Process Scheduling algorithm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066800" y="3013716"/>
            <a:ext cx="21848064" cy="7313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Algoritma scheduling berbeda-beda karena kebutuhan proses dan tujuan sistem juga berbeda.</a:t>
            </a:r>
            <a:r>
              <a:rPr lang="en-US" sz="4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endParaRPr lang="en-US" sz="40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571500" indent="-5715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Ada </a:t>
            </a:r>
            <a:r>
              <a:rPr lang="en-US" sz="4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proses yang membutuhkan CPU sebentar, ada yang lama, dan ada aplikasi yang harus cepat merespons pengguna. </a:t>
            </a:r>
            <a:r>
              <a:rPr lang="en-US" sz="40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Tidak ada satu algoritma yang paling baik untuk semua </a:t>
            </a:r>
            <a:r>
              <a:rPr lang="en-US" sz="40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kondisi.</a:t>
            </a:r>
            <a:endParaRPr lang="en-US" sz="40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571500" indent="-5715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Tujuan </a:t>
            </a:r>
            <a:r>
              <a:rPr lang="en-US" sz="4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umumnya adalah </a:t>
            </a:r>
            <a:r>
              <a:rPr lang="en-US" sz="40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mengatur giliran CPU agar penggunaannya efisien, waktu tunggu berkurang, dan proses memperoleh pelayanan sesuai kebutuhan sistem.</a:t>
            </a:r>
            <a:endParaRPr lang="en-US" sz="40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99306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Process Scheduling algorithm</a:t>
            </a:r>
            <a:endParaRPr lang="en-US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948" y="2839793"/>
            <a:ext cx="15332172" cy="987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55643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Process Scheduling algorithm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219456" y="2596896"/>
            <a:ext cx="23975568" cy="1152144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 w="28575" cap="flat">
            <a:solidFill>
              <a:schemeClr val="accent5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72696" y="2819025"/>
            <a:ext cx="766908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>
                <a:solidFill>
                  <a:schemeClr val="accent5">
                    <a:lumMod val="50000"/>
                  </a:schemeClr>
                </a:solidFill>
                <a:latin typeface="Aptos" panose="020B0004020202020204" pitchFamily="34" charset="0"/>
              </a:rPr>
              <a:t>FCFS — First Come, First 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957072" y="4007745"/>
            <a:ext cx="22671024" cy="1498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2300" indent="-6223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Algoritma yang melayani proses berdasarkan urutan masuk ke </a:t>
            </a:r>
            <a:r>
              <a:rPr lang="en-US" sz="3200" i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ready queue</a:t>
            </a: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 FCFS bersifat </a:t>
            </a:r>
            <a:r>
              <a:rPr 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non-preemptive</a:t>
            </a: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: proses yang berjalan tidak dihentikan hanya untuk memberi giliran kepada proses lain.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957072" y="5804098"/>
            <a:ext cx="18373344" cy="2705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900" b="1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Cara mengatur giliran:</a:t>
            </a:r>
            <a:endParaRPr lang="en-US" sz="290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Proses paling depan mendapat </a:t>
            </a: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CPU.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Proses 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baru masuk </a:t>
            </a: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akan ke paling belakang 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antrean.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CPU akan menyelesaikan proses, baru beralih ke proses baru yang sedang menunggu.</a:t>
            </a:r>
            <a:endParaRPr lang="en-US" sz="29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57072" y="9002455"/>
            <a:ext cx="21262848" cy="3375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900" b="1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Contoh kasus </a:t>
            </a:r>
            <a:r>
              <a:rPr lang="en-US" sz="2900" b="1" smtClean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aplikasi:</a:t>
            </a:r>
            <a:r>
              <a:rPr lang="en-US" sz="2900" smtClean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Antrean 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pencetakan dokumen dengan aturan berdasarkan urutan </a:t>
            </a: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masuk.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Dokumen 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 dikirim dahulu, kemudian B dan C. </a:t>
            </a:r>
            <a:endParaRPr lang="en-US" sz="29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Printer 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mencetak A, lalu B, kemudian C. Ini menggambarkan FCFS pada </a:t>
            </a:r>
            <a:r>
              <a:rPr lang="en-US" sz="29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antrean pekerjaan </a:t>
            </a:r>
            <a:r>
              <a:rPr lang="en-US" sz="29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cetak</a:t>
            </a:r>
            <a:endParaRPr lang="en-US" sz="29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Kecuali ada pengaturan 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prioritas </a:t>
            </a: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yang dapat 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mengubah urutannya.</a:t>
            </a:r>
          </a:p>
        </p:txBody>
      </p:sp>
    </p:spTree>
    <p:extLst>
      <p:ext uri="{BB962C8B-B14F-4D97-AF65-F5344CB8AC3E}">
        <p14:creationId xmlns:p14="http://schemas.microsoft.com/office/powerpoint/2010/main" val="147928238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Process Scheduling algorithm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219456" y="2596896"/>
            <a:ext cx="23975568" cy="1152144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 w="28575" cap="flat">
            <a:solidFill>
              <a:schemeClr val="accent5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369770" y="2819025"/>
            <a:ext cx="56749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smtClean="0">
                <a:solidFill>
                  <a:schemeClr val="accent5">
                    <a:lumMod val="50000"/>
                  </a:schemeClr>
                </a:solidFill>
                <a:latin typeface="Aptos" panose="020B0004020202020204" pitchFamily="34" charset="0"/>
              </a:rPr>
              <a:t>SJF — Shortest Job First</a:t>
            </a:r>
            <a:endParaRPr lang="en-US" sz="4000" b="1">
              <a:solidFill>
                <a:schemeClr val="accent5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57072" y="4007745"/>
            <a:ext cx="22671024" cy="1496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2300" indent="-6223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Algoritma yang memilih proses dengan </a:t>
            </a:r>
            <a:r>
              <a:rPr 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perkiraan CPU burst berikutnya paling singkat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dari proses yang sudah siap. </a:t>
            </a:r>
            <a:endParaRPr lang="en-US" sz="32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622300" indent="-6223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SJF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yang dibahas di sini bersifat </a:t>
            </a:r>
            <a:r>
              <a:rPr 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non-preemptive.</a:t>
            </a:r>
            <a:endParaRPr lang="en-US" sz="32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57072" y="5804098"/>
            <a:ext cx="21262848" cy="2705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900" b="1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Cara mengatur giliran:</a:t>
            </a:r>
            <a:endParaRPr lang="en-US" sz="290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Saat CPU tersedia, scheduler membandingkan perkiraan durasi proses yang siap.</a:t>
            </a:r>
          </a:p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Proses dengan durasi </a:t>
            </a:r>
            <a:r>
              <a:rPr lang="en-US" altLang="en-US" sz="29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paling singkat </a:t>
            </a:r>
            <a:r>
              <a:rPr lang="en-US" alt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yang mendapat giliran.</a:t>
            </a:r>
          </a:p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Jika proses yang lebih singkat datang ketika proses lain sedang berjalan, </a:t>
            </a:r>
            <a:r>
              <a:rPr lang="en-US" altLang="en-US" sz="29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proses baru tetap menunggu </a:t>
            </a:r>
            <a:r>
              <a:rPr lang="en-US" alt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sampai CPU dilepas. </a:t>
            </a:r>
            <a:endParaRPr lang="en-US" altLang="en-US" sz="29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57072" y="8809178"/>
            <a:ext cx="21262848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900" b="1" smtClean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Contoh kasus aplikasi:</a:t>
            </a:r>
            <a:r>
              <a:rPr lang="en-US" sz="2900" smtClean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Developer dapat menerapkan aturan SJF pada </a:t>
            </a:r>
            <a:r>
              <a:rPr lang="en-US" sz="29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layanan pembuatan laporan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 </a:t>
            </a: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Misalnya ada 3 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laporan sudah mengantre dengan perkiraan waktu pengerjaan: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9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782280"/>
              </p:ext>
            </p:extLst>
          </p:nvPr>
        </p:nvGraphicFramePr>
        <p:xfrm>
          <a:off x="957072" y="11193263"/>
          <a:ext cx="7608315" cy="2072640"/>
        </p:xfrm>
        <a:graphic>
          <a:graphicData uri="http://schemas.openxmlformats.org/drawingml/2006/table">
            <a:tbl>
              <a:tblPr/>
              <a:tblGrid>
                <a:gridCol w="1493520">
                  <a:extLst>
                    <a:ext uri="{9D8B030D-6E8A-4147-A177-3AD203B41FA5}">
                      <a16:colId xmlns:a16="http://schemas.microsoft.com/office/drawing/2014/main" val="574247237"/>
                    </a:ext>
                  </a:extLst>
                </a:gridCol>
                <a:gridCol w="3127248">
                  <a:extLst>
                    <a:ext uri="{9D8B030D-6E8A-4147-A177-3AD203B41FA5}">
                      <a16:colId xmlns:a16="http://schemas.microsoft.com/office/drawing/2014/main" val="2559528063"/>
                    </a:ext>
                  </a:extLst>
                </a:gridCol>
                <a:gridCol w="2987547">
                  <a:extLst>
                    <a:ext uri="{9D8B030D-6E8A-4147-A177-3AD203B41FA5}">
                      <a16:colId xmlns:a16="http://schemas.microsoft.com/office/drawing/2014/main" val="1093584987"/>
                    </a:ext>
                  </a:extLst>
                </a:gridCol>
              </a:tblGrid>
              <a:tr h="474948">
                <a:tc>
                  <a:txBody>
                    <a:bodyPr/>
                    <a:lstStyle/>
                    <a:p>
                      <a:pPr algn="ctr"/>
                      <a:r>
                        <a:rPr lang="en-US" sz="2800" b="1" smtClean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Proses</a:t>
                      </a:r>
                      <a:endParaRPr lang="en-US" sz="2800" b="1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Laporan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Perkiraan waktu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036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P1</a:t>
                      </a:r>
                      <a:endParaRPr lang="en-US" sz="2800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Rekap tahunan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20 detik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1350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P2</a:t>
                      </a:r>
                      <a:endParaRPr lang="en-US" sz="2800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Rekap bulanan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5 detik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623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P3</a:t>
                      </a:r>
                      <a:endParaRPr lang="en-US" sz="2800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Rekap harian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2 detik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807014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8948720" y="10991373"/>
            <a:ext cx="14551360" cy="2100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Layanan mengerjakan </a:t>
            </a:r>
            <a:r>
              <a:rPr lang="en-US" sz="29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rekap harian, bulanan, lalu tahunan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 </a:t>
            </a:r>
            <a:endParaRPr lang="en-US" sz="29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Ini 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contoh penerapan kebijakan SJF pada antrean </a:t>
            </a: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aplikasi, dimana 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durasi </a:t>
            </a: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menjadi bahan pertimbangan.</a:t>
            </a:r>
            <a:endParaRPr lang="en-US" sz="29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93614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Process Scheduling algorithm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219456" y="2596896"/>
            <a:ext cx="23975568" cy="1152144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 w="28575" cap="flat">
            <a:solidFill>
              <a:schemeClr val="accent5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413581" y="2819025"/>
            <a:ext cx="758733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smtClean="0">
                <a:solidFill>
                  <a:schemeClr val="accent5">
                    <a:lumMod val="50000"/>
                  </a:schemeClr>
                </a:solidFill>
                <a:latin typeface="Aptos" panose="020B0004020202020204" pitchFamily="34" charset="0"/>
              </a:rPr>
              <a:t>SRT — Shortest Remaining Time</a:t>
            </a:r>
            <a:endParaRPr lang="en-US" sz="4000" b="1">
              <a:solidFill>
                <a:schemeClr val="accent5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57072" y="4007745"/>
            <a:ext cx="22671024" cy="1496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2300" indent="-6223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Versi </a:t>
            </a:r>
            <a:r>
              <a:rPr 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preemptive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dari SJF. Scheduler memilih proses dengan </a:t>
            </a:r>
            <a:r>
              <a:rPr 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perkiraan sisa CPU burst paling singkat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termasuk membandingkannya dengan proses yang sedang berjalan.</a:t>
            </a:r>
            <a:endParaRPr lang="en-US" sz="32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57072" y="5804098"/>
            <a:ext cx="22671024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900" b="1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Cara mengatur giliran:</a:t>
            </a:r>
            <a:endParaRPr lang="en-US" sz="290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pPr marL="457200" lvl="0" indent="-4572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Proses dengan sisa waktu paling singkat mendapat CPU.</a:t>
            </a:r>
          </a:p>
          <a:p>
            <a:pPr marL="457200" lvl="0" indent="-4572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Jika proses baru datang dengan kebutuhan waktu lebih singkat daripada sisa waktu proses aktif, proses aktif dihentikan sementara.</a:t>
            </a:r>
          </a:p>
          <a:p>
            <a:pPr marL="457200" lvl="0" indent="-4572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Proses yang tertunda dilanjutkan saat kembali terpilih </a:t>
            </a:r>
          </a:p>
        </p:txBody>
      </p:sp>
      <p:sp>
        <p:nvSpPr>
          <p:cNvPr id="8" name="Rectangle 7"/>
          <p:cNvSpPr/>
          <p:nvPr/>
        </p:nvSpPr>
        <p:spPr>
          <a:xfrm>
            <a:off x="957072" y="8717738"/>
            <a:ext cx="22671024" cy="2100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900" b="1" smtClean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Contoh kasus aplikasi:</a:t>
            </a:r>
            <a:r>
              <a:rPr lang="en-US" sz="2900" smtClean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9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Aplikasi </a:t>
            </a:r>
            <a:r>
              <a:rPr lang="en-US" sz="29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pembuatan laporan penjualan </a:t>
            </a:r>
            <a:r>
              <a:rPr lang="en-US" sz="29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toko </a:t>
            </a: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(misalnya)</a:t>
            </a:r>
            <a:r>
              <a:rPr lang="en-US" sz="29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Misalnya aplikasi 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memakai satu worker untuk mengolah laporan dan mendukung </a:t>
            </a:r>
            <a:r>
              <a:rPr lang="en-US" sz="2900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pause/resume</a:t>
            </a: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  <a:endParaRPr lang="en-US" sz="29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8635472" y="12296245"/>
            <a:ext cx="4791456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sz="3600" b="1" smtClean="0">
                <a:solidFill>
                  <a:schemeClr val="bg1"/>
                </a:solidFill>
                <a:latin typeface="Aptos" panose="020B0004020202020204" pitchFamily="34" charset="0"/>
              </a:rPr>
              <a:t>Lanjutan &gt;&gt; Next slide</a:t>
            </a:r>
            <a:endParaRPr lang="en-US" sz="3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25396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Process Scheduling algorithm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219456" y="2596896"/>
            <a:ext cx="23975568" cy="1152144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 w="28575" cap="flat">
            <a:solidFill>
              <a:schemeClr val="accent5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413581" y="2819025"/>
            <a:ext cx="758733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smtClean="0">
                <a:solidFill>
                  <a:schemeClr val="accent5">
                    <a:lumMod val="50000"/>
                  </a:schemeClr>
                </a:solidFill>
                <a:latin typeface="Aptos" panose="020B0004020202020204" pitchFamily="34" charset="0"/>
              </a:rPr>
              <a:t>SRT — Shortest Remaining Time</a:t>
            </a:r>
            <a:endParaRPr lang="en-US" sz="4000" b="1">
              <a:solidFill>
                <a:schemeClr val="accent5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100312"/>
              </p:ext>
            </p:extLst>
          </p:nvPr>
        </p:nvGraphicFramePr>
        <p:xfrm>
          <a:off x="782828" y="3981814"/>
          <a:ext cx="22863556" cy="5978400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2673604">
                  <a:extLst>
                    <a:ext uri="{9D8B030D-6E8A-4147-A177-3AD203B41FA5}">
                      <a16:colId xmlns:a16="http://schemas.microsoft.com/office/drawing/2014/main" val="2059041166"/>
                    </a:ext>
                  </a:extLst>
                </a:gridCol>
                <a:gridCol w="9666617">
                  <a:extLst>
                    <a:ext uri="{9D8B030D-6E8A-4147-A177-3AD203B41FA5}">
                      <a16:colId xmlns:a16="http://schemas.microsoft.com/office/drawing/2014/main" val="3915309470"/>
                    </a:ext>
                  </a:extLst>
                </a:gridCol>
                <a:gridCol w="10523335">
                  <a:extLst>
                    <a:ext uri="{9D8B030D-6E8A-4147-A177-3AD203B41FA5}">
                      <a16:colId xmlns:a16="http://schemas.microsoft.com/office/drawing/2014/main" val="39049478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3200" b="1" smtClean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Proses</a:t>
                      </a:r>
                      <a:endParaRPr lang="en-US" sz="3200" b="1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smtClean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Case</a:t>
                      </a:r>
                      <a:endParaRPr lang="en-US" sz="3200" b="1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Tindakan aplikasi dengan SRTF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440217"/>
                  </a:ext>
                </a:extLst>
              </a:tr>
              <a:tr h="201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P1</a:t>
                      </a:r>
                      <a:endParaRPr lang="en-US" sz="2800" b="1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Manajer meminta laporan penjualan tahunan. Pengolahan sedang berjalan dan diperkirakan masih membutuhkan 10 detik.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Aplikasi mengerjakan laporan tahunan.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9816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P2</a:t>
                      </a:r>
                      <a:endParaRPr lang="en-US" sz="2800" b="1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Kasir kemudian meminta laporan penjualan hari ini, yang diperkirakan membutuhkan 2 detik.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Aplikasi menjeda laporan tahunan karena laporan harian membutuhkan waktu lebih singkat daripada sisa pekerjaan tahunan.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480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P2</a:t>
                      </a:r>
                      <a:r>
                        <a:rPr lang="en-US" sz="2800" b="1" baseline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 : </a:t>
                      </a:r>
                      <a:r>
                        <a:rPr lang="en-US" sz="2800" b="0" baseline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Selesai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 b="1" baseline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P1 : </a:t>
                      </a:r>
                      <a:r>
                        <a:rPr lang="en-US" sz="2800" b="0" baseline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Resume</a:t>
                      </a:r>
                      <a:endParaRPr lang="en-US" sz="2800" b="0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Laporan harian selesai.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fi-FI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Aplikasi melanjutkan laporan tahunan dari posisi terakhir.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443484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75462" y="10192988"/>
            <a:ext cx="2286355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Pada aplikasi laporan penjualan yang menerapkan </a:t>
            </a:r>
            <a:r>
              <a:rPr lang="en-US" sz="28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SRT</a:t>
            </a:r>
            <a:r>
              <a:rPr lang="en-US" sz="2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pengolahan laporan tahunan dapat dijeda ketika permintaan laporan harian datang dengan perkiraan waktu pengerjaan lebih singkat daripada sisa waktu laporan tahunan. </a:t>
            </a:r>
            <a:endParaRPr lang="en-US" sz="28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Setelah 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laporan harian selesai, pengolahan laporan tahunan dilanjutkan</a:t>
            </a:r>
          </a:p>
        </p:txBody>
      </p:sp>
    </p:spTree>
    <p:extLst>
      <p:ext uri="{BB962C8B-B14F-4D97-AF65-F5344CB8AC3E}">
        <p14:creationId xmlns:p14="http://schemas.microsoft.com/office/powerpoint/2010/main" val="341182177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Process Scheduling algorithm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219456" y="2596896"/>
            <a:ext cx="23975568" cy="1152144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 w="28575" cap="flat">
            <a:solidFill>
              <a:schemeClr val="accent5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628131" y="2819025"/>
            <a:ext cx="3158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smtClean="0">
                <a:solidFill>
                  <a:schemeClr val="accent5">
                    <a:lumMod val="50000"/>
                  </a:schemeClr>
                </a:solidFill>
                <a:latin typeface="Aptos" panose="020B0004020202020204" pitchFamily="34" charset="0"/>
              </a:rPr>
              <a:t>Round Robin</a:t>
            </a:r>
            <a:endParaRPr lang="en-US" sz="4000" b="1">
              <a:solidFill>
                <a:schemeClr val="accent5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57072" y="4007745"/>
            <a:ext cx="22671024" cy="760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2300" indent="-6223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Algoritma </a:t>
            </a:r>
            <a:r>
              <a:rPr 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preemptive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yang memberikan giliran CPU secara bergantian dengan batas waktu yang disebut </a:t>
            </a:r>
            <a:r>
              <a:rPr 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time </a:t>
            </a:r>
            <a:r>
              <a:rPr 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quantum.</a:t>
            </a:r>
            <a:endParaRPr lang="en-US" sz="32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57072" y="5017714"/>
            <a:ext cx="21262848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900" b="1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Cara mengatur giliran:</a:t>
            </a:r>
            <a:endParaRPr lang="en-US" sz="290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Proses paling depan mendapat CPU maksimal selama satu </a:t>
            </a:r>
            <a:r>
              <a:rPr lang="en-US" alt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quantum tertentu.</a:t>
            </a:r>
            <a:endParaRPr lang="en-US" altLang="en-US" sz="29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Jika quantum habis dan proses masih siap berjalan, proses kembali ke belakang antrean.</a:t>
            </a:r>
          </a:p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Jika proses selesai atau menunggu I/O sebelum quantum habis, CPU dapat diberikan kepada proses lain. </a:t>
            </a:r>
            <a:r>
              <a:rPr lang="en-US" alt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endParaRPr lang="en-US" altLang="en-US" sz="29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57072" y="7876490"/>
            <a:ext cx="22671024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900" b="1" smtClean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Contoh kasus aplikasi:</a:t>
            </a:r>
            <a:r>
              <a:rPr lang="en-US" sz="2900" smtClean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sz="29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Aplikasi </a:t>
            </a:r>
            <a:r>
              <a:rPr lang="en-US" sz="29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pengolahan foto </a:t>
            </a:r>
            <a:r>
              <a:rPr lang="en-US" sz="29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yang bisa mengakomodir edit foto dari </a:t>
            </a:r>
            <a:r>
              <a:rPr lang="en-US" sz="29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beberapa pengguna.</a:t>
            </a:r>
            <a:endParaRPr lang="en-US" sz="29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Misalnya aplikasi dirancang untuk memproses foto secara bergiliran dengan </a:t>
            </a:r>
            <a:r>
              <a:rPr lang="en-US" sz="29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jatah waktu 100 ms per tugas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:</a:t>
            </a:r>
          </a:p>
          <a:p>
            <a:pPr marL="1169988" lvl="2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Foto A diproses maksimal 100 ms, kemudian giliran foto B.</a:t>
            </a:r>
          </a:p>
          <a:p>
            <a:pPr marL="1169988" lvl="2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Foto B diproses maksimal 100 ms, kemudian giliran foto C.</a:t>
            </a:r>
          </a:p>
          <a:p>
            <a:pPr marL="1169988" lvl="2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Foto C diproses maksimal 100 ms, lalu kembali ke foto A jika belum selesai.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Tugas yang sudah selesai keluar dari antrean.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9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Sehingga, </a:t>
            </a: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Foto 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berukuran besar tidak menguasai seluruh waktu </a:t>
            </a: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pemrosesan, dan 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foto </a:t>
            </a: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dari pengguna 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lain tetap mendapat </a:t>
            </a: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giliran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088962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Process Scheduling algorithm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219456" y="2596896"/>
            <a:ext cx="23975568" cy="1152144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 w="28575" cap="flat">
            <a:solidFill>
              <a:schemeClr val="accent5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628131" y="2819025"/>
            <a:ext cx="3158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smtClean="0">
                <a:solidFill>
                  <a:schemeClr val="accent5">
                    <a:lumMod val="50000"/>
                  </a:schemeClr>
                </a:solidFill>
                <a:latin typeface="Aptos" panose="020B0004020202020204" pitchFamily="34" charset="0"/>
              </a:rPr>
              <a:t>Round Robin</a:t>
            </a:r>
            <a:endParaRPr lang="en-US" sz="4000" b="1">
              <a:solidFill>
                <a:schemeClr val="accent5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57072" y="4007745"/>
            <a:ext cx="22671024" cy="2705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900" b="1" smtClean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Contoh lain:</a:t>
            </a:r>
          </a:p>
          <a:p>
            <a:pPr algn="just">
              <a:lnSpc>
                <a:spcPct val="150000"/>
              </a:lnSpc>
            </a:pPr>
            <a:r>
              <a:rPr lang="en-US" sz="29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</a:t>
            </a:r>
            <a:r>
              <a:rPr lang="en-US" sz="29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embagian </a:t>
            </a:r>
            <a:r>
              <a:rPr lang="en-US" sz="29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permintaan aplikasi web</a:t>
            </a:r>
            <a:endParaRPr lang="en-US" sz="29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Platform web </a:t>
            </a:r>
            <a:r>
              <a:rPr lang="en-US" sz="29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server</a:t>
            </a: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NGINX 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menyediakan Round Robin untuk membagi permintaan pengguna ke beberapa server. Misalnya, dengan tiga server berbobot sama dan semuanya tersedia: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775192"/>
              </p:ext>
            </p:extLst>
          </p:nvPr>
        </p:nvGraphicFramePr>
        <p:xfrm>
          <a:off x="7317814" y="7122119"/>
          <a:ext cx="10769018" cy="2590800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5384509">
                  <a:extLst>
                    <a:ext uri="{9D8B030D-6E8A-4147-A177-3AD203B41FA5}">
                      <a16:colId xmlns:a16="http://schemas.microsoft.com/office/drawing/2014/main" val="638502380"/>
                    </a:ext>
                  </a:extLst>
                </a:gridCol>
                <a:gridCol w="5384509">
                  <a:extLst>
                    <a:ext uri="{9D8B030D-6E8A-4147-A177-3AD203B41FA5}">
                      <a16:colId xmlns:a16="http://schemas.microsoft.com/office/drawing/2014/main" val="18480423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Permintaan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Server tujuan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691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Pengguna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Server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2456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Pengguna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Server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5567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Pengguna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Server 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4844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Pengguna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Kembali ke Server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68526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57072" y="10044986"/>
            <a:ext cx="22671024" cy="2100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Penggunaan algoritma Round 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Robin </a:t>
            </a: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untuk aktifitas </a:t>
            </a:r>
            <a:r>
              <a:rPr lang="en-US" sz="29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load balancing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 </a:t>
            </a:r>
            <a:endParaRPr lang="en-US" sz="29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9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Dimana pada case ini adalah mengelola </a:t>
            </a:r>
            <a:r>
              <a:rPr lang="en-US" sz="29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permintaan ke server, sehingga </a:t>
            </a:r>
            <a:r>
              <a:rPr lang="en-US" sz="29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tidak melibatkan pemotongan waktu CPU atau pause/resume </a:t>
            </a:r>
            <a:r>
              <a:rPr lang="en-US" sz="29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pekerjaan.</a:t>
            </a:r>
            <a:endParaRPr lang="en-US" sz="29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26417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DAF9C75-4554-CF8E-0C5D-F5479CB102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98FC85-AB76-CFC5-D4ED-B50A93C39C06}"/>
              </a:ext>
            </a:extLst>
          </p:cNvPr>
          <p:cNvSpPr txBox="1">
            <a:spLocks/>
          </p:cNvSpPr>
          <p:nvPr/>
        </p:nvSpPr>
        <p:spPr>
          <a:xfrm>
            <a:off x="2720937" y="3989490"/>
            <a:ext cx="17556480" cy="9786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Stallings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, W. (201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). </a:t>
            </a:r>
            <a:r>
              <a:rPr kumimoji="0" lang="id-ID" sz="36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Operating Systems: Internals and Design Principles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. 8</a:t>
            </a:r>
            <a:r>
              <a:rPr kumimoji="0" lang="id-ID" sz="3600" b="0" i="0" u="none" strike="noStrike" kern="120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th. </a:t>
            </a:r>
            <a:br>
              <a:rPr kumimoji="0" lang="id-ID" sz="3600" b="0" i="0" u="none" strike="noStrike" kern="120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ISBN: 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 978-0-13-380591-8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Abraham Silberschatz, Peter B. Galvin, Greg Gagne (201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8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). Operating System Concepts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10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th ed.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  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ISBN: 978-1-119-32091-3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A. Tanenbaum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 and H. Bos 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(20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15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), Modern Operating System,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4th</a:t>
            </a:r>
            <a:endParaRPr kumimoji="0" lang="id-ID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  ISBN: 978-0-13-359162-0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 	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id-ID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64994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3146</TotalTime>
  <Words>2110</Words>
  <Application>Microsoft Office PowerPoint</Application>
  <PresentationFormat>Custom</PresentationFormat>
  <Paragraphs>251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Open Sans Light</vt:lpstr>
      <vt:lpstr>Arial</vt:lpstr>
      <vt:lpstr>Open Sans</vt:lpstr>
      <vt:lpstr>Open Sans ExtraBold</vt:lpstr>
      <vt:lpstr>Open Sans Semibold</vt:lpstr>
      <vt:lpstr>Wingdings</vt:lpstr>
      <vt:lpstr>Helvetica Neue</vt:lpstr>
      <vt:lpstr>Helvetica Neue Medium</vt:lpstr>
      <vt:lpstr>Aptos</vt:lpstr>
      <vt:lpstr>OCRB</vt:lpstr>
      <vt:lpstr>21_BasicWhite</vt:lpstr>
      <vt:lpstr>Process Scheduling </vt:lpstr>
      <vt:lpstr>Discussion</vt:lpstr>
      <vt:lpstr>Discussion</vt:lpstr>
      <vt:lpstr>Definition</vt:lpstr>
      <vt:lpstr>Scheduling</vt:lpstr>
      <vt:lpstr>Scheduling</vt:lpstr>
      <vt:lpstr>Jenis Scheduling</vt:lpstr>
      <vt:lpstr>The Role of Various Types of Scheduling</vt:lpstr>
      <vt:lpstr>The Role of Various Types of Scheduling</vt:lpstr>
      <vt:lpstr>The Role of Various Types of Scheduling</vt:lpstr>
      <vt:lpstr>The Role of Various Types of Scheduling</vt:lpstr>
      <vt:lpstr>The Role of Various Types of Scheduling</vt:lpstr>
      <vt:lpstr>The Role of Various Types of Scheduling</vt:lpstr>
      <vt:lpstr>Peran Sistem Operasi dan Developer dalam Scheduling</vt:lpstr>
      <vt:lpstr>Process Scheduling algorithm</vt:lpstr>
      <vt:lpstr>Process Scheduling algorithm</vt:lpstr>
      <vt:lpstr>Process Scheduling algorithm</vt:lpstr>
      <vt:lpstr>Process Scheduling algorithm</vt:lpstr>
      <vt:lpstr>Process Scheduling algorithm</vt:lpstr>
      <vt:lpstr>Process Scheduling algorithm</vt:lpstr>
      <vt:lpstr>Process Scheduling algorithm</vt:lpstr>
      <vt:lpstr>Process Scheduling algorithm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Fachri Riyanto</dc:creator>
  <cp:lastModifiedBy>Muhammad Ihsan Arief Nurhakim</cp:lastModifiedBy>
  <cp:revision>40</cp:revision>
  <dcterms:created xsi:type="dcterms:W3CDTF">2023-03-03T09:44:40Z</dcterms:created>
  <dcterms:modified xsi:type="dcterms:W3CDTF">2026-10-16T18:12:29Z</dcterms:modified>
</cp:coreProperties>
</file>