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9"/>
  </p:notesMasterIdLst>
  <p:sldIdLst>
    <p:sldId id="256" r:id="rId2"/>
    <p:sldId id="260" r:id="rId3"/>
    <p:sldId id="261" r:id="rId4"/>
    <p:sldId id="258" r:id="rId5"/>
    <p:sldId id="304" r:id="rId6"/>
    <p:sldId id="322" r:id="rId7"/>
    <p:sldId id="323" r:id="rId8"/>
    <p:sldId id="317" r:id="rId9"/>
    <p:sldId id="324" r:id="rId10"/>
    <p:sldId id="325" r:id="rId11"/>
    <p:sldId id="326" r:id="rId12"/>
    <p:sldId id="327" r:id="rId13"/>
    <p:sldId id="263" r:id="rId14"/>
    <p:sldId id="328" r:id="rId15"/>
    <p:sldId id="329" r:id="rId16"/>
    <p:sldId id="330" r:id="rId17"/>
    <p:sldId id="331" r:id="rId18"/>
    <p:sldId id="332" r:id="rId19"/>
    <p:sldId id="266" r:id="rId20"/>
    <p:sldId id="262" r:id="rId21"/>
    <p:sldId id="272" r:id="rId22"/>
    <p:sldId id="333" r:id="rId23"/>
    <p:sldId id="273" r:id="rId24"/>
    <p:sldId id="277" r:id="rId25"/>
    <p:sldId id="334" r:id="rId26"/>
    <p:sldId id="293" r:id="rId27"/>
    <p:sldId id="303" r:id="rId28"/>
  </p:sldIdLst>
  <p:sldSz cx="24384000" cy="13716000"/>
  <p:notesSz cx="6858000" cy="9144000"/>
  <p:embeddedFontLst>
    <p:embeddedFont>
      <p:font typeface="Open Sans ExtraBold" panose="020B0604020202020204" charset="0"/>
      <p:bold r:id="rId30"/>
      <p:italic r:id="rId31"/>
      <p:boldItalic r:id="rId32"/>
    </p:embeddedFont>
    <p:embeddedFont>
      <p:font typeface="Open Sans" panose="020B0604020202020204" charset="0"/>
      <p:regular r:id="rId33"/>
      <p:bold r:id="rId34"/>
      <p:italic r:id="rId35"/>
      <p:boldItalic r:id="rId36"/>
    </p:embeddedFont>
    <p:embeddedFont>
      <p:font typeface="Open Sans Light" panose="020B0604020202020204" charset="0"/>
      <p:regular r:id="rId37"/>
      <p:italic r:id="rId38"/>
    </p:embeddedFont>
    <p:embeddedFont>
      <p:font typeface="Calibri" panose="020F0502020204030204" pitchFamily="34" charset="0"/>
      <p:regular r:id="rId39"/>
      <p:bold r:id="rId40"/>
      <p:italic r:id="rId41"/>
      <p:boldItalic r:id="rId42"/>
    </p:embeddedFont>
    <p:embeddedFont>
      <p:font typeface="OCRB" panose="020B0604020202020204" charset="0"/>
      <p:regular r:id="rId43"/>
    </p:embeddedFont>
    <p:embeddedFont>
      <p:font typeface="Aptos" panose="020B0004020202020204" pitchFamily="34" charset="0"/>
      <p:regular r:id="rId44"/>
      <p:bold r:id="rId45"/>
      <p:italic r:id="rId46"/>
      <p:boldItalic r:id="rId47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F5FF"/>
    <a:srgbClr val="B7BCC6"/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81" autoAdjust="0"/>
    <p:restoredTop sz="95274" autoAdjust="0"/>
  </p:normalViewPr>
  <p:slideViewPr>
    <p:cSldViewPr snapToGrid="0" snapToObjects="1">
      <p:cViewPr>
        <p:scale>
          <a:sx n="33" d="100"/>
          <a:sy n="33" d="100"/>
        </p:scale>
        <p:origin x="1301" y="451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47" Type="http://schemas.openxmlformats.org/officeDocument/2006/relationships/font" Target="fonts/font18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font" Target="fonts/font1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4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font" Target="fonts/font14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openxmlformats.org/officeDocument/2006/relationships/font" Target="fonts/font17.fntdata"/><Relationship Id="rId20" Type="http://schemas.openxmlformats.org/officeDocument/2006/relationships/slide" Target="slides/slide19.xml"/><Relationship Id="rId41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9159E0-43FE-E847-BD1F-013D39EEF7AD}" type="doc">
      <dgm:prSet loTypeId="urn:microsoft.com/office/officeart/2005/8/layout/arrow6" loCatId="relationship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799D16A-35E0-6740-9B74-8F1C9729CE21}">
      <dgm:prSet/>
      <dgm:spPr/>
      <dgm:t>
        <a:bodyPr/>
        <a:lstStyle/>
        <a:p>
          <a:pPr rtl="0"/>
          <a:r>
            <a:rPr lang="en-US" dirty="0"/>
            <a:t>User Level Thread (ULT)</a:t>
          </a:r>
        </a:p>
      </dgm:t>
    </dgm:pt>
    <dgm:pt modelId="{FDD94F53-35CB-2242-8F4E-828BB85D3FAF}" type="parTrans" cxnId="{6AB236C5-4BDC-1E45-8B59-718C7F7B3667}">
      <dgm:prSet/>
      <dgm:spPr/>
      <dgm:t>
        <a:bodyPr/>
        <a:lstStyle/>
        <a:p>
          <a:endParaRPr lang="en-US"/>
        </a:p>
      </dgm:t>
    </dgm:pt>
    <dgm:pt modelId="{184FBB80-03CA-734D-8281-28A639685E55}" type="sibTrans" cxnId="{6AB236C5-4BDC-1E45-8B59-718C7F7B3667}">
      <dgm:prSet/>
      <dgm:spPr/>
      <dgm:t>
        <a:bodyPr/>
        <a:lstStyle/>
        <a:p>
          <a:endParaRPr lang="en-US"/>
        </a:p>
      </dgm:t>
    </dgm:pt>
    <dgm:pt modelId="{C803ADBF-8CE0-C844-8CEF-99760ABDF659}">
      <dgm:prSet/>
      <dgm:spPr/>
      <dgm:t>
        <a:bodyPr/>
        <a:lstStyle/>
        <a:p>
          <a:pPr rtl="0"/>
          <a:endParaRPr lang="en-NZ" dirty="0"/>
        </a:p>
      </dgm:t>
    </dgm:pt>
    <dgm:pt modelId="{66974104-EED0-1346-B9EA-2004DB459F12}" type="parTrans" cxnId="{6417AEE5-8F4B-4641-99FA-8F439BE8AD4E}">
      <dgm:prSet/>
      <dgm:spPr/>
      <dgm:t>
        <a:bodyPr/>
        <a:lstStyle/>
        <a:p>
          <a:endParaRPr lang="en-US"/>
        </a:p>
      </dgm:t>
    </dgm:pt>
    <dgm:pt modelId="{D9EE15B6-445A-8C46-A10D-7C487F0E2F37}" type="sibTrans" cxnId="{6417AEE5-8F4B-4641-99FA-8F439BE8AD4E}">
      <dgm:prSet/>
      <dgm:spPr/>
      <dgm:t>
        <a:bodyPr/>
        <a:lstStyle/>
        <a:p>
          <a:endParaRPr lang="en-US"/>
        </a:p>
      </dgm:t>
    </dgm:pt>
    <dgm:pt modelId="{DC411167-CC55-CB42-BD03-7807F64D5679}">
      <dgm:prSet/>
      <dgm:spPr/>
      <dgm:t>
        <a:bodyPr/>
        <a:lstStyle/>
        <a:p>
          <a:pPr rtl="0"/>
          <a:r>
            <a:rPr lang="en-NZ" dirty="0"/>
            <a:t>Kernel level Thread (KLT) </a:t>
          </a:r>
        </a:p>
      </dgm:t>
    </dgm:pt>
    <dgm:pt modelId="{98E173CB-7F0A-B344-AD55-CDD680A68ED8}" type="parTrans" cxnId="{2366C24F-60CA-F941-9291-5FE1DC720459}">
      <dgm:prSet/>
      <dgm:spPr/>
      <dgm:t>
        <a:bodyPr/>
        <a:lstStyle/>
        <a:p>
          <a:endParaRPr lang="en-US"/>
        </a:p>
      </dgm:t>
    </dgm:pt>
    <dgm:pt modelId="{3060C359-71F5-1C41-96AA-761973EDE44E}" type="sibTrans" cxnId="{2366C24F-60CA-F941-9291-5FE1DC720459}">
      <dgm:prSet/>
      <dgm:spPr/>
      <dgm:t>
        <a:bodyPr/>
        <a:lstStyle/>
        <a:p>
          <a:endParaRPr lang="en-US"/>
        </a:p>
      </dgm:t>
    </dgm:pt>
    <dgm:pt modelId="{179BE68D-A4BF-DB4D-8129-B93AAA7C285F}" type="pres">
      <dgm:prSet presAssocID="{309159E0-43FE-E847-BD1F-013D39EEF7AD}" presName="compositeShape" presStyleCnt="0">
        <dgm:presLayoutVars>
          <dgm:chMax val="2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BE085AC-6150-B14A-A83D-67F237B285BA}" type="pres">
      <dgm:prSet presAssocID="{309159E0-43FE-E847-BD1F-013D39EEF7AD}" presName="ribbon" presStyleLbl="node1" presStyleIdx="0" presStyleCnt="1"/>
      <dgm:spPr/>
    </dgm:pt>
    <dgm:pt modelId="{14344616-8A66-5441-84C7-1DA3555BB89A}" type="pres">
      <dgm:prSet presAssocID="{309159E0-43FE-E847-BD1F-013D39EEF7AD}" presName="leftArrowText" presStyleLbl="node1" presStyleIdx="0" presStyleCnt="1" custLinFactNeighborX="847" custLinFactNeighborY="1426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8D499D1-31A4-DF4A-800E-FEE8DE3CF070}" type="pres">
      <dgm:prSet presAssocID="{309159E0-43FE-E847-BD1F-013D39EEF7AD}" presName="rightArrow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AB236C5-4BDC-1E45-8B59-718C7F7B3667}" srcId="{309159E0-43FE-E847-BD1F-013D39EEF7AD}" destId="{6799D16A-35E0-6740-9B74-8F1C9729CE21}" srcOrd="0" destOrd="0" parTransId="{FDD94F53-35CB-2242-8F4E-828BB85D3FAF}" sibTransId="{184FBB80-03CA-734D-8281-28A639685E55}"/>
    <dgm:cxn modelId="{AE4B9C48-3A05-2F44-A2BE-C5567B9C8A3A}" type="presOf" srcId="{6799D16A-35E0-6740-9B74-8F1C9729CE21}" destId="{14344616-8A66-5441-84C7-1DA3555BB89A}" srcOrd="0" destOrd="0" presId="urn:microsoft.com/office/officeart/2005/8/layout/arrow6"/>
    <dgm:cxn modelId="{2366C24F-60CA-F941-9291-5FE1DC720459}" srcId="{309159E0-43FE-E847-BD1F-013D39EEF7AD}" destId="{DC411167-CC55-CB42-BD03-7807F64D5679}" srcOrd="1" destOrd="0" parTransId="{98E173CB-7F0A-B344-AD55-CDD680A68ED8}" sibTransId="{3060C359-71F5-1C41-96AA-761973EDE44E}"/>
    <dgm:cxn modelId="{2484921E-8A27-1A4B-A15D-4AAF8EA5B535}" type="presOf" srcId="{C803ADBF-8CE0-C844-8CEF-99760ABDF659}" destId="{14344616-8A66-5441-84C7-1DA3555BB89A}" srcOrd="0" destOrd="1" presId="urn:microsoft.com/office/officeart/2005/8/layout/arrow6"/>
    <dgm:cxn modelId="{6417AEE5-8F4B-4641-99FA-8F439BE8AD4E}" srcId="{6799D16A-35E0-6740-9B74-8F1C9729CE21}" destId="{C803ADBF-8CE0-C844-8CEF-99760ABDF659}" srcOrd="0" destOrd="0" parTransId="{66974104-EED0-1346-B9EA-2004DB459F12}" sibTransId="{D9EE15B6-445A-8C46-A10D-7C487F0E2F37}"/>
    <dgm:cxn modelId="{5F39187C-45DA-BF45-8DBB-2BE4B64DCEB8}" type="presOf" srcId="{309159E0-43FE-E847-BD1F-013D39EEF7AD}" destId="{179BE68D-A4BF-DB4D-8129-B93AAA7C285F}" srcOrd="0" destOrd="0" presId="urn:microsoft.com/office/officeart/2005/8/layout/arrow6"/>
    <dgm:cxn modelId="{94F7CEB7-5EF8-5C49-A05A-1A72C7B540C8}" type="presOf" srcId="{DC411167-CC55-CB42-BD03-7807F64D5679}" destId="{E8D499D1-31A4-DF4A-800E-FEE8DE3CF070}" srcOrd="0" destOrd="0" presId="urn:microsoft.com/office/officeart/2005/8/layout/arrow6"/>
    <dgm:cxn modelId="{A49971C1-FDF8-5540-B3FB-1EEF31070A2C}" type="presParOf" srcId="{179BE68D-A4BF-DB4D-8129-B93AAA7C285F}" destId="{7BE085AC-6150-B14A-A83D-67F237B285BA}" srcOrd="0" destOrd="0" presId="urn:microsoft.com/office/officeart/2005/8/layout/arrow6"/>
    <dgm:cxn modelId="{B9126B3E-6491-754B-A7BB-5826BDB47042}" type="presParOf" srcId="{179BE68D-A4BF-DB4D-8129-B93AAA7C285F}" destId="{14344616-8A66-5441-84C7-1DA3555BB89A}" srcOrd="1" destOrd="0" presId="urn:microsoft.com/office/officeart/2005/8/layout/arrow6"/>
    <dgm:cxn modelId="{6899E1F8-AE76-7843-ACA6-9E901FA2858B}" type="presParOf" srcId="{179BE68D-A4BF-DB4D-8129-B93AAA7C285F}" destId="{E8D499D1-31A4-DF4A-800E-FEE8DE3CF070}" srcOrd="2" destOrd="0" presId="urn:microsoft.com/office/officeart/2005/8/layout/arrow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E085AC-6150-B14A-A83D-67F237B285BA}">
      <dsp:nvSpPr>
        <dsp:cNvPr id="0" name=""/>
        <dsp:cNvSpPr/>
      </dsp:nvSpPr>
      <dsp:spPr>
        <a:xfrm>
          <a:off x="0" y="925623"/>
          <a:ext cx="13624560" cy="5449823"/>
        </a:xfrm>
        <a:prstGeom prst="leftRightRibb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29999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4344616-8A66-5441-84C7-1DA3555BB89A}">
      <dsp:nvSpPr>
        <dsp:cNvPr id="0" name=""/>
        <dsp:cNvSpPr/>
      </dsp:nvSpPr>
      <dsp:spPr>
        <a:xfrm>
          <a:off x="1673029" y="2260330"/>
          <a:ext cx="4496104" cy="2670413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167132" rIns="0" bIns="179070" numCol="1" spcCol="1270" anchor="ctr" anchorCtr="0">
          <a:noAutofit/>
        </a:bodyPr>
        <a:lstStyle/>
        <a:p>
          <a:pPr lvl="0" algn="l" defTabSz="20891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700" kern="1200" dirty="0"/>
            <a:t>User Level Thread (ULT)</a:t>
          </a:r>
        </a:p>
        <a:p>
          <a:pPr marL="285750" lvl="1" indent="-285750" algn="l" defTabSz="1644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NZ" sz="3700" kern="1200" dirty="0"/>
        </a:p>
      </dsp:txBody>
      <dsp:txXfrm>
        <a:off x="1673029" y="2260330"/>
        <a:ext cx="4496104" cy="2670413"/>
      </dsp:txXfrm>
    </dsp:sp>
    <dsp:sp modelId="{E8D499D1-31A4-DF4A-800E-FEE8DE3CF070}">
      <dsp:nvSpPr>
        <dsp:cNvPr id="0" name=""/>
        <dsp:cNvSpPr/>
      </dsp:nvSpPr>
      <dsp:spPr>
        <a:xfrm>
          <a:off x="6812280" y="2751314"/>
          <a:ext cx="5313578" cy="2670413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167132" rIns="0" bIns="179070" numCol="1" spcCol="1270" anchor="ctr" anchorCtr="0">
          <a:noAutofit/>
        </a:bodyPr>
        <a:lstStyle/>
        <a:p>
          <a:pPr lvl="0" algn="ctr" defTabSz="20891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NZ" sz="4700" kern="1200" dirty="0"/>
            <a:t>Kernel level Thread (KLT) </a:t>
          </a:r>
        </a:p>
      </dsp:txBody>
      <dsp:txXfrm>
        <a:off x="6812280" y="2751314"/>
        <a:ext cx="5313578" cy="26704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6">
  <dgm:title val=""/>
  <dgm:desc val=""/>
  <dgm:catLst>
    <dgm:cat type="relationship" pri="4000"/>
    <dgm:cat type="process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>
      <dgm:param type="horzAlign" val="ctr"/>
      <dgm:param type="vertAlign" val="mid"/>
      <dgm:param type="ar" val="2.5"/>
    </dgm:alg>
    <dgm:shape xmlns:r="http://schemas.openxmlformats.org/officeDocument/2006/relationships" r:blip="">
      <dgm:adjLst/>
    </dgm:shape>
    <dgm:presOf/>
    <dgm:constrLst>
      <dgm:constr type="primFontSz" for="des" ptType="node" op="equ"/>
      <dgm:constr type="w" for="ch" forName="ribbon" refType="h" refFor="ch" refForName="ribbon" fact="2.5"/>
      <dgm:constr type="h" for="ch" forName="leftArrowText" refType="h" fact="0.49"/>
      <dgm:constr type="ctrY" for="ch" forName="leftArrowText" refType="ctrY" refFor="ch" refForName="ribbon"/>
      <dgm:constr type="ctrYOff" for="ch" forName="leftArrowText" refType="h" refFor="ch" refForName="ribbon" fact="-0.08"/>
      <dgm:constr type="l" for="ch" forName="leftArrowText" refType="w" refFor="ch" refForName="ribbon" fact="0.12"/>
      <dgm:constr type="r" for="ch" forName="leftArrowText" refType="w" refFor="ch" refForName="ribbon" fact="0.45"/>
      <dgm:constr type="h" for="ch" forName="rightArrowText" refType="h" fact="0.49"/>
      <dgm:constr type="ctrY" for="ch" forName="rightArrowText" refType="ctrY" refFor="ch" refForName="ribbon"/>
      <dgm:constr type="ctrYOff" for="ch" forName="rightArrowText" refType="h" refFor="ch" refForName="ribbon" fact="0.08"/>
      <dgm:constr type="l" for="ch" forName="rightArrowText" refType="w" refFor="ch" refForName="ribbon" fact="0.5"/>
      <dgm:constr type="r" for="ch" forName="rightArrowText" refType="w" refFor="ch" refForName="ribbon" fact="0.89"/>
    </dgm:constrLst>
    <dgm:ruleLst/>
    <dgm:choose name="Name0">
      <dgm:if name="Name1" axis="ch" ptType="node" func="cnt" op="gte" val="1">
        <dgm:layoutNode name="ribbon" styleLbl="node1">
          <dgm:alg type="sp"/>
          <dgm:shape xmlns:r="http://schemas.openxmlformats.org/officeDocument/2006/relationships" type="leftRightRibbon" r:blip="">
            <dgm:adjLst/>
          </dgm:shape>
          <dgm:presOf/>
          <dgm:constrLst/>
          <dgm:ruleLst/>
        </dgm:layoutNode>
        <dgm:layoutNode name="lef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2">
            <dgm:if name="Name3" func="var" arg="dir" op="equ" val="norm">
              <dgm:presOf axis="ch desOrSelf" ptType="node node" st="1 1" cnt="1 0"/>
            </dgm:if>
            <dgm:else name="Name4">
              <dgm:presOf axis="ch desOrSelf" ptType="node node" st="2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  <dgm:layoutNode name="righ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5">
            <dgm:if name="Name6" func="var" arg="dir" op="equ" val="norm">
              <dgm:presOf axis="ch desOrSelf" ptType="node node" st="2 1" cnt="1 0"/>
            </dgm:if>
            <dgm:else name="Name7">
              <dgm:presOf axis="ch desOrSelf" ptType="node node" st="1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</dgm:if>
      <dgm:else name="Name8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11" Type="http://schemas.openxmlformats.org/officeDocument/2006/relationships/image" Target="../media/image5.png"/><Relationship Id="rId5" Type="http://schemas.openxmlformats.org/officeDocument/2006/relationships/image" Target="../media/image11.svg"/><Relationship Id="rId10" Type="http://schemas.openxmlformats.org/officeDocument/2006/relationships/image" Target="../media/image4.png"/><Relationship Id="rId4" Type="http://schemas.openxmlformats.org/officeDocument/2006/relationships/image" Target="../media/image9.png"/><Relationship Id="rId9" Type="http://schemas.openxmlformats.org/officeDocument/2006/relationships/image" Target="../media/image15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svg"/><Relationship Id="rId7" Type="http://schemas.openxmlformats.org/officeDocument/2006/relationships/image" Target="../media/image5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21.svg"/><Relationship Id="rId4" Type="http://schemas.openxmlformats.org/officeDocument/2006/relationships/image" Target="../media/image1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04" name="Content Placeholder 7">
            <a:extLst>
              <a:ext uri="{FF2B5EF4-FFF2-40B4-BE49-F238E27FC236}">
                <a16:creationId xmlns:a16="http://schemas.microsoft.com/office/drawing/2014/main" id="{A238D5AC-1068-5240-9AFA-91BA1250D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COMP6697001-Operating Systems</a:t>
            </a:r>
          </a:p>
          <a:p>
            <a:r>
              <a:rPr lang="en-US"/>
              <a:t>Session 3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607722" y="11538583"/>
            <a:ext cx="5168556" cy="745888"/>
          </a:xfrm>
        </p:spPr>
        <p:txBody>
          <a:bodyPr/>
          <a:lstStyle/>
          <a:p>
            <a:r>
              <a:rPr lang="en-US" dirty="0"/>
              <a:t>Dr. Zulfany Erlisa Rasjid </a:t>
            </a:r>
            <a:r>
              <a:rPr lang="en-US" dirty="0" err="1"/>
              <a:t>B.Sc.,MMSI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56458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D9B38-047A-8D82-4E64-63C84FB76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dirty="0"/>
              <a:t>Acknowledgement</a:t>
            </a:r>
            <a:br>
              <a:rPr lang="en-US" sz="3600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ED6962-EEBC-671A-7193-94836A9E68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3773040"/>
            <a:ext cx="11768079" cy="4932048"/>
          </a:xfrm>
        </p:spPr>
        <p:txBody>
          <a:bodyPr>
            <a:normAutofit/>
          </a:bodyPr>
          <a:lstStyle/>
          <a:p>
            <a:r>
              <a:rPr lang="en-US" dirty="0"/>
              <a:t>These slides have been adapted from: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Stallings, W. (2018). Operating Systems: Internals and Design Principles. 9th. </a:t>
            </a:r>
            <a:br>
              <a:rPr lang="en-US" dirty="0"/>
            </a:br>
            <a:r>
              <a:rPr lang="en-US" dirty="0"/>
              <a:t>ISBN: 978-1-292-21429-0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Chapter 4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30248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F3BD4-D0D0-FE79-710A-DA37F3C95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757758"/>
            <a:ext cx="14950191" cy="1236902"/>
          </a:xfrm>
        </p:spPr>
        <p:txBody>
          <a:bodyPr>
            <a:normAutofit fontScale="900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Learning Objectives</a:t>
            </a:r>
            <a:b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8FAA0F-F03B-77D2-AEE0-EEFAE1EDB9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3108960"/>
            <a:ext cx="18122910" cy="6139056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altLang="en-US" dirty="0"/>
              <a:t>At the end of this lecture, students are able to:</a:t>
            </a:r>
          </a:p>
          <a:p>
            <a:pPr>
              <a:buFontTx/>
              <a:buNone/>
            </a:pPr>
            <a:r>
              <a:rPr lang="en-US" altLang="en-US" dirty="0"/>
              <a:t>LO2 :  Explain the concept of threads and multithreading</a:t>
            </a:r>
          </a:p>
          <a:p>
            <a:pPr>
              <a:buFontTx/>
              <a:buNone/>
            </a:pPr>
            <a:r>
              <a:rPr lang="en-US" altLang="en-US" dirty="0"/>
              <a:t>LO3 :  Compare thread implementation methods</a:t>
            </a:r>
          </a:p>
          <a:p>
            <a:pPr>
              <a:buFontTx/>
              <a:buNone/>
            </a:pPr>
            <a:r>
              <a:rPr lang="en-US" altLang="en-US" dirty="0"/>
              <a:t>LO4 : Programming using threads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637637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3C48D5-03CE-6CDC-F193-7A0A730E23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3125" y="3413640"/>
            <a:ext cx="13822715" cy="5849630"/>
          </a:xfrm>
        </p:spPr>
        <p:txBody>
          <a:bodyPr>
            <a:normAutofit/>
          </a:bodyPr>
          <a:lstStyle/>
          <a:p>
            <a:pPr marL="102870" marR="0" indent="-102870">
              <a:spcBef>
                <a:spcPts val="0"/>
              </a:spcBef>
              <a:spcAft>
                <a:spcPts val="0"/>
              </a:spcAft>
            </a:pPr>
            <a:r>
              <a:rPr lang="en-US" sz="4000" dirty="0">
                <a:solidFill>
                  <a:schemeClr val="bg2">
                    <a:lumMod val="25000"/>
                  </a:schemeClr>
                </a:solidFill>
              </a:rPr>
              <a:t>-  Process and Threads</a:t>
            </a:r>
          </a:p>
          <a:p>
            <a:pPr marL="102870" marR="0" indent="-102870">
              <a:spcBef>
                <a:spcPts val="0"/>
              </a:spcBef>
              <a:spcAft>
                <a:spcPts val="0"/>
              </a:spcAft>
            </a:pPr>
            <a:r>
              <a:rPr lang="en-US" sz="4000" dirty="0">
                <a:solidFill>
                  <a:schemeClr val="bg2">
                    <a:lumMod val="25000"/>
                  </a:schemeClr>
                </a:solidFill>
              </a:rPr>
              <a:t>-  Type of Threads</a:t>
            </a:r>
          </a:p>
          <a:p>
            <a:pPr marL="102870" marR="0" indent="-102870">
              <a:spcBef>
                <a:spcPts val="0"/>
              </a:spcBef>
              <a:spcAft>
                <a:spcPts val="0"/>
              </a:spcAft>
            </a:pPr>
            <a:r>
              <a:rPr lang="en-US" sz="4000" dirty="0">
                <a:solidFill>
                  <a:schemeClr val="bg2">
                    <a:lumMod val="25000"/>
                  </a:schemeClr>
                </a:solidFill>
              </a:rPr>
              <a:t>-  Multicore and Multithreading</a:t>
            </a:r>
          </a:p>
          <a:p>
            <a:pPr marL="102870" marR="0" indent="-102870">
              <a:spcBef>
                <a:spcPts val="0"/>
              </a:spcBef>
              <a:spcAft>
                <a:spcPts val="0"/>
              </a:spcAft>
            </a:pPr>
            <a:r>
              <a:rPr lang="en-US" sz="4000" dirty="0">
                <a:solidFill>
                  <a:schemeClr val="bg2">
                    <a:lumMod val="25000"/>
                  </a:schemeClr>
                </a:solidFill>
              </a:rPr>
              <a:t>-  Thread Programming</a:t>
            </a:r>
          </a:p>
          <a:p>
            <a:pPr marL="102870" marR="0" indent="-102870">
              <a:spcBef>
                <a:spcPts val="0"/>
              </a:spcBef>
              <a:spcAft>
                <a:spcPts val="0"/>
              </a:spcAft>
            </a:pPr>
            <a:r>
              <a:rPr lang="en-US" sz="4000" dirty="0">
                <a:solidFill>
                  <a:schemeClr val="bg2">
                    <a:lumMod val="25000"/>
                  </a:schemeClr>
                </a:solidFill>
              </a:rPr>
              <a:t>-  Windows Process and Thread Management</a:t>
            </a:r>
          </a:p>
          <a:p>
            <a:pPr marL="102870" marR="0" indent="-102870">
              <a:spcBef>
                <a:spcPts val="0"/>
              </a:spcBef>
              <a:spcAft>
                <a:spcPts val="0"/>
              </a:spcAft>
            </a:pPr>
            <a:r>
              <a:rPr lang="en-US" sz="4000" dirty="0">
                <a:solidFill>
                  <a:schemeClr val="bg2">
                    <a:lumMod val="25000"/>
                  </a:schemeClr>
                </a:solidFill>
              </a:rPr>
              <a:t>-  Linux Process and Thread Management</a:t>
            </a:r>
          </a:p>
          <a:p>
            <a:pPr marL="102870" marR="0" indent="-102870">
              <a:spcBef>
                <a:spcPts val="0"/>
              </a:spcBef>
              <a:spcAft>
                <a:spcPts val="0"/>
              </a:spcAft>
            </a:pPr>
            <a:r>
              <a:rPr lang="en-US" sz="4000" dirty="0">
                <a:solidFill>
                  <a:schemeClr val="bg2">
                    <a:lumMod val="25000"/>
                  </a:schemeClr>
                </a:solidFill>
              </a:rPr>
              <a:t>-  Android Process and Thread Management</a:t>
            </a:r>
          </a:p>
          <a:p>
            <a:pPr marL="102870" marR="0" indent="-102870">
              <a:spcBef>
                <a:spcPts val="0"/>
              </a:spcBef>
              <a:spcAft>
                <a:spcPts val="0"/>
              </a:spcAft>
            </a:pPr>
            <a:endParaRPr lang="en-US" sz="40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F8B3490-C539-CA29-0C76-DED7D8AF6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Multiprocessor and Embedded System</a:t>
            </a:r>
          </a:p>
        </p:txBody>
      </p:sp>
    </p:spTree>
    <p:extLst>
      <p:ext uri="{BB962C8B-B14F-4D97-AF65-F5344CB8AC3E}">
        <p14:creationId xmlns:p14="http://schemas.microsoft.com/office/powerpoint/2010/main" val="198192688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A83F6-8AF0-A949-D3B1-95B1C9981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902843"/>
            <a:ext cx="14715569" cy="51028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threads 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ECA83F6-8AF0-A949-D3B1-95B1C99814ED}"/>
              </a:ext>
            </a:extLst>
          </p:cNvPr>
          <p:cNvSpPr txBox="1">
            <a:spLocks/>
          </p:cNvSpPr>
          <p:nvPr/>
        </p:nvSpPr>
        <p:spPr>
          <a:xfrm>
            <a:off x="1003041" y="3061083"/>
            <a:ext cx="14715569" cy="510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 fontScale="90000" lnSpcReduction="10000"/>
          </a:bodyPr>
          <a:lstStyle>
            <a:lvl1pPr marL="0" marR="0" indent="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  <a:lvl2pPr marL="0" marR="0" indent="457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smtClean="0">
                <a:solidFill>
                  <a:srgbClr val="FF0000"/>
                </a:solidFill>
              </a:rPr>
              <a:t>Discussion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03041" y="3571364"/>
            <a:ext cx="2238731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Ada sebuah aplikasi 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pengolah </a:t>
            </a:r>
            <a:r>
              <a:rPr lang="en-US" sz="32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foto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Aplikasi tersebut 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menjalankan 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proses </a:t>
            </a:r>
            <a:r>
              <a:rPr lang="en-US" sz="32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yang kompleks dan membutuhan source yang besar (filtering, dan lainnya)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Lalu seorang 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pengguna membuka foto beresolusi tinggi, kemudian menekan tombol </a:t>
            </a:r>
            <a:r>
              <a:rPr lang="en-US" sz="32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“Terapkan </a:t>
            </a:r>
            <a:r>
              <a:rPr lang="en-US" sz="32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Filter</a:t>
            </a:r>
            <a:r>
              <a:rPr lang="en-US" sz="32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”</a:t>
            </a:r>
            <a:endParaRPr lang="en-US" sz="320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03040" y="6097312"/>
            <a:ext cx="12192000" cy="3785652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3200" u="sng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Untuk menghasilkan foto baru, aplikasi perlu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:</a:t>
            </a: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Membaca data piksel foto.</a:t>
            </a: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Menghitung perubahan warna dan efek filter.</a:t>
            </a: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Menyimpan hasil pengolahan dalam memori.</a:t>
            </a: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Menampilkan foto hasil pengolahan</a:t>
            </a:r>
          </a:p>
        </p:txBody>
      </p:sp>
      <p:sp>
        <p:nvSpPr>
          <p:cNvPr id="9" name="Rectangle 8"/>
          <p:cNvSpPr/>
          <p:nvPr/>
        </p:nvSpPr>
        <p:spPr>
          <a:xfrm>
            <a:off x="11326368" y="6342597"/>
            <a:ext cx="12393168" cy="28623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Misalkan seluruh pemrosesan membutuhkan </a:t>
            </a:r>
            <a:r>
              <a:rPr lang="en-US" sz="30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8 </a:t>
            </a:r>
            <a:r>
              <a:rPr lang="en-US" sz="30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detik</a:t>
            </a:r>
            <a:r>
              <a:rPr lang="en-US" sz="30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Selama </a:t>
            </a:r>
            <a:r>
              <a:rPr lang="en-US" sz="30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menunggu, pengguna ingin tetap dapat memindahkan jendela</a:t>
            </a:r>
            <a:r>
              <a:rPr lang="en-US" sz="30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, </a:t>
            </a:r>
            <a:r>
              <a:rPr lang="en-US" sz="30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tapi juga bisa melihat </a:t>
            </a:r>
            <a:r>
              <a:rPr lang="en-US" sz="30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progres, </a:t>
            </a:r>
            <a:r>
              <a:rPr lang="en-US" sz="30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atau </a:t>
            </a:r>
            <a:r>
              <a:rPr lang="en-US" sz="30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bahkan membatalkan pemrosesan edit foto diatas.</a:t>
            </a:r>
            <a:endParaRPr lang="en-US" sz="300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41309" y="11126016"/>
            <a:ext cx="1694406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u="sng">
                <a:solidFill>
                  <a:srgbClr val="FF0000"/>
                </a:solidFill>
                <a:latin typeface="Aptos" panose="020B0004020202020204" pitchFamily="34" charset="0"/>
              </a:rPr>
              <a:t>Apakah aplikasi harus berhenti merespons selama foto diproses?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309" y="12009981"/>
            <a:ext cx="2287822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b="1" smtClean="0">
                <a:solidFill>
                  <a:srgbClr val="0070C0"/>
                </a:solidFill>
                <a:latin typeface="Aptos" panose="020B0004020202020204" pitchFamily="34" charset="0"/>
              </a:rPr>
              <a:t>Gambaran ini dari satu aplikasi di laptop teman-teman, bagaimana jika satu aplikasi melayani banyak pengguna?</a:t>
            </a:r>
            <a:endParaRPr lang="en-US" sz="3600" b="1">
              <a:solidFill>
                <a:srgbClr val="0070C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394158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A83F6-8AF0-A949-D3B1-95B1C9981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902843"/>
            <a:ext cx="14715569" cy="51028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threads 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969264" y="2872425"/>
            <a:ext cx="2227478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4000" b="1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Thread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40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adalah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unit </a:t>
            </a:r>
            <a:r>
              <a:rPr lang="en-US" sz="40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terkecil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40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dari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40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eksekusi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40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dalam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40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sebuah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proses. </a:t>
            </a:r>
            <a:r>
              <a:rPr lang="en-US" sz="40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Dalam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40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konteks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40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sistem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40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operasi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, thread </a:t>
            </a:r>
            <a:r>
              <a:rPr lang="en-US" sz="40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memungkinkan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multitasking di </a:t>
            </a:r>
            <a:r>
              <a:rPr lang="en-US" sz="40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dalam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40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sebuah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proses, di mana </a:t>
            </a:r>
            <a:r>
              <a:rPr lang="en-US" sz="40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beberapa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thread </a:t>
            </a:r>
            <a:r>
              <a:rPr lang="en-US" sz="40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dapat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40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berjalan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40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secara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40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bersamaan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, </a:t>
            </a:r>
            <a:r>
              <a:rPr lang="en-US" sz="40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berbagi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40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sumber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40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daya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yang </a:t>
            </a:r>
            <a:r>
              <a:rPr lang="en-US" sz="40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sama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, </a:t>
            </a:r>
            <a:r>
              <a:rPr lang="en-US" sz="40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seperti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40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memori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40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dan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969263" y="6939748"/>
            <a:ext cx="22274785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4000" b="1" dirty="0" err="1">
                <a:solidFill>
                  <a:srgbClr val="C00000"/>
                </a:solidFill>
                <a:latin typeface="Aptos" panose="020B0004020202020204" pitchFamily="34" charset="0"/>
              </a:rPr>
              <a:t>Karakteristik</a:t>
            </a:r>
            <a:r>
              <a:rPr lang="en-US" sz="4000" b="1" dirty="0">
                <a:solidFill>
                  <a:srgbClr val="C00000"/>
                </a:solidFill>
                <a:latin typeface="Aptos" panose="020B0004020202020204" pitchFamily="34" charset="0"/>
              </a:rPr>
              <a:t> </a:t>
            </a:r>
            <a:r>
              <a:rPr lang="en-US" sz="4000" b="1" dirty="0" smtClean="0">
                <a:solidFill>
                  <a:srgbClr val="C00000"/>
                </a:solidFill>
                <a:latin typeface="Aptos" panose="020B0004020202020204" pitchFamily="34" charset="0"/>
              </a:rPr>
              <a:t>Thread</a:t>
            </a:r>
          </a:p>
          <a:p>
            <a:pPr marL="742950" indent="-742950" algn="just">
              <a:lnSpc>
                <a:spcPct val="150000"/>
              </a:lnSpc>
              <a:buFont typeface="+mj-lt"/>
              <a:buAutoNum type="arabicPeriod"/>
            </a:pPr>
            <a:r>
              <a:rPr lang="en-US" sz="4000" b="1" dirty="0" err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Ringan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: Thread </a:t>
            </a:r>
            <a:r>
              <a:rPr lang="en-US" sz="40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lebih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40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ringan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40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dibandingkan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proses, </a:t>
            </a:r>
            <a:r>
              <a:rPr lang="en-US" sz="40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karena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40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berbagi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40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ruang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40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alamat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40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dan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40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sumber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4000" dirty="0" err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daya</a:t>
            </a:r>
            <a:r>
              <a:rPr lang="en-US" sz="4000" dirty="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.</a:t>
            </a:r>
          </a:p>
          <a:p>
            <a:pPr marL="742950" indent="-742950" algn="just">
              <a:lnSpc>
                <a:spcPct val="150000"/>
              </a:lnSpc>
              <a:buFont typeface="+mj-lt"/>
              <a:buAutoNum type="arabicPeriod"/>
            </a:pPr>
            <a:r>
              <a:rPr lang="en-US" sz="4000" b="1" dirty="0" err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Eksekusi</a:t>
            </a:r>
            <a:r>
              <a:rPr lang="en-US" sz="4000" b="1" dirty="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4000" b="1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Paralel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: </a:t>
            </a:r>
            <a:r>
              <a:rPr lang="en-US" sz="40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Beberapa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thread </a:t>
            </a:r>
            <a:r>
              <a:rPr lang="en-US" sz="40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dapat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40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dieksekusi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40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secara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40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paralel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, </a:t>
            </a:r>
            <a:r>
              <a:rPr lang="en-US" sz="40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meningkatkan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40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efisiensi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40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dan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40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responsivitas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4000" dirty="0" err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aplikasi</a:t>
            </a:r>
            <a:r>
              <a:rPr lang="en-US" sz="4000" dirty="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.</a:t>
            </a:r>
          </a:p>
          <a:p>
            <a:pPr marL="742950" indent="-742950" algn="just">
              <a:lnSpc>
                <a:spcPct val="150000"/>
              </a:lnSpc>
              <a:buFont typeface="+mj-lt"/>
              <a:buAutoNum type="arabicPeriod"/>
            </a:pPr>
            <a:r>
              <a:rPr lang="en-US" sz="4000" b="1" dirty="0" err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Berbagi</a:t>
            </a:r>
            <a:r>
              <a:rPr lang="en-US" sz="4000" b="1" dirty="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4000" b="1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Sumber</a:t>
            </a:r>
            <a:r>
              <a:rPr lang="en-US" sz="4000" b="1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4000" b="1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Daya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: Thread </a:t>
            </a:r>
            <a:r>
              <a:rPr lang="en-US" sz="40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dalam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40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satu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proses </a:t>
            </a:r>
            <a:r>
              <a:rPr lang="en-US" sz="40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berbagi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40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memori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40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dan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40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sumber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40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daya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, yang </a:t>
            </a:r>
            <a:r>
              <a:rPr lang="en-US" sz="40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memudahkan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40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komunikasi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40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antar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thread</a:t>
            </a:r>
          </a:p>
        </p:txBody>
      </p:sp>
    </p:spTree>
    <p:extLst>
      <p:ext uri="{BB962C8B-B14F-4D97-AF65-F5344CB8AC3E}">
        <p14:creationId xmlns:p14="http://schemas.microsoft.com/office/powerpoint/2010/main" val="418584913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A83F6-8AF0-A949-D3B1-95B1C9981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902843"/>
            <a:ext cx="14715569" cy="51028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threads 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896112" y="2872425"/>
            <a:ext cx="23079456" cy="686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4400">
                <a:solidFill>
                  <a:srgbClr val="C00000"/>
                </a:solidFill>
                <a:latin typeface="Aptos" panose="020B0004020202020204" pitchFamily="34" charset="0"/>
              </a:rPr>
              <a:t>Kita perlu memahami </a:t>
            </a:r>
            <a:r>
              <a:rPr lang="en-US" sz="4400" b="1">
                <a:solidFill>
                  <a:srgbClr val="C00000"/>
                </a:solidFill>
                <a:latin typeface="Aptos" panose="020B0004020202020204" pitchFamily="34" charset="0"/>
              </a:rPr>
              <a:t>thread</a:t>
            </a:r>
            <a:r>
              <a:rPr lang="en-US" sz="4400">
                <a:solidFill>
                  <a:srgbClr val="C00000"/>
                </a:solidFill>
                <a:latin typeface="Aptos" panose="020B0004020202020204" pitchFamily="34" charset="0"/>
              </a:rPr>
              <a:t> </a:t>
            </a:r>
            <a:r>
              <a:rPr lang="en-US" sz="4400">
                <a:solidFill>
                  <a:srgbClr val="C00000"/>
                </a:solidFill>
                <a:latin typeface="Aptos" panose="020B0004020202020204" pitchFamily="34" charset="0"/>
              </a:rPr>
              <a:t>agar </a:t>
            </a:r>
            <a:r>
              <a:rPr lang="en-US" sz="4400" smtClean="0">
                <a:solidFill>
                  <a:srgbClr val="C00000"/>
                </a:solidFill>
                <a:latin typeface="Aptos" panose="020B0004020202020204" pitchFamily="34" charset="0"/>
              </a:rPr>
              <a:t>dapat:</a:t>
            </a:r>
          </a:p>
          <a:p>
            <a:pPr marL="987425" indent="-5715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44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Mengatur beberapa pekerjaan</a:t>
            </a:r>
            <a:r>
              <a:rPr lang="en-US" sz="44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, seperti menerima input </a:t>
            </a:r>
            <a:r>
              <a:rPr lang="en-US" sz="44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sambil </a:t>
            </a:r>
            <a:r>
              <a:rPr lang="en-US" sz="44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memproses aktifitas lain.</a:t>
            </a:r>
          </a:p>
          <a:p>
            <a:pPr marL="987425" indent="-5715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44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Memanfaatkan CPU multicore</a:t>
            </a:r>
            <a:r>
              <a:rPr lang="en-US" sz="44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untuk pekerjaan yang dapat dijalankan </a:t>
            </a:r>
            <a:r>
              <a:rPr lang="en-US" sz="44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secara </a:t>
            </a:r>
            <a:r>
              <a:rPr lang="en-US" sz="44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parallel.</a:t>
            </a:r>
          </a:p>
          <a:p>
            <a:pPr marL="987425" indent="-5715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44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Mengelola data bersama dengan aman</a:t>
            </a:r>
            <a:r>
              <a:rPr lang="en-US" sz="44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, agar tidak terjadi </a:t>
            </a:r>
            <a:r>
              <a:rPr lang="en-US" sz="44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kesalahan </a:t>
            </a:r>
            <a:r>
              <a:rPr lang="en-US" sz="44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antarthread.</a:t>
            </a:r>
          </a:p>
          <a:p>
            <a:pPr marL="987425" indent="-5715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sv-SE" sz="44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Menjaga aplikasi tetap responsif</a:t>
            </a:r>
            <a:r>
              <a:rPr lang="sv-SE" sz="44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, meskipun sedang menjalankan </a:t>
            </a:r>
            <a:r>
              <a:rPr lang="sv-SE" sz="44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pekerjaan </a:t>
            </a:r>
            <a:r>
              <a:rPr lang="sv-SE" sz="44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berat.</a:t>
            </a:r>
            <a:endParaRPr lang="en-US" sz="4400" dirty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89871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A83F6-8AF0-A949-D3B1-95B1C9981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902843"/>
            <a:ext cx="14715569" cy="51028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threads 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035044" y="2413124"/>
            <a:ext cx="21843244" cy="111722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50000"/>
              </a:lnSpc>
            </a:pPr>
            <a:r>
              <a:rPr lang="en-US" sz="3600" b="1" u="sng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Contoh</a:t>
            </a:r>
            <a:r>
              <a:rPr lang="en-US" sz="3600" b="1" u="sng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600" b="1" u="sng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Penggunaan</a:t>
            </a:r>
            <a:r>
              <a:rPr lang="en-US" sz="3600" b="1" u="sng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600" b="1" u="sng" dirty="0">
                <a:solidFill>
                  <a:srgbClr val="C00000"/>
                </a:solidFill>
                <a:latin typeface="Aptos" panose="020B0004020202020204" pitchFamily="34" charset="0"/>
              </a:rPr>
              <a:t>Thread</a:t>
            </a:r>
          </a:p>
          <a:p>
            <a:pPr marL="571500" indent="-57150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3600" b="1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Aplikasi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Web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: </a:t>
            </a:r>
            <a:r>
              <a:rPr lang="en-US" sz="36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Mengelola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6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permintaan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6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pengguna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6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secara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600" dirty="0" err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bersamaan</a:t>
            </a:r>
            <a:r>
              <a:rPr lang="en-US" sz="3600" dirty="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(</a:t>
            </a:r>
            <a:r>
              <a:rPr lang="en-US" sz="3600" dirty="0" err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oleh</a:t>
            </a:r>
            <a:r>
              <a:rPr lang="en-US" sz="3600" dirty="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web server).</a:t>
            </a:r>
            <a:endParaRPr lang="en-US" sz="3600" dirty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571500" indent="-57150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3600" b="1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Aplikasi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Desktop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: </a:t>
            </a:r>
            <a:r>
              <a:rPr lang="en-US" sz="36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Memastikan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6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antarmuka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6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pengguna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6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tetap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6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responsif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6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saat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6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melakukan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proses </a:t>
            </a:r>
            <a:r>
              <a:rPr lang="en-US" sz="3600" dirty="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di session </a:t>
            </a:r>
            <a:r>
              <a:rPr lang="en-US" sz="3600" dirty="0" err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atau</a:t>
            </a:r>
            <a:r>
              <a:rPr lang="en-US" sz="3600" dirty="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thread inti </a:t>
            </a:r>
            <a:r>
              <a:rPr lang="en-US" sz="3600" dirty="0" err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aplikasi</a:t>
            </a:r>
            <a:r>
              <a:rPr lang="en-US" sz="3600" dirty="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600" dirty="0" err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tersebut</a:t>
            </a:r>
            <a:r>
              <a:rPr lang="en-US" sz="3600" dirty="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.</a:t>
            </a:r>
            <a:endParaRPr lang="en-US" sz="3600" dirty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571500" indent="-57150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Game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: </a:t>
            </a:r>
            <a:r>
              <a:rPr lang="en-US" sz="36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Memproses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6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grafis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, </a:t>
            </a:r>
            <a:r>
              <a:rPr lang="en-US" sz="36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suara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, </a:t>
            </a:r>
            <a:r>
              <a:rPr lang="en-US" sz="36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dan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input </a:t>
            </a:r>
            <a:r>
              <a:rPr lang="en-US" sz="36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secara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600" dirty="0" err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simultan</a:t>
            </a:r>
            <a:endParaRPr lang="en-US" sz="3600" dirty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571500" indent="-57150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3600" b="1" dirty="0" err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Sistem</a:t>
            </a:r>
            <a:r>
              <a:rPr lang="en-US" sz="3600" b="1" dirty="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600" b="1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Operasi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600" b="1" dirty="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Windows</a:t>
            </a:r>
            <a:r>
              <a:rPr lang="en-US" sz="3600" dirty="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: Windows </a:t>
            </a:r>
            <a:r>
              <a:rPr lang="en-US" sz="36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menggunakan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thread </a:t>
            </a:r>
            <a:r>
              <a:rPr lang="en-US" sz="36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untuk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6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mengelola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6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berbagai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6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tugas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, </a:t>
            </a:r>
            <a:r>
              <a:rPr lang="en-US" sz="36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seperti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6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menangani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input </a:t>
            </a:r>
            <a:r>
              <a:rPr lang="en-US" sz="36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dari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keyboard </a:t>
            </a:r>
            <a:r>
              <a:rPr lang="en-US" sz="36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dan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mouse, </a:t>
            </a:r>
            <a:r>
              <a:rPr lang="en-US" sz="36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menjalankan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6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aplikasi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6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latar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6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belakang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, </a:t>
            </a:r>
            <a:r>
              <a:rPr lang="en-US" sz="36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serta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6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mengelola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6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berbagai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proses </a:t>
            </a:r>
            <a:r>
              <a:rPr lang="en-US" sz="3600" dirty="0" err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sistem</a:t>
            </a:r>
            <a:endParaRPr lang="en-US" sz="3600" dirty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457207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A83F6-8AF0-A949-D3B1-95B1C9981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902843"/>
            <a:ext cx="14715569" cy="51028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threads 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133856" y="2413124"/>
            <a:ext cx="2184324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50000"/>
              </a:lnSpc>
            </a:pPr>
            <a:r>
              <a:rPr lang="en-US" sz="3600" b="1" u="sng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Contoh</a:t>
            </a:r>
            <a:r>
              <a:rPr lang="en-US" sz="3600" b="1" u="sng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600" b="1" u="sng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lain – </a:t>
            </a:r>
            <a:r>
              <a:rPr lang="en-US" sz="3600" b="1" u="sng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Penggunaan </a:t>
            </a:r>
            <a:r>
              <a:rPr lang="en-US" sz="3600" b="1" u="sng" smtClean="0">
                <a:solidFill>
                  <a:srgbClr val="C00000"/>
                </a:solidFill>
                <a:latin typeface="Aptos" panose="020B0004020202020204" pitchFamily="34" charset="0"/>
              </a:rPr>
              <a:t>Thread</a:t>
            </a:r>
            <a:endParaRPr lang="en-US" sz="3600" b="1" u="sng" dirty="0">
              <a:solidFill>
                <a:srgbClr val="C0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3374" y="2413124"/>
            <a:ext cx="10002115" cy="590791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66800" y="3827794"/>
            <a:ext cx="12124944" cy="676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Ketika banyak pengguna </a:t>
            </a:r>
            <a:r>
              <a:rPr 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mengakses </a:t>
            </a:r>
            <a:r>
              <a:rPr lang="en-US" sz="28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website  e-Commerce saat flash sale:</a:t>
            </a:r>
            <a:endParaRPr lang="en-US" sz="280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4153373" y="8720047"/>
            <a:ext cx="10002115" cy="267765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Manfaat</a:t>
            </a:r>
            <a:r>
              <a:rPr lang="en-US" sz="28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:</a:t>
            </a:r>
            <a:r>
              <a:rPr 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endParaRPr lang="en-US" sz="2800" smtClean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Beberapa </a:t>
            </a:r>
            <a:r>
              <a:rPr 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permintaan dapat ditangani </a:t>
            </a:r>
            <a:r>
              <a:rPr 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secara </a:t>
            </a:r>
            <a:r>
              <a:rPr lang="en-US" sz="28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concurrent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Permintaan </a:t>
            </a:r>
            <a:r>
              <a:rPr 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lain tidak harus menunggu satu permintaan selesai seluruhnya.</a:t>
            </a:r>
            <a:endParaRPr lang="en-US" sz="280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66800" y="7910178"/>
            <a:ext cx="1250664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u="sng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Alurnya akan seperti ini:</a:t>
            </a:r>
          </a:p>
          <a:p>
            <a:pPr marL="457200" lvl="0" indent="-457200" algn="l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Dispatcher </a:t>
            </a:r>
            <a:r>
              <a:rPr lang="en-US" altLang="en-US" sz="28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thread</a:t>
            </a:r>
            <a:r>
              <a:rPr lang="en-US" alt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menerima permintaan dari pengguna.</a:t>
            </a:r>
          </a:p>
          <a:p>
            <a:pPr marL="457200" lvl="0" indent="-457200" algn="l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Permintaan dibagikan kepada </a:t>
            </a:r>
            <a:r>
              <a:rPr lang="en-US" altLang="en-US" sz="28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worker thread yang tersedia</a:t>
            </a:r>
            <a:r>
              <a:rPr lang="en-US" alt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.</a:t>
            </a:r>
          </a:p>
          <a:p>
            <a:pPr marL="457200" lvl="0" indent="-457200" algn="l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Setiap worker memproses permintaan dan mengirimkan respons. Setelah selesai, worker dapat menangani permintaan berikutnya. 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8436969"/>
              </p:ext>
            </p:extLst>
          </p:nvPr>
        </p:nvGraphicFramePr>
        <p:xfrm>
          <a:off x="1066800" y="4803252"/>
          <a:ext cx="12506640" cy="2808000"/>
        </p:xfrm>
        <a:graphic>
          <a:graphicData uri="http://schemas.openxmlformats.org/drawingml/2006/table">
            <a:tbl>
              <a:tblPr/>
              <a:tblGrid>
                <a:gridCol w="5882640">
                  <a:extLst>
                    <a:ext uri="{9D8B030D-6E8A-4147-A177-3AD203B41FA5}">
                      <a16:colId xmlns:a16="http://schemas.microsoft.com/office/drawing/2014/main" val="3075586742"/>
                    </a:ext>
                  </a:extLst>
                </a:gridCol>
                <a:gridCol w="6624000">
                  <a:extLst>
                    <a:ext uri="{9D8B030D-6E8A-4147-A177-3AD203B41FA5}">
                      <a16:colId xmlns:a16="http://schemas.microsoft.com/office/drawing/2014/main" val="1707363469"/>
                    </a:ext>
                  </a:extLst>
                </a:gridCol>
              </a:tblGrid>
              <a:tr h="756000">
                <a:tc>
                  <a:txBody>
                    <a:bodyPr/>
                    <a:lstStyle/>
                    <a:p>
                      <a:r>
                        <a:rPr lang="en-US" sz="2800" b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Permintaan pengguna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Thread yang menangani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011708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algn="l"/>
                      <a:r>
                        <a:rPr lang="en-US" sz="2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Pengguna A membuka detail produk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Worker thread 1 mengambil data produk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0343129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algn="l"/>
                      <a:r>
                        <a:rPr lang="en-US" sz="2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Pengguna B mencari sepatu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Worker thread 2 memproses pencarian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8694971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algn="l"/>
                      <a:r>
                        <a:rPr lang="en-US" sz="2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Pengguna C membuka keranjang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Worker thread 3 mengambil isi keranjang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2044061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1066800" y="12530335"/>
            <a:ext cx="17458944" cy="83099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pPr marL="342900" lvl="0" indent="-342900" algn="l" defTabSz="914400" eaLnBrk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>
                <a:solidFill>
                  <a:schemeClr val="bg1"/>
                </a:solidFill>
                <a:latin typeface="Aptos" panose="020B0004020202020204" pitchFamily="34" charset="0"/>
              </a:rPr>
              <a:t>Dispatcher thread</a:t>
            </a:r>
            <a:r>
              <a:rPr lang="en-US" altLang="en-US">
                <a:solidFill>
                  <a:schemeClr val="bg1"/>
                </a:solidFill>
                <a:latin typeface="Aptos" panose="020B0004020202020204" pitchFamily="34" charset="0"/>
              </a:rPr>
              <a:t> adalah thread yang </a:t>
            </a:r>
            <a:r>
              <a:rPr lang="en-US" altLang="en-US" b="1">
                <a:solidFill>
                  <a:schemeClr val="bg1"/>
                </a:solidFill>
                <a:latin typeface="Aptos" panose="020B0004020202020204" pitchFamily="34" charset="0"/>
              </a:rPr>
              <a:t>menerima permintaan dan membagikannya kepada worker thread</a:t>
            </a:r>
            <a:r>
              <a:rPr lang="en-US" altLang="en-US">
                <a:solidFill>
                  <a:schemeClr val="bg1"/>
                </a:solidFill>
                <a:latin typeface="Aptos" panose="020B0004020202020204" pitchFamily="34" charset="0"/>
              </a:rPr>
              <a:t> yang tersedia.</a:t>
            </a:r>
          </a:p>
          <a:p>
            <a:pPr marL="342900" lvl="0" indent="-342900" algn="l" defTabSz="914400" eaLnBrk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>
                <a:solidFill>
                  <a:schemeClr val="bg1"/>
                </a:solidFill>
                <a:latin typeface="Aptos" panose="020B0004020202020204" pitchFamily="34" charset="0"/>
              </a:rPr>
              <a:t>Worker thread</a:t>
            </a:r>
            <a:r>
              <a:rPr lang="en-US" altLang="en-US">
                <a:solidFill>
                  <a:schemeClr val="bg1"/>
                </a:solidFill>
                <a:latin typeface="Aptos" panose="020B0004020202020204" pitchFamily="34" charset="0"/>
              </a:rPr>
              <a:t> adalah thread yang </a:t>
            </a:r>
            <a:r>
              <a:rPr lang="en-US" altLang="en-US" b="1">
                <a:solidFill>
                  <a:schemeClr val="bg1"/>
                </a:solidFill>
                <a:latin typeface="Aptos" panose="020B0004020202020204" pitchFamily="34" charset="0"/>
              </a:rPr>
              <a:t>mengerjakan tugas tersebut</a:t>
            </a:r>
            <a:r>
              <a:rPr lang="en-US" altLang="en-US">
                <a:solidFill>
                  <a:schemeClr val="bg1"/>
                </a:solidFill>
                <a:latin typeface="Aptos" panose="020B0004020202020204" pitchFamily="34" charset="0"/>
              </a:rPr>
              <a:t>, seperti mengambil data produk atau memproses pencarian. </a:t>
            </a:r>
          </a:p>
        </p:txBody>
      </p:sp>
    </p:spTree>
    <p:extLst>
      <p:ext uri="{BB962C8B-B14F-4D97-AF65-F5344CB8AC3E}">
        <p14:creationId xmlns:p14="http://schemas.microsoft.com/office/powerpoint/2010/main" val="45113439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A83F6-8AF0-A949-D3B1-95B1C9981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902843"/>
            <a:ext cx="14715569" cy="51028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threads 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133856" y="2413124"/>
            <a:ext cx="2184324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50000"/>
              </a:lnSpc>
            </a:pPr>
            <a:r>
              <a:rPr lang="en-US" sz="3600" b="1" u="sng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Contoh</a:t>
            </a:r>
            <a:r>
              <a:rPr lang="en-US" sz="3600" b="1" u="sng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600" b="1" u="sng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lain – </a:t>
            </a:r>
            <a:r>
              <a:rPr lang="en-US" sz="3600" b="1" u="sng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Penggunaan </a:t>
            </a:r>
            <a:r>
              <a:rPr lang="en-US" sz="3600" b="1" u="sng" smtClean="0">
                <a:solidFill>
                  <a:srgbClr val="C00000"/>
                </a:solidFill>
                <a:latin typeface="Aptos" panose="020B0004020202020204" pitchFamily="34" charset="0"/>
              </a:rPr>
              <a:t>Thread</a:t>
            </a:r>
            <a:endParaRPr lang="en-US" sz="3600" b="1" u="sng" dirty="0">
              <a:solidFill>
                <a:srgbClr val="C00000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66800" y="3827794"/>
            <a:ext cx="12124944" cy="7600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32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Aplikasi office – word 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dengan </a:t>
            </a:r>
            <a:r>
              <a:rPr lang="en-US" sz="32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3 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thread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3856" y="8717053"/>
            <a:ext cx="19076729" cy="138499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Manfaat</a:t>
            </a:r>
            <a:r>
              <a:rPr lang="en-US" sz="28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:</a:t>
            </a:r>
            <a:r>
              <a:rPr 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endParaRPr lang="en-US" sz="2800" smtClean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Pengguna </a:t>
            </a:r>
            <a:r>
              <a:rPr 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tetap </a:t>
            </a:r>
            <a:r>
              <a:rPr lang="en-US" sz="28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bisa </a:t>
            </a:r>
            <a:r>
              <a:rPr 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mengetik </a:t>
            </a:r>
            <a:r>
              <a:rPr lang="en-US" sz="28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kata-kata saat </a:t>
            </a:r>
            <a:r>
              <a:rPr 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aplikasi mengatur tata letak dan menyimpan dokumen </a:t>
            </a:r>
            <a:r>
              <a:rPr 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di </a:t>
            </a:r>
            <a:r>
              <a:rPr lang="en-US" sz="28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background</a:t>
            </a:r>
            <a:endParaRPr lang="en-US" sz="280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66799" y="5008462"/>
            <a:ext cx="12766431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Aplikasi 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pengolah </a:t>
            </a:r>
            <a:r>
              <a:rPr lang="en-US" sz="32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word tersebut 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membagi pekerjaan 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menjadi </a:t>
            </a:r>
            <a:r>
              <a:rPr lang="en-US" sz="32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3 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thread: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Thread input: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menerima dan menangani ketikan pengguna.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Thread pemformatan</a:t>
            </a:r>
            <a:r>
              <a:rPr lang="en-US" sz="32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: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2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mengatur 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tata letak teks dan halaman.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Thread penyimpanan: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menyimpan dokumen ke disk secara berkala.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2324" y="2963042"/>
            <a:ext cx="9844211" cy="491908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4232324" y="2485413"/>
            <a:ext cx="3410801" cy="461665"/>
          </a:xfrm>
          <a:prstGeom prst="rect">
            <a:avLst/>
          </a:prstGeom>
          <a:solidFill>
            <a:schemeClr val="tx1">
              <a:lumMod val="75000"/>
            </a:schemeClr>
          </a:solidFill>
        </p:spPr>
        <p:txBody>
          <a:bodyPr wrap="square">
            <a:spAutoFit/>
          </a:bodyPr>
          <a:lstStyle/>
          <a:p>
            <a:pPr lvl="0" defTabSz="914400"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b="1" smtClean="0">
                <a:solidFill>
                  <a:schemeClr val="bg1"/>
                </a:solidFill>
                <a:latin typeface="Aptos" panose="020B0004020202020204" pitchFamily="34" charset="0"/>
              </a:rPr>
              <a:t>Aplikasi Office</a:t>
            </a:r>
            <a:endParaRPr lang="en-US" altLang="en-US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640686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A83F6-8AF0-A949-D3B1-95B1C9981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902843"/>
            <a:ext cx="14715569" cy="510281"/>
          </a:xfrm>
        </p:spPr>
        <p:txBody>
          <a:bodyPr>
            <a:normAutofit fontScale="90000"/>
          </a:bodyPr>
          <a:lstStyle/>
          <a:p>
            <a:r>
              <a:rPr lang="en-US" smtClean="0"/>
              <a:t>Process &amp; threads 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0" y="2456627"/>
            <a:ext cx="24384000" cy="7078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4000" b="1" smtClean="0">
                <a:solidFill>
                  <a:srgbClr val="FF0000"/>
                </a:solidFill>
                <a:latin typeface="Aptos" panose="020B0004020202020204" pitchFamily="34" charset="0"/>
              </a:rPr>
              <a:t>Review Singkat</a:t>
            </a:r>
            <a:endParaRPr lang="en-US" sz="4000" b="1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3400" y="3406170"/>
            <a:ext cx="234696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Process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adalah program yang sedang dijalankan, beserta sumber dayanya, seperti ruang memori dan file 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yang </a:t>
            </a:r>
            <a:r>
              <a:rPr lang="en-US" sz="32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sedang dibuka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200" b="1" smtClean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Thread</a:t>
            </a:r>
            <a:r>
              <a:rPr lang="en-US" sz="32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adalah satu 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alur </a:t>
            </a:r>
            <a:r>
              <a:rPr lang="en-US" sz="32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eksekusi / 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unit terkecil</a:t>
            </a:r>
            <a:r>
              <a:rPr lang="en-US" sz="32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di dalam process. Satu process memiliki minimal satu thread dan dapat memiliki beberapa thread yang mengerjakan tugas berbeda</a:t>
            </a:r>
          </a:p>
        </p:txBody>
      </p:sp>
      <p:sp>
        <p:nvSpPr>
          <p:cNvPr id="5" name="Rectangle 4"/>
          <p:cNvSpPr/>
          <p:nvPr/>
        </p:nvSpPr>
        <p:spPr>
          <a:xfrm>
            <a:off x="895350" y="6878246"/>
            <a:ext cx="2310765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2800" b="1">
                <a:solidFill>
                  <a:srgbClr val="C00000"/>
                </a:solidFill>
                <a:latin typeface="Aptos" panose="020B0004020202020204" pitchFamily="34" charset="0"/>
              </a:rPr>
              <a:t>Analogi</a:t>
            </a:r>
            <a:r>
              <a:rPr lang="en-US" sz="2800" b="1">
                <a:solidFill>
                  <a:srgbClr val="C00000"/>
                </a:solidFill>
                <a:latin typeface="Aptos" panose="020B0004020202020204" pitchFamily="34" charset="0"/>
              </a:rPr>
              <a:t>: </a:t>
            </a:r>
            <a:r>
              <a:rPr lang="en-US" sz="2800" b="1" smtClean="0">
                <a:solidFill>
                  <a:srgbClr val="C00000"/>
                </a:solidFill>
                <a:latin typeface="Aptos" panose="020B0004020202020204" pitchFamily="34" charset="0"/>
              </a:rPr>
              <a:t>Dapur </a:t>
            </a:r>
            <a:r>
              <a:rPr lang="en-US" sz="2800" b="1">
                <a:solidFill>
                  <a:srgbClr val="C00000"/>
                </a:solidFill>
                <a:latin typeface="Aptos" panose="020B0004020202020204" pitchFamily="34" charset="0"/>
              </a:rPr>
              <a:t>restoran dan koki</a:t>
            </a:r>
            <a:endParaRPr lang="en-US" sz="2800">
              <a:solidFill>
                <a:srgbClr val="C00000"/>
              </a:solidFill>
              <a:latin typeface="Aptos" panose="020B0004020202020204" pitchFamily="34" charset="0"/>
            </a:endParaRP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Process </a:t>
            </a:r>
            <a:r>
              <a:rPr lang="en-US" sz="28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= </a:t>
            </a:r>
            <a:r>
              <a:rPr lang="en-US" sz="28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Dapur </a:t>
            </a:r>
            <a:r>
              <a:rPr lang="en-US" sz="28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restoran</a:t>
            </a:r>
            <a:r>
              <a:rPr 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, yang memiliki bahan, peralatan, dan area kerja.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Thread </a:t>
            </a:r>
            <a:r>
              <a:rPr lang="en-US" sz="28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= </a:t>
            </a:r>
            <a:r>
              <a:rPr lang="en-US" sz="28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Koki </a:t>
            </a:r>
            <a:r>
              <a:rPr lang="en-US" sz="28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di dalam dapur</a:t>
            </a:r>
            <a:r>
              <a:rPr 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, yang </a:t>
            </a:r>
            <a:r>
              <a:rPr 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menjalankan </a:t>
            </a:r>
            <a:r>
              <a:rPr lang="en-US" sz="28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tugas, seperti : </a:t>
            </a:r>
            <a:r>
              <a:rPr 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memotong bahan, memasak, atau menyiapkan hidangan.</a:t>
            </a:r>
          </a:p>
          <a:p>
            <a:pPr marL="457200" indent="-4572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8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Koki pasti ada satu (minimal) dan beberapa lainnya berada didalam </a:t>
            </a:r>
            <a:r>
              <a:rPr 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dapur yang </a:t>
            </a:r>
            <a:r>
              <a:rPr 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sama </a:t>
            </a:r>
            <a:r>
              <a:rPr lang="en-US" sz="28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dan </a:t>
            </a:r>
            <a:r>
              <a:rPr lang="en-US" sz="28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berbagi </a:t>
            </a:r>
            <a:r>
              <a:rPr lang="en-US" sz="28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bahan dan peralatan</a:t>
            </a:r>
            <a:r>
              <a:rPr 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, tetapi masing-masing memiliki urutan pekerjaannya sendiri.</a:t>
            </a:r>
          </a:p>
          <a:p>
            <a:pPr marL="457200" indent="-4572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Jika memakai peralatan yang sama, para koki perlu berkoordinasi agar tidak </a:t>
            </a:r>
            <a:r>
              <a:rPr 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saling </a:t>
            </a:r>
            <a:r>
              <a:rPr lang="en-US" sz="28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menggangg, seperti </a:t>
            </a:r>
            <a:r>
              <a:rPr lang="en-US" sz="28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sinkronisasi antarthread</a:t>
            </a:r>
            <a:r>
              <a:rPr 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533400" y="7293218"/>
            <a:ext cx="152400" cy="3792474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21980484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A83F6-8AF0-A949-D3B1-95B1C9981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902843"/>
            <a:ext cx="14715569" cy="510281"/>
          </a:xfrm>
        </p:spPr>
        <p:txBody>
          <a:bodyPr>
            <a:normAutofit fontScale="90000"/>
          </a:bodyPr>
          <a:lstStyle/>
          <a:p>
            <a:r>
              <a:rPr lang="en-US" smtClean="0"/>
              <a:t>Process &amp; threads 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0" y="2456627"/>
            <a:ext cx="24384000" cy="7078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4000" b="1" smtClean="0">
                <a:solidFill>
                  <a:srgbClr val="FF0000"/>
                </a:solidFill>
                <a:latin typeface="Aptos" panose="020B0004020202020204" pitchFamily="34" charset="0"/>
              </a:rPr>
              <a:t>Pertanyaan Singkat</a:t>
            </a:r>
            <a:endParaRPr lang="en-US" sz="4000" b="1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3400" y="5895360"/>
            <a:ext cx="23469600" cy="8771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n-US" sz="51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Kalau satu Thread crash, apakah akan mempengaruhi thread atau proses lain?</a:t>
            </a:r>
            <a:endParaRPr lang="en-US" sz="510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33400" y="8365033"/>
            <a:ext cx="23469600" cy="892552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algn="just"/>
            <a:r>
              <a:rPr lang="en-US" sz="51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Kalau satu Process crash, apakah akan mempengaruhi proses lain?</a:t>
            </a:r>
            <a:endParaRPr lang="en-US" sz="510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384060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threaded modelling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377" y="3367182"/>
            <a:ext cx="20071949" cy="737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02340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Single threaded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876300" y="3215833"/>
            <a:ext cx="13246100" cy="57861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700" b="1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Single Thread Approach </a:t>
            </a:r>
            <a:r>
              <a:rPr lang="en-US" sz="37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adalah</a:t>
            </a:r>
            <a:r>
              <a:rPr lang="en-US" sz="37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7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teknik</a:t>
            </a:r>
            <a:r>
              <a:rPr lang="en-US" sz="37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7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pemrograman</a:t>
            </a:r>
            <a:r>
              <a:rPr lang="en-US" sz="37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di mana </a:t>
            </a:r>
            <a:r>
              <a:rPr lang="en-US" sz="37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hanya</a:t>
            </a:r>
            <a:r>
              <a:rPr lang="en-US" sz="37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7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satu</a:t>
            </a:r>
            <a:r>
              <a:rPr lang="en-US" sz="37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7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thread </a:t>
            </a:r>
            <a:r>
              <a:rPr lang="en-US" sz="37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yang </a:t>
            </a:r>
            <a:r>
              <a:rPr lang="en-US" sz="37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digunakan</a:t>
            </a:r>
            <a:r>
              <a:rPr lang="en-US" sz="37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7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untuk</a:t>
            </a:r>
            <a:r>
              <a:rPr lang="en-US" sz="37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7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menjalankan</a:t>
            </a:r>
            <a:r>
              <a:rPr lang="en-US" sz="37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70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suatu</a:t>
            </a:r>
            <a:r>
              <a:rPr lang="en-US" sz="37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7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program.</a:t>
            </a:r>
          </a:p>
          <a:p>
            <a:pPr marL="571500" indent="-5715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7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Dalam </a:t>
            </a:r>
            <a:r>
              <a:rPr lang="en-US" sz="37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pendekatan</a:t>
            </a:r>
            <a:r>
              <a:rPr lang="en-US" sz="37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7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ini</a:t>
            </a:r>
            <a:r>
              <a:rPr lang="en-US" sz="37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, </a:t>
            </a:r>
            <a:r>
              <a:rPr lang="en-US" sz="37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semua</a:t>
            </a:r>
            <a:r>
              <a:rPr lang="en-US" sz="37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7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tugas</a:t>
            </a:r>
            <a:r>
              <a:rPr lang="en-US" sz="37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7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dieksekusi</a:t>
            </a:r>
            <a:r>
              <a:rPr lang="en-US" sz="37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7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secara</a:t>
            </a:r>
            <a:r>
              <a:rPr lang="en-US" sz="37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7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berurutan</a:t>
            </a:r>
            <a:r>
              <a:rPr lang="en-US" sz="37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, </a:t>
            </a:r>
            <a:r>
              <a:rPr lang="en-US" sz="37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satu</a:t>
            </a:r>
            <a:r>
              <a:rPr lang="en-US" sz="37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per </a:t>
            </a:r>
            <a:r>
              <a:rPr lang="en-US" sz="37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satu</a:t>
            </a:r>
            <a:r>
              <a:rPr lang="en-US" sz="37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, </a:t>
            </a:r>
            <a:r>
              <a:rPr lang="en-US" sz="3700" u="sng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tanpa</a:t>
            </a:r>
            <a:r>
              <a:rPr lang="en-US" sz="3700" u="sng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700" u="sng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adanya</a:t>
            </a:r>
            <a:r>
              <a:rPr lang="en-US" sz="3700" u="sng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700" u="sng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paralelisme</a:t>
            </a:r>
            <a:endParaRPr lang="en-US" sz="3700" u="sng" dirty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66654" y="2933151"/>
            <a:ext cx="8987146" cy="799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35207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Single threaded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2428356"/>
            <a:ext cx="24384000" cy="6617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3700" b="1" smtClean="0">
                <a:solidFill>
                  <a:srgbClr val="FF0000"/>
                </a:solidFill>
                <a:latin typeface="Aptos" panose="020B0004020202020204" pitchFamily="34" charset="0"/>
              </a:rPr>
              <a:t>Contoh</a:t>
            </a:r>
            <a:endParaRPr lang="en-US" sz="3700" u="sng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438402" y="3749171"/>
            <a:ext cx="21640798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4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Program </a:t>
            </a:r>
            <a:r>
              <a:rPr lang="en-US" sz="34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penggajian </a:t>
            </a:r>
            <a:r>
              <a:rPr lang="en-US" sz="34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pada </a:t>
            </a:r>
            <a:r>
              <a:rPr lang="en-US" sz="34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sistem administrasi lama</a:t>
            </a:r>
            <a:r>
              <a:rPr lang="en-US" sz="34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, yang diimplementasikan dengan satu thread.</a:t>
            </a:r>
          </a:p>
        </p:txBody>
      </p:sp>
      <p:sp>
        <p:nvSpPr>
          <p:cNvPr id="5" name="Oval 4"/>
          <p:cNvSpPr/>
          <p:nvPr/>
        </p:nvSpPr>
        <p:spPr>
          <a:xfrm>
            <a:off x="562709" y="3270708"/>
            <a:ext cx="1604668" cy="1572478"/>
          </a:xfrm>
          <a:prstGeom prst="ellipse">
            <a:avLst/>
          </a:prstGeom>
          <a:solidFill>
            <a:schemeClr val="bg2">
              <a:lumMod val="2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600" b="1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ptos" panose="020B0004020202020204" pitchFamily="34" charset="0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6600" b="1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Aptos" panose="020B0004020202020204" pitchFamily="34" charset="0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438402" y="4438582"/>
            <a:ext cx="12192000" cy="3714671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lvl="0" indent="-457200" algn="l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Program membaca data karyawan pertama.</a:t>
            </a:r>
          </a:p>
          <a:p>
            <a:pPr marL="457200" lvl="0" indent="-457200" algn="l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Menghitung gaji pokok, tunjangan, dan potongan.</a:t>
            </a:r>
          </a:p>
          <a:p>
            <a:pPr marL="457200" lvl="0" indent="-457200" algn="l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Menyimpan hasil perhitungan gaji.</a:t>
            </a:r>
          </a:p>
          <a:p>
            <a:pPr marL="457200" lvl="0" indent="-457200" algn="l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Melanjutkan ke karyawan berikutnya sampai seluruh data selesai.</a:t>
            </a:r>
          </a:p>
          <a:p>
            <a:pPr marL="457200" lvl="0" indent="-457200" algn="l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Menghasilkan laporan penggajian. </a:t>
            </a:r>
          </a:p>
        </p:txBody>
      </p:sp>
      <p:sp>
        <p:nvSpPr>
          <p:cNvPr id="9" name="Rectangle 8"/>
          <p:cNvSpPr/>
          <p:nvPr/>
        </p:nvSpPr>
        <p:spPr>
          <a:xfrm>
            <a:off x="867509" y="8728392"/>
            <a:ext cx="10574214" cy="584775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pPr algn="just"/>
            <a:r>
              <a:rPr lang="en-US" sz="32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Mengapa </a:t>
            </a:r>
            <a:r>
              <a:rPr lang="en-US" sz="32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single thread</a:t>
            </a:r>
            <a:r>
              <a:rPr lang="en-US" sz="32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?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endParaRPr lang="en-US" sz="3200" smtClean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67509" y="9360788"/>
            <a:ext cx="1057421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Satu thread menangani seluruh pekerjaan tersebut. Tidak ada worker thread tambahan yang menghitung gaji karyawan lain secara concurrent.</a:t>
            </a:r>
            <a:endParaRPr lang="en-US" sz="320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2907104" y="8725175"/>
            <a:ext cx="10574214" cy="584775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pPr algn="just"/>
            <a:r>
              <a:rPr lang="en-US" sz="32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Mengapa sesuai untuk kebutuhan ini?</a:t>
            </a:r>
            <a:endParaRPr lang="en-US" sz="3200" smtClean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2907104" y="9357571"/>
            <a:ext cx="10574214" cy="22373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Penggajian dijalankan secara batch pada waktu tertentu, tanpa perlu melayani interaksi pengguna selama perhitungan berlangsung.</a:t>
            </a:r>
            <a:endParaRPr lang="en-US" sz="320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79283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Single threaded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2428356"/>
            <a:ext cx="24384000" cy="6617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3700" b="1" smtClean="0">
                <a:solidFill>
                  <a:srgbClr val="FF0000"/>
                </a:solidFill>
                <a:latin typeface="Aptos" panose="020B0004020202020204" pitchFamily="34" charset="0"/>
              </a:rPr>
              <a:t>Contoh</a:t>
            </a:r>
            <a:endParaRPr lang="en-US" sz="3700" u="sng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438402" y="3749171"/>
            <a:ext cx="21640798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4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Program menghitung nilai akhir mahasiswa</a:t>
            </a:r>
            <a:r>
              <a:rPr lang="en-US" sz="34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, </a:t>
            </a:r>
            <a:r>
              <a:rPr lang="en-US" sz="34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yang diimplementasikan dengan satu thread.</a:t>
            </a:r>
          </a:p>
        </p:txBody>
      </p:sp>
      <p:sp>
        <p:nvSpPr>
          <p:cNvPr id="5" name="Oval 4"/>
          <p:cNvSpPr/>
          <p:nvPr/>
        </p:nvSpPr>
        <p:spPr>
          <a:xfrm>
            <a:off x="562709" y="3270708"/>
            <a:ext cx="1604668" cy="1572478"/>
          </a:xfrm>
          <a:prstGeom prst="ellipse">
            <a:avLst/>
          </a:prstGeom>
          <a:solidFill>
            <a:schemeClr val="bg2">
              <a:lumMod val="2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6600" b="1">
                <a:solidFill>
                  <a:srgbClr val="FFFFFF"/>
                </a:solidFill>
                <a:latin typeface="Aptos" panose="020B0004020202020204" pitchFamily="34" charset="0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6600" b="1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Aptos" panose="020B0004020202020204" pitchFamily="34" charset="0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438402" y="4438582"/>
            <a:ext cx="1470659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lvl="0" indent="-514350" algn="just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Pengguna memasukkan nilai tugas, UTS, dan UAS.</a:t>
            </a:r>
          </a:p>
          <a:p>
            <a:pPr marL="514350" lvl="0" indent="-514350" algn="just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Program memvalidasi nilai yang dimasukkan.</a:t>
            </a:r>
          </a:p>
          <a:p>
            <a:pPr marL="514350" lvl="0" indent="-514350" algn="just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Program menghitung nilai akhir sesuai bobot.</a:t>
            </a:r>
          </a:p>
          <a:p>
            <a:pPr marL="514350" lvl="0" indent="-514350" algn="just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Program menentukan grade.</a:t>
            </a:r>
          </a:p>
          <a:p>
            <a:pPr marL="514350" lvl="0" indent="-514350" algn="just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Program menampilkan hasil, lalu menerima data mahasiswa berikutnya. </a:t>
            </a:r>
          </a:p>
        </p:txBody>
      </p:sp>
    </p:spTree>
    <p:extLst>
      <p:ext uri="{BB962C8B-B14F-4D97-AF65-F5344CB8AC3E}">
        <p14:creationId xmlns:p14="http://schemas.microsoft.com/office/powerpoint/2010/main" val="265641389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Multi </a:t>
            </a:r>
            <a:r>
              <a:rPr lang="en-US" dirty="0"/>
              <a:t>threaded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876300" y="3215833"/>
            <a:ext cx="11518900" cy="69522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8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Multi threading</a:t>
            </a:r>
            <a:r>
              <a:rPr lang="en-US" sz="38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adalah teknik dalam pemrograman yang memungkinkan eksekusi beberapa </a:t>
            </a:r>
            <a:r>
              <a:rPr lang="en-US" sz="3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thread </a:t>
            </a:r>
            <a:r>
              <a:rPr lang="en-US" sz="38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secara </a:t>
            </a:r>
            <a:r>
              <a:rPr lang="en-US" sz="3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bersamaan dalam sebuah program</a:t>
            </a:r>
            <a:r>
              <a:rPr lang="en-US" sz="3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. </a:t>
            </a:r>
            <a:endParaRPr lang="en-US" sz="3800" smtClean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571500" indent="-5715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8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Setiap </a:t>
            </a:r>
            <a:r>
              <a:rPr lang="en-US" sz="3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thread dapat menjalankan tugasnya sendiri, sehingga meningkatkan efisiensi dan performa aplikasi.</a:t>
            </a:r>
            <a:endParaRPr lang="en-US" sz="3800" dirty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5634" y="2819400"/>
            <a:ext cx="10659649" cy="7518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95773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multi </a:t>
            </a:r>
            <a:r>
              <a:rPr lang="en-US" dirty="0"/>
              <a:t>threaded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2428356"/>
            <a:ext cx="24384000" cy="6617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3700" b="1" smtClean="0">
                <a:solidFill>
                  <a:srgbClr val="FF0000"/>
                </a:solidFill>
                <a:latin typeface="Aptos" panose="020B0004020202020204" pitchFamily="34" charset="0"/>
              </a:rPr>
              <a:t>Contoh</a:t>
            </a:r>
            <a:endParaRPr lang="en-US" sz="3700" u="sng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66802" y="3314068"/>
            <a:ext cx="2278379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6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Web </a:t>
            </a:r>
            <a:r>
              <a:rPr lang="en-US" sz="36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server </a:t>
            </a:r>
            <a:r>
              <a:rPr lang="en-US" sz="36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e-Commerce</a:t>
            </a:r>
            <a:r>
              <a:rPr lang="en-US" sz="36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, yang menggunakan dispatcher thread dan beberapa worker thread untuk melayani permintaan pengguna.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6802" y="5943560"/>
            <a:ext cx="10185398" cy="70173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30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Pengguna A membuka detail produk, sementara pengguna B melakukan pencarian.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30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Dispatcher thread menerima permintaan dan membagikannya kepada worker yang tersedia.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30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Worker thread 1 mengambil data produk untuk pengguna A.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30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Worker thread 2 memproses pencarian pengguna B tanpa harus menunggu permintaan A selesai.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30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Masing-masing worker mengirimkan hasil, lalu siap menangani permintaan berikutnya.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66802" y="5114561"/>
            <a:ext cx="185419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600" b="1" u="sng" smtClean="0">
                <a:solidFill>
                  <a:srgbClr val="FF0000"/>
                </a:solidFill>
                <a:latin typeface="Aptos" panose="020B0004020202020204" pitchFamily="34" charset="0"/>
              </a:rPr>
              <a:t>Alur</a:t>
            </a:r>
            <a:endParaRPr lang="en-US" sz="3600" b="1" u="sng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2954000" y="5896668"/>
            <a:ext cx="10896600" cy="70173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Mengapa multithread?</a:t>
            </a:r>
            <a:endParaRPr lang="en-US" sz="300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Beberapa worker thread dalam satu process server menangani permintaan secara concurrent</a:t>
            </a:r>
            <a:r>
              <a:rPr lang="en-US" sz="30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. </a:t>
            </a:r>
            <a:endParaRPr lang="en-US" sz="3000" smtClean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Saat </a:t>
            </a:r>
            <a:r>
              <a:rPr lang="en-US" sz="30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satu worker menunggu database, worker lain dapat melanjutkan </a:t>
            </a:r>
            <a:r>
              <a:rPr lang="en-US" sz="30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tugasnya</a:t>
            </a:r>
            <a:r>
              <a:rPr lang="en-US" sz="30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sz="300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30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Mengapa sesuai untuk kebutuhan ini?</a:t>
            </a:r>
            <a:endParaRPr lang="en-US" sz="300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Website perlu melayani banyak permintaan</a:t>
            </a:r>
            <a:r>
              <a:rPr lang="en-US" sz="30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. </a:t>
            </a:r>
            <a:endParaRPr lang="en-US" sz="3000" smtClean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Pembagian </a:t>
            </a:r>
            <a:r>
              <a:rPr lang="en-US" sz="30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tugas memungkinkan beberapa pengguna dilayani dalam rentang waktu yang sama.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611101" y="6166829"/>
            <a:ext cx="138545" cy="2354828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2611101" y="10301949"/>
            <a:ext cx="138545" cy="2354828"/>
          </a:xfrm>
          <a:prstGeom prst="rect">
            <a:avLst/>
          </a:prstGeom>
          <a:solidFill>
            <a:srgbClr val="0070C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71159973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Single threaded vs multi threaded</a:t>
            </a:r>
          </a:p>
        </p:txBody>
      </p:sp>
      <p:pic>
        <p:nvPicPr>
          <p:cNvPr id="7" name="Picture 6" descr="f2.pdf">
            <a:extLst>
              <a:ext uri="{FF2B5EF4-FFF2-40B4-BE49-F238E27FC236}">
                <a16:creationId xmlns:a16="http://schemas.microsoft.com/office/drawing/2014/main" id="{6652F904-DAF2-EA23-984D-6FABCE4913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82" t="10588" r="6364" b="15294"/>
          <a:stretch>
            <a:fillRect/>
          </a:stretch>
        </p:blipFill>
        <p:spPr>
          <a:xfrm>
            <a:off x="4793564" y="2804371"/>
            <a:ext cx="16070990" cy="1077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40959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953" y="1881529"/>
            <a:ext cx="16571727" cy="510281"/>
          </a:xfrm>
        </p:spPr>
        <p:txBody>
          <a:bodyPr>
            <a:normAutofit fontScale="90000"/>
          </a:bodyPr>
          <a:lstStyle/>
          <a:p>
            <a:r>
              <a:rPr lang="en-US" dirty="0"/>
              <a:t>Processes and threads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834335"/>
              </p:ext>
            </p:extLst>
          </p:nvPr>
        </p:nvGraphicFramePr>
        <p:xfrm>
          <a:off x="977900" y="2672935"/>
          <a:ext cx="22357966" cy="104460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3750">
                  <a:extLst>
                    <a:ext uri="{9D8B030D-6E8A-4147-A177-3AD203B41FA5}">
                      <a16:colId xmlns:a16="http://schemas.microsoft.com/office/drawing/2014/main" val="589980103"/>
                    </a:ext>
                  </a:extLst>
                </a:gridCol>
                <a:gridCol w="8629650">
                  <a:extLst>
                    <a:ext uri="{9D8B030D-6E8A-4147-A177-3AD203B41FA5}">
                      <a16:colId xmlns:a16="http://schemas.microsoft.com/office/drawing/2014/main" val="964412517"/>
                    </a:ext>
                  </a:extLst>
                </a:gridCol>
                <a:gridCol w="9124566">
                  <a:extLst>
                    <a:ext uri="{9D8B030D-6E8A-4147-A177-3AD203B41FA5}">
                      <a16:colId xmlns:a16="http://schemas.microsoft.com/office/drawing/2014/main" val="3371218513"/>
                    </a:ext>
                  </a:extLst>
                </a:gridCol>
              </a:tblGrid>
              <a:tr h="770467"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Aspek</a:t>
                      </a:r>
                      <a:endParaRPr lang="en-US" sz="2800" dirty="0">
                        <a:solidFill>
                          <a:schemeClr val="tx1">
                            <a:lumMod val="50000"/>
                          </a:schemeClr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Thread</a:t>
                      </a:r>
                      <a:endParaRPr lang="en-US" sz="2800" dirty="0">
                        <a:solidFill>
                          <a:schemeClr val="tx1">
                            <a:lumMod val="50000"/>
                          </a:schemeClr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Process</a:t>
                      </a:r>
                      <a:endParaRPr lang="en-US" sz="2800" dirty="0">
                        <a:solidFill>
                          <a:schemeClr val="tx1">
                            <a:lumMod val="50000"/>
                          </a:schemeClr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5098835"/>
                  </a:ext>
                </a:extLst>
              </a:tr>
              <a:tr h="880948">
                <a:tc>
                  <a:txBody>
                    <a:bodyPr/>
                    <a:lstStyle/>
                    <a:p>
                      <a:r>
                        <a:rPr lang="en-US" sz="2400" b="1" dirty="0" err="1" smtClean="0">
                          <a:solidFill>
                            <a:sysClr val="windowText" lastClr="000000"/>
                          </a:solidFill>
                        </a:rPr>
                        <a:t>Definisi</a:t>
                      </a:r>
                      <a:endParaRPr lang="en-US" sz="24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4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Unit </a:t>
                      </a:r>
                      <a:r>
                        <a:rPr lang="en-US" sz="2400" dirty="0" err="1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terkecil</a:t>
                      </a:r>
                      <a:r>
                        <a:rPr lang="en-US" sz="24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dari</a:t>
                      </a:r>
                      <a:r>
                        <a:rPr lang="en-US" sz="24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eksekusi</a:t>
                      </a:r>
                      <a:r>
                        <a:rPr lang="en-US" sz="24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dalam</a:t>
                      </a:r>
                      <a:r>
                        <a:rPr lang="en-US" sz="24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</a:t>
                      </a:r>
                      <a:r>
                        <a:rPr lang="en-US" sz="24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proses</a:t>
                      </a:r>
                      <a:endParaRPr lang="en-US" sz="24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4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Program yang </a:t>
                      </a: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sedang</a:t>
                      </a:r>
                      <a:r>
                        <a:rPr lang="en-US" sz="24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</a:t>
                      </a: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dieksekusi</a:t>
                      </a:r>
                      <a:endParaRPr lang="en-US" sz="24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E5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679741"/>
                  </a:ext>
                </a:extLst>
              </a:tr>
              <a:tr h="1513498">
                <a:tc>
                  <a:txBody>
                    <a:bodyPr/>
                    <a:lstStyle/>
                    <a:p>
                      <a:r>
                        <a:rPr lang="en-US" sz="2400" b="1" dirty="0" err="1" smtClean="0">
                          <a:solidFill>
                            <a:sysClr val="windowText" lastClr="000000"/>
                          </a:solidFill>
                        </a:rPr>
                        <a:t>Sumber</a:t>
                      </a:r>
                      <a:r>
                        <a:rPr lang="en-US" sz="2400" b="1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sz="2400" b="1" dirty="0" err="1" smtClean="0">
                          <a:solidFill>
                            <a:sysClr val="windowText" lastClr="000000"/>
                          </a:solidFill>
                        </a:rPr>
                        <a:t>Daya</a:t>
                      </a:r>
                      <a:endParaRPr lang="en-US" sz="24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Berbagi</a:t>
                      </a:r>
                      <a:r>
                        <a:rPr lang="en-US" sz="24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</a:t>
                      </a: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sumber</a:t>
                      </a:r>
                      <a:r>
                        <a:rPr lang="en-US" sz="24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</a:t>
                      </a: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daya</a:t>
                      </a:r>
                      <a:r>
                        <a:rPr lang="en-US" sz="24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</a:t>
                      </a: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dalam</a:t>
                      </a:r>
                      <a:r>
                        <a:rPr lang="en-US" sz="24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proses yang </a:t>
                      </a: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sama</a:t>
                      </a:r>
                      <a:r>
                        <a:rPr lang="en-US" sz="24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(</a:t>
                      </a: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memori</a:t>
                      </a:r>
                      <a:r>
                        <a:rPr lang="en-US" sz="24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, file, </a:t>
                      </a: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dll</a:t>
                      </a:r>
                      <a:r>
                        <a:rPr lang="en-US" sz="24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)</a:t>
                      </a:r>
                      <a:endParaRPr lang="en-US" sz="24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Memiliki</a:t>
                      </a:r>
                      <a:r>
                        <a:rPr lang="en-US" sz="24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</a:t>
                      </a: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ruang</a:t>
                      </a:r>
                      <a:r>
                        <a:rPr lang="en-US" sz="24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</a:t>
                      </a: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memori</a:t>
                      </a:r>
                      <a:r>
                        <a:rPr lang="en-US" sz="24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</a:t>
                      </a: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dan</a:t>
                      </a:r>
                      <a:r>
                        <a:rPr lang="en-US" sz="24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</a:t>
                      </a: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sumber</a:t>
                      </a:r>
                      <a:r>
                        <a:rPr lang="en-US" sz="24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</a:t>
                      </a: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daya</a:t>
                      </a:r>
                      <a:r>
                        <a:rPr lang="en-US" sz="24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</a:t>
                      </a: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sendiri</a:t>
                      </a:r>
                      <a:endParaRPr lang="en-US" sz="24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E5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2828002"/>
                  </a:ext>
                </a:extLst>
              </a:tr>
              <a:tr h="1390650"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ysClr val="windowText" lastClr="000000"/>
                          </a:solidFill>
                        </a:rPr>
                        <a:t>Overhead</a:t>
                      </a:r>
                      <a:endParaRPr lang="en-US" sz="24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Lebih</a:t>
                      </a:r>
                      <a:r>
                        <a:rPr lang="en-US" sz="24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</a:t>
                      </a: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rendah</a:t>
                      </a:r>
                      <a:r>
                        <a:rPr lang="en-US" sz="24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, </a:t>
                      </a: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karena</a:t>
                      </a:r>
                      <a:r>
                        <a:rPr lang="en-US" sz="24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</a:t>
                      </a: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berbagi</a:t>
                      </a:r>
                      <a:r>
                        <a:rPr lang="en-US" sz="24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</a:t>
                      </a: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sumber</a:t>
                      </a:r>
                      <a:r>
                        <a:rPr lang="en-US" sz="24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</a:t>
                      </a: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daya</a:t>
                      </a:r>
                      <a:endParaRPr lang="en-US" sz="24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Lebih</a:t>
                      </a:r>
                      <a:r>
                        <a:rPr lang="en-US" sz="24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</a:t>
                      </a: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tinggi</a:t>
                      </a:r>
                      <a:r>
                        <a:rPr lang="en-US" sz="24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, </a:t>
                      </a: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karena</a:t>
                      </a:r>
                      <a:r>
                        <a:rPr lang="en-US" sz="24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</a:t>
                      </a: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setiap</a:t>
                      </a:r>
                      <a:r>
                        <a:rPr lang="en-US" sz="24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proses </a:t>
                      </a: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memiliki</a:t>
                      </a:r>
                      <a:r>
                        <a:rPr lang="en-US" sz="24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overhead </a:t>
                      </a: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untuk</a:t>
                      </a:r>
                      <a:r>
                        <a:rPr lang="en-US" sz="24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</a:t>
                      </a: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memori</a:t>
                      </a:r>
                      <a:r>
                        <a:rPr lang="en-US" sz="24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</a:t>
                      </a: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dan</a:t>
                      </a:r>
                      <a:r>
                        <a:rPr lang="en-US" sz="24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</a:t>
                      </a: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sumber</a:t>
                      </a:r>
                      <a:r>
                        <a:rPr lang="en-US" sz="24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</a:t>
                      </a: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daya</a:t>
                      </a:r>
                      <a:endParaRPr lang="en-US" sz="24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E5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5838996"/>
                  </a:ext>
                </a:extLst>
              </a:tr>
              <a:tr h="1401152">
                <a:tc>
                  <a:txBody>
                    <a:bodyPr/>
                    <a:lstStyle/>
                    <a:p>
                      <a:r>
                        <a:rPr lang="en-US" sz="2400" b="1" dirty="0" err="1" smtClean="0">
                          <a:solidFill>
                            <a:sysClr val="windowText" lastClr="000000"/>
                          </a:solidFill>
                        </a:rPr>
                        <a:t>Komunikasi</a:t>
                      </a:r>
                      <a:endParaRPr lang="en-US" sz="24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Mudah</a:t>
                      </a:r>
                      <a:r>
                        <a:rPr lang="en-US" sz="24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</a:t>
                      </a: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dan</a:t>
                      </a:r>
                      <a:r>
                        <a:rPr lang="en-US" sz="24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</a:t>
                      </a: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cepat</a:t>
                      </a:r>
                      <a:r>
                        <a:rPr lang="en-US" sz="24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, </a:t>
                      </a: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karena</a:t>
                      </a:r>
                      <a:r>
                        <a:rPr lang="en-US" sz="24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</a:t>
                      </a: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berbagi</a:t>
                      </a:r>
                      <a:r>
                        <a:rPr lang="en-US" sz="24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</a:t>
                      </a: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memori</a:t>
                      </a:r>
                      <a:endParaRPr lang="en-US" sz="24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Memerlukan</a:t>
                      </a:r>
                      <a:r>
                        <a:rPr lang="en-US" sz="24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</a:t>
                      </a: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mekanisme</a:t>
                      </a:r>
                      <a:r>
                        <a:rPr lang="en-US" sz="24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IPC (Inter-Process Communication) yang </a:t>
                      </a: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lebih</a:t>
                      </a:r>
                      <a:r>
                        <a:rPr lang="en-US" sz="24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</a:t>
                      </a: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kompleks</a:t>
                      </a:r>
                      <a:endParaRPr lang="en-US" sz="24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E5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432870"/>
                  </a:ext>
                </a:extLst>
              </a:tr>
              <a:tr h="1349578">
                <a:tc>
                  <a:txBody>
                    <a:bodyPr/>
                    <a:lstStyle/>
                    <a:p>
                      <a:r>
                        <a:rPr lang="en-US" sz="2400" b="1" dirty="0" err="1" smtClean="0">
                          <a:solidFill>
                            <a:sysClr val="windowText" lastClr="000000"/>
                          </a:solidFill>
                        </a:rPr>
                        <a:t>Kecepatan</a:t>
                      </a:r>
                      <a:r>
                        <a:rPr lang="en-US" sz="2400" b="1" baseline="0" dirty="0" smtClean="0">
                          <a:solidFill>
                            <a:sysClr val="windowText" lastClr="000000"/>
                          </a:solidFill>
                        </a:rPr>
                        <a:t> Switching</a:t>
                      </a:r>
                      <a:endParaRPr lang="en-US" sz="24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Lebih</a:t>
                      </a:r>
                      <a:r>
                        <a:rPr lang="en-US" sz="24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</a:t>
                      </a: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cepat</a:t>
                      </a:r>
                      <a:r>
                        <a:rPr lang="en-US" sz="24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, </a:t>
                      </a: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karena</a:t>
                      </a:r>
                      <a:r>
                        <a:rPr lang="en-US" sz="24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</a:t>
                      </a: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konteks</a:t>
                      </a:r>
                      <a:r>
                        <a:rPr lang="en-US" sz="24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switching </a:t>
                      </a: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antar</a:t>
                      </a:r>
                      <a:r>
                        <a:rPr lang="en-US" sz="24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thread </a:t>
                      </a: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lebih</a:t>
                      </a:r>
                      <a:r>
                        <a:rPr lang="en-US" sz="24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</a:t>
                      </a: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ringan</a:t>
                      </a:r>
                      <a:endParaRPr lang="en-US" sz="24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Lebih</a:t>
                      </a:r>
                      <a:r>
                        <a:rPr lang="en-US" sz="24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</a:t>
                      </a: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lambat</a:t>
                      </a:r>
                      <a:r>
                        <a:rPr lang="en-US" sz="24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, </a:t>
                      </a: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karena</a:t>
                      </a:r>
                      <a:r>
                        <a:rPr lang="en-US" sz="24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</a:t>
                      </a: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konteks</a:t>
                      </a:r>
                      <a:r>
                        <a:rPr lang="en-US" sz="24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switching </a:t>
                      </a: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antar</a:t>
                      </a:r>
                      <a:r>
                        <a:rPr lang="en-US" sz="24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proses </a:t>
                      </a: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memerlukan</a:t>
                      </a:r>
                      <a:r>
                        <a:rPr lang="en-US" sz="24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</a:t>
                      </a: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lebih</a:t>
                      </a:r>
                      <a:r>
                        <a:rPr lang="en-US" sz="24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</a:t>
                      </a: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banyak</a:t>
                      </a:r>
                      <a:r>
                        <a:rPr lang="en-US" sz="24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</a:t>
                      </a: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waktu</a:t>
                      </a:r>
                      <a:endParaRPr lang="en-US" sz="24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E5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421534"/>
                  </a:ext>
                </a:extLst>
              </a:tr>
              <a:tr h="1447800">
                <a:tc>
                  <a:txBody>
                    <a:bodyPr/>
                    <a:lstStyle/>
                    <a:p>
                      <a:r>
                        <a:rPr lang="en-US" sz="2400" b="1" dirty="0" err="1" smtClean="0">
                          <a:solidFill>
                            <a:sysClr val="windowText" lastClr="000000"/>
                          </a:solidFill>
                        </a:rPr>
                        <a:t>Stabilitas</a:t>
                      </a:r>
                      <a:endParaRPr lang="en-US" sz="24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Jika</a:t>
                      </a:r>
                      <a:r>
                        <a:rPr lang="en-US" sz="24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</a:t>
                      </a: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satu</a:t>
                      </a:r>
                      <a:r>
                        <a:rPr lang="en-US" sz="24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thread crash, proses lain </a:t>
                      </a: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dalam</a:t>
                      </a:r>
                      <a:r>
                        <a:rPr lang="en-US" sz="24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proses yang </a:t>
                      </a: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sama</a:t>
                      </a:r>
                      <a:r>
                        <a:rPr lang="en-US" sz="24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</a:t>
                      </a: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bisa</a:t>
                      </a:r>
                      <a:r>
                        <a:rPr lang="en-US" sz="24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</a:t>
                      </a: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terpengaruh</a:t>
                      </a:r>
                      <a:endParaRPr lang="en-US" sz="24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fi-FI" sz="24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Jika satu proses crash, proses lain tetap berjalan</a:t>
                      </a:r>
                      <a:endParaRPr lang="en-US" sz="24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E5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6209503"/>
                  </a:ext>
                </a:extLst>
              </a:tr>
              <a:tr h="1692000">
                <a:tc>
                  <a:txBody>
                    <a:bodyPr/>
                    <a:lstStyle/>
                    <a:p>
                      <a:r>
                        <a:rPr lang="en-US" sz="2400" b="1" dirty="0" err="1" smtClean="0">
                          <a:solidFill>
                            <a:sysClr val="windowText" lastClr="000000"/>
                          </a:solidFill>
                        </a:rPr>
                        <a:t>Contoh</a:t>
                      </a:r>
                      <a:r>
                        <a:rPr lang="en-US" sz="2400" b="1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sz="2400" b="1" dirty="0" err="1" smtClean="0">
                          <a:solidFill>
                            <a:sysClr val="windowText" lastClr="000000"/>
                          </a:solidFill>
                        </a:rPr>
                        <a:t>Penggunaan</a:t>
                      </a:r>
                      <a:endParaRPr lang="en-US" sz="24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Dalam</a:t>
                      </a:r>
                      <a:r>
                        <a:rPr lang="en-US" sz="24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</a:t>
                      </a: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aplikasi</a:t>
                      </a:r>
                      <a:r>
                        <a:rPr lang="en-US" sz="24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web, </a:t>
                      </a: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satu</a:t>
                      </a:r>
                      <a:r>
                        <a:rPr lang="en-US" sz="24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thread </a:t>
                      </a: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dapat</a:t>
                      </a:r>
                      <a:r>
                        <a:rPr lang="en-US" sz="24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</a:t>
                      </a: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menangani</a:t>
                      </a:r>
                      <a:r>
                        <a:rPr lang="en-US" sz="24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</a:t>
                      </a: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setiap</a:t>
                      </a:r>
                      <a:r>
                        <a:rPr lang="en-US" sz="24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</a:t>
                      </a: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permintaan</a:t>
                      </a:r>
                      <a:r>
                        <a:rPr lang="en-US" sz="24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</a:t>
                      </a:r>
                      <a:r>
                        <a:rPr lang="en-US" sz="2400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pengguna</a:t>
                      </a:r>
                      <a:endParaRPr lang="en-US" sz="24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sv-SE" sz="24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Dalam sistem operasi, browser web dan aplikasi pengolah kata masing-masing dijalankan sebagai proses terpisah</a:t>
                      </a:r>
                      <a:endParaRPr lang="en-US" sz="24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E5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10703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772547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Z" dirty="0"/>
              <a:t>Types </a:t>
            </a:r>
            <a:r>
              <a:rPr lang="en-NZ" dirty="0" smtClean="0"/>
              <a:t>Level of </a:t>
            </a:r>
            <a:r>
              <a:rPr lang="en-NZ" dirty="0"/>
              <a:t>threads</a:t>
            </a:r>
            <a:endParaRPr lang="en-US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1746B91-E565-665C-0DC5-6F8FDD721DDB}"/>
              </a:ext>
            </a:extLst>
          </p:cNvPr>
          <p:cNvSpPr txBox="1">
            <a:spLocks/>
          </p:cNvSpPr>
          <p:nvPr/>
        </p:nvSpPr>
        <p:spPr>
          <a:xfrm>
            <a:off x="2167377" y="13142267"/>
            <a:ext cx="20419551" cy="675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3200" dirty="0">
                <a:solidFill>
                  <a:prstClr val="black">
                    <a:tint val="75000"/>
                  </a:prstClr>
                </a:solidFill>
                <a:latin typeface="Calibri"/>
              </a:rPr>
              <a:t>© 2017 Pearson Education, Inc., Hoboken, NJ. All rights reserved.</a:t>
            </a:r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F9DAC22F-9EA4-7FA8-791F-E97967245D3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61700622"/>
              </p:ext>
            </p:extLst>
          </p:nvPr>
        </p:nvGraphicFramePr>
        <p:xfrm>
          <a:off x="4682490" y="3739720"/>
          <a:ext cx="13624560" cy="73010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1238631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Z" dirty="0"/>
              <a:t>Types </a:t>
            </a:r>
            <a:r>
              <a:rPr lang="en-NZ" dirty="0" smtClean="0"/>
              <a:t>Level of </a:t>
            </a:r>
            <a:r>
              <a:rPr lang="en-NZ" dirty="0"/>
              <a:t>threads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9869" y="2989943"/>
            <a:ext cx="8180748" cy="438502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95754" y="2989943"/>
            <a:ext cx="15451015" cy="23043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3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ULT </a:t>
            </a:r>
            <a:r>
              <a:rPr lang="en-US" sz="33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dan </a:t>
            </a:r>
            <a:r>
              <a:rPr lang="en-US" sz="33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KLT</a:t>
            </a:r>
            <a:r>
              <a:rPr lang="en-US" sz="33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muncul karena pengelolaan thread dapat dilakukan </a:t>
            </a:r>
            <a:r>
              <a:rPr lang="en-US" sz="33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pada </a:t>
            </a:r>
            <a:r>
              <a:rPr lang="en-US" sz="33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2 </a:t>
            </a:r>
            <a:r>
              <a:rPr lang="en-US" sz="33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tingkat</a:t>
            </a:r>
            <a:r>
              <a:rPr lang="en-US" sz="33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: </a:t>
            </a:r>
            <a:endParaRPr lang="en-US" sz="330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Aplikasi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Sistem </a:t>
            </a:r>
            <a:r>
              <a:rPr lang="en-US" sz="33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operasi</a:t>
            </a:r>
            <a:r>
              <a:rPr lang="en-US" sz="33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. </a:t>
            </a:r>
            <a:endParaRPr lang="en-US" sz="3300" smtClean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95754" y="7682492"/>
            <a:ext cx="20820184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en-US" sz="33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Tujuan </a:t>
            </a:r>
            <a:r>
              <a:rPr lang="en-US" sz="33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utama </a:t>
            </a:r>
            <a:r>
              <a:rPr lang="en-US" sz="33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ULT</a:t>
            </a:r>
            <a:r>
              <a:rPr lang="en-US" sz="33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: Pengelolaan </a:t>
            </a:r>
            <a:r>
              <a:rPr lang="en-US" sz="33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thread yang ringan dan fleksibel sesuai </a:t>
            </a:r>
            <a:r>
              <a:rPr lang="en-US" sz="33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kebutuhan </a:t>
            </a:r>
            <a:r>
              <a:rPr lang="en-US" sz="33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aplikasi.</a:t>
            </a:r>
            <a:endParaRPr lang="en-US" sz="3300" b="1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195754" y="8652943"/>
            <a:ext cx="21969046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just">
              <a:buFont typeface="Courier New" panose="02070309020205020404" pitchFamily="49" charset="0"/>
              <a:buChar char="o"/>
            </a:pPr>
            <a:r>
              <a:rPr lang="en-US" sz="33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Tujuan </a:t>
            </a:r>
            <a:r>
              <a:rPr lang="en-US" sz="33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utama </a:t>
            </a:r>
            <a:r>
              <a:rPr lang="en-US" sz="33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K</a:t>
            </a:r>
            <a:r>
              <a:rPr lang="en-US" sz="33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LT</a:t>
            </a:r>
            <a:r>
              <a:rPr lang="en-US" sz="33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: Pengelolaan </a:t>
            </a:r>
            <a:r>
              <a:rPr lang="en-US" sz="33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thread </a:t>
            </a:r>
            <a:r>
              <a:rPr lang="en-US" sz="33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terhadap </a:t>
            </a:r>
            <a:r>
              <a:rPr lang="en-US" sz="33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penggunaan </a:t>
            </a:r>
            <a:r>
              <a:rPr lang="en-US" sz="33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CPU </a:t>
            </a:r>
            <a:r>
              <a:rPr lang="en-US" sz="33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dan </a:t>
            </a:r>
            <a:r>
              <a:rPr lang="en-US" sz="33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menangani blocking pada tingkat OS</a:t>
            </a:r>
            <a:r>
              <a:rPr lang="en-US" sz="33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.</a:t>
            </a:r>
            <a:endParaRPr lang="en-US" sz="3300" b="1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04203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26338"/>
            <a:ext cx="12097263" cy="67570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User-Level Threads (ULTs)</a:t>
            </a:r>
            <a:endParaRPr 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80353" y="2609050"/>
            <a:ext cx="22783032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300" b="1" smtClean="0">
                <a:solidFill>
                  <a:srgbClr val="0070C0"/>
                </a:solidFill>
                <a:latin typeface="Aptos" panose="020B0004020202020204" pitchFamily="34" charset="0"/>
              </a:rPr>
              <a:t>User Level </a:t>
            </a:r>
            <a:r>
              <a:rPr lang="en-US" sz="3300" b="1" dirty="0">
                <a:solidFill>
                  <a:srgbClr val="0070C0"/>
                </a:solidFill>
                <a:latin typeface="Aptos" panose="020B0004020202020204" pitchFamily="34" charset="0"/>
              </a:rPr>
              <a:t>T</a:t>
            </a:r>
            <a:r>
              <a:rPr lang="en-US" sz="3300" b="1" smtClean="0">
                <a:solidFill>
                  <a:srgbClr val="0070C0"/>
                </a:solidFill>
                <a:latin typeface="Aptos" panose="020B0004020202020204" pitchFamily="34" charset="0"/>
              </a:rPr>
              <a:t>hread </a:t>
            </a:r>
            <a:r>
              <a:rPr lang="en-US" sz="3300" b="1" dirty="0" err="1">
                <a:solidFill>
                  <a:srgbClr val="0070C0"/>
                </a:solidFill>
                <a:latin typeface="Aptos" panose="020B0004020202020204" pitchFamily="34" charset="0"/>
              </a:rPr>
              <a:t>adalah</a:t>
            </a:r>
            <a:r>
              <a:rPr lang="en-US" sz="3300" b="1" dirty="0">
                <a:solidFill>
                  <a:srgbClr val="0070C0"/>
                </a:solidFill>
                <a:latin typeface="Aptos" panose="020B0004020202020204" pitchFamily="34" charset="0"/>
              </a:rPr>
              <a:t> </a:t>
            </a:r>
            <a:r>
              <a:rPr lang="en-US" sz="3300" b="1" dirty="0" err="1">
                <a:solidFill>
                  <a:srgbClr val="0070C0"/>
                </a:solidFill>
                <a:latin typeface="Aptos" panose="020B0004020202020204" pitchFamily="34" charset="0"/>
              </a:rPr>
              <a:t>jenis</a:t>
            </a:r>
            <a:r>
              <a:rPr lang="en-US" sz="3300" b="1" dirty="0">
                <a:solidFill>
                  <a:srgbClr val="0070C0"/>
                </a:solidFill>
                <a:latin typeface="Aptos" panose="020B0004020202020204" pitchFamily="34" charset="0"/>
              </a:rPr>
              <a:t> thread yang </a:t>
            </a:r>
            <a:r>
              <a:rPr lang="en-US" sz="3300" b="1" err="1">
                <a:solidFill>
                  <a:srgbClr val="0070C0"/>
                </a:solidFill>
                <a:latin typeface="Aptos" panose="020B0004020202020204" pitchFamily="34" charset="0"/>
              </a:rPr>
              <a:t>dikelola</a:t>
            </a:r>
            <a:r>
              <a:rPr lang="en-US" sz="3300" b="1">
                <a:solidFill>
                  <a:srgbClr val="0070C0"/>
                </a:solidFill>
                <a:latin typeface="Aptos" panose="020B0004020202020204" pitchFamily="34" charset="0"/>
              </a:rPr>
              <a:t> </a:t>
            </a:r>
            <a:r>
              <a:rPr lang="en-US" sz="3300" b="1" smtClean="0">
                <a:solidFill>
                  <a:srgbClr val="0070C0"/>
                </a:solidFill>
                <a:latin typeface="Aptos" panose="020B0004020202020204" pitchFamily="34" charset="0"/>
              </a:rPr>
              <a:t>oleh </a:t>
            </a:r>
            <a:r>
              <a:rPr lang="en-US" sz="3300" b="1" smtClean="0">
                <a:solidFill>
                  <a:srgbClr val="0070C0"/>
                </a:solidFill>
                <a:latin typeface="Aptos" panose="020B0004020202020204" pitchFamily="34" charset="0"/>
              </a:rPr>
              <a:t>library </a:t>
            </a:r>
            <a:r>
              <a:rPr lang="en-US" sz="3300" b="1">
                <a:solidFill>
                  <a:srgbClr val="0070C0"/>
                </a:solidFill>
                <a:latin typeface="Aptos" panose="020B0004020202020204" pitchFamily="34" charset="0"/>
              </a:rPr>
              <a:t>atau runtime di </a:t>
            </a:r>
            <a:r>
              <a:rPr lang="en-US" sz="3300" b="1">
                <a:solidFill>
                  <a:srgbClr val="0070C0"/>
                </a:solidFill>
                <a:latin typeface="Aptos" panose="020B0004020202020204" pitchFamily="34" charset="0"/>
              </a:rPr>
              <a:t>ruang </a:t>
            </a:r>
            <a:r>
              <a:rPr lang="en-US" sz="3300" b="1" smtClean="0">
                <a:solidFill>
                  <a:srgbClr val="0070C0"/>
                </a:solidFill>
                <a:latin typeface="Aptos" panose="020B0004020202020204" pitchFamily="34" charset="0"/>
              </a:rPr>
              <a:t>pengguna.</a:t>
            </a:r>
          </a:p>
          <a:p>
            <a:pPr marL="571500" indent="-5715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300" smtClean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Thread </a:t>
            </a:r>
            <a:r>
              <a:rPr lang="en-US" sz="3300" dirty="0" err="1" smtClean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diciptakan</a:t>
            </a:r>
            <a:r>
              <a:rPr lang="en-US" sz="3300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, </a:t>
            </a:r>
            <a:r>
              <a:rPr lang="en-US" sz="3300" dirty="0" err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dijadwalkan</a:t>
            </a:r>
            <a:r>
              <a:rPr lang="en-US" sz="3300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, </a:t>
            </a:r>
            <a:r>
              <a:rPr lang="en-US" sz="3300" dirty="0" err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dan</a:t>
            </a:r>
            <a:r>
              <a:rPr lang="en-US" sz="3300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300" dirty="0" err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dikelola</a:t>
            </a:r>
            <a:r>
              <a:rPr lang="en-US" sz="3300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300" dirty="0" err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oleh</a:t>
            </a:r>
            <a:r>
              <a:rPr lang="en-US" sz="3300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300" dirty="0" err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pustaka</a:t>
            </a:r>
            <a:r>
              <a:rPr lang="en-US" sz="3300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300" dirty="0" err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dalam</a:t>
            </a:r>
            <a:r>
              <a:rPr lang="en-US" sz="3300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300" dirty="0" err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ruang</a:t>
            </a:r>
            <a:r>
              <a:rPr lang="en-US" sz="3300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300" dirty="0" err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pengguna</a:t>
            </a:r>
            <a:r>
              <a:rPr lang="en-US" sz="3300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, </a:t>
            </a:r>
            <a:r>
              <a:rPr lang="en-US" sz="3300" dirty="0" err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sehingga</a:t>
            </a:r>
            <a:r>
              <a:rPr lang="en-US" sz="3300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300" u="sng" dirty="0" err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tidak</a:t>
            </a:r>
            <a:r>
              <a:rPr lang="en-US" sz="3300" u="sng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300" u="sng" dirty="0" err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memerlukan</a:t>
            </a:r>
            <a:r>
              <a:rPr lang="en-US" sz="3300" u="sng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300" u="sng" dirty="0" err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interaksi</a:t>
            </a:r>
            <a:r>
              <a:rPr lang="en-US" sz="3300" u="sng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300" u="sng" dirty="0" err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langsung</a:t>
            </a:r>
            <a:r>
              <a:rPr lang="en-US" sz="3300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300" dirty="0" err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dengan</a:t>
            </a:r>
            <a:r>
              <a:rPr lang="en-US" sz="3300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 kernel </a:t>
            </a:r>
            <a:r>
              <a:rPr lang="en-US" sz="3300" dirty="0" err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sistem</a:t>
            </a:r>
            <a:r>
              <a:rPr lang="en-US" sz="3300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300" dirty="0" err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operasi</a:t>
            </a:r>
            <a:r>
              <a:rPr lang="en-US" sz="3300" dirty="0" smtClean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.</a:t>
            </a:r>
          </a:p>
          <a:p>
            <a:pPr marL="571500" indent="-5715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300" smtClean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User level </a:t>
            </a:r>
            <a:r>
              <a:rPr lang="en-US" sz="3300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threads </a:t>
            </a:r>
            <a:r>
              <a:rPr lang="en-US" sz="3300" dirty="0" err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memberikan</a:t>
            </a:r>
            <a:r>
              <a:rPr lang="en-US" sz="3300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300" dirty="0" err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fleksibilitas</a:t>
            </a:r>
            <a:r>
              <a:rPr lang="en-US" sz="3300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300" dirty="0" err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dalam</a:t>
            </a:r>
            <a:r>
              <a:rPr lang="en-US" sz="3300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300" dirty="0" err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mengelola</a:t>
            </a:r>
            <a:r>
              <a:rPr lang="en-US" sz="3300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300" dirty="0" err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interaksi</a:t>
            </a:r>
            <a:r>
              <a:rPr lang="en-US" sz="3300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300" dirty="0" err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pengguna</a:t>
            </a:r>
            <a:r>
              <a:rPr lang="en-US" sz="3300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300" dirty="0" err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dan</a:t>
            </a:r>
            <a:r>
              <a:rPr lang="en-US" sz="3300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300" dirty="0" err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responsivitas</a:t>
            </a:r>
            <a:r>
              <a:rPr lang="en-US" sz="3300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 UI</a:t>
            </a:r>
          </a:p>
        </p:txBody>
      </p:sp>
      <p:sp>
        <p:nvSpPr>
          <p:cNvPr id="6" name="Rectangle 5"/>
          <p:cNvSpPr/>
          <p:nvPr/>
        </p:nvSpPr>
        <p:spPr>
          <a:xfrm>
            <a:off x="780353" y="6871038"/>
            <a:ext cx="12021247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b="1" smtClean="0">
                <a:solidFill>
                  <a:srgbClr val="FF0000"/>
                </a:solidFill>
                <a:latin typeface="Aptos" panose="020B0004020202020204" pitchFamily="34" charset="0"/>
              </a:rPr>
              <a:t>Contoh – Aplikasi </a:t>
            </a:r>
            <a:r>
              <a:rPr lang="en-US" sz="3200" b="1">
                <a:solidFill>
                  <a:srgbClr val="FF0000"/>
                </a:solidFill>
                <a:latin typeface="Aptos" panose="020B0004020202020204" pitchFamily="34" charset="0"/>
              </a:rPr>
              <a:t>Pengunduhan </a:t>
            </a:r>
            <a:endParaRPr lang="en-US" sz="3200" b="1" smtClean="0">
              <a:solidFill>
                <a:srgbClr val="FF0000"/>
              </a:solidFill>
              <a:latin typeface="Aptos" panose="020B00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Misalkan 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aplikasi menggunakan 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library </a:t>
            </a:r>
            <a:r>
              <a:rPr lang="en-US" sz="32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ULT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Library mengelola ULT A untuk menangani interaksi membaca dan ULT B untuk mengunduh artikel.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ULT B memulai permintaan unduhan.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Saat data belum tersedia, runtime menangguhkan ULT B dan menjalankan ULT A.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Setelah data tersedia, runtime menjadwalkan kembali ULT B untuk 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melanjutkan </a:t>
            </a:r>
            <a:r>
              <a:rPr lang="en-US" sz="32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unduhan</a:t>
            </a:r>
            <a:endParaRPr lang="en-US" sz="320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4429232" y="7295790"/>
            <a:ext cx="9532737" cy="3416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3600" b="1">
                <a:solidFill>
                  <a:srgbClr val="0070C0"/>
                </a:solidFill>
                <a:latin typeface="Aptos" panose="020B0004020202020204" pitchFamily="34" charset="0"/>
              </a:rPr>
              <a:t>Mengapa termasuk ULT?</a:t>
            </a:r>
            <a:endParaRPr lang="en-US" sz="3600">
              <a:solidFill>
                <a:srgbClr val="0070C0"/>
              </a:solidFill>
              <a:latin typeface="Aptos" panose="020B00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32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Pergantian dan penjadwalan kedua thread diatur oleh library di ruang pengguna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. Kernel tidak menjadwalkan masing-masing ULT secara individual.</a:t>
            </a:r>
          </a:p>
        </p:txBody>
      </p:sp>
      <p:sp>
        <p:nvSpPr>
          <p:cNvPr id="8" name="Rectangle 7"/>
          <p:cNvSpPr/>
          <p:nvPr/>
        </p:nvSpPr>
        <p:spPr>
          <a:xfrm flipH="1">
            <a:off x="14209976" y="7295791"/>
            <a:ext cx="123244" cy="3416320"/>
          </a:xfrm>
          <a:prstGeom prst="rect">
            <a:avLst/>
          </a:prstGeom>
          <a:solidFill>
            <a:srgbClr val="0070C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80255465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AA432DF4-0931-96DF-D988-3B5A2BC86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Kernel level threads (KLT)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C9C32-AD92-8D7F-08BA-128530F3683B}"/>
              </a:ext>
            </a:extLst>
          </p:cNvPr>
          <p:cNvSpPr txBox="1">
            <a:spLocks/>
          </p:cNvSpPr>
          <p:nvPr/>
        </p:nvSpPr>
        <p:spPr>
          <a:xfrm>
            <a:off x="1126881" y="2729701"/>
            <a:ext cx="22225488" cy="53826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300" b="1">
                <a:solidFill>
                  <a:srgbClr val="0070C0"/>
                </a:solidFill>
                <a:latin typeface="Aptos" panose="020B0004020202020204" pitchFamily="34" charset="0"/>
              </a:rPr>
              <a:t>Kernel dapat menjadwalkan beberapa thread pada core CPU yang berbeda sehingga memungkinkan eksekusi paralel.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3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Ketika satu thread terblokir menunggu I/O, thread lain yang siap dapat tetap dijadwalkan.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3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Pembuatan dan perpindahan thread melibatkan kernel sehingga memiliki overhead pengelolaan.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26882" y="6142420"/>
            <a:ext cx="22225487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300" b="1" i="1">
                <a:solidFill>
                  <a:srgbClr val="FF0000"/>
                </a:solidFill>
                <a:latin typeface="Aptos" panose="020B0004020202020204" pitchFamily="34" charset="0"/>
              </a:rPr>
              <a:t>Catatan penting:</a:t>
            </a:r>
            <a:r>
              <a:rPr lang="en-US" sz="3300" i="1">
                <a:solidFill>
                  <a:srgbClr val="FF0000"/>
                </a:solidFill>
                <a:latin typeface="Aptos" panose="020B0004020202020204" pitchFamily="34" charset="0"/>
              </a:rPr>
              <a:t> KLT berarti </a:t>
            </a:r>
            <a:r>
              <a:rPr lang="en-US" sz="3300" b="1" i="1">
                <a:solidFill>
                  <a:srgbClr val="FF0000"/>
                </a:solidFill>
                <a:latin typeface="Aptos" panose="020B0004020202020204" pitchFamily="34" charset="0"/>
              </a:rPr>
              <a:t>dikelola oleh kernel</a:t>
            </a:r>
            <a:r>
              <a:rPr lang="en-US" sz="3300" i="1">
                <a:solidFill>
                  <a:srgbClr val="FF0000"/>
                </a:solidFill>
                <a:latin typeface="Aptos" panose="020B0004020202020204" pitchFamily="34" charset="0"/>
              </a:rPr>
              <a:t>, bukan berarti seluruh kode aplikasi berjalan di kernel space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26879" y="7189971"/>
            <a:ext cx="22225490" cy="37146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CONTOH </a:t>
            </a:r>
            <a:r>
              <a:rPr lang="en-US" altLang="en-US" sz="32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-</a:t>
            </a:r>
            <a:r>
              <a:rPr lang="en-US" altLang="en-US" sz="32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altLang="en-US" sz="32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Aplikasi Transportasi Online</a:t>
            </a:r>
            <a:endParaRPr lang="en-US" altLang="en-US" sz="320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457200" lvl="0" indent="-457200" algn="just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</a:t>
            </a:r>
            <a:r>
              <a:rPr lang="en-US" altLang="en-US" sz="32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plikasi </a:t>
            </a:r>
            <a:r>
              <a:rPr lang="en-US" alt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menggunakan </a:t>
            </a:r>
            <a:r>
              <a:rPr lang="en-US" altLang="en-US" sz="32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threads </a:t>
            </a:r>
            <a:r>
              <a:rPr lang="en-US" alt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yang dijadwalkan kernel</a:t>
            </a:r>
            <a:r>
              <a:rPr lang="en-US" alt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. </a:t>
            </a:r>
            <a:endParaRPr lang="en-US" altLang="en-US" sz="3200" smtClean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457200" lvl="0" indent="-457200" algn="just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Main </a:t>
            </a:r>
            <a:r>
              <a:rPr lang="en-US" alt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thread menangani </a:t>
            </a:r>
            <a:r>
              <a:rPr lang="en-US" alt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tampilan </a:t>
            </a:r>
            <a:r>
              <a:rPr lang="en-US" altLang="en-US" sz="32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peta.</a:t>
            </a:r>
          </a:p>
          <a:p>
            <a:pPr marL="457200" lvl="0" indent="-457200" algn="just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Sedangkan </a:t>
            </a:r>
            <a:r>
              <a:rPr lang="en-US" alt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worker thread memproses data lokasi dan komunikasi dengan server</a:t>
            </a:r>
            <a:r>
              <a:rPr lang="en-US" alt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. </a:t>
            </a:r>
            <a:r>
              <a:rPr lang="en-US" altLang="en-US" sz="32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Worker thread </a:t>
            </a:r>
            <a:r>
              <a:rPr lang="en-US" alt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mengirimkan hasil kepada main thread untuk memperbarui </a:t>
            </a:r>
            <a:r>
              <a:rPr lang="en-US" alt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tampilan</a:t>
            </a:r>
            <a:r>
              <a:rPr lang="en-US" altLang="en-US" sz="32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26881" y="11038730"/>
            <a:ext cx="22225488" cy="15696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Mengapa KLT?</a:t>
            </a:r>
          </a:p>
          <a:p>
            <a:pPr lvl="0" algn="just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Kernel menjadwalkan setiap native thread dan dapat menjalankannya pada core berbeda jika sumber daya tersedia.</a:t>
            </a:r>
            <a:endParaRPr lang="en-US" altLang="en-US" sz="320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 flipH="1">
            <a:off x="828157" y="7525458"/>
            <a:ext cx="82161" cy="5082931"/>
          </a:xfrm>
          <a:prstGeom prst="rect">
            <a:avLst/>
          </a:prstGeom>
          <a:solidFill>
            <a:srgbClr val="0070C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84474010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AA432DF4-0931-96DF-D988-3B5A2BC86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Kernel level threads (KLT)</a:t>
            </a:r>
          </a:p>
        </p:txBody>
      </p:sp>
      <p:sp>
        <p:nvSpPr>
          <p:cNvPr id="7" name="Rectangle 6"/>
          <p:cNvSpPr/>
          <p:nvPr/>
        </p:nvSpPr>
        <p:spPr>
          <a:xfrm>
            <a:off x="1425600" y="3312669"/>
            <a:ext cx="2222549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CONTOH </a:t>
            </a:r>
            <a:r>
              <a:rPr lang="en-US" altLang="en-US" sz="32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-</a:t>
            </a:r>
            <a:r>
              <a:rPr lang="en-US" altLang="en-US" sz="32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altLang="en-US" sz="32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Aplikasi </a:t>
            </a:r>
            <a:r>
              <a:rPr lang="en-US" altLang="en-US" sz="32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Pesan Instan</a:t>
            </a:r>
            <a:endParaRPr lang="en-US" altLang="en-US" sz="320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457200" lvl="0" indent="-457200" algn="just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</a:t>
            </a:r>
            <a:r>
              <a:rPr lang="en-US" altLang="en-US" sz="32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plikasi </a:t>
            </a:r>
            <a:r>
              <a:rPr lang="en-US" alt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menggunakan </a:t>
            </a:r>
            <a:r>
              <a:rPr lang="en-US" altLang="en-US" sz="32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threads </a:t>
            </a:r>
            <a:r>
              <a:rPr lang="en-US" alt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yang dijadwalkan kernel</a:t>
            </a:r>
            <a:r>
              <a:rPr lang="en-US" alt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. </a:t>
            </a:r>
            <a:endParaRPr lang="en-US" altLang="en-US" sz="320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457200" lvl="0" indent="-457200" algn="just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2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Main 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thread menangani antarmuka, sedangkan worker thread menangani komunikasi jaringan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. </a:t>
            </a:r>
            <a:endParaRPr lang="en-US" sz="3200" smtClean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457200" lvl="0" indent="-457200" algn="just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2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Saat 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worker menunggu data dari server, main thread tetap dapat menerima ketikan 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pengguna</a:t>
            </a:r>
            <a:r>
              <a:rPr lang="en-US" sz="32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.</a:t>
            </a:r>
            <a:endParaRPr lang="en-US" altLang="en-US" sz="3200" smtClean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 flipH="1">
            <a:off x="1126877" y="3554372"/>
            <a:ext cx="82161" cy="2711501"/>
          </a:xfrm>
          <a:prstGeom prst="rect">
            <a:avLst/>
          </a:prstGeom>
          <a:solidFill>
            <a:srgbClr val="0070C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44137357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Z" dirty="0"/>
              <a:t>Combined approaches</a:t>
            </a:r>
            <a:endParaRPr lang="en-US" dirty="0"/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A5153D47-B92A-9E81-D63F-A8047E96C662}"/>
              </a:ext>
            </a:extLst>
          </p:cNvPr>
          <p:cNvSpPr txBox="1">
            <a:spLocks/>
          </p:cNvSpPr>
          <p:nvPr/>
        </p:nvSpPr>
        <p:spPr>
          <a:xfrm>
            <a:off x="644819" y="11650014"/>
            <a:ext cx="9768876" cy="8035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© 2017 Pearson Education, Inc., Hoboken, NJ. All rights reserved.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 descr="f5.pdf">
            <a:extLst>
              <a:ext uri="{FF2B5EF4-FFF2-40B4-BE49-F238E27FC236}">
                <a16:creationId xmlns:a16="http://schemas.microsoft.com/office/drawing/2014/main" id="{2CCCB6F2-BB9F-0166-A215-955722A164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455" t="10588" r="2727" b="35294"/>
          <a:stretch>
            <a:fillRect/>
          </a:stretch>
        </p:blipFill>
        <p:spPr>
          <a:xfrm>
            <a:off x="16271468" y="2127199"/>
            <a:ext cx="7826782" cy="1024706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409700" y="3363005"/>
            <a:ext cx="1388745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0070C0"/>
                </a:solidFill>
              </a:rPr>
              <a:t>Combined Level Thread (CLT) </a:t>
            </a:r>
            <a:r>
              <a:rPr lang="en-US" sz="3600" dirty="0" err="1">
                <a:solidFill>
                  <a:srgbClr val="0070C0"/>
                </a:solidFill>
              </a:rPr>
              <a:t>adalah</a:t>
            </a:r>
            <a:r>
              <a:rPr lang="en-US" sz="3600" dirty="0">
                <a:solidFill>
                  <a:srgbClr val="0070C0"/>
                </a:solidFill>
              </a:rPr>
              <a:t> model threading yang </a:t>
            </a:r>
            <a:r>
              <a:rPr lang="en-US" sz="3600" dirty="0" err="1">
                <a:solidFill>
                  <a:srgbClr val="0070C0"/>
                </a:solidFill>
              </a:rPr>
              <a:t>menggabungkan</a:t>
            </a:r>
            <a:r>
              <a:rPr lang="en-US" sz="3600" dirty="0">
                <a:solidFill>
                  <a:srgbClr val="0070C0"/>
                </a:solidFill>
              </a:rPr>
              <a:t> </a:t>
            </a:r>
            <a:r>
              <a:rPr lang="en-US" sz="3600" dirty="0" err="1">
                <a:solidFill>
                  <a:srgbClr val="0070C0"/>
                </a:solidFill>
              </a:rPr>
              <a:t>elemen</a:t>
            </a:r>
            <a:r>
              <a:rPr lang="en-US" sz="3600" dirty="0">
                <a:solidFill>
                  <a:srgbClr val="0070C0"/>
                </a:solidFill>
              </a:rPr>
              <a:t> </a:t>
            </a:r>
            <a:r>
              <a:rPr lang="en-US" sz="3600" err="1">
                <a:solidFill>
                  <a:srgbClr val="0070C0"/>
                </a:solidFill>
              </a:rPr>
              <a:t>dari</a:t>
            </a:r>
            <a:r>
              <a:rPr lang="en-US" sz="3600">
                <a:solidFill>
                  <a:srgbClr val="0070C0"/>
                </a:solidFill>
              </a:rPr>
              <a:t> </a:t>
            </a:r>
            <a:r>
              <a:rPr lang="en-US" sz="3600" smtClean="0">
                <a:solidFill>
                  <a:srgbClr val="0070C0"/>
                </a:solidFill>
              </a:rPr>
              <a:t>kernel level </a:t>
            </a:r>
            <a:r>
              <a:rPr lang="en-US" sz="3600" dirty="0">
                <a:solidFill>
                  <a:srgbClr val="0070C0"/>
                </a:solidFill>
              </a:rPr>
              <a:t>threads </a:t>
            </a:r>
            <a:r>
              <a:rPr lang="en-US" sz="3600" err="1">
                <a:solidFill>
                  <a:srgbClr val="0070C0"/>
                </a:solidFill>
              </a:rPr>
              <a:t>dan</a:t>
            </a:r>
            <a:r>
              <a:rPr lang="en-US" sz="3600">
                <a:solidFill>
                  <a:srgbClr val="0070C0"/>
                </a:solidFill>
              </a:rPr>
              <a:t> </a:t>
            </a:r>
            <a:r>
              <a:rPr lang="en-US" sz="3600" smtClean="0">
                <a:solidFill>
                  <a:srgbClr val="0070C0"/>
                </a:solidFill>
              </a:rPr>
              <a:t>user level </a:t>
            </a:r>
            <a:r>
              <a:rPr lang="en-US" sz="3600" dirty="0">
                <a:solidFill>
                  <a:srgbClr val="0070C0"/>
                </a:solidFill>
              </a:rPr>
              <a:t>threads</a:t>
            </a:r>
            <a:r>
              <a:rPr lang="en-US" sz="3600" dirty="0" smtClean="0">
                <a:solidFill>
                  <a:srgbClr val="0070C0"/>
                </a:solidFill>
              </a:rPr>
              <a:t>.</a:t>
            </a:r>
          </a:p>
          <a:p>
            <a:pPr marL="571500" indent="-5715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600" dirty="0" err="1" smtClean="0">
                <a:solidFill>
                  <a:schemeClr val="tx1">
                    <a:lumMod val="50000"/>
                  </a:schemeClr>
                </a:solidFill>
              </a:rPr>
              <a:t>Dalam</a:t>
            </a:r>
            <a:r>
              <a:rPr lang="en-US" sz="3600" dirty="0" smtClean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model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ini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, thread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dikelola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baik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oleh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aplikasi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di level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pengguna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maupun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oleh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sistem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operasi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di level </a:t>
            </a:r>
            <a:r>
              <a:rPr lang="en-US" sz="3600" dirty="0" smtClean="0">
                <a:solidFill>
                  <a:schemeClr val="tx1">
                    <a:lumMod val="50000"/>
                  </a:schemeClr>
                </a:solidFill>
              </a:rPr>
              <a:t>kernel.</a:t>
            </a:r>
            <a:endParaRPr lang="en-US" sz="3600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137028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References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DAF9C75-4554-CF8E-0C5D-F5479CB102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B98FC85-AB76-CFC5-D4ED-B50A93C39C06}"/>
              </a:ext>
            </a:extLst>
          </p:cNvPr>
          <p:cNvSpPr txBox="1">
            <a:spLocks/>
          </p:cNvSpPr>
          <p:nvPr/>
        </p:nvSpPr>
        <p:spPr>
          <a:xfrm>
            <a:off x="2720937" y="3989490"/>
            <a:ext cx="17556480" cy="97865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Stallings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, W. (201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4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). </a:t>
            </a:r>
            <a:r>
              <a:rPr kumimoji="0" lang="id-ID" sz="36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Operating Systems: Internals and Design Principles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. 8</a:t>
            </a:r>
            <a:r>
              <a:rPr kumimoji="0" lang="id-ID" sz="3600" b="0" i="0" u="none" strike="noStrike" kern="1200" cap="none" spc="0" normalizeH="0" baseline="30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th. </a:t>
            </a:r>
            <a:br>
              <a:rPr kumimoji="0" lang="id-ID" sz="3600" b="0" i="0" u="none" strike="noStrike" kern="1200" cap="none" spc="0" normalizeH="0" baseline="30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</a:b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ISBN: 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 978-0-13-380591-8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Abraham Silberschatz, Peter B. Galvin, Greg Gagne (201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8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). Operating System Concepts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10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th ed.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  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ISBN: 978-1-119-32091-3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A. Tanenbaum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 and H. Bos 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(20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15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), Modern Operating System,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4th</a:t>
            </a:r>
            <a:endParaRPr kumimoji="0" lang="id-ID" sz="3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  ISBN: 978-0-13-359162-0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 	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id-ID" sz="3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264977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2078</TotalTime>
  <Words>1786</Words>
  <Application>Microsoft Office PowerPoint</Application>
  <PresentationFormat>Custom</PresentationFormat>
  <Paragraphs>215</Paragraphs>
  <Slides>27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40" baseType="lpstr">
      <vt:lpstr>Helvetica Neue</vt:lpstr>
      <vt:lpstr>Courier New</vt:lpstr>
      <vt:lpstr>Helvetica Neue Medium</vt:lpstr>
      <vt:lpstr>Open Sans ExtraBold</vt:lpstr>
      <vt:lpstr>Open Sans</vt:lpstr>
      <vt:lpstr>Open Sans Light</vt:lpstr>
      <vt:lpstr>Wingdings</vt:lpstr>
      <vt:lpstr>Calibri</vt:lpstr>
      <vt:lpstr>OCRB</vt:lpstr>
      <vt:lpstr>Aptos</vt:lpstr>
      <vt:lpstr>Open Sans Semibold</vt:lpstr>
      <vt:lpstr>Arial</vt:lpstr>
      <vt:lpstr>21_BasicWhite</vt:lpstr>
      <vt:lpstr>Threads</vt:lpstr>
      <vt:lpstr>Acknowledgement </vt:lpstr>
      <vt:lpstr>Learning Objectives </vt:lpstr>
      <vt:lpstr>Multiprocessor and Embedded System</vt:lpstr>
      <vt:lpstr>threads </vt:lpstr>
      <vt:lpstr>threads </vt:lpstr>
      <vt:lpstr>threads </vt:lpstr>
      <vt:lpstr>threads </vt:lpstr>
      <vt:lpstr>threads </vt:lpstr>
      <vt:lpstr>threads </vt:lpstr>
      <vt:lpstr>Process &amp; threads </vt:lpstr>
      <vt:lpstr>Process &amp; threads </vt:lpstr>
      <vt:lpstr>threaded modelling</vt:lpstr>
      <vt:lpstr>Single threaded approach</vt:lpstr>
      <vt:lpstr>Single threaded approach</vt:lpstr>
      <vt:lpstr>Single threaded approach</vt:lpstr>
      <vt:lpstr>Multi threaded approach</vt:lpstr>
      <vt:lpstr>multi threaded approach</vt:lpstr>
      <vt:lpstr>Single threaded vs multi threaded</vt:lpstr>
      <vt:lpstr>Processes and threads</vt:lpstr>
      <vt:lpstr>Types Level of threads</vt:lpstr>
      <vt:lpstr>Types Level of threads</vt:lpstr>
      <vt:lpstr>User-Level Threads (ULTs)</vt:lpstr>
      <vt:lpstr>Kernel level threads (KLT)</vt:lpstr>
      <vt:lpstr>Kernel level threads (KLT)</vt:lpstr>
      <vt:lpstr>Combined approaches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Fachri Riyanto</dc:creator>
  <cp:lastModifiedBy>Muhammad Ihsan Arief Nurhakim</cp:lastModifiedBy>
  <cp:revision>31</cp:revision>
  <dcterms:created xsi:type="dcterms:W3CDTF">2023-03-03T09:44:40Z</dcterms:created>
  <dcterms:modified xsi:type="dcterms:W3CDTF">2026-10-09T16:24:59Z</dcterms:modified>
</cp:coreProperties>
</file>