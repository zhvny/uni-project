
<file path=[Content_Types].xml><?xml version="1.0" encoding="utf-8"?>
<Types xmlns="http://schemas.openxmlformats.org/package/2006/content-types">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9"/>
  </p:notesMasterIdLst>
  <p:sldIdLst>
    <p:sldId id="256" r:id="rId2"/>
    <p:sldId id="278" r:id="rId3"/>
    <p:sldId id="257" r:id="rId4"/>
    <p:sldId id="264" r:id="rId5"/>
    <p:sldId id="297" r:id="rId6"/>
    <p:sldId id="340" r:id="rId7"/>
    <p:sldId id="303" r:id="rId8"/>
    <p:sldId id="301" r:id="rId9"/>
    <p:sldId id="339" r:id="rId10"/>
    <p:sldId id="341" r:id="rId11"/>
    <p:sldId id="342" r:id="rId12"/>
    <p:sldId id="337" r:id="rId13"/>
    <p:sldId id="321" r:id="rId14"/>
    <p:sldId id="343" r:id="rId15"/>
    <p:sldId id="315" r:id="rId16"/>
    <p:sldId id="317" r:id="rId17"/>
    <p:sldId id="296" r:id="rId18"/>
  </p:sldIdLst>
  <p:sldSz cx="24384000" cy="13716000"/>
  <p:notesSz cx="6858000" cy="9144000"/>
  <p:embeddedFontLst>
    <p:embeddedFont>
      <p:font typeface="OCRB" panose="020B0609020202020204" pitchFamily="49" charset="0"/>
      <p:regular r:id="rId20"/>
    </p:embeddedFont>
    <p:embeddedFont>
      <p:font typeface="Open Sans" panose="020B0606030504020204" pitchFamily="34" charset="0"/>
      <p:regular r:id="rId21"/>
      <p:bold r:id="rId22"/>
      <p:italic r:id="rId23"/>
      <p:boldItalic r:id="rId24"/>
    </p:embeddedFont>
    <p:embeddedFont>
      <p:font typeface="Open Sans ExtraBold" panose="020B0906030804020204" pitchFamily="34" charset="0"/>
      <p:bold r:id="rId25"/>
      <p:italic r:id="rId26"/>
      <p:boldItalic r:id="rId27"/>
    </p:embeddedFont>
    <p:embeddedFont>
      <p:font typeface="Open Sans Light" panose="020B0306030504020204" pitchFamily="34" charset="0"/>
      <p:regular r:id="rId28"/>
      <p:italic r:id="rId29"/>
    </p:embeddedFont>
    <p:embeddedFont>
      <p:font typeface="Open Sans Semibold" panose="020B0706030804020204" pitchFamily="34" charset="0"/>
      <p:regular r:id="rId30"/>
      <p:bold r:id="rId31"/>
      <p:italic r:id="rId32"/>
      <p:boldItalic r:id="rId33"/>
    </p:embeddedFont>
    <p:embeddedFont>
      <p:font typeface="Tahoma" panose="020B0604030504040204" pitchFamily="34" charset="0"/>
      <p:regular r:id="rId34"/>
      <p:bold r:id="rId3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autoAdjust="0"/>
    <p:restoredTop sz="96197"/>
  </p:normalViewPr>
  <p:slideViewPr>
    <p:cSldViewPr snapToGrid="0" snapToObjects="1">
      <p:cViewPr varScale="1">
        <p:scale>
          <a:sx n="39" d="100"/>
          <a:sy n="39" d="100"/>
        </p:scale>
        <p:origin x="192" y="91"/>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ableStyles" Target="tableStyles.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r>
              <a:rPr lang="en-US" dirty="0"/>
              <a:t>Schedulers for systems supporting a mixture of tasks, some with hard real-time constraints, others with soft, or no timing constraints, are often subject to contradictory requirements. </a:t>
            </a:r>
          </a:p>
          <a:p>
            <a:pPr algn="just"/>
            <a:r>
              <a:rPr lang="en-US" dirty="0"/>
              <a:t>Some schedulers are preemptive, allowing a high-priority task to interrupt the execution of a lower priority one; others are </a:t>
            </a:r>
            <a:r>
              <a:rPr lang="en-US" dirty="0" err="1"/>
              <a:t>nonpreemptive</a:t>
            </a:r>
            <a:r>
              <a:rPr lang="en-US" dirty="0"/>
              <a:t>.</a:t>
            </a:r>
          </a:p>
          <a:p>
            <a:pPr algn="just"/>
            <a:r>
              <a:rPr lang="en-US" dirty="0"/>
              <a:t>Two distinct dimensions of resource management must be addressed by a scheduling policy: (a) the amount/quantity of resources allocated; and (b) the timing when access to resources is granted.</a:t>
            </a:r>
          </a:p>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918C-94BA-768D-0DAB-4F7B7EB26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1B7B2-98E1-973B-DB1A-E34DFC03EC0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864438-4B75-9973-2FD3-870FD207506C}"/>
              </a:ext>
            </a:extLst>
          </p:cNvPr>
          <p:cNvSpPr>
            <a:spLocks noGrp="1"/>
          </p:cNvSpPr>
          <p:nvPr>
            <p:ph type="body" idx="1"/>
          </p:nvPr>
        </p:nvSpPr>
        <p:spPr/>
        <p:txBody>
          <a:bodyPr/>
          <a:lstStyle/>
          <a:p>
            <a:pPr rtl="0" fontAlgn="base"/>
            <a:r>
              <a:rPr lang="en-US" sz="2200" b="0" i="0" dirty="0">
                <a:effectLst/>
                <a:latin typeface="Open Sans Light" pitchFamily="2" charset="0"/>
                <a:ea typeface="Open Sans Light" pitchFamily="2" charset="0"/>
                <a:cs typeface="Open Sans Light" pitchFamily="2" charset="0"/>
                <a:sym typeface="Helvetica Neue"/>
              </a:rPr>
              <a:t>Round Robin Scheduling is a method used by operating systems to manage the execution time of multiple processes that are competing for CPU attention. It is called "round robin" because the system rotates through all the processes, allocating each of them a fixed time slice or "quantum", regardless of their priority.</a:t>
            </a:r>
          </a:p>
          <a:p>
            <a:pPr rtl="0" fontAlgn="base"/>
            <a:r>
              <a:rPr lang="en-US" sz="2200" b="0" i="0" dirty="0">
                <a:effectLst/>
                <a:latin typeface="Open Sans Light" pitchFamily="2" charset="0"/>
                <a:ea typeface="Open Sans Light" pitchFamily="2" charset="0"/>
                <a:cs typeface="Open Sans Light" pitchFamily="2" charset="0"/>
                <a:sym typeface="Helvetica Neue"/>
              </a:rPr>
              <a:t>The primary goal of this scheduling method is to ensure that all processes are given an equal opportunity to execute, promoting fairness among tasks.</a:t>
            </a:r>
          </a:p>
          <a:p>
            <a:endParaRPr lang="en-US" dirty="0"/>
          </a:p>
        </p:txBody>
      </p:sp>
    </p:spTree>
    <p:extLst>
      <p:ext uri="{BB962C8B-B14F-4D97-AF65-F5344CB8AC3E}">
        <p14:creationId xmlns:p14="http://schemas.microsoft.com/office/powerpoint/2010/main" val="3490927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948D9-340D-1C58-730E-0A735CA570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1AD859-737A-3CA4-8735-2AD1C90D5D1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C4BB28A-E7BE-1641-EB08-894E95B2EA9C}"/>
              </a:ext>
            </a:extLst>
          </p:cNvPr>
          <p:cNvSpPr>
            <a:spLocks noGrp="1"/>
          </p:cNvSpPr>
          <p:nvPr>
            <p:ph type="body" idx="1"/>
          </p:nvPr>
        </p:nvSpPr>
        <p:spPr/>
        <p:txBody>
          <a:bodyPr/>
          <a:lstStyle/>
          <a:p>
            <a:pPr rtl="0" fontAlgn="base"/>
            <a:r>
              <a:rPr lang="en-US" sz="2200" b="1" i="0" dirty="0">
                <a:effectLst/>
                <a:latin typeface="Open Sans Light" pitchFamily="2" charset="0"/>
                <a:ea typeface="Open Sans Light" pitchFamily="2" charset="0"/>
                <a:cs typeface="Open Sans Light" pitchFamily="2" charset="0"/>
                <a:sym typeface="Helvetica Neue"/>
              </a:rPr>
              <a:t>Earliest Deadline First (EDF)</a:t>
            </a:r>
            <a:r>
              <a:rPr lang="en-US" sz="2200" b="0" i="0" dirty="0">
                <a:effectLst/>
                <a:latin typeface="Open Sans Light" pitchFamily="2" charset="0"/>
                <a:ea typeface="Open Sans Light" pitchFamily="2" charset="0"/>
                <a:cs typeface="Open Sans Light" pitchFamily="2" charset="0"/>
                <a:sym typeface="Helvetica Neue"/>
              </a:rPr>
              <a:t> is an optimal dynamic priority scheduling algorithm used in real-time systems. </a:t>
            </a:r>
          </a:p>
          <a:p>
            <a:pPr rtl="0" fontAlgn="base"/>
            <a:r>
              <a:rPr lang="en-US" sz="2200" b="0" i="0" dirty="0">
                <a:effectLst/>
                <a:latin typeface="Open Sans Light" pitchFamily="2" charset="0"/>
                <a:ea typeface="Open Sans Light" pitchFamily="2" charset="0"/>
                <a:cs typeface="Open Sans Light" pitchFamily="2" charset="0"/>
                <a:sym typeface="Helvetica Neue"/>
              </a:rPr>
              <a:t>It can be used for both static and dynamic real-time scheduling. </a:t>
            </a:r>
          </a:p>
          <a:p>
            <a:pPr rtl="0" fontAlgn="base"/>
            <a:r>
              <a:rPr lang="en-US" sz="2200" b="0" i="0" dirty="0">
                <a:effectLst/>
                <a:latin typeface="Open Sans Light" pitchFamily="2" charset="0"/>
                <a:ea typeface="Open Sans Light" pitchFamily="2" charset="0"/>
                <a:cs typeface="Open Sans Light" pitchFamily="2" charset="0"/>
                <a:sym typeface="Helvetica Neue"/>
              </a:rPr>
              <a:t>EDF uses priorities to the jobs for scheduling. It assigns priorities to the task according to the absolute deadline. The task whose deadline is closest gets the highest priority. The priorities are assigned and changed in a dynamic fashion. EDF is very efficient as compared to other scheduling algorithms in real-time systems. It can make the CPU utilization to about 100% while still guaranteeing the deadlines of all the tasks. </a:t>
            </a:r>
          </a:p>
        </p:txBody>
      </p:sp>
    </p:spTree>
    <p:extLst>
      <p:ext uri="{BB962C8B-B14F-4D97-AF65-F5344CB8AC3E}">
        <p14:creationId xmlns:p14="http://schemas.microsoft.com/office/powerpoint/2010/main" val="3365526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44F40-29AB-0E29-BB7F-2DB0C4795B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CF3F9-6209-91EB-22DF-8423BBE6EAC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04C6944-42D3-B422-1D6B-A51DE59E9D59}"/>
              </a:ext>
            </a:extLst>
          </p:cNvPr>
          <p:cNvSpPr>
            <a:spLocks noGrp="1"/>
          </p:cNvSpPr>
          <p:nvPr>
            <p:ph type="body" idx="1"/>
          </p:nvPr>
        </p:nvSpPr>
        <p:spPr/>
        <p:txBody>
          <a:bodyPr/>
          <a:lstStyle/>
          <a:p>
            <a:pPr rtl="0" fontAlgn="base"/>
            <a:endParaRPr lang="en-US" sz="2200" b="0" i="0" dirty="0">
              <a:effectLst/>
              <a:latin typeface="Open Sans Light" pitchFamily="2" charset="0"/>
              <a:ea typeface="Open Sans Light" pitchFamily="2" charset="0"/>
              <a:cs typeface="Open Sans Light" pitchFamily="2" charset="0"/>
              <a:sym typeface="Helvetica Neue"/>
            </a:endParaRPr>
          </a:p>
        </p:txBody>
      </p:sp>
    </p:spTree>
    <p:extLst>
      <p:ext uri="{BB962C8B-B14F-4D97-AF65-F5344CB8AC3E}">
        <p14:creationId xmlns:p14="http://schemas.microsoft.com/office/powerpoint/2010/main" val="1388882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just"/>
            <a:r>
              <a:rPr lang="en-US" dirty="0"/>
              <a:t>The effort to reduce the energy use is focused on the computing, networking, and storage activities of a data center.</a:t>
            </a:r>
          </a:p>
          <a:p>
            <a:pPr algn="just"/>
            <a:r>
              <a:rPr lang="en-US" dirty="0"/>
              <a:t>A strategy to reduce energy consumption is to concentrate the workload on a small number of disks and allow the others to operate in a low-power mode. </a:t>
            </a:r>
          </a:p>
          <a:p>
            <a:pPr algn="just"/>
            <a:r>
              <a:rPr lang="en-US" dirty="0"/>
              <a:t>One of the techniques to accomplish this is based on replication. A replication strategy based on a sliding window; measurement results indicate that it performs better than LRU, MRU, and LFU9 policies for a range of file sizes, file availability, and number of client nodes and the power requirements are reduced by as much as 31%.</a:t>
            </a:r>
          </a:p>
          <a:p>
            <a:endParaRPr lang="en-US" dirty="0"/>
          </a:p>
        </p:txBody>
      </p:sp>
    </p:spTree>
    <p:extLst>
      <p:ext uri="{BB962C8B-B14F-4D97-AF65-F5344CB8AC3E}">
        <p14:creationId xmlns:p14="http://schemas.microsoft.com/office/powerpoint/2010/main" val="11869464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1/8/2026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1/8/2026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positek.net/easy-backup-cloud-storage/" TargetMode="External"/><Relationship Id="rId2" Type="http://schemas.openxmlformats.org/officeDocument/2006/relationships/image" Target="../media/image22.pn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fontScale="90000"/>
          </a:bodyPr>
          <a:lstStyle/>
          <a:p>
            <a:r>
              <a:rPr lang="en-US" dirty="0"/>
              <a:t>Cloud Resource Management and Scheduling</a:t>
            </a:r>
            <a:br>
              <a:rPr lang="en-US" dirty="0"/>
            </a:br>
            <a:br>
              <a:rPr lang="en-US" dirty="0"/>
            </a:br>
            <a:r>
              <a:rPr lang="en-US" sz="6000" dirty="0"/>
              <a:t>Session 09</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a:bodyPr>
          <a:lstStyle/>
          <a:p>
            <a:br>
              <a:rPr lang="en-US" dirty="0"/>
            </a:br>
            <a:r>
              <a:rPr lang="en-US" dirty="0"/>
              <a:t>(C4) Analysis : identify problems that can be solved using cloud global infrastructure</a:t>
            </a:r>
          </a:p>
          <a:p>
            <a:r>
              <a:rPr lang="en-US" dirty="0"/>
              <a:t>(C2) Comprehension : group Classify real-worlds problems in accordance with cloud computing infrastructure</a:t>
            </a:r>
          </a:p>
          <a:p>
            <a:r>
              <a:rPr lang="en-US" dirty="0"/>
              <a:t>(C4) Analysis : analyze identifying problems and choose proper Cloud Services and Cloud Infrastructure</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Policies and Mechanisms for Resource Management</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Scheduling Algorithms for Computer Clouds</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Cloud Resource Utilization and Energy Efficiency</a:t>
            </a:r>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Policies and Mechanism for Resource Management</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dirty="0"/>
              <a:t>Policies and Mechanism for Resource Management</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r>
              <a:rPr lang="en-US" dirty="0"/>
              <a:t>- Policy Classes: Admission control (preventing system overload/violation of high-level policies), capacity allocation (resource assignment to individual service instances), load balancing, energy optimization, and QoS guarantees.</a:t>
            </a:r>
          </a:p>
        </p:txBody>
      </p:sp>
      <p:pic>
        <p:nvPicPr>
          <p:cNvPr id="8" name="Picture Placeholder 7">
            <a:extLst>
              <a:ext uri="{FF2B5EF4-FFF2-40B4-BE49-F238E27FC236}">
                <a16:creationId xmlns:a16="http://schemas.microsoft.com/office/drawing/2014/main" id="{7EAC2156-D447-9681-1EF2-28993E1947D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703" r="6703"/>
          <a:stretch/>
        </p:blipFill>
        <p:spPr>
          <a:xfrm>
            <a:off x="12339930" y="4210629"/>
            <a:ext cx="9099057" cy="7921898"/>
          </a:xfrm>
          <a:prstGeom prst="rect">
            <a:avLst/>
          </a:prstGeom>
          <a:noFill/>
        </p:spPr>
      </p:pic>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r>
              <a:rPr lang="en-US" sz="2800" dirty="0"/>
              <a:t>A policy sets guiding principles, while a mechanism implements the policy.</a:t>
            </a:r>
          </a:p>
        </p:txBody>
      </p:sp>
      <p:sp>
        <p:nvSpPr>
          <p:cNvPr id="3" name="TextBox 2">
            <a:extLst>
              <a:ext uri="{FF2B5EF4-FFF2-40B4-BE49-F238E27FC236}">
                <a16:creationId xmlns:a16="http://schemas.microsoft.com/office/drawing/2014/main" id="{6A8E33A6-C993-24D7-337F-D5B372997D70}"/>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positek.net/easy-backup-cloud-storage/"/>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76629525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15D91-4498-41E3-689B-4592E57E7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966ED-E208-E5CA-1A44-9278982F4094}"/>
              </a:ext>
            </a:extLst>
          </p:cNvPr>
          <p:cNvSpPr>
            <a:spLocks noGrp="1"/>
          </p:cNvSpPr>
          <p:nvPr>
            <p:ph type="title"/>
          </p:nvPr>
        </p:nvSpPr>
        <p:spPr>
          <a:xfrm>
            <a:off x="2167377" y="1871164"/>
            <a:ext cx="14715569" cy="511175"/>
          </a:xfrm>
        </p:spPr>
        <p:txBody>
          <a:bodyPr>
            <a:normAutofit/>
          </a:bodyPr>
          <a:lstStyle/>
          <a:p>
            <a:r>
              <a:rPr lang="en-US" sz="3200" dirty="0"/>
              <a:t>Policies and Mechanism for Resource Management</a:t>
            </a:r>
          </a:p>
        </p:txBody>
      </p:sp>
      <p:sp>
        <p:nvSpPr>
          <p:cNvPr id="13" name="Text Placeholder 2">
            <a:extLst>
              <a:ext uri="{FF2B5EF4-FFF2-40B4-BE49-F238E27FC236}">
                <a16:creationId xmlns:a16="http://schemas.microsoft.com/office/drawing/2014/main" id="{444BC5B1-7C02-70B3-9E27-C62D35893492}"/>
              </a:ext>
            </a:extLst>
          </p:cNvPr>
          <p:cNvSpPr>
            <a:spLocks noGrp="1"/>
          </p:cNvSpPr>
          <p:nvPr>
            <p:ph type="body" sz="quarter" idx="10"/>
          </p:nvPr>
        </p:nvSpPr>
        <p:spPr>
          <a:xfrm>
            <a:off x="2167377" y="2419728"/>
            <a:ext cx="9768875" cy="803546"/>
          </a:xfrm>
        </p:spPr>
        <p:txBody>
          <a:bodyPr>
            <a:normAutofit/>
          </a:bodyPr>
          <a:lstStyle/>
          <a:p>
            <a:r>
              <a:rPr lang="en-US" dirty="0"/>
              <a:t>Four basic mechanism</a:t>
            </a:r>
          </a:p>
        </p:txBody>
      </p:sp>
      <p:sp>
        <p:nvSpPr>
          <p:cNvPr id="4" name="Content Placeholder 3">
            <a:extLst>
              <a:ext uri="{FF2B5EF4-FFF2-40B4-BE49-F238E27FC236}">
                <a16:creationId xmlns:a16="http://schemas.microsoft.com/office/drawing/2014/main" id="{6EA7B550-45FE-6581-9034-2E873D36165F}"/>
              </a:ext>
            </a:extLst>
          </p:cNvPr>
          <p:cNvSpPr>
            <a:spLocks noGrp="1"/>
          </p:cNvSpPr>
          <p:nvPr>
            <p:ph type="body" sz="quarter" idx="16"/>
          </p:nvPr>
        </p:nvSpPr>
        <p:spPr>
          <a:xfrm>
            <a:off x="2167377" y="6556917"/>
            <a:ext cx="9768906" cy="5575610"/>
          </a:xfrm>
        </p:spPr>
        <p:txBody>
          <a:bodyPr>
            <a:normAutofit/>
          </a:bodyPr>
          <a:lstStyle/>
          <a:p>
            <a:r>
              <a:rPr lang="en-US" dirty="0"/>
              <a:t>Control theory: Uses feedback to predict local behavior and guarantee stability.</a:t>
            </a:r>
          </a:p>
          <a:p>
            <a:r>
              <a:rPr lang="en-US" dirty="0"/>
              <a:t>Machine learning: Advantageous because it does not require a system performance model.</a:t>
            </a:r>
          </a:p>
          <a:p>
            <a:r>
              <a:rPr lang="en-US" dirty="0"/>
              <a:t>Utility-based: Requires a performance model to correlate user-level performance with cost.</a:t>
            </a:r>
          </a:p>
          <a:p>
            <a:r>
              <a:rPr lang="en-US" dirty="0"/>
              <a:t>Market-oriented/economic: Does not require a system model (e.g., combinatorial auctions).</a:t>
            </a:r>
          </a:p>
        </p:txBody>
      </p:sp>
      <p:pic>
        <p:nvPicPr>
          <p:cNvPr id="8" name="Picture Placeholder 7">
            <a:extLst>
              <a:ext uri="{FF2B5EF4-FFF2-40B4-BE49-F238E27FC236}">
                <a16:creationId xmlns:a16="http://schemas.microsoft.com/office/drawing/2014/main" id="{01C0415A-A913-CB56-5D2D-3B7D3DFB3D6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56" r="256"/>
          <a:stretch/>
        </p:blipFill>
        <p:spPr>
          <a:xfrm>
            <a:off x="14205097" y="4713923"/>
            <a:ext cx="6549656" cy="6583419"/>
          </a:xfrm>
          <a:prstGeom prst="rect">
            <a:avLst/>
          </a:prstGeom>
          <a:noFill/>
        </p:spPr>
      </p:pic>
      <p:sp>
        <p:nvSpPr>
          <p:cNvPr id="7" name="Text Placeholder 6">
            <a:extLst>
              <a:ext uri="{FF2B5EF4-FFF2-40B4-BE49-F238E27FC236}">
                <a16:creationId xmlns:a16="http://schemas.microsoft.com/office/drawing/2014/main" id="{CADAF7FE-7BDE-6200-7BBE-1EA887F32B7D}"/>
              </a:ext>
            </a:extLst>
          </p:cNvPr>
          <p:cNvSpPr>
            <a:spLocks noGrp="1"/>
          </p:cNvSpPr>
          <p:nvPr>
            <p:ph type="body" sz="quarter" idx="17"/>
          </p:nvPr>
        </p:nvSpPr>
        <p:spPr>
          <a:xfrm>
            <a:off x="2166938" y="4210049"/>
            <a:ext cx="9768874" cy="2039112"/>
          </a:xfrm>
        </p:spPr>
        <p:txBody>
          <a:bodyPr>
            <a:normAutofit/>
          </a:bodyPr>
          <a:lstStyle/>
          <a:p>
            <a:r>
              <a:rPr lang="en-US" sz="2800" dirty="0"/>
              <a:t>A key goal is the minimization of cost, especially through the minimization of energy consumption. Basic Mechanisms For The Implementation Of Resource Management Policies includes:</a:t>
            </a:r>
          </a:p>
        </p:txBody>
      </p:sp>
    </p:spTree>
    <p:extLst>
      <p:ext uri="{BB962C8B-B14F-4D97-AF65-F5344CB8AC3E}">
        <p14:creationId xmlns:p14="http://schemas.microsoft.com/office/powerpoint/2010/main" val="165635698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Scheduling Algorithms for Computer Clouds</a:t>
            </a:r>
          </a:p>
        </p:txBody>
      </p:sp>
    </p:spTree>
    <p:extLst>
      <p:ext uri="{BB962C8B-B14F-4D97-AF65-F5344CB8AC3E}">
        <p14:creationId xmlns:p14="http://schemas.microsoft.com/office/powerpoint/2010/main" val="121542066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Scheduling Algorithms</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r>
              <a:rPr lang="en-US" dirty="0"/>
              <a:t>CPU scheduling supports the virtualization of a processor, the individual threads acting as virtual processors; a communication link can be multiplexed among number of virtual channels, one for each flow.</a:t>
            </a:r>
          </a:p>
          <a:p>
            <a:r>
              <a:rPr lang="en-US" dirty="0"/>
              <a:t>Batch systems aim to maximize throughput and minimize turnaround time.</a:t>
            </a:r>
          </a:p>
          <a:p>
            <a:r>
              <a:rPr lang="en-US" dirty="0"/>
              <a:t>Real-time systems aim to meet deadlines and be predictable.</a:t>
            </a:r>
          </a:p>
          <a:p>
            <a:r>
              <a:rPr lang="en-US" dirty="0"/>
              <a:t>Scheduling policies address (a) the quantity of resources allocated, and (b) the timing of access.</a:t>
            </a:r>
          </a:p>
        </p:txBody>
      </p:sp>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a:bodyPr>
          <a:lstStyle/>
          <a:p>
            <a:r>
              <a:rPr lang="en-US" dirty="0"/>
              <a:t>Objectives: Must be efficient, fair, and starvation-free.</a:t>
            </a:r>
          </a:p>
        </p:txBody>
      </p:sp>
      <p:pic>
        <p:nvPicPr>
          <p:cNvPr id="4" name="Picture Placeholder 3">
            <a:extLst>
              <a:ext uri="{FF2B5EF4-FFF2-40B4-BE49-F238E27FC236}">
                <a16:creationId xmlns:a16="http://schemas.microsoft.com/office/drawing/2014/main" id="{6F1DE555-8B6A-E086-C23B-9BBF26AEC3A7}"/>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826" t="-8" r="977"/>
          <a:stretch>
            <a:fillRect/>
          </a:stretch>
        </p:blipFill>
        <p:spPr>
          <a:xfrm>
            <a:off x="13227899" y="4210049"/>
            <a:ext cx="9731492" cy="7922478"/>
          </a:xfrm>
          <a:prstGeom prst="rect">
            <a:avLst/>
          </a:prstGeom>
        </p:spPr>
      </p:pic>
    </p:spTree>
    <p:extLst>
      <p:ext uri="{BB962C8B-B14F-4D97-AF65-F5344CB8AC3E}">
        <p14:creationId xmlns:p14="http://schemas.microsoft.com/office/powerpoint/2010/main" val="414131878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BBBC-CF0A-A2C8-D8A2-3EE83FB6A1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85A79D-1E81-2B27-70ED-37043133D869}"/>
              </a:ext>
            </a:extLst>
          </p:cNvPr>
          <p:cNvSpPr>
            <a:spLocks noGrp="1"/>
          </p:cNvSpPr>
          <p:nvPr>
            <p:ph type="title"/>
          </p:nvPr>
        </p:nvSpPr>
        <p:spPr>
          <a:xfrm>
            <a:off x="2167377" y="1871164"/>
            <a:ext cx="14715569" cy="511175"/>
          </a:xfrm>
        </p:spPr>
        <p:txBody>
          <a:bodyPr>
            <a:normAutofit/>
          </a:bodyPr>
          <a:lstStyle/>
          <a:p>
            <a:r>
              <a:rPr lang="en-US" sz="3200" dirty="0"/>
              <a:t>Scheduling algorithms</a:t>
            </a:r>
          </a:p>
        </p:txBody>
      </p:sp>
      <p:sp>
        <p:nvSpPr>
          <p:cNvPr id="13" name="Text Placeholder 2">
            <a:extLst>
              <a:ext uri="{FF2B5EF4-FFF2-40B4-BE49-F238E27FC236}">
                <a16:creationId xmlns:a16="http://schemas.microsoft.com/office/drawing/2014/main" id="{4C92EDDB-A317-AB15-D667-3127E99D2FBD}"/>
              </a:ext>
            </a:extLst>
          </p:cNvPr>
          <p:cNvSpPr>
            <a:spLocks noGrp="1"/>
          </p:cNvSpPr>
          <p:nvPr>
            <p:ph type="body" sz="quarter" idx="10"/>
          </p:nvPr>
        </p:nvSpPr>
        <p:spPr>
          <a:xfrm>
            <a:off x="2167377" y="2419728"/>
            <a:ext cx="9768875" cy="803546"/>
          </a:xfrm>
        </p:spPr>
        <p:txBody>
          <a:bodyPr/>
          <a:lstStyle/>
          <a:p>
            <a:r>
              <a:rPr lang="en-US" dirty="0"/>
              <a:t>for best-effort applications</a:t>
            </a:r>
          </a:p>
        </p:txBody>
      </p:sp>
      <p:sp>
        <p:nvSpPr>
          <p:cNvPr id="15" name="Text Placeholder 3">
            <a:extLst>
              <a:ext uri="{FF2B5EF4-FFF2-40B4-BE49-F238E27FC236}">
                <a16:creationId xmlns:a16="http://schemas.microsoft.com/office/drawing/2014/main" id="{C4BFBDE3-737F-FD43-A2DB-A5F8B60FE0A9}"/>
              </a:ext>
            </a:extLst>
          </p:cNvPr>
          <p:cNvSpPr>
            <a:spLocks noGrp="1"/>
          </p:cNvSpPr>
          <p:nvPr>
            <p:ph type="body" sz="quarter" idx="16"/>
          </p:nvPr>
        </p:nvSpPr>
        <p:spPr>
          <a:xfrm>
            <a:off x="2167377" y="6556917"/>
            <a:ext cx="9768906" cy="5575610"/>
          </a:xfrm>
        </p:spPr>
        <p:txBody>
          <a:bodyPr/>
          <a:lstStyle/>
          <a:p>
            <a:r>
              <a:rPr lang="en-US" dirty="0"/>
              <a:t>The commonly used for best-effort are</a:t>
            </a:r>
          </a:p>
          <a:p>
            <a:r>
              <a:rPr lang="en-US" dirty="0"/>
              <a:t>Round-robin</a:t>
            </a:r>
          </a:p>
          <a:p>
            <a:r>
              <a:rPr lang="en-US" dirty="0"/>
              <a:t>FCFS</a:t>
            </a:r>
          </a:p>
          <a:p>
            <a:r>
              <a:rPr lang="en-US" dirty="0"/>
              <a:t>Shortest-Job-First (SJF)</a:t>
            </a:r>
          </a:p>
          <a:p>
            <a:r>
              <a:rPr lang="en-US" dirty="0"/>
              <a:t>Priority Algorithms.</a:t>
            </a:r>
          </a:p>
        </p:txBody>
      </p:sp>
      <p:pic>
        <p:nvPicPr>
          <p:cNvPr id="8" name="Picture Placeholder 7">
            <a:extLst>
              <a:ext uri="{FF2B5EF4-FFF2-40B4-BE49-F238E27FC236}">
                <a16:creationId xmlns:a16="http://schemas.microsoft.com/office/drawing/2014/main" id="{AA10894E-385A-07CF-2190-EB673A44C2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695" b="654"/>
          <a:stretch>
            <a:fillRect/>
          </a:stretch>
        </p:blipFill>
        <p:spPr>
          <a:xfrm>
            <a:off x="11936283" y="3260663"/>
            <a:ext cx="12295317" cy="8584173"/>
          </a:xfrm>
          <a:prstGeom prst="rect">
            <a:avLst/>
          </a:prstGeom>
          <a:noFill/>
        </p:spPr>
      </p:pic>
      <p:sp>
        <p:nvSpPr>
          <p:cNvPr id="17" name="Text Placeholder 5">
            <a:extLst>
              <a:ext uri="{FF2B5EF4-FFF2-40B4-BE49-F238E27FC236}">
                <a16:creationId xmlns:a16="http://schemas.microsoft.com/office/drawing/2014/main" id="{668B5F5B-8EC1-24B8-AFE1-D3DBC4AAF954}"/>
              </a:ext>
            </a:extLst>
          </p:cNvPr>
          <p:cNvSpPr>
            <a:spLocks noGrp="1"/>
          </p:cNvSpPr>
          <p:nvPr>
            <p:ph type="body" sz="quarter" idx="17"/>
          </p:nvPr>
        </p:nvSpPr>
        <p:spPr>
          <a:xfrm>
            <a:off x="2166938" y="4210049"/>
            <a:ext cx="9768874" cy="2039112"/>
          </a:xfrm>
        </p:spPr>
        <p:txBody>
          <a:bodyPr>
            <a:normAutofit/>
          </a:bodyPr>
          <a:lstStyle/>
          <a:p>
            <a:r>
              <a:rPr lang="en-US" dirty="0"/>
              <a:t>There are 3 main types of scheduling algorithms: best-effort, real-time, integrated</a:t>
            </a:r>
          </a:p>
        </p:txBody>
      </p:sp>
      <p:sp>
        <p:nvSpPr>
          <p:cNvPr id="2" name="TextBox 1">
            <a:extLst>
              <a:ext uri="{FF2B5EF4-FFF2-40B4-BE49-F238E27FC236}">
                <a16:creationId xmlns:a16="http://schemas.microsoft.com/office/drawing/2014/main" id="{91E9C4DC-9B6C-9803-45F5-4EF3AE27DB54}"/>
              </a:ext>
            </a:extLst>
          </p:cNvPr>
          <p:cNvSpPr txBox="1"/>
          <p:nvPr/>
        </p:nvSpPr>
        <p:spPr>
          <a:xfrm>
            <a:off x="16422428" y="12136177"/>
            <a:ext cx="3323026"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Round robin flowchart</a:t>
            </a:r>
          </a:p>
        </p:txBody>
      </p:sp>
    </p:spTree>
    <p:extLst>
      <p:ext uri="{BB962C8B-B14F-4D97-AF65-F5344CB8AC3E}">
        <p14:creationId xmlns:p14="http://schemas.microsoft.com/office/powerpoint/2010/main" val="2172847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123BA-46EA-2171-E54E-B81D2EE15B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466B403-56C1-5FD6-DB36-47823620748F}"/>
              </a:ext>
            </a:extLst>
          </p:cNvPr>
          <p:cNvSpPr>
            <a:spLocks noGrp="1"/>
          </p:cNvSpPr>
          <p:nvPr>
            <p:ph type="title"/>
          </p:nvPr>
        </p:nvSpPr>
        <p:spPr>
          <a:xfrm>
            <a:off x="2167377" y="1871164"/>
            <a:ext cx="14715569" cy="511175"/>
          </a:xfrm>
        </p:spPr>
        <p:txBody>
          <a:bodyPr>
            <a:normAutofit/>
          </a:bodyPr>
          <a:lstStyle/>
          <a:p>
            <a:r>
              <a:rPr lang="en-US" sz="3200" dirty="0"/>
              <a:t>Scheduling algorithms</a:t>
            </a:r>
          </a:p>
        </p:txBody>
      </p:sp>
      <p:sp>
        <p:nvSpPr>
          <p:cNvPr id="13" name="Text Placeholder 2">
            <a:extLst>
              <a:ext uri="{FF2B5EF4-FFF2-40B4-BE49-F238E27FC236}">
                <a16:creationId xmlns:a16="http://schemas.microsoft.com/office/drawing/2014/main" id="{5E79F388-7FBB-45A4-7F8F-6FCE49E10751}"/>
              </a:ext>
            </a:extLst>
          </p:cNvPr>
          <p:cNvSpPr>
            <a:spLocks noGrp="1"/>
          </p:cNvSpPr>
          <p:nvPr>
            <p:ph type="body" sz="quarter" idx="10"/>
          </p:nvPr>
        </p:nvSpPr>
        <p:spPr>
          <a:xfrm>
            <a:off x="2167377" y="2419728"/>
            <a:ext cx="9768875" cy="803546"/>
          </a:xfrm>
        </p:spPr>
        <p:txBody>
          <a:bodyPr/>
          <a:lstStyle/>
          <a:p>
            <a:r>
              <a:rPr lang="en-US" dirty="0"/>
              <a:t>for real-time applications</a:t>
            </a:r>
          </a:p>
        </p:txBody>
      </p:sp>
      <p:sp>
        <p:nvSpPr>
          <p:cNvPr id="15" name="Text Placeholder 3">
            <a:extLst>
              <a:ext uri="{FF2B5EF4-FFF2-40B4-BE49-F238E27FC236}">
                <a16:creationId xmlns:a16="http://schemas.microsoft.com/office/drawing/2014/main" id="{A4B30907-E158-BFD6-D8A9-7397BE98DAB6}"/>
              </a:ext>
            </a:extLst>
          </p:cNvPr>
          <p:cNvSpPr>
            <a:spLocks noGrp="1"/>
          </p:cNvSpPr>
          <p:nvPr>
            <p:ph type="body" sz="quarter" idx="16"/>
          </p:nvPr>
        </p:nvSpPr>
        <p:spPr>
          <a:xfrm>
            <a:off x="2167377" y="6556917"/>
            <a:ext cx="9768906" cy="5575610"/>
          </a:xfrm>
        </p:spPr>
        <p:txBody>
          <a:bodyPr/>
          <a:lstStyle/>
          <a:p>
            <a:r>
              <a:rPr lang="en-US" dirty="0"/>
              <a:t>Earliest Deadline First (EDF)</a:t>
            </a:r>
          </a:p>
          <a:p>
            <a:r>
              <a:rPr lang="en-US" dirty="0"/>
              <a:t>Rate Monotonic Algorithms (RMA).</a:t>
            </a:r>
          </a:p>
        </p:txBody>
      </p:sp>
      <p:pic>
        <p:nvPicPr>
          <p:cNvPr id="8" name="Picture Placeholder 7">
            <a:extLst>
              <a:ext uri="{FF2B5EF4-FFF2-40B4-BE49-F238E27FC236}">
                <a16:creationId xmlns:a16="http://schemas.microsoft.com/office/drawing/2014/main" id="{3CF6C1C7-5DC7-0ABE-7EDA-A722343394D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2192" r="5127" b="4600"/>
          <a:stretch>
            <a:fillRect/>
          </a:stretch>
        </p:blipFill>
        <p:spPr>
          <a:xfrm>
            <a:off x="12447719" y="5229605"/>
            <a:ext cx="10674625" cy="4566571"/>
          </a:xfrm>
          <a:prstGeom prst="rect">
            <a:avLst/>
          </a:prstGeom>
          <a:noFill/>
        </p:spPr>
      </p:pic>
      <p:sp>
        <p:nvSpPr>
          <p:cNvPr id="17" name="Text Placeholder 5">
            <a:extLst>
              <a:ext uri="{FF2B5EF4-FFF2-40B4-BE49-F238E27FC236}">
                <a16:creationId xmlns:a16="http://schemas.microsoft.com/office/drawing/2014/main" id="{E5BFD026-0603-331C-0988-F2FE350F22B6}"/>
              </a:ext>
            </a:extLst>
          </p:cNvPr>
          <p:cNvSpPr>
            <a:spLocks noGrp="1"/>
          </p:cNvSpPr>
          <p:nvPr>
            <p:ph type="body" sz="quarter" idx="17"/>
          </p:nvPr>
        </p:nvSpPr>
        <p:spPr>
          <a:xfrm>
            <a:off x="2166938" y="4210049"/>
            <a:ext cx="9768874" cy="2039112"/>
          </a:xfrm>
        </p:spPr>
        <p:txBody>
          <a:bodyPr>
            <a:normAutofit/>
          </a:bodyPr>
          <a:lstStyle/>
          <a:p>
            <a:r>
              <a:rPr lang="en-US" dirty="0"/>
              <a:t>Example for real-time application</a:t>
            </a:r>
          </a:p>
        </p:txBody>
      </p:sp>
      <p:sp>
        <p:nvSpPr>
          <p:cNvPr id="2" name="TextBox 1">
            <a:extLst>
              <a:ext uri="{FF2B5EF4-FFF2-40B4-BE49-F238E27FC236}">
                <a16:creationId xmlns:a16="http://schemas.microsoft.com/office/drawing/2014/main" id="{5E8AC256-8DCD-EDBC-EF5D-19A19D4402AA}"/>
              </a:ext>
            </a:extLst>
          </p:cNvPr>
          <p:cNvSpPr txBox="1"/>
          <p:nvPr/>
        </p:nvSpPr>
        <p:spPr>
          <a:xfrm>
            <a:off x="16646102" y="10068837"/>
            <a:ext cx="2277868"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EDF illustration</a:t>
            </a:r>
          </a:p>
        </p:txBody>
      </p:sp>
    </p:spTree>
    <p:extLst>
      <p:ext uri="{BB962C8B-B14F-4D97-AF65-F5344CB8AC3E}">
        <p14:creationId xmlns:p14="http://schemas.microsoft.com/office/powerpoint/2010/main" val="306814091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4784C-9C61-71AC-3057-AA7646F0B4F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5F816D-77CD-7580-F9CC-8F2B9342B353}"/>
              </a:ext>
            </a:extLst>
          </p:cNvPr>
          <p:cNvSpPr>
            <a:spLocks noGrp="1"/>
          </p:cNvSpPr>
          <p:nvPr>
            <p:ph type="title"/>
          </p:nvPr>
        </p:nvSpPr>
        <p:spPr>
          <a:xfrm>
            <a:off x="2167377" y="1871164"/>
            <a:ext cx="14715569" cy="511175"/>
          </a:xfrm>
        </p:spPr>
        <p:txBody>
          <a:bodyPr>
            <a:normAutofit/>
          </a:bodyPr>
          <a:lstStyle/>
          <a:p>
            <a:r>
              <a:rPr lang="en-US" sz="3200" dirty="0"/>
              <a:t>Scheduling algorithms</a:t>
            </a:r>
          </a:p>
        </p:txBody>
      </p:sp>
      <p:sp>
        <p:nvSpPr>
          <p:cNvPr id="13" name="Text Placeholder 2">
            <a:extLst>
              <a:ext uri="{FF2B5EF4-FFF2-40B4-BE49-F238E27FC236}">
                <a16:creationId xmlns:a16="http://schemas.microsoft.com/office/drawing/2014/main" id="{8F0CBC9B-1EC5-1D70-58D2-2F957D8D170A}"/>
              </a:ext>
            </a:extLst>
          </p:cNvPr>
          <p:cNvSpPr>
            <a:spLocks noGrp="1"/>
          </p:cNvSpPr>
          <p:nvPr>
            <p:ph type="body" sz="quarter" idx="10"/>
          </p:nvPr>
        </p:nvSpPr>
        <p:spPr>
          <a:xfrm>
            <a:off x="2167377" y="2419728"/>
            <a:ext cx="9768875" cy="803546"/>
          </a:xfrm>
        </p:spPr>
        <p:txBody>
          <a:bodyPr/>
          <a:lstStyle/>
          <a:p>
            <a:r>
              <a:rPr lang="en-US" dirty="0"/>
              <a:t>for Integrated applications</a:t>
            </a:r>
          </a:p>
        </p:txBody>
      </p:sp>
      <p:sp>
        <p:nvSpPr>
          <p:cNvPr id="15" name="Text Placeholder 3">
            <a:extLst>
              <a:ext uri="{FF2B5EF4-FFF2-40B4-BE49-F238E27FC236}">
                <a16:creationId xmlns:a16="http://schemas.microsoft.com/office/drawing/2014/main" id="{852620E0-4D02-8606-8701-5160A9346E52}"/>
              </a:ext>
            </a:extLst>
          </p:cNvPr>
          <p:cNvSpPr>
            <a:spLocks noGrp="1"/>
          </p:cNvSpPr>
          <p:nvPr>
            <p:ph type="body" sz="quarter" idx="16"/>
          </p:nvPr>
        </p:nvSpPr>
        <p:spPr>
          <a:xfrm>
            <a:off x="2167377" y="6556917"/>
            <a:ext cx="9768906" cy="5575610"/>
          </a:xfrm>
        </p:spPr>
        <p:txBody>
          <a:bodyPr/>
          <a:lstStyle/>
          <a:p>
            <a:r>
              <a:rPr lang="en-US" dirty="0"/>
              <a:t>Resource Allocation/Dispatching (RAD)</a:t>
            </a:r>
          </a:p>
          <a:p>
            <a:r>
              <a:rPr lang="en-US" dirty="0"/>
              <a:t>Rate-Based Earliest Deadline (RBED).</a:t>
            </a:r>
          </a:p>
        </p:txBody>
      </p:sp>
      <p:pic>
        <p:nvPicPr>
          <p:cNvPr id="8" name="Picture Placeholder 7">
            <a:extLst>
              <a:ext uri="{FF2B5EF4-FFF2-40B4-BE49-F238E27FC236}">
                <a16:creationId xmlns:a16="http://schemas.microsoft.com/office/drawing/2014/main" id="{4DDA47B7-12BA-A101-E916-C25ED22542A5}"/>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6120" b="16907"/>
          <a:stretch>
            <a:fillRect/>
          </a:stretch>
        </p:blipFill>
        <p:spPr>
          <a:xfrm>
            <a:off x="12447719" y="4691271"/>
            <a:ext cx="10674625" cy="4949686"/>
          </a:xfrm>
          <a:prstGeom prst="rect">
            <a:avLst/>
          </a:prstGeom>
          <a:noFill/>
        </p:spPr>
      </p:pic>
      <p:sp>
        <p:nvSpPr>
          <p:cNvPr id="17" name="Text Placeholder 5">
            <a:extLst>
              <a:ext uri="{FF2B5EF4-FFF2-40B4-BE49-F238E27FC236}">
                <a16:creationId xmlns:a16="http://schemas.microsoft.com/office/drawing/2014/main" id="{21205608-2682-9520-B1E9-071D073FA1B4}"/>
              </a:ext>
            </a:extLst>
          </p:cNvPr>
          <p:cNvSpPr>
            <a:spLocks noGrp="1"/>
          </p:cNvSpPr>
          <p:nvPr>
            <p:ph type="body" sz="quarter" idx="17"/>
          </p:nvPr>
        </p:nvSpPr>
        <p:spPr>
          <a:xfrm>
            <a:off x="2166938" y="4210049"/>
            <a:ext cx="9768874" cy="2039112"/>
          </a:xfrm>
        </p:spPr>
        <p:txBody>
          <a:bodyPr>
            <a:normAutofit/>
          </a:bodyPr>
          <a:lstStyle/>
          <a:p>
            <a:r>
              <a:rPr lang="en-US" dirty="0"/>
              <a:t>Example for Integrated application</a:t>
            </a:r>
          </a:p>
        </p:txBody>
      </p:sp>
      <p:sp>
        <p:nvSpPr>
          <p:cNvPr id="2" name="TextBox 1">
            <a:extLst>
              <a:ext uri="{FF2B5EF4-FFF2-40B4-BE49-F238E27FC236}">
                <a16:creationId xmlns:a16="http://schemas.microsoft.com/office/drawing/2014/main" id="{A0AAAA70-BE66-E60F-36A3-4A2DC984AF02}"/>
              </a:ext>
            </a:extLst>
          </p:cNvPr>
          <p:cNvSpPr txBox="1"/>
          <p:nvPr/>
        </p:nvSpPr>
        <p:spPr>
          <a:xfrm>
            <a:off x="15869453" y="10068837"/>
            <a:ext cx="383117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Resource allocation graph</a:t>
            </a:r>
          </a:p>
        </p:txBody>
      </p:sp>
    </p:spTree>
    <p:extLst>
      <p:ext uri="{BB962C8B-B14F-4D97-AF65-F5344CB8AC3E}">
        <p14:creationId xmlns:p14="http://schemas.microsoft.com/office/powerpoint/2010/main" val="112624005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a:t>Cloud Resource Utilization and Energy Efficiency</a:t>
            </a:r>
            <a:endParaRPr lang="en-US" dirty="0"/>
          </a:p>
        </p:txBody>
      </p:sp>
    </p:spTree>
    <p:extLst>
      <p:ext uri="{BB962C8B-B14F-4D97-AF65-F5344CB8AC3E}">
        <p14:creationId xmlns:p14="http://schemas.microsoft.com/office/powerpoint/2010/main" val="275335500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a:xfrm>
            <a:off x="2167377" y="1871164"/>
            <a:ext cx="14715569" cy="511175"/>
          </a:xfrm>
        </p:spPr>
        <p:txBody>
          <a:bodyPr>
            <a:normAutofit/>
          </a:bodyPr>
          <a:lstStyle/>
          <a:p>
            <a:r>
              <a:rPr lang="en-US" sz="3200"/>
              <a:t>Cloud Elasticity and Over Provisioning</a:t>
            </a:r>
          </a:p>
        </p:txBody>
      </p:sp>
      <p:sp>
        <p:nvSpPr>
          <p:cNvPr id="13" name="Text Placeholder 2">
            <a:extLst>
              <a:ext uri="{FF2B5EF4-FFF2-40B4-BE49-F238E27FC236}">
                <a16:creationId xmlns:a16="http://schemas.microsoft.com/office/drawing/2014/main" id="{4AD4CB05-F82A-67C5-0A49-99B710F7A7E2}"/>
              </a:ext>
            </a:extLst>
          </p:cNvPr>
          <p:cNvSpPr>
            <a:spLocks noGrp="1"/>
          </p:cNvSpPr>
          <p:nvPr>
            <p:ph type="body" sz="quarter" idx="10"/>
          </p:nvPr>
        </p:nvSpPr>
        <p:spPr>
          <a:xfrm>
            <a:off x="2167377" y="2419728"/>
            <a:ext cx="9768875" cy="803546"/>
          </a:xfrm>
        </p:spPr>
        <p:txBody>
          <a:bodyPr/>
          <a:lstStyle/>
          <a:p>
            <a:endParaRPr lang="en-US"/>
          </a:p>
        </p:txBody>
      </p:sp>
      <p:pic>
        <p:nvPicPr>
          <p:cNvPr id="9" name="Video 8" descr="Computer Servers">
            <a:extLst>
              <a:ext uri="{FF2B5EF4-FFF2-40B4-BE49-F238E27FC236}">
                <a16:creationId xmlns:a16="http://schemas.microsoft.com/office/drawing/2014/main" id="{838FDF24-94D8-3F20-41F3-B5AB4DAB3DD4}"/>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37661" b="1"/>
          <a:stretch>
            <a:fillRect/>
          </a:stretch>
        </p:blipFill>
        <p:spPr>
          <a:xfrm>
            <a:off x="2167377" y="4120517"/>
            <a:ext cx="9469197" cy="8568593"/>
          </a:xfrm>
          <a:prstGeom prst="rect">
            <a:avLst/>
          </a:prstGeom>
          <a:noFill/>
        </p:spPr>
      </p:pic>
      <p:sp>
        <p:nvSpPr>
          <p:cNvPr id="4" name="Content Placeholder 3">
            <a:extLst>
              <a:ext uri="{FF2B5EF4-FFF2-40B4-BE49-F238E27FC236}">
                <a16:creationId xmlns:a16="http://schemas.microsoft.com/office/drawing/2014/main" id="{E05818F9-8848-792B-681A-0D94CB7E5DFD}"/>
              </a:ext>
            </a:extLst>
          </p:cNvPr>
          <p:cNvSpPr>
            <a:spLocks noGrp="1"/>
          </p:cNvSpPr>
          <p:nvPr>
            <p:ph type="body" sz="quarter" idx="16"/>
          </p:nvPr>
        </p:nvSpPr>
        <p:spPr>
          <a:xfrm>
            <a:off x="12747867" y="6462508"/>
            <a:ext cx="8024838" cy="6226602"/>
          </a:xfrm>
        </p:spPr>
        <p:txBody>
          <a:bodyPr>
            <a:normAutofit/>
          </a:bodyPr>
          <a:lstStyle/>
          <a:p>
            <a:r>
              <a:rPr lang="en-US"/>
              <a:t>Elasticity: Guarantees resources are allocated when needed and released when done, ensuring users pay only for used resources.</a:t>
            </a:r>
          </a:p>
          <a:p>
            <a:r>
              <a:rPr lang="en-US"/>
              <a:t>Over-provisioning: Cloud providers must invest in a larger infrastructure than typical workload warrants to support elasticity, resulting in low average cloud server utilization.</a:t>
            </a:r>
          </a:p>
          <a:p>
            <a:r>
              <a:rPr lang="en-US"/>
              <a:t>Elasticity is based on overprovisioning and on the assumption that there is an effective admission control mechanism. Another assumption is that the likelihood of all running applications dramatically increasing their resource consumption at the same time is extremely low.</a:t>
            </a:r>
          </a:p>
        </p:txBody>
      </p:sp>
      <p:sp>
        <p:nvSpPr>
          <p:cNvPr id="15" name="Text Placeholder 5">
            <a:extLst>
              <a:ext uri="{FF2B5EF4-FFF2-40B4-BE49-F238E27FC236}">
                <a16:creationId xmlns:a16="http://schemas.microsoft.com/office/drawing/2014/main" id="{ADFE09E6-CAA5-8756-D5B0-8EDC82F7C31C}"/>
              </a:ext>
            </a:extLst>
          </p:cNvPr>
          <p:cNvSpPr>
            <a:spLocks noGrp="1"/>
          </p:cNvSpPr>
          <p:nvPr>
            <p:ph type="body" sz="quarter" idx="17"/>
          </p:nvPr>
        </p:nvSpPr>
        <p:spPr>
          <a:xfrm>
            <a:off x="12747428" y="4115640"/>
            <a:ext cx="8024812" cy="1968425"/>
          </a:xfrm>
        </p:spPr>
        <p:txBody>
          <a:bodyPr/>
          <a:lstStyle/>
          <a:p>
            <a:endParaRPr lang="en-US"/>
          </a:p>
        </p:txBody>
      </p:sp>
    </p:spTree>
    <p:extLst>
      <p:ext uri="{BB962C8B-B14F-4D97-AF65-F5344CB8AC3E}">
        <p14:creationId xmlns:p14="http://schemas.microsoft.com/office/powerpoint/2010/main" val="223171280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55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mute="1">
                <p:cTn id="12" repeatCount="indefinite" fill="hold" display="0">
                  <p:stCondLst>
                    <p:cond delay="indefinite"/>
                  </p:stCondLst>
                </p:cTn>
                <p:tgtEl>
                  <p:spTgt spid="9"/>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F98D5-D4B9-4D84-1A0A-B50D5138B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871A9-F4DF-D7DB-D457-6C926C794C88}"/>
              </a:ext>
            </a:extLst>
          </p:cNvPr>
          <p:cNvSpPr>
            <a:spLocks noGrp="1"/>
          </p:cNvSpPr>
          <p:nvPr>
            <p:ph type="title"/>
          </p:nvPr>
        </p:nvSpPr>
        <p:spPr>
          <a:xfrm>
            <a:off x="2167377" y="1871164"/>
            <a:ext cx="14715569" cy="511175"/>
          </a:xfrm>
        </p:spPr>
        <p:txBody>
          <a:bodyPr>
            <a:normAutofit/>
          </a:bodyPr>
          <a:lstStyle/>
          <a:p>
            <a:r>
              <a:rPr lang="en-US" sz="3200"/>
              <a:t>Cloud Elasticity and Over Provisioning</a:t>
            </a:r>
          </a:p>
        </p:txBody>
      </p:sp>
      <p:sp>
        <p:nvSpPr>
          <p:cNvPr id="13" name="Text Placeholder 2">
            <a:extLst>
              <a:ext uri="{FF2B5EF4-FFF2-40B4-BE49-F238E27FC236}">
                <a16:creationId xmlns:a16="http://schemas.microsoft.com/office/drawing/2014/main" id="{660EF4E4-E817-3C2F-078D-320C6FD62866}"/>
              </a:ext>
            </a:extLst>
          </p:cNvPr>
          <p:cNvSpPr>
            <a:spLocks noGrp="1"/>
          </p:cNvSpPr>
          <p:nvPr>
            <p:ph type="body" sz="quarter" idx="10"/>
          </p:nvPr>
        </p:nvSpPr>
        <p:spPr>
          <a:xfrm>
            <a:off x="2167377" y="2419728"/>
            <a:ext cx="9768875" cy="803546"/>
          </a:xfrm>
        </p:spPr>
        <p:txBody>
          <a:bodyPr/>
          <a:lstStyle/>
          <a:p>
            <a:r>
              <a:rPr lang="en-US" dirty="0"/>
              <a:t>Energy saving strategies</a:t>
            </a:r>
          </a:p>
        </p:txBody>
      </p:sp>
      <p:pic>
        <p:nvPicPr>
          <p:cNvPr id="9" name="Video 8">
            <a:extLst>
              <a:ext uri="{FF2B5EF4-FFF2-40B4-BE49-F238E27FC236}">
                <a16:creationId xmlns:a16="http://schemas.microsoft.com/office/drawing/2014/main" id="{986952FA-AD34-0B60-D78F-6B20E44D525F}"/>
              </a:ext>
            </a:extLst>
          </p:cNvPr>
          <p:cNvPicPr>
            <a:picLocks noChangeAspect="1"/>
          </p:cNvPicPr>
          <p:nvPr/>
        </p:nvPicPr>
        <p:blipFill>
          <a:blip r:embed="rId3">
            <a:extLst>
              <a:ext uri="{28A0092B-C50C-407E-A947-70E740481C1C}">
                <a14:useLocalDpi xmlns:a14="http://schemas.microsoft.com/office/drawing/2010/main" val="0"/>
              </a:ext>
            </a:extLst>
          </a:blip>
          <a:srcRect l="652" r="-1432"/>
          <a:stretch>
            <a:fillRect/>
          </a:stretch>
        </p:blipFill>
        <p:spPr>
          <a:xfrm>
            <a:off x="1451113" y="4120517"/>
            <a:ext cx="11131826" cy="8568593"/>
          </a:xfrm>
          <a:prstGeom prst="rect">
            <a:avLst/>
          </a:prstGeom>
          <a:noFill/>
        </p:spPr>
      </p:pic>
      <p:sp>
        <p:nvSpPr>
          <p:cNvPr id="4" name="Content Placeholder 3">
            <a:extLst>
              <a:ext uri="{FF2B5EF4-FFF2-40B4-BE49-F238E27FC236}">
                <a16:creationId xmlns:a16="http://schemas.microsoft.com/office/drawing/2014/main" id="{D77B5D83-43AB-7F3D-DD07-216D1C068503}"/>
              </a:ext>
            </a:extLst>
          </p:cNvPr>
          <p:cNvSpPr>
            <a:spLocks noGrp="1"/>
          </p:cNvSpPr>
          <p:nvPr>
            <p:ph type="body" sz="quarter" idx="16"/>
          </p:nvPr>
        </p:nvSpPr>
        <p:spPr>
          <a:xfrm>
            <a:off x="12747867" y="6462508"/>
            <a:ext cx="8024838" cy="6226602"/>
          </a:xfrm>
        </p:spPr>
        <p:txBody>
          <a:bodyPr>
            <a:normAutofit/>
          </a:bodyPr>
          <a:lstStyle/>
          <a:p>
            <a:r>
              <a:rPr lang="en-US" dirty="0"/>
              <a:t>Employing energy-aware load balancing and scaling policies to identify servers operating outside their optimal regime and potentially switching them to a sleep state. </a:t>
            </a:r>
          </a:p>
          <a:p>
            <a:r>
              <a:rPr lang="en-US" dirty="0"/>
              <a:t>Techniques include concentrating workload onto fewer disks, using replication (which can reduce power requirements by up to 31%), and data migration controlled by short-term and long-term optimization algorithms.</a:t>
            </a:r>
          </a:p>
        </p:txBody>
      </p:sp>
      <p:sp>
        <p:nvSpPr>
          <p:cNvPr id="15" name="Text Placeholder 5">
            <a:extLst>
              <a:ext uri="{FF2B5EF4-FFF2-40B4-BE49-F238E27FC236}">
                <a16:creationId xmlns:a16="http://schemas.microsoft.com/office/drawing/2014/main" id="{58202D5F-A363-FDD9-B309-06A49110BD79}"/>
              </a:ext>
            </a:extLst>
          </p:cNvPr>
          <p:cNvSpPr>
            <a:spLocks noGrp="1"/>
          </p:cNvSpPr>
          <p:nvPr>
            <p:ph type="body" sz="quarter" idx="17"/>
          </p:nvPr>
        </p:nvSpPr>
        <p:spPr>
          <a:xfrm>
            <a:off x="12747428" y="4115640"/>
            <a:ext cx="8024812" cy="1968425"/>
          </a:xfrm>
        </p:spPr>
        <p:txBody>
          <a:bodyPr/>
          <a:lstStyle/>
          <a:p>
            <a:r>
              <a:rPr lang="en-US" dirty="0"/>
              <a:t>Elasticity and over-provisioning allows for better energy consumption</a:t>
            </a:r>
          </a:p>
        </p:txBody>
      </p:sp>
    </p:spTree>
    <p:extLst>
      <p:ext uri="{BB962C8B-B14F-4D97-AF65-F5344CB8AC3E}">
        <p14:creationId xmlns:p14="http://schemas.microsoft.com/office/powerpoint/2010/main" val="359131462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Discuss how a bad scheduling affects energy consumption and what would be the effects on the environment</a:t>
            </a:r>
          </a:p>
        </p:txBody>
      </p:sp>
    </p:spTree>
    <p:extLst>
      <p:ext uri="{BB962C8B-B14F-4D97-AF65-F5344CB8AC3E}">
        <p14:creationId xmlns:p14="http://schemas.microsoft.com/office/powerpoint/2010/main" val="287359398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pPr marL="0" indent="0">
              <a:buNone/>
            </a:pPr>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1067</TotalTime>
  <Words>1045</Words>
  <Application>Microsoft Office PowerPoint</Application>
  <PresentationFormat>Custom</PresentationFormat>
  <Paragraphs>77</Paragraphs>
  <Slides>17</Slides>
  <Notes>5</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Open Sans ExtraBold</vt:lpstr>
      <vt:lpstr>Open Sans</vt:lpstr>
      <vt:lpstr>Tahoma</vt:lpstr>
      <vt:lpstr>OCRB</vt:lpstr>
      <vt:lpstr>Open Sans Semibold</vt:lpstr>
      <vt:lpstr>Open Sans Light</vt:lpstr>
      <vt:lpstr>21_BasicWhite</vt:lpstr>
      <vt:lpstr>Cloud Resource Management and Scheduling  Session 09</vt:lpstr>
      <vt:lpstr>Learning outcomes</vt:lpstr>
      <vt:lpstr>Outline</vt:lpstr>
      <vt:lpstr>Policies and Mechanism for Resource Management</vt:lpstr>
      <vt:lpstr>Policies and Mechanism for Resource Management</vt:lpstr>
      <vt:lpstr>Policies and Mechanism for Resource Management</vt:lpstr>
      <vt:lpstr>Scheduling Algorithms for Computer Clouds</vt:lpstr>
      <vt:lpstr>Scheduling Algorithms</vt:lpstr>
      <vt:lpstr>Scheduling algorithms</vt:lpstr>
      <vt:lpstr>Scheduling algorithms</vt:lpstr>
      <vt:lpstr>Scheduling algorithms</vt:lpstr>
      <vt:lpstr>Cloud Resource Utilization and Energy Efficiency</vt:lpstr>
      <vt:lpstr>Cloud Elasticity and Over Provisioning</vt:lpstr>
      <vt:lpstr>Cloud Elasticity and Over Provisioning</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22</cp:revision>
  <dcterms:created xsi:type="dcterms:W3CDTF">2023-06-28T08:14:57Z</dcterms:created>
  <dcterms:modified xsi:type="dcterms:W3CDTF">2026-01-08T03:54:02Z</dcterms:modified>
</cp:coreProperties>
</file>