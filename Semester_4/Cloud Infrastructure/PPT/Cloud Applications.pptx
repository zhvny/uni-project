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6"/>
  </p:notesMasterIdLst>
  <p:sldIdLst>
    <p:sldId id="256" r:id="rId2"/>
    <p:sldId id="278" r:id="rId3"/>
    <p:sldId id="257" r:id="rId4"/>
    <p:sldId id="264" r:id="rId5"/>
    <p:sldId id="297" r:id="rId6"/>
    <p:sldId id="340" r:id="rId7"/>
    <p:sldId id="341" r:id="rId8"/>
    <p:sldId id="303" r:id="rId9"/>
    <p:sldId id="301" r:id="rId10"/>
    <p:sldId id="342" r:id="rId11"/>
    <p:sldId id="343" r:id="rId12"/>
    <p:sldId id="344" r:id="rId13"/>
    <p:sldId id="345" r:id="rId14"/>
    <p:sldId id="337" r:id="rId15"/>
    <p:sldId id="323" r:id="rId16"/>
    <p:sldId id="321" r:id="rId17"/>
    <p:sldId id="346" r:id="rId18"/>
    <p:sldId id="347" r:id="rId19"/>
    <p:sldId id="304" r:id="rId20"/>
    <p:sldId id="348" r:id="rId21"/>
    <p:sldId id="324" r:id="rId22"/>
    <p:sldId id="325" r:id="rId23"/>
    <p:sldId id="349" r:id="rId24"/>
    <p:sldId id="350" r:id="rId25"/>
    <p:sldId id="306" r:id="rId26"/>
    <p:sldId id="307" r:id="rId27"/>
    <p:sldId id="351" r:id="rId28"/>
    <p:sldId id="308" r:id="rId29"/>
    <p:sldId id="352" r:id="rId30"/>
    <p:sldId id="353" r:id="rId31"/>
    <p:sldId id="354" r:id="rId32"/>
    <p:sldId id="315" r:id="rId33"/>
    <p:sldId id="317" r:id="rId34"/>
    <p:sldId id="296" r:id="rId35"/>
  </p:sldIdLst>
  <p:sldSz cx="24384000" cy="13716000"/>
  <p:notesSz cx="6858000" cy="9144000"/>
  <p:embeddedFontLst>
    <p:embeddedFont>
      <p:font typeface="OCRB" panose="020B0609020202020204" pitchFamily="49" charset="0"/>
      <p:regular r:id="rId37"/>
    </p:embeddedFont>
    <p:embeddedFont>
      <p:font typeface="Open Sans" panose="020B0606030504020204" pitchFamily="34" charset="0"/>
      <p:regular r:id="rId38"/>
      <p:bold r:id="rId39"/>
      <p:italic r:id="rId40"/>
      <p:boldItalic r:id="rId41"/>
    </p:embeddedFont>
    <p:embeddedFont>
      <p:font typeface="Open Sans ExtraBold" panose="020B0906030804020204" pitchFamily="34" charset="0"/>
      <p:bold r:id="rId42"/>
      <p:italic r:id="rId43"/>
      <p:boldItalic r:id="rId44"/>
    </p:embeddedFont>
    <p:embeddedFont>
      <p:font typeface="Open Sans Light" panose="020B0306030504020204" pitchFamily="34" charset="0"/>
      <p:regular r:id="rId45"/>
      <p:italic r:id="rId46"/>
    </p:embeddedFont>
    <p:embeddedFont>
      <p:font typeface="Open Sans Semibold" panose="020B0706030804020204" pitchFamily="34" charset="0"/>
      <p:regular r:id="rId47"/>
      <p:bold r:id="rId48"/>
      <p:italic r:id="rId49"/>
      <p:boldItalic r:id="rId50"/>
    </p:embeddedFont>
    <p:embeddedFont>
      <p:font typeface="Tahoma" panose="020B0604030504040204" pitchFamily="34" charset="0"/>
      <p:regular r:id="rId51"/>
      <p:bold r:id="rId52"/>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AE995-0F9C-D74A-95D1-DD92ECB55CB7}" v="77" dt="2023-12-07T07:14:46.02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55" autoAdjust="0"/>
    <p:restoredTop sz="77457" autoAdjust="0"/>
  </p:normalViewPr>
  <p:slideViewPr>
    <p:cSldViewPr snapToGrid="0" snapToObjects="1">
      <p:cViewPr varScale="1">
        <p:scale>
          <a:sx n="24" d="100"/>
          <a:sy n="24" d="100"/>
        </p:scale>
        <p:origin x="91" y="413"/>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r>
              <a:rPr lang="en-US" dirty="0"/>
              <a:t>Other challenges include optimizing server usage against cost/timing constraints, side effects of shared infrastructure, reliability concerns, multi-stage applications, data storage performance in data-intensive apps, handling metadata, and logging</a:t>
            </a:r>
          </a:p>
          <a:p>
            <a:endParaRPr lang="en-US" dirty="0"/>
          </a:p>
        </p:txBody>
      </p:sp>
    </p:spTree>
    <p:extLst>
      <p:ext uri="{BB962C8B-B14F-4D97-AF65-F5344CB8AC3E}">
        <p14:creationId xmlns:p14="http://schemas.microsoft.com/office/powerpoint/2010/main" val="3620745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BA8E0-63DE-AB89-74B0-2E828FF9B9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7DA749-2F8C-6CAF-3334-28E2B498EA8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7EA8F50-6C7E-9B05-5D9C-CCF2D8A72BE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1049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D2D7A-E5DC-F019-C113-AFBDB59A94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C7D2FA-3C4F-2A3E-1A34-C7E668E144B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FB80BC7-75D7-AF41-E98E-0D0C7345F3C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40754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37298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7CB01-02B8-B330-9B36-8AA96C83C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91B6FA-7575-9897-4C25-7F9C128D3AA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433DC2B-B005-AAA3-FF03-AFA8325D911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16200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8C8D0-3412-DCB3-D2BB-54C98F7CC7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055123-13F5-EB7E-F137-9D45F15AF86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B0EC4C5-4F10-4D9F-1BA8-3247ABBA128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35291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08D53-75EF-739E-7042-93C2618188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4369AE-46DB-A811-73BC-4C9A9851657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48D7D72-F446-9D5E-E3DF-B8E0727D9D3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02718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A5B2B-A45B-969B-29FC-805E552243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7F2D30-8229-6131-8EF7-378AC2775B1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E0D27A3-E2D8-A29A-849B-CC551A2FB26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205537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indent="-457200" algn="just">
              <a:buFont typeface="+mj-lt"/>
              <a:buAutoNum type="alphaLcParenR"/>
            </a:pPr>
            <a:r>
              <a:rPr lang="en-US" b="1" dirty="0"/>
              <a:t>Sequence</a:t>
            </a:r>
            <a:r>
              <a:rPr lang="en-US" dirty="0"/>
              <a:t>—occurs when several tasks have to be scheduled one after the completion of the other.</a:t>
            </a:r>
          </a:p>
          <a:p>
            <a:pPr marL="457200" indent="-457200" algn="just">
              <a:buFont typeface="+mj-lt"/>
              <a:buAutoNum type="alphaLcParenR"/>
            </a:pPr>
            <a:r>
              <a:rPr lang="en-US" b="1" dirty="0"/>
              <a:t>AND split</a:t>
            </a:r>
            <a:r>
              <a:rPr lang="en-US" dirty="0"/>
              <a:t>—requires several tasks to be executed concurrently. Both tasks B and C are activated when task A terminates.</a:t>
            </a:r>
          </a:p>
          <a:p>
            <a:pPr marL="457200" indent="-457200" algn="just">
              <a:buFont typeface="+mj-lt"/>
              <a:buAutoNum type="alphaLcParenR"/>
            </a:pPr>
            <a:r>
              <a:rPr lang="en-US" b="1" dirty="0"/>
              <a:t>Synchronization</a:t>
            </a:r>
            <a:r>
              <a:rPr lang="en-US" dirty="0"/>
              <a:t>—an activity can start only after several concurrent activities finish execution; task C can start only after both tasks A and B terminate.</a:t>
            </a:r>
          </a:p>
          <a:p>
            <a:pPr marL="457200" indent="-457200" algn="just">
              <a:buFont typeface="+mj-lt"/>
              <a:buAutoNum type="alphaLcParenR"/>
            </a:pPr>
            <a:r>
              <a:rPr lang="en-US" b="1" dirty="0"/>
              <a:t>XOR split</a:t>
            </a:r>
            <a:r>
              <a:rPr lang="en-US" dirty="0"/>
              <a:t>—requires a decision; after the completion of task A, either B or C can be activated.</a:t>
            </a:r>
          </a:p>
          <a:p>
            <a:pPr marL="457200" indent="-457200" algn="just">
              <a:buFont typeface="+mj-lt"/>
              <a:buAutoNum type="alphaLcParenR"/>
            </a:pPr>
            <a:r>
              <a:rPr lang="en-US" b="1" dirty="0"/>
              <a:t>XOR join</a:t>
            </a:r>
            <a:r>
              <a:rPr lang="en-US" dirty="0"/>
              <a:t>—several alternatives are merged into one; task C is enabled when either A or B terminates.</a:t>
            </a:r>
          </a:p>
          <a:p>
            <a:pPr marL="457200" indent="-457200" algn="just">
              <a:buFont typeface="+mj-lt"/>
              <a:buAutoNum type="alphaLcParenR" startAt="6"/>
            </a:pPr>
            <a:r>
              <a:rPr lang="en-US" b="1" dirty="0"/>
              <a:t>OR split</a:t>
            </a:r>
            <a:r>
              <a:rPr lang="en-US" dirty="0"/>
              <a:t>—choose multiple alternatives out of a set; after completion of task A, one could activate either B or C, or both.</a:t>
            </a:r>
          </a:p>
          <a:p>
            <a:pPr marL="457200" indent="-457200" algn="just">
              <a:buFont typeface="+mj-lt"/>
              <a:buAutoNum type="alphaLcParenR" startAt="6"/>
            </a:pPr>
            <a:r>
              <a:rPr lang="en-US" b="1" dirty="0"/>
              <a:t>Multiple merge</a:t>
            </a:r>
            <a:r>
              <a:rPr lang="en-US" dirty="0"/>
              <a:t>—allows multiple activations of a task and does not require synchronization after the execution of concurrent tasks; once A terminates, tasks B and C execute concurrently. When the first of them, say B, terminates, then task D is activated; then, when C terminates, D is activated again.</a:t>
            </a:r>
          </a:p>
          <a:p>
            <a:pPr marL="457200" indent="-457200" algn="just">
              <a:buFont typeface="+mj-lt"/>
              <a:buAutoNum type="alphaLcParenR" startAt="6"/>
            </a:pPr>
            <a:r>
              <a:rPr lang="en-US" b="1" dirty="0"/>
              <a:t>Discriminator</a:t>
            </a:r>
            <a:r>
              <a:rPr lang="en-US" dirty="0"/>
              <a:t>—waits for a number of incoming branches to complete before activating the subsequent activity then, it waits for the remaining branches to finish without taking any action until all of them have terminated; next, it resets itself.</a:t>
            </a:r>
          </a:p>
          <a:p>
            <a:pPr marL="457200" indent="-457200" algn="just">
              <a:buFont typeface="+mj-lt"/>
              <a:buAutoNum type="alphaLcParenR" startAt="6"/>
            </a:pPr>
            <a:r>
              <a:rPr lang="en-US" b="1" dirty="0"/>
              <a:t>N out of M join</a:t>
            </a:r>
            <a:r>
              <a:rPr lang="en-US" dirty="0"/>
              <a:t>—provides a barrier synchronization; assuming M&gt;N tasks run concurrently, N of them have to reach the barrier before the next task is enabled; in our “example, any two out of the three tasks A, B, and C have to finish before E is enabled.</a:t>
            </a:r>
          </a:p>
          <a:p>
            <a:pPr marL="457200" indent="-457200" algn="just">
              <a:buFont typeface="+mj-lt"/>
              <a:buAutoNum type="alphaLcParenR" startAt="6"/>
            </a:pPr>
            <a:r>
              <a:rPr lang="en-US" b="1" dirty="0"/>
              <a:t>Deferred choice</a:t>
            </a:r>
            <a:r>
              <a:rPr lang="en-US" dirty="0"/>
              <a:t>—similar to XOR split but the choice is not made explicitly and the run-time environment decides what branch to take.</a:t>
            </a:r>
          </a:p>
          <a:p>
            <a:endParaRPr lang="en-US" dirty="0"/>
          </a:p>
        </p:txBody>
      </p:sp>
    </p:spTree>
    <p:extLst>
      <p:ext uri="{BB962C8B-B14F-4D97-AF65-F5344CB8AC3E}">
        <p14:creationId xmlns:p14="http://schemas.microsoft.com/office/powerpoint/2010/main" val="11673829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r>
              <a:rPr lang="en-US" dirty="0"/>
              <a:t>The individual tasks of a cloud workflow may not exhibit the traditional properties of database transactions. For example, consider durability, which means that, at any instance of time before reaching the goal state, a workflow may roll back to some previously encountered state and continue from there on an entirely different path. A task of a workflow could be either reversible or irreversible. Sometimes, paying a penalty for reversing an action is more profitable in the long run than continuing on a wrong path.</a:t>
            </a:r>
          </a:p>
          <a:p>
            <a:pPr algn="just"/>
            <a:r>
              <a:rPr lang="en-US" dirty="0"/>
              <a:t>Resource allocation is a critical aspect of the workflow enactment on a cloud without an immediate correspondent for database transactions.</a:t>
            </a:r>
          </a:p>
          <a:p>
            <a:pPr algn="just"/>
            <a:endParaRPr lang="en-US" dirty="0"/>
          </a:p>
          <a:p>
            <a:endParaRPr lang="en-US" dirty="0"/>
          </a:p>
        </p:txBody>
      </p:sp>
    </p:spTree>
    <p:extLst>
      <p:ext uri="{BB962C8B-B14F-4D97-AF65-F5344CB8AC3E}">
        <p14:creationId xmlns:p14="http://schemas.microsoft.com/office/powerpoint/2010/main" val="4151081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3A926-F20B-A0FC-93AA-3418FD3F1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0A5504-F3D9-BFA7-C3F2-E259EB14994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076EEFF-3AA9-11FE-61F4-544115CA2F9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340299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Indexing; processing pipeline supports indexing of large datasets created by web-crawler engines.</a:t>
            </a:r>
          </a:p>
          <a:p>
            <a:pPr marL="171450" indent="-171450">
              <a:buFont typeface="Arial" panose="020B0604020202020204" pitchFamily="34" charset="0"/>
              <a:buChar char="•"/>
            </a:pPr>
            <a:r>
              <a:rPr lang="en-US" dirty="0"/>
              <a:t>Data mining; processing pipeline supports searching large sets of records to locate items of interests.</a:t>
            </a:r>
          </a:p>
          <a:p>
            <a:pPr marL="171450" indent="-171450">
              <a:buFont typeface="Arial" panose="020B0604020202020204" pitchFamily="34" charset="0"/>
              <a:buChar char="•"/>
            </a:pPr>
            <a:r>
              <a:rPr lang="en-US" dirty="0"/>
              <a:t>Image processing; a number of companies allow users to store their images on the cloud, e.g., Flickr (flickr.com) and Picasa (http://picasa.google.com/). Image-processing pipelines support image conversion, e.g., enlarge an image or create thumbnails, and compress or encrypt images.</a:t>
            </a:r>
          </a:p>
          <a:p>
            <a:pPr marL="171450" indent="-171450">
              <a:buFont typeface="Arial" panose="020B0604020202020204" pitchFamily="34" charset="0"/>
              <a:buChar char="•"/>
            </a:pPr>
            <a:r>
              <a:rPr lang="en-US" dirty="0"/>
              <a:t>Video transcoding; processing pipeline translates one video format to another, e.g., AVI to MPEG.</a:t>
            </a:r>
          </a:p>
          <a:p>
            <a:pPr marL="171450" indent="-171450">
              <a:buFont typeface="Arial" panose="020B0604020202020204" pitchFamily="34" charset="0"/>
              <a:buChar char="•"/>
            </a:pPr>
            <a:r>
              <a:rPr lang="en-US" dirty="0"/>
              <a:t>Document processing; processing pipeline converts very large collection of documents from one format to another, e.g., from Word to PDF or encrypts the documents; they could also use OCR (Optical Character Recognition) to produce digital images of documents.</a:t>
            </a:r>
          </a:p>
          <a:p>
            <a:endParaRPr lang="en-US" dirty="0"/>
          </a:p>
        </p:txBody>
      </p:sp>
    </p:spTree>
    <p:extLst>
      <p:ext uri="{BB962C8B-B14F-4D97-AF65-F5344CB8AC3E}">
        <p14:creationId xmlns:p14="http://schemas.microsoft.com/office/powerpoint/2010/main" val="26792496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4319125" y="5273825"/>
            <a:ext cx="9217024" cy="6978502"/>
          </a:xfrm>
        </p:spPr>
        <p:txBody>
          <a:bodyPr>
            <a:normAutofit/>
          </a:bodyPr>
          <a:lstStyle>
            <a:lvl1pPr>
              <a:defRPr sz="4000"/>
            </a:lvl1pPr>
            <a:lvl2pPr>
              <a:defRPr sz="4000"/>
            </a:lvl2pPr>
            <a:lvl3pPr>
              <a:defRPr sz="4000"/>
            </a:lvl3pPr>
            <a:lvl4pPr>
              <a:defRPr sz="4000"/>
            </a:lvl4pPr>
            <a:lvl5pPr>
              <a:defRPr sz="40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13728171" y="5273825"/>
            <a:ext cx="9436629" cy="6978502"/>
          </a:xfrm>
        </p:spPr>
        <p:txBody>
          <a:bodyPr>
            <a:normAutofit/>
          </a:bodyPr>
          <a:lstStyle>
            <a:lvl1pPr>
              <a:defRPr sz="4000"/>
            </a:lvl1pPr>
            <a:lvl2pPr>
              <a:defRPr sz="4000"/>
            </a:lvl2pPr>
            <a:lvl3pPr>
              <a:defRPr sz="4000"/>
            </a:lvl3pPr>
            <a:lvl4pPr>
              <a:defRPr sz="4000"/>
            </a:lvl4pPr>
            <a:lvl5pPr>
              <a:defRPr sz="40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pPr>
              <a:defRPr/>
            </a:pPr>
            <a:fld id="{CD7BD76F-6914-4CF6-838D-B2233DFD55E0}" type="datetime1">
              <a:rPr lang="en-US" smtClean="0"/>
              <a:pPr>
                <a:defRPr/>
              </a:pPr>
              <a:t>1/8/2026</a:t>
            </a:fld>
            <a:r>
              <a:rPr lang="en-US"/>
              <a:t>Bina Nusantara University</a:t>
            </a: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267CA0D-3B9F-49E7-A5DF-A0D1B5CFE3C6}" type="slidenum">
              <a:rPr lang="en-US" smtClean="0"/>
              <a:pPr>
                <a:defRPr/>
              </a:pPr>
              <a:t>‹#›</a:t>
            </a:fld>
            <a:endParaRPr lang="en-US"/>
          </a:p>
        </p:txBody>
      </p:sp>
    </p:spTree>
    <p:extLst>
      <p:ext uri="{BB962C8B-B14F-4D97-AF65-F5344CB8AC3E}">
        <p14:creationId xmlns:p14="http://schemas.microsoft.com/office/powerpoint/2010/main" val="32239508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NewBM">
    <p:spTree>
      <p:nvGrpSpPr>
        <p:cNvPr id="1" name=""/>
        <p:cNvGrpSpPr/>
        <p:nvPr/>
      </p:nvGrpSpPr>
      <p:grpSpPr>
        <a:xfrm>
          <a:off x="0" y="0"/>
          <a:ext cx="0" cy="0"/>
          <a:chOff x="0" y="0"/>
          <a:chExt cx="0" cy="0"/>
        </a:xfrm>
      </p:grpSpPr>
      <p:pic>
        <p:nvPicPr>
          <p:cNvPr id="7" name="Picture 1" descr="Background 02.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 y="-27874"/>
            <a:ext cx="24383997" cy="12929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0" y="10314384"/>
            <a:ext cx="24383995" cy="3401616"/>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a:p>
        </p:txBody>
      </p:sp>
      <p:sp>
        <p:nvSpPr>
          <p:cNvPr id="2" name="Title 1"/>
          <p:cNvSpPr>
            <a:spLocks noGrp="1"/>
          </p:cNvSpPr>
          <p:nvPr>
            <p:ph type="title"/>
          </p:nvPr>
        </p:nvSpPr>
        <p:spPr>
          <a:xfrm>
            <a:off x="4673600" y="2743200"/>
            <a:ext cx="18232304" cy="1584176"/>
          </a:xfrm>
        </p:spPr>
        <p:txBody>
          <a:bodyPr>
            <a:normAutofit/>
          </a:bodyPr>
          <a:lstStyle>
            <a:lvl1pPr algn="ctr">
              <a:defRPr sz="6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1219200" y="12906673"/>
            <a:ext cx="5689600" cy="730250"/>
          </a:xfrm>
        </p:spPr>
        <p:txBody>
          <a:bodyPr/>
          <a:lstStyle/>
          <a:p>
            <a:pPr>
              <a:defRPr/>
            </a:pPr>
            <a:fld id="{D613A7DE-4529-4078-B095-609A054D8419}" type="datetime1">
              <a:rPr lang="en-US" smtClean="0"/>
              <a:pPr>
                <a:defRPr/>
              </a:pPr>
              <a:t>1/8/2026</a:t>
            </a:fld>
            <a:r>
              <a:rPr lang="en-US"/>
              <a:t>Bina Nusantara University</a:t>
            </a:r>
          </a:p>
        </p:txBody>
      </p:sp>
      <p:sp>
        <p:nvSpPr>
          <p:cNvPr id="9" name="Footer Placeholder 4"/>
          <p:cNvSpPr>
            <a:spLocks noGrp="1"/>
          </p:cNvSpPr>
          <p:nvPr>
            <p:ph type="ftr" sz="quarter" idx="11"/>
          </p:nvPr>
        </p:nvSpPr>
        <p:spPr>
          <a:xfrm>
            <a:off x="8331200" y="12906673"/>
            <a:ext cx="7721600" cy="730250"/>
          </a:xfrm>
        </p:spPr>
        <p:txBody>
          <a:bodyPr/>
          <a:lstStyle/>
          <a:p>
            <a:pPr>
              <a:defRPr/>
            </a:pPr>
            <a:endParaRPr lang="en-US"/>
          </a:p>
        </p:txBody>
      </p:sp>
      <p:sp>
        <p:nvSpPr>
          <p:cNvPr id="10" name="Slide Number Placeholder 5"/>
          <p:cNvSpPr>
            <a:spLocks noGrp="1"/>
          </p:cNvSpPr>
          <p:nvPr>
            <p:ph type="sldNum" sz="quarter" idx="12"/>
          </p:nvPr>
        </p:nvSpPr>
        <p:spPr>
          <a:xfrm>
            <a:off x="17475200" y="12906673"/>
            <a:ext cx="5689600" cy="730250"/>
          </a:xfrm>
        </p:spPr>
        <p:txBody>
          <a:bodyPr/>
          <a:lstStyle/>
          <a:p>
            <a:pPr>
              <a:defRPr/>
            </a:pPr>
            <a:fld id="{21EF0E02-90DE-4DDF-8E9F-438205EAE6E1}" type="slidenum">
              <a:rPr lang="en-US" smtClean="0"/>
              <a:pPr>
                <a:defRPr/>
              </a:pPr>
              <a:t>‹#›</a:t>
            </a:fld>
            <a:endParaRPr lang="en-US"/>
          </a:p>
        </p:txBody>
      </p:sp>
      <p:sp>
        <p:nvSpPr>
          <p:cNvPr id="14" name="Content Placeholder 2"/>
          <p:cNvSpPr>
            <a:spLocks noGrp="1"/>
          </p:cNvSpPr>
          <p:nvPr>
            <p:ph idx="1"/>
          </p:nvPr>
        </p:nvSpPr>
        <p:spPr>
          <a:xfrm>
            <a:off x="2438400" y="4572000"/>
            <a:ext cx="20929600" cy="744319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Tree>
    <p:extLst>
      <p:ext uri="{BB962C8B-B14F-4D97-AF65-F5344CB8AC3E}">
        <p14:creationId xmlns:p14="http://schemas.microsoft.com/office/powerpoint/2010/main" val="2352864156"/>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 id="2147483689" r:id="rId24"/>
    <p:sldLayoutId id="2147483690" r:id="rId25"/>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a:bodyPr>
          <a:lstStyle/>
          <a:p>
            <a:r>
              <a:rPr lang="en-US" dirty="0"/>
              <a:t>Cloud application</a:t>
            </a:r>
            <a:br>
              <a:rPr lang="en-US" dirty="0"/>
            </a:br>
            <a:br>
              <a:rPr lang="en-US" dirty="0"/>
            </a:br>
            <a:r>
              <a:rPr lang="en-US" sz="6000" dirty="0"/>
              <a:t>Session 11</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D6825 - Samuel Philip</a:t>
            </a:r>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COSC6100001 - Cloud Infrastructure</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outcomes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rmAutofit lnSpcReduction="10000"/>
          </a:bodyPr>
          <a:lstStyle/>
          <a:p>
            <a:r>
              <a:rPr lang="en-US" dirty="0"/>
              <a:t>(C4) Analysis : identify problems that can be solved using cloud global infrastructure</a:t>
            </a:r>
          </a:p>
          <a:p>
            <a:r>
              <a:rPr lang="en-US" dirty="0"/>
              <a:t>(C2) Comprehension : group Classify real-worlds problems in accordance with cloud computing infrastructure</a:t>
            </a:r>
          </a:p>
          <a:p>
            <a:r>
              <a:rPr lang="en-US" dirty="0"/>
              <a:t>(C4) Analysis : analyze identifying problems and choose proper Cloud Services and Cloud Infrastructure</a:t>
            </a:r>
          </a:p>
          <a:p>
            <a:r>
              <a:rPr lang="en-US" dirty="0"/>
              <a:t>(C5) Synthesis : design Cloud computing architecture and infrastructure and implementation on </a:t>
            </a:r>
            <a:r>
              <a:rPr lang="en-US" dirty="0" err="1"/>
              <a:t>applciations</a:t>
            </a:r>
            <a:endParaRPr lang="en-US" dirty="0"/>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pPr marL="457200" indent="-457200">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Cloud Application Development and Architectural Styles</a:t>
            </a:r>
          </a:p>
          <a:p>
            <a:pPr marL="457200" indent="-457200">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Workflow Patterns</a:t>
            </a:r>
          </a:p>
          <a:p>
            <a:pPr marL="457200" indent="-457200">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Current Cloud Applications and New Applications Opportunities</a:t>
            </a:r>
          </a:p>
          <a:p>
            <a:pPr marL="457200" indent="-457200">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Cloud for Science and Engineering</a:t>
            </a:r>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0EE6CE-77CF-BD33-296D-07E6A9E5E56A}"/>
              </a:ext>
            </a:extLst>
          </p:cNvPr>
          <p:cNvSpPr>
            <a:spLocks noGrp="1"/>
          </p:cNvSpPr>
          <p:nvPr>
            <p:ph type="title"/>
          </p:nvPr>
        </p:nvSpPr>
        <p:spPr/>
        <p:txBody>
          <a:bodyPr/>
          <a:lstStyle/>
          <a:p>
            <a:r>
              <a:rPr lang="en-US" dirty="0"/>
              <a:t>Cloud Application Development and Architectural Style</a:t>
            </a:r>
          </a:p>
        </p:txBody>
      </p:sp>
    </p:spTree>
    <p:extLst>
      <p:ext uri="{BB962C8B-B14F-4D97-AF65-F5344CB8AC3E}">
        <p14:creationId xmlns:p14="http://schemas.microsoft.com/office/powerpoint/2010/main" val="65065730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6E73-A651-97FC-3DE1-CEF65AF1619A}"/>
              </a:ext>
            </a:extLst>
          </p:cNvPr>
          <p:cNvSpPr>
            <a:spLocks noGrp="1"/>
          </p:cNvSpPr>
          <p:nvPr>
            <p:ph type="title"/>
          </p:nvPr>
        </p:nvSpPr>
        <p:spPr>
          <a:xfrm>
            <a:off x="2167377" y="1871164"/>
            <a:ext cx="14715569" cy="511175"/>
          </a:xfrm>
        </p:spPr>
        <p:txBody>
          <a:bodyPr>
            <a:normAutofit/>
          </a:bodyPr>
          <a:lstStyle/>
          <a:p>
            <a:r>
              <a:rPr lang="en-US" sz="3200" dirty="0"/>
              <a:t>Cloud Application Development</a:t>
            </a:r>
          </a:p>
        </p:txBody>
      </p:sp>
      <p:sp>
        <p:nvSpPr>
          <p:cNvPr id="13" name="Text Placeholder 2">
            <a:extLst>
              <a:ext uri="{FF2B5EF4-FFF2-40B4-BE49-F238E27FC236}">
                <a16:creationId xmlns:a16="http://schemas.microsoft.com/office/drawing/2014/main" id="{F5E5306D-1B4E-9948-9FDA-EB0FC630EBED}"/>
              </a:ext>
            </a:extLst>
          </p:cNvPr>
          <p:cNvSpPr>
            <a:spLocks noGrp="1"/>
          </p:cNvSpPr>
          <p:nvPr>
            <p:ph type="body" sz="quarter" idx="10"/>
          </p:nvPr>
        </p:nvSpPr>
        <p:spPr>
          <a:xfrm>
            <a:off x="2167377" y="2419728"/>
            <a:ext cx="9768875" cy="803546"/>
          </a:xfrm>
        </p:spPr>
        <p:txBody>
          <a:bodyPr/>
          <a:lstStyle/>
          <a:p>
            <a:r>
              <a:rPr lang="en-US" dirty="0"/>
              <a:t>Challenges</a:t>
            </a:r>
          </a:p>
        </p:txBody>
      </p:sp>
      <p:sp>
        <p:nvSpPr>
          <p:cNvPr id="4" name="Content Placeholder 3">
            <a:extLst>
              <a:ext uri="{FF2B5EF4-FFF2-40B4-BE49-F238E27FC236}">
                <a16:creationId xmlns:a16="http://schemas.microsoft.com/office/drawing/2014/main" id="{8D862F95-B0B7-A38E-BEF3-68DCC85BA8BE}"/>
              </a:ext>
            </a:extLst>
          </p:cNvPr>
          <p:cNvSpPr>
            <a:spLocks noGrp="1"/>
          </p:cNvSpPr>
          <p:nvPr>
            <p:ph type="body" sz="quarter" idx="16"/>
          </p:nvPr>
        </p:nvSpPr>
        <p:spPr>
          <a:xfrm>
            <a:off x="2167377" y="6556917"/>
            <a:ext cx="9768906" cy="5575610"/>
          </a:xfrm>
        </p:spPr>
        <p:txBody>
          <a:bodyPr>
            <a:normAutofit/>
          </a:bodyPr>
          <a:lstStyle/>
          <a:p>
            <a:r>
              <a:rPr lang="en-US" dirty="0"/>
              <a:t>Other challenges include optimizing server usage against cost/timing constraints, side effects of shared infrastructure, reliability concerns, multi-stage applications, data storage performance in data-intensive apps, handling metadata, and logging</a:t>
            </a:r>
          </a:p>
        </p:txBody>
      </p:sp>
      <p:sp>
        <p:nvSpPr>
          <p:cNvPr id="7" name="Text Placeholder 6">
            <a:extLst>
              <a:ext uri="{FF2B5EF4-FFF2-40B4-BE49-F238E27FC236}">
                <a16:creationId xmlns:a16="http://schemas.microsoft.com/office/drawing/2014/main" id="{412CE686-AEC3-7655-DFFC-844C8109D714}"/>
              </a:ext>
            </a:extLst>
          </p:cNvPr>
          <p:cNvSpPr>
            <a:spLocks noGrp="1"/>
          </p:cNvSpPr>
          <p:nvPr>
            <p:ph type="body" sz="quarter" idx="17"/>
          </p:nvPr>
        </p:nvSpPr>
        <p:spPr>
          <a:xfrm>
            <a:off x="2166938" y="4210049"/>
            <a:ext cx="9768874" cy="2039112"/>
          </a:xfrm>
        </p:spPr>
        <p:txBody>
          <a:bodyPr>
            <a:normAutofit/>
          </a:bodyPr>
          <a:lstStyle/>
          <a:p>
            <a:r>
              <a:rPr lang="en-US" sz="2800" dirty="0"/>
              <a:t>Developing efficient cloud applications is hampered by the inherent imbalance between computing, I/O, and communication bandwidth</a:t>
            </a:r>
          </a:p>
        </p:txBody>
      </p:sp>
      <p:pic>
        <p:nvPicPr>
          <p:cNvPr id="15" name="Picture Placeholder 14">
            <a:extLst>
              <a:ext uri="{FF2B5EF4-FFF2-40B4-BE49-F238E27FC236}">
                <a16:creationId xmlns:a16="http://schemas.microsoft.com/office/drawing/2014/main" id="{3583FCDB-90AC-A9A7-0E84-6E56D214B31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5" t="-644" r="17773" b="644"/>
          <a:stretch>
            <a:fillRect/>
          </a:stretch>
        </p:blipFill>
        <p:spPr>
          <a:xfrm>
            <a:off x="11936283" y="3757107"/>
            <a:ext cx="11789228" cy="7281490"/>
          </a:xfrm>
          <a:prstGeom prst="rect">
            <a:avLst/>
          </a:prstGeom>
        </p:spPr>
      </p:pic>
    </p:spTree>
    <p:extLst>
      <p:ext uri="{BB962C8B-B14F-4D97-AF65-F5344CB8AC3E}">
        <p14:creationId xmlns:p14="http://schemas.microsoft.com/office/powerpoint/2010/main" val="76629525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A0ABA-67C7-B046-81BA-DF23DB9E08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A122BB-DB2E-FF68-BDDC-AD2A4CEA61CA}"/>
              </a:ext>
            </a:extLst>
          </p:cNvPr>
          <p:cNvSpPr>
            <a:spLocks noGrp="1"/>
          </p:cNvSpPr>
          <p:nvPr>
            <p:ph type="title"/>
          </p:nvPr>
        </p:nvSpPr>
        <p:spPr>
          <a:xfrm>
            <a:off x="2167377" y="1871164"/>
            <a:ext cx="14715569" cy="511175"/>
          </a:xfrm>
        </p:spPr>
        <p:txBody>
          <a:bodyPr>
            <a:normAutofit/>
          </a:bodyPr>
          <a:lstStyle/>
          <a:p>
            <a:r>
              <a:rPr lang="en-US" sz="3200" dirty="0"/>
              <a:t>Cloud Application Development</a:t>
            </a:r>
          </a:p>
        </p:txBody>
      </p:sp>
      <p:sp>
        <p:nvSpPr>
          <p:cNvPr id="13" name="Text Placeholder 2">
            <a:extLst>
              <a:ext uri="{FF2B5EF4-FFF2-40B4-BE49-F238E27FC236}">
                <a16:creationId xmlns:a16="http://schemas.microsoft.com/office/drawing/2014/main" id="{58B52077-D7C6-EA4A-37C0-1365F5DFB730}"/>
              </a:ext>
            </a:extLst>
          </p:cNvPr>
          <p:cNvSpPr>
            <a:spLocks noGrp="1"/>
          </p:cNvSpPr>
          <p:nvPr>
            <p:ph type="body" sz="quarter" idx="10"/>
          </p:nvPr>
        </p:nvSpPr>
        <p:spPr>
          <a:xfrm>
            <a:off x="2167377" y="2419728"/>
            <a:ext cx="9768875" cy="803546"/>
          </a:xfrm>
        </p:spPr>
        <p:txBody>
          <a:bodyPr/>
          <a:lstStyle/>
          <a:p>
            <a:r>
              <a:rPr lang="en-US" dirty="0"/>
              <a:t>Architectural styles</a:t>
            </a:r>
          </a:p>
        </p:txBody>
      </p:sp>
      <p:sp>
        <p:nvSpPr>
          <p:cNvPr id="4" name="Content Placeholder 3">
            <a:extLst>
              <a:ext uri="{FF2B5EF4-FFF2-40B4-BE49-F238E27FC236}">
                <a16:creationId xmlns:a16="http://schemas.microsoft.com/office/drawing/2014/main" id="{B20D64DF-29A5-C83D-7179-D2770806BA06}"/>
              </a:ext>
            </a:extLst>
          </p:cNvPr>
          <p:cNvSpPr>
            <a:spLocks noGrp="1"/>
          </p:cNvSpPr>
          <p:nvPr>
            <p:ph type="body" sz="quarter" idx="16"/>
          </p:nvPr>
        </p:nvSpPr>
        <p:spPr>
          <a:xfrm>
            <a:off x="2167377" y="6556917"/>
            <a:ext cx="9768906" cy="5575610"/>
          </a:xfrm>
        </p:spPr>
        <p:txBody>
          <a:bodyPr>
            <a:normAutofit/>
          </a:bodyPr>
          <a:lstStyle/>
          <a:p>
            <a:r>
              <a:rPr lang="en-US" sz="2400" dirty="0"/>
              <a:t>Cloud computing is based on the client–server paradigm and mostly uses request–response communication between clients and stateless servers.</a:t>
            </a:r>
          </a:p>
          <a:p>
            <a:r>
              <a:rPr lang="en-US" dirty="0"/>
              <a:t>A stateless system is simpler, more robust, and scalable; a client does not have to be concerned with the state of the server; if the client receives a response to a request, this means that the server is up and running; if not, it should resend the request later.</a:t>
            </a:r>
          </a:p>
        </p:txBody>
      </p:sp>
      <p:sp>
        <p:nvSpPr>
          <p:cNvPr id="7" name="Text Placeholder 6">
            <a:extLst>
              <a:ext uri="{FF2B5EF4-FFF2-40B4-BE49-F238E27FC236}">
                <a16:creationId xmlns:a16="http://schemas.microsoft.com/office/drawing/2014/main" id="{2B8957AB-B10F-8047-3BC8-02798FE63AD9}"/>
              </a:ext>
            </a:extLst>
          </p:cNvPr>
          <p:cNvSpPr>
            <a:spLocks noGrp="1"/>
          </p:cNvSpPr>
          <p:nvPr>
            <p:ph type="body" sz="quarter" idx="17"/>
          </p:nvPr>
        </p:nvSpPr>
        <p:spPr>
          <a:xfrm>
            <a:off x="2166938" y="4210049"/>
            <a:ext cx="9768874" cy="2039112"/>
          </a:xfrm>
        </p:spPr>
        <p:txBody>
          <a:bodyPr>
            <a:normAutofit/>
          </a:bodyPr>
          <a:lstStyle/>
          <a:p>
            <a:r>
              <a:rPr lang="en-US" sz="2800" dirty="0"/>
              <a:t>Cloud computing is based on the client–server paradigm. </a:t>
            </a:r>
          </a:p>
        </p:txBody>
      </p:sp>
      <p:pic>
        <p:nvPicPr>
          <p:cNvPr id="15" name="Picture Placeholder 14">
            <a:extLst>
              <a:ext uri="{FF2B5EF4-FFF2-40B4-BE49-F238E27FC236}">
                <a16:creationId xmlns:a16="http://schemas.microsoft.com/office/drawing/2014/main" id="{07332F37-EDB5-46A0-814F-366A8A515BE6}"/>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780" r="1558" b="6285"/>
          <a:stretch>
            <a:fillRect/>
          </a:stretch>
        </p:blipFill>
        <p:spPr>
          <a:xfrm>
            <a:off x="11935812" y="4210049"/>
            <a:ext cx="12181115" cy="5878245"/>
          </a:xfrm>
          <a:prstGeom prst="rect">
            <a:avLst/>
          </a:prstGeom>
        </p:spPr>
      </p:pic>
      <p:sp>
        <p:nvSpPr>
          <p:cNvPr id="3" name="TextBox 2">
            <a:extLst>
              <a:ext uri="{FF2B5EF4-FFF2-40B4-BE49-F238E27FC236}">
                <a16:creationId xmlns:a16="http://schemas.microsoft.com/office/drawing/2014/main" id="{D9CBED2A-A066-FD86-FA9F-7CF2BF65FC8C}"/>
              </a:ext>
            </a:extLst>
          </p:cNvPr>
          <p:cNvSpPr txBox="1"/>
          <p:nvPr/>
        </p:nvSpPr>
        <p:spPr>
          <a:xfrm>
            <a:off x="15505305" y="10377228"/>
            <a:ext cx="37366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Client-server architecture</a:t>
            </a:r>
          </a:p>
        </p:txBody>
      </p:sp>
    </p:spTree>
    <p:extLst>
      <p:ext uri="{BB962C8B-B14F-4D97-AF65-F5344CB8AC3E}">
        <p14:creationId xmlns:p14="http://schemas.microsoft.com/office/powerpoint/2010/main" val="301838676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C2BBB-173F-4B0A-3873-E4D3EA09C4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55131B-D20A-7F1D-1804-7D0B72D2C36E}"/>
              </a:ext>
            </a:extLst>
          </p:cNvPr>
          <p:cNvSpPr>
            <a:spLocks noGrp="1"/>
          </p:cNvSpPr>
          <p:nvPr>
            <p:ph type="title"/>
          </p:nvPr>
        </p:nvSpPr>
        <p:spPr>
          <a:xfrm>
            <a:off x="2167377" y="1871164"/>
            <a:ext cx="14715569" cy="511175"/>
          </a:xfrm>
        </p:spPr>
        <p:txBody>
          <a:bodyPr>
            <a:normAutofit/>
          </a:bodyPr>
          <a:lstStyle/>
          <a:p>
            <a:r>
              <a:rPr lang="en-US" sz="3200" dirty="0"/>
              <a:t>Cloud Application Development</a:t>
            </a:r>
          </a:p>
        </p:txBody>
      </p:sp>
      <p:sp>
        <p:nvSpPr>
          <p:cNvPr id="13" name="Text Placeholder 2">
            <a:extLst>
              <a:ext uri="{FF2B5EF4-FFF2-40B4-BE49-F238E27FC236}">
                <a16:creationId xmlns:a16="http://schemas.microsoft.com/office/drawing/2014/main" id="{3573C23D-10A0-97E1-8700-6035FDA54A5A}"/>
              </a:ext>
            </a:extLst>
          </p:cNvPr>
          <p:cNvSpPr>
            <a:spLocks noGrp="1"/>
          </p:cNvSpPr>
          <p:nvPr>
            <p:ph type="body" sz="quarter" idx="10"/>
          </p:nvPr>
        </p:nvSpPr>
        <p:spPr>
          <a:xfrm>
            <a:off x="2167377" y="2419728"/>
            <a:ext cx="9768875" cy="803546"/>
          </a:xfrm>
        </p:spPr>
        <p:txBody>
          <a:bodyPr/>
          <a:lstStyle/>
          <a:p>
            <a:r>
              <a:rPr lang="en-US" dirty="0"/>
              <a:t>Architectural consideration</a:t>
            </a:r>
          </a:p>
        </p:txBody>
      </p:sp>
      <p:sp>
        <p:nvSpPr>
          <p:cNvPr id="4" name="Content Placeholder 3">
            <a:extLst>
              <a:ext uri="{FF2B5EF4-FFF2-40B4-BE49-F238E27FC236}">
                <a16:creationId xmlns:a16="http://schemas.microsoft.com/office/drawing/2014/main" id="{4463FC2E-9968-E78F-B719-BAB6306A5836}"/>
              </a:ext>
            </a:extLst>
          </p:cNvPr>
          <p:cNvSpPr>
            <a:spLocks noGrp="1"/>
          </p:cNvSpPr>
          <p:nvPr>
            <p:ph type="body" sz="quarter" idx="16"/>
          </p:nvPr>
        </p:nvSpPr>
        <p:spPr>
          <a:xfrm>
            <a:off x="2167377" y="6556917"/>
            <a:ext cx="9768906" cy="5575610"/>
          </a:xfrm>
        </p:spPr>
        <p:txBody>
          <a:bodyPr>
            <a:normAutofit/>
          </a:bodyPr>
          <a:lstStyle/>
          <a:p>
            <a:r>
              <a:rPr lang="en-US" sz="2400" dirty="0"/>
              <a:t>Key factors when choosing an architectural style include neutrality (protocol ability to use different transport protocols like TCP and UDP), extensibility (ability to add functions like security), and independence (ability to support different programming styles).</a:t>
            </a:r>
            <a:endParaRPr lang="en-US" dirty="0"/>
          </a:p>
        </p:txBody>
      </p:sp>
      <p:sp>
        <p:nvSpPr>
          <p:cNvPr id="7" name="Text Placeholder 6">
            <a:extLst>
              <a:ext uri="{FF2B5EF4-FFF2-40B4-BE49-F238E27FC236}">
                <a16:creationId xmlns:a16="http://schemas.microsoft.com/office/drawing/2014/main" id="{CB79FE01-8923-69A7-4D04-82EA19F7993E}"/>
              </a:ext>
            </a:extLst>
          </p:cNvPr>
          <p:cNvSpPr>
            <a:spLocks noGrp="1"/>
          </p:cNvSpPr>
          <p:nvPr>
            <p:ph type="body" sz="quarter" idx="17"/>
          </p:nvPr>
        </p:nvSpPr>
        <p:spPr>
          <a:xfrm>
            <a:off x="2166938" y="4210049"/>
            <a:ext cx="9768874" cy="2039112"/>
          </a:xfrm>
        </p:spPr>
        <p:txBody>
          <a:bodyPr>
            <a:normAutofit/>
          </a:bodyPr>
          <a:lstStyle/>
          <a:p>
            <a:r>
              <a:rPr lang="en-US" sz="2800" dirty="0"/>
              <a:t>Several consideration when choosing an architectural for cloud application development</a:t>
            </a:r>
          </a:p>
        </p:txBody>
      </p:sp>
      <p:pic>
        <p:nvPicPr>
          <p:cNvPr id="15" name="Picture Placeholder 14">
            <a:extLst>
              <a:ext uri="{FF2B5EF4-FFF2-40B4-BE49-F238E27FC236}">
                <a16:creationId xmlns:a16="http://schemas.microsoft.com/office/drawing/2014/main" id="{681986DE-CF54-6A1B-C06E-76DBC057C32C}"/>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780" r="1558" b="6285"/>
          <a:stretch>
            <a:fillRect/>
          </a:stretch>
        </p:blipFill>
        <p:spPr>
          <a:xfrm>
            <a:off x="11935812" y="4210049"/>
            <a:ext cx="12181115" cy="5878245"/>
          </a:xfrm>
          <a:prstGeom prst="rect">
            <a:avLst/>
          </a:prstGeom>
        </p:spPr>
      </p:pic>
      <p:sp>
        <p:nvSpPr>
          <p:cNvPr id="3" name="TextBox 2">
            <a:extLst>
              <a:ext uri="{FF2B5EF4-FFF2-40B4-BE49-F238E27FC236}">
                <a16:creationId xmlns:a16="http://schemas.microsoft.com/office/drawing/2014/main" id="{5FFBCDF3-0F88-C3E5-11FB-EAF6E513D61D}"/>
              </a:ext>
            </a:extLst>
          </p:cNvPr>
          <p:cNvSpPr txBox="1"/>
          <p:nvPr/>
        </p:nvSpPr>
        <p:spPr>
          <a:xfrm>
            <a:off x="15505305" y="10377228"/>
            <a:ext cx="37366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Client-server architecture</a:t>
            </a:r>
          </a:p>
        </p:txBody>
      </p:sp>
    </p:spTree>
    <p:extLst>
      <p:ext uri="{BB962C8B-B14F-4D97-AF65-F5344CB8AC3E}">
        <p14:creationId xmlns:p14="http://schemas.microsoft.com/office/powerpoint/2010/main" val="369858311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E289-03FF-C267-28AC-24C7332D39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73AF29-8D0A-A2A1-55EF-C0AF06DC1882}"/>
              </a:ext>
            </a:extLst>
          </p:cNvPr>
          <p:cNvSpPr>
            <a:spLocks noGrp="1"/>
          </p:cNvSpPr>
          <p:nvPr>
            <p:ph type="title"/>
          </p:nvPr>
        </p:nvSpPr>
        <p:spPr/>
        <p:txBody>
          <a:bodyPr/>
          <a:lstStyle/>
          <a:p>
            <a:r>
              <a:rPr lang="en-US" b="1" dirty="0"/>
              <a:t>Communication Middleware/Protocols</a:t>
            </a:r>
            <a:endParaRPr lang="en-US" dirty="0"/>
          </a:p>
        </p:txBody>
      </p:sp>
    </p:spTree>
    <p:extLst>
      <p:ext uri="{BB962C8B-B14F-4D97-AF65-F5344CB8AC3E}">
        <p14:creationId xmlns:p14="http://schemas.microsoft.com/office/powerpoint/2010/main" val="121542066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FA892-912D-4B39-5899-30D18D35D4D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98F23F-DC3E-98D5-2F62-0E03BA1D7C6D}"/>
              </a:ext>
            </a:extLst>
          </p:cNvPr>
          <p:cNvSpPr>
            <a:spLocks noGrp="1"/>
          </p:cNvSpPr>
          <p:nvPr>
            <p:ph type="title"/>
          </p:nvPr>
        </p:nvSpPr>
        <p:spPr>
          <a:xfrm>
            <a:off x="2167377" y="1871164"/>
            <a:ext cx="14715569" cy="511175"/>
          </a:xfrm>
        </p:spPr>
        <p:txBody>
          <a:bodyPr>
            <a:normAutofit/>
          </a:bodyPr>
          <a:lstStyle/>
          <a:p>
            <a:r>
              <a:rPr lang="en-US" sz="3200" dirty="0"/>
              <a:t>protocols</a:t>
            </a:r>
          </a:p>
        </p:txBody>
      </p:sp>
      <p:sp>
        <p:nvSpPr>
          <p:cNvPr id="13" name="Text Placeholder 2">
            <a:extLst>
              <a:ext uri="{FF2B5EF4-FFF2-40B4-BE49-F238E27FC236}">
                <a16:creationId xmlns:a16="http://schemas.microsoft.com/office/drawing/2014/main" id="{FCBDDEE3-35E3-0589-CDA2-F3747AD9E7AB}"/>
              </a:ext>
            </a:extLst>
          </p:cNvPr>
          <p:cNvSpPr>
            <a:spLocks noGrp="1"/>
          </p:cNvSpPr>
          <p:nvPr>
            <p:ph type="body" sz="quarter" idx="10"/>
          </p:nvPr>
        </p:nvSpPr>
        <p:spPr>
          <a:xfrm>
            <a:off x="2167377" y="2419728"/>
            <a:ext cx="9768875" cy="803546"/>
          </a:xfrm>
        </p:spPr>
        <p:txBody>
          <a:bodyPr/>
          <a:lstStyle/>
          <a:p>
            <a:r>
              <a:rPr lang="en-US" dirty="0"/>
              <a:t>Object request broker (ORB)</a:t>
            </a:r>
          </a:p>
        </p:txBody>
      </p:sp>
      <p:sp>
        <p:nvSpPr>
          <p:cNvPr id="15" name="Text Placeholder 3">
            <a:extLst>
              <a:ext uri="{FF2B5EF4-FFF2-40B4-BE49-F238E27FC236}">
                <a16:creationId xmlns:a16="http://schemas.microsoft.com/office/drawing/2014/main" id="{EAACC3D1-25B4-1E82-DF92-0B8444B5035B}"/>
              </a:ext>
            </a:extLst>
          </p:cNvPr>
          <p:cNvSpPr>
            <a:spLocks noGrp="1"/>
          </p:cNvSpPr>
          <p:nvPr>
            <p:ph type="body" sz="quarter" idx="16"/>
          </p:nvPr>
        </p:nvSpPr>
        <p:spPr>
          <a:xfrm>
            <a:off x="2167377" y="6556917"/>
            <a:ext cx="9768906" cy="5575610"/>
          </a:xfrm>
        </p:spPr>
        <p:txBody>
          <a:bodyPr/>
          <a:lstStyle/>
          <a:p>
            <a:r>
              <a:rPr lang="en-US" dirty="0"/>
              <a:t>The sending site ORB transforms data structures used internally and transmits a byte sequence over the network. The receiving site ORB maps the byte sequence to data structures used internally by the receiving process.</a:t>
            </a:r>
          </a:p>
          <a:p>
            <a:r>
              <a:rPr lang="en-US" dirty="0"/>
              <a:t>Hence, allowing components from different vendors to communicate seamlessly.</a:t>
            </a:r>
          </a:p>
        </p:txBody>
      </p:sp>
      <p:sp>
        <p:nvSpPr>
          <p:cNvPr id="17" name="Text Placeholder 5">
            <a:extLst>
              <a:ext uri="{FF2B5EF4-FFF2-40B4-BE49-F238E27FC236}">
                <a16:creationId xmlns:a16="http://schemas.microsoft.com/office/drawing/2014/main" id="{29C05086-4364-581A-D476-425ECD2BE832}"/>
              </a:ext>
            </a:extLst>
          </p:cNvPr>
          <p:cNvSpPr>
            <a:spLocks noGrp="1"/>
          </p:cNvSpPr>
          <p:nvPr>
            <p:ph type="body" sz="quarter" idx="17"/>
          </p:nvPr>
        </p:nvSpPr>
        <p:spPr>
          <a:xfrm>
            <a:off x="2166938" y="4210049"/>
            <a:ext cx="9768874" cy="2039112"/>
          </a:xfrm>
        </p:spPr>
        <p:txBody>
          <a:bodyPr>
            <a:normAutofit/>
          </a:bodyPr>
          <a:lstStyle/>
          <a:p>
            <a:r>
              <a:rPr lang="en-US" dirty="0"/>
              <a:t>is middleware that facilitates communication in networked applications.</a:t>
            </a:r>
          </a:p>
        </p:txBody>
      </p:sp>
      <p:pic>
        <p:nvPicPr>
          <p:cNvPr id="6" name="Picture Placeholder 5">
            <a:extLst>
              <a:ext uri="{FF2B5EF4-FFF2-40B4-BE49-F238E27FC236}">
                <a16:creationId xmlns:a16="http://schemas.microsoft.com/office/drawing/2014/main" id="{A5AEB3D3-BF72-F994-18B7-08A5454BA11B}"/>
              </a:ext>
            </a:extLst>
          </p:cNvPr>
          <p:cNvPicPr>
            <a:picLocks noGrp="1" noChangeAspect="1"/>
          </p:cNvPicPr>
          <p:nvPr>
            <p:ph type="pic" sz="quarter" idx="13"/>
          </p:nvPr>
        </p:nvPicPr>
        <p:blipFill>
          <a:blip r:embed="rId3"/>
          <a:srcRect l="1962" t="-7" r="1335" b="7"/>
          <a:stretch>
            <a:fillRect/>
          </a:stretch>
        </p:blipFill>
        <p:spPr>
          <a:xfrm>
            <a:off x="11935812" y="3646845"/>
            <a:ext cx="12034531" cy="7502013"/>
          </a:xfrm>
          <a:prstGeom prst="rect">
            <a:avLst/>
          </a:prstGeom>
        </p:spPr>
      </p:pic>
    </p:spTree>
    <p:extLst>
      <p:ext uri="{BB962C8B-B14F-4D97-AF65-F5344CB8AC3E}">
        <p14:creationId xmlns:p14="http://schemas.microsoft.com/office/powerpoint/2010/main" val="414131878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2E827-D90F-4E04-38F3-8643C6193FC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18784B1-E629-3B0C-9F7A-432B7F881751}"/>
              </a:ext>
            </a:extLst>
          </p:cNvPr>
          <p:cNvSpPr>
            <a:spLocks noGrp="1"/>
          </p:cNvSpPr>
          <p:nvPr>
            <p:ph type="title"/>
          </p:nvPr>
        </p:nvSpPr>
        <p:spPr>
          <a:xfrm>
            <a:off x="2167377" y="1871164"/>
            <a:ext cx="14715569" cy="511175"/>
          </a:xfrm>
        </p:spPr>
        <p:txBody>
          <a:bodyPr>
            <a:normAutofit/>
          </a:bodyPr>
          <a:lstStyle/>
          <a:p>
            <a:r>
              <a:rPr lang="en-US" sz="3200" dirty="0"/>
              <a:t>protocols</a:t>
            </a:r>
          </a:p>
        </p:txBody>
      </p:sp>
      <p:sp>
        <p:nvSpPr>
          <p:cNvPr id="13" name="Text Placeholder 2">
            <a:extLst>
              <a:ext uri="{FF2B5EF4-FFF2-40B4-BE49-F238E27FC236}">
                <a16:creationId xmlns:a16="http://schemas.microsoft.com/office/drawing/2014/main" id="{DC113321-C14D-63CC-203A-A7F90412ED73}"/>
              </a:ext>
            </a:extLst>
          </p:cNvPr>
          <p:cNvSpPr>
            <a:spLocks noGrp="1"/>
          </p:cNvSpPr>
          <p:nvPr>
            <p:ph type="body" sz="quarter" idx="10"/>
          </p:nvPr>
        </p:nvSpPr>
        <p:spPr>
          <a:xfrm>
            <a:off x="2167377" y="2419728"/>
            <a:ext cx="9768875" cy="803546"/>
          </a:xfrm>
        </p:spPr>
        <p:txBody>
          <a:bodyPr>
            <a:normAutofit fontScale="92500" lnSpcReduction="20000"/>
          </a:bodyPr>
          <a:lstStyle/>
          <a:p>
            <a:r>
              <a:rPr lang="en-US" dirty="0"/>
              <a:t>Common Object request broker architecture (</a:t>
            </a:r>
            <a:r>
              <a:rPr lang="en-US" dirty="0" err="1"/>
              <a:t>cORBa</a:t>
            </a:r>
            <a:r>
              <a:rPr lang="en-US" dirty="0"/>
              <a:t>)</a:t>
            </a:r>
          </a:p>
        </p:txBody>
      </p:sp>
      <p:sp>
        <p:nvSpPr>
          <p:cNvPr id="15" name="Text Placeholder 3">
            <a:extLst>
              <a:ext uri="{FF2B5EF4-FFF2-40B4-BE49-F238E27FC236}">
                <a16:creationId xmlns:a16="http://schemas.microsoft.com/office/drawing/2014/main" id="{F2C61FC8-FBF1-9E32-A64B-9C7569A87DFF}"/>
              </a:ext>
            </a:extLst>
          </p:cNvPr>
          <p:cNvSpPr>
            <a:spLocks noGrp="1"/>
          </p:cNvSpPr>
          <p:nvPr>
            <p:ph type="body" sz="quarter" idx="16"/>
          </p:nvPr>
        </p:nvSpPr>
        <p:spPr>
          <a:xfrm>
            <a:off x="2167377" y="6556917"/>
            <a:ext cx="9768906" cy="5575610"/>
          </a:xfrm>
        </p:spPr>
        <p:txBody>
          <a:bodyPr/>
          <a:lstStyle/>
          <a:p>
            <a:pPr algn="just"/>
            <a:r>
              <a:rPr lang="en-US" dirty="0"/>
              <a:t>Cobra relies on the </a:t>
            </a:r>
            <a:r>
              <a:rPr lang="en-US" b="1" dirty="0"/>
              <a:t>Interface Definition Language (IDL)</a:t>
            </a:r>
            <a:r>
              <a:rPr lang="en-US" dirty="0"/>
              <a:t> to specify object interfaces</a:t>
            </a:r>
          </a:p>
          <a:p>
            <a:pPr algn="just"/>
            <a:r>
              <a:rPr lang="en-US" dirty="0"/>
              <a:t>An IDL representation is then mapped to the set of programming languages including: C, C++, Java, Smalltalk, Ruby, Lisp, and Python. Networked applications pass CORBA by reference and pass data by value.</a:t>
            </a:r>
          </a:p>
        </p:txBody>
      </p:sp>
      <p:sp>
        <p:nvSpPr>
          <p:cNvPr id="17" name="Text Placeholder 5">
            <a:extLst>
              <a:ext uri="{FF2B5EF4-FFF2-40B4-BE49-F238E27FC236}">
                <a16:creationId xmlns:a16="http://schemas.microsoft.com/office/drawing/2014/main" id="{DADA0157-13D9-F564-EB25-9FD328E0ACB0}"/>
              </a:ext>
            </a:extLst>
          </p:cNvPr>
          <p:cNvSpPr>
            <a:spLocks noGrp="1"/>
          </p:cNvSpPr>
          <p:nvPr>
            <p:ph type="body" sz="quarter" idx="17"/>
          </p:nvPr>
        </p:nvSpPr>
        <p:spPr>
          <a:xfrm>
            <a:off x="2166938" y="4210049"/>
            <a:ext cx="9768874" cy="2039112"/>
          </a:xfrm>
        </p:spPr>
        <p:txBody>
          <a:bodyPr>
            <a:normAutofit/>
          </a:bodyPr>
          <a:lstStyle/>
          <a:p>
            <a:r>
              <a:rPr lang="en-US" dirty="0"/>
              <a:t>Enabled networked applications using different languages/architectures to work together.</a:t>
            </a:r>
          </a:p>
        </p:txBody>
      </p:sp>
      <p:pic>
        <p:nvPicPr>
          <p:cNvPr id="6" name="Picture Placeholder 5">
            <a:extLst>
              <a:ext uri="{FF2B5EF4-FFF2-40B4-BE49-F238E27FC236}">
                <a16:creationId xmlns:a16="http://schemas.microsoft.com/office/drawing/2014/main" id="{B707014B-9D65-387A-5CA7-B25585C9299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71" r="271" b="16884"/>
          <a:stretch>
            <a:fillRect/>
          </a:stretch>
        </p:blipFill>
        <p:spPr>
          <a:xfrm>
            <a:off x="12159343" y="3646845"/>
            <a:ext cx="12034531" cy="7502013"/>
          </a:xfrm>
          <a:prstGeom prst="rect">
            <a:avLst/>
          </a:prstGeom>
        </p:spPr>
      </p:pic>
    </p:spTree>
    <p:extLst>
      <p:ext uri="{BB962C8B-B14F-4D97-AF65-F5344CB8AC3E}">
        <p14:creationId xmlns:p14="http://schemas.microsoft.com/office/powerpoint/2010/main" val="20094833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32AE4-A1D6-97E4-73E6-6014E0A7C7F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CDB314C-6888-0563-42BD-84642B3C815B}"/>
              </a:ext>
            </a:extLst>
          </p:cNvPr>
          <p:cNvSpPr>
            <a:spLocks noGrp="1"/>
          </p:cNvSpPr>
          <p:nvPr>
            <p:ph type="title"/>
          </p:nvPr>
        </p:nvSpPr>
        <p:spPr>
          <a:xfrm>
            <a:off x="2167377" y="1871164"/>
            <a:ext cx="14715569" cy="511175"/>
          </a:xfrm>
        </p:spPr>
        <p:txBody>
          <a:bodyPr>
            <a:normAutofit/>
          </a:bodyPr>
          <a:lstStyle/>
          <a:p>
            <a:r>
              <a:rPr lang="en-US" sz="3200" dirty="0"/>
              <a:t>protocols</a:t>
            </a:r>
          </a:p>
        </p:txBody>
      </p:sp>
      <p:sp>
        <p:nvSpPr>
          <p:cNvPr id="13" name="Text Placeholder 2">
            <a:extLst>
              <a:ext uri="{FF2B5EF4-FFF2-40B4-BE49-F238E27FC236}">
                <a16:creationId xmlns:a16="http://schemas.microsoft.com/office/drawing/2014/main" id="{5D660967-5B3F-6217-809E-7E0F557FE760}"/>
              </a:ext>
            </a:extLst>
          </p:cNvPr>
          <p:cNvSpPr>
            <a:spLocks noGrp="1"/>
          </p:cNvSpPr>
          <p:nvPr>
            <p:ph type="body" sz="quarter" idx="10"/>
          </p:nvPr>
        </p:nvSpPr>
        <p:spPr>
          <a:xfrm>
            <a:off x="2167377" y="2419728"/>
            <a:ext cx="9768875" cy="803546"/>
          </a:xfrm>
        </p:spPr>
        <p:txBody>
          <a:bodyPr>
            <a:normAutofit/>
          </a:bodyPr>
          <a:lstStyle/>
          <a:p>
            <a:r>
              <a:rPr lang="en-US" dirty="0"/>
              <a:t>Simple Object Access Protocol (SOAP)</a:t>
            </a:r>
          </a:p>
        </p:txBody>
      </p:sp>
      <p:sp>
        <p:nvSpPr>
          <p:cNvPr id="15" name="Text Placeholder 3">
            <a:extLst>
              <a:ext uri="{FF2B5EF4-FFF2-40B4-BE49-F238E27FC236}">
                <a16:creationId xmlns:a16="http://schemas.microsoft.com/office/drawing/2014/main" id="{9E20E0C4-7240-47D6-3263-981EECB5BE12}"/>
              </a:ext>
            </a:extLst>
          </p:cNvPr>
          <p:cNvSpPr>
            <a:spLocks noGrp="1"/>
          </p:cNvSpPr>
          <p:nvPr>
            <p:ph type="body" sz="quarter" idx="16"/>
          </p:nvPr>
        </p:nvSpPr>
        <p:spPr>
          <a:xfrm>
            <a:off x="2167377" y="6556917"/>
            <a:ext cx="9768906" cy="5575610"/>
          </a:xfrm>
        </p:spPr>
        <p:txBody>
          <a:bodyPr/>
          <a:lstStyle/>
          <a:p>
            <a:pPr algn="just"/>
            <a:r>
              <a:rPr lang="en-US" dirty="0"/>
              <a:t>SOAP uses TCP and more recently, UDP transport protocols, but it can also be stacked above other application layer protocols such as HTTP, SMTP, or JMS. </a:t>
            </a:r>
          </a:p>
          <a:p>
            <a:pPr algn="just"/>
            <a:r>
              <a:rPr lang="en-US" dirty="0"/>
              <a:t>The processing model of SOAP is based on a network consisting of senders, receivers, intermediaries, message originators, ultimate receivers, and message paths. SOAP is an underlying layer of Web Services.</a:t>
            </a:r>
          </a:p>
        </p:txBody>
      </p:sp>
      <p:sp>
        <p:nvSpPr>
          <p:cNvPr id="17" name="Text Placeholder 5">
            <a:extLst>
              <a:ext uri="{FF2B5EF4-FFF2-40B4-BE49-F238E27FC236}">
                <a16:creationId xmlns:a16="http://schemas.microsoft.com/office/drawing/2014/main" id="{CBC3F992-D744-73F8-6C54-52EB0B0205E3}"/>
              </a:ext>
            </a:extLst>
          </p:cNvPr>
          <p:cNvSpPr>
            <a:spLocks noGrp="1"/>
          </p:cNvSpPr>
          <p:nvPr>
            <p:ph type="body" sz="quarter" idx="17"/>
          </p:nvPr>
        </p:nvSpPr>
        <p:spPr>
          <a:xfrm>
            <a:off x="2166938" y="4210049"/>
            <a:ext cx="9768874" cy="2039112"/>
          </a:xfrm>
        </p:spPr>
        <p:txBody>
          <a:bodyPr>
            <a:normAutofit/>
          </a:bodyPr>
          <a:lstStyle/>
          <a:p>
            <a:r>
              <a:rPr lang="en-US" dirty="0"/>
              <a:t>SOAP message format is based on the Extensible Markup Language (XML).</a:t>
            </a:r>
          </a:p>
        </p:txBody>
      </p:sp>
      <p:pic>
        <p:nvPicPr>
          <p:cNvPr id="6" name="Picture Placeholder 5">
            <a:extLst>
              <a:ext uri="{FF2B5EF4-FFF2-40B4-BE49-F238E27FC236}">
                <a16:creationId xmlns:a16="http://schemas.microsoft.com/office/drawing/2014/main" id="{D7DF7ACA-29CC-56AD-D337-321E40051B7C}"/>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67" t="12332" r="2343" b="5394"/>
          <a:stretch>
            <a:fillRect/>
          </a:stretch>
        </p:blipFill>
        <p:spPr>
          <a:xfrm>
            <a:off x="12192000" y="4544315"/>
            <a:ext cx="11919856" cy="5131784"/>
          </a:xfrm>
          <a:prstGeom prst="rect">
            <a:avLst/>
          </a:prstGeom>
        </p:spPr>
      </p:pic>
    </p:spTree>
    <p:extLst>
      <p:ext uri="{BB962C8B-B14F-4D97-AF65-F5344CB8AC3E}">
        <p14:creationId xmlns:p14="http://schemas.microsoft.com/office/powerpoint/2010/main" val="163848209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9E2D1-69FF-FA6D-67C3-5907ADAAB2F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CDAD86D-6CF1-AB90-9B38-975A8F609CF0}"/>
              </a:ext>
            </a:extLst>
          </p:cNvPr>
          <p:cNvSpPr>
            <a:spLocks noGrp="1"/>
          </p:cNvSpPr>
          <p:nvPr>
            <p:ph type="title"/>
          </p:nvPr>
        </p:nvSpPr>
        <p:spPr>
          <a:xfrm>
            <a:off x="2167377" y="1871164"/>
            <a:ext cx="14715569" cy="511175"/>
          </a:xfrm>
        </p:spPr>
        <p:txBody>
          <a:bodyPr>
            <a:normAutofit/>
          </a:bodyPr>
          <a:lstStyle/>
          <a:p>
            <a:r>
              <a:rPr lang="en-US" sz="3200" dirty="0"/>
              <a:t>protocols</a:t>
            </a:r>
          </a:p>
        </p:txBody>
      </p:sp>
      <p:sp>
        <p:nvSpPr>
          <p:cNvPr id="13" name="Text Placeholder 2">
            <a:extLst>
              <a:ext uri="{FF2B5EF4-FFF2-40B4-BE49-F238E27FC236}">
                <a16:creationId xmlns:a16="http://schemas.microsoft.com/office/drawing/2014/main" id="{7E345456-A432-1E73-CF8A-0998E71A9958}"/>
              </a:ext>
            </a:extLst>
          </p:cNvPr>
          <p:cNvSpPr>
            <a:spLocks noGrp="1"/>
          </p:cNvSpPr>
          <p:nvPr>
            <p:ph type="body" sz="quarter" idx="10"/>
          </p:nvPr>
        </p:nvSpPr>
        <p:spPr>
          <a:xfrm>
            <a:off x="2167377" y="2419728"/>
            <a:ext cx="9768875" cy="803546"/>
          </a:xfrm>
        </p:spPr>
        <p:txBody>
          <a:bodyPr>
            <a:normAutofit fontScale="92500"/>
          </a:bodyPr>
          <a:lstStyle/>
          <a:p>
            <a:r>
              <a:rPr lang="en-US" dirty="0"/>
              <a:t>Web Services Description Language (WSDL)</a:t>
            </a:r>
          </a:p>
        </p:txBody>
      </p:sp>
      <p:sp>
        <p:nvSpPr>
          <p:cNvPr id="15" name="Text Placeholder 3">
            <a:extLst>
              <a:ext uri="{FF2B5EF4-FFF2-40B4-BE49-F238E27FC236}">
                <a16:creationId xmlns:a16="http://schemas.microsoft.com/office/drawing/2014/main" id="{18CD7368-95BA-314C-AEA1-6CD6819870C2}"/>
              </a:ext>
            </a:extLst>
          </p:cNvPr>
          <p:cNvSpPr>
            <a:spLocks noGrp="1"/>
          </p:cNvSpPr>
          <p:nvPr>
            <p:ph type="body" sz="quarter" idx="16"/>
          </p:nvPr>
        </p:nvSpPr>
        <p:spPr>
          <a:xfrm>
            <a:off x="2167377" y="6556917"/>
            <a:ext cx="9768906" cy="5575610"/>
          </a:xfrm>
        </p:spPr>
        <p:txBody>
          <a:bodyPr/>
          <a:lstStyle/>
          <a:p>
            <a:pPr algn="just"/>
            <a:r>
              <a:rPr lang="en-US" dirty="0"/>
              <a:t>SOAP uses TCP and more recently, UDP transport protocols, but it can also be stacked above other application layer protocols such as HTTP, SMTP, or JMS. </a:t>
            </a:r>
          </a:p>
          <a:p>
            <a:pPr algn="just"/>
            <a:r>
              <a:rPr lang="en-US" dirty="0"/>
              <a:t>The processing model of SOAP is based on a network consisting of senders, receivers, intermediaries, message originators, ultimate receivers, and message paths. SOAP is an underlying layer of Web Services.</a:t>
            </a:r>
          </a:p>
        </p:txBody>
      </p:sp>
      <p:sp>
        <p:nvSpPr>
          <p:cNvPr id="17" name="Text Placeholder 5">
            <a:extLst>
              <a:ext uri="{FF2B5EF4-FFF2-40B4-BE49-F238E27FC236}">
                <a16:creationId xmlns:a16="http://schemas.microsoft.com/office/drawing/2014/main" id="{4EA5C099-83A5-1AC8-C266-15F4A0A20637}"/>
              </a:ext>
            </a:extLst>
          </p:cNvPr>
          <p:cNvSpPr>
            <a:spLocks noGrp="1"/>
          </p:cNvSpPr>
          <p:nvPr>
            <p:ph type="body" sz="quarter" idx="17"/>
          </p:nvPr>
        </p:nvSpPr>
        <p:spPr>
          <a:xfrm>
            <a:off x="2166938" y="4210049"/>
            <a:ext cx="9768874" cy="2039112"/>
          </a:xfrm>
        </p:spPr>
        <p:txBody>
          <a:bodyPr>
            <a:normAutofit/>
          </a:bodyPr>
          <a:lstStyle/>
          <a:p>
            <a:r>
              <a:rPr lang="en-US" dirty="0"/>
              <a:t>SOAP message format is based on the Extensible Markup Language (XML).</a:t>
            </a:r>
          </a:p>
        </p:txBody>
      </p:sp>
      <p:pic>
        <p:nvPicPr>
          <p:cNvPr id="4" name="Picture Placeholder 3">
            <a:extLst>
              <a:ext uri="{FF2B5EF4-FFF2-40B4-BE49-F238E27FC236}">
                <a16:creationId xmlns:a16="http://schemas.microsoft.com/office/drawing/2014/main" id="{50F1F0EF-680A-130F-9290-F8518C2F962B}"/>
              </a:ext>
            </a:extLst>
          </p:cNvPr>
          <p:cNvPicPr>
            <a:picLocks noGrp="1" noChangeAspect="1"/>
          </p:cNvPicPr>
          <p:nvPr>
            <p:ph type="pic" sz="quarter" idx="13"/>
          </p:nvPr>
        </p:nvPicPr>
        <p:blipFill>
          <a:blip r:embed="rId3"/>
          <a:srcRect l="24838" t="-213" r="8501" b="1160"/>
          <a:stretch>
            <a:fillRect/>
          </a:stretch>
        </p:blipFill>
        <p:spPr>
          <a:xfrm>
            <a:off x="14599921" y="3223274"/>
            <a:ext cx="6065520" cy="9761206"/>
          </a:xfrm>
          <a:prstGeom prst="rect">
            <a:avLst/>
          </a:prstGeom>
        </p:spPr>
      </p:pic>
    </p:spTree>
    <p:extLst>
      <p:ext uri="{BB962C8B-B14F-4D97-AF65-F5344CB8AC3E}">
        <p14:creationId xmlns:p14="http://schemas.microsoft.com/office/powerpoint/2010/main" val="55956608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90A9F-7B88-4591-CC7D-A13DDA98EB8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0AB7A0A-DA5E-4CF8-1B24-90AFF399E5C9}"/>
              </a:ext>
            </a:extLst>
          </p:cNvPr>
          <p:cNvSpPr>
            <a:spLocks noGrp="1"/>
          </p:cNvSpPr>
          <p:nvPr>
            <p:ph type="title"/>
          </p:nvPr>
        </p:nvSpPr>
        <p:spPr>
          <a:xfrm>
            <a:off x="2167377" y="1871164"/>
            <a:ext cx="14715569" cy="511175"/>
          </a:xfrm>
        </p:spPr>
        <p:txBody>
          <a:bodyPr>
            <a:normAutofit/>
          </a:bodyPr>
          <a:lstStyle/>
          <a:p>
            <a:r>
              <a:rPr lang="en-US" sz="3200" dirty="0"/>
              <a:t>protocols</a:t>
            </a:r>
          </a:p>
        </p:txBody>
      </p:sp>
      <p:sp>
        <p:nvSpPr>
          <p:cNvPr id="13" name="Text Placeholder 2">
            <a:extLst>
              <a:ext uri="{FF2B5EF4-FFF2-40B4-BE49-F238E27FC236}">
                <a16:creationId xmlns:a16="http://schemas.microsoft.com/office/drawing/2014/main" id="{91F73D4F-20BA-316B-2A2A-393F8054EA03}"/>
              </a:ext>
            </a:extLst>
          </p:cNvPr>
          <p:cNvSpPr>
            <a:spLocks noGrp="1"/>
          </p:cNvSpPr>
          <p:nvPr>
            <p:ph type="body" sz="quarter" idx="10"/>
          </p:nvPr>
        </p:nvSpPr>
        <p:spPr>
          <a:xfrm>
            <a:off x="2167377" y="2419728"/>
            <a:ext cx="9768875" cy="803546"/>
          </a:xfrm>
        </p:spPr>
        <p:txBody>
          <a:bodyPr>
            <a:normAutofit/>
          </a:bodyPr>
          <a:lstStyle/>
          <a:p>
            <a:r>
              <a:rPr lang="en-US" dirty="0"/>
              <a:t>Representational State Transfer (REST)</a:t>
            </a:r>
          </a:p>
        </p:txBody>
      </p:sp>
      <p:sp>
        <p:nvSpPr>
          <p:cNvPr id="15" name="Text Placeholder 3">
            <a:extLst>
              <a:ext uri="{FF2B5EF4-FFF2-40B4-BE49-F238E27FC236}">
                <a16:creationId xmlns:a16="http://schemas.microsoft.com/office/drawing/2014/main" id="{07BA2EAF-A0E9-1678-F146-FB2527004C76}"/>
              </a:ext>
            </a:extLst>
          </p:cNvPr>
          <p:cNvSpPr>
            <a:spLocks noGrp="1"/>
          </p:cNvSpPr>
          <p:nvPr>
            <p:ph type="body" sz="quarter" idx="16"/>
          </p:nvPr>
        </p:nvSpPr>
        <p:spPr>
          <a:xfrm>
            <a:off x="2167377" y="6556917"/>
            <a:ext cx="9768906" cy="5575610"/>
          </a:xfrm>
        </p:spPr>
        <p:txBody>
          <a:bodyPr/>
          <a:lstStyle/>
          <a:p>
            <a:r>
              <a:rPr lang="en-US" dirty="0"/>
              <a:t>It is platform- and language-independent, supports data caching, and primarily uses </a:t>
            </a:r>
            <a:r>
              <a:rPr lang="en-US" b="1" dirty="0"/>
              <a:t>HTTP</a:t>
            </a:r>
            <a:r>
              <a:rPr lang="en-US" dirty="0"/>
              <a:t> for CRUD (Create/Read/Update/Delete) operations.</a:t>
            </a:r>
          </a:p>
          <a:p>
            <a:pPr algn="just"/>
            <a:r>
              <a:rPr lang="en-US" dirty="0"/>
              <a:t>REST almost always uses HTTP for all four CRUD (Create/Read/Update/Delete) operations; it uses GET, PUT, and DELETE to read, write, and delete the data, respectively.</a:t>
            </a:r>
          </a:p>
          <a:p>
            <a:pPr algn="just"/>
            <a:r>
              <a:rPr lang="en-US" dirty="0"/>
              <a:t>REST is an easier to use alternative to RPC, CORBA, or web services such as SOAP or WSDL.</a:t>
            </a:r>
          </a:p>
          <a:p>
            <a:endParaRPr lang="en-US" b="1" dirty="0"/>
          </a:p>
          <a:p>
            <a:endParaRPr lang="en-US" b="1" dirty="0"/>
          </a:p>
        </p:txBody>
      </p:sp>
      <p:sp>
        <p:nvSpPr>
          <p:cNvPr id="17" name="Text Placeholder 5">
            <a:extLst>
              <a:ext uri="{FF2B5EF4-FFF2-40B4-BE49-F238E27FC236}">
                <a16:creationId xmlns:a16="http://schemas.microsoft.com/office/drawing/2014/main" id="{F353AA45-8DA0-6B36-A946-C0193FB8C2D2}"/>
              </a:ext>
            </a:extLst>
          </p:cNvPr>
          <p:cNvSpPr>
            <a:spLocks noGrp="1"/>
          </p:cNvSpPr>
          <p:nvPr>
            <p:ph type="body" sz="quarter" idx="17"/>
          </p:nvPr>
        </p:nvSpPr>
        <p:spPr>
          <a:xfrm>
            <a:off x="2166938" y="4210049"/>
            <a:ext cx="9768874" cy="2039112"/>
          </a:xfrm>
        </p:spPr>
        <p:txBody>
          <a:bodyPr>
            <a:normAutofit/>
          </a:bodyPr>
          <a:lstStyle/>
          <a:p>
            <a:r>
              <a:rPr lang="en-US" dirty="0"/>
              <a:t>a simpler software architecture for distributed hypermedia systems using stateless servers.</a:t>
            </a:r>
          </a:p>
        </p:txBody>
      </p:sp>
      <p:pic>
        <p:nvPicPr>
          <p:cNvPr id="6" name="Picture Placeholder 5">
            <a:extLst>
              <a:ext uri="{FF2B5EF4-FFF2-40B4-BE49-F238E27FC236}">
                <a16:creationId xmlns:a16="http://schemas.microsoft.com/office/drawing/2014/main" id="{A2B80DE9-2A9C-7CA1-C6D6-77B1949CD63F}"/>
              </a:ext>
            </a:extLst>
          </p:cNvPr>
          <p:cNvPicPr>
            <a:picLocks noGrp="1" noChangeAspect="1"/>
          </p:cNvPicPr>
          <p:nvPr>
            <p:ph type="pic" sz="quarter" idx="13"/>
          </p:nvPr>
        </p:nvPicPr>
        <p:blipFill>
          <a:blip r:embed="rId3"/>
          <a:srcRect l="3703" r="3262"/>
          <a:stretch>
            <a:fillRect/>
          </a:stretch>
        </p:blipFill>
        <p:spPr>
          <a:xfrm>
            <a:off x="12364348" y="4876800"/>
            <a:ext cx="11928211" cy="5317666"/>
          </a:xfrm>
          <a:prstGeom prst="rect">
            <a:avLst/>
          </a:prstGeom>
        </p:spPr>
      </p:pic>
    </p:spTree>
    <p:extLst>
      <p:ext uri="{BB962C8B-B14F-4D97-AF65-F5344CB8AC3E}">
        <p14:creationId xmlns:p14="http://schemas.microsoft.com/office/powerpoint/2010/main" val="41789043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0B5B3-5AED-66FE-8690-3B317998788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FF49CB6-597B-D399-C88B-8D3527EEA8BD}"/>
              </a:ext>
            </a:extLst>
          </p:cNvPr>
          <p:cNvSpPr>
            <a:spLocks noGrp="1"/>
          </p:cNvSpPr>
          <p:nvPr>
            <p:ph type="title"/>
          </p:nvPr>
        </p:nvSpPr>
        <p:spPr/>
        <p:txBody>
          <a:bodyPr/>
          <a:lstStyle/>
          <a:p>
            <a:r>
              <a:rPr lang="en-US" dirty="0"/>
              <a:t>Workflow patterns</a:t>
            </a:r>
          </a:p>
        </p:txBody>
      </p:sp>
    </p:spTree>
    <p:extLst>
      <p:ext uri="{BB962C8B-B14F-4D97-AF65-F5344CB8AC3E}">
        <p14:creationId xmlns:p14="http://schemas.microsoft.com/office/powerpoint/2010/main" val="275335500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E871A-C1C5-9C79-D26A-69C12AB4F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1279C-50C1-36DE-AFCD-CEC7B971227E}"/>
              </a:ext>
            </a:extLst>
          </p:cNvPr>
          <p:cNvSpPr>
            <a:spLocks noGrp="1"/>
          </p:cNvSpPr>
          <p:nvPr>
            <p:ph type="title"/>
          </p:nvPr>
        </p:nvSpPr>
        <p:spPr/>
        <p:txBody>
          <a:bodyPr>
            <a:normAutofit fontScale="90000"/>
          </a:bodyPr>
          <a:lstStyle/>
          <a:p>
            <a:r>
              <a:rPr lang="en-US" dirty="0"/>
              <a:t>Workflow pattern</a:t>
            </a:r>
          </a:p>
        </p:txBody>
      </p:sp>
      <p:sp>
        <p:nvSpPr>
          <p:cNvPr id="3" name="Text Placeholder 2">
            <a:extLst>
              <a:ext uri="{FF2B5EF4-FFF2-40B4-BE49-F238E27FC236}">
                <a16:creationId xmlns:a16="http://schemas.microsoft.com/office/drawing/2014/main" id="{03C87752-801E-D074-2C3A-D7740489801C}"/>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30C52733-B2C0-6E24-9E91-C35885D6BDD8}"/>
              </a:ext>
            </a:extLst>
          </p:cNvPr>
          <p:cNvSpPr>
            <a:spLocks noGrp="1"/>
          </p:cNvSpPr>
          <p:nvPr>
            <p:ph sz="quarter" idx="11"/>
          </p:nvPr>
        </p:nvSpPr>
        <p:spPr/>
        <p:txBody>
          <a:bodyPr>
            <a:normAutofit/>
          </a:bodyPr>
          <a:lstStyle/>
          <a:p>
            <a:pPr algn="just"/>
            <a:r>
              <a:rPr lang="en-US" sz="3200" dirty="0"/>
              <a:t>The term workflow pattern refers to the temporal relationships among the tasks of a process. The workflow description languages and the mechanisms to control the enactment of a case must have provisions to support these temporal relationships.</a:t>
            </a:r>
          </a:p>
          <a:p>
            <a:pPr algn="just"/>
            <a:r>
              <a:rPr lang="en-US" sz="3200" dirty="0"/>
              <a:t>The patterns of workflow are classified in several categories: basic, advanced branching and synchronization, structural, state-based, cancelation, and patterns involving multiple instances.</a:t>
            </a:r>
          </a:p>
        </p:txBody>
      </p:sp>
    </p:spTree>
    <p:extLst>
      <p:ext uri="{BB962C8B-B14F-4D97-AF65-F5344CB8AC3E}">
        <p14:creationId xmlns:p14="http://schemas.microsoft.com/office/powerpoint/2010/main" val="43771269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7D3E-27B5-FEC8-B70A-348669D35007}"/>
              </a:ext>
            </a:extLst>
          </p:cNvPr>
          <p:cNvSpPr>
            <a:spLocks noGrp="1"/>
          </p:cNvSpPr>
          <p:nvPr>
            <p:ph type="title"/>
          </p:nvPr>
        </p:nvSpPr>
        <p:spPr/>
        <p:txBody>
          <a:bodyPr>
            <a:normAutofit fontScale="90000"/>
          </a:bodyPr>
          <a:lstStyle/>
          <a:p>
            <a:r>
              <a:rPr lang="en-US" dirty="0"/>
              <a:t>Workflow patterns</a:t>
            </a:r>
          </a:p>
        </p:txBody>
      </p:sp>
      <p:sp>
        <p:nvSpPr>
          <p:cNvPr id="3" name="Text Placeholder 2">
            <a:extLst>
              <a:ext uri="{FF2B5EF4-FFF2-40B4-BE49-F238E27FC236}">
                <a16:creationId xmlns:a16="http://schemas.microsoft.com/office/drawing/2014/main" id="{91292EEC-A3B9-7F47-D16F-CF4AECCBDCD9}"/>
              </a:ext>
            </a:extLst>
          </p:cNvPr>
          <p:cNvSpPr>
            <a:spLocks noGrp="1"/>
          </p:cNvSpPr>
          <p:nvPr>
            <p:ph type="body" sz="quarter" idx="10"/>
          </p:nvPr>
        </p:nvSpPr>
        <p:spPr/>
        <p:txBody>
          <a:bodyPr/>
          <a:lstStyle/>
          <a:p>
            <a:r>
              <a:rPr lang="en-US" dirty="0"/>
              <a:t>Basic workflow pattern</a:t>
            </a:r>
          </a:p>
        </p:txBody>
      </p:sp>
      <p:sp>
        <p:nvSpPr>
          <p:cNvPr id="6" name="Content Placeholder 5">
            <a:extLst>
              <a:ext uri="{FF2B5EF4-FFF2-40B4-BE49-F238E27FC236}">
                <a16:creationId xmlns:a16="http://schemas.microsoft.com/office/drawing/2014/main" id="{EE39EADF-2F98-8E28-413F-A682FEED698F}"/>
              </a:ext>
            </a:extLst>
          </p:cNvPr>
          <p:cNvSpPr>
            <a:spLocks noGrp="1"/>
          </p:cNvSpPr>
          <p:nvPr>
            <p:ph sz="quarter" idx="11"/>
          </p:nvPr>
        </p:nvSpPr>
        <p:spPr>
          <a:xfrm>
            <a:off x="2167377" y="4064641"/>
            <a:ext cx="11182863" cy="9185168"/>
          </a:xfrm>
        </p:spPr>
        <p:txBody>
          <a:bodyPr>
            <a:normAutofit fontScale="92500" lnSpcReduction="20000"/>
          </a:bodyPr>
          <a:lstStyle/>
          <a:p>
            <a:r>
              <a:rPr lang="en-US" dirty="0"/>
              <a:t>Basic workflow patterns. </a:t>
            </a:r>
          </a:p>
          <a:p>
            <a:pPr marL="514350" indent="-514350">
              <a:buFont typeface="+mj-lt"/>
              <a:buAutoNum type="alphaLcParenR"/>
            </a:pPr>
            <a:r>
              <a:rPr lang="en-US" dirty="0"/>
              <a:t>Sequence; </a:t>
            </a:r>
          </a:p>
          <a:p>
            <a:pPr marL="514350" indent="-514350">
              <a:buFont typeface="+mj-lt"/>
              <a:buAutoNum type="alphaLcParenR"/>
            </a:pPr>
            <a:r>
              <a:rPr lang="en-US" dirty="0"/>
              <a:t>AND split; </a:t>
            </a:r>
          </a:p>
          <a:p>
            <a:pPr marL="514350" indent="-514350">
              <a:buFont typeface="+mj-lt"/>
              <a:buAutoNum type="alphaLcParenR"/>
            </a:pPr>
            <a:r>
              <a:rPr lang="en-US" dirty="0"/>
              <a:t>Synchronization; </a:t>
            </a:r>
          </a:p>
          <a:p>
            <a:pPr marL="514350" indent="-514350">
              <a:buFont typeface="+mj-lt"/>
              <a:buAutoNum type="alphaLcParenR"/>
            </a:pPr>
            <a:r>
              <a:rPr lang="en-US" dirty="0"/>
              <a:t>XOR split; </a:t>
            </a:r>
          </a:p>
          <a:p>
            <a:pPr marL="514350" indent="-514350">
              <a:buFont typeface="+mj-lt"/>
              <a:buAutoNum type="alphaLcParenR"/>
            </a:pPr>
            <a:r>
              <a:rPr lang="en-US" dirty="0"/>
              <a:t>XOR merge; </a:t>
            </a:r>
          </a:p>
          <a:p>
            <a:pPr marL="514350" indent="-514350">
              <a:buFont typeface="+mj-lt"/>
              <a:buAutoNum type="alphaLcParenR"/>
            </a:pPr>
            <a:r>
              <a:rPr lang="en-US" dirty="0"/>
              <a:t>OR split; </a:t>
            </a:r>
          </a:p>
          <a:p>
            <a:pPr marL="514350" indent="-514350">
              <a:buFont typeface="+mj-lt"/>
              <a:buAutoNum type="alphaLcParenR"/>
            </a:pPr>
            <a:r>
              <a:rPr lang="en-US" dirty="0"/>
              <a:t>Multiple Merge; </a:t>
            </a:r>
          </a:p>
          <a:p>
            <a:pPr marL="514350" indent="-514350">
              <a:buFont typeface="+mj-lt"/>
              <a:buAutoNum type="alphaLcParenR"/>
            </a:pPr>
            <a:r>
              <a:rPr lang="en-US" dirty="0"/>
              <a:t>Discriminator; </a:t>
            </a:r>
          </a:p>
          <a:p>
            <a:pPr marL="514350" indent="-514350">
              <a:buFont typeface="+mj-lt"/>
              <a:buAutoNum type="alphaLcParenR"/>
            </a:pPr>
            <a:r>
              <a:rPr lang="en-US" dirty="0"/>
              <a:t>N out of M join; </a:t>
            </a:r>
          </a:p>
          <a:p>
            <a:pPr marL="514350" indent="-514350">
              <a:buFont typeface="+mj-lt"/>
              <a:buAutoNum type="alphaLcParenR"/>
            </a:pPr>
            <a:r>
              <a:rPr lang="en-US" dirty="0"/>
              <a:t>Deferred Choice.</a:t>
            </a:r>
          </a:p>
          <a:p>
            <a:endParaRPr lang="en-US" dirty="0"/>
          </a:p>
        </p:txBody>
      </p:sp>
      <p:pic>
        <p:nvPicPr>
          <p:cNvPr id="7" name="Content Placeholder 5">
            <a:extLst>
              <a:ext uri="{FF2B5EF4-FFF2-40B4-BE49-F238E27FC236}">
                <a16:creationId xmlns:a16="http://schemas.microsoft.com/office/drawing/2014/main" id="{BC95E8D5-99C5-0B78-55AC-E3D0363EF86F}"/>
              </a:ext>
            </a:extLst>
          </p:cNvPr>
          <p:cNvPicPr>
            <a:picLocks noChangeAspect="1"/>
          </p:cNvPicPr>
          <p:nvPr/>
        </p:nvPicPr>
        <p:blipFill>
          <a:blip r:embed="rId3"/>
          <a:stretch>
            <a:fillRect/>
          </a:stretch>
        </p:blipFill>
        <p:spPr>
          <a:xfrm>
            <a:off x="13972576" y="2834640"/>
            <a:ext cx="8790517" cy="10415169"/>
          </a:xfrm>
          <a:prstGeom prst="rect">
            <a:avLst/>
          </a:prstGeom>
        </p:spPr>
      </p:pic>
    </p:spTree>
    <p:extLst>
      <p:ext uri="{BB962C8B-B14F-4D97-AF65-F5344CB8AC3E}">
        <p14:creationId xmlns:p14="http://schemas.microsoft.com/office/powerpoint/2010/main" val="223171280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915EA-69C6-3513-D367-5298CB4D38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A186C2-DA4C-B39B-8C8F-05C349879788}"/>
              </a:ext>
            </a:extLst>
          </p:cNvPr>
          <p:cNvSpPr>
            <a:spLocks noGrp="1"/>
          </p:cNvSpPr>
          <p:nvPr>
            <p:ph type="title"/>
          </p:nvPr>
        </p:nvSpPr>
        <p:spPr/>
        <p:txBody>
          <a:bodyPr>
            <a:normAutofit fontScale="90000"/>
          </a:bodyPr>
          <a:lstStyle/>
          <a:p>
            <a:r>
              <a:rPr lang="en-US" dirty="0"/>
              <a:t>Traditional transaction-oriented system workflows</a:t>
            </a:r>
          </a:p>
        </p:txBody>
      </p:sp>
      <p:sp>
        <p:nvSpPr>
          <p:cNvPr id="3" name="Text Placeholder 2">
            <a:extLst>
              <a:ext uri="{FF2B5EF4-FFF2-40B4-BE49-F238E27FC236}">
                <a16:creationId xmlns:a16="http://schemas.microsoft.com/office/drawing/2014/main" id="{58E1FC99-10B7-3F1A-650D-81B8184F5345}"/>
              </a:ext>
            </a:extLst>
          </p:cNvPr>
          <p:cNvSpPr>
            <a:spLocks noGrp="1"/>
          </p:cNvSpPr>
          <p:nvPr>
            <p:ph type="body" sz="quarter" idx="10"/>
          </p:nvPr>
        </p:nvSpPr>
        <p:spPr/>
        <p:txBody>
          <a:bodyPr/>
          <a:lstStyle/>
          <a:p>
            <a:r>
              <a:rPr lang="en-US" dirty="0"/>
              <a:t>Vs cloud computing</a:t>
            </a:r>
          </a:p>
        </p:txBody>
      </p:sp>
      <p:sp>
        <p:nvSpPr>
          <p:cNvPr id="4" name="Content Placeholder 3">
            <a:extLst>
              <a:ext uri="{FF2B5EF4-FFF2-40B4-BE49-F238E27FC236}">
                <a16:creationId xmlns:a16="http://schemas.microsoft.com/office/drawing/2014/main" id="{A2002F4F-15BD-383B-F3F1-F5165CB2451E}"/>
              </a:ext>
            </a:extLst>
          </p:cNvPr>
          <p:cNvSpPr>
            <a:spLocks noGrp="1"/>
          </p:cNvSpPr>
          <p:nvPr>
            <p:ph sz="quarter" idx="11"/>
          </p:nvPr>
        </p:nvSpPr>
        <p:spPr/>
        <p:txBody>
          <a:bodyPr>
            <a:normAutofit lnSpcReduction="10000"/>
          </a:bodyPr>
          <a:lstStyle/>
          <a:p>
            <a:pPr algn="just"/>
            <a:r>
              <a:rPr lang="en-US" sz="3200" dirty="0"/>
              <a:t>The emphasis in a transactional model is placed on the contractual aspect of a transaction; in a workflow the enactment of a case is sometimes based on a “best-effort” model where the agents involved will do their best to attain the goal state, but there is no guarantee of success.</a:t>
            </a:r>
          </a:p>
          <a:p>
            <a:pPr algn="just"/>
            <a:r>
              <a:rPr lang="en-US" sz="3200" dirty="0"/>
              <a:t>A critical aspect of the transactional model in database applications is maintaining a consistent state of the database; a cloud is an open system; thus its state is considerably more difficult to define.</a:t>
            </a:r>
          </a:p>
        </p:txBody>
      </p:sp>
    </p:spTree>
    <p:extLst>
      <p:ext uri="{BB962C8B-B14F-4D97-AF65-F5344CB8AC3E}">
        <p14:creationId xmlns:p14="http://schemas.microsoft.com/office/powerpoint/2010/main" val="11098284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B7A87-C947-8A37-0F27-42F30AADFF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18766B-BA27-2AD3-20A0-7971D5D0556F}"/>
              </a:ext>
            </a:extLst>
          </p:cNvPr>
          <p:cNvSpPr>
            <a:spLocks noGrp="1"/>
          </p:cNvSpPr>
          <p:nvPr>
            <p:ph type="title"/>
          </p:nvPr>
        </p:nvSpPr>
        <p:spPr/>
        <p:txBody>
          <a:bodyPr>
            <a:normAutofit fontScale="90000"/>
          </a:bodyPr>
          <a:lstStyle/>
          <a:p>
            <a:r>
              <a:rPr lang="en-US" dirty="0"/>
              <a:t>Traditional transaction-oriented system workflows</a:t>
            </a:r>
          </a:p>
        </p:txBody>
      </p:sp>
      <p:sp>
        <p:nvSpPr>
          <p:cNvPr id="3" name="Text Placeholder 2">
            <a:extLst>
              <a:ext uri="{FF2B5EF4-FFF2-40B4-BE49-F238E27FC236}">
                <a16:creationId xmlns:a16="http://schemas.microsoft.com/office/drawing/2014/main" id="{E27C8D21-27ED-2B13-B6D8-B088D3CD9176}"/>
              </a:ext>
            </a:extLst>
          </p:cNvPr>
          <p:cNvSpPr>
            <a:spLocks noGrp="1"/>
          </p:cNvSpPr>
          <p:nvPr>
            <p:ph type="body" sz="quarter" idx="10"/>
          </p:nvPr>
        </p:nvSpPr>
        <p:spPr/>
        <p:txBody>
          <a:bodyPr/>
          <a:lstStyle/>
          <a:p>
            <a:r>
              <a:rPr lang="en-US" dirty="0"/>
              <a:t>Vs cloud computing</a:t>
            </a:r>
          </a:p>
        </p:txBody>
      </p:sp>
      <p:sp>
        <p:nvSpPr>
          <p:cNvPr id="4" name="Content Placeholder 3">
            <a:extLst>
              <a:ext uri="{FF2B5EF4-FFF2-40B4-BE49-F238E27FC236}">
                <a16:creationId xmlns:a16="http://schemas.microsoft.com/office/drawing/2014/main" id="{57EB6A28-8E2A-5B9B-FC53-6AC503702D10}"/>
              </a:ext>
            </a:extLst>
          </p:cNvPr>
          <p:cNvSpPr>
            <a:spLocks noGrp="1"/>
          </p:cNvSpPr>
          <p:nvPr>
            <p:ph sz="quarter" idx="11"/>
          </p:nvPr>
        </p:nvSpPr>
        <p:spPr/>
        <p:txBody>
          <a:bodyPr>
            <a:normAutofit/>
          </a:bodyPr>
          <a:lstStyle/>
          <a:p>
            <a:pPr algn="just"/>
            <a:r>
              <a:rPr lang="en-US" sz="3200" dirty="0"/>
              <a:t>Database transactions are typically short-lived; the tasks of a cloud workflow could be long lasting.</a:t>
            </a:r>
          </a:p>
          <a:p>
            <a:pPr algn="just"/>
            <a:r>
              <a:rPr lang="en-US" sz="3200" dirty="0"/>
              <a:t>A database transaction consists of a set of well-defined actions that are unlikely to be altered during the execution of the transaction. However, the process description of a cloud workflow may change during the lifetime of a case.</a:t>
            </a:r>
          </a:p>
        </p:txBody>
      </p:sp>
    </p:spTree>
    <p:extLst>
      <p:ext uri="{BB962C8B-B14F-4D97-AF65-F5344CB8AC3E}">
        <p14:creationId xmlns:p14="http://schemas.microsoft.com/office/powerpoint/2010/main" val="364559801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6B4C3-B758-F37F-891D-C99B68B411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EE852F-8F01-D0AF-CB6A-8AEBC0A0A1E3}"/>
              </a:ext>
            </a:extLst>
          </p:cNvPr>
          <p:cNvSpPr>
            <a:spLocks noGrp="1"/>
          </p:cNvSpPr>
          <p:nvPr>
            <p:ph type="title"/>
          </p:nvPr>
        </p:nvSpPr>
        <p:spPr/>
        <p:txBody>
          <a:bodyPr/>
          <a:lstStyle/>
          <a:p>
            <a:r>
              <a:rPr lang="en-US" dirty="0"/>
              <a:t>Current Cloud Applications and New Applications opportunities</a:t>
            </a:r>
          </a:p>
        </p:txBody>
      </p:sp>
    </p:spTree>
    <p:extLst>
      <p:ext uri="{BB962C8B-B14F-4D97-AF65-F5344CB8AC3E}">
        <p14:creationId xmlns:p14="http://schemas.microsoft.com/office/powerpoint/2010/main" val="48882962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5D1F1-4E20-5C41-29B0-F4F8C71E54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8559B-756E-A775-8451-3095FF1A6A2E}"/>
              </a:ext>
            </a:extLst>
          </p:cNvPr>
          <p:cNvSpPr>
            <a:spLocks noGrp="1"/>
          </p:cNvSpPr>
          <p:nvPr>
            <p:ph type="title"/>
          </p:nvPr>
        </p:nvSpPr>
        <p:spPr/>
        <p:txBody>
          <a:bodyPr>
            <a:normAutofit fontScale="90000"/>
          </a:bodyPr>
          <a:lstStyle/>
          <a:p>
            <a:r>
              <a:rPr lang="en-US" dirty="0"/>
              <a:t>Current Cloud Applications</a:t>
            </a:r>
          </a:p>
        </p:txBody>
      </p:sp>
      <p:sp>
        <p:nvSpPr>
          <p:cNvPr id="3" name="Text Placeholder 2">
            <a:extLst>
              <a:ext uri="{FF2B5EF4-FFF2-40B4-BE49-F238E27FC236}">
                <a16:creationId xmlns:a16="http://schemas.microsoft.com/office/drawing/2014/main" id="{A29C13C6-5CF3-7F4A-50B2-C2D1907DC44B}"/>
              </a:ext>
            </a:extLst>
          </p:cNvPr>
          <p:cNvSpPr>
            <a:spLocks noGrp="1"/>
          </p:cNvSpPr>
          <p:nvPr>
            <p:ph type="body" sz="quarter" idx="10"/>
          </p:nvPr>
        </p:nvSpPr>
        <p:spPr/>
        <p:txBody>
          <a:bodyPr/>
          <a:lstStyle/>
          <a:p>
            <a:r>
              <a:rPr lang="en-US" dirty="0"/>
              <a:t>Vs cloud computing</a:t>
            </a:r>
          </a:p>
        </p:txBody>
      </p:sp>
      <p:sp>
        <p:nvSpPr>
          <p:cNvPr id="4" name="Content Placeholder 3">
            <a:extLst>
              <a:ext uri="{FF2B5EF4-FFF2-40B4-BE49-F238E27FC236}">
                <a16:creationId xmlns:a16="http://schemas.microsoft.com/office/drawing/2014/main" id="{5997CD06-43D1-0942-A55E-6ACD55A3C989}"/>
              </a:ext>
            </a:extLst>
          </p:cNvPr>
          <p:cNvSpPr>
            <a:spLocks noGrp="1"/>
          </p:cNvSpPr>
          <p:nvPr>
            <p:ph sz="quarter" idx="11"/>
          </p:nvPr>
        </p:nvSpPr>
        <p:spPr/>
        <p:txBody>
          <a:bodyPr>
            <a:normAutofit/>
          </a:bodyPr>
          <a:lstStyle/>
          <a:p>
            <a:r>
              <a:rPr lang="en-US" dirty="0"/>
              <a:t>Existing cloud applications can be divided in several broad categories: </a:t>
            </a:r>
          </a:p>
          <a:p>
            <a:pPr marL="914400" lvl="1" indent="-514350">
              <a:buAutoNum type="romanLcParenBoth"/>
            </a:pPr>
            <a:r>
              <a:rPr lang="en-US" dirty="0"/>
              <a:t>processing pipelines; </a:t>
            </a:r>
          </a:p>
          <a:p>
            <a:pPr marL="914400" lvl="1" indent="-514350">
              <a:buAutoNum type="romanLcParenBoth"/>
            </a:pPr>
            <a:r>
              <a:rPr lang="en-US" dirty="0"/>
              <a:t>batch processing systems; and </a:t>
            </a:r>
          </a:p>
          <a:p>
            <a:pPr marL="914400" lvl="1" indent="-514350">
              <a:buAutoNum type="romanLcParenBoth"/>
            </a:pPr>
            <a:r>
              <a:rPr lang="en-US" dirty="0"/>
              <a:t>web applications</a:t>
            </a:r>
          </a:p>
        </p:txBody>
      </p:sp>
    </p:spTree>
    <p:extLst>
      <p:ext uri="{BB962C8B-B14F-4D97-AF65-F5344CB8AC3E}">
        <p14:creationId xmlns:p14="http://schemas.microsoft.com/office/powerpoint/2010/main" val="223921704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603D6-8C78-2917-4BA3-7ADCBDC7D222}"/>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CBAF4EF6-EB47-CE4F-387E-072E38EAD2D9}"/>
              </a:ext>
            </a:extLst>
          </p:cNvPr>
          <p:cNvSpPr>
            <a:spLocks noGrp="1"/>
          </p:cNvSpPr>
          <p:nvPr>
            <p:ph type="title"/>
          </p:nvPr>
        </p:nvSpPr>
        <p:spPr>
          <a:xfrm>
            <a:off x="2167377" y="1871164"/>
            <a:ext cx="14715569" cy="511175"/>
          </a:xfrm>
        </p:spPr>
        <p:txBody>
          <a:bodyPr>
            <a:normAutofit fontScale="90000"/>
          </a:bodyPr>
          <a:lstStyle/>
          <a:p>
            <a:r>
              <a:rPr lang="en-US" dirty="0"/>
              <a:t>Processing Pipelines</a:t>
            </a:r>
          </a:p>
        </p:txBody>
      </p:sp>
      <p:sp>
        <p:nvSpPr>
          <p:cNvPr id="16" name="Text Placeholder 2">
            <a:extLst>
              <a:ext uri="{FF2B5EF4-FFF2-40B4-BE49-F238E27FC236}">
                <a16:creationId xmlns:a16="http://schemas.microsoft.com/office/drawing/2014/main" id="{22A3FAB5-6F9B-6D39-5B77-F40A4DFDC0AD}"/>
              </a:ext>
            </a:extLst>
          </p:cNvPr>
          <p:cNvSpPr>
            <a:spLocks noGrp="1"/>
          </p:cNvSpPr>
          <p:nvPr>
            <p:ph type="body" sz="quarter" idx="10"/>
          </p:nvPr>
        </p:nvSpPr>
        <p:spPr>
          <a:xfrm>
            <a:off x="2167377" y="2419728"/>
            <a:ext cx="9768875" cy="803546"/>
          </a:xfrm>
        </p:spPr>
        <p:txBody>
          <a:bodyPr/>
          <a:lstStyle/>
          <a:p>
            <a:endParaRPr lang="en-US" dirty="0"/>
          </a:p>
        </p:txBody>
      </p:sp>
      <p:sp>
        <p:nvSpPr>
          <p:cNvPr id="18" name="Text Placeholder 3">
            <a:extLst>
              <a:ext uri="{FF2B5EF4-FFF2-40B4-BE49-F238E27FC236}">
                <a16:creationId xmlns:a16="http://schemas.microsoft.com/office/drawing/2014/main" id="{6289E3AC-8645-ABA7-CE81-6F126EC554D9}"/>
              </a:ext>
            </a:extLst>
          </p:cNvPr>
          <p:cNvSpPr>
            <a:spLocks noGrp="1"/>
          </p:cNvSpPr>
          <p:nvPr>
            <p:ph type="body" sz="quarter" idx="16"/>
          </p:nvPr>
        </p:nvSpPr>
        <p:spPr>
          <a:xfrm>
            <a:off x="2167377" y="6556917"/>
            <a:ext cx="9768906" cy="5575610"/>
          </a:xfrm>
        </p:spPr>
        <p:txBody>
          <a:bodyPr/>
          <a:lstStyle/>
          <a:p>
            <a:pPr algn="just"/>
            <a:r>
              <a:rPr lang="en-US" dirty="0"/>
              <a:t>Several types of data processing applications can be identified:</a:t>
            </a:r>
          </a:p>
          <a:p>
            <a:pPr lvl="1" algn="just">
              <a:buFontTx/>
              <a:buChar char="-"/>
            </a:pPr>
            <a:r>
              <a:rPr lang="en-US" dirty="0"/>
              <a:t>Indexing;</a:t>
            </a:r>
          </a:p>
          <a:p>
            <a:pPr lvl="1" algn="just">
              <a:buFontTx/>
              <a:buChar char="-"/>
            </a:pPr>
            <a:r>
              <a:rPr lang="en-US" dirty="0"/>
              <a:t>Data mining;</a:t>
            </a:r>
          </a:p>
          <a:p>
            <a:pPr lvl="1" algn="just">
              <a:buFontTx/>
              <a:buChar char="-"/>
            </a:pPr>
            <a:r>
              <a:rPr lang="en-US" dirty="0"/>
              <a:t>Image processing;</a:t>
            </a:r>
          </a:p>
          <a:p>
            <a:pPr lvl="1" algn="just">
              <a:buFontTx/>
              <a:buChar char="-"/>
            </a:pPr>
            <a:r>
              <a:rPr lang="en-US" dirty="0"/>
              <a:t>Video transcoding;</a:t>
            </a:r>
          </a:p>
          <a:p>
            <a:pPr lvl="1" algn="just">
              <a:buFontTx/>
              <a:buChar char="-"/>
            </a:pPr>
            <a:r>
              <a:rPr lang="en-US" dirty="0"/>
              <a:t>Document processing;</a:t>
            </a:r>
          </a:p>
        </p:txBody>
      </p:sp>
      <p:sp>
        <p:nvSpPr>
          <p:cNvPr id="20" name="Text Placeholder 5">
            <a:extLst>
              <a:ext uri="{FF2B5EF4-FFF2-40B4-BE49-F238E27FC236}">
                <a16:creationId xmlns:a16="http://schemas.microsoft.com/office/drawing/2014/main" id="{9A5DEF63-FA58-AB6A-6952-8BFA1CD652E2}"/>
              </a:ext>
            </a:extLst>
          </p:cNvPr>
          <p:cNvSpPr>
            <a:spLocks noGrp="1"/>
          </p:cNvSpPr>
          <p:nvPr>
            <p:ph type="body" sz="quarter" idx="17"/>
          </p:nvPr>
        </p:nvSpPr>
        <p:spPr>
          <a:xfrm>
            <a:off x="2166938" y="4210049"/>
            <a:ext cx="9768874" cy="2039112"/>
          </a:xfrm>
        </p:spPr>
        <p:txBody>
          <a:bodyPr>
            <a:normAutofit fontScale="85000" lnSpcReduction="10000"/>
          </a:bodyPr>
          <a:lstStyle/>
          <a:p>
            <a:pPr algn="just"/>
            <a:r>
              <a:rPr lang="en-US" dirty="0"/>
              <a:t>Processing pipelines are data-intensive and sometimes compute-intensive applications that represent a fairly large segment of applications currently running on a cloud.</a:t>
            </a:r>
          </a:p>
        </p:txBody>
      </p:sp>
      <p:pic>
        <p:nvPicPr>
          <p:cNvPr id="4" name="Picture Placeholder 3">
            <a:extLst>
              <a:ext uri="{FF2B5EF4-FFF2-40B4-BE49-F238E27FC236}">
                <a16:creationId xmlns:a16="http://schemas.microsoft.com/office/drawing/2014/main" id="{FE95B684-453E-0673-2885-46E0B585E186}"/>
              </a:ext>
            </a:extLst>
          </p:cNvPr>
          <p:cNvPicPr>
            <a:picLocks noGrp="1" noChangeAspect="1"/>
          </p:cNvPicPr>
          <p:nvPr>
            <p:ph type="pic" sz="quarter" idx="13"/>
          </p:nvPr>
        </p:nvPicPr>
        <p:blipFill>
          <a:blip r:embed="rId3"/>
          <a:srcRect l="3666" t="16105" r="3379" b="7714"/>
          <a:stretch>
            <a:fillRect/>
          </a:stretch>
        </p:blipFill>
        <p:spPr>
          <a:xfrm>
            <a:off x="12192000" y="6006464"/>
            <a:ext cx="11521440" cy="3960495"/>
          </a:xfrm>
          <a:prstGeom prst="rect">
            <a:avLst/>
          </a:prstGeom>
        </p:spPr>
      </p:pic>
    </p:spTree>
    <p:extLst>
      <p:ext uri="{BB962C8B-B14F-4D97-AF65-F5344CB8AC3E}">
        <p14:creationId xmlns:p14="http://schemas.microsoft.com/office/powerpoint/2010/main" val="2498477572"/>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254AF-8B2D-30B1-3B0B-40EF72CD6B07}"/>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372E4012-450F-FB44-3559-097E7AD7A5A7}"/>
              </a:ext>
            </a:extLst>
          </p:cNvPr>
          <p:cNvSpPr>
            <a:spLocks noGrp="1"/>
          </p:cNvSpPr>
          <p:nvPr>
            <p:ph type="title"/>
          </p:nvPr>
        </p:nvSpPr>
        <p:spPr>
          <a:xfrm>
            <a:off x="2167377" y="1871164"/>
            <a:ext cx="14715569" cy="511175"/>
          </a:xfrm>
        </p:spPr>
        <p:txBody>
          <a:bodyPr>
            <a:normAutofit fontScale="90000"/>
          </a:bodyPr>
          <a:lstStyle/>
          <a:p>
            <a:r>
              <a:rPr lang="en-US" dirty="0"/>
              <a:t>Batch Processing Systems</a:t>
            </a:r>
          </a:p>
        </p:txBody>
      </p:sp>
      <p:sp>
        <p:nvSpPr>
          <p:cNvPr id="16" name="Text Placeholder 2">
            <a:extLst>
              <a:ext uri="{FF2B5EF4-FFF2-40B4-BE49-F238E27FC236}">
                <a16:creationId xmlns:a16="http://schemas.microsoft.com/office/drawing/2014/main" id="{1B2F4148-56DC-833E-3AFF-1A8FA4800BF9}"/>
              </a:ext>
            </a:extLst>
          </p:cNvPr>
          <p:cNvSpPr>
            <a:spLocks noGrp="1"/>
          </p:cNvSpPr>
          <p:nvPr>
            <p:ph type="body" sz="quarter" idx="10"/>
          </p:nvPr>
        </p:nvSpPr>
        <p:spPr>
          <a:xfrm>
            <a:off x="2167377" y="2419728"/>
            <a:ext cx="9768875" cy="803546"/>
          </a:xfrm>
        </p:spPr>
        <p:txBody>
          <a:bodyPr/>
          <a:lstStyle/>
          <a:p>
            <a:endParaRPr lang="en-US" dirty="0"/>
          </a:p>
        </p:txBody>
      </p:sp>
      <p:sp>
        <p:nvSpPr>
          <p:cNvPr id="18" name="Text Placeholder 3">
            <a:extLst>
              <a:ext uri="{FF2B5EF4-FFF2-40B4-BE49-F238E27FC236}">
                <a16:creationId xmlns:a16="http://schemas.microsoft.com/office/drawing/2014/main" id="{4AE237D6-FB17-0278-65E3-8488DF269029}"/>
              </a:ext>
            </a:extLst>
          </p:cNvPr>
          <p:cNvSpPr>
            <a:spLocks noGrp="1"/>
          </p:cNvSpPr>
          <p:nvPr>
            <p:ph type="body" sz="quarter" idx="16"/>
          </p:nvPr>
        </p:nvSpPr>
        <p:spPr>
          <a:xfrm>
            <a:off x="2167377" y="6556917"/>
            <a:ext cx="9768906" cy="5575610"/>
          </a:xfrm>
        </p:spPr>
        <p:txBody>
          <a:bodyPr/>
          <a:lstStyle/>
          <a:p>
            <a:r>
              <a:rPr lang="en-US" dirty="0"/>
              <a:t>A </a:t>
            </a:r>
            <a:r>
              <a:rPr lang="en-US" dirty="0" err="1"/>
              <a:t>nonexhaustive</a:t>
            </a:r>
            <a:r>
              <a:rPr lang="en-US" dirty="0"/>
              <a:t> list of batch processing applications includes:</a:t>
            </a:r>
          </a:p>
          <a:p>
            <a:r>
              <a:rPr lang="en-US" dirty="0"/>
              <a:t>Generation of daily, weekly, monthly, and annual activity reports for organizations in retail, manufacturing, and other economic sectors.</a:t>
            </a:r>
          </a:p>
          <a:p>
            <a:r>
              <a:rPr lang="en-US" dirty="0"/>
              <a:t>Processing, aggregation, and summaries of daily transactions for financial institutions, insurance companies, and healthcare organizations.</a:t>
            </a:r>
          </a:p>
          <a:p>
            <a:r>
              <a:rPr lang="en-US" dirty="0"/>
              <a:t>Inventory management for large corporations.</a:t>
            </a:r>
          </a:p>
          <a:p>
            <a:r>
              <a:rPr lang="en-US" dirty="0"/>
              <a:t>Processing billing and payroll records.</a:t>
            </a:r>
          </a:p>
          <a:p>
            <a:r>
              <a:rPr lang="en-US" dirty="0"/>
              <a:t>Management of the software development, e.g., nightly updates of software repositories.</a:t>
            </a:r>
          </a:p>
        </p:txBody>
      </p:sp>
      <p:sp>
        <p:nvSpPr>
          <p:cNvPr id="20" name="Text Placeholder 5">
            <a:extLst>
              <a:ext uri="{FF2B5EF4-FFF2-40B4-BE49-F238E27FC236}">
                <a16:creationId xmlns:a16="http://schemas.microsoft.com/office/drawing/2014/main" id="{64B10EC7-EC7D-FF75-17D0-120A0C8845D7}"/>
              </a:ext>
            </a:extLst>
          </p:cNvPr>
          <p:cNvSpPr>
            <a:spLocks noGrp="1"/>
          </p:cNvSpPr>
          <p:nvPr>
            <p:ph type="body" sz="quarter" idx="17"/>
          </p:nvPr>
        </p:nvSpPr>
        <p:spPr>
          <a:xfrm>
            <a:off x="2166938" y="4210049"/>
            <a:ext cx="9768874" cy="2039112"/>
          </a:xfrm>
        </p:spPr>
        <p:txBody>
          <a:bodyPr>
            <a:normAutofit/>
          </a:bodyPr>
          <a:lstStyle/>
          <a:p>
            <a:r>
              <a:rPr lang="en-US" dirty="0"/>
              <a:t>Batch processing systems also cover a broad spectrum of data-intensive applications in enterprise computing.</a:t>
            </a:r>
          </a:p>
        </p:txBody>
      </p:sp>
      <p:pic>
        <p:nvPicPr>
          <p:cNvPr id="4" name="Picture Placeholder 3">
            <a:extLst>
              <a:ext uri="{FF2B5EF4-FFF2-40B4-BE49-F238E27FC236}">
                <a16:creationId xmlns:a16="http://schemas.microsoft.com/office/drawing/2014/main" id="{BAE31A7D-3AB6-F0F4-1172-AC78F5A13D6A}"/>
              </a:ext>
            </a:extLst>
          </p:cNvPr>
          <p:cNvPicPr>
            <a:picLocks noGrp="1" noChangeAspect="1"/>
          </p:cNvPicPr>
          <p:nvPr>
            <p:ph type="pic" sz="quarter" idx="13"/>
          </p:nvPr>
        </p:nvPicPr>
        <p:blipFill>
          <a:blip r:embed="rId2"/>
          <a:srcRect l="2850" r="4280"/>
          <a:stretch>
            <a:fillRect/>
          </a:stretch>
        </p:blipFill>
        <p:spPr>
          <a:xfrm>
            <a:off x="12192000" y="5015738"/>
            <a:ext cx="11521440" cy="6202389"/>
          </a:xfrm>
          <a:prstGeom prst="rect">
            <a:avLst/>
          </a:prstGeom>
        </p:spPr>
      </p:pic>
    </p:spTree>
    <p:extLst>
      <p:ext uri="{BB962C8B-B14F-4D97-AF65-F5344CB8AC3E}">
        <p14:creationId xmlns:p14="http://schemas.microsoft.com/office/powerpoint/2010/main" val="370091777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0BC16-64B5-76C7-0299-9827165EA71B}"/>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13E9D891-77AD-9A07-62D4-154C4443A279}"/>
              </a:ext>
            </a:extLst>
          </p:cNvPr>
          <p:cNvSpPr>
            <a:spLocks noGrp="1"/>
          </p:cNvSpPr>
          <p:nvPr>
            <p:ph type="title"/>
          </p:nvPr>
        </p:nvSpPr>
        <p:spPr/>
        <p:txBody>
          <a:bodyPr>
            <a:normAutofit fontScale="90000"/>
          </a:bodyPr>
          <a:lstStyle/>
          <a:p>
            <a:r>
              <a:rPr lang="en-US" dirty="0"/>
              <a:t>Web Applications</a:t>
            </a:r>
          </a:p>
        </p:txBody>
      </p:sp>
      <p:sp>
        <p:nvSpPr>
          <p:cNvPr id="18" name="Text Placeholder 3">
            <a:extLst>
              <a:ext uri="{FF2B5EF4-FFF2-40B4-BE49-F238E27FC236}">
                <a16:creationId xmlns:a16="http://schemas.microsoft.com/office/drawing/2014/main" id="{F78EF097-2AB9-BECC-8BF1-B2A1FB288D1B}"/>
              </a:ext>
            </a:extLst>
          </p:cNvPr>
          <p:cNvSpPr>
            <a:spLocks noGrp="1"/>
          </p:cNvSpPr>
          <p:nvPr>
            <p:ph type="body" sz="quarter" idx="10"/>
          </p:nvPr>
        </p:nvSpPr>
        <p:spPr/>
        <p:txBody>
          <a:bodyPr>
            <a:normAutofit/>
          </a:bodyPr>
          <a:lstStyle/>
          <a:p>
            <a:endParaRPr lang="en-US" dirty="0"/>
          </a:p>
        </p:txBody>
      </p:sp>
      <p:sp>
        <p:nvSpPr>
          <p:cNvPr id="20" name="Text Placeholder 5">
            <a:extLst>
              <a:ext uri="{FF2B5EF4-FFF2-40B4-BE49-F238E27FC236}">
                <a16:creationId xmlns:a16="http://schemas.microsoft.com/office/drawing/2014/main" id="{A4535F0E-85B1-44AC-98C3-D350249D2BC3}"/>
              </a:ext>
            </a:extLst>
          </p:cNvPr>
          <p:cNvSpPr>
            <a:spLocks noGrp="1"/>
          </p:cNvSpPr>
          <p:nvPr>
            <p:ph sz="quarter" idx="11"/>
          </p:nvPr>
        </p:nvSpPr>
        <p:spPr/>
        <p:txBody>
          <a:bodyPr>
            <a:normAutofit/>
          </a:bodyPr>
          <a:lstStyle/>
          <a:p>
            <a:r>
              <a:rPr lang="en-US" dirty="0"/>
              <a:t>Lastly, cloud applications in the area of web access are of increasing importance.</a:t>
            </a:r>
          </a:p>
          <a:p>
            <a:r>
              <a:rPr lang="en-US" dirty="0"/>
              <a:t>Several groups of web sites have a periodic or temporary presence, e.g., web sites for conferences or other events.</a:t>
            </a:r>
          </a:p>
          <a:p>
            <a:r>
              <a:rPr lang="en-US" dirty="0"/>
              <a:t>Other limited-time web site are used for promotional activities, or web sites that “sleep” during the night and auto-scale during the day.</a:t>
            </a:r>
          </a:p>
        </p:txBody>
      </p:sp>
    </p:spTree>
    <p:extLst>
      <p:ext uri="{BB962C8B-B14F-4D97-AF65-F5344CB8AC3E}">
        <p14:creationId xmlns:p14="http://schemas.microsoft.com/office/powerpoint/2010/main" val="3449207619"/>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C77B5-10F1-3B3C-8D57-BF781D84E5F2}"/>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EAB446E0-6F23-0403-674B-86ECF5071E24}"/>
              </a:ext>
            </a:extLst>
          </p:cNvPr>
          <p:cNvSpPr>
            <a:spLocks noGrp="1"/>
          </p:cNvSpPr>
          <p:nvPr>
            <p:ph type="title"/>
          </p:nvPr>
        </p:nvSpPr>
        <p:spPr/>
        <p:txBody>
          <a:bodyPr>
            <a:normAutofit fontScale="90000"/>
          </a:bodyPr>
          <a:lstStyle/>
          <a:p>
            <a:r>
              <a:rPr lang="en-US" dirty="0"/>
              <a:t>New Applications Opportunities</a:t>
            </a:r>
          </a:p>
        </p:txBody>
      </p:sp>
      <p:sp>
        <p:nvSpPr>
          <p:cNvPr id="18" name="Text Placeholder 3">
            <a:extLst>
              <a:ext uri="{FF2B5EF4-FFF2-40B4-BE49-F238E27FC236}">
                <a16:creationId xmlns:a16="http://schemas.microsoft.com/office/drawing/2014/main" id="{DDBB0E54-2C8A-1FE5-93BA-7C0487183CD5}"/>
              </a:ext>
            </a:extLst>
          </p:cNvPr>
          <p:cNvSpPr>
            <a:spLocks noGrp="1"/>
          </p:cNvSpPr>
          <p:nvPr>
            <p:ph type="body" sz="quarter" idx="10"/>
          </p:nvPr>
        </p:nvSpPr>
        <p:spPr/>
        <p:txBody>
          <a:bodyPr>
            <a:normAutofit/>
          </a:bodyPr>
          <a:lstStyle/>
          <a:p>
            <a:endParaRPr lang="en-US" dirty="0"/>
          </a:p>
        </p:txBody>
      </p:sp>
      <p:sp>
        <p:nvSpPr>
          <p:cNvPr id="20" name="Text Placeholder 5">
            <a:extLst>
              <a:ext uri="{FF2B5EF4-FFF2-40B4-BE49-F238E27FC236}">
                <a16:creationId xmlns:a16="http://schemas.microsoft.com/office/drawing/2014/main" id="{682CA760-E5F4-EDA2-9C70-319780A0E1D6}"/>
              </a:ext>
            </a:extLst>
          </p:cNvPr>
          <p:cNvSpPr>
            <a:spLocks noGrp="1"/>
          </p:cNvSpPr>
          <p:nvPr>
            <p:ph sz="quarter" idx="11"/>
          </p:nvPr>
        </p:nvSpPr>
        <p:spPr/>
        <p:txBody>
          <a:bodyPr>
            <a:normAutofit lnSpcReduction="10000"/>
          </a:bodyPr>
          <a:lstStyle/>
          <a:p>
            <a:pPr algn="just"/>
            <a:r>
              <a:rPr lang="en-US" dirty="0"/>
              <a:t>Another class of new applications could be parallel batch processing based on programming abstractions such as MapReduce. </a:t>
            </a:r>
          </a:p>
          <a:p>
            <a:pPr algn="just"/>
            <a:r>
              <a:rPr lang="en-US" dirty="0"/>
              <a:t>Mobile interactive applications that process large volumes of data from different types of sensors and services that combine more than one data source, e.g., mashups, are obvious candidates for cloud computing.</a:t>
            </a:r>
          </a:p>
          <a:p>
            <a:pPr algn="just"/>
            <a:r>
              <a:rPr lang="en-US" dirty="0"/>
              <a:t>Science and engineering could benefit from cloud computing as many applications are compute- and data-intensive. Similarly, a cloud dedicated to education would be extremely useful. Mathematical software, e.g., MATLAB® and Mathematica, could also run on the cloud.</a:t>
            </a:r>
          </a:p>
        </p:txBody>
      </p:sp>
    </p:spTree>
    <p:extLst>
      <p:ext uri="{BB962C8B-B14F-4D97-AF65-F5344CB8AC3E}">
        <p14:creationId xmlns:p14="http://schemas.microsoft.com/office/powerpoint/2010/main" val="3375247285"/>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8B7BB-26BA-CA24-B035-709FF09059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1F93C0-9E23-576A-A7B3-427CD034842A}"/>
              </a:ext>
            </a:extLst>
          </p:cNvPr>
          <p:cNvSpPr>
            <a:spLocks noGrp="1"/>
          </p:cNvSpPr>
          <p:nvPr>
            <p:ph type="title"/>
          </p:nvPr>
        </p:nvSpPr>
        <p:spPr/>
        <p:txBody>
          <a:bodyPr/>
          <a:lstStyle/>
          <a:p>
            <a:r>
              <a:rPr lang="en-US" dirty="0"/>
              <a:t>Cloud for Science and Engineering</a:t>
            </a:r>
          </a:p>
        </p:txBody>
      </p:sp>
    </p:spTree>
    <p:extLst>
      <p:ext uri="{BB962C8B-B14F-4D97-AF65-F5344CB8AC3E}">
        <p14:creationId xmlns:p14="http://schemas.microsoft.com/office/powerpoint/2010/main" val="1211442167"/>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3CC6636-B3ED-A8F5-8CCD-92A7CD86DF91}"/>
              </a:ext>
            </a:extLst>
          </p:cNvPr>
          <p:cNvSpPr>
            <a:spLocks noGrp="1"/>
          </p:cNvSpPr>
          <p:nvPr>
            <p:ph type="title"/>
          </p:nvPr>
        </p:nvSpPr>
        <p:spPr>
          <a:xfrm>
            <a:off x="2167377" y="1871164"/>
            <a:ext cx="14715569" cy="511175"/>
          </a:xfrm>
        </p:spPr>
        <p:txBody>
          <a:bodyPr>
            <a:normAutofit/>
          </a:bodyPr>
          <a:lstStyle/>
          <a:p>
            <a:r>
              <a:rPr lang="en-US" sz="3200" dirty="0"/>
              <a:t>Cloud for science</a:t>
            </a:r>
          </a:p>
        </p:txBody>
      </p:sp>
      <p:sp>
        <p:nvSpPr>
          <p:cNvPr id="26" name="Text Placeholder 2">
            <a:extLst>
              <a:ext uri="{FF2B5EF4-FFF2-40B4-BE49-F238E27FC236}">
                <a16:creationId xmlns:a16="http://schemas.microsoft.com/office/drawing/2014/main" id="{B4993242-A94D-B325-8BD3-A4832028499B}"/>
              </a:ext>
            </a:extLst>
          </p:cNvPr>
          <p:cNvSpPr>
            <a:spLocks noGrp="1"/>
          </p:cNvSpPr>
          <p:nvPr>
            <p:ph type="body" sz="quarter" idx="10"/>
          </p:nvPr>
        </p:nvSpPr>
        <p:spPr>
          <a:xfrm>
            <a:off x="2167377" y="2419728"/>
            <a:ext cx="9768875" cy="803546"/>
          </a:xfrm>
        </p:spPr>
        <p:txBody>
          <a:bodyPr/>
          <a:lstStyle/>
          <a:p>
            <a:endParaRPr lang="en-US"/>
          </a:p>
        </p:txBody>
      </p:sp>
      <p:pic>
        <p:nvPicPr>
          <p:cNvPr id="4" name="Picture Placeholder 3">
            <a:extLst>
              <a:ext uri="{FF2B5EF4-FFF2-40B4-BE49-F238E27FC236}">
                <a16:creationId xmlns:a16="http://schemas.microsoft.com/office/drawing/2014/main" id="{A5CCB6B9-0CD9-0F39-C6FB-855F17554D64}"/>
              </a:ext>
            </a:extLst>
          </p:cNvPr>
          <p:cNvPicPr>
            <a:picLocks noGrp="1" noChangeAspect="1"/>
          </p:cNvPicPr>
          <p:nvPr>
            <p:ph type="pic" sz="quarter" idx="11"/>
          </p:nvPr>
        </p:nvPicPr>
        <p:blipFill>
          <a:blip r:embed="rId2"/>
          <a:srcRect l="7813" r="9582" b="2"/>
          <a:stretch>
            <a:fillRect/>
          </a:stretch>
        </p:blipFill>
        <p:spPr>
          <a:xfrm>
            <a:off x="2167377" y="4120517"/>
            <a:ext cx="9469197" cy="8568593"/>
          </a:xfrm>
          <a:prstGeom prst="rect">
            <a:avLst/>
          </a:prstGeom>
          <a:noFill/>
        </p:spPr>
      </p:pic>
      <p:sp>
        <p:nvSpPr>
          <p:cNvPr id="12" name="Text Placeholder 11">
            <a:extLst>
              <a:ext uri="{FF2B5EF4-FFF2-40B4-BE49-F238E27FC236}">
                <a16:creationId xmlns:a16="http://schemas.microsoft.com/office/drawing/2014/main" id="{21E24542-8940-3717-4CB7-29C332A9F69C}"/>
              </a:ext>
            </a:extLst>
          </p:cNvPr>
          <p:cNvSpPr>
            <a:spLocks noGrp="1"/>
          </p:cNvSpPr>
          <p:nvPr>
            <p:ph type="body" sz="quarter" idx="16"/>
          </p:nvPr>
        </p:nvSpPr>
        <p:spPr>
          <a:xfrm>
            <a:off x="12747867" y="6462508"/>
            <a:ext cx="8024838" cy="6226602"/>
          </a:xfrm>
        </p:spPr>
        <p:txBody>
          <a:bodyPr>
            <a:normAutofit/>
          </a:bodyPr>
          <a:lstStyle/>
          <a:p>
            <a:r>
              <a:rPr lang="en-US" sz="1800"/>
              <a:t>The generic problems in virtually all areas of science are:</a:t>
            </a:r>
          </a:p>
          <a:p>
            <a:pPr marL="857250" lvl="1" indent="-457200">
              <a:buAutoNum type="arabicParenBoth"/>
            </a:pPr>
            <a:r>
              <a:rPr lang="en-US" sz="1800"/>
              <a:t>collection of experimental data; </a:t>
            </a:r>
          </a:p>
          <a:p>
            <a:pPr marL="857250" lvl="1" indent="-457200">
              <a:buAutoNum type="arabicParenBoth"/>
            </a:pPr>
            <a:r>
              <a:rPr lang="en-US" sz="1800"/>
              <a:t>management of a very large volumes of data; </a:t>
            </a:r>
          </a:p>
          <a:p>
            <a:pPr marL="857250" lvl="1" indent="-457200">
              <a:buAutoNum type="arabicParenBoth"/>
            </a:pPr>
            <a:r>
              <a:rPr lang="en-US" sz="1800"/>
              <a:t>building and execution of models; </a:t>
            </a:r>
          </a:p>
          <a:p>
            <a:pPr marL="857250" lvl="1" indent="-457200">
              <a:buAutoNum type="arabicParenBoth"/>
            </a:pPr>
            <a:r>
              <a:rPr lang="en-US" sz="1800"/>
              <a:t>integration of data and literature; </a:t>
            </a:r>
          </a:p>
          <a:p>
            <a:pPr marL="857250" lvl="1" indent="-457200">
              <a:buAutoNum type="arabicParenBoth"/>
            </a:pPr>
            <a:r>
              <a:rPr lang="en-US" sz="1800"/>
              <a:t>documentation of the experiments; </a:t>
            </a:r>
          </a:p>
          <a:p>
            <a:pPr marL="857250" lvl="1" indent="-457200">
              <a:buAutoNum type="arabicParenBoth"/>
            </a:pPr>
            <a:r>
              <a:rPr lang="en-US" sz="1800"/>
              <a:t>sharing the data with others; and </a:t>
            </a:r>
          </a:p>
          <a:p>
            <a:pPr marL="857250" lvl="1" indent="-457200">
              <a:buAutoNum type="arabicParenBoth"/>
            </a:pPr>
            <a:r>
              <a:rPr lang="en-US" sz="1800"/>
              <a:t>data preservation for long periods of time.</a:t>
            </a:r>
          </a:p>
        </p:txBody>
      </p:sp>
      <p:sp>
        <p:nvSpPr>
          <p:cNvPr id="13" name="Text Placeholder 12">
            <a:extLst>
              <a:ext uri="{FF2B5EF4-FFF2-40B4-BE49-F238E27FC236}">
                <a16:creationId xmlns:a16="http://schemas.microsoft.com/office/drawing/2014/main" id="{FFB73AA5-EFC8-51CB-7551-A6A8A0417CAA}"/>
              </a:ext>
            </a:extLst>
          </p:cNvPr>
          <p:cNvSpPr>
            <a:spLocks noGrp="1"/>
          </p:cNvSpPr>
          <p:nvPr>
            <p:ph type="body" sz="quarter" idx="17"/>
          </p:nvPr>
        </p:nvSpPr>
        <p:spPr>
          <a:xfrm>
            <a:off x="12747428" y="4115640"/>
            <a:ext cx="8024812" cy="1968425"/>
          </a:xfrm>
        </p:spPr>
        <p:txBody>
          <a:bodyPr>
            <a:normAutofit/>
          </a:bodyPr>
          <a:lstStyle/>
          <a:p>
            <a:r>
              <a:rPr lang="en-US" sz="3100"/>
              <a:t>eScience unifies experiment, theory, and simulation; data captured from measuring instruments, or generated by simulations is processed by software systems</a:t>
            </a:r>
          </a:p>
        </p:txBody>
      </p:sp>
      <p:sp>
        <p:nvSpPr>
          <p:cNvPr id="5" name="TextBox 4">
            <a:extLst>
              <a:ext uri="{FF2B5EF4-FFF2-40B4-BE49-F238E27FC236}">
                <a16:creationId xmlns:a16="http://schemas.microsoft.com/office/drawing/2014/main" id="{A4C617A7-FF41-7991-8419-167571F3D822}"/>
              </a:ext>
            </a:extLst>
          </p:cNvPr>
          <p:cNvSpPr txBox="1"/>
          <p:nvPr/>
        </p:nvSpPr>
        <p:spPr>
          <a:xfrm>
            <a:off x="3294959" y="12779719"/>
            <a:ext cx="6734216"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err="1">
                <a:ln>
                  <a:noFill/>
                </a:ln>
                <a:solidFill>
                  <a:srgbClr val="5E5E5E"/>
                </a:solidFill>
                <a:effectLst/>
                <a:uFillTx/>
                <a:latin typeface="+mn-lt"/>
                <a:ea typeface="+mn-ea"/>
                <a:cs typeface="+mn-cs"/>
                <a:sym typeface="Helvetica Neue"/>
              </a:rPr>
              <a:t>folding@home</a:t>
            </a:r>
            <a:r>
              <a:rPr kumimoji="0" lang="en-US" sz="2400" b="0" i="0" u="none" strike="noStrike" cap="none" spc="0" normalizeH="0" baseline="0" dirty="0">
                <a:ln>
                  <a:noFill/>
                </a:ln>
                <a:solidFill>
                  <a:srgbClr val="5E5E5E"/>
                </a:solidFill>
                <a:effectLst/>
                <a:uFillTx/>
                <a:latin typeface="+mn-lt"/>
                <a:ea typeface="+mn-ea"/>
                <a:cs typeface="+mn-cs"/>
                <a:sym typeface="Helvetica Neue"/>
              </a:rPr>
              <a:t> as example of science use case</a:t>
            </a:r>
          </a:p>
        </p:txBody>
      </p:sp>
    </p:spTree>
    <p:extLst>
      <p:ext uri="{BB962C8B-B14F-4D97-AF65-F5344CB8AC3E}">
        <p14:creationId xmlns:p14="http://schemas.microsoft.com/office/powerpoint/2010/main" val="2822759292"/>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A1F37-B353-084A-9591-9D11F08073E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ED2C11E-4ACC-DEC8-64D8-4D602A53B8A4}"/>
              </a:ext>
            </a:extLst>
          </p:cNvPr>
          <p:cNvSpPr>
            <a:spLocks noGrp="1"/>
          </p:cNvSpPr>
          <p:nvPr>
            <p:ph type="title"/>
          </p:nvPr>
        </p:nvSpPr>
        <p:spPr>
          <a:xfrm>
            <a:off x="2167377" y="1871164"/>
            <a:ext cx="14715569" cy="511175"/>
          </a:xfrm>
        </p:spPr>
        <p:txBody>
          <a:bodyPr>
            <a:normAutofit/>
          </a:bodyPr>
          <a:lstStyle/>
          <a:p>
            <a:r>
              <a:rPr lang="en-US" sz="3200" dirty="0"/>
              <a:t>Cloud for science</a:t>
            </a:r>
          </a:p>
        </p:txBody>
      </p:sp>
      <p:sp>
        <p:nvSpPr>
          <p:cNvPr id="26" name="Text Placeholder 2">
            <a:extLst>
              <a:ext uri="{FF2B5EF4-FFF2-40B4-BE49-F238E27FC236}">
                <a16:creationId xmlns:a16="http://schemas.microsoft.com/office/drawing/2014/main" id="{4D747F65-F1F8-19FA-4A7A-81B7B887B13F}"/>
              </a:ext>
            </a:extLst>
          </p:cNvPr>
          <p:cNvSpPr>
            <a:spLocks noGrp="1"/>
          </p:cNvSpPr>
          <p:nvPr>
            <p:ph type="body" sz="quarter" idx="10"/>
          </p:nvPr>
        </p:nvSpPr>
        <p:spPr>
          <a:xfrm>
            <a:off x="2167377" y="2419728"/>
            <a:ext cx="9768875" cy="803546"/>
          </a:xfrm>
        </p:spPr>
        <p:txBody>
          <a:bodyPr/>
          <a:lstStyle/>
          <a:p>
            <a:endParaRPr lang="en-US"/>
          </a:p>
        </p:txBody>
      </p:sp>
      <p:pic>
        <p:nvPicPr>
          <p:cNvPr id="4" name="Picture Placeholder 3">
            <a:extLst>
              <a:ext uri="{FF2B5EF4-FFF2-40B4-BE49-F238E27FC236}">
                <a16:creationId xmlns:a16="http://schemas.microsoft.com/office/drawing/2014/main" id="{A8A0C94C-09FA-D1FF-005F-D016EA032FFE}"/>
              </a:ext>
            </a:extLst>
          </p:cNvPr>
          <p:cNvPicPr>
            <a:picLocks noGrp="1" noChangeAspect="1"/>
          </p:cNvPicPr>
          <p:nvPr>
            <p:ph type="pic" sz="quarter" idx="11"/>
          </p:nvPr>
        </p:nvPicPr>
        <p:blipFill>
          <a:blip r:embed="rId2"/>
          <a:srcRect l="7813" r="9582" b="2"/>
          <a:stretch>
            <a:fillRect/>
          </a:stretch>
        </p:blipFill>
        <p:spPr>
          <a:xfrm>
            <a:off x="2167377" y="4120517"/>
            <a:ext cx="9469197" cy="8568593"/>
          </a:xfrm>
          <a:prstGeom prst="rect">
            <a:avLst/>
          </a:prstGeom>
          <a:noFill/>
        </p:spPr>
      </p:pic>
      <p:sp>
        <p:nvSpPr>
          <p:cNvPr id="12" name="Text Placeholder 11">
            <a:extLst>
              <a:ext uri="{FF2B5EF4-FFF2-40B4-BE49-F238E27FC236}">
                <a16:creationId xmlns:a16="http://schemas.microsoft.com/office/drawing/2014/main" id="{B010EB50-BD42-FC09-2CB6-22CDD17EADDC}"/>
              </a:ext>
            </a:extLst>
          </p:cNvPr>
          <p:cNvSpPr>
            <a:spLocks noGrp="1"/>
          </p:cNvSpPr>
          <p:nvPr>
            <p:ph type="body" sz="quarter" idx="16"/>
          </p:nvPr>
        </p:nvSpPr>
        <p:spPr>
          <a:xfrm>
            <a:off x="12747867" y="6462508"/>
            <a:ext cx="8024838" cy="6226602"/>
          </a:xfrm>
        </p:spPr>
        <p:txBody>
          <a:bodyPr>
            <a:normAutofit/>
          </a:bodyPr>
          <a:lstStyle/>
          <a:p>
            <a:r>
              <a:rPr lang="en-US" dirty="0"/>
              <a:t>The process of online data discovery can be viewed as an ensemble of several phases: </a:t>
            </a:r>
          </a:p>
          <a:p>
            <a:pPr marL="914400" lvl="1" indent="-514350">
              <a:buAutoNum type="romanLcParenBoth"/>
            </a:pPr>
            <a:r>
              <a:rPr lang="en-US" dirty="0"/>
              <a:t>recognition of the information problem; </a:t>
            </a:r>
          </a:p>
          <a:p>
            <a:pPr marL="914400" lvl="1" indent="-514350">
              <a:buAutoNum type="romanLcParenBoth"/>
            </a:pPr>
            <a:r>
              <a:rPr lang="en-US" dirty="0"/>
              <a:t>generation of search queries using one or more search engines; </a:t>
            </a:r>
          </a:p>
          <a:p>
            <a:pPr marL="914400" lvl="1" indent="-514350">
              <a:buAutoNum type="romanLcParenBoth"/>
            </a:pPr>
            <a:r>
              <a:rPr lang="en-US" dirty="0"/>
              <a:t>evaluation of the search results; </a:t>
            </a:r>
          </a:p>
          <a:p>
            <a:pPr marL="914400" lvl="1" indent="-514350">
              <a:buAutoNum type="romanLcParenBoth"/>
            </a:pPr>
            <a:r>
              <a:rPr lang="en-US" dirty="0"/>
              <a:t>evaluation of the web documents; and </a:t>
            </a:r>
          </a:p>
          <a:p>
            <a:pPr marL="914400" lvl="1" indent="-514350">
              <a:buAutoNum type="romanLcParenBoth"/>
            </a:pPr>
            <a:r>
              <a:rPr lang="en-US" dirty="0"/>
              <a:t>comparing information from different sources.</a:t>
            </a:r>
          </a:p>
        </p:txBody>
      </p:sp>
      <p:sp>
        <p:nvSpPr>
          <p:cNvPr id="13" name="Text Placeholder 12">
            <a:extLst>
              <a:ext uri="{FF2B5EF4-FFF2-40B4-BE49-F238E27FC236}">
                <a16:creationId xmlns:a16="http://schemas.microsoft.com/office/drawing/2014/main" id="{0F7A79AA-C54E-369D-1D89-43F8F4D56834}"/>
              </a:ext>
            </a:extLst>
          </p:cNvPr>
          <p:cNvSpPr>
            <a:spLocks noGrp="1"/>
          </p:cNvSpPr>
          <p:nvPr>
            <p:ph type="body" sz="quarter" idx="17"/>
          </p:nvPr>
        </p:nvSpPr>
        <p:spPr>
          <a:xfrm>
            <a:off x="12747428" y="4115640"/>
            <a:ext cx="8024812" cy="1968425"/>
          </a:xfrm>
        </p:spPr>
        <p:txBody>
          <a:bodyPr>
            <a:normAutofit/>
          </a:bodyPr>
          <a:lstStyle/>
          <a:p>
            <a:r>
              <a:rPr lang="en-US" sz="3200" dirty="0"/>
              <a:t>A typical example of a problem faced by agencies and research groups is data discovery in large scientific data sets.</a:t>
            </a:r>
          </a:p>
        </p:txBody>
      </p:sp>
      <p:sp>
        <p:nvSpPr>
          <p:cNvPr id="5" name="TextBox 4">
            <a:extLst>
              <a:ext uri="{FF2B5EF4-FFF2-40B4-BE49-F238E27FC236}">
                <a16:creationId xmlns:a16="http://schemas.microsoft.com/office/drawing/2014/main" id="{3A32EB24-D020-E4EB-5C56-43544516EF7F}"/>
              </a:ext>
            </a:extLst>
          </p:cNvPr>
          <p:cNvSpPr txBox="1"/>
          <p:nvPr/>
        </p:nvSpPr>
        <p:spPr>
          <a:xfrm>
            <a:off x="3294959" y="12779719"/>
            <a:ext cx="6734216"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err="1">
                <a:ln>
                  <a:noFill/>
                </a:ln>
                <a:solidFill>
                  <a:srgbClr val="5E5E5E"/>
                </a:solidFill>
                <a:effectLst/>
                <a:uFillTx/>
                <a:latin typeface="+mn-lt"/>
                <a:ea typeface="+mn-ea"/>
                <a:cs typeface="+mn-cs"/>
                <a:sym typeface="Helvetica Neue"/>
              </a:rPr>
              <a:t>folding@home</a:t>
            </a:r>
            <a:r>
              <a:rPr kumimoji="0" lang="en-US" sz="2400" b="0" i="0" u="none" strike="noStrike" cap="none" spc="0" normalizeH="0" baseline="0" dirty="0">
                <a:ln>
                  <a:noFill/>
                </a:ln>
                <a:solidFill>
                  <a:srgbClr val="5E5E5E"/>
                </a:solidFill>
                <a:effectLst/>
                <a:uFillTx/>
                <a:latin typeface="+mn-lt"/>
                <a:ea typeface="+mn-ea"/>
                <a:cs typeface="+mn-cs"/>
                <a:sym typeface="Helvetica Neue"/>
              </a:rPr>
              <a:t> as example of science use case</a:t>
            </a:r>
          </a:p>
        </p:txBody>
      </p:sp>
    </p:spTree>
    <p:extLst>
      <p:ext uri="{BB962C8B-B14F-4D97-AF65-F5344CB8AC3E}">
        <p14:creationId xmlns:p14="http://schemas.microsoft.com/office/powerpoint/2010/main" val="2097494444"/>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6D1E6-923A-F488-F98A-C8C28BB0C98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E133F4C-8DD1-B130-AAFC-CC674B390B3D}"/>
              </a:ext>
            </a:extLst>
          </p:cNvPr>
          <p:cNvSpPr>
            <a:spLocks noGrp="1"/>
          </p:cNvSpPr>
          <p:nvPr>
            <p:ph type="title"/>
          </p:nvPr>
        </p:nvSpPr>
        <p:spPr>
          <a:xfrm>
            <a:off x="2167377" y="1871164"/>
            <a:ext cx="14715569" cy="511175"/>
          </a:xfrm>
        </p:spPr>
        <p:txBody>
          <a:bodyPr>
            <a:normAutofit/>
          </a:bodyPr>
          <a:lstStyle/>
          <a:p>
            <a:r>
              <a:rPr lang="en-US" sz="3200" dirty="0"/>
              <a:t>High performance computing example</a:t>
            </a:r>
          </a:p>
        </p:txBody>
      </p:sp>
      <p:sp>
        <p:nvSpPr>
          <p:cNvPr id="21" name="Text Placeholder 2">
            <a:extLst>
              <a:ext uri="{FF2B5EF4-FFF2-40B4-BE49-F238E27FC236}">
                <a16:creationId xmlns:a16="http://schemas.microsoft.com/office/drawing/2014/main" id="{34DEA982-DD80-81EC-006F-33A85704CA6E}"/>
              </a:ext>
            </a:extLst>
          </p:cNvPr>
          <p:cNvSpPr>
            <a:spLocks noGrp="1"/>
          </p:cNvSpPr>
          <p:nvPr>
            <p:ph type="body" sz="quarter" idx="10"/>
          </p:nvPr>
        </p:nvSpPr>
        <p:spPr>
          <a:xfrm>
            <a:off x="2167377" y="2419728"/>
            <a:ext cx="9768875" cy="803546"/>
          </a:xfrm>
        </p:spPr>
        <p:txBody>
          <a:bodyPr/>
          <a:lstStyle/>
          <a:p>
            <a:r>
              <a:rPr lang="en-US" dirty="0"/>
              <a:t>Aws</a:t>
            </a:r>
          </a:p>
        </p:txBody>
      </p:sp>
      <p:sp>
        <p:nvSpPr>
          <p:cNvPr id="13" name="Text Placeholder 12">
            <a:extLst>
              <a:ext uri="{FF2B5EF4-FFF2-40B4-BE49-F238E27FC236}">
                <a16:creationId xmlns:a16="http://schemas.microsoft.com/office/drawing/2014/main" id="{5D28408D-3750-CF8F-2F54-93627EE98CCF}"/>
              </a:ext>
            </a:extLst>
          </p:cNvPr>
          <p:cNvSpPr>
            <a:spLocks noGrp="1"/>
          </p:cNvSpPr>
          <p:nvPr>
            <p:ph type="body" sz="quarter" idx="17"/>
          </p:nvPr>
        </p:nvSpPr>
        <p:spPr>
          <a:xfrm>
            <a:off x="2166938" y="4210049"/>
            <a:ext cx="9768874" cy="2039112"/>
          </a:xfrm>
        </p:spPr>
        <p:txBody>
          <a:bodyPr>
            <a:normAutofit fontScale="77500" lnSpcReduction="20000"/>
          </a:bodyPr>
          <a:lstStyle/>
          <a:p>
            <a:pPr algn="just"/>
            <a:r>
              <a:rPr lang="en-US" dirty="0"/>
              <a:t>The set of applications used at NERSC (National Energy Research Scientific Computing Center) and presents the results of a comparative benchmark of EC2 and three supercomputers.</a:t>
            </a:r>
          </a:p>
        </p:txBody>
      </p:sp>
      <p:pic>
        <p:nvPicPr>
          <p:cNvPr id="6" name="Picture Placeholder 5">
            <a:extLst>
              <a:ext uri="{FF2B5EF4-FFF2-40B4-BE49-F238E27FC236}">
                <a16:creationId xmlns:a16="http://schemas.microsoft.com/office/drawing/2014/main" id="{37483371-FEBB-CC8B-A7CA-B45FB7D19EA7}"/>
              </a:ext>
            </a:extLst>
          </p:cNvPr>
          <p:cNvPicPr>
            <a:picLocks noGrp="1" noChangeAspect="1"/>
          </p:cNvPicPr>
          <p:nvPr>
            <p:ph type="pic" sz="quarter" idx="13"/>
          </p:nvPr>
        </p:nvPicPr>
        <p:blipFill>
          <a:blip r:embed="rId2"/>
          <a:srcRect l="2389" t="4164" r="1777" b="10323"/>
          <a:stretch>
            <a:fillRect/>
          </a:stretch>
        </p:blipFill>
        <p:spPr>
          <a:xfrm>
            <a:off x="13674157" y="3223274"/>
            <a:ext cx="7025956" cy="4787665"/>
          </a:xfrm>
          <a:prstGeom prst="rect">
            <a:avLst/>
          </a:prstGeom>
        </p:spPr>
      </p:pic>
      <p:sp>
        <p:nvSpPr>
          <p:cNvPr id="12" name="Text Placeholder 11">
            <a:extLst>
              <a:ext uri="{FF2B5EF4-FFF2-40B4-BE49-F238E27FC236}">
                <a16:creationId xmlns:a16="http://schemas.microsoft.com/office/drawing/2014/main" id="{19FE3CE3-069E-FBAF-3C9F-879F723ED241}"/>
              </a:ext>
            </a:extLst>
          </p:cNvPr>
          <p:cNvSpPr>
            <a:spLocks noGrp="1"/>
          </p:cNvSpPr>
          <p:nvPr>
            <p:ph type="body" sz="quarter" idx="16"/>
          </p:nvPr>
        </p:nvSpPr>
        <p:spPr>
          <a:xfrm>
            <a:off x="2167377" y="6008914"/>
            <a:ext cx="9768906" cy="7249885"/>
          </a:xfrm>
        </p:spPr>
        <p:txBody>
          <a:bodyPr>
            <a:normAutofit/>
          </a:bodyPr>
          <a:lstStyle/>
          <a:p>
            <a:pPr algn="just">
              <a:lnSpc>
                <a:spcPct val="100000"/>
              </a:lnSpc>
            </a:pPr>
            <a:r>
              <a:rPr lang="en-US" dirty="0"/>
              <a:t>Some of the codes used are:</a:t>
            </a:r>
          </a:p>
          <a:p>
            <a:pPr lvl="1" algn="just">
              <a:lnSpc>
                <a:spcPct val="100000"/>
              </a:lnSpc>
              <a:buFontTx/>
              <a:buChar char="-"/>
            </a:pPr>
            <a:r>
              <a:rPr lang="en-US" dirty="0"/>
              <a:t>CAM (Community Atmosphere Mode), the atmospheric component of CCSM (Community Climate System Model), is used for weather and climate modeling.</a:t>
            </a:r>
          </a:p>
          <a:p>
            <a:pPr lvl="1" algn="just">
              <a:lnSpc>
                <a:spcPct val="100000"/>
              </a:lnSpc>
              <a:buFontTx/>
              <a:buChar char="-"/>
            </a:pPr>
            <a:r>
              <a:rPr lang="en-US" dirty="0"/>
              <a:t>GAMESS (General Atomic and Molecular Electronic Structure System) is used for ab initio quantum chemistry calculations.</a:t>
            </a:r>
          </a:p>
          <a:p>
            <a:pPr lvl="1" algn="just">
              <a:lnSpc>
                <a:spcPct val="100000"/>
              </a:lnSpc>
              <a:buFontTx/>
              <a:buChar char="-"/>
            </a:pPr>
            <a:r>
              <a:rPr lang="en-US" dirty="0"/>
              <a:t>GTC (Gyrokinetic) is a code for fusion research.</a:t>
            </a:r>
          </a:p>
          <a:p>
            <a:pPr lvl="1" algn="just">
              <a:lnSpc>
                <a:spcPct val="100000"/>
              </a:lnSpc>
              <a:buFontTx/>
              <a:buChar char="-"/>
            </a:pPr>
            <a:r>
              <a:rPr lang="en-US" dirty="0"/>
              <a:t>IMPACT-T (Integrated Map and Particle Accelerator Tracking Time) is a code for the prediction and performance enhancement of accelerators.</a:t>
            </a:r>
          </a:p>
        </p:txBody>
      </p:sp>
      <p:sp>
        <p:nvSpPr>
          <p:cNvPr id="4" name="AutoShape 2" descr="Internet reacts with memes after global AWS outage disrupts major apps and  services worldwide">
            <a:extLst>
              <a:ext uri="{FF2B5EF4-FFF2-40B4-BE49-F238E27FC236}">
                <a16:creationId xmlns:a16="http://schemas.microsoft.com/office/drawing/2014/main" id="{7A5480F3-8D7A-6DB1-4E4F-9E76DEA2E3C6}"/>
              </a:ext>
            </a:extLst>
          </p:cNvPr>
          <p:cNvSpPr>
            <a:spLocks noChangeAspect="1" noChangeArrowheads="1"/>
          </p:cNvSpPr>
          <p:nvPr/>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Internet reacts with memes after global AWS outage disrupts major apps and  services worldwide">
            <a:extLst>
              <a:ext uri="{FF2B5EF4-FFF2-40B4-BE49-F238E27FC236}">
                <a16:creationId xmlns:a16="http://schemas.microsoft.com/office/drawing/2014/main" id="{6F2C86A8-F4D2-EDED-3DFF-38937DBF3DF3}"/>
              </a:ext>
            </a:extLst>
          </p:cNvPr>
          <p:cNvSpPr>
            <a:spLocks noChangeAspect="1" noChangeArrowheads="1"/>
          </p:cNvSpPr>
          <p:nvPr/>
        </p:nvSpPr>
        <p:spPr bwMode="auto">
          <a:xfrm>
            <a:off x="121920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4" name="Picture 6">
            <a:extLst>
              <a:ext uri="{FF2B5EF4-FFF2-40B4-BE49-F238E27FC236}">
                <a16:creationId xmlns:a16="http://schemas.microsoft.com/office/drawing/2014/main" id="{77AA5DEF-6405-384A-5E53-E6BFF69FB5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5435789" y="7931662"/>
            <a:ext cx="6790100" cy="51221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9248394"/>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80F7C-9943-2E5D-A57A-55A25125F671}"/>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2BB6D54D-5B24-3AFC-53AB-82CEF26DFC82}"/>
              </a:ext>
            </a:extLst>
          </p:cNvPr>
          <p:cNvSpPr>
            <a:spLocks noGrp="1"/>
          </p:cNvSpPr>
          <p:nvPr>
            <p:ph type="title"/>
          </p:nvPr>
        </p:nvSpPr>
        <p:spPr/>
        <p:txBody>
          <a:bodyPr>
            <a:normAutofit fontScale="90000"/>
          </a:bodyPr>
          <a:lstStyle/>
          <a:p>
            <a:r>
              <a:rPr lang="en-US" dirty="0"/>
              <a:t>Systems compared to EC2 </a:t>
            </a:r>
          </a:p>
        </p:txBody>
      </p:sp>
      <p:sp>
        <p:nvSpPr>
          <p:cNvPr id="18" name="Text Placeholder 3">
            <a:extLst>
              <a:ext uri="{FF2B5EF4-FFF2-40B4-BE49-F238E27FC236}">
                <a16:creationId xmlns:a16="http://schemas.microsoft.com/office/drawing/2014/main" id="{A8F739B3-65F0-9919-BD39-0B5CDD37542C}"/>
              </a:ext>
            </a:extLst>
          </p:cNvPr>
          <p:cNvSpPr>
            <a:spLocks noGrp="1"/>
          </p:cNvSpPr>
          <p:nvPr>
            <p:ph type="body" sz="quarter" idx="10"/>
          </p:nvPr>
        </p:nvSpPr>
        <p:spPr/>
        <p:txBody>
          <a:bodyPr>
            <a:normAutofit/>
          </a:bodyPr>
          <a:lstStyle/>
          <a:p>
            <a:endParaRPr lang="en-US" dirty="0"/>
          </a:p>
        </p:txBody>
      </p:sp>
      <p:sp>
        <p:nvSpPr>
          <p:cNvPr id="5" name="Content Placeholder 4">
            <a:extLst>
              <a:ext uri="{FF2B5EF4-FFF2-40B4-BE49-F238E27FC236}">
                <a16:creationId xmlns:a16="http://schemas.microsoft.com/office/drawing/2014/main" id="{768951E4-3FED-3029-DDCE-A5C3AB7DBDBC}"/>
              </a:ext>
            </a:extLst>
          </p:cNvPr>
          <p:cNvSpPr>
            <a:spLocks noGrp="1"/>
          </p:cNvSpPr>
          <p:nvPr>
            <p:ph sz="quarter" idx="11"/>
          </p:nvPr>
        </p:nvSpPr>
        <p:spPr/>
        <p:txBody>
          <a:bodyPr>
            <a:normAutofit fontScale="92500" lnSpcReduction="10000"/>
          </a:bodyPr>
          <a:lstStyle/>
          <a:p>
            <a:pPr algn="just"/>
            <a:r>
              <a:rPr lang="en-US" b="1" dirty="0"/>
              <a:t>Carver</a:t>
            </a:r>
            <a:r>
              <a:rPr lang="en-US" dirty="0"/>
              <a:t>—a 400-node IBM </a:t>
            </a:r>
            <a:r>
              <a:rPr lang="en-US" dirty="0" err="1"/>
              <a:t>iDataPlex</a:t>
            </a:r>
            <a:r>
              <a:rPr lang="en-US" dirty="0"/>
              <a:t> cluster with quad-core Intel Nehalem processors running at 2.67 GHz and with 24 GB of RAM (3 GB/core). Each node has two sockets; a single Quad Data Rate (QDR) IB link connects each node to a network that is locally a fat-tree with a global two-dimensional mesh. The codes were compiled with the Portland Group suite version 10.0 of and Open MPI version 1.4.1.</a:t>
            </a:r>
          </a:p>
          <a:p>
            <a:pPr algn="just"/>
            <a:r>
              <a:rPr lang="en-US" b="1" dirty="0"/>
              <a:t>Franklin</a:t>
            </a:r>
            <a:r>
              <a:rPr lang="en-US" dirty="0"/>
              <a:t>—a 9660-node Cray XT4; each node has a single quad-core 2.3 GHz AMD Opteron “Budapest” processor with 8 GB of RAM (2 GB/core). Each processor is connected through a 6.4 GB/s bidirectional </a:t>
            </a:r>
            <a:r>
              <a:rPr lang="en-US" dirty="0" err="1"/>
              <a:t>HyperTransport</a:t>
            </a:r>
            <a:r>
              <a:rPr lang="en-US" dirty="0"/>
              <a:t> interface to the interconnect via a Cray SeaStar-2 ASIC. The </a:t>
            </a:r>
            <a:r>
              <a:rPr lang="en-US" dirty="0" err="1"/>
              <a:t>SeaStar</a:t>
            </a:r>
            <a:r>
              <a:rPr lang="en-US" dirty="0"/>
              <a:t> routing chips are interconnected in a tri-dimensional torus topology, where each node has a direct link to its six nearest neighbors. Codes were compiled with the </a:t>
            </a:r>
            <a:r>
              <a:rPr lang="en-US" dirty="0" err="1"/>
              <a:t>Pathscale</a:t>
            </a:r>
            <a:r>
              <a:rPr lang="en-US" dirty="0"/>
              <a:t> or the Portland Group version 9.0.4.</a:t>
            </a:r>
          </a:p>
          <a:p>
            <a:endParaRPr lang="en-US" dirty="0"/>
          </a:p>
        </p:txBody>
      </p:sp>
    </p:spTree>
    <p:extLst>
      <p:ext uri="{BB962C8B-B14F-4D97-AF65-F5344CB8AC3E}">
        <p14:creationId xmlns:p14="http://schemas.microsoft.com/office/powerpoint/2010/main" val="415702973"/>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89328-30A5-5879-F9C4-E67CF46E95E2}"/>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9A63C240-7E72-B67A-FB41-CBCC6D6C8902}"/>
              </a:ext>
            </a:extLst>
          </p:cNvPr>
          <p:cNvSpPr>
            <a:spLocks noGrp="1"/>
          </p:cNvSpPr>
          <p:nvPr>
            <p:ph type="title"/>
          </p:nvPr>
        </p:nvSpPr>
        <p:spPr/>
        <p:txBody>
          <a:bodyPr>
            <a:normAutofit fontScale="90000"/>
          </a:bodyPr>
          <a:lstStyle/>
          <a:p>
            <a:r>
              <a:rPr lang="en-US" dirty="0"/>
              <a:t>Systems compared to EC2 </a:t>
            </a:r>
          </a:p>
        </p:txBody>
      </p:sp>
      <p:sp>
        <p:nvSpPr>
          <p:cNvPr id="18" name="Text Placeholder 3">
            <a:extLst>
              <a:ext uri="{FF2B5EF4-FFF2-40B4-BE49-F238E27FC236}">
                <a16:creationId xmlns:a16="http://schemas.microsoft.com/office/drawing/2014/main" id="{89FBBCD1-6FD6-47D1-9F57-A12E18D7D447}"/>
              </a:ext>
            </a:extLst>
          </p:cNvPr>
          <p:cNvSpPr>
            <a:spLocks noGrp="1"/>
          </p:cNvSpPr>
          <p:nvPr>
            <p:ph type="body" sz="quarter" idx="10"/>
          </p:nvPr>
        </p:nvSpPr>
        <p:spPr/>
        <p:txBody>
          <a:bodyPr>
            <a:normAutofit/>
          </a:bodyPr>
          <a:lstStyle/>
          <a:p>
            <a:endParaRPr lang="en-US" dirty="0"/>
          </a:p>
        </p:txBody>
      </p:sp>
      <p:sp>
        <p:nvSpPr>
          <p:cNvPr id="5" name="Content Placeholder 4">
            <a:extLst>
              <a:ext uri="{FF2B5EF4-FFF2-40B4-BE49-F238E27FC236}">
                <a16:creationId xmlns:a16="http://schemas.microsoft.com/office/drawing/2014/main" id="{8573FA2B-FBCA-CB29-6A71-67E26A9DCFB1}"/>
              </a:ext>
            </a:extLst>
          </p:cNvPr>
          <p:cNvSpPr>
            <a:spLocks noGrp="1"/>
          </p:cNvSpPr>
          <p:nvPr>
            <p:ph sz="quarter" idx="11"/>
          </p:nvPr>
        </p:nvSpPr>
        <p:spPr/>
        <p:txBody>
          <a:bodyPr>
            <a:normAutofit/>
          </a:bodyPr>
          <a:lstStyle/>
          <a:p>
            <a:pPr algn="just"/>
            <a:r>
              <a:rPr lang="en-US" b="1" dirty="0"/>
              <a:t>Lawrencium</a:t>
            </a:r>
            <a:r>
              <a:rPr lang="en-US" dirty="0"/>
              <a:t>—a 198-node (1584 core) Linux cluster; a compute node is a Dell </a:t>
            </a:r>
            <a:r>
              <a:rPr lang="en-US" dirty="0" err="1"/>
              <a:t>Poweredge</a:t>
            </a:r>
            <a:r>
              <a:rPr lang="en-US" dirty="0"/>
              <a:t> 1950 server with two Intel Xeon quad-core 64 bit and 2.66 GHz </a:t>
            </a:r>
            <a:r>
              <a:rPr lang="en-US" dirty="0" err="1"/>
              <a:t>Harpertown</a:t>
            </a:r>
            <a:r>
              <a:rPr lang="en-US" dirty="0"/>
              <a:t> processors with 16 GB of RAM (2 GB/core). A compute node is connected to a Dual Data Rate InfiniBand network configured as a fat tree with a 3:1 blocking factor. Codes were compiled using Intel 10.0.018 and Open MPI 1.3.3.</a:t>
            </a:r>
          </a:p>
          <a:p>
            <a:pPr algn="just"/>
            <a:r>
              <a:rPr lang="en-US" dirty="0"/>
              <a:t>The virtual cluster at Amazon had four </a:t>
            </a:r>
            <a:r>
              <a:rPr lang="en-US" b="1" dirty="0"/>
              <a:t>EC2</a:t>
            </a:r>
            <a:r>
              <a:rPr lang="en-US" dirty="0"/>
              <a:t> CUs (Compute Units), two virtual cores with two CUs each, and 7.5 GB of memory (an m1.large instance in Amazon parlance); a Compute Unit is approximately equivalent to a 1.0–1.2 GHz 2007 Opteron or 2007 Xeon processor. The nodes are connected via a gigabit Ethernet.</a:t>
            </a:r>
          </a:p>
        </p:txBody>
      </p:sp>
    </p:spTree>
    <p:extLst>
      <p:ext uri="{BB962C8B-B14F-4D97-AF65-F5344CB8AC3E}">
        <p14:creationId xmlns:p14="http://schemas.microsoft.com/office/powerpoint/2010/main" val="2187206893"/>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51B32-E7B9-4404-7B6C-FACAD0C4D957}"/>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4C57A760-B0C4-D9C4-1A31-C5C16F5193F6}"/>
              </a:ext>
            </a:extLst>
          </p:cNvPr>
          <p:cNvSpPr>
            <a:spLocks noGrp="1"/>
          </p:cNvSpPr>
          <p:nvPr>
            <p:ph type="title"/>
          </p:nvPr>
        </p:nvSpPr>
        <p:spPr/>
        <p:txBody>
          <a:bodyPr>
            <a:normAutofit fontScale="90000"/>
          </a:bodyPr>
          <a:lstStyle/>
          <a:p>
            <a:r>
              <a:rPr lang="en-US" dirty="0"/>
              <a:t>Systems compared to EC2 </a:t>
            </a:r>
          </a:p>
        </p:txBody>
      </p:sp>
      <p:sp>
        <p:nvSpPr>
          <p:cNvPr id="18" name="Text Placeholder 3">
            <a:extLst>
              <a:ext uri="{FF2B5EF4-FFF2-40B4-BE49-F238E27FC236}">
                <a16:creationId xmlns:a16="http://schemas.microsoft.com/office/drawing/2014/main" id="{A754F587-FBC6-D66B-0767-12EC11B19056}"/>
              </a:ext>
            </a:extLst>
          </p:cNvPr>
          <p:cNvSpPr>
            <a:spLocks noGrp="1"/>
          </p:cNvSpPr>
          <p:nvPr>
            <p:ph type="body" sz="quarter" idx="10"/>
          </p:nvPr>
        </p:nvSpPr>
        <p:spPr/>
        <p:txBody>
          <a:bodyPr>
            <a:normAutofit/>
          </a:bodyPr>
          <a:lstStyle/>
          <a:p>
            <a:endParaRPr lang="en-US" dirty="0"/>
          </a:p>
        </p:txBody>
      </p:sp>
      <p:sp>
        <p:nvSpPr>
          <p:cNvPr id="5" name="Content Placeholder 4">
            <a:extLst>
              <a:ext uri="{FF2B5EF4-FFF2-40B4-BE49-F238E27FC236}">
                <a16:creationId xmlns:a16="http://schemas.microsoft.com/office/drawing/2014/main" id="{DCA6588C-653D-4E7B-EB72-BE240E52C80F}"/>
              </a:ext>
            </a:extLst>
          </p:cNvPr>
          <p:cNvSpPr>
            <a:spLocks noGrp="1"/>
          </p:cNvSpPr>
          <p:nvPr>
            <p:ph sz="quarter" idx="11"/>
          </p:nvPr>
        </p:nvSpPr>
        <p:spPr>
          <a:xfrm>
            <a:off x="5486930" y="10613571"/>
            <a:ext cx="13714940" cy="2624000"/>
          </a:xfrm>
        </p:spPr>
        <p:txBody>
          <a:bodyPr>
            <a:normAutofit/>
          </a:bodyPr>
          <a:lstStyle/>
          <a:p>
            <a:pPr algn="just"/>
            <a:r>
              <a:rPr lang="en-US" sz="2800" dirty="0"/>
              <a:t>The results give us some idea about the characteristics of scientific applications likely to run efficiently on the cloud. Communication intensive applications will be affected by the increased latency (more than 70 times larger then Carver) and lower bandwidth (more than 70 times smaller than Carver).</a:t>
            </a:r>
          </a:p>
        </p:txBody>
      </p:sp>
      <p:pic>
        <p:nvPicPr>
          <p:cNvPr id="2" name="Content Placeholder 5">
            <a:extLst>
              <a:ext uri="{FF2B5EF4-FFF2-40B4-BE49-F238E27FC236}">
                <a16:creationId xmlns:a16="http://schemas.microsoft.com/office/drawing/2014/main" id="{B45A7605-8202-65CD-BD3B-853F34FD25EE}"/>
              </a:ext>
            </a:extLst>
          </p:cNvPr>
          <p:cNvPicPr>
            <a:picLocks noChangeAspect="1"/>
          </p:cNvPicPr>
          <p:nvPr/>
        </p:nvPicPr>
        <p:blipFill>
          <a:blip r:embed="rId2"/>
          <a:stretch>
            <a:fillRect/>
          </a:stretch>
        </p:blipFill>
        <p:spPr>
          <a:xfrm>
            <a:off x="3232592" y="4938583"/>
            <a:ext cx="19123224" cy="4972036"/>
          </a:xfrm>
          <a:prstGeom prst="rect">
            <a:avLst/>
          </a:prstGeom>
          <a:noFill/>
        </p:spPr>
      </p:pic>
    </p:spTree>
    <p:extLst>
      <p:ext uri="{BB962C8B-B14F-4D97-AF65-F5344CB8AC3E}">
        <p14:creationId xmlns:p14="http://schemas.microsoft.com/office/powerpoint/2010/main" val="1799724037"/>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E3802-7A6B-045C-EDB6-44994979DE93}"/>
              </a:ext>
            </a:extLst>
          </p:cNvPr>
          <p:cNvSpPr>
            <a:spLocks noGrp="1"/>
          </p:cNvSpPr>
          <p:nvPr>
            <p:ph type="title"/>
          </p:nvPr>
        </p:nvSpPr>
        <p:spPr/>
        <p:txBody>
          <a:bodyPr>
            <a:normAutofit fontScale="90000"/>
          </a:bodyPr>
          <a:lstStyle/>
          <a:p>
            <a:r>
              <a:rPr lang="en-US" dirty="0"/>
              <a:t>Exercise</a:t>
            </a:r>
          </a:p>
        </p:txBody>
      </p:sp>
      <p:sp>
        <p:nvSpPr>
          <p:cNvPr id="6" name="Text Placeholder 5">
            <a:extLst>
              <a:ext uri="{FF2B5EF4-FFF2-40B4-BE49-F238E27FC236}">
                <a16:creationId xmlns:a16="http://schemas.microsoft.com/office/drawing/2014/main" id="{B96B59B6-648E-8EB4-6907-07002D2ECFF4}"/>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1B73F1C5-C00D-0663-602C-B03399D4648E}"/>
              </a:ext>
            </a:extLst>
          </p:cNvPr>
          <p:cNvSpPr>
            <a:spLocks noGrp="1"/>
          </p:cNvSpPr>
          <p:nvPr>
            <p:ph sz="quarter" idx="11"/>
          </p:nvPr>
        </p:nvSpPr>
        <p:spPr/>
        <p:txBody>
          <a:bodyPr/>
          <a:lstStyle/>
          <a:p>
            <a:pPr marL="571500" indent="-571500">
              <a:buFont typeface="Arial" panose="020B0604020202020204" pitchFamily="34" charset="0"/>
              <a:buChar char="•"/>
            </a:pPr>
            <a:r>
              <a:rPr lang="en-US" dirty="0"/>
              <a:t>Find other use case of cloud computing for science </a:t>
            </a:r>
          </a:p>
        </p:txBody>
      </p:sp>
    </p:spTree>
    <p:extLst>
      <p:ext uri="{BB962C8B-B14F-4D97-AF65-F5344CB8AC3E}">
        <p14:creationId xmlns:p14="http://schemas.microsoft.com/office/powerpoint/2010/main" val="2873593984"/>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532BAF-F517-BE43-A4AD-CC09CFE100BF}"/>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References</a:t>
            </a:r>
            <a:endParaRPr lang="en-US" dirty="0"/>
          </a:p>
        </p:txBody>
      </p:sp>
      <p:sp>
        <p:nvSpPr>
          <p:cNvPr id="4" name="Text Placeholder 3">
            <a:extLst>
              <a:ext uri="{FF2B5EF4-FFF2-40B4-BE49-F238E27FC236}">
                <a16:creationId xmlns:a16="http://schemas.microsoft.com/office/drawing/2014/main" id="{4C5FD19C-A63E-2EAD-8D32-134F78AD48CF}"/>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9902DD5D-7D42-CDFC-EC63-F37424D818B8}"/>
              </a:ext>
            </a:extLst>
          </p:cNvPr>
          <p:cNvSpPr>
            <a:spLocks noGrp="1"/>
          </p:cNvSpPr>
          <p:nvPr>
            <p:ph sz="quarter" idx="11"/>
          </p:nvPr>
        </p:nvSpPr>
        <p:spPr/>
        <p:txBody>
          <a:bodyPr/>
          <a:lstStyle/>
          <a:p>
            <a:r>
              <a:rPr lang="en-US" dirty="0"/>
              <a:t>Marinescu, Dan C. (2022). Cloud Computing Theory and Practice: 3rd Edition. Morgan Kaufmann Publishers. ISBN: 978-0-323-85277-7</a:t>
            </a:r>
          </a:p>
        </p:txBody>
      </p:sp>
    </p:spTree>
    <p:extLst>
      <p:ext uri="{BB962C8B-B14F-4D97-AF65-F5344CB8AC3E}">
        <p14:creationId xmlns:p14="http://schemas.microsoft.com/office/powerpoint/2010/main" val="1730510924"/>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1144</TotalTime>
  <Words>2724</Words>
  <Application>Microsoft Office PowerPoint</Application>
  <PresentationFormat>Custom</PresentationFormat>
  <Paragraphs>172</Paragraphs>
  <Slides>34</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Open Sans Semibold</vt:lpstr>
      <vt:lpstr>Open Sans ExtraBold</vt:lpstr>
      <vt:lpstr>Tahoma</vt:lpstr>
      <vt:lpstr>Open Sans</vt:lpstr>
      <vt:lpstr>Open Sans Light</vt:lpstr>
      <vt:lpstr>OCRB</vt:lpstr>
      <vt:lpstr>21_BasicWhite</vt:lpstr>
      <vt:lpstr>Cloud application  Session 11</vt:lpstr>
      <vt:lpstr>Learning outcomes</vt:lpstr>
      <vt:lpstr>Outline</vt:lpstr>
      <vt:lpstr>Cloud Application Development and Architectural Style</vt:lpstr>
      <vt:lpstr>Cloud Application Development</vt:lpstr>
      <vt:lpstr>Cloud Application Development</vt:lpstr>
      <vt:lpstr>Cloud Application Development</vt:lpstr>
      <vt:lpstr>Communication Middleware/Protocols</vt:lpstr>
      <vt:lpstr>protocols</vt:lpstr>
      <vt:lpstr>protocols</vt:lpstr>
      <vt:lpstr>protocols</vt:lpstr>
      <vt:lpstr>protocols</vt:lpstr>
      <vt:lpstr>protocols</vt:lpstr>
      <vt:lpstr>Workflow patterns</vt:lpstr>
      <vt:lpstr>Workflow pattern</vt:lpstr>
      <vt:lpstr>Workflow patterns</vt:lpstr>
      <vt:lpstr>Traditional transaction-oriented system workflows</vt:lpstr>
      <vt:lpstr>Traditional transaction-oriented system workflows</vt:lpstr>
      <vt:lpstr>Current Cloud Applications and New Applications opportunities</vt:lpstr>
      <vt:lpstr>Current Cloud Applications</vt:lpstr>
      <vt:lpstr>Processing Pipelines</vt:lpstr>
      <vt:lpstr>Batch Processing Systems</vt:lpstr>
      <vt:lpstr>Web Applications</vt:lpstr>
      <vt:lpstr>New Applications Opportunities</vt:lpstr>
      <vt:lpstr>Cloud for Science and Engineering</vt:lpstr>
      <vt:lpstr>Cloud for science</vt:lpstr>
      <vt:lpstr>Cloud for science</vt:lpstr>
      <vt:lpstr>High performance computing example</vt:lpstr>
      <vt:lpstr>Systems compared to EC2 </vt:lpstr>
      <vt:lpstr>Systems compared to EC2 </vt:lpstr>
      <vt:lpstr>Systems compared to EC2 </vt:lpstr>
      <vt:lpstr>Exercise</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Samuel Philip</cp:lastModifiedBy>
  <cp:revision>22</cp:revision>
  <dcterms:created xsi:type="dcterms:W3CDTF">2023-06-28T08:14:57Z</dcterms:created>
  <dcterms:modified xsi:type="dcterms:W3CDTF">2026-01-08T09:24:03Z</dcterms:modified>
</cp:coreProperties>
</file>