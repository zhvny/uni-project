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5"/>
  </p:notesMasterIdLst>
  <p:sldIdLst>
    <p:sldId id="256" r:id="rId2"/>
    <p:sldId id="278" r:id="rId3"/>
    <p:sldId id="257" r:id="rId4"/>
    <p:sldId id="264" r:id="rId5"/>
    <p:sldId id="297" r:id="rId6"/>
    <p:sldId id="298" r:id="rId7"/>
    <p:sldId id="330" r:id="rId8"/>
    <p:sldId id="318" r:id="rId9"/>
    <p:sldId id="331" r:id="rId10"/>
    <p:sldId id="332" r:id="rId11"/>
    <p:sldId id="333" r:id="rId12"/>
    <p:sldId id="303" r:id="rId13"/>
    <p:sldId id="301" r:id="rId14"/>
    <p:sldId id="334" r:id="rId15"/>
    <p:sldId id="335" r:id="rId16"/>
    <p:sldId id="336" r:id="rId17"/>
    <p:sldId id="320" r:id="rId18"/>
    <p:sldId id="337" r:id="rId19"/>
    <p:sldId id="321" r:id="rId20"/>
    <p:sldId id="338" r:id="rId21"/>
    <p:sldId id="339" r:id="rId22"/>
    <p:sldId id="340" r:id="rId23"/>
    <p:sldId id="304" r:id="rId24"/>
    <p:sldId id="324" r:id="rId25"/>
    <p:sldId id="341" r:id="rId26"/>
    <p:sldId id="342" r:id="rId27"/>
    <p:sldId id="325" r:id="rId28"/>
    <p:sldId id="343" r:id="rId29"/>
    <p:sldId id="326" r:id="rId30"/>
    <p:sldId id="344" r:id="rId31"/>
    <p:sldId id="315" r:id="rId32"/>
    <p:sldId id="317" r:id="rId33"/>
    <p:sldId id="296" r:id="rId34"/>
  </p:sldIdLst>
  <p:sldSz cx="24384000" cy="13716000"/>
  <p:notesSz cx="6858000" cy="9144000"/>
  <p:embeddedFontLst>
    <p:embeddedFont>
      <p:font typeface="OCRB" panose="020B0609020202020204" pitchFamily="49" charset="0"/>
      <p:regular r:id="rId36"/>
    </p:embeddedFont>
    <p:embeddedFont>
      <p:font typeface="Open Sans" panose="020B0606030504020204" pitchFamily="34" charset="0"/>
      <p:regular r:id="rId37"/>
      <p:bold r:id="rId38"/>
      <p:italic r:id="rId39"/>
      <p:boldItalic r:id="rId40"/>
    </p:embeddedFont>
    <p:embeddedFont>
      <p:font typeface="Open Sans ExtraBold" panose="020B0906030804020204" pitchFamily="34" charset="0"/>
      <p:bold r:id="rId41"/>
      <p:italic r:id="rId42"/>
      <p:boldItalic r:id="rId43"/>
    </p:embeddedFont>
    <p:embeddedFont>
      <p:font typeface="Open Sans Light" panose="020B0306030504020204" pitchFamily="34" charset="0"/>
      <p:regular r:id="rId44"/>
      <p:italic r:id="rId45"/>
    </p:embeddedFont>
    <p:embeddedFont>
      <p:font typeface="Open Sans Semibold" panose="020B0706030804020204" pitchFamily="34" charset="0"/>
      <p:regular r:id="rId46"/>
      <p:bold r:id="rId47"/>
      <p:italic r:id="rId48"/>
      <p:boldItalic r:id="rId49"/>
    </p:embeddedFont>
    <p:embeddedFont>
      <p:font typeface="Tahoma" panose="020B0604030504040204" pitchFamily="34" charset="0"/>
      <p:regular r:id="rId50"/>
      <p:bold r:id="rId5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p:scale>
          <a:sx n="25" d="100"/>
          <a:sy n="25" d="100"/>
        </p:scale>
        <p:origin x="898" y="66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BAFB-5EA1-E02D-9A5E-A5AB7228E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213FA-D988-B939-B1A1-FB7BA6CA11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F15069-07DB-9934-63FD-6E6641E29A05}"/>
              </a:ext>
            </a:extLst>
          </p:cNvPr>
          <p:cNvSpPr>
            <a:spLocks noGrp="1"/>
          </p:cNvSpPr>
          <p:nvPr>
            <p:ph type="body" idx="1"/>
          </p:nvPr>
        </p:nvSpPr>
        <p:spPr/>
        <p:txBody>
          <a:bodyPr/>
          <a:lstStyle/>
          <a:p>
            <a:r>
              <a:rPr lang="en-US" dirty="0"/>
              <a:t>Named Data Networks. </a:t>
            </a:r>
          </a:p>
          <a:p>
            <a:pPr marL="228600" indent="-228600">
              <a:buAutoNum type="alphaLcParenBoth"/>
            </a:pPr>
            <a:r>
              <a:rPr lang="en-US" dirty="0"/>
              <a:t>NDN hourglass architecture parallels the one of the Internet; it separates the lower layers of the protocol stack from the upper ones, thus data naming can evolve independently from networking. </a:t>
            </a:r>
          </a:p>
          <a:p>
            <a:pPr marL="228600" indent="-228600">
              <a:buAutoNum type="alphaLcParenBoth"/>
            </a:pPr>
            <a:r>
              <a:rPr lang="en-US" dirty="0"/>
              <a:t>NDN networking service semantics is to fetch a data chunk identified by name, while Internet semantics is to deliver a packet to a given network address through an end-to-end channel identified by a source and a destination IP address. Interest packets and data packets are used for NDN routing and forwarding.</a:t>
            </a:r>
          </a:p>
        </p:txBody>
      </p:sp>
    </p:spTree>
    <p:extLst>
      <p:ext uri="{BB962C8B-B14F-4D97-AF65-F5344CB8AC3E}">
        <p14:creationId xmlns:p14="http://schemas.microsoft.com/office/powerpoint/2010/main" val="2999002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6A55B-08CA-6632-5562-D1C935A41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6F929-678E-371C-66AB-F01CF81865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430034-48A6-E158-9C04-1E607233992F}"/>
              </a:ext>
            </a:extLst>
          </p:cNvPr>
          <p:cNvSpPr>
            <a:spLocks noGrp="1"/>
          </p:cNvSpPr>
          <p:nvPr>
            <p:ph type="body" idx="1"/>
          </p:nvPr>
        </p:nvSpPr>
        <p:spPr/>
        <p:txBody>
          <a:bodyPr/>
          <a:lstStyle/>
          <a:p>
            <a:r>
              <a:rPr lang="en-US" dirty="0"/>
              <a:t>Once the Interest packet reaches a network host that has a copy of the data item, a Data packet containing the name, the contents of the data, and the signature is generated. </a:t>
            </a:r>
          </a:p>
          <a:p>
            <a:r>
              <a:rPr lang="en-US" dirty="0"/>
              <a:t>The signature consists of producer's key. The data packet follows the route traced by the interest packet, and it is delivered to the data consumer agent.</a:t>
            </a:r>
          </a:p>
        </p:txBody>
      </p:sp>
    </p:spTree>
    <p:extLst>
      <p:ext uri="{BB962C8B-B14F-4D97-AF65-F5344CB8AC3E}">
        <p14:creationId xmlns:p14="http://schemas.microsoft.com/office/powerpoint/2010/main" val="3390543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4BCF-1174-0619-056F-B05BD5743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A4A6D-101E-35EA-D50D-7CFEEC6712B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D59CCC-C96C-35AD-431A-153B3CE8D46D}"/>
              </a:ext>
            </a:extLst>
          </p:cNvPr>
          <p:cNvSpPr>
            <a:spLocks noGrp="1"/>
          </p:cNvSpPr>
          <p:nvPr>
            <p:ph type="body" idx="1"/>
          </p:nvPr>
        </p:nvSpPr>
        <p:spPr/>
        <p:txBody>
          <a:bodyPr/>
          <a:lstStyle/>
          <a:p>
            <a:r>
              <a:rPr lang="en-US" dirty="0"/>
              <a:t>Once the Interest packet reaches a network host that has a copy of the data item, a Data packet containing the name, the contents of the data, and the signature is generated. </a:t>
            </a:r>
          </a:p>
          <a:p>
            <a:r>
              <a:rPr lang="en-US" dirty="0"/>
              <a:t>The signature consists of producer's key. The data packet follows the route traced by the interest packet, and it is delivered to the data consumer agent.</a:t>
            </a:r>
          </a:p>
        </p:txBody>
      </p:sp>
    </p:spTree>
    <p:extLst>
      <p:ext uri="{BB962C8B-B14F-4D97-AF65-F5344CB8AC3E}">
        <p14:creationId xmlns:p14="http://schemas.microsoft.com/office/powerpoint/2010/main" val="2919672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5924-BB87-D453-EF59-837A2416B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283D0-899F-4165-504B-4583A13FD2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D6B457-17A3-987D-FBF1-23FC8ABD78D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838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53F22-173D-E3DF-1E1E-2E4F5E9C4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9EDCF-0DCA-B3A7-B56D-E9A45F98437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14E253-839C-8156-0E75-12795A3D0469}"/>
              </a:ext>
            </a:extLst>
          </p:cNvPr>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Fair Queuing—packets are first classified into flows by the system and then assigned to a queue dedicated to the flow; queues are serviced one packet at a time in round-robin order and empty queues are skipped.</a:t>
            </a:r>
          </a:p>
          <a:p>
            <a:endParaRPr lang="en-US" dirty="0"/>
          </a:p>
        </p:txBody>
      </p:sp>
    </p:spTree>
    <p:extLst>
      <p:ext uri="{BB962C8B-B14F-4D97-AF65-F5344CB8AC3E}">
        <p14:creationId xmlns:p14="http://schemas.microsoft.com/office/powerpoint/2010/main" val="2357051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45A6-1997-1D3E-794B-CB0583D77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CC039-F88E-3EF8-AFB9-CFB7807062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C3F6C0-EA63-DC27-F10E-AB5BE838F714}"/>
              </a:ext>
            </a:extLst>
          </p:cNvPr>
          <p:cNvSpPr>
            <a:spLocks noGrp="1"/>
          </p:cNvSpPr>
          <p:nvPr>
            <p:ph type="body" idx="1"/>
          </p:nvPr>
        </p:nvSpPr>
        <p:spPr/>
        <p:txBody>
          <a:bodyPr/>
          <a:lstStyle/>
          <a:p>
            <a:r>
              <a:rPr lang="en-US" dirty="0"/>
              <a:t>CBQ link sharing for two groups A, of short-lived traffic, and B, of long-lived traffic, allocated 25% and 75% of the link capacity, respectively. </a:t>
            </a:r>
          </a:p>
          <a:p>
            <a:r>
              <a:rPr lang="en-US" dirty="0"/>
              <a:t>There are six classes of traffic with priorities 1, 2, and 3. The RT (real-time) and the video streaming have priority 1 and are allocated 3% and 60%, respectively, of the link capacity. </a:t>
            </a:r>
          </a:p>
          <a:p>
            <a:r>
              <a:rPr lang="en-US" dirty="0"/>
              <a:t>Web transactions and audio streaming have priority 2 and are allocated 20% and 10%, respectively of the link capacity. </a:t>
            </a:r>
          </a:p>
          <a:p>
            <a:r>
              <a:rPr lang="en-US" dirty="0" err="1"/>
              <a:t>Intr</a:t>
            </a:r>
            <a:r>
              <a:rPr lang="en-US" dirty="0"/>
              <a:t> (interactive applications) and FTP (file transfer protocols) have priority 3 and are allocated 2% and 5%, respectively, of the link capacity.</a:t>
            </a:r>
          </a:p>
        </p:txBody>
      </p:sp>
    </p:spTree>
    <p:extLst>
      <p:ext uri="{BB962C8B-B14F-4D97-AF65-F5344CB8AC3E}">
        <p14:creationId xmlns:p14="http://schemas.microsoft.com/office/powerpoint/2010/main" val="2883308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9B01-9DE4-037C-342D-3895E75B2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909C4-3369-BB88-4159-B042C65F7A1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63E5C7-7C66-3D0D-A4C2-66B9C9DF6F4B}"/>
              </a:ext>
            </a:extLst>
          </p:cNvPr>
          <p:cNvSpPr>
            <a:spLocks noGrp="1"/>
          </p:cNvSpPr>
          <p:nvPr>
            <p:ph type="body" idx="1"/>
          </p:nvPr>
        </p:nvSpPr>
        <p:spPr/>
        <p:txBody>
          <a:bodyPr/>
          <a:lstStyle/>
          <a:p>
            <a:r>
              <a:rPr lang="en-US" dirty="0"/>
              <a:t>CBQ link sharing for two groups A, of short-lived traffic, and B, of long-lived traffic, allocated 25% and 75% of the link capacity, respectively. </a:t>
            </a:r>
          </a:p>
          <a:p>
            <a:r>
              <a:rPr lang="en-US" dirty="0"/>
              <a:t>There are six classes of traffic with priorities 1, 2, and 3. The RT (real-time) and the video streaming have priority 1 and are allocated 3% and 60%, respectively, of the link capacity. </a:t>
            </a:r>
          </a:p>
          <a:p>
            <a:r>
              <a:rPr lang="en-US" dirty="0"/>
              <a:t>Web transactions and audio streaming have priority 2 and are allocated 20% and 10%, respectively of the link capacity. </a:t>
            </a:r>
          </a:p>
          <a:p>
            <a:r>
              <a:rPr lang="en-US" dirty="0" err="1"/>
              <a:t>Intr</a:t>
            </a:r>
            <a:r>
              <a:rPr lang="en-US" dirty="0"/>
              <a:t> (interactive applications) and FTP (file transfer protocols) have priority 3 and are allocated 2% and 5%, respectively, of the link capacity.</a:t>
            </a:r>
          </a:p>
        </p:txBody>
      </p:sp>
    </p:spTree>
    <p:extLst>
      <p:ext uri="{BB962C8B-B14F-4D97-AF65-F5344CB8AC3E}">
        <p14:creationId xmlns:p14="http://schemas.microsoft.com/office/powerpoint/2010/main" val="40944841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1/5/2026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1/5/2026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s://blog.gelin.ru/2018/11/ipv6.html" TargetMode="External"/><Relationship Id="rId2" Type="http://schemas.openxmlformats.org/officeDocument/2006/relationships/image" Target="../media/image24.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blog.gelin.ru/2018/11/ipv6.html" TargetMode="External"/><Relationship Id="rId2" Type="http://schemas.openxmlformats.org/officeDocument/2006/relationships/image" Target="../media/image24.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networkacademy.io/ccna/ipv6/stateless-address-autoconfiguration-slaac" TargetMode="External"/><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hyperlink" Target="https://technofaq.org/posts/2018/02/is-it-necessary-to-incorporate-cdn-services-in-your-web-page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32.sv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2.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hyperlink" Target="https://docs.oracle.com/cd/E36784_01/html/E36813/gecki.html" TargetMode="Externa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Cloud Access and Cloud Interconnection Networks</a:t>
            </a:r>
            <a:br>
              <a:rPr lang="en-US" dirty="0"/>
            </a:br>
            <a:br>
              <a:rPr lang="en-US" dirty="0"/>
            </a:br>
            <a:r>
              <a:rPr lang="en-US" sz="6000" dirty="0"/>
              <a:t>Session 06</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a:bodyPr>
          <a:lstStyle/>
          <a:p>
            <a:pPr marL="0" indent="0">
              <a:buNone/>
            </a:pPr>
            <a:r>
              <a:rPr lang="en-US" sz="3200" dirty="0"/>
              <a:t>(C4) Analysis : identify problems that can be solved using cloud global infrastructure</a:t>
            </a:r>
          </a:p>
          <a:p>
            <a:pPr marL="0" indent="0">
              <a:buNone/>
            </a:pPr>
            <a:r>
              <a:rPr lang="en-US" sz="3200" dirty="0"/>
              <a:t>(C2) Comprehension : group Classify real-worlds problems in accordance with cloud computing infrastructure</a:t>
            </a:r>
          </a:p>
          <a:p>
            <a:pPr marL="0" indent="0">
              <a:buNone/>
            </a:pPr>
            <a:r>
              <a:rPr lang="en-US" sz="3200" dirty="0"/>
              <a:t>(C4) Analysis : analyze identifying problems and choose proper Cloud Services and Cloud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Internet Evolution</a:t>
            </a:r>
          </a:p>
          <a:p>
            <a:pPr marL="0" indent="0">
              <a:buNone/>
            </a:pPr>
            <a:r>
              <a:rPr lang="en-US" sz="3200" dirty="0"/>
              <a:t>Content-Centric Networks</a:t>
            </a:r>
          </a:p>
          <a:p>
            <a:pPr marL="0" indent="0">
              <a:buNone/>
            </a:pPr>
            <a:r>
              <a:rPr lang="en-US" sz="3200" dirty="0"/>
              <a:t>Network Resource Management</a:t>
            </a:r>
          </a:p>
          <a:p>
            <a:pPr marL="0" indent="0">
              <a:buNone/>
            </a:pPr>
            <a:r>
              <a:rPr lang="en-US" sz="3200" dirty="0"/>
              <a:t>Content Delivery Network</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Internet Evolution</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a:t>Internet Evolution</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a:t>There are some relationship between two networks.</a:t>
            </a:r>
          </a:p>
          <a:p>
            <a:pPr marL="571500" indent="-571500">
              <a:buFont typeface="Arial" panose="020B0604020202020204" pitchFamily="34" charset="0"/>
              <a:buChar char="•"/>
            </a:pPr>
            <a:r>
              <a:rPr lang="en-US"/>
              <a:t>Peering means that two networks exchange traffic between each other's customers freely.</a:t>
            </a:r>
          </a:p>
          <a:p>
            <a:pPr marL="571500" indent="-571500">
              <a:buFont typeface="Arial" panose="020B0604020202020204" pitchFamily="34" charset="0"/>
              <a:buChar char="•"/>
            </a:pPr>
            <a:r>
              <a:rPr lang="en-US"/>
              <a:t>Transit requires a network to pay another one for accessing the Internet. </a:t>
            </a:r>
          </a:p>
          <a:p>
            <a:pPr marL="571500" indent="-571500">
              <a:buFont typeface="Arial" panose="020B0604020202020204" pitchFamily="34" charset="0"/>
              <a:buChar char="•"/>
            </a:pPr>
            <a:r>
              <a:rPr lang="en-US"/>
              <a:t>The term customer means that a network is receiving money to allow Internet access.</a:t>
            </a:r>
          </a:p>
        </p:txBody>
      </p:sp>
      <p:pic>
        <p:nvPicPr>
          <p:cNvPr id="8" name="Picture Placeholder 7" descr="Cloud network graphic">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7818" r="17573" b="-1"/>
          <a:stretch>
            <a:fillRect/>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a:t>Initially conceived as a data network, a network designed to transport data files, the Internet has morphed into today's network supporting data streaming and applications with real-time constraints such as the Lambda service offered by the AWS.</a:t>
            </a:r>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CCDFF4-D7DD-FD9C-6532-89E484B4168E}"/>
              </a:ext>
            </a:extLst>
          </p:cNvPr>
          <p:cNvSpPr>
            <a:spLocks noGrp="1"/>
          </p:cNvSpPr>
          <p:nvPr>
            <p:ph type="title"/>
          </p:nvPr>
        </p:nvSpPr>
        <p:spPr>
          <a:xfrm>
            <a:off x="2167377" y="1871164"/>
            <a:ext cx="14715569" cy="511175"/>
          </a:xfrm>
        </p:spPr>
        <p:txBody>
          <a:bodyPr>
            <a:normAutofit/>
          </a:bodyPr>
          <a:lstStyle/>
          <a:p>
            <a:r>
              <a:rPr lang="en-US" sz="3200" dirty="0"/>
              <a:t>Network Classes</a:t>
            </a:r>
          </a:p>
        </p:txBody>
      </p:sp>
      <p:sp>
        <p:nvSpPr>
          <p:cNvPr id="7" name="Text Placeholder 6">
            <a:extLst>
              <a:ext uri="{FF2B5EF4-FFF2-40B4-BE49-F238E27FC236}">
                <a16:creationId xmlns:a16="http://schemas.microsoft.com/office/drawing/2014/main" id="{1E909420-935C-307E-8ED1-98AFB0EDCBAF}"/>
              </a:ext>
            </a:extLst>
          </p:cNvPr>
          <p:cNvSpPr>
            <a:spLocks noGrp="1"/>
          </p:cNvSpPr>
          <p:nvPr>
            <p:ph type="body" sz="quarter" idx="10"/>
          </p:nvPr>
        </p:nvSpPr>
        <p:spPr>
          <a:xfrm>
            <a:off x="2167377" y="2419728"/>
            <a:ext cx="9768875" cy="803546"/>
          </a:xfrm>
        </p:spPr>
        <p:txBody>
          <a:bodyPr>
            <a:normAutofit/>
          </a:bodyPr>
          <a:lstStyle/>
          <a:p>
            <a:endParaRPr lang="en-US" sz="2700" dirty="0"/>
          </a:p>
        </p:txBody>
      </p:sp>
      <p:sp>
        <p:nvSpPr>
          <p:cNvPr id="9" name="Text Placeholder 8">
            <a:extLst>
              <a:ext uri="{FF2B5EF4-FFF2-40B4-BE49-F238E27FC236}">
                <a16:creationId xmlns:a16="http://schemas.microsoft.com/office/drawing/2014/main" id="{C6CAEC1C-3E3E-4C0E-7170-4F15C61F7BDA}"/>
              </a:ext>
            </a:extLst>
          </p:cNvPr>
          <p:cNvSpPr>
            <a:spLocks noGrp="1"/>
          </p:cNvSpPr>
          <p:nvPr>
            <p:ph type="body" sz="quarter" idx="16"/>
          </p:nvPr>
        </p:nvSpPr>
        <p:spPr>
          <a:xfrm>
            <a:off x="2167377" y="6556917"/>
            <a:ext cx="9768906" cy="5575610"/>
          </a:xfrm>
        </p:spPr>
        <p:txBody>
          <a:bodyPr>
            <a:normAutofit/>
          </a:bodyPr>
          <a:lstStyle/>
          <a:p>
            <a:r>
              <a:rPr lang="en-US" dirty="0"/>
              <a:t>Tier 1 network can reach every other network on the Internet without purchasing IP transit or paying settlements; examples of Tier 1 networks are Verizon, ATT, NTT, and Deutsche Telecom.</a:t>
            </a:r>
          </a:p>
          <a:p>
            <a:r>
              <a:rPr lang="en-US" dirty="0"/>
              <a:t>Tier 2 network is an Internet service provider that engages in the practice of peering with other networks but still purchases IP transit to reach some portion of the Internet; Tier 2 providers are the most common providers on the Internet.</a:t>
            </a:r>
          </a:p>
          <a:p>
            <a:r>
              <a:rPr lang="en-US" dirty="0"/>
              <a:t>Tier 3 network purchases transit rights from other networks (typically Tier 2 networks) to reach the Internet. A point-of-presence (POP) is an access point from one place to the rest of the Internet.</a:t>
            </a:r>
          </a:p>
        </p:txBody>
      </p:sp>
      <p:pic>
        <p:nvPicPr>
          <p:cNvPr id="11" name="Picture 10">
            <a:extLst>
              <a:ext uri="{FF2B5EF4-FFF2-40B4-BE49-F238E27FC236}">
                <a16:creationId xmlns:a16="http://schemas.microsoft.com/office/drawing/2014/main" id="{007ECCEC-F87F-528C-5BA5-32696700FE61}"/>
              </a:ext>
            </a:extLst>
          </p:cNvPr>
          <p:cNvPicPr>
            <a:picLocks noChangeAspect="1"/>
          </p:cNvPicPr>
          <p:nvPr/>
        </p:nvPicPr>
        <p:blipFill>
          <a:blip r:embed="rId2">
            <a:extLst>
              <a:ext uri="{28A0092B-C50C-407E-A947-70E740481C1C}">
                <a14:useLocalDpi xmlns:a14="http://schemas.microsoft.com/office/drawing/2010/main" val="0"/>
              </a:ext>
            </a:extLst>
          </a:blip>
          <a:srcRect l="1388" t="2414" r="-243"/>
          <a:stretch>
            <a:fillRect/>
          </a:stretch>
        </p:blipFill>
        <p:spPr>
          <a:xfrm>
            <a:off x="12631479" y="3402419"/>
            <a:ext cx="10994065" cy="7730648"/>
          </a:xfrm>
          <a:prstGeom prst="rect">
            <a:avLst/>
          </a:prstGeom>
          <a:noFill/>
        </p:spPr>
      </p:pic>
      <p:sp>
        <p:nvSpPr>
          <p:cNvPr id="8" name="Text Placeholder 7">
            <a:extLst>
              <a:ext uri="{FF2B5EF4-FFF2-40B4-BE49-F238E27FC236}">
                <a16:creationId xmlns:a16="http://schemas.microsoft.com/office/drawing/2014/main" id="{2DC53045-19E4-98CE-73B3-3ECB2C6F731C}"/>
              </a:ext>
            </a:extLst>
          </p:cNvPr>
          <p:cNvSpPr>
            <a:spLocks noGrp="1"/>
          </p:cNvSpPr>
          <p:nvPr>
            <p:ph type="body" sz="quarter" idx="17"/>
          </p:nvPr>
        </p:nvSpPr>
        <p:spPr>
          <a:xfrm>
            <a:off x="2166938" y="4210049"/>
            <a:ext cx="9768874" cy="2039112"/>
          </a:xfrm>
        </p:spPr>
        <p:txBody>
          <a:bodyPr>
            <a:normAutofit/>
          </a:bodyPr>
          <a:lstStyle/>
          <a:p>
            <a:r>
              <a:rPr lang="en-US" sz="3600" dirty="0"/>
              <a:t>Based on these relationships, the networks are commonly classified as Tier 1, 2, and 3.</a:t>
            </a:r>
          </a:p>
        </p:txBody>
      </p:sp>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CD6A-89A6-F879-CC24-253C6EFC8E6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FE9CCC-E831-7F9C-491D-DBCE09A7B276}"/>
              </a:ext>
            </a:extLst>
          </p:cNvPr>
          <p:cNvSpPr>
            <a:spLocks noGrp="1"/>
          </p:cNvSpPr>
          <p:nvPr>
            <p:ph type="title"/>
          </p:nvPr>
        </p:nvSpPr>
        <p:spPr>
          <a:xfrm>
            <a:off x="2167377" y="1871164"/>
            <a:ext cx="14715569" cy="511175"/>
          </a:xfrm>
        </p:spPr>
        <p:txBody>
          <a:bodyPr>
            <a:normAutofit/>
          </a:bodyPr>
          <a:lstStyle/>
          <a:p>
            <a:r>
              <a:rPr lang="en-US" sz="3200" dirty="0"/>
              <a:t>Network Classes</a:t>
            </a:r>
          </a:p>
        </p:txBody>
      </p:sp>
      <p:sp>
        <p:nvSpPr>
          <p:cNvPr id="7" name="Text Placeholder 6">
            <a:extLst>
              <a:ext uri="{FF2B5EF4-FFF2-40B4-BE49-F238E27FC236}">
                <a16:creationId xmlns:a16="http://schemas.microsoft.com/office/drawing/2014/main" id="{A3570689-2A27-A811-82C9-E205DCF236DC}"/>
              </a:ext>
            </a:extLst>
          </p:cNvPr>
          <p:cNvSpPr>
            <a:spLocks noGrp="1"/>
          </p:cNvSpPr>
          <p:nvPr>
            <p:ph type="body" sz="quarter" idx="10"/>
          </p:nvPr>
        </p:nvSpPr>
        <p:spPr>
          <a:xfrm>
            <a:off x="2167377" y="2419728"/>
            <a:ext cx="9768875" cy="803546"/>
          </a:xfrm>
        </p:spPr>
        <p:txBody>
          <a:bodyPr>
            <a:normAutofit/>
          </a:bodyPr>
          <a:lstStyle/>
          <a:p>
            <a:r>
              <a:rPr lang="en-US" sz="2700" dirty="0"/>
              <a:t>More on that</a:t>
            </a:r>
          </a:p>
        </p:txBody>
      </p:sp>
      <p:sp>
        <p:nvSpPr>
          <p:cNvPr id="9" name="Text Placeholder 8">
            <a:extLst>
              <a:ext uri="{FF2B5EF4-FFF2-40B4-BE49-F238E27FC236}">
                <a16:creationId xmlns:a16="http://schemas.microsoft.com/office/drawing/2014/main" id="{DC59B809-187C-2A0A-A783-A1E2517BD2D0}"/>
              </a:ext>
            </a:extLst>
          </p:cNvPr>
          <p:cNvSpPr>
            <a:spLocks noGrp="1"/>
          </p:cNvSpPr>
          <p:nvPr>
            <p:ph type="body" sz="quarter" idx="16"/>
          </p:nvPr>
        </p:nvSpPr>
        <p:spPr>
          <a:xfrm>
            <a:off x="2167377" y="6556917"/>
            <a:ext cx="9768906" cy="5575610"/>
          </a:xfrm>
        </p:spPr>
        <p:txBody>
          <a:bodyPr>
            <a:normAutofit/>
          </a:bodyPr>
          <a:lstStyle/>
          <a:p>
            <a:pPr algn="just"/>
            <a:r>
              <a:rPr lang="en-US" dirty="0"/>
              <a:t>Internet exchange point (IXP) is a physical infrastructure enabling Internet Service Providers (ISPs) to exchange Internet traffic. </a:t>
            </a:r>
          </a:p>
          <a:p>
            <a:pPr algn="just"/>
            <a:r>
              <a:rPr lang="en-US" dirty="0"/>
              <a:t>IXPs interconnect networks directly via the exchange, rather than through one or more third-party networks. </a:t>
            </a:r>
          </a:p>
          <a:p>
            <a:pPr algn="just"/>
            <a:r>
              <a:rPr lang="en-US" dirty="0"/>
              <a:t>The advantages of the direct interconnection are numerous, but the primary reasons to implement an IXP are cost, latency, and bandwidth. </a:t>
            </a:r>
          </a:p>
          <a:p>
            <a:pPr algn="just"/>
            <a:r>
              <a:rPr lang="en-US" dirty="0"/>
              <a:t>IXPs reduce the portion of an ISP's traffic that must be delivered via their upstream transit providers, thereby reducing the average per-bit delivery cost of their service</a:t>
            </a:r>
          </a:p>
        </p:txBody>
      </p:sp>
      <p:pic>
        <p:nvPicPr>
          <p:cNvPr id="11" name="Picture 10">
            <a:extLst>
              <a:ext uri="{FF2B5EF4-FFF2-40B4-BE49-F238E27FC236}">
                <a16:creationId xmlns:a16="http://schemas.microsoft.com/office/drawing/2014/main" id="{71D5176B-BBFA-CCD6-102F-B5F06AE6AAA5}"/>
              </a:ext>
            </a:extLst>
          </p:cNvPr>
          <p:cNvPicPr>
            <a:picLocks noChangeAspect="1"/>
          </p:cNvPicPr>
          <p:nvPr/>
        </p:nvPicPr>
        <p:blipFill>
          <a:blip r:embed="rId2">
            <a:extLst>
              <a:ext uri="{28A0092B-C50C-407E-A947-70E740481C1C}">
                <a14:useLocalDpi xmlns:a14="http://schemas.microsoft.com/office/drawing/2010/main" val="0"/>
              </a:ext>
            </a:extLst>
          </a:blip>
          <a:srcRect l="1388" t="2414" r="-243"/>
          <a:stretch>
            <a:fillRect/>
          </a:stretch>
        </p:blipFill>
        <p:spPr>
          <a:xfrm>
            <a:off x="12631479" y="3402419"/>
            <a:ext cx="10994065" cy="7730648"/>
          </a:xfrm>
          <a:prstGeom prst="rect">
            <a:avLst/>
          </a:prstGeom>
          <a:noFill/>
        </p:spPr>
      </p:pic>
      <p:sp>
        <p:nvSpPr>
          <p:cNvPr id="8" name="Text Placeholder 7">
            <a:extLst>
              <a:ext uri="{FF2B5EF4-FFF2-40B4-BE49-F238E27FC236}">
                <a16:creationId xmlns:a16="http://schemas.microsoft.com/office/drawing/2014/main" id="{CDC8264D-50E1-19D1-48BA-3828CD8C07BC}"/>
              </a:ext>
            </a:extLst>
          </p:cNvPr>
          <p:cNvSpPr>
            <a:spLocks noGrp="1"/>
          </p:cNvSpPr>
          <p:nvPr>
            <p:ph type="body" sz="quarter" idx="17"/>
          </p:nvPr>
        </p:nvSpPr>
        <p:spPr>
          <a:xfrm>
            <a:off x="2166938" y="4210049"/>
            <a:ext cx="9768874" cy="2039112"/>
          </a:xfrm>
        </p:spPr>
        <p:txBody>
          <a:bodyPr>
            <a:normAutofit/>
          </a:bodyPr>
          <a:lstStyle/>
          <a:p>
            <a:endParaRPr lang="en-US" sz="3600" dirty="0"/>
          </a:p>
        </p:txBody>
      </p:sp>
    </p:spTree>
    <p:extLst>
      <p:ext uri="{BB962C8B-B14F-4D97-AF65-F5344CB8AC3E}">
        <p14:creationId xmlns:p14="http://schemas.microsoft.com/office/powerpoint/2010/main" val="355550694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84A8-5557-90FC-FFF0-90A581A15A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41058-6E58-3522-F0B4-DBF4AB7D6B76}"/>
              </a:ext>
            </a:extLst>
          </p:cNvPr>
          <p:cNvSpPr>
            <a:spLocks noGrp="1"/>
          </p:cNvSpPr>
          <p:nvPr>
            <p:ph type="title"/>
          </p:nvPr>
        </p:nvSpPr>
        <p:spPr>
          <a:xfrm>
            <a:off x="2167377" y="1871164"/>
            <a:ext cx="14715569" cy="511175"/>
          </a:xfrm>
        </p:spPr>
        <p:txBody>
          <a:bodyPr>
            <a:normAutofit/>
          </a:bodyPr>
          <a:lstStyle/>
          <a:p>
            <a:r>
              <a:rPr lang="en-US" sz="3200" dirty="0"/>
              <a:t>Internet protocol</a:t>
            </a:r>
          </a:p>
        </p:txBody>
      </p:sp>
      <p:sp>
        <p:nvSpPr>
          <p:cNvPr id="7" name="Text Placeholder 6">
            <a:extLst>
              <a:ext uri="{FF2B5EF4-FFF2-40B4-BE49-F238E27FC236}">
                <a16:creationId xmlns:a16="http://schemas.microsoft.com/office/drawing/2014/main" id="{E0FFCD34-8840-6A37-C228-DB239D21DC72}"/>
              </a:ext>
            </a:extLst>
          </p:cNvPr>
          <p:cNvSpPr>
            <a:spLocks noGrp="1"/>
          </p:cNvSpPr>
          <p:nvPr>
            <p:ph type="body" sz="quarter" idx="10"/>
          </p:nvPr>
        </p:nvSpPr>
        <p:spPr>
          <a:xfrm>
            <a:off x="2167377" y="2419728"/>
            <a:ext cx="9768875" cy="803546"/>
          </a:xfrm>
        </p:spPr>
        <p:txBody>
          <a:bodyPr>
            <a:normAutofit/>
          </a:bodyPr>
          <a:lstStyle/>
          <a:p>
            <a:r>
              <a:rPr lang="en-US" dirty="0"/>
              <a:t>Migration to IPV6</a:t>
            </a:r>
          </a:p>
        </p:txBody>
      </p:sp>
      <p:sp>
        <p:nvSpPr>
          <p:cNvPr id="9" name="Text Placeholder 8">
            <a:extLst>
              <a:ext uri="{FF2B5EF4-FFF2-40B4-BE49-F238E27FC236}">
                <a16:creationId xmlns:a16="http://schemas.microsoft.com/office/drawing/2014/main" id="{3CF615AB-C908-182A-0B59-393D7CDC511B}"/>
              </a:ext>
            </a:extLst>
          </p:cNvPr>
          <p:cNvSpPr>
            <a:spLocks noGrp="1"/>
          </p:cNvSpPr>
          <p:nvPr>
            <p:ph type="body" sz="quarter" idx="16"/>
          </p:nvPr>
        </p:nvSpPr>
        <p:spPr>
          <a:xfrm>
            <a:off x="2167377" y="6556917"/>
            <a:ext cx="9768906" cy="5575610"/>
          </a:xfrm>
        </p:spPr>
        <p:txBody>
          <a:bodyPr>
            <a:normAutofit/>
          </a:bodyPr>
          <a:lstStyle/>
          <a:p>
            <a:r>
              <a:rPr lang="en-US" sz="2800" dirty="0"/>
              <a:t>It sounds like a lot but by February 2011, The Internet Assigned Number Authority (IANA) assigned the last batch of five address block to the regional internet registries. Meaning that they ran out of address block (about 16.7 million possible addresses)</a:t>
            </a:r>
          </a:p>
          <a:p>
            <a:r>
              <a:rPr lang="en-US" sz="3200" dirty="0"/>
              <a:t>Internet Protocol Version 6 (IPv6) provides an addressing capability of 2128, or 3.4×1038 addresses.</a:t>
            </a:r>
          </a:p>
          <a:p>
            <a:endParaRPr lang="en-US" sz="2800" dirty="0"/>
          </a:p>
        </p:txBody>
      </p:sp>
      <p:pic>
        <p:nvPicPr>
          <p:cNvPr id="11" name="Picture 10">
            <a:extLst>
              <a:ext uri="{FF2B5EF4-FFF2-40B4-BE49-F238E27FC236}">
                <a16:creationId xmlns:a16="http://schemas.microsoft.com/office/drawing/2014/main" id="{A7FEE5F9-F887-E434-66EB-D8DD4B3A83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346" r="2346"/>
          <a:stretch/>
        </p:blipFill>
        <p:spPr>
          <a:xfrm>
            <a:off x="11935812" y="3661632"/>
            <a:ext cx="12374880" cy="7634640"/>
          </a:xfrm>
          <a:prstGeom prst="rect">
            <a:avLst/>
          </a:prstGeom>
          <a:noFill/>
        </p:spPr>
      </p:pic>
      <p:sp>
        <p:nvSpPr>
          <p:cNvPr id="8" name="Text Placeholder 7">
            <a:extLst>
              <a:ext uri="{FF2B5EF4-FFF2-40B4-BE49-F238E27FC236}">
                <a16:creationId xmlns:a16="http://schemas.microsoft.com/office/drawing/2014/main" id="{DD0001F0-1F68-D624-93F9-00382EF23FD8}"/>
              </a:ext>
            </a:extLst>
          </p:cNvPr>
          <p:cNvSpPr>
            <a:spLocks noGrp="1"/>
          </p:cNvSpPr>
          <p:nvPr>
            <p:ph type="body" sz="quarter" idx="17"/>
          </p:nvPr>
        </p:nvSpPr>
        <p:spPr>
          <a:xfrm>
            <a:off x="2166938" y="4210049"/>
            <a:ext cx="9768874" cy="2039112"/>
          </a:xfrm>
        </p:spPr>
        <p:txBody>
          <a:bodyPr>
            <a:normAutofit fontScale="92500" lnSpcReduction="20000"/>
          </a:bodyPr>
          <a:lstStyle/>
          <a:p>
            <a:r>
              <a:rPr lang="en-US" dirty="0"/>
              <a:t>Internet Protocol, Version 4 (IPv4), provides an addressing capability of 232, or approximately 4.3 billion IP addresses, a number that proved to be insufficient</a:t>
            </a:r>
          </a:p>
        </p:txBody>
      </p:sp>
      <p:sp>
        <p:nvSpPr>
          <p:cNvPr id="2" name="TextBox 1">
            <a:extLst>
              <a:ext uri="{FF2B5EF4-FFF2-40B4-BE49-F238E27FC236}">
                <a16:creationId xmlns:a16="http://schemas.microsoft.com/office/drawing/2014/main" id="{FB7573E7-CCC1-C393-5EAD-A5094D92DA1E}"/>
              </a:ext>
            </a:extLst>
          </p:cNvPr>
          <p:cNvSpPr txBox="1"/>
          <p:nvPr/>
        </p:nvSpPr>
        <p:spPr>
          <a:xfrm>
            <a:off x="16510631" y="11319355"/>
            <a:ext cx="3225242" cy="241092"/>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900">
                <a:hlinkClick r:id="rId3" tooltip="https://blog.gelin.ru/2018/11/ipv6.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17576217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8978A-1F3F-9843-8E63-8AB725B34D2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9BBE505-1DCD-7E2D-BFAF-7551CAFD2E6D}"/>
              </a:ext>
            </a:extLst>
          </p:cNvPr>
          <p:cNvSpPr>
            <a:spLocks noGrp="1"/>
          </p:cNvSpPr>
          <p:nvPr>
            <p:ph type="title"/>
          </p:nvPr>
        </p:nvSpPr>
        <p:spPr>
          <a:xfrm>
            <a:off x="2167377" y="1871164"/>
            <a:ext cx="14715569" cy="511175"/>
          </a:xfrm>
        </p:spPr>
        <p:txBody>
          <a:bodyPr>
            <a:normAutofit/>
          </a:bodyPr>
          <a:lstStyle/>
          <a:p>
            <a:r>
              <a:rPr lang="en-US" sz="3200" dirty="0"/>
              <a:t>Internet protocol</a:t>
            </a:r>
          </a:p>
        </p:txBody>
      </p:sp>
      <p:sp>
        <p:nvSpPr>
          <p:cNvPr id="7" name="Text Placeholder 6">
            <a:extLst>
              <a:ext uri="{FF2B5EF4-FFF2-40B4-BE49-F238E27FC236}">
                <a16:creationId xmlns:a16="http://schemas.microsoft.com/office/drawing/2014/main" id="{7AD78B3A-C590-4561-B8AA-F8259E828C7F}"/>
              </a:ext>
            </a:extLst>
          </p:cNvPr>
          <p:cNvSpPr>
            <a:spLocks noGrp="1"/>
          </p:cNvSpPr>
          <p:nvPr>
            <p:ph type="body" sz="quarter" idx="10"/>
          </p:nvPr>
        </p:nvSpPr>
        <p:spPr>
          <a:xfrm>
            <a:off x="2167377" y="2419728"/>
            <a:ext cx="9768875" cy="803546"/>
          </a:xfrm>
        </p:spPr>
        <p:txBody>
          <a:bodyPr>
            <a:normAutofit/>
          </a:bodyPr>
          <a:lstStyle/>
          <a:p>
            <a:r>
              <a:rPr lang="en-US" dirty="0"/>
              <a:t>Ipv4 and ipv6 major differences</a:t>
            </a:r>
          </a:p>
        </p:txBody>
      </p:sp>
      <p:sp>
        <p:nvSpPr>
          <p:cNvPr id="9" name="Text Placeholder 8">
            <a:extLst>
              <a:ext uri="{FF2B5EF4-FFF2-40B4-BE49-F238E27FC236}">
                <a16:creationId xmlns:a16="http://schemas.microsoft.com/office/drawing/2014/main" id="{77BDF6C9-68EB-79E6-E404-85599B5498BE}"/>
              </a:ext>
            </a:extLst>
          </p:cNvPr>
          <p:cNvSpPr>
            <a:spLocks noGrp="1"/>
          </p:cNvSpPr>
          <p:nvPr>
            <p:ph type="body" sz="quarter" idx="16"/>
          </p:nvPr>
        </p:nvSpPr>
        <p:spPr>
          <a:xfrm>
            <a:off x="2167377" y="6556917"/>
            <a:ext cx="9768906" cy="5575610"/>
          </a:xfrm>
        </p:spPr>
        <p:txBody>
          <a:bodyPr>
            <a:normAutofit/>
          </a:bodyPr>
          <a:lstStyle/>
          <a:p>
            <a:r>
              <a:rPr lang="en-US" sz="2800" dirty="0"/>
              <a:t>It sounds like a lot but by February 2011, The Internet Assigned Number Authority (IANA) assigned the last batch of five address block to the regional internet registries. Meaning that they ran out of address block (about 16.7 million possible addresses)</a:t>
            </a:r>
          </a:p>
          <a:p>
            <a:r>
              <a:rPr lang="en-US" sz="3200" dirty="0"/>
              <a:t>Internet Protocol Version 6 (IPv6) provides an addressing capability of 2128, or 3.4×1038 addresses.</a:t>
            </a:r>
          </a:p>
          <a:p>
            <a:endParaRPr lang="en-US" sz="2800" dirty="0"/>
          </a:p>
        </p:txBody>
      </p:sp>
      <p:pic>
        <p:nvPicPr>
          <p:cNvPr id="11" name="Picture 10">
            <a:extLst>
              <a:ext uri="{FF2B5EF4-FFF2-40B4-BE49-F238E27FC236}">
                <a16:creationId xmlns:a16="http://schemas.microsoft.com/office/drawing/2014/main" id="{CB302CF5-100C-DEB4-2244-DF0ABD056C9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346" r="2346"/>
          <a:stretch/>
        </p:blipFill>
        <p:spPr>
          <a:xfrm>
            <a:off x="11935812" y="3661632"/>
            <a:ext cx="12374880" cy="7634640"/>
          </a:xfrm>
          <a:prstGeom prst="rect">
            <a:avLst/>
          </a:prstGeom>
          <a:noFill/>
        </p:spPr>
      </p:pic>
      <p:sp>
        <p:nvSpPr>
          <p:cNvPr id="8" name="Text Placeholder 7">
            <a:extLst>
              <a:ext uri="{FF2B5EF4-FFF2-40B4-BE49-F238E27FC236}">
                <a16:creationId xmlns:a16="http://schemas.microsoft.com/office/drawing/2014/main" id="{AA69CD44-7C0F-919F-C1E7-13E27048A61A}"/>
              </a:ext>
            </a:extLst>
          </p:cNvPr>
          <p:cNvSpPr>
            <a:spLocks noGrp="1"/>
          </p:cNvSpPr>
          <p:nvPr>
            <p:ph type="body" sz="quarter" idx="17"/>
          </p:nvPr>
        </p:nvSpPr>
        <p:spPr>
          <a:xfrm>
            <a:off x="2166938" y="4210049"/>
            <a:ext cx="9768874" cy="2039112"/>
          </a:xfrm>
        </p:spPr>
        <p:txBody>
          <a:bodyPr>
            <a:normAutofit/>
          </a:bodyPr>
          <a:lstStyle/>
          <a:p>
            <a:r>
              <a:rPr lang="en-US" dirty="0"/>
              <a:t>Multicasting</a:t>
            </a:r>
          </a:p>
        </p:txBody>
      </p:sp>
      <p:sp>
        <p:nvSpPr>
          <p:cNvPr id="2" name="TextBox 1">
            <a:extLst>
              <a:ext uri="{FF2B5EF4-FFF2-40B4-BE49-F238E27FC236}">
                <a16:creationId xmlns:a16="http://schemas.microsoft.com/office/drawing/2014/main" id="{C04B4B58-2332-B831-2C35-1C39D9C21863}"/>
              </a:ext>
            </a:extLst>
          </p:cNvPr>
          <p:cNvSpPr txBox="1"/>
          <p:nvPr/>
        </p:nvSpPr>
        <p:spPr>
          <a:xfrm>
            <a:off x="16510631" y="11319355"/>
            <a:ext cx="3225242" cy="241092"/>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900">
                <a:hlinkClick r:id="rId3" tooltip="https://blog.gelin.ru/2018/11/ipv6.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99414678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FBB88-6731-F2CA-C813-62D147E78BE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AB1B0B0-11BE-ACEE-A929-8049081B4631}"/>
              </a:ext>
            </a:extLst>
          </p:cNvPr>
          <p:cNvSpPr>
            <a:spLocks noGrp="1"/>
          </p:cNvSpPr>
          <p:nvPr>
            <p:ph type="title"/>
          </p:nvPr>
        </p:nvSpPr>
        <p:spPr>
          <a:xfrm>
            <a:off x="2167377" y="1871164"/>
            <a:ext cx="14715569" cy="511175"/>
          </a:xfrm>
        </p:spPr>
        <p:txBody>
          <a:bodyPr>
            <a:normAutofit/>
          </a:bodyPr>
          <a:lstStyle/>
          <a:p>
            <a:r>
              <a:rPr lang="en-US" sz="3200" dirty="0"/>
              <a:t>Internet protocol</a:t>
            </a:r>
          </a:p>
        </p:txBody>
      </p:sp>
      <p:sp>
        <p:nvSpPr>
          <p:cNvPr id="7" name="Text Placeholder 6">
            <a:extLst>
              <a:ext uri="{FF2B5EF4-FFF2-40B4-BE49-F238E27FC236}">
                <a16:creationId xmlns:a16="http://schemas.microsoft.com/office/drawing/2014/main" id="{055240F7-0EAC-A569-93C0-9F3EDFA6462D}"/>
              </a:ext>
            </a:extLst>
          </p:cNvPr>
          <p:cNvSpPr>
            <a:spLocks noGrp="1"/>
          </p:cNvSpPr>
          <p:nvPr>
            <p:ph type="body" sz="quarter" idx="10"/>
          </p:nvPr>
        </p:nvSpPr>
        <p:spPr>
          <a:xfrm>
            <a:off x="2167377" y="2419728"/>
            <a:ext cx="9768875" cy="803546"/>
          </a:xfrm>
        </p:spPr>
        <p:txBody>
          <a:bodyPr>
            <a:normAutofit/>
          </a:bodyPr>
          <a:lstStyle/>
          <a:p>
            <a:r>
              <a:rPr lang="en-US" dirty="0"/>
              <a:t>Ipv4 and ipv6 major differences</a:t>
            </a:r>
          </a:p>
        </p:txBody>
      </p:sp>
      <p:sp>
        <p:nvSpPr>
          <p:cNvPr id="9" name="Text Placeholder 8">
            <a:extLst>
              <a:ext uri="{FF2B5EF4-FFF2-40B4-BE49-F238E27FC236}">
                <a16:creationId xmlns:a16="http://schemas.microsoft.com/office/drawing/2014/main" id="{68B6282A-4111-39A2-025A-40F8CD2EE9E3}"/>
              </a:ext>
            </a:extLst>
          </p:cNvPr>
          <p:cNvSpPr>
            <a:spLocks noGrp="1"/>
          </p:cNvSpPr>
          <p:nvPr>
            <p:ph type="body" sz="quarter" idx="16"/>
          </p:nvPr>
        </p:nvSpPr>
        <p:spPr>
          <a:xfrm>
            <a:off x="2167377" y="6556917"/>
            <a:ext cx="9768906" cy="5575610"/>
          </a:xfrm>
        </p:spPr>
        <p:txBody>
          <a:bodyPr>
            <a:normAutofit/>
          </a:bodyPr>
          <a:lstStyle/>
          <a:p>
            <a:r>
              <a:rPr lang="en-US" sz="2800" dirty="0"/>
              <a:t>IPv6 hosts can configure themselves automatically using router-discovery messages when connected to a routed IPv6 network using ICMPv6 (Internet Control Message Protocol v6). </a:t>
            </a:r>
          </a:p>
          <a:p>
            <a:r>
              <a:rPr lang="en-US" sz="2800" dirty="0"/>
              <a:t>When first connected to a network, a host sends a link-local router solicitation multicast request for its configuration parameters. If suitably configured, routers respond to such a request with a router advertisement packet that contains network-layer configuration parameters.</a:t>
            </a:r>
          </a:p>
        </p:txBody>
      </p:sp>
      <p:pic>
        <p:nvPicPr>
          <p:cNvPr id="11" name="Picture 10">
            <a:extLst>
              <a:ext uri="{FF2B5EF4-FFF2-40B4-BE49-F238E27FC236}">
                <a16:creationId xmlns:a16="http://schemas.microsoft.com/office/drawing/2014/main" id="{859A9D8E-B1B0-7CC4-7A2E-4ECD7809B3B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90" r="380"/>
          <a:stretch>
            <a:fillRect/>
          </a:stretch>
        </p:blipFill>
        <p:spPr>
          <a:xfrm>
            <a:off x="12191999" y="4976037"/>
            <a:ext cx="12006911" cy="5000862"/>
          </a:xfrm>
          <a:prstGeom prst="rect">
            <a:avLst/>
          </a:prstGeom>
          <a:noFill/>
        </p:spPr>
      </p:pic>
      <p:sp>
        <p:nvSpPr>
          <p:cNvPr id="8" name="Text Placeholder 7">
            <a:extLst>
              <a:ext uri="{FF2B5EF4-FFF2-40B4-BE49-F238E27FC236}">
                <a16:creationId xmlns:a16="http://schemas.microsoft.com/office/drawing/2014/main" id="{EF0A6107-5BE3-FF5E-18CD-D07330DF22AA}"/>
              </a:ext>
            </a:extLst>
          </p:cNvPr>
          <p:cNvSpPr>
            <a:spLocks noGrp="1"/>
          </p:cNvSpPr>
          <p:nvPr>
            <p:ph type="body" sz="quarter" idx="17"/>
          </p:nvPr>
        </p:nvSpPr>
        <p:spPr>
          <a:xfrm>
            <a:off x="2166938" y="4210049"/>
            <a:ext cx="9768874" cy="2039112"/>
          </a:xfrm>
        </p:spPr>
        <p:txBody>
          <a:bodyPr>
            <a:normAutofit/>
          </a:bodyPr>
          <a:lstStyle/>
          <a:p>
            <a:r>
              <a:rPr lang="en-US" dirty="0"/>
              <a:t>Stateless address auto-configuration (SLAAC)</a:t>
            </a:r>
          </a:p>
        </p:txBody>
      </p:sp>
    </p:spTree>
    <p:extLst>
      <p:ext uri="{BB962C8B-B14F-4D97-AF65-F5344CB8AC3E}">
        <p14:creationId xmlns:p14="http://schemas.microsoft.com/office/powerpoint/2010/main" val="2377107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87A3-9002-C8B6-2704-FE0614CD7C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998D01-5182-4A63-6D88-5D5B09E896B9}"/>
              </a:ext>
            </a:extLst>
          </p:cNvPr>
          <p:cNvSpPr>
            <a:spLocks noGrp="1"/>
          </p:cNvSpPr>
          <p:nvPr>
            <p:ph type="title"/>
          </p:nvPr>
        </p:nvSpPr>
        <p:spPr>
          <a:xfrm>
            <a:off x="2167377" y="1871164"/>
            <a:ext cx="14715569" cy="511175"/>
          </a:xfrm>
        </p:spPr>
        <p:txBody>
          <a:bodyPr>
            <a:normAutofit/>
          </a:bodyPr>
          <a:lstStyle/>
          <a:p>
            <a:r>
              <a:rPr lang="en-US" sz="3200" dirty="0"/>
              <a:t>Internet protocol</a:t>
            </a:r>
          </a:p>
        </p:txBody>
      </p:sp>
      <p:sp>
        <p:nvSpPr>
          <p:cNvPr id="7" name="Text Placeholder 6">
            <a:extLst>
              <a:ext uri="{FF2B5EF4-FFF2-40B4-BE49-F238E27FC236}">
                <a16:creationId xmlns:a16="http://schemas.microsoft.com/office/drawing/2014/main" id="{73875E53-405E-4DCE-BE20-449CDF74E788}"/>
              </a:ext>
            </a:extLst>
          </p:cNvPr>
          <p:cNvSpPr>
            <a:spLocks noGrp="1"/>
          </p:cNvSpPr>
          <p:nvPr>
            <p:ph type="body" sz="quarter" idx="10"/>
          </p:nvPr>
        </p:nvSpPr>
        <p:spPr>
          <a:xfrm>
            <a:off x="2167377" y="2419728"/>
            <a:ext cx="9768875" cy="803546"/>
          </a:xfrm>
        </p:spPr>
        <p:txBody>
          <a:bodyPr>
            <a:normAutofit/>
          </a:bodyPr>
          <a:lstStyle/>
          <a:p>
            <a:r>
              <a:rPr lang="en-US" dirty="0"/>
              <a:t>Ipv4 and ipv6 major differences</a:t>
            </a:r>
          </a:p>
        </p:txBody>
      </p:sp>
      <p:sp>
        <p:nvSpPr>
          <p:cNvPr id="9" name="Text Placeholder 8">
            <a:extLst>
              <a:ext uri="{FF2B5EF4-FFF2-40B4-BE49-F238E27FC236}">
                <a16:creationId xmlns:a16="http://schemas.microsoft.com/office/drawing/2014/main" id="{778D0C87-0B8B-C1A1-1476-C2F55EA33645}"/>
              </a:ext>
            </a:extLst>
          </p:cNvPr>
          <p:cNvSpPr>
            <a:spLocks noGrp="1"/>
          </p:cNvSpPr>
          <p:nvPr>
            <p:ph type="body" sz="quarter" idx="16"/>
          </p:nvPr>
        </p:nvSpPr>
        <p:spPr>
          <a:xfrm>
            <a:off x="2167377" y="6556917"/>
            <a:ext cx="9768906" cy="5575610"/>
          </a:xfrm>
        </p:spPr>
        <p:txBody>
          <a:bodyPr>
            <a:normAutofit/>
          </a:bodyPr>
          <a:lstStyle/>
          <a:p>
            <a:r>
              <a:rPr lang="en-US" sz="2800" dirty="0"/>
              <a:t>Internet Network Security (IPsec) is an integral part of the base protocol suite in IPv6, while it is optional for IPv4. IPsec is a protocol suite2 operating at the IP layer. Each IP packet is authenticated and encrypted. Other security protocols, e.g., Secure Sockets Layer (SSL), Transport Layer Security (TLS), and Secure Shell (SSH) operate at the upper layers of the TCP/IP suite.</a:t>
            </a:r>
          </a:p>
        </p:txBody>
      </p:sp>
      <p:pic>
        <p:nvPicPr>
          <p:cNvPr id="11" name="Picture 10">
            <a:extLst>
              <a:ext uri="{FF2B5EF4-FFF2-40B4-BE49-F238E27FC236}">
                <a16:creationId xmlns:a16="http://schemas.microsoft.com/office/drawing/2014/main" id="{7C2C2574-6F1C-8ABE-4492-F1B48EC373B2}"/>
              </a:ext>
            </a:extLst>
          </p:cNvPr>
          <p:cNvPicPr>
            <a:picLocks noChangeAspect="1"/>
          </p:cNvPicPr>
          <p:nvPr/>
        </p:nvPicPr>
        <p:blipFill>
          <a:blip r:embed="rId2">
            <a:extLst>
              <a:ext uri="{28A0092B-C50C-407E-A947-70E740481C1C}">
                <a14:useLocalDpi xmlns:a14="http://schemas.microsoft.com/office/drawing/2010/main" val="0"/>
              </a:ext>
            </a:extLst>
          </a:blip>
          <a:srcRect l="4982" r="4982"/>
          <a:stretch/>
        </p:blipFill>
        <p:spPr>
          <a:xfrm>
            <a:off x="12191999" y="4976037"/>
            <a:ext cx="12006911" cy="5000862"/>
          </a:xfrm>
          <a:prstGeom prst="rect">
            <a:avLst/>
          </a:prstGeom>
          <a:noFill/>
        </p:spPr>
      </p:pic>
      <p:sp>
        <p:nvSpPr>
          <p:cNvPr id="8" name="Text Placeholder 7">
            <a:extLst>
              <a:ext uri="{FF2B5EF4-FFF2-40B4-BE49-F238E27FC236}">
                <a16:creationId xmlns:a16="http://schemas.microsoft.com/office/drawing/2014/main" id="{F141AE71-B31E-EFE2-18CB-1CAF2B992919}"/>
              </a:ext>
            </a:extLst>
          </p:cNvPr>
          <p:cNvSpPr>
            <a:spLocks noGrp="1"/>
          </p:cNvSpPr>
          <p:nvPr>
            <p:ph type="body" sz="quarter" idx="17"/>
          </p:nvPr>
        </p:nvSpPr>
        <p:spPr>
          <a:xfrm>
            <a:off x="2166938" y="4210049"/>
            <a:ext cx="9768874" cy="2039112"/>
          </a:xfrm>
        </p:spPr>
        <p:txBody>
          <a:bodyPr>
            <a:normAutofit/>
          </a:bodyPr>
          <a:lstStyle/>
          <a:p>
            <a:r>
              <a:rPr lang="en-US" dirty="0"/>
              <a:t>Mandatory support for network security.</a:t>
            </a:r>
          </a:p>
        </p:txBody>
      </p:sp>
    </p:spTree>
    <p:extLst>
      <p:ext uri="{BB962C8B-B14F-4D97-AF65-F5344CB8AC3E}">
        <p14:creationId xmlns:p14="http://schemas.microsoft.com/office/powerpoint/2010/main" val="87479363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Content-centric Network</a:t>
            </a:r>
          </a:p>
        </p:txBody>
      </p:sp>
    </p:spTree>
    <p:extLst>
      <p:ext uri="{BB962C8B-B14F-4D97-AF65-F5344CB8AC3E}">
        <p14:creationId xmlns:p14="http://schemas.microsoft.com/office/powerpoint/2010/main" val="121542066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Content-centric network</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In 1999, the TRIAD project at Stanford proposed to use an object name for routing towards the object replica.</a:t>
            </a:r>
          </a:p>
          <a:p>
            <a:r>
              <a:rPr lang="en-US" dirty="0"/>
              <a:t>In 2006 the Data Oriented Network Architecture (DONA) project at UC Berkeley extended TRIAD incorporating security and persistence as primitives of the new network architecture.</a:t>
            </a:r>
          </a:p>
          <a:p>
            <a:r>
              <a:rPr lang="en-US" dirty="0"/>
              <a:t>In 2006 Van Jacobson from UCLA argued that Named Data Networks (NDNs) should be the architecture of the future Internet.</a:t>
            </a:r>
          </a:p>
        </p:txBody>
      </p:sp>
      <p:pic>
        <p:nvPicPr>
          <p:cNvPr id="8" name="Picture Placeholder 7">
            <a:extLst>
              <a:ext uri="{FF2B5EF4-FFF2-40B4-BE49-F238E27FC236}">
                <a16:creationId xmlns:a16="http://schemas.microsoft.com/office/drawing/2014/main" id="{46B0B7D3-5506-E60C-B6DB-B4A033707DE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801" b="1801"/>
          <a:stretch/>
        </p:blipFill>
        <p:spPr>
          <a:xfrm>
            <a:off x="12720054" y="3534732"/>
            <a:ext cx="10858404" cy="7944652"/>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The idea of a content-centric network has been around for some time. </a:t>
            </a:r>
          </a:p>
        </p:txBody>
      </p:sp>
    </p:spTree>
    <p:extLst>
      <p:ext uri="{BB962C8B-B14F-4D97-AF65-F5344CB8AC3E}">
        <p14:creationId xmlns:p14="http://schemas.microsoft.com/office/powerpoint/2010/main" val="414131878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8371-30D4-6994-2A65-F7EC372696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A99804-E377-83A4-9EB4-B8786DE7324A}"/>
              </a:ext>
            </a:extLst>
          </p:cNvPr>
          <p:cNvSpPr>
            <a:spLocks noGrp="1"/>
          </p:cNvSpPr>
          <p:nvPr>
            <p:ph type="title"/>
          </p:nvPr>
        </p:nvSpPr>
        <p:spPr>
          <a:xfrm>
            <a:off x="2167377" y="1871164"/>
            <a:ext cx="14715569" cy="511175"/>
          </a:xfrm>
        </p:spPr>
        <p:txBody>
          <a:bodyPr>
            <a:normAutofit/>
          </a:bodyPr>
          <a:lstStyle/>
          <a:p>
            <a:r>
              <a:rPr lang="en-US" sz="3200" dirty="0"/>
              <a:t>Content-centric network</a:t>
            </a:r>
          </a:p>
        </p:txBody>
      </p:sp>
      <p:sp>
        <p:nvSpPr>
          <p:cNvPr id="13" name="Text Placeholder 2">
            <a:extLst>
              <a:ext uri="{FF2B5EF4-FFF2-40B4-BE49-F238E27FC236}">
                <a16:creationId xmlns:a16="http://schemas.microsoft.com/office/drawing/2014/main" id="{B5428E96-2F6A-8CE2-9210-AC8BD337ACF1}"/>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67BEBF13-CD54-F863-57B7-BC829F85A3FC}"/>
              </a:ext>
            </a:extLst>
          </p:cNvPr>
          <p:cNvSpPr>
            <a:spLocks noGrp="1"/>
          </p:cNvSpPr>
          <p:nvPr>
            <p:ph type="body" sz="quarter" idx="16"/>
          </p:nvPr>
        </p:nvSpPr>
        <p:spPr>
          <a:xfrm>
            <a:off x="2167377" y="6556917"/>
            <a:ext cx="9768906" cy="5575610"/>
          </a:xfrm>
        </p:spPr>
        <p:txBody>
          <a:bodyPr/>
          <a:lstStyle/>
          <a:p>
            <a:r>
              <a:rPr lang="en-US" dirty="0"/>
              <a:t>The important features of the NDN architecture addressed by the current research efforts include namespaces, trust models, in-network storage, data synchronization, and, last but not least, rendezvous, discovery, and bootstrapping.</a:t>
            </a:r>
          </a:p>
          <a:p>
            <a:endParaRPr lang="en-US" dirty="0"/>
          </a:p>
          <a:p>
            <a:endParaRPr lang="en-US" dirty="0"/>
          </a:p>
        </p:txBody>
      </p:sp>
      <p:pic>
        <p:nvPicPr>
          <p:cNvPr id="8" name="Picture Placeholder 7">
            <a:extLst>
              <a:ext uri="{FF2B5EF4-FFF2-40B4-BE49-F238E27FC236}">
                <a16:creationId xmlns:a16="http://schemas.microsoft.com/office/drawing/2014/main" id="{BEF94F7F-0ABD-4885-D0E7-57B090A7126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17" t="3689" r="682"/>
          <a:stretch>
            <a:fillRect/>
          </a:stretch>
        </p:blipFill>
        <p:spPr>
          <a:xfrm>
            <a:off x="11967012" y="4788306"/>
            <a:ext cx="12020040" cy="4690974"/>
          </a:xfrm>
          <a:prstGeom prst="rect">
            <a:avLst/>
          </a:prstGeom>
          <a:noFill/>
        </p:spPr>
      </p:pic>
      <p:sp>
        <p:nvSpPr>
          <p:cNvPr id="17" name="Text Placeholder 5">
            <a:extLst>
              <a:ext uri="{FF2B5EF4-FFF2-40B4-BE49-F238E27FC236}">
                <a16:creationId xmlns:a16="http://schemas.microsoft.com/office/drawing/2014/main" id="{81B2BF96-97B0-CC10-8121-514BCAD62971}"/>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In 2012, the Internet Research Task Force (IRTF) established an information-centric networking (ICN) research working group for investigating architecture designs for NDN.</a:t>
            </a:r>
          </a:p>
        </p:txBody>
      </p:sp>
      <p:sp>
        <p:nvSpPr>
          <p:cNvPr id="2" name="TextBox 6">
            <a:extLst>
              <a:ext uri="{FF2B5EF4-FFF2-40B4-BE49-F238E27FC236}">
                <a16:creationId xmlns:a16="http://schemas.microsoft.com/office/drawing/2014/main" id="{ACBFCC01-CC1E-4BE2-6CCB-DE105579086E}"/>
              </a:ext>
            </a:extLst>
          </p:cNvPr>
          <p:cNvSpPr txBox="1"/>
          <p:nvPr/>
        </p:nvSpPr>
        <p:spPr>
          <a:xfrm>
            <a:off x="16991505" y="10074317"/>
            <a:ext cx="7392495" cy="276999"/>
          </a:xfrm>
          <a:prstGeom prst="rect">
            <a:avLst/>
          </a:prstGeom>
          <a:noFill/>
        </p:spPr>
        <p:txBody>
          <a:bodyPr wrap="square" rtlCol="0">
            <a:spAutoFit/>
          </a:bodyPr>
          <a:lstStyle>
            <a:defPPr>
              <a:defRPr lang="en-US"/>
            </a:defPPr>
            <a:lvl1pPr algn="l" rtl="0" fontAlgn="base">
              <a:spcBef>
                <a:spcPct val="0"/>
              </a:spcBef>
              <a:spcAft>
                <a:spcPct val="0"/>
              </a:spcAft>
              <a:defRPr sz="1200" kern="1200">
                <a:solidFill>
                  <a:schemeClr val="tx1"/>
                </a:solidFill>
                <a:latin typeface="Arial" pitchFamily="34" charset="0"/>
                <a:ea typeface="+mn-ea"/>
                <a:cs typeface="+mn-cs"/>
              </a:defRPr>
            </a:lvl1pPr>
            <a:lvl2pPr marL="457200" algn="l" rtl="0" fontAlgn="base">
              <a:spcBef>
                <a:spcPct val="0"/>
              </a:spcBef>
              <a:spcAft>
                <a:spcPct val="0"/>
              </a:spcAft>
              <a:defRPr sz="1200" kern="1200">
                <a:solidFill>
                  <a:schemeClr val="tx1"/>
                </a:solidFill>
                <a:latin typeface="Arial" pitchFamily="34" charset="0"/>
                <a:ea typeface="+mn-ea"/>
                <a:cs typeface="+mn-cs"/>
              </a:defRPr>
            </a:lvl2pPr>
            <a:lvl3pPr marL="914400" algn="l" rtl="0" fontAlgn="base">
              <a:spcBef>
                <a:spcPct val="0"/>
              </a:spcBef>
              <a:spcAft>
                <a:spcPct val="0"/>
              </a:spcAft>
              <a:defRPr sz="1200" kern="1200">
                <a:solidFill>
                  <a:schemeClr val="tx1"/>
                </a:solidFill>
                <a:latin typeface="Arial" pitchFamily="34" charset="0"/>
                <a:ea typeface="+mn-ea"/>
                <a:cs typeface="+mn-cs"/>
              </a:defRPr>
            </a:lvl3pPr>
            <a:lvl4pPr marL="1371600" algn="l" rtl="0" fontAlgn="base">
              <a:spcBef>
                <a:spcPct val="0"/>
              </a:spcBef>
              <a:spcAft>
                <a:spcPct val="0"/>
              </a:spcAft>
              <a:defRPr sz="1200" kern="1200">
                <a:solidFill>
                  <a:schemeClr val="tx1"/>
                </a:solidFill>
                <a:latin typeface="Arial" pitchFamily="34" charset="0"/>
                <a:ea typeface="+mn-ea"/>
                <a:cs typeface="+mn-cs"/>
              </a:defRPr>
            </a:lvl4pPr>
            <a:lvl5pPr marL="1828800"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a:lstStyle>
          <a:p>
            <a:r>
              <a:rPr lang="en-US" dirty="0"/>
              <a:t>Named Data Network</a:t>
            </a:r>
          </a:p>
        </p:txBody>
      </p:sp>
    </p:spTree>
    <p:extLst>
      <p:ext uri="{BB962C8B-B14F-4D97-AF65-F5344CB8AC3E}">
        <p14:creationId xmlns:p14="http://schemas.microsoft.com/office/powerpoint/2010/main" val="61156369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D87C-5817-C405-7F3A-FE159E44E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DD7CF6-2E3C-2D65-11C6-AE0083096452}"/>
              </a:ext>
            </a:extLst>
          </p:cNvPr>
          <p:cNvSpPr>
            <a:spLocks noGrp="1"/>
          </p:cNvSpPr>
          <p:nvPr>
            <p:ph type="title"/>
          </p:nvPr>
        </p:nvSpPr>
        <p:spPr>
          <a:xfrm>
            <a:off x="2167377" y="1871164"/>
            <a:ext cx="14715569" cy="511175"/>
          </a:xfrm>
        </p:spPr>
        <p:txBody>
          <a:bodyPr>
            <a:normAutofit/>
          </a:bodyPr>
          <a:lstStyle/>
          <a:p>
            <a:r>
              <a:rPr lang="en-US" sz="3200" dirty="0"/>
              <a:t>Content-centric network</a:t>
            </a:r>
          </a:p>
        </p:txBody>
      </p:sp>
      <p:sp>
        <p:nvSpPr>
          <p:cNvPr id="13" name="Text Placeholder 2">
            <a:extLst>
              <a:ext uri="{FF2B5EF4-FFF2-40B4-BE49-F238E27FC236}">
                <a16:creationId xmlns:a16="http://schemas.microsoft.com/office/drawing/2014/main" id="{391426FE-C48C-FE19-BCD8-D68E77B967E8}"/>
              </a:ext>
            </a:extLst>
          </p:cNvPr>
          <p:cNvSpPr>
            <a:spLocks noGrp="1"/>
          </p:cNvSpPr>
          <p:nvPr>
            <p:ph type="body" sz="quarter" idx="10"/>
          </p:nvPr>
        </p:nvSpPr>
        <p:spPr>
          <a:xfrm>
            <a:off x="2167377" y="2419728"/>
            <a:ext cx="9768875" cy="803546"/>
          </a:xfrm>
        </p:spPr>
        <p:txBody>
          <a:bodyPr/>
          <a:lstStyle/>
          <a:p>
            <a:r>
              <a:rPr lang="en-US" dirty="0"/>
              <a:t>NDN</a:t>
            </a:r>
          </a:p>
        </p:txBody>
      </p:sp>
      <p:sp>
        <p:nvSpPr>
          <p:cNvPr id="15" name="Text Placeholder 3">
            <a:extLst>
              <a:ext uri="{FF2B5EF4-FFF2-40B4-BE49-F238E27FC236}">
                <a16:creationId xmlns:a16="http://schemas.microsoft.com/office/drawing/2014/main" id="{735E2885-0C18-B9F4-308F-24E8DD4776C2}"/>
              </a:ext>
            </a:extLst>
          </p:cNvPr>
          <p:cNvSpPr>
            <a:spLocks noGrp="1"/>
          </p:cNvSpPr>
          <p:nvPr>
            <p:ph type="body" sz="quarter" idx="16"/>
          </p:nvPr>
        </p:nvSpPr>
        <p:spPr>
          <a:xfrm>
            <a:off x="2167377" y="6556917"/>
            <a:ext cx="9768906" cy="5575610"/>
          </a:xfrm>
        </p:spPr>
        <p:txBody>
          <a:bodyPr/>
          <a:lstStyle/>
          <a:p>
            <a:r>
              <a:rPr lang="en-US" dirty="0"/>
              <a:t>NDN's hourglass model separates the lower layers of the protocol stack from the upper ones, thus data naming can evolve independently from networking, as in (a). NDN packet delivery is driven by data consumers; </a:t>
            </a:r>
          </a:p>
          <a:p>
            <a:r>
              <a:rPr lang="en-US" dirty="0"/>
              <a:t>communication is initiated by an agent generating an Interest packet containing the name of the data as in (b).</a:t>
            </a:r>
          </a:p>
        </p:txBody>
      </p:sp>
      <p:pic>
        <p:nvPicPr>
          <p:cNvPr id="8" name="Picture Placeholder 7">
            <a:extLst>
              <a:ext uri="{FF2B5EF4-FFF2-40B4-BE49-F238E27FC236}">
                <a16:creationId xmlns:a16="http://schemas.microsoft.com/office/drawing/2014/main" id="{3ED98EF8-5473-E158-758E-716E5CCDD07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17" t="3689" r="682"/>
          <a:stretch>
            <a:fillRect/>
          </a:stretch>
        </p:blipFill>
        <p:spPr>
          <a:xfrm>
            <a:off x="11967012" y="4788306"/>
            <a:ext cx="12020040" cy="4690974"/>
          </a:xfrm>
          <a:prstGeom prst="rect">
            <a:avLst/>
          </a:prstGeom>
          <a:noFill/>
        </p:spPr>
      </p:pic>
      <p:sp>
        <p:nvSpPr>
          <p:cNvPr id="17" name="Text Placeholder 5">
            <a:extLst>
              <a:ext uri="{FF2B5EF4-FFF2-40B4-BE49-F238E27FC236}">
                <a16:creationId xmlns:a16="http://schemas.microsoft.com/office/drawing/2014/main" id="{0025527C-B6E7-4FDE-B958-7BC910AA2121}"/>
              </a:ext>
            </a:extLst>
          </p:cNvPr>
          <p:cNvSpPr>
            <a:spLocks noGrp="1"/>
          </p:cNvSpPr>
          <p:nvPr>
            <p:ph type="body" sz="quarter" idx="17"/>
          </p:nvPr>
        </p:nvSpPr>
        <p:spPr>
          <a:xfrm>
            <a:off x="2166938" y="4210049"/>
            <a:ext cx="9768874" cy="2039112"/>
          </a:xfrm>
        </p:spPr>
        <p:txBody>
          <a:bodyPr>
            <a:normAutofit fontScale="92500"/>
          </a:bodyPr>
          <a:lstStyle/>
          <a:p>
            <a:r>
              <a:rPr lang="en-US" dirty="0"/>
              <a:t>The hourglass model can be extended, and packets can name objects rather than communication endpoints. </a:t>
            </a:r>
          </a:p>
        </p:txBody>
      </p:sp>
      <p:sp>
        <p:nvSpPr>
          <p:cNvPr id="2" name="TextBox 6">
            <a:extLst>
              <a:ext uri="{FF2B5EF4-FFF2-40B4-BE49-F238E27FC236}">
                <a16:creationId xmlns:a16="http://schemas.microsoft.com/office/drawing/2014/main" id="{2F6D0691-8F9C-1221-E64D-8E81640CE5FB}"/>
              </a:ext>
            </a:extLst>
          </p:cNvPr>
          <p:cNvSpPr txBox="1"/>
          <p:nvPr/>
        </p:nvSpPr>
        <p:spPr>
          <a:xfrm>
            <a:off x="16991505" y="10074317"/>
            <a:ext cx="7392495" cy="276999"/>
          </a:xfrm>
          <a:prstGeom prst="rect">
            <a:avLst/>
          </a:prstGeom>
          <a:noFill/>
        </p:spPr>
        <p:txBody>
          <a:bodyPr wrap="square" rtlCol="0">
            <a:spAutoFit/>
          </a:bodyPr>
          <a:lstStyle>
            <a:defPPr>
              <a:defRPr lang="en-US"/>
            </a:defPPr>
            <a:lvl1pPr algn="l" rtl="0" fontAlgn="base">
              <a:spcBef>
                <a:spcPct val="0"/>
              </a:spcBef>
              <a:spcAft>
                <a:spcPct val="0"/>
              </a:spcAft>
              <a:defRPr sz="1200" kern="1200">
                <a:solidFill>
                  <a:schemeClr val="tx1"/>
                </a:solidFill>
                <a:latin typeface="Arial" pitchFamily="34" charset="0"/>
                <a:ea typeface="+mn-ea"/>
                <a:cs typeface="+mn-cs"/>
              </a:defRPr>
            </a:lvl1pPr>
            <a:lvl2pPr marL="457200" algn="l" rtl="0" fontAlgn="base">
              <a:spcBef>
                <a:spcPct val="0"/>
              </a:spcBef>
              <a:spcAft>
                <a:spcPct val="0"/>
              </a:spcAft>
              <a:defRPr sz="1200" kern="1200">
                <a:solidFill>
                  <a:schemeClr val="tx1"/>
                </a:solidFill>
                <a:latin typeface="Arial" pitchFamily="34" charset="0"/>
                <a:ea typeface="+mn-ea"/>
                <a:cs typeface="+mn-cs"/>
              </a:defRPr>
            </a:lvl2pPr>
            <a:lvl3pPr marL="914400" algn="l" rtl="0" fontAlgn="base">
              <a:spcBef>
                <a:spcPct val="0"/>
              </a:spcBef>
              <a:spcAft>
                <a:spcPct val="0"/>
              </a:spcAft>
              <a:defRPr sz="1200" kern="1200">
                <a:solidFill>
                  <a:schemeClr val="tx1"/>
                </a:solidFill>
                <a:latin typeface="Arial" pitchFamily="34" charset="0"/>
                <a:ea typeface="+mn-ea"/>
                <a:cs typeface="+mn-cs"/>
              </a:defRPr>
            </a:lvl3pPr>
            <a:lvl4pPr marL="1371600" algn="l" rtl="0" fontAlgn="base">
              <a:spcBef>
                <a:spcPct val="0"/>
              </a:spcBef>
              <a:spcAft>
                <a:spcPct val="0"/>
              </a:spcAft>
              <a:defRPr sz="1200" kern="1200">
                <a:solidFill>
                  <a:schemeClr val="tx1"/>
                </a:solidFill>
                <a:latin typeface="Arial" pitchFamily="34" charset="0"/>
                <a:ea typeface="+mn-ea"/>
                <a:cs typeface="+mn-cs"/>
              </a:defRPr>
            </a:lvl4pPr>
            <a:lvl5pPr marL="1828800"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a:lstStyle>
          <a:p>
            <a:r>
              <a:rPr lang="en-US" dirty="0"/>
              <a:t>Named Data Network</a:t>
            </a:r>
          </a:p>
        </p:txBody>
      </p:sp>
    </p:spTree>
    <p:extLst>
      <p:ext uri="{BB962C8B-B14F-4D97-AF65-F5344CB8AC3E}">
        <p14:creationId xmlns:p14="http://schemas.microsoft.com/office/powerpoint/2010/main" val="400265774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B9A0D-3DFA-BEF9-D834-9FD098A2A3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0F9DF3-FCE7-731B-0BAE-74E72F969237}"/>
              </a:ext>
            </a:extLst>
          </p:cNvPr>
          <p:cNvSpPr>
            <a:spLocks noGrp="1"/>
          </p:cNvSpPr>
          <p:nvPr>
            <p:ph type="title"/>
          </p:nvPr>
        </p:nvSpPr>
        <p:spPr>
          <a:xfrm>
            <a:off x="2167377" y="1871164"/>
            <a:ext cx="14715569" cy="511175"/>
          </a:xfrm>
        </p:spPr>
        <p:txBody>
          <a:bodyPr>
            <a:normAutofit/>
          </a:bodyPr>
          <a:lstStyle/>
          <a:p>
            <a:r>
              <a:rPr lang="en-US" sz="3200" dirty="0"/>
              <a:t>Content-centric network</a:t>
            </a:r>
          </a:p>
        </p:txBody>
      </p:sp>
      <p:sp>
        <p:nvSpPr>
          <p:cNvPr id="13" name="Text Placeholder 2">
            <a:extLst>
              <a:ext uri="{FF2B5EF4-FFF2-40B4-BE49-F238E27FC236}">
                <a16:creationId xmlns:a16="http://schemas.microsoft.com/office/drawing/2014/main" id="{7FFA2FAD-2C67-A543-E32B-3CE8482AD90A}"/>
              </a:ext>
            </a:extLst>
          </p:cNvPr>
          <p:cNvSpPr>
            <a:spLocks noGrp="1"/>
          </p:cNvSpPr>
          <p:nvPr>
            <p:ph type="body" sz="quarter" idx="10"/>
          </p:nvPr>
        </p:nvSpPr>
        <p:spPr>
          <a:xfrm>
            <a:off x="2167377" y="2419728"/>
            <a:ext cx="9768875" cy="803546"/>
          </a:xfrm>
        </p:spPr>
        <p:txBody>
          <a:bodyPr/>
          <a:lstStyle/>
          <a:p>
            <a:r>
              <a:rPr lang="en-US" dirty="0"/>
              <a:t>NDN</a:t>
            </a:r>
          </a:p>
        </p:txBody>
      </p:sp>
      <p:sp>
        <p:nvSpPr>
          <p:cNvPr id="15" name="Text Placeholder 3">
            <a:extLst>
              <a:ext uri="{FF2B5EF4-FFF2-40B4-BE49-F238E27FC236}">
                <a16:creationId xmlns:a16="http://schemas.microsoft.com/office/drawing/2014/main" id="{EB6DADBF-2464-58AC-F95B-6D31F4B7A66F}"/>
              </a:ext>
            </a:extLst>
          </p:cNvPr>
          <p:cNvSpPr>
            <a:spLocks noGrp="1"/>
          </p:cNvSpPr>
          <p:nvPr>
            <p:ph type="body" sz="quarter" idx="16"/>
          </p:nvPr>
        </p:nvSpPr>
        <p:spPr>
          <a:xfrm>
            <a:off x="2167377" y="6556917"/>
            <a:ext cx="9768906" cy="5575610"/>
          </a:xfrm>
        </p:spPr>
        <p:txBody>
          <a:bodyPr/>
          <a:lstStyle/>
          <a:p>
            <a:r>
              <a:rPr lang="en-US" dirty="0"/>
              <a:t>NDN could be useful for cloud data centers and, in particular, for those supporting the IaaS cloud delivery model. Data is replicated, and multiple instances could access data concurrently from their nearest storage servers. This would be useful for some MapReduce applications, but it would require major changes in frameworks supporting this paradigm.</a:t>
            </a:r>
          </a:p>
        </p:txBody>
      </p:sp>
      <p:pic>
        <p:nvPicPr>
          <p:cNvPr id="8" name="Picture Placeholder 7">
            <a:extLst>
              <a:ext uri="{FF2B5EF4-FFF2-40B4-BE49-F238E27FC236}">
                <a16:creationId xmlns:a16="http://schemas.microsoft.com/office/drawing/2014/main" id="{AF40AF69-08B1-9F3A-EF05-2314656DD0CA}"/>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17" t="3689" r="682"/>
          <a:stretch>
            <a:fillRect/>
          </a:stretch>
        </p:blipFill>
        <p:spPr>
          <a:xfrm>
            <a:off x="11967012" y="4788306"/>
            <a:ext cx="12020040" cy="4690974"/>
          </a:xfrm>
          <a:prstGeom prst="rect">
            <a:avLst/>
          </a:prstGeom>
          <a:noFill/>
        </p:spPr>
      </p:pic>
      <p:sp>
        <p:nvSpPr>
          <p:cNvPr id="17" name="Text Placeholder 5">
            <a:extLst>
              <a:ext uri="{FF2B5EF4-FFF2-40B4-BE49-F238E27FC236}">
                <a16:creationId xmlns:a16="http://schemas.microsoft.com/office/drawing/2014/main" id="{2DD6AC13-4B9A-6045-D092-6B2DFD66533E}"/>
              </a:ext>
            </a:extLst>
          </p:cNvPr>
          <p:cNvSpPr>
            <a:spLocks noGrp="1"/>
          </p:cNvSpPr>
          <p:nvPr>
            <p:ph type="body" sz="quarter" idx="17"/>
          </p:nvPr>
        </p:nvSpPr>
        <p:spPr>
          <a:xfrm>
            <a:off x="2166938" y="4210049"/>
            <a:ext cx="9768874" cy="2039112"/>
          </a:xfrm>
        </p:spPr>
        <p:txBody>
          <a:bodyPr>
            <a:normAutofit fontScale="92500" lnSpcReduction="20000"/>
          </a:bodyPr>
          <a:lstStyle/>
          <a:p>
            <a:r>
              <a:rPr lang="en-US" dirty="0"/>
              <a:t>NDN is a universal overlay. NDN can run over any datagram network and, conversely, any datagram network, including IP, can run over NDN.</a:t>
            </a:r>
          </a:p>
        </p:txBody>
      </p:sp>
      <p:sp>
        <p:nvSpPr>
          <p:cNvPr id="2" name="TextBox 6">
            <a:extLst>
              <a:ext uri="{FF2B5EF4-FFF2-40B4-BE49-F238E27FC236}">
                <a16:creationId xmlns:a16="http://schemas.microsoft.com/office/drawing/2014/main" id="{7D46AEF2-B955-CEED-D77D-479287578A58}"/>
              </a:ext>
            </a:extLst>
          </p:cNvPr>
          <p:cNvSpPr txBox="1"/>
          <p:nvPr/>
        </p:nvSpPr>
        <p:spPr>
          <a:xfrm>
            <a:off x="16991505" y="10074317"/>
            <a:ext cx="7392495" cy="276999"/>
          </a:xfrm>
          <a:prstGeom prst="rect">
            <a:avLst/>
          </a:prstGeom>
          <a:noFill/>
        </p:spPr>
        <p:txBody>
          <a:bodyPr wrap="square" rtlCol="0">
            <a:spAutoFit/>
          </a:bodyPr>
          <a:lstStyle>
            <a:defPPr>
              <a:defRPr lang="en-US"/>
            </a:defPPr>
            <a:lvl1pPr algn="l" rtl="0" fontAlgn="base">
              <a:spcBef>
                <a:spcPct val="0"/>
              </a:spcBef>
              <a:spcAft>
                <a:spcPct val="0"/>
              </a:spcAft>
              <a:defRPr sz="1200" kern="1200">
                <a:solidFill>
                  <a:schemeClr val="tx1"/>
                </a:solidFill>
                <a:latin typeface="Arial" pitchFamily="34" charset="0"/>
                <a:ea typeface="+mn-ea"/>
                <a:cs typeface="+mn-cs"/>
              </a:defRPr>
            </a:lvl1pPr>
            <a:lvl2pPr marL="457200" algn="l" rtl="0" fontAlgn="base">
              <a:spcBef>
                <a:spcPct val="0"/>
              </a:spcBef>
              <a:spcAft>
                <a:spcPct val="0"/>
              </a:spcAft>
              <a:defRPr sz="1200" kern="1200">
                <a:solidFill>
                  <a:schemeClr val="tx1"/>
                </a:solidFill>
                <a:latin typeface="Arial" pitchFamily="34" charset="0"/>
                <a:ea typeface="+mn-ea"/>
                <a:cs typeface="+mn-cs"/>
              </a:defRPr>
            </a:lvl2pPr>
            <a:lvl3pPr marL="914400" algn="l" rtl="0" fontAlgn="base">
              <a:spcBef>
                <a:spcPct val="0"/>
              </a:spcBef>
              <a:spcAft>
                <a:spcPct val="0"/>
              </a:spcAft>
              <a:defRPr sz="1200" kern="1200">
                <a:solidFill>
                  <a:schemeClr val="tx1"/>
                </a:solidFill>
                <a:latin typeface="Arial" pitchFamily="34" charset="0"/>
                <a:ea typeface="+mn-ea"/>
                <a:cs typeface="+mn-cs"/>
              </a:defRPr>
            </a:lvl3pPr>
            <a:lvl4pPr marL="1371600" algn="l" rtl="0" fontAlgn="base">
              <a:spcBef>
                <a:spcPct val="0"/>
              </a:spcBef>
              <a:spcAft>
                <a:spcPct val="0"/>
              </a:spcAft>
              <a:defRPr sz="1200" kern="1200">
                <a:solidFill>
                  <a:schemeClr val="tx1"/>
                </a:solidFill>
                <a:latin typeface="Arial" pitchFamily="34" charset="0"/>
                <a:ea typeface="+mn-ea"/>
                <a:cs typeface="+mn-cs"/>
              </a:defRPr>
            </a:lvl4pPr>
            <a:lvl5pPr marL="1828800"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a:lstStyle>
          <a:p>
            <a:r>
              <a:rPr lang="en-US" dirty="0"/>
              <a:t>Named Data Network</a:t>
            </a:r>
          </a:p>
        </p:txBody>
      </p:sp>
    </p:spTree>
    <p:extLst>
      <p:ext uri="{BB962C8B-B14F-4D97-AF65-F5344CB8AC3E}">
        <p14:creationId xmlns:p14="http://schemas.microsoft.com/office/powerpoint/2010/main" val="339963324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4544A-B629-1973-CB3D-93F3E3B1AB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F9A7C7-47DC-67AE-AC68-D320C2DCA23B}"/>
              </a:ext>
            </a:extLst>
          </p:cNvPr>
          <p:cNvSpPr>
            <a:spLocks noGrp="1"/>
          </p:cNvSpPr>
          <p:nvPr>
            <p:ph type="title"/>
          </p:nvPr>
        </p:nvSpPr>
        <p:spPr>
          <a:xfrm>
            <a:off x="2167377" y="1871164"/>
            <a:ext cx="14715569" cy="511175"/>
          </a:xfrm>
        </p:spPr>
        <p:txBody>
          <a:bodyPr>
            <a:normAutofit/>
          </a:bodyPr>
          <a:lstStyle/>
          <a:p>
            <a:r>
              <a:rPr lang="en-US" sz="3200" dirty="0"/>
              <a:t>Content-centric network</a:t>
            </a:r>
          </a:p>
        </p:txBody>
      </p:sp>
      <p:sp>
        <p:nvSpPr>
          <p:cNvPr id="13" name="Text Placeholder 2">
            <a:extLst>
              <a:ext uri="{FF2B5EF4-FFF2-40B4-BE49-F238E27FC236}">
                <a16:creationId xmlns:a16="http://schemas.microsoft.com/office/drawing/2014/main" id="{4F8CF53D-F5CE-2A55-8C9C-54354BC97D1E}"/>
              </a:ext>
            </a:extLst>
          </p:cNvPr>
          <p:cNvSpPr>
            <a:spLocks noGrp="1"/>
          </p:cNvSpPr>
          <p:nvPr>
            <p:ph type="body" sz="quarter" idx="10"/>
          </p:nvPr>
        </p:nvSpPr>
        <p:spPr>
          <a:xfrm>
            <a:off x="2167377" y="2419728"/>
            <a:ext cx="9768875" cy="803546"/>
          </a:xfrm>
        </p:spPr>
        <p:txBody>
          <a:bodyPr>
            <a:normAutofit/>
          </a:bodyPr>
          <a:lstStyle/>
          <a:p>
            <a:r>
              <a:rPr lang="en-US" dirty="0" err="1"/>
              <a:t>Ndn</a:t>
            </a:r>
            <a:r>
              <a:rPr lang="en-US" dirty="0"/>
              <a:t> vs </a:t>
            </a:r>
            <a:r>
              <a:rPr lang="en-US" dirty="0" err="1"/>
              <a:t>tcp</a:t>
            </a:r>
            <a:r>
              <a:rPr lang="en-US" dirty="0"/>
              <a:t>/</a:t>
            </a:r>
            <a:r>
              <a:rPr lang="en-US" dirty="0" err="1"/>
              <a:t>ip</a:t>
            </a:r>
            <a:endParaRPr lang="en-US" dirty="0"/>
          </a:p>
        </p:txBody>
      </p:sp>
      <p:sp>
        <p:nvSpPr>
          <p:cNvPr id="15" name="Text Placeholder 3">
            <a:extLst>
              <a:ext uri="{FF2B5EF4-FFF2-40B4-BE49-F238E27FC236}">
                <a16:creationId xmlns:a16="http://schemas.microsoft.com/office/drawing/2014/main" id="{B88D661D-CF30-F4CE-B3C6-C8E4CF8B8DE6}"/>
              </a:ext>
            </a:extLst>
          </p:cNvPr>
          <p:cNvSpPr>
            <a:spLocks noGrp="1"/>
          </p:cNvSpPr>
          <p:nvPr>
            <p:ph type="body" sz="quarter" idx="16"/>
          </p:nvPr>
        </p:nvSpPr>
        <p:spPr>
          <a:xfrm>
            <a:off x="2167377" y="6556917"/>
            <a:ext cx="9768906" cy="5575610"/>
          </a:xfrm>
        </p:spPr>
        <p:txBody>
          <a:bodyPr>
            <a:normAutofit/>
          </a:bodyPr>
          <a:lstStyle/>
          <a:p>
            <a:r>
              <a:rPr lang="en-US" dirty="0"/>
              <a:t>NDN namespace cannot be exhausted, while IPv4 address limitation forced migration to IPv6. </a:t>
            </a:r>
          </a:p>
          <a:p>
            <a:r>
              <a:rPr lang="en-US" dirty="0"/>
              <a:t>NDN supports data-centric security; each Data packet is cryptographically signed, while TCP/IP security is left to the communication endpoints. </a:t>
            </a:r>
          </a:p>
          <a:p>
            <a:r>
              <a:rPr lang="en-US" dirty="0"/>
              <a:t>An NDN router announces name prefixes for data it is willing to serve, while an IP router announces IP prefixes.</a:t>
            </a:r>
          </a:p>
        </p:txBody>
      </p:sp>
      <p:pic>
        <p:nvPicPr>
          <p:cNvPr id="1026" name="Picture 2" descr="NDN vs TCP/IP: Which One Is the Best Suitable for Connected ...">
            <a:extLst>
              <a:ext uri="{FF2B5EF4-FFF2-40B4-BE49-F238E27FC236}">
                <a16:creationId xmlns:a16="http://schemas.microsoft.com/office/drawing/2014/main" id="{9A883735-56F8-51B5-D6CA-8004945E348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339930" y="4907291"/>
            <a:ext cx="9099057" cy="652857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031" name="Text Placeholder 5">
            <a:extLst>
              <a:ext uri="{FF2B5EF4-FFF2-40B4-BE49-F238E27FC236}">
                <a16:creationId xmlns:a16="http://schemas.microsoft.com/office/drawing/2014/main" id="{A7413C24-00DA-2731-23B7-05A8F7AB6E49}"/>
              </a:ext>
            </a:extLst>
          </p:cNvPr>
          <p:cNvSpPr>
            <a:spLocks noGrp="1"/>
          </p:cNvSpPr>
          <p:nvPr>
            <p:ph type="body" sz="quarter" idx="17"/>
          </p:nvPr>
        </p:nvSpPr>
        <p:spPr>
          <a:xfrm>
            <a:off x="2166938" y="4210049"/>
            <a:ext cx="9768874" cy="2039112"/>
          </a:xfrm>
        </p:spPr>
        <p:txBody>
          <a:bodyPr/>
          <a:lstStyle/>
          <a:p>
            <a:r>
              <a:rPr lang="en-US" dirty="0"/>
              <a:t>NDN are considered as the future of internet, but how does it different to TCP/IP</a:t>
            </a:r>
          </a:p>
        </p:txBody>
      </p:sp>
    </p:spTree>
    <p:extLst>
      <p:ext uri="{BB962C8B-B14F-4D97-AF65-F5344CB8AC3E}">
        <p14:creationId xmlns:p14="http://schemas.microsoft.com/office/powerpoint/2010/main" val="175882299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Network Resource management</a:t>
            </a:r>
          </a:p>
        </p:txBody>
      </p:sp>
    </p:spTree>
    <p:extLst>
      <p:ext uri="{BB962C8B-B14F-4D97-AF65-F5344CB8AC3E}">
        <p14:creationId xmlns:p14="http://schemas.microsoft.com/office/powerpoint/2010/main" val="275335500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Network Resource Management</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p:txBody>
          <a:bodyPr>
            <a:normAutofit fontScale="92500" lnSpcReduction="10000"/>
          </a:bodyPr>
          <a:lstStyle/>
          <a:p>
            <a:pPr algn="just"/>
            <a:r>
              <a:rPr lang="en-US" sz="3200" dirty="0"/>
              <a:t>A critical aspect of resource management in cloud computing is to guarantee the communication bandwidth required by an application as specified by an SLA. The solutions to this problem are based on the strategies used for some time on the Internet to support the data streaming QoS requirements.</a:t>
            </a:r>
          </a:p>
          <a:p>
            <a:pPr algn="just"/>
            <a:r>
              <a:rPr lang="en-US" sz="3200" dirty="0"/>
              <a:t>A first strategy to avoid network congestion is to use a FCFS scheduling algorithm. The advantage of FCFS algorithm is a simple management of the three quantities: bandwidth, timing, and buffer space. Nevertheless, the FCFS algorithm does not guarantee fairness; greedy flow sources can transmit at a higher rate and benefit from a larger share of the bandwidth.</a:t>
            </a:r>
          </a:p>
        </p:txBody>
      </p:sp>
    </p:spTree>
    <p:extLst>
      <p:ext uri="{BB962C8B-B14F-4D97-AF65-F5344CB8AC3E}">
        <p14:creationId xmlns:p14="http://schemas.microsoft.com/office/powerpoint/2010/main" val="223171280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B4237-51D1-7490-4B7A-E0EDAB6730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8C9BEB-83C4-458C-592B-2762238D2A6C}"/>
              </a:ext>
            </a:extLst>
          </p:cNvPr>
          <p:cNvSpPr>
            <a:spLocks noGrp="1"/>
          </p:cNvSpPr>
          <p:nvPr>
            <p:ph type="title"/>
          </p:nvPr>
        </p:nvSpPr>
        <p:spPr>
          <a:xfrm>
            <a:off x="2167377" y="1871164"/>
            <a:ext cx="14715569" cy="511175"/>
          </a:xfrm>
        </p:spPr>
        <p:txBody>
          <a:bodyPr>
            <a:normAutofit/>
          </a:bodyPr>
          <a:lstStyle/>
          <a:p>
            <a:r>
              <a:rPr lang="en-US" sz="3200" dirty="0"/>
              <a:t>Network Resource Management</a:t>
            </a:r>
          </a:p>
        </p:txBody>
      </p:sp>
      <p:sp>
        <p:nvSpPr>
          <p:cNvPr id="13" name="Text Placeholder 2">
            <a:extLst>
              <a:ext uri="{FF2B5EF4-FFF2-40B4-BE49-F238E27FC236}">
                <a16:creationId xmlns:a16="http://schemas.microsoft.com/office/drawing/2014/main" id="{BAE2DEBF-8B08-BCAA-5536-935FBA4690B4}"/>
              </a:ext>
            </a:extLst>
          </p:cNvPr>
          <p:cNvSpPr>
            <a:spLocks noGrp="1"/>
          </p:cNvSpPr>
          <p:nvPr>
            <p:ph type="body" sz="quarter" idx="10"/>
          </p:nvPr>
        </p:nvSpPr>
        <p:spPr>
          <a:xfrm>
            <a:off x="2167377" y="2419728"/>
            <a:ext cx="9768875" cy="803546"/>
          </a:xfrm>
        </p:spPr>
        <p:txBody>
          <a:bodyPr>
            <a:normAutofit/>
          </a:bodyPr>
          <a:lstStyle/>
          <a:p>
            <a:r>
              <a:rPr lang="en-US" dirty="0"/>
              <a:t>Fair queueing</a:t>
            </a:r>
          </a:p>
        </p:txBody>
      </p:sp>
      <p:sp>
        <p:nvSpPr>
          <p:cNvPr id="15" name="Text Placeholder 3">
            <a:extLst>
              <a:ext uri="{FF2B5EF4-FFF2-40B4-BE49-F238E27FC236}">
                <a16:creationId xmlns:a16="http://schemas.microsoft.com/office/drawing/2014/main" id="{F79C7E78-D75A-9E4C-49F2-E2B2FAF03C19}"/>
              </a:ext>
            </a:extLst>
          </p:cNvPr>
          <p:cNvSpPr>
            <a:spLocks noGrp="1"/>
          </p:cNvSpPr>
          <p:nvPr>
            <p:ph type="body" sz="quarter" idx="16"/>
          </p:nvPr>
        </p:nvSpPr>
        <p:spPr>
          <a:xfrm>
            <a:off x="2167377" y="6556917"/>
            <a:ext cx="9768906" cy="5575610"/>
          </a:xfrm>
        </p:spPr>
        <p:txBody>
          <a:bodyPr>
            <a:normAutofit/>
          </a:bodyPr>
          <a:lstStyle/>
          <a:p>
            <a:r>
              <a:rPr lang="en-US" dirty="0"/>
              <a:t>Packets are first classified into flows by the system and then assigned to a queue dedicated to the flow. Packet queues are serviced one packet at a time in round-robin (RR) order. </a:t>
            </a:r>
          </a:p>
          <a:p>
            <a:r>
              <a:rPr lang="en-US" dirty="0"/>
              <a:t>FQ's objective is max-min fairness. This means that it maximizes first the minimum data rate and then the second minimum data rate of any data flow. Starvation of expensive flows is avoided, but the throughput is low.</a:t>
            </a:r>
          </a:p>
          <a:p>
            <a:r>
              <a:rPr lang="en-US" dirty="0"/>
              <a:t>The FQ algorithm guarantees buffer space management fairness but does not guarantee fairness of bandwidth allocation; a flow transporting large packets will benefit from a larger bandwidth.</a:t>
            </a:r>
          </a:p>
        </p:txBody>
      </p:sp>
      <p:pic>
        <p:nvPicPr>
          <p:cNvPr id="1026" name="Picture 2">
            <a:extLst>
              <a:ext uri="{FF2B5EF4-FFF2-40B4-BE49-F238E27FC236}">
                <a16:creationId xmlns:a16="http://schemas.microsoft.com/office/drawing/2014/main" id="{9F4D1794-E747-05EA-D5C0-2156FA32F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339930" y="4876800"/>
            <a:ext cx="11935695" cy="5324205"/>
          </a:xfrm>
          <a:prstGeom prst="rect">
            <a:avLst/>
          </a:prstGeom>
          <a:solidFill>
            <a:srgbClr val="FFFFFF"/>
          </a:solidFill>
        </p:spPr>
      </p:pic>
      <p:sp>
        <p:nvSpPr>
          <p:cNvPr id="1031" name="Text Placeholder 5">
            <a:extLst>
              <a:ext uri="{FF2B5EF4-FFF2-40B4-BE49-F238E27FC236}">
                <a16:creationId xmlns:a16="http://schemas.microsoft.com/office/drawing/2014/main" id="{1869FF49-629F-081D-299D-A7EDCE95961F}"/>
              </a:ext>
            </a:extLst>
          </p:cNvPr>
          <p:cNvSpPr>
            <a:spLocks noGrp="1"/>
          </p:cNvSpPr>
          <p:nvPr>
            <p:ph type="body" sz="quarter" idx="17"/>
          </p:nvPr>
        </p:nvSpPr>
        <p:spPr>
          <a:xfrm>
            <a:off x="2166938" y="4210049"/>
            <a:ext cx="9768874" cy="2039112"/>
          </a:xfrm>
        </p:spPr>
        <p:txBody>
          <a:bodyPr/>
          <a:lstStyle/>
          <a:p>
            <a:r>
              <a:rPr lang="en-US" dirty="0"/>
              <a:t>The algorithm ensures that a high-data-rate flow cannot use more than its fair share of the link capacity.</a:t>
            </a:r>
          </a:p>
        </p:txBody>
      </p:sp>
    </p:spTree>
    <p:extLst>
      <p:ext uri="{BB962C8B-B14F-4D97-AF65-F5344CB8AC3E}">
        <p14:creationId xmlns:p14="http://schemas.microsoft.com/office/powerpoint/2010/main" val="24595142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FFEA7-7922-61E1-2B25-6DE28EE014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C24F90-566C-2424-F1B9-408B5D170202}"/>
              </a:ext>
            </a:extLst>
          </p:cNvPr>
          <p:cNvSpPr>
            <a:spLocks noGrp="1"/>
          </p:cNvSpPr>
          <p:nvPr>
            <p:ph type="title"/>
          </p:nvPr>
        </p:nvSpPr>
        <p:spPr>
          <a:xfrm>
            <a:off x="2167377" y="1871164"/>
            <a:ext cx="14715569" cy="511175"/>
          </a:xfrm>
        </p:spPr>
        <p:txBody>
          <a:bodyPr>
            <a:normAutofit/>
          </a:bodyPr>
          <a:lstStyle/>
          <a:p>
            <a:r>
              <a:rPr lang="en-US" sz="3200" dirty="0"/>
              <a:t>Network Resource Management</a:t>
            </a:r>
          </a:p>
        </p:txBody>
      </p:sp>
      <p:sp>
        <p:nvSpPr>
          <p:cNvPr id="13" name="Text Placeholder 2">
            <a:extLst>
              <a:ext uri="{FF2B5EF4-FFF2-40B4-BE49-F238E27FC236}">
                <a16:creationId xmlns:a16="http://schemas.microsoft.com/office/drawing/2014/main" id="{482C428C-E076-9A45-ADA4-894E296F7524}"/>
              </a:ext>
            </a:extLst>
          </p:cNvPr>
          <p:cNvSpPr>
            <a:spLocks noGrp="1"/>
          </p:cNvSpPr>
          <p:nvPr>
            <p:ph type="body" sz="quarter" idx="10"/>
          </p:nvPr>
        </p:nvSpPr>
        <p:spPr>
          <a:xfrm>
            <a:off x="2167377" y="2419728"/>
            <a:ext cx="9768875" cy="803546"/>
          </a:xfrm>
        </p:spPr>
        <p:txBody>
          <a:bodyPr>
            <a:normAutofit/>
          </a:bodyPr>
          <a:lstStyle/>
          <a:p>
            <a:r>
              <a:rPr lang="en-US" dirty="0"/>
              <a:t>Class-Based Queuing (CBQ)</a:t>
            </a:r>
          </a:p>
        </p:txBody>
      </p:sp>
      <p:sp>
        <p:nvSpPr>
          <p:cNvPr id="15" name="Text Placeholder 3">
            <a:extLst>
              <a:ext uri="{FF2B5EF4-FFF2-40B4-BE49-F238E27FC236}">
                <a16:creationId xmlns:a16="http://schemas.microsoft.com/office/drawing/2014/main" id="{458671B0-1074-B5FD-FC9E-F20FE44A4695}"/>
              </a:ext>
            </a:extLst>
          </p:cNvPr>
          <p:cNvSpPr>
            <a:spLocks noGrp="1"/>
          </p:cNvSpPr>
          <p:nvPr>
            <p:ph type="body" sz="quarter" idx="16"/>
          </p:nvPr>
        </p:nvSpPr>
        <p:spPr>
          <a:xfrm>
            <a:off x="2167377" y="6556917"/>
            <a:ext cx="9768906" cy="5575610"/>
          </a:xfrm>
        </p:spPr>
        <p:txBody>
          <a:bodyPr>
            <a:normAutofit/>
          </a:bodyPr>
          <a:lstStyle/>
          <a:p>
            <a:r>
              <a:rPr lang="en-US" dirty="0"/>
              <a:t>The objective of CBQ is to support flexible link sharing for applications that require bandwidth guarantees such as VoIP, video streaming, and audio streaming. </a:t>
            </a:r>
          </a:p>
          <a:p>
            <a:r>
              <a:rPr lang="en-US" dirty="0"/>
              <a:t>CBQ supports some balance between short-lived network flows, such as web searches, and long-lived ones, such as video streaming or file transfers.</a:t>
            </a:r>
          </a:p>
          <a:p>
            <a:r>
              <a:rPr lang="en-US" dirty="0"/>
              <a:t>CBQ aggregates connections and constructs a hierarchy of classes with different priorities and throughput allocations.</a:t>
            </a:r>
          </a:p>
        </p:txBody>
      </p:sp>
      <p:pic>
        <p:nvPicPr>
          <p:cNvPr id="1026" name="Picture 2">
            <a:extLst>
              <a:ext uri="{FF2B5EF4-FFF2-40B4-BE49-F238E27FC236}">
                <a16:creationId xmlns:a16="http://schemas.microsoft.com/office/drawing/2014/main" id="{4B573CDB-1C43-B28F-1AF5-7D9CA2938BB5}"/>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12192000" y="4210049"/>
            <a:ext cx="11795760" cy="6563054"/>
          </a:xfrm>
          <a:prstGeom prst="rect">
            <a:avLst/>
          </a:prstGeom>
          <a:solidFill>
            <a:srgbClr val="FFFFFF"/>
          </a:solidFill>
        </p:spPr>
      </p:pic>
      <p:sp>
        <p:nvSpPr>
          <p:cNvPr id="1031" name="Text Placeholder 5">
            <a:extLst>
              <a:ext uri="{FF2B5EF4-FFF2-40B4-BE49-F238E27FC236}">
                <a16:creationId xmlns:a16="http://schemas.microsoft.com/office/drawing/2014/main" id="{D6DD5F9F-2121-3377-A7C9-4217481612A6}"/>
              </a:ext>
            </a:extLst>
          </p:cNvPr>
          <p:cNvSpPr>
            <a:spLocks noGrp="1"/>
          </p:cNvSpPr>
          <p:nvPr>
            <p:ph type="body" sz="quarter" idx="17"/>
          </p:nvPr>
        </p:nvSpPr>
        <p:spPr>
          <a:xfrm>
            <a:off x="2166938" y="4210049"/>
            <a:ext cx="9768874" cy="2039112"/>
          </a:xfrm>
        </p:spPr>
        <p:txBody>
          <a:bodyPr/>
          <a:lstStyle/>
          <a:p>
            <a:r>
              <a:rPr lang="en-US" dirty="0"/>
              <a:t>This algorithm is a widely used strategy for link sharing proposed by Sally Floyd and Van Jacobson in 1995. </a:t>
            </a:r>
          </a:p>
        </p:txBody>
      </p:sp>
    </p:spTree>
    <p:extLst>
      <p:ext uri="{BB962C8B-B14F-4D97-AF65-F5344CB8AC3E}">
        <p14:creationId xmlns:p14="http://schemas.microsoft.com/office/powerpoint/2010/main" val="372055353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1B54-B827-C354-3F45-22AF9D0D43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7ACF88-BF8E-5D42-1C51-4DDABA390267}"/>
              </a:ext>
            </a:extLst>
          </p:cNvPr>
          <p:cNvSpPr>
            <a:spLocks noGrp="1"/>
          </p:cNvSpPr>
          <p:nvPr>
            <p:ph type="title"/>
          </p:nvPr>
        </p:nvSpPr>
        <p:spPr>
          <a:xfrm>
            <a:off x="2167377" y="1871164"/>
            <a:ext cx="14715569" cy="511175"/>
          </a:xfrm>
        </p:spPr>
        <p:txBody>
          <a:bodyPr>
            <a:normAutofit/>
          </a:bodyPr>
          <a:lstStyle/>
          <a:p>
            <a:r>
              <a:rPr lang="en-US" sz="3200" dirty="0"/>
              <a:t>Network Resource Management</a:t>
            </a:r>
          </a:p>
        </p:txBody>
      </p:sp>
      <p:sp>
        <p:nvSpPr>
          <p:cNvPr id="13" name="Text Placeholder 2">
            <a:extLst>
              <a:ext uri="{FF2B5EF4-FFF2-40B4-BE49-F238E27FC236}">
                <a16:creationId xmlns:a16="http://schemas.microsoft.com/office/drawing/2014/main" id="{6DFC3610-1359-E50B-5F47-5463670867E8}"/>
              </a:ext>
            </a:extLst>
          </p:cNvPr>
          <p:cNvSpPr>
            <a:spLocks noGrp="1"/>
          </p:cNvSpPr>
          <p:nvPr>
            <p:ph type="body" sz="quarter" idx="10"/>
          </p:nvPr>
        </p:nvSpPr>
        <p:spPr>
          <a:xfrm>
            <a:off x="2167377" y="2419728"/>
            <a:ext cx="9768875" cy="803546"/>
          </a:xfrm>
        </p:spPr>
        <p:txBody>
          <a:bodyPr>
            <a:normAutofit/>
          </a:bodyPr>
          <a:lstStyle/>
          <a:p>
            <a:r>
              <a:rPr lang="en-US" dirty="0"/>
              <a:t>Class-Based Queuing (CBQ)</a:t>
            </a:r>
          </a:p>
        </p:txBody>
      </p:sp>
      <p:sp>
        <p:nvSpPr>
          <p:cNvPr id="15" name="Text Placeholder 3">
            <a:extLst>
              <a:ext uri="{FF2B5EF4-FFF2-40B4-BE49-F238E27FC236}">
                <a16:creationId xmlns:a16="http://schemas.microsoft.com/office/drawing/2014/main" id="{6BB5CE47-ED8E-317E-4929-E8190A7A6342}"/>
              </a:ext>
            </a:extLst>
          </p:cNvPr>
          <p:cNvSpPr>
            <a:spLocks noGrp="1"/>
          </p:cNvSpPr>
          <p:nvPr>
            <p:ph type="body" sz="quarter" idx="16"/>
          </p:nvPr>
        </p:nvSpPr>
        <p:spPr>
          <a:xfrm>
            <a:off x="2167377" y="6556917"/>
            <a:ext cx="9768906" cy="5575610"/>
          </a:xfrm>
        </p:spPr>
        <p:txBody>
          <a:bodyPr>
            <a:normAutofit/>
          </a:bodyPr>
          <a:lstStyle/>
          <a:p>
            <a:r>
              <a:rPr lang="en-US" dirty="0"/>
              <a:t>a classifier uses the information in the packet header to assign arriving packets to classes; </a:t>
            </a:r>
          </a:p>
          <a:p>
            <a:r>
              <a:rPr lang="en-US" dirty="0"/>
              <a:t>an estimator of the short-term bandwidth for the class; </a:t>
            </a:r>
          </a:p>
          <a:p>
            <a:r>
              <a:rPr lang="en-US" dirty="0"/>
              <a:t>a selector, or scheduler, identifies the highest priority class to send next and, if multiple classes have the same priority, to schedule them on a round-robin base; and</a:t>
            </a:r>
          </a:p>
          <a:p>
            <a:r>
              <a:rPr lang="en-US" dirty="0"/>
              <a:t>a delayer to compute the next time when a class that has exceeded its link allocation is allowed to send.</a:t>
            </a:r>
          </a:p>
        </p:txBody>
      </p:sp>
      <p:pic>
        <p:nvPicPr>
          <p:cNvPr id="1026" name="Picture 2">
            <a:extLst>
              <a:ext uri="{FF2B5EF4-FFF2-40B4-BE49-F238E27FC236}">
                <a16:creationId xmlns:a16="http://schemas.microsoft.com/office/drawing/2014/main" id="{45A97CE3-26E1-A77E-799F-468150979CDA}"/>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12192000" y="4210049"/>
            <a:ext cx="11795760" cy="6563054"/>
          </a:xfrm>
          <a:prstGeom prst="rect">
            <a:avLst/>
          </a:prstGeom>
          <a:solidFill>
            <a:srgbClr val="FFFFFF"/>
          </a:solidFill>
        </p:spPr>
      </p:pic>
      <p:sp>
        <p:nvSpPr>
          <p:cNvPr id="1031" name="Text Placeholder 5">
            <a:extLst>
              <a:ext uri="{FF2B5EF4-FFF2-40B4-BE49-F238E27FC236}">
                <a16:creationId xmlns:a16="http://schemas.microsoft.com/office/drawing/2014/main" id="{B1180342-8D55-184F-B2A0-9D9DF45E7CD2}"/>
              </a:ext>
            </a:extLst>
          </p:cNvPr>
          <p:cNvSpPr>
            <a:spLocks noGrp="1"/>
          </p:cNvSpPr>
          <p:nvPr>
            <p:ph type="body" sz="quarter" idx="17"/>
          </p:nvPr>
        </p:nvSpPr>
        <p:spPr>
          <a:xfrm>
            <a:off x="2166938" y="4210049"/>
            <a:ext cx="9768874" cy="2039112"/>
          </a:xfrm>
        </p:spPr>
        <p:txBody>
          <a:bodyPr/>
          <a:lstStyle/>
          <a:p>
            <a:r>
              <a:rPr lang="en-US" dirty="0"/>
              <a:t>Functional units of CBQ</a:t>
            </a:r>
          </a:p>
        </p:txBody>
      </p:sp>
    </p:spTree>
    <p:extLst>
      <p:ext uri="{BB962C8B-B14F-4D97-AF65-F5344CB8AC3E}">
        <p14:creationId xmlns:p14="http://schemas.microsoft.com/office/powerpoint/2010/main" val="21865966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Content Delivery Network</a:t>
            </a:r>
          </a:p>
        </p:txBody>
      </p:sp>
    </p:spTree>
    <p:extLst>
      <p:ext uri="{BB962C8B-B14F-4D97-AF65-F5344CB8AC3E}">
        <p14:creationId xmlns:p14="http://schemas.microsoft.com/office/powerpoint/2010/main" val="48882962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Content Delivery Network</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r>
              <a:rPr lang="en-US" dirty="0"/>
              <a:t>The vast amount of data stored on the cloud has to be delivered efficiently to a large user population and Content Delivery Networks (CDNs) offer fast and reliable content delivery and reduce communication bandwidth by caching and replication. </a:t>
            </a:r>
          </a:p>
          <a:p>
            <a:r>
              <a:rPr lang="en-US" dirty="0"/>
              <a:t>A CDN receives the content from an Origin server, then replicates it to its Edge cache servers; the content is delivered to an end-user from the “closest” Edge server.</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563" r="6563"/>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a:bodyPr>
          <a:lstStyle/>
          <a:p>
            <a:r>
              <a:rPr lang="en-US" dirty="0"/>
              <a:t>Computer clouds support network-centric computing and network-centric content.</a:t>
            </a:r>
          </a:p>
        </p:txBody>
      </p:sp>
    </p:spTree>
    <p:extLst>
      <p:ext uri="{BB962C8B-B14F-4D97-AF65-F5344CB8AC3E}">
        <p14:creationId xmlns:p14="http://schemas.microsoft.com/office/powerpoint/2010/main" val="249847757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15B58-553B-34A2-CCCE-C083EB19111A}"/>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2AA5294-8C8C-8CA6-5DBA-9B05CC09363B}"/>
              </a:ext>
            </a:extLst>
          </p:cNvPr>
          <p:cNvSpPr>
            <a:spLocks noGrp="1"/>
          </p:cNvSpPr>
          <p:nvPr>
            <p:ph type="title"/>
          </p:nvPr>
        </p:nvSpPr>
        <p:spPr>
          <a:xfrm>
            <a:off x="2167377" y="1871164"/>
            <a:ext cx="14715569" cy="511175"/>
          </a:xfrm>
        </p:spPr>
        <p:txBody>
          <a:bodyPr>
            <a:normAutofit fontScale="90000"/>
          </a:bodyPr>
          <a:lstStyle/>
          <a:p>
            <a:r>
              <a:rPr lang="en-US" dirty="0"/>
              <a:t>Content Delivery Network</a:t>
            </a:r>
          </a:p>
        </p:txBody>
      </p:sp>
      <p:sp>
        <p:nvSpPr>
          <p:cNvPr id="16" name="Text Placeholder 2">
            <a:extLst>
              <a:ext uri="{FF2B5EF4-FFF2-40B4-BE49-F238E27FC236}">
                <a16:creationId xmlns:a16="http://schemas.microsoft.com/office/drawing/2014/main" id="{5EA55B48-13DC-CF36-DC47-7942856F4EDB}"/>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36AB0547-049B-DE90-2A77-28F46415C87B}"/>
              </a:ext>
            </a:extLst>
          </p:cNvPr>
          <p:cNvSpPr>
            <a:spLocks noGrp="1"/>
          </p:cNvSpPr>
          <p:nvPr>
            <p:ph type="body" sz="quarter" idx="16"/>
          </p:nvPr>
        </p:nvSpPr>
        <p:spPr>
          <a:xfrm>
            <a:off x="2167377" y="6556917"/>
            <a:ext cx="9768906" cy="5575610"/>
          </a:xfrm>
        </p:spPr>
        <p:txBody>
          <a:bodyPr/>
          <a:lstStyle/>
          <a:p>
            <a:r>
              <a:rPr lang="en-US" dirty="0"/>
              <a:t>CDNs place additional resources provisioned to absorb the traffic caused by flash crowds and, in general, to provide capacity on demand.</a:t>
            </a:r>
          </a:p>
          <a:p>
            <a:r>
              <a:rPr lang="en-US" dirty="0"/>
              <a:t>A CDN uses two types of servers: the origin server updated by the content provider and replica servers, which cache the content and serve as authoritative reference for client requests.</a:t>
            </a:r>
          </a:p>
        </p:txBody>
      </p:sp>
      <p:pic>
        <p:nvPicPr>
          <p:cNvPr id="5" name="Content Placeholder 5">
            <a:extLst>
              <a:ext uri="{FF2B5EF4-FFF2-40B4-BE49-F238E27FC236}">
                <a16:creationId xmlns:a16="http://schemas.microsoft.com/office/drawing/2014/main" id="{EA48701A-7760-6153-6093-BC0D98F6127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563" r="6563"/>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F594E200-361A-93B3-AE7A-7D77DC8E4988}"/>
              </a:ext>
            </a:extLst>
          </p:cNvPr>
          <p:cNvSpPr>
            <a:spLocks noGrp="1"/>
          </p:cNvSpPr>
          <p:nvPr>
            <p:ph type="body" sz="quarter" idx="17"/>
          </p:nvPr>
        </p:nvSpPr>
        <p:spPr>
          <a:xfrm>
            <a:off x="2166938" y="4210049"/>
            <a:ext cx="9768874" cy="2039112"/>
          </a:xfrm>
        </p:spPr>
        <p:txBody>
          <a:bodyPr>
            <a:normAutofit/>
          </a:bodyPr>
          <a:lstStyle/>
          <a:p>
            <a:r>
              <a:rPr lang="en-US" dirty="0"/>
              <a:t>CDNs support scalability, increase reliability and performance, and provide better security.</a:t>
            </a:r>
          </a:p>
        </p:txBody>
      </p:sp>
    </p:spTree>
    <p:extLst>
      <p:ext uri="{BB962C8B-B14F-4D97-AF65-F5344CB8AC3E}">
        <p14:creationId xmlns:p14="http://schemas.microsoft.com/office/powerpoint/2010/main" val="216907370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D210F-E1DB-8E28-0A60-8C6E8DDC90BD}"/>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DFEA68C-6CC6-C862-0EFD-1E65C9B32F14}"/>
              </a:ext>
            </a:extLst>
          </p:cNvPr>
          <p:cNvSpPr>
            <a:spLocks noGrp="1"/>
          </p:cNvSpPr>
          <p:nvPr>
            <p:ph type="title"/>
          </p:nvPr>
        </p:nvSpPr>
        <p:spPr>
          <a:xfrm>
            <a:off x="2167377" y="1871164"/>
            <a:ext cx="14715569" cy="511175"/>
          </a:xfrm>
        </p:spPr>
        <p:txBody>
          <a:bodyPr>
            <a:normAutofit fontScale="90000"/>
          </a:bodyPr>
          <a:lstStyle/>
          <a:p>
            <a:r>
              <a:rPr lang="en-US" dirty="0"/>
              <a:t>Content Delivery Network</a:t>
            </a:r>
          </a:p>
        </p:txBody>
      </p:sp>
      <p:sp>
        <p:nvSpPr>
          <p:cNvPr id="16" name="Text Placeholder 2">
            <a:extLst>
              <a:ext uri="{FF2B5EF4-FFF2-40B4-BE49-F238E27FC236}">
                <a16:creationId xmlns:a16="http://schemas.microsoft.com/office/drawing/2014/main" id="{2FC1F3BD-2583-328A-50D0-BC683DEF70F4}"/>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240F7CC8-3F7C-1277-5224-5A1398661F9F}"/>
              </a:ext>
            </a:extLst>
          </p:cNvPr>
          <p:cNvSpPr>
            <a:spLocks noGrp="1"/>
          </p:cNvSpPr>
          <p:nvPr>
            <p:ph type="body" sz="quarter" idx="16"/>
          </p:nvPr>
        </p:nvSpPr>
        <p:spPr>
          <a:xfrm>
            <a:off x="2167377" y="6556917"/>
            <a:ext cx="9768906" cy="5575610"/>
          </a:xfrm>
        </p:spPr>
        <p:txBody>
          <a:bodyPr/>
          <a:lstStyle/>
          <a:p>
            <a:r>
              <a:rPr lang="en-US" dirty="0"/>
              <a:t> Static content refers to media stored using traditional caching technologies because changes are infrequent. Examples of static content are: HTML pages, images, documents, software patches, and audio and/or video files. </a:t>
            </a:r>
          </a:p>
          <a:p>
            <a:r>
              <a:rPr lang="en-US" dirty="0"/>
              <a:t>Live media refers to live events when the content is delivered in real time from the encoder to the media server.</a:t>
            </a:r>
          </a:p>
        </p:txBody>
      </p:sp>
      <p:pic>
        <p:nvPicPr>
          <p:cNvPr id="5" name="Content Placeholder 5">
            <a:extLst>
              <a:ext uri="{FF2B5EF4-FFF2-40B4-BE49-F238E27FC236}">
                <a16:creationId xmlns:a16="http://schemas.microsoft.com/office/drawing/2014/main" id="{520CFA37-07D0-03A8-622B-C5EAF0252E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563" r="6563"/>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37A909CC-6495-0A84-FCEA-8F67EA209685}"/>
              </a:ext>
            </a:extLst>
          </p:cNvPr>
          <p:cNvSpPr>
            <a:spLocks noGrp="1"/>
          </p:cNvSpPr>
          <p:nvPr>
            <p:ph type="body" sz="quarter" idx="17"/>
          </p:nvPr>
        </p:nvSpPr>
        <p:spPr>
          <a:xfrm>
            <a:off x="2166938" y="4210049"/>
            <a:ext cx="9768874" cy="2039112"/>
          </a:xfrm>
        </p:spPr>
        <p:txBody>
          <a:bodyPr>
            <a:normAutofit/>
          </a:bodyPr>
          <a:lstStyle/>
          <a:p>
            <a:r>
              <a:rPr lang="en-US" dirty="0"/>
              <a:t>CDNs deliver static content and/or live or on-demand streaming media.</a:t>
            </a:r>
          </a:p>
        </p:txBody>
      </p:sp>
    </p:spTree>
    <p:extLst>
      <p:ext uri="{BB962C8B-B14F-4D97-AF65-F5344CB8AC3E}">
        <p14:creationId xmlns:p14="http://schemas.microsoft.com/office/powerpoint/2010/main" val="143450425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fontScale="90000"/>
          </a:bodyPr>
          <a:lstStyle/>
          <a:p>
            <a:r>
              <a:rPr lang="en-US" dirty="0"/>
              <a:t>Content Delivery Network</a:t>
            </a:r>
          </a:p>
        </p:txBody>
      </p:sp>
      <p:sp>
        <p:nvSpPr>
          <p:cNvPr id="16" name="Text Placeholder 2">
            <a:extLst>
              <a:ext uri="{FF2B5EF4-FFF2-40B4-BE49-F238E27FC236}">
                <a16:creationId xmlns:a16="http://schemas.microsoft.com/office/drawing/2014/main" id="{1B2F4148-56DC-833E-3AFF-1A8FA4800BF9}"/>
              </a:ext>
            </a:extLst>
          </p:cNvPr>
          <p:cNvSpPr>
            <a:spLocks noGrp="1"/>
          </p:cNvSpPr>
          <p:nvPr>
            <p:ph type="body" sz="quarter" idx="10"/>
          </p:nvPr>
        </p:nvSpPr>
        <p:spPr>
          <a:xfrm>
            <a:off x="2167377" y="2419728"/>
            <a:ext cx="9768875" cy="803546"/>
          </a:xfrm>
        </p:spPr>
        <p:txBody>
          <a:bodyPr/>
          <a:lstStyle/>
          <a:p>
            <a:r>
              <a:rPr lang="en-US" dirty="0"/>
              <a:t>CDN Providers</a:t>
            </a:r>
          </a:p>
        </p:txBody>
      </p:sp>
      <p:sp>
        <p:nvSpPr>
          <p:cNvPr id="18" name="Text Placeholder 3">
            <a:extLst>
              <a:ext uri="{FF2B5EF4-FFF2-40B4-BE49-F238E27FC236}">
                <a16:creationId xmlns:a16="http://schemas.microsoft.com/office/drawing/2014/main" id="{4AE237D6-FB17-0278-65E3-8488DF269029}"/>
              </a:ext>
            </a:extLst>
          </p:cNvPr>
          <p:cNvSpPr>
            <a:spLocks noGrp="1"/>
          </p:cNvSpPr>
          <p:nvPr>
            <p:ph type="body" sz="quarter" idx="16"/>
          </p:nvPr>
        </p:nvSpPr>
        <p:spPr>
          <a:xfrm>
            <a:off x="2167377" y="6556917"/>
            <a:ext cx="9768906" cy="5575610"/>
          </a:xfrm>
        </p:spPr>
        <p:txBody>
          <a:bodyPr/>
          <a:lstStyle/>
          <a:p>
            <a:r>
              <a:rPr lang="en-US" dirty="0"/>
              <a:t>There are several academic CDNs: Coral is a freely available network designed to mirror web content, hosted on </a:t>
            </a:r>
            <a:r>
              <a:rPr lang="en-US" dirty="0" err="1"/>
              <a:t>PlanetLab</a:t>
            </a:r>
            <a:r>
              <a:rPr lang="en-US" dirty="0"/>
              <a:t>; Globule is an open-source collaborative CDN developed at Vrije Universiteit in Amsterdam.</a:t>
            </a:r>
          </a:p>
        </p:txBody>
      </p:sp>
      <p:sp>
        <p:nvSpPr>
          <p:cNvPr id="20" name="Text Placeholder 5">
            <a:extLst>
              <a:ext uri="{FF2B5EF4-FFF2-40B4-BE49-F238E27FC236}">
                <a16:creationId xmlns:a16="http://schemas.microsoft.com/office/drawing/2014/main" id="{64B10EC7-EC7D-FF75-17D0-120A0C8845D7}"/>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There are several other active commercial CDNs including </a:t>
            </a:r>
            <a:r>
              <a:rPr lang="en-US" dirty="0" err="1"/>
              <a:t>EdgeStream</a:t>
            </a:r>
            <a:r>
              <a:rPr lang="en-US" dirty="0"/>
              <a:t> providing video streaming and Limelight Networks providing on-demand and live delivery of video, music, and games. </a:t>
            </a:r>
          </a:p>
        </p:txBody>
      </p:sp>
      <p:sp>
        <p:nvSpPr>
          <p:cNvPr id="3" name="Picture Placeholder 2">
            <a:extLst>
              <a:ext uri="{FF2B5EF4-FFF2-40B4-BE49-F238E27FC236}">
                <a16:creationId xmlns:a16="http://schemas.microsoft.com/office/drawing/2014/main" id="{170CAD58-5E1F-5B09-947F-65CE48D5A12C}"/>
              </a:ext>
            </a:extLst>
          </p:cNvPr>
          <p:cNvSpPr>
            <a:spLocks noGrp="1"/>
          </p:cNvSpPr>
          <p:nvPr>
            <p:ph type="pic" sz="quarter" idx="13"/>
          </p:nvPr>
        </p:nvSpPr>
        <p:spPr/>
        <p:txBody>
          <a:bodyPr/>
          <a:lstStyle/>
          <a:p>
            <a:endParaRPr lang="en-US"/>
          </a:p>
        </p:txBody>
      </p:sp>
      <p:pic>
        <p:nvPicPr>
          <p:cNvPr id="2050" name="Picture 2" descr="Top 41 CDN Providers in 2025 (November 2025 Update)">
            <a:extLst>
              <a:ext uri="{FF2B5EF4-FFF2-40B4-BE49-F238E27FC236}">
                <a16:creationId xmlns:a16="http://schemas.microsoft.com/office/drawing/2014/main" id="{DCD58578-3E08-9927-FC1C-E4A8AFA8DA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0" y="4527262"/>
            <a:ext cx="11174254" cy="6285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91777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392D5-D8F4-7196-CAE6-A918F45B5CD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F57E1D1-5127-40C0-CA3C-F653D7EA5763}"/>
              </a:ext>
            </a:extLst>
          </p:cNvPr>
          <p:cNvSpPr>
            <a:spLocks noGrp="1"/>
          </p:cNvSpPr>
          <p:nvPr>
            <p:ph type="title"/>
          </p:nvPr>
        </p:nvSpPr>
        <p:spPr>
          <a:xfrm>
            <a:off x="2167377" y="1871164"/>
            <a:ext cx="14715569" cy="511175"/>
          </a:xfrm>
        </p:spPr>
        <p:txBody>
          <a:bodyPr>
            <a:normAutofit fontScale="90000"/>
          </a:bodyPr>
          <a:lstStyle/>
          <a:p>
            <a:r>
              <a:rPr lang="en-US" dirty="0"/>
              <a:t>Content Delivery Network</a:t>
            </a:r>
          </a:p>
        </p:txBody>
      </p:sp>
      <p:sp>
        <p:nvSpPr>
          <p:cNvPr id="16" name="Text Placeholder 2">
            <a:extLst>
              <a:ext uri="{FF2B5EF4-FFF2-40B4-BE49-F238E27FC236}">
                <a16:creationId xmlns:a16="http://schemas.microsoft.com/office/drawing/2014/main" id="{89907101-0848-F6E8-5648-788E0771DFB1}"/>
              </a:ext>
            </a:extLst>
          </p:cNvPr>
          <p:cNvSpPr>
            <a:spLocks noGrp="1"/>
          </p:cNvSpPr>
          <p:nvPr>
            <p:ph type="body" sz="quarter" idx="10"/>
          </p:nvPr>
        </p:nvSpPr>
        <p:spPr>
          <a:xfrm>
            <a:off x="2167377" y="2419728"/>
            <a:ext cx="9768875" cy="803546"/>
          </a:xfrm>
        </p:spPr>
        <p:txBody>
          <a:bodyPr/>
          <a:lstStyle/>
          <a:p>
            <a:r>
              <a:rPr lang="en-US" dirty="0"/>
              <a:t>CDN organization</a:t>
            </a:r>
          </a:p>
        </p:txBody>
      </p:sp>
      <p:sp>
        <p:nvSpPr>
          <p:cNvPr id="18" name="Text Placeholder 3">
            <a:extLst>
              <a:ext uri="{FF2B5EF4-FFF2-40B4-BE49-F238E27FC236}">
                <a16:creationId xmlns:a16="http://schemas.microsoft.com/office/drawing/2014/main" id="{C6DA8343-152C-E9F5-3ADD-A850CEE574AE}"/>
              </a:ext>
            </a:extLst>
          </p:cNvPr>
          <p:cNvSpPr>
            <a:spLocks noGrp="1"/>
          </p:cNvSpPr>
          <p:nvPr>
            <p:ph type="body" sz="quarter" idx="16"/>
          </p:nvPr>
        </p:nvSpPr>
        <p:spPr>
          <a:xfrm>
            <a:off x="2167377" y="6556917"/>
            <a:ext cx="9768906" cy="5575610"/>
          </a:xfrm>
        </p:spPr>
        <p:txBody>
          <a:bodyPr/>
          <a:lstStyle/>
          <a:p>
            <a:r>
              <a:rPr lang="en-US" dirty="0"/>
              <a:t>The first strategy is based exclusively on content replication on multiple caches and redirection based on proximity to the end-user. </a:t>
            </a:r>
          </a:p>
          <a:p>
            <a:r>
              <a:rPr lang="en-US" dirty="0"/>
              <a:t>In the second approach the network core elements redirect content requests to local caches or redirect data center's incoming traffic to servers optimized for specific content type access. Some CDNs including Akamai use both strategies.</a:t>
            </a:r>
          </a:p>
        </p:txBody>
      </p:sp>
      <p:sp>
        <p:nvSpPr>
          <p:cNvPr id="20" name="Text Placeholder 5">
            <a:extLst>
              <a:ext uri="{FF2B5EF4-FFF2-40B4-BE49-F238E27FC236}">
                <a16:creationId xmlns:a16="http://schemas.microsoft.com/office/drawing/2014/main" id="{FF554D34-11DC-7EE0-A39C-6533533BBAFC}"/>
              </a:ext>
            </a:extLst>
          </p:cNvPr>
          <p:cNvSpPr>
            <a:spLocks noGrp="1"/>
          </p:cNvSpPr>
          <p:nvPr>
            <p:ph type="body" sz="quarter" idx="17"/>
          </p:nvPr>
        </p:nvSpPr>
        <p:spPr>
          <a:xfrm>
            <a:off x="2166938" y="4210049"/>
            <a:ext cx="9768874" cy="2039112"/>
          </a:xfrm>
        </p:spPr>
        <p:txBody>
          <a:bodyPr>
            <a:normAutofit/>
          </a:bodyPr>
          <a:lstStyle/>
          <a:p>
            <a:r>
              <a:rPr lang="en-US" dirty="0"/>
              <a:t>There are two strategies for CDN organization.</a:t>
            </a:r>
          </a:p>
        </p:txBody>
      </p:sp>
      <p:sp>
        <p:nvSpPr>
          <p:cNvPr id="3" name="Picture Placeholder 2">
            <a:extLst>
              <a:ext uri="{FF2B5EF4-FFF2-40B4-BE49-F238E27FC236}">
                <a16:creationId xmlns:a16="http://schemas.microsoft.com/office/drawing/2014/main" id="{2841E59A-FE05-1ED2-90FC-BED0B35B175C}"/>
              </a:ext>
            </a:extLst>
          </p:cNvPr>
          <p:cNvSpPr>
            <a:spLocks noGrp="1"/>
          </p:cNvSpPr>
          <p:nvPr>
            <p:ph type="pic" sz="quarter" idx="13"/>
          </p:nvPr>
        </p:nvSpPr>
        <p:spPr/>
        <p:txBody>
          <a:bodyPr/>
          <a:lstStyle/>
          <a:p>
            <a:endParaRPr lang="en-US"/>
          </a:p>
        </p:txBody>
      </p:sp>
      <p:pic>
        <p:nvPicPr>
          <p:cNvPr id="2050" name="Picture 2" descr="Top 41 CDN Providers in 2025 (November 2025 Update)">
            <a:extLst>
              <a:ext uri="{FF2B5EF4-FFF2-40B4-BE49-F238E27FC236}">
                <a16:creationId xmlns:a16="http://schemas.microsoft.com/office/drawing/2014/main" id="{D2C21DEA-DA56-9DF2-7B64-8B97C81FD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0" y="4527262"/>
            <a:ext cx="11174254" cy="6285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2996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13FA-3F41-1D8A-E48A-AC323AE9998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C44C4BC-0EC4-48B7-E8E7-658F6F346DAB}"/>
              </a:ext>
            </a:extLst>
          </p:cNvPr>
          <p:cNvSpPr>
            <a:spLocks noGrp="1"/>
          </p:cNvSpPr>
          <p:nvPr>
            <p:ph type="title"/>
          </p:nvPr>
        </p:nvSpPr>
        <p:spPr/>
        <p:txBody>
          <a:bodyPr>
            <a:normAutofit/>
          </a:bodyPr>
          <a:lstStyle/>
          <a:p>
            <a:r>
              <a:rPr lang="en-US" sz="3200" dirty="0"/>
              <a:t>CDN Design and Policy Decisions</a:t>
            </a:r>
          </a:p>
        </p:txBody>
      </p:sp>
      <p:sp>
        <p:nvSpPr>
          <p:cNvPr id="20" name="Text Placeholder 5">
            <a:extLst>
              <a:ext uri="{FF2B5EF4-FFF2-40B4-BE49-F238E27FC236}">
                <a16:creationId xmlns:a16="http://schemas.microsoft.com/office/drawing/2014/main" id="{1CAFDA1E-E1A8-DA6E-A5A7-92FA08C83C1B}"/>
              </a:ext>
            </a:extLst>
          </p:cNvPr>
          <p:cNvSpPr>
            <a:spLocks noGrp="1"/>
          </p:cNvSpPr>
          <p:nvPr>
            <p:ph type="body" sz="quarter" idx="10"/>
          </p:nvPr>
        </p:nvSpPr>
        <p:spPr/>
        <p:txBody>
          <a:bodyPr>
            <a:normAutofit/>
          </a:bodyPr>
          <a:lstStyle/>
          <a:p>
            <a:endParaRPr lang="en-US" sz="4100" dirty="0"/>
          </a:p>
        </p:txBody>
      </p:sp>
      <p:sp>
        <p:nvSpPr>
          <p:cNvPr id="18" name="Text Placeholder 3">
            <a:extLst>
              <a:ext uri="{FF2B5EF4-FFF2-40B4-BE49-F238E27FC236}">
                <a16:creationId xmlns:a16="http://schemas.microsoft.com/office/drawing/2014/main" id="{E296E941-93CD-444B-DA3B-DFEA17B837E3}"/>
              </a:ext>
            </a:extLst>
          </p:cNvPr>
          <p:cNvSpPr>
            <a:spLocks noGrp="1"/>
          </p:cNvSpPr>
          <p:nvPr>
            <p:ph sz="quarter" idx="11"/>
          </p:nvPr>
        </p:nvSpPr>
        <p:spPr/>
        <p:txBody>
          <a:bodyPr>
            <a:normAutofit/>
          </a:bodyPr>
          <a:lstStyle/>
          <a:p>
            <a:pPr marL="0" indent="0">
              <a:buNone/>
            </a:pPr>
            <a:r>
              <a:rPr lang="en-US" sz="3200" dirty="0"/>
              <a:t>(</a:t>
            </a:r>
            <a:r>
              <a:rPr lang="en-US" sz="3200" dirty="0" err="1"/>
              <a:t>i</a:t>
            </a:r>
            <a:r>
              <a:rPr lang="en-US" sz="3200" dirty="0"/>
              <a:t>) the placement of the edge servers; </a:t>
            </a:r>
          </a:p>
          <a:p>
            <a:pPr marL="0" indent="0">
              <a:buNone/>
            </a:pPr>
            <a:r>
              <a:rPr lang="en-US" sz="3200" dirty="0"/>
              <a:t>(ii) the content selection and delivery; </a:t>
            </a:r>
          </a:p>
          <a:p>
            <a:pPr marL="0" indent="0">
              <a:buNone/>
            </a:pPr>
            <a:r>
              <a:rPr lang="en-US" sz="3200" dirty="0"/>
              <a:t>(iii) content management; and </a:t>
            </a:r>
          </a:p>
          <a:p>
            <a:pPr marL="0" indent="0">
              <a:buNone/>
            </a:pPr>
            <a:r>
              <a:rPr lang="en-US" sz="3200" dirty="0"/>
              <a:t>(iv) request routing policies.</a:t>
            </a:r>
          </a:p>
        </p:txBody>
      </p:sp>
    </p:spTree>
    <p:extLst>
      <p:ext uri="{BB962C8B-B14F-4D97-AF65-F5344CB8AC3E}">
        <p14:creationId xmlns:p14="http://schemas.microsoft.com/office/powerpoint/2010/main" val="122594263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0CE8-BFAF-BA62-9330-FE76B0B163A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72EED2D3-41ED-D00F-DF4F-9EAF8AE7F416}"/>
              </a:ext>
            </a:extLst>
          </p:cNvPr>
          <p:cNvSpPr>
            <a:spLocks noGrp="1"/>
          </p:cNvSpPr>
          <p:nvPr>
            <p:ph type="title"/>
          </p:nvPr>
        </p:nvSpPr>
        <p:spPr/>
        <p:txBody>
          <a:bodyPr>
            <a:normAutofit/>
          </a:bodyPr>
          <a:lstStyle/>
          <a:p>
            <a:r>
              <a:rPr lang="en-US" sz="3200" dirty="0"/>
              <a:t>CDN Performance Metrics</a:t>
            </a:r>
          </a:p>
        </p:txBody>
      </p:sp>
      <p:sp>
        <p:nvSpPr>
          <p:cNvPr id="20" name="Text Placeholder 5">
            <a:extLst>
              <a:ext uri="{FF2B5EF4-FFF2-40B4-BE49-F238E27FC236}">
                <a16:creationId xmlns:a16="http://schemas.microsoft.com/office/drawing/2014/main" id="{279C9E1C-E33B-431A-2872-65175DF2E5EE}"/>
              </a:ext>
            </a:extLst>
          </p:cNvPr>
          <p:cNvSpPr>
            <a:spLocks noGrp="1"/>
          </p:cNvSpPr>
          <p:nvPr>
            <p:ph type="body" sz="quarter" idx="10"/>
          </p:nvPr>
        </p:nvSpPr>
        <p:spPr/>
        <p:txBody>
          <a:bodyPr>
            <a:normAutofit/>
          </a:bodyPr>
          <a:lstStyle/>
          <a:p>
            <a:endParaRPr lang="en-US" sz="4100" dirty="0"/>
          </a:p>
        </p:txBody>
      </p:sp>
      <p:sp>
        <p:nvSpPr>
          <p:cNvPr id="18" name="Text Placeholder 3">
            <a:extLst>
              <a:ext uri="{FF2B5EF4-FFF2-40B4-BE49-F238E27FC236}">
                <a16:creationId xmlns:a16="http://schemas.microsoft.com/office/drawing/2014/main" id="{7F33FAA4-3137-D2A1-FFFC-A801BD7C8606}"/>
              </a:ext>
            </a:extLst>
          </p:cNvPr>
          <p:cNvSpPr>
            <a:spLocks noGrp="1"/>
          </p:cNvSpPr>
          <p:nvPr>
            <p:ph sz="quarter" idx="11"/>
          </p:nvPr>
        </p:nvSpPr>
        <p:spPr/>
        <p:txBody>
          <a:bodyPr>
            <a:normAutofit fontScale="85000" lnSpcReduction="20000"/>
          </a:bodyPr>
          <a:lstStyle/>
          <a:p>
            <a:pPr marL="514350" indent="-514350">
              <a:buAutoNum type="romanLcParenBoth"/>
            </a:pPr>
            <a:r>
              <a:rPr lang="en-US" sz="3200" dirty="0"/>
              <a:t>cache hit ratio—the ratio of the number of cached objects versus total number of objects requested; </a:t>
            </a:r>
          </a:p>
          <a:p>
            <a:pPr marL="514350" indent="-514350">
              <a:buAutoNum type="romanLcParenBoth"/>
            </a:pPr>
            <a:r>
              <a:rPr lang="en-US" sz="3200" dirty="0"/>
              <a:t>reserved bandwidth for the origin server; </a:t>
            </a:r>
          </a:p>
          <a:p>
            <a:pPr marL="514350" indent="-514350">
              <a:buAutoNum type="romanLcParenBoth"/>
            </a:pPr>
            <a:r>
              <a:rPr lang="en-US" sz="3200" dirty="0"/>
              <a:t>latency—based on the perceived response time by the end users; </a:t>
            </a:r>
          </a:p>
          <a:p>
            <a:pPr marL="514350" indent="-514350">
              <a:buAutoNum type="romanLcParenBoth"/>
            </a:pPr>
            <a:r>
              <a:rPr lang="en-US" sz="3200" dirty="0"/>
              <a:t>edge server utilization; and,</a:t>
            </a:r>
          </a:p>
          <a:p>
            <a:pPr marL="514350" indent="-514350">
              <a:buAutoNum type="romanLcParenBoth"/>
            </a:pPr>
            <a:r>
              <a:rPr lang="en-US" sz="3200" dirty="0"/>
              <a:t>reliability—based on packet loss measurements.</a:t>
            </a:r>
          </a:p>
        </p:txBody>
      </p:sp>
    </p:spTree>
    <p:extLst>
      <p:ext uri="{BB962C8B-B14F-4D97-AF65-F5344CB8AC3E}">
        <p14:creationId xmlns:p14="http://schemas.microsoft.com/office/powerpoint/2010/main" val="226186599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example use case of CDN</a:t>
            </a:r>
          </a:p>
          <a:p>
            <a:pPr marL="571500" indent="-571500">
              <a:buFont typeface="Arial" panose="020B0604020202020204" pitchFamily="34" charset="0"/>
              <a:buChar char="•"/>
            </a:pPr>
            <a:r>
              <a:rPr lang="en-US" dirty="0"/>
              <a:t>how it changes the internet and </a:t>
            </a:r>
            <a:r>
              <a:rPr lang="en-US"/>
              <a:t>content delivery</a:t>
            </a:r>
            <a:endParaRPr lang="en-US" dirty="0"/>
          </a:p>
        </p:txBody>
      </p:sp>
    </p:spTree>
    <p:extLst>
      <p:ext uri="{BB962C8B-B14F-4D97-AF65-F5344CB8AC3E}">
        <p14:creationId xmlns:p14="http://schemas.microsoft.com/office/powerpoint/2010/main" val="287359398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pPr lvl="0" algn="just"/>
            <a:r>
              <a:rPr lang="en-ID" dirty="0">
                <a:latin typeface="Tahoma" panose="020B0604030504040204" pitchFamily="34" charset="0"/>
                <a:ea typeface="Tahoma" panose="020B0604030504040204" pitchFamily="34" charset="0"/>
                <a:cs typeface="Tahoma" panose="020B0604030504040204" pitchFamily="34" charset="0"/>
              </a:rPr>
              <a:t>Marinescu, Dan C. (2022). Cloud Computing Theory and Practice: 3</a:t>
            </a:r>
            <a:r>
              <a:rPr lang="en-ID" baseline="30000" dirty="0">
                <a:latin typeface="Tahoma" panose="020B0604030504040204" pitchFamily="34" charset="0"/>
                <a:ea typeface="Tahoma" panose="020B0604030504040204" pitchFamily="34" charset="0"/>
                <a:cs typeface="Tahoma" panose="020B0604030504040204" pitchFamily="34" charset="0"/>
              </a:rPr>
              <a:t>rd</a:t>
            </a:r>
            <a:r>
              <a:rPr lang="en-ID" dirty="0">
                <a:latin typeface="Tahoma" panose="020B0604030504040204" pitchFamily="34" charset="0"/>
                <a:ea typeface="Tahoma" panose="020B0604030504040204" pitchFamily="34" charset="0"/>
                <a:cs typeface="Tahoma" panose="020B0604030504040204" pitchFamily="34" charset="0"/>
              </a:rPr>
              <a:t> Edition. Morgan Kaufmann Publishers. ISBN: 978-0-323-85277-7</a:t>
            </a:r>
            <a:endParaRPr lang="en-US" dirty="0">
              <a:latin typeface="Tahoma" panose="020B0604030504040204" pitchFamily="34" charset="0"/>
              <a:ea typeface="Tahoma" panose="020B0604030504040204" pitchFamily="34" charset="0"/>
              <a:cs typeface="Tahoma" panose="020B0604030504040204" pitchFamily="34" charset="0"/>
            </a:endParaRPr>
          </a:p>
          <a:p>
            <a:pPr algn="just"/>
            <a:r>
              <a:rPr lang="en-ID" dirty="0">
                <a:latin typeface="Tahoma"/>
                <a:ea typeface="Tahoma"/>
                <a:cs typeface="Tahoma"/>
              </a:rPr>
              <a:t>Network Resource Management </a:t>
            </a:r>
          </a:p>
          <a:p>
            <a:pPr marL="0" indent="0" algn="just">
              <a:buNone/>
            </a:pPr>
            <a:r>
              <a:rPr lang="en-ID" dirty="0">
                <a:ea typeface="Open Sans"/>
                <a:cs typeface="Open Sans"/>
                <a:hlinkClick r:id="rId2"/>
              </a:rPr>
              <a:t>https://docs.oracle.com/cd/E36784_01/html/E36813/gecki.html</a:t>
            </a:r>
            <a:endParaRPr lang="en-ID" dirty="0">
              <a:latin typeface="Tahoma"/>
              <a:ea typeface="Tahoma"/>
              <a:cs typeface="Tahoma"/>
            </a:endParaRPr>
          </a:p>
          <a:p>
            <a:pPr algn="just"/>
            <a:endParaRPr lang="en-ID" dirty="0">
              <a:ea typeface="Open Sans"/>
              <a:cs typeface="Open Sans"/>
            </a:endParaRPr>
          </a:p>
          <a:p>
            <a:pPr marL="340995" indent="-340995" algn="just">
              <a:lnSpc>
                <a:spcPct val="90000"/>
              </a:lnSpc>
              <a:spcAft>
                <a:spcPts val="600"/>
              </a:spcAft>
            </a:pPr>
            <a:endParaRPr lang="id-ID"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3051092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1003</TotalTime>
  <Words>2693</Words>
  <Application>Microsoft Office PowerPoint</Application>
  <PresentationFormat>Custom</PresentationFormat>
  <Paragraphs>158</Paragraphs>
  <Slides>33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Open Sans ExtraBold</vt:lpstr>
      <vt:lpstr>Open Sans Light</vt:lpstr>
      <vt:lpstr>Open Sans Semibold</vt:lpstr>
      <vt:lpstr>Tahoma</vt:lpstr>
      <vt:lpstr>Open Sans</vt:lpstr>
      <vt:lpstr>OCRB</vt:lpstr>
      <vt:lpstr>21_BasicWhite</vt:lpstr>
      <vt:lpstr>Cloud Access and Cloud Interconnection Networks  Session 06</vt:lpstr>
      <vt:lpstr>Learning outcomes</vt:lpstr>
      <vt:lpstr>Outline</vt:lpstr>
      <vt:lpstr>Internet Evolution</vt:lpstr>
      <vt:lpstr>Internet Evolution</vt:lpstr>
      <vt:lpstr>Network Classes</vt:lpstr>
      <vt:lpstr>Network Classes</vt:lpstr>
      <vt:lpstr>Internet protocol</vt:lpstr>
      <vt:lpstr>Internet protocol</vt:lpstr>
      <vt:lpstr>Internet protocol</vt:lpstr>
      <vt:lpstr>Internet protocol</vt:lpstr>
      <vt:lpstr>Content-centric Network</vt:lpstr>
      <vt:lpstr>Content-centric network</vt:lpstr>
      <vt:lpstr>Content-centric network</vt:lpstr>
      <vt:lpstr>Content-centric network</vt:lpstr>
      <vt:lpstr>Content-centric network</vt:lpstr>
      <vt:lpstr>Content-centric network</vt:lpstr>
      <vt:lpstr>Network Resource management</vt:lpstr>
      <vt:lpstr>Network Resource Management</vt:lpstr>
      <vt:lpstr>Network Resource Management</vt:lpstr>
      <vt:lpstr>Network Resource Management</vt:lpstr>
      <vt:lpstr>Network Resource Management</vt:lpstr>
      <vt:lpstr>Content Delivery Network</vt:lpstr>
      <vt:lpstr>Content Delivery Network</vt:lpstr>
      <vt:lpstr>Content Delivery Network</vt:lpstr>
      <vt:lpstr>Content Delivery Network</vt:lpstr>
      <vt:lpstr>Content Delivery Network</vt:lpstr>
      <vt:lpstr>Content Delivery Network</vt:lpstr>
      <vt:lpstr>CDN Design and Policy Decisions</vt:lpstr>
      <vt:lpstr>CDN Performance Metrics</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18</cp:revision>
  <dcterms:created xsi:type="dcterms:W3CDTF">2023-06-28T08:14:57Z</dcterms:created>
  <dcterms:modified xsi:type="dcterms:W3CDTF">2026-01-05T09:46:40Z</dcterms:modified>
</cp:coreProperties>
</file>