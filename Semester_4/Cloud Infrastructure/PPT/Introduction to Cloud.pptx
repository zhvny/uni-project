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5"/>
  </p:notesMasterIdLst>
  <p:sldIdLst>
    <p:sldId id="256" r:id="rId2"/>
    <p:sldId id="278" r:id="rId3"/>
    <p:sldId id="257" r:id="rId4"/>
    <p:sldId id="264" r:id="rId5"/>
    <p:sldId id="297" r:id="rId6"/>
    <p:sldId id="298" r:id="rId7"/>
    <p:sldId id="299" r:id="rId8"/>
    <p:sldId id="300" r:id="rId9"/>
    <p:sldId id="303" r:id="rId10"/>
    <p:sldId id="301" r:id="rId11"/>
    <p:sldId id="302" r:id="rId12"/>
    <p:sldId id="304" r:id="rId13"/>
    <p:sldId id="305" r:id="rId14"/>
    <p:sldId id="306" r:id="rId15"/>
    <p:sldId id="307" r:id="rId16"/>
    <p:sldId id="308" r:id="rId17"/>
    <p:sldId id="309" r:id="rId18"/>
    <p:sldId id="311" r:id="rId19"/>
    <p:sldId id="312" r:id="rId20"/>
    <p:sldId id="313" r:id="rId21"/>
    <p:sldId id="315" r:id="rId22"/>
    <p:sldId id="317" r:id="rId23"/>
    <p:sldId id="296" r:id="rId24"/>
  </p:sldIdLst>
  <p:sldSz cx="24384000" cy="13716000"/>
  <p:notesSz cx="6858000" cy="9144000"/>
  <p:embeddedFontLst>
    <p:embeddedFont>
      <p:font typeface="OCRB" panose="020B0609020202020204" pitchFamily="49" charset="0"/>
      <p:regular r:id="rId26"/>
    </p:embeddedFont>
    <p:embeddedFont>
      <p:font typeface="Open Sans ExtraBold" panose="020B0906030804020204" pitchFamily="34" charset="0"/>
      <p:bold r:id="rId27"/>
      <p:italic r:id="rId28"/>
      <p:boldItalic r:id="rId29"/>
    </p:embeddedFont>
    <p:embeddedFont>
      <p:font typeface="Open Sans Light" panose="020B0306030504020204" pitchFamily="34" charset="0"/>
      <p:regular r:id="rId30"/>
      <p:italic r:id="rId31"/>
    </p:embeddedFont>
    <p:embeddedFont>
      <p:font typeface="Open Sans Semibold" panose="020B0706030804020204" pitchFamily="34" charset="0"/>
      <p:regular r:id="rId32"/>
      <p:bold r:id="rId33"/>
      <p:italic r:id="rId34"/>
      <p:boldItalic r:id="rId35"/>
    </p:embeddedFont>
    <p:embeddedFont>
      <p:font typeface="Tahoma" panose="020B0604030504040204" pitchFamily="34" charset="0"/>
      <p:regular r:id="rId36"/>
      <p:bold r:id="rId3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5" autoAdjust="0"/>
    <p:restoredTop sz="96197"/>
  </p:normalViewPr>
  <p:slideViewPr>
    <p:cSldViewPr snapToGrid="0" snapToObjects="1">
      <p:cViewPr varScale="1">
        <p:scale>
          <a:sx n="36" d="100"/>
          <a:sy n="36" d="100"/>
        </p:scale>
        <p:origin x="67" y="19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563C17-F6D8-4152-8E34-4D1557932EA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A31832C-54E8-4F53-9B34-24262767D725}">
      <dgm:prSet custT="1"/>
      <dgm:spPr/>
      <dgm:t>
        <a:bodyPr/>
        <a:lstStyle/>
        <a:p>
          <a:r>
            <a:rPr lang="en-US" sz="2000" dirty="0"/>
            <a:t>On-demand self-service</a:t>
          </a:r>
        </a:p>
      </dgm:t>
    </dgm:pt>
    <dgm:pt modelId="{74C405AC-B6B3-4B1D-A88A-5C25DACBA319}" type="parTrans" cxnId="{26C988CE-477D-46A6-8EE0-4EBD3D604675}">
      <dgm:prSet/>
      <dgm:spPr/>
      <dgm:t>
        <a:bodyPr/>
        <a:lstStyle/>
        <a:p>
          <a:endParaRPr lang="en-US"/>
        </a:p>
      </dgm:t>
    </dgm:pt>
    <dgm:pt modelId="{7082B89B-9377-4457-BB83-274341E4AB58}" type="sibTrans" cxnId="{26C988CE-477D-46A6-8EE0-4EBD3D604675}">
      <dgm:prSet/>
      <dgm:spPr/>
      <dgm:t>
        <a:bodyPr/>
        <a:lstStyle/>
        <a:p>
          <a:endParaRPr lang="en-US"/>
        </a:p>
      </dgm:t>
    </dgm:pt>
    <dgm:pt modelId="{C183354E-C3B4-4748-8963-4703058539DF}">
      <dgm:prSet custT="1"/>
      <dgm:spPr/>
      <dgm:t>
        <a:bodyPr/>
        <a:lstStyle/>
        <a:p>
          <a:r>
            <a:rPr lang="en-US" sz="2000" dirty="0"/>
            <a:t>Broad network access</a:t>
          </a:r>
        </a:p>
      </dgm:t>
    </dgm:pt>
    <dgm:pt modelId="{B51A6806-1375-4F0D-A380-8D555E20AFA3}" type="parTrans" cxnId="{03C0C298-7865-4060-A79E-2B90072512EE}">
      <dgm:prSet/>
      <dgm:spPr/>
      <dgm:t>
        <a:bodyPr/>
        <a:lstStyle/>
        <a:p>
          <a:endParaRPr lang="en-US"/>
        </a:p>
      </dgm:t>
    </dgm:pt>
    <dgm:pt modelId="{697FA6CA-ABD0-4A22-AFC2-F9CA661B24A1}" type="sibTrans" cxnId="{03C0C298-7865-4060-A79E-2B90072512EE}">
      <dgm:prSet/>
      <dgm:spPr/>
      <dgm:t>
        <a:bodyPr/>
        <a:lstStyle/>
        <a:p>
          <a:endParaRPr lang="en-US"/>
        </a:p>
      </dgm:t>
    </dgm:pt>
    <dgm:pt modelId="{50069E65-B86B-422A-B395-D496AEA3982E}">
      <dgm:prSet custT="1"/>
      <dgm:spPr/>
      <dgm:t>
        <a:bodyPr/>
        <a:lstStyle/>
        <a:p>
          <a:r>
            <a:rPr lang="en-US" sz="2000" dirty="0"/>
            <a:t>Resource pooling</a:t>
          </a:r>
        </a:p>
      </dgm:t>
    </dgm:pt>
    <dgm:pt modelId="{5027C323-15E2-4D91-BF2D-BD26863B3332}" type="parTrans" cxnId="{33FFCAD6-EB9C-44B3-B35E-4491A7C5061B}">
      <dgm:prSet/>
      <dgm:spPr/>
      <dgm:t>
        <a:bodyPr/>
        <a:lstStyle/>
        <a:p>
          <a:endParaRPr lang="en-US"/>
        </a:p>
      </dgm:t>
    </dgm:pt>
    <dgm:pt modelId="{C90896DA-8E4F-4BD8-BC57-23D31F2FE6BE}" type="sibTrans" cxnId="{33FFCAD6-EB9C-44B3-B35E-4491A7C5061B}">
      <dgm:prSet/>
      <dgm:spPr/>
      <dgm:t>
        <a:bodyPr/>
        <a:lstStyle/>
        <a:p>
          <a:endParaRPr lang="en-US"/>
        </a:p>
      </dgm:t>
    </dgm:pt>
    <dgm:pt modelId="{BBE62CE7-CE98-422A-A72E-69E02E1E9ED7}">
      <dgm:prSet custT="1"/>
      <dgm:spPr/>
      <dgm:t>
        <a:bodyPr/>
        <a:lstStyle/>
        <a:p>
          <a:r>
            <a:rPr lang="en-US" sz="2000" dirty="0"/>
            <a:t>Rapid elastic</a:t>
          </a:r>
        </a:p>
      </dgm:t>
    </dgm:pt>
    <dgm:pt modelId="{161A3985-1260-46C9-986E-3FD0A14D4758}" type="parTrans" cxnId="{C7DD40AB-5626-4902-A170-5541C6C14AF5}">
      <dgm:prSet/>
      <dgm:spPr/>
      <dgm:t>
        <a:bodyPr/>
        <a:lstStyle/>
        <a:p>
          <a:endParaRPr lang="en-US"/>
        </a:p>
      </dgm:t>
    </dgm:pt>
    <dgm:pt modelId="{4DCF740C-5484-4F1B-95EE-58016006F1A2}" type="sibTrans" cxnId="{C7DD40AB-5626-4902-A170-5541C6C14AF5}">
      <dgm:prSet/>
      <dgm:spPr/>
      <dgm:t>
        <a:bodyPr/>
        <a:lstStyle/>
        <a:p>
          <a:endParaRPr lang="en-US"/>
        </a:p>
      </dgm:t>
    </dgm:pt>
    <dgm:pt modelId="{2A9CE139-BF6A-43ED-B525-62CB4B99B993}">
      <dgm:prSet custT="1"/>
      <dgm:spPr/>
      <dgm:t>
        <a:bodyPr/>
        <a:lstStyle/>
        <a:p>
          <a:r>
            <a:rPr lang="en-US" sz="2000" dirty="0"/>
            <a:t>Measured service</a:t>
          </a:r>
        </a:p>
      </dgm:t>
    </dgm:pt>
    <dgm:pt modelId="{43242577-93E0-4728-8019-5FBFB14C2AD3}" type="parTrans" cxnId="{108AB8BA-8D16-414C-B819-389207F0A5DE}">
      <dgm:prSet/>
      <dgm:spPr/>
      <dgm:t>
        <a:bodyPr/>
        <a:lstStyle/>
        <a:p>
          <a:endParaRPr lang="en-US"/>
        </a:p>
      </dgm:t>
    </dgm:pt>
    <dgm:pt modelId="{B8964752-14A8-481D-9837-E6C36FE095A9}" type="sibTrans" cxnId="{108AB8BA-8D16-414C-B819-389207F0A5DE}">
      <dgm:prSet/>
      <dgm:spPr/>
      <dgm:t>
        <a:bodyPr/>
        <a:lstStyle/>
        <a:p>
          <a:endParaRPr lang="en-US"/>
        </a:p>
      </dgm:t>
    </dgm:pt>
    <dgm:pt modelId="{3AE31AA9-05DB-4E31-9D24-A9F7C2FC8502}" type="pres">
      <dgm:prSet presAssocID="{83563C17-F6D8-4152-8E34-4D1557932EAA}" presName="root" presStyleCnt="0">
        <dgm:presLayoutVars>
          <dgm:dir/>
          <dgm:resizeHandles val="exact"/>
        </dgm:presLayoutVars>
      </dgm:prSet>
      <dgm:spPr/>
    </dgm:pt>
    <dgm:pt modelId="{E94084B0-8049-49F5-8C15-7B99E3852F7D}" type="pres">
      <dgm:prSet presAssocID="{5A31832C-54E8-4F53-9B34-24262767D725}" presName="compNode" presStyleCnt="0"/>
      <dgm:spPr/>
    </dgm:pt>
    <dgm:pt modelId="{C27B52A3-0E99-4740-B274-186DCF33F417}" type="pres">
      <dgm:prSet presAssocID="{5A31832C-54E8-4F53-9B34-24262767D72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l center"/>
        </a:ext>
      </dgm:extLst>
    </dgm:pt>
    <dgm:pt modelId="{4E0E546F-DC9E-4019-9D13-6FD3BE0A40AF}" type="pres">
      <dgm:prSet presAssocID="{5A31832C-54E8-4F53-9B34-24262767D725}" presName="spaceRect" presStyleCnt="0"/>
      <dgm:spPr/>
    </dgm:pt>
    <dgm:pt modelId="{A82FEC56-3054-4B96-AC08-58A315DE5DA5}" type="pres">
      <dgm:prSet presAssocID="{5A31832C-54E8-4F53-9B34-24262767D725}" presName="textRect" presStyleLbl="revTx" presStyleIdx="0" presStyleCnt="5">
        <dgm:presLayoutVars>
          <dgm:chMax val="1"/>
          <dgm:chPref val="1"/>
        </dgm:presLayoutVars>
      </dgm:prSet>
      <dgm:spPr/>
    </dgm:pt>
    <dgm:pt modelId="{BD30BCF1-A972-490F-85AC-9C40C6F3B17A}" type="pres">
      <dgm:prSet presAssocID="{7082B89B-9377-4457-BB83-274341E4AB58}" presName="sibTrans" presStyleCnt="0"/>
      <dgm:spPr/>
    </dgm:pt>
    <dgm:pt modelId="{9B3ED0AA-944B-4890-9C6D-FEAE21D3BE2F}" type="pres">
      <dgm:prSet presAssocID="{C183354E-C3B4-4748-8963-4703058539DF}" presName="compNode" presStyleCnt="0"/>
      <dgm:spPr/>
    </dgm:pt>
    <dgm:pt modelId="{07B52563-9420-4932-A27D-1CBAA09234C4}" type="pres">
      <dgm:prSet presAssocID="{C183354E-C3B4-4748-8963-4703058539D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7207DB33-187A-4994-9565-067FAE58E8AC}" type="pres">
      <dgm:prSet presAssocID="{C183354E-C3B4-4748-8963-4703058539DF}" presName="spaceRect" presStyleCnt="0"/>
      <dgm:spPr/>
    </dgm:pt>
    <dgm:pt modelId="{783B4E20-1FCF-4450-87A0-0C5E7583B8F0}" type="pres">
      <dgm:prSet presAssocID="{C183354E-C3B4-4748-8963-4703058539DF}" presName="textRect" presStyleLbl="revTx" presStyleIdx="1" presStyleCnt="5">
        <dgm:presLayoutVars>
          <dgm:chMax val="1"/>
          <dgm:chPref val="1"/>
        </dgm:presLayoutVars>
      </dgm:prSet>
      <dgm:spPr/>
    </dgm:pt>
    <dgm:pt modelId="{16D48DE2-5B44-451D-ABD1-BF358C841095}" type="pres">
      <dgm:prSet presAssocID="{697FA6CA-ABD0-4A22-AFC2-F9CA661B24A1}" presName="sibTrans" presStyleCnt="0"/>
      <dgm:spPr/>
    </dgm:pt>
    <dgm:pt modelId="{D5D0FBAE-B094-455D-AD35-17DA0A0E3188}" type="pres">
      <dgm:prSet presAssocID="{50069E65-B86B-422A-B395-D496AEA3982E}" presName="compNode" presStyleCnt="0"/>
      <dgm:spPr/>
    </dgm:pt>
    <dgm:pt modelId="{A5835754-B629-4E8A-9FEF-3C7C7B2BC680}" type="pres">
      <dgm:prSet presAssocID="{50069E65-B86B-422A-B395-D496AEA3982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5D57735B-8CBE-46AE-A06D-982D64FB2ED4}" type="pres">
      <dgm:prSet presAssocID="{50069E65-B86B-422A-B395-D496AEA3982E}" presName="spaceRect" presStyleCnt="0"/>
      <dgm:spPr/>
    </dgm:pt>
    <dgm:pt modelId="{8C60FE08-F56A-4D83-AEDD-DF2C7973AD0D}" type="pres">
      <dgm:prSet presAssocID="{50069E65-B86B-422A-B395-D496AEA3982E}" presName="textRect" presStyleLbl="revTx" presStyleIdx="2" presStyleCnt="5">
        <dgm:presLayoutVars>
          <dgm:chMax val="1"/>
          <dgm:chPref val="1"/>
        </dgm:presLayoutVars>
      </dgm:prSet>
      <dgm:spPr/>
    </dgm:pt>
    <dgm:pt modelId="{B6231014-9E99-432F-AF0A-6ECBD34661F8}" type="pres">
      <dgm:prSet presAssocID="{C90896DA-8E4F-4BD8-BC57-23D31F2FE6BE}" presName="sibTrans" presStyleCnt="0"/>
      <dgm:spPr/>
    </dgm:pt>
    <dgm:pt modelId="{FDB3620D-58BC-4FD3-BC7E-4E5971C1E7F3}" type="pres">
      <dgm:prSet presAssocID="{BBE62CE7-CE98-422A-A72E-69E02E1E9ED7}" presName="compNode" presStyleCnt="0"/>
      <dgm:spPr/>
    </dgm:pt>
    <dgm:pt modelId="{D38F646D-7E85-44D4-BA0D-30B28BDA486D}" type="pres">
      <dgm:prSet presAssocID="{BBE62CE7-CE98-422A-A72E-69E02E1E9ED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opwatch"/>
        </a:ext>
      </dgm:extLst>
    </dgm:pt>
    <dgm:pt modelId="{F2C5BEA5-E1D8-4602-96FD-EA8287096439}" type="pres">
      <dgm:prSet presAssocID="{BBE62CE7-CE98-422A-A72E-69E02E1E9ED7}" presName="spaceRect" presStyleCnt="0"/>
      <dgm:spPr/>
    </dgm:pt>
    <dgm:pt modelId="{F18D83B5-0B16-4164-93C3-8D3B263DE1CF}" type="pres">
      <dgm:prSet presAssocID="{BBE62CE7-CE98-422A-A72E-69E02E1E9ED7}" presName="textRect" presStyleLbl="revTx" presStyleIdx="3" presStyleCnt="5">
        <dgm:presLayoutVars>
          <dgm:chMax val="1"/>
          <dgm:chPref val="1"/>
        </dgm:presLayoutVars>
      </dgm:prSet>
      <dgm:spPr/>
    </dgm:pt>
    <dgm:pt modelId="{A0247CCB-E941-462A-AE15-0B07FFA6DBD4}" type="pres">
      <dgm:prSet presAssocID="{4DCF740C-5484-4F1B-95EE-58016006F1A2}" presName="sibTrans" presStyleCnt="0"/>
      <dgm:spPr/>
    </dgm:pt>
    <dgm:pt modelId="{6F085A6D-3A05-4552-9F2B-8E542CBD184C}" type="pres">
      <dgm:prSet presAssocID="{2A9CE139-BF6A-43ED-B525-62CB4B99B993}" presName="compNode" presStyleCnt="0"/>
      <dgm:spPr/>
    </dgm:pt>
    <dgm:pt modelId="{D40A71EA-546A-42E0-92DF-C58EC4D6EAB7}" type="pres">
      <dgm:prSet presAssocID="{2A9CE139-BF6A-43ED-B525-62CB4B99B99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uge"/>
        </a:ext>
      </dgm:extLst>
    </dgm:pt>
    <dgm:pt modelId="{A23DF6B5-8750-4321-87A0-4965A0970CD5}" type="pres">
      <dgm:prSet presAssocID="{2A9CE139-BF6A-43ED-B525-62CB4B99B993}" presName="spaceRect" presStyleCnt="0"/>
      <dgm:spPr/>
    </dgm:pt>
    <dgm:pt modelId="{DEB25984-D607-4D1A-B8C1-4E3FF9801A43}" type="pres">
      <dgm:prSet presAssocID="{2A9CE139-BF6A-43ED-B525-62CB4B99B993}" presName="textRect" presStyleLbl="revTx" presStyleIdx="4" presStyleCnt="5">
        <dgm:presLayoutVars>
          <dgm:chMax val="1"/>
          <dgm:chPref val="1"/>
        </dgm:presLayoutVars>
      </dgm:prSet>
      <dgm:spPr/>
    </dgm:pt>
  </dgm:ptLst>
  <dgm:cxnLst>
    <dgm:cxn modelId="{C21A4719-EDBC-494E-BABC-831CE2A6EA9C}" type="presOf" srcId="{BBE62CE7-CE98-422A-A72E-69E02E1E9ED7}" destId="{F18D83B5-0B16-4164-93C3-8D3B263DE1CF}" srcOrd="0" destOrd="0" presId="urn:microsoft.com/office/officeart/2018/2/layout/IconLabelList"/>
    <dgm:cxn modelId="{34F02A29-33B2-43CA-9F35-7800B1DB4A45}" type="presOf" srcId="{5A31832C-54E8-4F53-9B34-24262767D725}" destId="{A82FEC56-3054-4B96-AC08-58A315DE5DA5}" srcOrd="0" destOrd="0" presId="urn:microsoft.com/office/officeart/2018/2/layout/IconLabelList"/>
    <dgm:cxn modelId="{64FDCF72-201B-47B6-86BE-79B8F63DE20A}" type="presOf" srcId="{83563C17-F6D8-4152-8E34-4D1557932EAA}" destId="{3AE31AA9-05DB-4E31-9D24-A9F7C2FC8502}" srcOrd="0" destOrd="0" presId="urn:microsoft.com/office/officeart/2018/2/layout/IconLabelList"/>
    <dgm:cxn modelId="{0BEEC885-0E6B-48D5-AB0C-75F89C427074}" type="presOf" srcId="{C183354E-C3B4-4748-8963-4703058539DF}" destId="{783B4E20-1FCF-4450-87A0-0C5E7583B8F0}" srcOrd="0" destOrd="0" presId="urn:microsoft.com/office/officeart/2018/2/layout/IconLabelList"/>
    <dgm:cxn modelId="{03C0C298-7865-4060-A79E-2B90072512EE}" srcId="{83563C17-F6D8-4152-8E34-4D1557932EAA}" destId="{C183354E-C3B4-4748-8963-4703058539DF}" srcOrd="1" destOrd="0" parTransId="{B51A6806-1375-4F0D-A380-8D555E20AFA3}" sibTransId="{697FA6CA-ABD0-4A22-AFC2-F9CA661B24A1}"/>
    <dgm:cxn modelId="{C7DD40AB-5626-4902-A170-5541C6C14AF5}" srcId="{83563C17-F6D8-4152-8E34-4D1557932EAA}" destId="{BBE62CE7-CE98-422A-A72E-69E02E1E9ED7}" srcOrd="3" destOrd="0" parTransId="{161A3985-1260-46C9-986E-3FD0A14D4758}" sibTransId="{4DCF740C-5484-4F1B-95EE-58016006F1A2}"/>
    <dgm:cxn modelId="{108AB8BA-8D16-414C-B819-389207F0A5DE}" srcId="{83563C17-F6D8-4152-8E34-4D1557932EAA}" destId="{2A9CE139-BF6A-43ED-B525-62CB4B99B993}" srcOrd="4" destOrd="0" parTransId="{43242577-93E0-4728-8019-5FBFB14C2AD3}" sibTransId="{B8964752-14A8-481D-9837-E6C36FE095A9}"/>
    <dgm:cxn modelId="{26C988CE-477D-46A6-8EE0-4EBD3D604675}" srcId="{83563C17-F6D8-4152-8E34-4D1557932EAA}" destId="{5A31832C-54E8-4F53-9B34-24262767D725}" srcOrd="0" destOrd="0" parTransId="{74C405AC-B6B3-4B1D-A88A-5C25DACBA319}" sibTransId="{7082B89B-9377-4457-BB83-274341E4AB58}"/>
    <dgm:cxn modelId="{33FFCAD6-EB9C-44B3-B35E-4491A7C5061B}" srcId="{83563C17-F6D8-4152-8E34-4D1557932EAA}" destId="{50069E65-B86B-422A-B395-D496AEA3982E}" srcOrd="2" destOrd="0" parTransId="{5027C323-15E2-4D91-BF2D-BD26863B3332}" sibTransId="{C90896DA-8E4F-4BD8-BC57-23D31F2FE6BE}"/>
    <dgm:cxn modelId="{C010DCD6-8DEB-43F9-9364-B264C6099B6E}" type="presOf" srcId="{2A9CE139-BF6A-43ED-B525-62CB4B99B993}" destId="{DEB25984-D607-4D1A-B8C1-4E3FF9801A43}" srcOrd="0" destOrd="0" presId="urn:microsoft.com/office/officeart/2018/2/layout/IconLabelList"/>
    <dgm:cxn modelId="{69CE6BD9-B782-432B-82CB-7CFD2345E87A}" type="presOf" srcId="{50069E65-B86B-422A-B395-D496AEA3982E}" destId="{8C60FE08-F56A-4D83-AEDD-DF2C7973AD0D}" srcOrd="0" destOrd="0" presId="urn:microsoft.com/office/officeart/2018/2/layout/IconLabelList"/>
    <dgm:cxn modelId="{3F7F1B89-14BD-4825-94D4-1BAF250B2BA3}" type="presParOf" srcId="{3AE31AA9-05DB-4E31-9D24-A9F7C2FC8502}" destId="{E94084B0-8049-49F5-8C15-7B99E3852F7D}" srcOrd="0" destOrd="0" presId="urn:microsoft.com/office/officeart/2018/2/layout/IconLabelList"/>
    <dgm:cxn modelId="{C83292C3-ADE1-4F45-B27B-3DEDFC899C03}" type="presParOf" srcId="{E94084B0-8049-49F5-8C15-7B99E3852F7D}" destId="{C27B52A3-0E99-4740-B274-186DCF33F417}" srcOrd="0" destOrd="0" presId="urn:microsoft.com/office/officeart/2018/2/layout/IconLabelList"/>
    <dgm:cxn modelId="{ED2BF6B1-F082-465C-8E10-EF1D4F8F87CC}" type="presParOf" srcId="{E94084B0-8049-49F5-8C15-7B99E3852F7D}" destId="{4E0E546F-DC9E-4019-9D13-6FD3BE0A40AF}" srcOrd="1" destOrd="0" presId="urn:microsoft.com/office/officeart/2018/2/layout/IconLabelList"/>
    <dgm:cxn modelId="{E48376EF-E477-4D29-9934-11F06C81BD59}" type="presParOf" srcId="{E94084B0-8049-49F5-8C15-7B99E3852F7D}" destId="{A82FEC56-3054-4B96-AC08-58A315DE5DA5}" srcOrd="2" destOrd="0" presId="urn:microsoft.com/office/officeart/2018/2/layout/IconLabelList"/>
    <dgm:cxn modelId="{1B32E7BA-422C-48DD-B295-B10A1957F861}" type="presParOf" srcId="{3AE31AA9-05DB-4E31-9D24-A9F7C2FC8502}" destId="{BD30BCF1-A972-490F-85AC-9C40C6F3B17A}" srcOrd="1" destOrd="0" presId="urn:microsoft.com/office/officeart/2018/2/layout/IconLabelList"/>
    <dgm:cxn modelId="{68F385DF-EA1F-4A04-A01C-44F2621E6F87}" type="presParOf" srcId="{3AE31AA9-05DB-4E31-9D24-A9F7C2FC8502}" destId="{9B3ED0AA-944B-4890-9C6D-FEAE21D3BE2F}" srcOrd="2" destOrd="0" presId="urn:microsoft.com/office/officeart/2018/2/layout/IconLabelList"/>
    <dgm:cxn modelId="{A8DCF65C-F6EB-4F36-85E5-F3453F1998F4}" type="presParOf" srcId="{9B3ED0AA-944B-4890-9C6D-FEAE21D3BE2F}" destId="{07B52563-9420-4932-A27D-1CBAA09234C4}" srcOrd="0" destOrd="0" presId="urn:microsoft.com/office/officeart/2018/2/layout/IconLabelList"/>
    <dgm:cxn modelId="{D59F5D98-57C3-4371-AE5B-1C36142136CF}" type="presParOf" srcId="{9B3ED0AA-944B-4890-9C6D-FEAE21D3BE2F}" destId="{7207DB33-187A-4994-9565-067FAE58E8AC}" srcOrd="1" destOrd="0" presId="urn:microsoft.com/office/officeart/2018/2/layout/IconLabelList"/>
    <dgm:cxn modelId="{F5D5BC0C-0449-4D38-A6A8-32ADA3EBDC98}" type="presParOf" srcId="{9B3ED0AA-944B-4890-9C6D-FEAE21D3BE2F}" destId="{783B4E20-1FCF-4450-87A0-0C5E7583B8F0}" srcOrd="2" destOrd="0" presId="urn:microsoft.com/office/officeart/2018/2/layout/IconLabelList"/>
    <dgm:cxn modelId="{E8E821C4-CDA4-4997-8B77-95519E00C8EF}" type="presParOf" srcId="{3AE31AA9-05DB-4E31-9D24-A9F7C2FC8502}" destId="{16D48DE2-5B44-451D-ABD1-BF358C841095}" srcOrd="3" destOrd="0" presId="urn:microsoft.com/office/officeart/2018/2/layout/IconLabelList"/>
    <dgm:cxn modelId="{F8E0AD9C-83F8-4046-A9E9-F090180817ED}" type="presParOf" srcId="{3AE31AA9-05DB-4E31-9D24-A9F7C2FC8502}" destId="{D5D0FBAE-B094-455D-AD35-17DA0A0E3188}" srcOrd="4" destOrd="0" presId="urn:microsoft.com/office/officeart/2018/2/layout/IconLabelList"/>
    <dgm:cxn modelId="{26080B58-4C0B-4093-BB7E-61E273D91E16}" type="presParOf" srcId="{D5D0FBAE-B094-455D-AD35-17DA0A0E3188}" destId="{A5835754-B629-4E8A-9FEF-3C7C7B2BC680}" srcOrd="0" destOrd="0" presId="urn:microsoft.com/office/officeart/2018/2/layout/IconLabelList"/>
    <dgm:cxn modelId="{4B5EE0A6-34FA-4359-A5FC-B638B83DA348}" type="presParOf" srcId="{D5D0FBAE-B094-455D-AD35-17DA0A0E3188}" destId="{5D57735B-8CBE-46AE-A06D-982D64FB2ED4}" srcOrd="1" destOrd="0" presId="urn:microsoft.com/office/officeart/2018/2/layout/IconLabelList"/>
    <dgm:cxn modelId="{593FB4E4-4D21-4E6F-98C6-2E1419027F7E}" type="presParOf" srcId="{D5D0FBAE-B094-455D-AD35-17DA0A0E3188}" destId="{8C60FE08-F56A-4D83-AEDD-DF2C7973AD0D}" srcOrd="2" destOrd="0" presId="urn:microsoft.com/office/officeart/2018/2/layout/IconLabelList"/>
    <dgm:cxn modelId="{8D33C330-5A1F-4A0D-8BB2-483D72C9A412}" type="presParOf" srcId="{3AE31AA9-05DB-4E31-9D24-A9F7C2FC8502}" destId="{B6231014-9E99-432F-AF0A-6ECBD34661F8}" srcOrd="5" destOrd="0" presId="urn:microsoft.com/office/officeart/2018/2/layout/IconLabelList"/>
    <dgm:cxn modelId="{7C9DFDAC-D658-4065-A3E7-DD1B24D35FA6}" type="presParOf" srcId="{3AE31AA9-05DB-4E31-9D24-A9F7C2FC8502}" destId="{FDB3620D-58BC-4FD3-BC7E-4E5971C1E7F3}" srcOrd="6" destOrd="0" presId="urn:microsoft.com/office/officeart/2018/2/layout/IconLabelList"/>
    <dgm:cxn modelId="{F4F779D3-C123-4990-A50C-63260B993DD0}" type="presParOf" srcId="{FDB3620D-58BC-4FD3-BC7E-4E5971C1E7F3}" destId="{D38F646D-7E85-44D4-BA0D-30B28BDA486D}" srcOrd="0" destOrd="0" presId="urn:microsoft.com/office/officeart/2018/2/layout/IconLabelList"/>
    <dgm:cxn modelId="{DC74483C-CF6D-4569-8D66-6C47AD69D669}" type="presParOf" srcId="{FDB3620D-58BC-4FD3-BC7E-4E5971C1E7F3}" destId="{F2C5BEA5-E1D8-4602-96FD-EA8287096439}" srcOrd="1" destOrd="0" presId="urn:microsoft.com/office/officeart/2018/2/layout/IconLabelList"/>
    <dgm:cxn modelId="{9BE9C8AC-8D19-40E7-B860-34C095E13326}" type="presParOf" srcId="{FDB3620D-58BC-4FD3-BC7E-4E5971C1E7F3}" destId="{F18D83B5-0B16-4164-93C3-8D3B263DE1CF}" srcOrd="2" destOrd="0" presId="urn:microsoft.com/office/officeart/2018/2/layout/IconLabelList"/>
    <dgm:cxn modelId="{0B6112F2-E4ED-4C1B-8F33-2CFBB5B72864}" type="presParOf" srcId="{3AE31AA9-05DB-4E31-9D24-A9F7C2FC8502}" destId="{A0247CCB-E941-462A-AE15-0B07FFA6DBD4}" srcOrd="7" destOrd="0" presId="urn:microsoft.com/office/officeart/2018/2/layout/IconLabelList"/>
    <dgm:cxn modelId="{E466B150-84C2-4E87-9CC5-A9398AB2A467}" type="presParOf" srcId="{3AE31AA9-05DB-4E31-9D24-A9F7C2FC8502}" destId="{6F085A6D-3A05-4552-9F2B-8E542CBD184C}" srcOrd="8" destOrd="0" presId="urn:microsoft.com/office/officeart/2018/2/layout/IconLabelList"/>
    <dgm:cxn modelId="{1196D64E-91F1-42CC-8796-B03089931522}" type="presParOf" srcId="{6F085A6D-3A05-4552-9F2B-8E542CBD184C}" destId="{D40A71EA-546A-42E0-92DF-C58EC4D6EAB7}" srcOrd="0" destOrd="0" presId="urn:microsoft.com/office/officeart/2018/2/layout/IconLabelList"/>
    <dgm:cxn modelId="{B25AD4E9-C38B-42FC-AA0C-ED5C986FE0AF}" type="presParOf" srcId="{6F085A6D-3A05-4552-9F2B-8E542CBD184C}" destId="{A23DF6B5-8750-4321-87A0-4965A0970CD5}" srcOrd="1" destOrd="0" presId="urn:microsoft.com/office/officeart/2018/2/layout/IconLabelList"/>
    <dgm:cxn modelId="{13C49A68-3BD4-4640-A8A3-68BAFE29B981}" type="presParOf" srcId="{6F085A6D-3A05-4552-9F2B-8E542CBD184C}" destId="{DEB25984-D607-4D1A-B8C1-4E3FF9801A4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B52A3-0E99-4740-B274-186DCF33F417}">
      <dsp:nvSpPr>
        <dsp:cNvPr id="0" name=""/>
        <dsp:cNvSpPr/>
      </dsp:nvSpPr>
      <dsp:spPr>
        <a:xfrm>
          <a:off x="490328" y="1232213"/>
          <a:ext cx="795761" cy="7957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2FEC56-3054-4B96-AC08-58A315DE5DA5}">
      <dsp:nvSpPr>
        <dsp:cNvPr id="0" name=""/>
        <dsp:cNvSpPr/>
      </dsp:nvSpPr>
      <dsp:spPr>
        <a:xfrm>
          <a:off x="4029" y="2293359"/>
          <a:ext cx="1768359" cy="70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On-demand self-service</a:t>
          </a:r>
        </a:p>
      </dsp:txBody>
      <dsp:txXfrm>
        <a:off x="4029" y="2293359"/>
        <a:ext cx="1768359" cy="707343"/>
      </dsp:txXfrm>
    </dsp:sp>
    <dsp:sp modelId="{07B52563-9420-4932-A27D-1CBAA09234C4}">
      <dsp:nvSpPr>
        <dsp:cNvPr id="0" name=""/>
        <dsp:cNvSpPr/>
      </dsp:nvSpPr>
      <dsp:spPr>
        <a:xfrm>
          <a:off x="2568150" y="1232213"/>
          <a:ext cx="795761" cy="7957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3B4E20-1FCF-4450-87A0-0C5E7583B8F0}">
      <dsp:nvSpPr>
        <dsp:cNvPr id="0" name=""/>
        <dsp:cNvSpPr/>
      </dsp:nvSpPr>
      <dsp:spPr>
        <a:xfrm>
          <a:off x="2081852" y="2293359"/>
          <a:ext cx="1768359" cy="70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Broad network access</a:t>
          </a:r>
        </a:p>
      </dsp:txBody>
      <dsp:txXfrm>
        <a:off x="2081852" y="2293359"/>
        <a:ext cx="1768359" cy="707343"/>
      </dsp:txXfrm>
    </dsp:sp>
    <dsp:sp modelId="{A5835754-B629-4E8A-9FEF-3C7C7B2BC680}">
      <dsp:nvSpPr>
        <dsp:cNvPr id="0" name=""/>
        <dsp:cNvSpPr/>
      </dsp:nvSpPr>
      <dsp:spPr>
        <a:xfrm>
          <a:off x="4645973" y="1232213"/>
          <a:ext cx="795761" cy="7957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60FE08-F56A-4D83-AEDD-DF2C7973AD0D}">
      <dsp:nvSpPr>
        <dsp:cNvPr id="0" name=""/>
        <dsp:cNvSpPr/>
      </dsp:nvSpPr>
      <dsp:spPr>
        <a:xfrm>
          <a:off x="4159674" y="2293359"/>
          <a:ext cx="1768359" cy="70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Resource pooling</a:t>
          </a:r>
        </a:p>
      </dsp:txBody>
      <dsp:txXfrm>
        <a:off x="4159674" y="2293359"/>
        <a:ext cx="1768359" cy="707343"/>
      </dsp:txXfrm>
    </dsp:sp>
    <dsp:sp modelId="{D38F646D-7E85-44D4-BA0D-30B28BDA486D}">
      <dsp:nvSpPr>
        <dsp:cNvPr id="0" name=""/>
        <dsp:cNvSpPr/>
      </dsp:nvSpPr>
      <dsp:spPr>
        <a:xfrm>
          <a:off x="6723795" y="1232213"/>
          <a:ext cx="795761" cy="7957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8D83B5-0B16-4164-93C3-8D3B263DE1CF}">
      <dsp:nvSpPr>
        <dsp:cNvPr id="0" name=""/>
        <dsp:cNvSpPr/>
      </dsp:nvSpPr>
      <dsp:spPr>
        <a:xfrm>
          <a:off x="6237496" y="2293359"/>
          <a:ext cx="1768359" cy="70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Rapid elastic</a:t>
          </a:r>
        </a:p>
      </dsp:txBody>
      <dsp:txXfrm>
        <a:off x="6237496" y="2293359"/>
        <a:ext cx="1768359" cy="707343"/>
      </dsp:txXfrm>
    </dsp:sp>
    <dsp:sp modelId="{D40A71EA-546A-42E0-92DF-C58EC4D6EAB7}">
      <dsp:nvSpPr>
        <dsp:cNvPr id="0" name=""/>
        <dsp:cNvSpPr/>
      </dsp:nvSpPr>
      <dsp:spPr>
        <a:xfrm>
          <a:off x="8801617" y="1232213"/>
          <a:ext cx="795761" cy="79576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B25984-D607-4D1A-B8C1-4E3FF9801A43}">
      <dsp:nvSpPr>
        <dsp:cNvPr id="0" name=""/>
        <dsp:cNvSpPr/>
      </dsp:nvSpPr>
      <dsp:spPr>
        <a:xfrm>
          <a:off x="8315318" y="2293359"/>
          <a:ext cx="1768359" cy="707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Measured service</a:t>
          </a:r>
        </a:p>
      </dsp:txBody>
      <dsp:txXfrm>
        <a:off x="8315318" y="2293359"/>
        <a:ext cx="1768359" cy="70734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Tx/>
              <a:buChar char="-"/>
            </a:pPr>
            <a:r>
              <a:rPr lang="en-ID" dirty="0"/>
              <a:t>Public Cloud – the infrastructure is made available to the general public or a large industry group and is owned by an organization selling cloud services.</a:t>
            </a:r>
          </a:p>
          <a:p>
            <a:pPr marL="171450" indent="-171450">
              <a:buFontTx/>
              <a:buChar char="-"/>
            </a:pPr>
            <a:r>
              <a:rPr lang="en-ID" dirty="0"/>
              <a:t>Private Cloud – the infrastructure is operated solely for an organization, It may be managed by the organization or a third party and may exist on or off the premises of the organization.</a:t>
            </a:r>
          </a:p>
          <a:p>
            <a:pPr marL="171450" indent="-171450">
              <a:buFontTx/>
              <a:buChar char="-"/>
            </a:pPr>
            <a:r>
              <a:rPr lang="en-ID" dirty="0"/>
              <a:t>Hybrid Cloud – the infrastructure is a composition of two or more clouds (private, community, or public) that remain unique entities but are bound together by standardized or proprietary technology that enables data and application portability (e.g., cloud bursting for load-balancing between clouds).</a:t>
            </a:r>
          </a:p>
          <a:p>
            <a:pPr marL="171450" indent="-171450">
              <a:buFontTx/>
              <a:buChar char="-"/>
            </a:pPr>
            <a:r>
              <a:rPr lang="en-ID" dirty="0"/>
              <a:t>Community Cloud – the infrastructure is shared by several organizations and supports a specific community that has shared concerns (e.g., mission, security requirements, policy, and compliance considerations). It may be managed by the organizations or a third party and may exist on premises or off premises.</a:t>
            </a:r>
            <a:endParaRPr lang="en-US" dirty="0"/>
          </a:p>
          <a:p>
            <a:endParaRPr lang="en-US" dirty="0"/>
          </a:p>
        </p:txBody>
      </p:sp>
    </p:spTree>
    <p:extLst>
      <p:ext uri="{BB962C8B-B14F-4D97-AF65-F5344CB8AC3E}">
        <p14:creationId xmlns:p14="http://schemas.microsoft.com/office/powerpoint/2010/main" val="5024763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dirty="0"/>
              <a:t>Introduction to Cloud</a:t>
            </a:r>
            <a:br>
              <a:rPr lang="en-US" dirty="0"/>
            </a:br>
            <a:br>
              <a:rPr lang="en-US" dirty="0"/>
            </a:br>
            <a:r>
              <a:rPr lang="en-US" sz="6000" dirty="0"/>
              <a:t>Session 01</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US" sz="3200" dirty="0"/>
          </a:p>
          <a:p>
            <a:r>
              <a:rPr lang="en-US" sz="3200" dirty="0"/>
              <a:t>Explain about what is cloud computing</a:t>
            </a:r>
          </a:p>
          <a:p>
            <a:endParaRPr lang="en-US" sz="3200" dirty="0"/>
          </a:p>
          <a:p>
            <a:r>
              <a:rPr lang="en-US" sz="3200" dirty="0"/>
              <a:t>Understand cloud computing ethical issues</a:t>
            </a:r>
          </a:p>
          <a:p>
            <a:endParaRPr lang="en-US" sz="3200" dirty="0"/>
          </a:p>
          <a:p>
            <a:r>
              <a:rPr lang="en-US" sz="3200" dirty="0"/>
              <a:t>Understand </a:t>
            </a:r>
            <a:r>
              <a:rPr lang="en-US" sz="3200" dirty="0">
                <a:latin typeface="Tahoma" panose="020B0604030504040204" pitchFamily="34" charset="0"/>
                <a:ea typeface="Tahoma" panose="020B0604030504040204" pitchFamily="34" charset="0"/>
                <a:cs typeface="Tahoma" panose="020B0604030504040204" pitchFamily="34" charset="0"/>
              </a:rPr>
              <a:t>Network-centric Computing and Network-centric Content</a:t>
            </a:r>
          </a:p>
          <a:p>
            <a:endParaRPr lang="en-US"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US" sz="3200" dirty="0"/>
              <a:t>Cloud Computing Overview</a:t>
            </a:r>
          </a:p>
          <a:p>
            <a:r>
              <a:rPr lang="en-US" sz="3200" dirty="0"/>
              <a:t>Energy Use and Ecological Impact of Cloud Computing</a:t>
            </a:r>
          </a:p>
          <a:p>
            <a:r>
              <a:rPr lang="en-US" sz="3200" dirty="0"/>
              <a:t>Cloud Computing Ethical Issues</a:t>
            </a:r>
          </a:p>
          <a:p>
            <a:r>
              <a:rPr lang="en-US" sz="3200" dirty="0"/>
              <a:t>Factors Affecting Cloud Service Availability</a:t>
            </a:r>
          </a:p>
          <a:p>
            <a:r>
              <a:rPr lang="en-US" sz="3200" dirty="0"/>
              <a:t>Network-centric Computing and Network-centric Content</a:t>
            </a:r>
          </a:p>
          <a:p>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Cloud Computing Overview</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0F8AA97F-8B42-B041-BB62-3C1C43850DE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sz="quarter" idx="11"/>
          </p:nvPr>
        </p:nvSpPr>
        <p:spPr/>
        <p:txBody>
          <a:bodyPr>
            <a:normAutofit/>
          </a:bodyPr>
          <a:lstStyle/>
          <a:p>
            <a:pPr marL="0" indent="0" algn="ctr">
              <a:buNone/>
            </a:pPr>
            <a:r>
              <a:rPr lang="en-US" sz="4000" dirty="0"/>
              <a:t>“a model for enabling ubiquitous, convenient, on-demand network access to a shared pool of configurable computing resource that can be rapidly provisioned and released with minimal management effort or service provider interaction”</a:t>
            </a:r>
          </a:p>
          <a:p>
            <a:pPr algn="ctr"/>
            <a:endParaRPr lang="en-US" dirty="0"/>
          </a:p>
          <a:p>
            <a:pPr marL="0" indent="0" algn="ctr">
              <a:buNone/>
            </a:pPr>
            <a:r>
              <a:rPr lang="en-US" dirty="0"/>
              <a:t>  (US National Institute of Standards and Technology)</a:t>
            </a:r>
          </a:p>
          <a:p>
            <a:pPr algn="ctr"/>
            <a:endParaRPr lang="en-US" dirty="0"/>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CAB1-535E-115F-AE1E-E8FDE6A953F8}"/>
              </a:ext>
            </a:extLst>
          </p:cNvPr>
          <p:cNvSpPr>
            <a:spLocks noGrp="1"/>
          </p:cNvSpPr>
          <p:nvPr>
            <p:ph type="title"/>
          </p:nvPr>
        </p:nvSpPr>
        <p:spPr/>
        <p:txBody>
          <a:bodyPr>
            <a:normAutofit fontScale="90000"/>
          </a:bodyPr>
          <a:lstStyle/>
          <a:p>
            <a:endParaRPr lang="en-US"/>
          </a:p>
        </p:txBody>
      </p:sp>
      <p:sp>
        <p:nvSpPr>
          <p:cNvPr id="3" name="Text Placeholder 2">
            <a:extLst>
              <a:ext uri="{FF2B5EF4-FFF2-40B4-BE49-F238E27FC236}">
                <a16:creationId xmlns:a16="http://schemas.microsoft.com/office/drawing/2014/main" id="{AB98EADF-55E3-8B96-6A5B-239FDE2B13F3}"/>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6D056936-694B-AF01-91D0-DAEB0344324D}"/>
              </a:ext>
            </a:extLst>
          </p:cNvPr>
          <p:cNvSpPr>
            <a:spLocks noGrp="1"/>
          </p:cNvSpPr>
          <p:nvPr>
            <p:ph sz="quarter" idx="11"/>
          </p:nvPr>
        </p:nvSpPr>
        <p:spPr>
          <a:xfrm>
            <a:off x="5334530" y="5409746"/>
            <a:ext cx="13714940" cy="4522264"/>
          </a:xfrm>
          <a:solidFill>
            <a:schemeClr val="bg1"/>
          </a:solidFill>
        </p:spPr>
        <p:txBody>
          <a:bodyPr/>
          <a:lstStyle/>
          <a:p>
            <a:endParaRPr lang="en-US"/>
          </a:p>
        </p:txBody>
      </p:sp>
      <p:graphicFrame>
        <p:nvGraphicFramePr>
          <p:cNvPr id="5" name="Content Placeholder 2">
            <a:extLst>
              <a:ext uri="{FF2B5EF4-FFF2-40B4-BE49-F238E27FC236}">
                <a16:creationId xmlns:a16="http://schemas.microsoft.com/office/drawing/2014/main" id="{CD7745E7-E687-2B7D-6191-23BB1C61E170}"/>
              </a:ext>
            </a:extLst>
          </p:cNvPr>
          <p:cNvGraphicFramePr>
            <a:graphicFrameLocks/>
          </p:cNvGraphicFramePr>
          <p:nvPr>
            <p:extLst>
              <p:ext uri="{D42A27DB-BD31-4B8C-83A1-F6EECF244321}">
                <p14:modId xmlns:p14="http://schemas.microsoft.com/office/powerpoint/2010/main" val="819659292"/>
              </p:ext>
            </p:extLst>
          </p:nvPr>
        </p:nvGraphicFramePr>
        <p:xfrm>
          <a:off x="6983191" y="5722538"/>
          <a:ext cx="10087708" cy="42329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22815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102D5-5BF4-3D54-B706-F9BA77D8B831}"/>
              </a:ext>
            </a:extLst>
          </p:cNvPr>
          <p:cNvSpPr>
            <a:spLocks noGrp="1"/>
          </p:cNvSpPr>
          <p:nvPr>
            <p:ph type="title"/>
          </p:nvPr>
        </p:nvSpPr>
        <p:spPr/>
        <p:txBody>
          <a:bodyPr>
            <a:normAutofit fontScale="90000"/>
          </a:bodyPr>
          <a:lstStyle/>
          <a:p>
            <a:r>
              <a:rPr lang="en-US" dirty="0"/>
              <a:t>Cloud Types</a:t>
            </a:r>
          </a:p>
        </p:txBody>
      </p:sp>
      <p:sp>
        <p:nvSpPr>
          <p:cNvPr id="3" name="Text Placeholder 2">
            <a:extLst>
              <a:ext uri="{FF2B5EF4-FFF2-40B4-BE49-F238E27FC236}">
                <a16:creationId xmlns:a16="http://schemas.microsoft.com/office/drawing/2014/main" id="{8981C241-B9EB-E059-BA2B-F2C475AEE3F0}"/>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2D5986C1-6E76-A8F5-83B8-1DDCA57D1DD8}"/>
              </a:ext>
            </a:extLst>
          </p:cNvPr>
          <p:cNvSpPr>
            <a:spLocks noGrp="1"/>
          </p:cNvSpPr>
          <p:nvPr>
            <p:ph type="body" sz="quarter" idx="11"/>
          </p:nvPr>
        </p:nvSpPr>
        <p:spPr/>
        <p:txBody>
          <a:bodyPr/>
          <a:lstStyle/>
          <a:p>
            <a:r>
              <a:rPr lang="en-US" dirty="0"/>
              <a:t>Provisioned for open use for the public by a particular organization who also hosts the service</a:t>
            </a:r>
          </a:p>
        </p:txBody>
      </p:sp>
      <p:sp>
        <p:nvSpPr>
          <p:cNvPr id="5" name="Text Placeholder 4">
            <a:extLst>
              <a:ext uri="{FF2B5EF4-FFF2-40B4-BE49-F238E27FC236}">
                <a16:creationId xmlns:a16="http://schemas.microsoft.com/office/drawing/2014/main" id="{2C8C5543-B6D0-999F-B6AD-9249C89A0F24}"/>
              </a:ext>
            </a:extLst>
          </p:cNvPr>
          <p:cNvSpPr>
            <a:spLocks noGrp="1"/>
          </p:cNvSpPr>
          <p:nvPr>
            <p:ph type="body" sz="quarter" idx="12"/>
          </p:nvPr>
        </p:nvSpPr>
        <p:spPr/>
        <p:txBody>
          <a:bodyPr/>
          <a:lstStyle/>
          <a:p>
            <a:r>
              <a:rPr lang="en-US" dirty="0"/>
              <a:t>Public Cloud</a:t>
            </a:r>
          </a:p>
        </p:txBody>
      </p:sp>
      <p:sp>
        <p:nvSpPr>
          <p:cNvPr id="6" name="Text Placeholder 5">
            <a:extLst>
              <a:ext uri="{FF2B5EF4-FFF2-40B4-BE49-F238E27FC236}">
                <a16:creationId xmlns:a16="http://schemas.microsoft.com/office/drawing/2014/main" id="{1E789F11-2E8F-DC11-4F60-8C9E33E580DF}"/>
              </a:ext>
            </a:extLst>
          </p:cNvPr>
          <p:cNvSpPr>
            <a:spLocks noGrp="1"/>
          </p:cNvSpPr>
          <p:nvPr>
            <p:ph type="body" sz="quarter" idx="13"/>
          </p:nvPr>
        </p:nvSpPr>
        <p:spPr/>
        <p:txBody>
          <a:bodyPr/>
          <a:lstStyle/>
          <a:p>
            <a:r>
              <a:rPr lang="en-US" dirty="0"/>
              <a:t>Hybrid cloud</a:t>
            </a:r>
          </a:p>
        </p:txBody>
      </p:sp>
      <p:sp>
        <p:nvSpPr>
          <p:cNvPr id="7" name="Text Placeholder 6">
            <a:extLst>
              <a:ext uri="{FF2B5EF4-FFF2-40B4-BE49-F238E27FC236}">
                <a16:creationId xmlns:a16="http://schemas.microsoft.com/office/drawing/2014/main" id="{7365EEE5-1769-FC70-ED97-2D05AE27920B}"/>
              </a:ext>
            </a:extLst>
          </p:cNvPr>
          <p:cNvSpPr>
            <a:spLocks noGrp="1"/>
          </p:cNvSpPr>
          <p:nvPr>
            <p:ph type="body" sz="quarter" idx="14"/>
          </p:nvPr>
        </p:nvSpPr>
        <p:spPr/>
        <p:txBody>
          <a:bodyPr/>
          <a:lstStyle/>
          <a:p>
            <a:r>
              <a:rPr lang="en-US" dirty="0"/>
              <a:t>Private Cloud</a:t>
            </a:r>
          </a:p>
        </p:txBody>
      </p:sp>
      <p:sp>
        <p:nvSpPr>
          <p:cNvPr id="8" name="Text Placeholder 7">
            <a:extLst>
              <a:ext uri="{FF2B5EF4-FFF2-40B4-BE49-F238E27FC236}">
                <a16:creationId xmlns:a16="http://schemas.microsoft.com/office/drawing/2014/main" id="{9638EF8F-5A90-5D93-370E-E4FCD2C0A037}"/>
              </a:ext>
            </a:extLst>
          </p:cNvPr>
          <p:cNvSpPr>
            <a:spLocks noGrp="1"/>
          </p:cNvSpPr>
          <p:nvPr>
            <p:ph type="body" sz="quarter" idx="15"/>
          </p:nvPr>
        </p:nvSpPr>
        <p:spPr/>
        <p:txBody>
          <a:bodyPr/>
          <a:lstStyle/>
          <a:p>
            <a:r>
              <a:rPr lang="en-US" dirty="0"/>
              <a:t>Community Cloud</a:t>
            </a:r>
          </a:p>
        </p:txBody>
      </p:sp>
      <p:sp>
        <p:nvSpPr>
          <p:cNvPr id="9" name="Text Placeholder 8">
            <a:extLst>
              <a:ext uri="{FF2B5EF4-FFF2-40B4-BE49-F238E27FC236}">
                <a16:creationId xmlns:a16="http://schemas.microsoft.com/office/drawing/2014/main" id="{AEAC747C-BCDC-BFFF-CABB-84CF0FC685C2}"/>
              </a:ext>
            </a:extLst>
          </p:cNvPr>
          <p:cNvSpPr>
            <a:spLocks noGrp="1"/>
          </p:cNvSpPr>
          <p:nvPr>
            <p:ph type="body" sz="quarter" idx="16"/>
          </p:nvPr>
        </p:nvSpPr>
        <p:spPr/>
        <p:txBody>
          <a:bodyPr/>
          <a:lstStyle/>
          <a:p>
            <a:r>
              <a:rPr lang="en-US" dirty="0"/>
              <a:t>Composed by two or more cloud types</a:t>
            </a:r>
          </a:p>
        </p:txBody>
      </p:sp>
      <p:sp>
        <p:nvSpPr>
          <p:cNvPr id="10" name="Text Placeholder 9">
            <a:extLst>
              <a:ext uri="{FF2B5EF4-FFF2-40B4-BE49-F238E27FC236}">
                <a16:creationId xmlns:a16="http://schemas.microsoft.com/office/drawing/2014/main" id="{36839F5C-44C5-D7B1-14FC-58E66DD448BF}"/>
              </a:ext>
            </a:extLst>
          </p:cNvPr>
          <p:cNvSpPr>
            <a:spLocks noGrp="1"/>
          </p:cNvSpPr>
          <p:nvPr>
            <p:ph type="body" sz="quarter" idx="17"/>
          </p:nvPr>
        </p:nvSpPr>
        <p:spPr/>
        <p:txBody>
          <a:bodyPr/>
          <a:lstStyle/>
          <a:p>
            <a:r>
              <a:rPr lang="en-US" dirty="0"/>
              <a:t>Used for a single organization, can be internally or externally hosted</a:t>
            </a:r>
          </a:p>
        </p:txBody>
      </p:sp>
      <p:sp>
        <p:nvSpPr>
          <p:cNvPr id="11" name="Text Placeholder 10">
            <a:extLst>
              <a:ext uri="{FF2B5EF4-FFF2-40B4-BE49-F238E27FC236}">
                <a16:creationId xmlns:a16="http://schemas.microsoft.com/office/drawing/2014/main" id="{A7F79326-24F6-25F5-50C4-2E567B4B3D01}"/>
              </a:ext>
            </a:extLst>
          </p:cNvPr>
          <p:cNvSpPr>
            <a:spLocks noGrp="1"/>
          </p:cNvSpPr>
          <p:nvPr>
            <p:ph type="body" sz="quarter" idx="18"/>
          </p:nvPr>
        </p:nvSpPr>
        <p:spPr/>
        <p:txBody>
          <a:bodyPr/>
          <a:lstStyle/>
          <a:p>
            <a:r>
              <a:rPr lang="en-US" dirty="0"/>
              <a:t>Shared by several organization, typically externally hosted, but may be internally hosted by one or more of the organization involved</a:t>
            </a:r>
          </a:p>
        </p:txBody>
      </p:sp>
    </p:spTree>
    <p:extLst>
      <p:ext uri="{BB962C8B-B14F-4D97-AF65-F5344CB8AC3E}">
        <p14:creationId xmlns:p14="http://schemas.microsoft.com/office/powerpoint/2010/main" val="257173690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63CBE5D-D615-2403-1C14-94DF4EC2B563}"/>
              </a:ext>
            </a:extLst>
          </p:cNvPr>
          <p:cNvSpPr>
            <a:spLocks noGrp="1"/>
          </p:cNvSpPr>
          <p:nvPr>
            <p:ph type="title"/>
          </p:nvPr>
        </p:nvSpPr>
        <p:spPr>
          <a:xfrm>
            <a:off x="2167377" y="1871164"/>
            <a:ext cx="14715569" cy="511175"/>
          </a:xfrm>
        </p:spPr>
        <p:txBody>
          <a:bodyPr>
            <a:normAutofit fontScale="90000"/>
          </a:bodyPr>
          <a:lstStyle/>
          <a:p>
            <a:r>
              <a:rPr lang="en-US" dirty="0"/>
              <a:t>Cloud overview</a:t>
            </a:r>
          </a:p>
        </p:txBody>
      </p:sp>
      <p:sp>
        <p:nvSpPr>
          <p:cNvPr id="16" name="Text Placeholder 2">
            <a:extLst>
              <a:ext uri="{FF2B5EF4-FFF2-40B4-BE49-F238E27FC236}">
                <a16:creationId xmlns:a16="http://schemas.microsoft.com/office/drawing/2014/main" id="{29A62228-7572-ECB8-89A1-4FC318576A68}"/>
              </a:ext>
            </a:extLst>
          </p:cNvPr>
          <p:cNvSpPr>
            <a:spLocks noGrp="1"/>
          </p:cNvSpPr>
          <p:nvPr>
            <p:ph type="body" sz="quarter" idx="10"/>
          </p:nvPr>
        </p:nvSpPr>
        <p:spPr>
          <a:xfrm>
            <a:off x="2167377" y="2419728"/>
            <a:ext cx="9768875" cy="803546"/>
          </a:xfrm>
        </p:spPr>
        <p:txBody>
          <a:bodyPr/>
          <a:lstStyle/>
          <a:p>
            <a:endParaRPr lang="en-US"/>
          </a:p>
        </p:txBody>
      </p:sp>
      <p:sp>
        <p:nvSpPr>
          <p:cNvPr id="18" name="Text Placeholder 3">
            <a:extLst>
              <a:ext uri="{FF2B5EF4-FFF2-40B4-BE49-F238E27FC236}">
                <a16:creationId xmlns:a16="http://schemas.microsoft.com/office/drawing/2014/main" id="{5907B18B-B285-9589-65A2-7D1D5884CD46}"/>
              </a:ext>
            </a:extLst>
          </p:cNvPr>
          <p:cNvSpPr>
            <a:spLocks noGrp="1"/>
          </p:cNvSpPr>
          <p:nvPr>
            <p:ph type="body" sz="quarter" idx="16"/>
          </p:nvPr>
        </p:nvSpPr>
        <p:spPr>
          <a:xfrm>
            <a:off x="2167377" y="6556917"/>
            <a:ext cx="9768906" cy="5575610"/>
          </a:xfrm>
        </p:spPr>
        <p:txBody>
          <a:bodyPr/>
          <a:lstStyle/>
          <a:p>
            <a:r>
              <a:rPr lang="en-US" sz="3200" dirty="0"/>
              <a:t>cloud computing consist of a ton of other parts that work together</a:t>
            </a:r>
          </a:p>
        </p:txBody>
      </p:sp>
      <p:pic>
        <p:nvPicPr>
          <p:cNvPr id="5" name="Content Placeholder 5">
            <a:extLst>
              <a:ext uri="{FF2B5EF4-FFF2-40B4-BE49-F238E27FC236}">
                <a16:creationId xmlns:a16="http://schemas.microsoft.com/office/drawing/2014/main" id="{7D82224F-E5AD-9D38-C637-263F8BC8A40B}"/>
              </a:ext>
            </a:extLst>
          </p:cNvPr>
          <p:cNvPicPr>
            <a:picLocks noGrp="1" noChangeAspect="1"/>
          </p:cNvPicPr>
          <p:nvPr>
            <p:ph type="pic" sz="quarter" idx="13"/>
          </p:nvPr>
        </p:nvPicPr>
        <p:blipFill>
          <a:blip r:embed="rId2"/>
          <a:srcRect l="-271" r="62"/>
          <a:stretch>
            <a:fillRect/>
          </a:stretch>
        </p:blipFill>
        <p:spPr>
          <a:xfrm>
            <a:off x="12447719" y="4649817"/>
            <a:ext cx="11361054" cy="7482710"/>
          </a:xfrm>
          <a:prstGeom prst="rect">
            <a:avLst/>
          </a:prstGeom>
          <a:noFill/>
        </p:spPr>
      </p:pic>
      <p:sp>
        <p:nvSpPr>
          <p:cNvPr id="20" name="Text Placeholder 5">
            <a:extLst>
              <a:ext uri="{FF2B5EF4-FFF2-40B4-BE49-F238E27FC236}">
                <a16:creationId xmlns:a16="http://schemas.microsoft.com/office/drawing/2014/main" id="{82D18783-4C04-7274-EF3F-AC4893723272}"/>
              </a:ext>
            </a:extLst>
          </p:cNvPr>
          <p:cNvSpPr>
            <a:spLocks noGrp="1"/>
          </p:cNvSpPr>
          <p:nvPr>
            <p:ph type="body" sz="quarter" idx="17"/>
          </p:nvPr>
        </p:nvSpPr>
        <p:spPr>
          <a:xfrm>
            <a:off x="2166938" y="4210049"/>
            <a:ext cx="9768874" cy="2039112"/>
          </a:xfrm>
        </p:spPr>
        <p:txBody>
          <a:bodyPr/>
          <a:lstStyle/>
          <a:p>
            <a:r>
              <a:rPr lang="en-US" dirty="0"/>
              <a:t>Other than characteristic and types… </a:t>
            </a:r>
          </a:p>
        </p:txBody>
      </p:sp>
    </p:spTree>
    <p:extLst>
      <p:ext uri="{BB962C8B-B14F-4D97-AF65-F5344CB8AC3E}">
        <p14:creationId xmlns:p14="http://schemas.microsoft.com/office/powerpoint/2010/main" val="111929767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Energy Use and Ecological Impact of Cloud Computing</a:t>
            </a:r>
          </a:p>
        </p:txBody>
      </p:sp>
    </p:spTree>
    <p:extLst>
      <p:ext uri="{BB962C8B-B14F-4D97-AF65-F5344CB8AC3E}">
        <p14:creationId xmlns:p14="http://schemas.microsoft.com/office/powerpoint/2010/main" val="121542066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a:t>Energy Use and Ecological Impact of Cloud Computing</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This is data from 2021, can you guess how much of this emission was caused by datacenter energy use? Imagine how the graph would look like ever since AI like ChatGPT enter the space.</a:t>
            </a:r>
          </a:p>
        </p:txBody>
      </p:sp>
      <p:pic>
        <p:nvPicPr>
          <p:cNvPr id="8" name="Picture Placeholder 7">
            <a:extLst>
              <a:ext uri="{FF2B5EF4-FFF2-40B4-BE49-F238E27FC236}">
                <a16:creationId xmlns:a16="http://schemas.microsoft.com/office/drawing/2014/main" id="{46B0B7D3-5506-E60C-B6DB-B4A033707DEC}"/>
              </a:ext>
            </a:extLst>
          </p:cNvPr>
          <p:cNvPicPr>
            <a:picLocks noGrp="1" noChangeAspect="1"/>
          </p:cNvPicPr>
          <p:nvPr>
            <p:ph type="pic" sz="quarter" idx="13"/>
          </p:nvPr>
        </p:nvPicPr>
        <p:blipFill>
          <a:blip r:embed="rId2"/>
          <a:srcRect l="2049" r="26737"/>
          <a:stretch>
            <a:fillRect/>
          </a:stretch>
        </p:blipFill>
        <p:spPr>
          <a:xfrm>
            <a:off x="12785407" y="2419728"/>
            <a:ext cx="11200008" cy="9751046"/>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lstStyle/>
          <a:p>
            <a:r>
              <a:rPr lang="en-US" dirty="0"/>
              <a:t>The CO</a:t>
            </a:r>
            <a:r>
              <a:rPr lang="en-US" baseline="-25000" dirty="0"/>
              <a:t>2 </a:t>
            </a:r>
            <a:r>
              <a:rPr lang="en-US" dirty="0"/>
              <a:t>Contribution of Various Countries of the World</a:t>
            </a:r>
          </a:p>
        </p:txBody>
      </p:sp>
    </p:spTree>
    <p:extLst>
      <p:ext uri="{BB962C8B-B14F-4D97-AF65-F5344CB8AC3E}">
        <p14:creationId xmlns:p14="http://schemas.microsoft.com/office/powerpoint/2010/main" val="414131878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453CB-3C87-96A4-E99E-776603FBCC32}"/>
              </a:ext>
            </a:extLst>
          </p:cNvPr>
          <p:cNvSpPr>
            <a:spLocks noGrp="1"/>
          </p:cNvSpPr>
          <p:nvPr>
            <p:ph type="title"/>
          </p:nvPr>
        </p:nvSpPr>
        <p:spPr/>
        <p:txBody>
          <a:bodyPr>
            <a:noAutofit/>
          </a:bodyPr>
          <a:lstStyle/>
          <a:p>
            <a:r>
              <a:rPr lang="en-US" dirty="0"/>
              <a:t>How Cloud Data Centers Contributes to Lowering</a:t>
            </a:r>
          </a:p>
        </p:txBody>
      </p:sp>
      <p:sp>
        <p:nvSpPr>
          <p:cNvPr id="3" name="Text Placeholder 2">
            <a:extLst>
              <a:ext uri="{FF2B5EF4-FFF2-40B4-BE49-F238E27FC236}">
                <a16:creationId xmlns:a16="http://schemas.microsoft.com/office/drawing/2014/main" id="{75AFA937-0168-04C2-EE77-EF462AFEA35A}"/>
              </a:ext>
            </a:extLst>
          </p:cNvPr>
          <p:cNvSpPr>
            <a:spLocks noGrp="1"/>
          </p:cNvSpPr>
          <p:nvPr>
            <p:ph type="body" sz="quarter" idx="10"/>
          </p:nvPr>
        </p:nvSpPr>
        <p:spPr/>
        <p:txBody>
          <a:bodyPr/>
          <a:lstStyle/>
          <a:p>
            <a:r>
              <a:rPr lang="en-US" dirty="0"/>
              <a:t> CO2 Emission?</a:t>
            </a:r>
          </a:p>
        </p:txBody>
      </p:sp>
      <p:sp>
        <p:nvSpPr>
          <p:cNvPr id="4" name="Text Placeholder 3">
            <a:extLst>
              <a:ext uri="{FF2B5EF4-FFF2-40B4-BE49-F238E27FC236}">
                <a16:creationId xmlns:a16="http://schemas.microsoft.com/office/drawing/2014/main" id="{6D3EFC05-60C0-037D-5E04-16BCC4040660}"/>
              </a:ext>
            </a:extLst>
          </p:cNvPr>
          <p:cNvSpPr>
            <a:spLocks noGrp="1"/>
          </p:cNvSpPr>
          <p:nvPr>
            <p:ph type="body" sz="quarter" idx="14"/>
          </p:nvPr>
        </p:nvSpPr>
        <p:spPr/>
        <p:txBody>
          <a:bodyPr/>
          <a:lstStyle/>
          <a:p>
            <a:r>
              <a:rPr lang="en-US" dirty="0"/>
              <a:t>Cleaner energy sources like Solar could help</a:t>
            </a:r>
          </a:p>
        </p:txBody>
      </p:sp>
      <p:sp>
        <p:nvSpPr>
          <p:cNvPr id="5" name="Text Placeholder 4">
            <a:extLst>
              <a:ext uri="{FF2B5EF4-FFF2-40B4-BE49-F238E27FC236}">
                <a16:creationId xmlns:a16="http://schemas.microsoft.com/office/drawing/2014/main" id="{C0C89AF3-51A4-8DB1-49BA-01FF81676D17}"/>
              </a:ext>
            </a:extLst>
          </p:cNvPr>
          <p:cNvSpPr>
            <a:spLocks noGrp="1"/>
          </p:cNvSpPr>
          <p:nvPr>
            <p:ph type="body" sz="quarter" idx="15"/>
          </p:nvPr>
        </p:nvSpPr>
        <p:spPr/>
        <p:txBody>
          <a:bodyPr/>
          <a:lstStyle/>
          <a:p>
            <a:r>
              <a:rPr lang="en-US" sz="2400" dirty="0"/>
              <a:t>Efficient hardware - Reducing wasted energy and having more energy spent on running the IT equipment rather than cooling</a:t>
            </a:r>
          </a:p>
          <a:p>
            <a:endParaRPr lang="en-US" dirty="0"/>
          </a:p>
        </p:txBody>
      </p:sp>
      <p:sp>
        <p:nvSpPr>
          <p:cNvPr id="6" name="Text Placeholder 5">
            <a:extLst>
              <a:ext uri="{FF2B5EF4-FFF2-40B4-BE49-F238E27FC236}">
                <a16:creationId xmlns:a16="http://schemas.microsoft.com/office/drawing/2014/main" id="{94C34E2C-4C52-0025-12D3-0046A2B13602}"/>
              </a:ext>
            </a:extLst>
          </p:cNvPr>
          <p:cNvSpPr>
            <a:spLocks noGrp="1"/>
          </p:cNvSpPr>
          <p:nvPr>
            <p:ph type="body" sz="quarter" idx="16"/>
          </p:nvPr>
        </p:nvSpPr>
        <p:spPr/>
        <p:txBody>
          <a:bodyPr/>
          <a:lstStyle/>
          <a:p>
            <a:r>
              <a:rPr lang="en-US" dirty="0"/>
              <a:t>Delivering IT service wherever needed, by shifting workloads to enable greater use of renewable resources.</a:t>
            </a:r>
          </a:p>
          <a:p>
            <a:r>
              <a:rPr lang="en-US" dirty="0"/>
              <a:t>Again. Another efficiency steps</a:t>
            </a:r>
          </a:p>
        </p:txBody>
      </p:sp>
      <p:pic>
        <p:nvPicPr>
          <p:cNvPr id="10" name="Picture Placeholder 9">
            <a:extLst>
              <a:ext uri="{FF2B5EF4-FFF2-40B4-BE49-F238E27FC236}">
                <a16:creationId xmlns:a16="http://schemas.microsoft.com/office/drawing/2014/main" id="{9BADC472-7039-3F68-8919-3DE617A7A88A}"/>
              </a:ext>
            </a:extLst>
          </p:cNvPr>
          <p:cNvPicPr>
            <a:picLocks noGrp="1" noChangeAspect="1"/>
          </p:cNvPicPr>
          <p:nvPr>
            <p:ph type="pic" sz="quarter" idx="11"/>
          </p:nvPr>
        </p:nvPicPr>
        <p:blipFill>
          <a:blip r:embed="rId2"/>
          <a:srcRect t="6171" b="6171"/>
          <a:stretch>
            <a:fillRect/>
          </a:stretch>
        </p:blipFill>
        <p:spPr>
          <a:prstGeom prst="rect">
            <a:avLst/>
          </a:prstGeom>
        </p:spPr>
      </p:pic>
      <p:pic>
        <p:nvPicPr>
          <p:cNvPr id="11" name="Picture Placeholder 10">
            <a:extLst>
              <a:ext uri="{FF2B5EF4-FFF2-40B4-BE49-F238E27FC236}">
                <a16:creationId xmlns:a16="http://schemas.microsoft.com/office/drawing/2014/main" id="{082B8836-CB3C-EF87-7ED9-6BCDE5A75128}"/>
              </a:ext>
            </a:extLst>
          </p:cNvPr>
          <p:cNvPicPr>
            <a:picLocks noGrp="1" noChangeAspect="1"/>
          </p:cNvPicPr>
          <p:nvPr>
            <p:ph type="pic" sz="quarter" idx="12"/>
          </p:nvPr>
        </p:nvPicPr>
        <p:blipFill>
          <a:blip r:embed="rId3"/>
          <a:srcRect t="6171" b="6171"/>
          <a:stretch>
            <a:fillRect/>
          </a:stretch>
        </p:blipFill>
        <p:spPr>
          <a:prstGeom prst="rect">
            <a:avLst/>
          </a:prstGeom>
        </p:spPr>
      </p:pic>
      <p:pic>
        <p:nvPicPr>
          <p:cNvPr id="12" name="Picture Placeholder 11">
            <a:extLst>
              <a:ext uri="{FF2B5EF4-FFF2-40B4-BE49-F238E27FC236}">
                <a16:creationId xmlns:a16="http://schemas.microsoft.com/office/drawing/2014/main" id="{AA1B4202-1A07-6528-CF74-617E631BA9BA}"/>
              </a:ext>
            </a:extLst>
          </p:cNvPr>
          <p:cNvPicPr>
            <a:picLocks noGrp="1" noChangeAspect="1"/>
          </p:cNvPicPr>
          <p:nvPr>
            <p:ph type="pic" sz="quarter" idx="13"/>
          </p:nvPr>
        </p:nvPicPr>
        <p:blipFill>
          <a:blip r:embed="rId4"/>
          <a:srcRect t="6171" b="6171"/>
          <a:stretch>
            <a:fillRect/>
          </a:stretch>
        </p:blipFill>
        <p:spPr>
          <a:prstGeom prst="rect">
            <a:avLst/>
          </a:prstGeom>
        </p:spPr>
      </p:pic>
    </p:spTree>
    <p:extLst>
      <p:ext uri="{BB962C8B-B14F-4D97-AF65-F5344CB8AC3E}">
        <p14:creationId xmlns:p14="http://schemas.microsoft.com/office/powerpoint/2010/main" val="348738327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Ethical Issues in Cloud Computing</a:t>
            </a:r>
          </a:p>
        </p:txBody>
      </p:sp>
    </p:spTree>
    <p:extLst>
      <p:ext uri="{BB962C8B-B14F-4D97-AF65-F5344CB8AC3E}">
        <p14:creationId xmlns:p14="http://schemas.microsoft.com/office/powerpoint/2010/main" val="48882962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3D9427-5319-E6F1-EDD3-D106B4669737}"/>
              </a:ext>
            </a:extLst>
          </p:cNvPr>
          <p:cNvSpPr>
            <a:spLocks noGrp="1"/>
          </p:cNvSpPr>
          <p:nvPr>
            <p:ph type="body" sz="quarter" idx="15"/>
          </p:nvPr>
        </p:nvSpPr>
        <p:spPr/>
        <p:txBody>
          <a:bodyPr/>
          <a:lstStyle/>
          <a:p>
            <a:r>
              <a:rPr lang="en-US" sz="3600" dirty="0"/>
              <a:t>Control is relinquished to third party services</a:t>
            </a:r>
          </a:p>
        </p:txBody>
      </p:sp>
      <p:sp>
        <p:nvSpPr>
          <p:cNvPr id="3" name="Text Placeholder 2">
            <a:extLst>
              <a:ext uri="{FF2B5EF4-FFF2-40B4-BE49-F238E27FC236}">
                <a16:creationId xmlns:a16="http://schemas.microsoft.com/office/drawing/2014/main" id="{AC135870-3707-263D-B0A4-0730E6000A2B}"/>
              </a:ext>
            </a:extLst>
          </p:cNvPr>
          <p:cNvSpPr>
            <a:spLocks noGrp="1"/>
          </p:cNvSpPr>
          <p:nvPr>
            <p:ph type="body" sz="quarter" idx="18"/>
          </p:nvPr>
        </p:nvSpPr>
        <p:spPr/>
        <p:txBody>
          <a:bodyPr/>
          <a:lstStyle/>
          <a:p>
            <a:pPr algn="ctr"/>
            <a:r>
              <a:rPr lang="en-US" dirty="0"/>
              <a:t>Control</a:t>
            </a:r>
          </a:p>
        </p:txBody>
      </p:sp>
      <p:sp>
        <p:nvSpPr>
          <p:cNvPr id="4" name="Text Placeholder 3">
            <a:extLst>
              <a:ext uri="{FF2B5EF4-FFF2-40B4-BE49-F238E27FC236}">
                <a16:creationId xmlns:a16="http://schemas.microsoft.com/office/drawing/2014/main" id="{E14DFE57-D7FD-A3A8-8FB0-D6243DF83818}"/>
              </a:ext>
            </a:extLst>
          </p:cNvPr>
          <p:cNvSpPr>
            <a:spLocks noGrp="1"/>
          </p:cNvSpPr>
          <p:nvPr>
            <p:ph type="body" sz="quarter" idx="19"/>
          </p:nvPr>
        </p:nvSpPr>
        <p:spPr/>
        <p:txBody>
          <a:bodyPr/>
          <a:lstStyle/>
          <a:p>
            <a:r>
              <a:rPr lang="en-US" sz="3600" dirty="0"/>
              <a:t>Data is stored on multiple site administered by several organizations</a:t>
            </a:r>
          </a:p>
        </p:txBody>
      </p:sp>
      <p:sp>
        <p:nvSpPr>
          <p:cNvPr id="5" name="Text Placeholder 4">
            <a:extLst>
              <a:ext uri="{FF2B5EF4-FFF2-40B4-BE49-F238E27FC236}">
                <a16:creationId xmlns:a16="http://schemas.microsoft.com/office/drawing/2014/main" id="{C637D5BB-4173-DC94-E90F-964EC4FE18DC}"/>
              </a:ext>
            </a:extLst>
          </p:cNvPr>
          <p:cNvSpPr>
            <a:spLocks noGrp="1"/>
          </p:cNvSpPr>
          <p:nvPr>
            <p:ph type="body" sz="quarter" idx="20"/>
          </p:nvPr>
        </p:nvSpPr>
        <p:spPr/>
        <p:txBody>
          <a:bodyPr/>
          <a:lstStyle/>
          <a:p>
            <a:r>
              <a:rPr lang="en-US" dirty="0"/>
              <a:t>Data sovereignty</a:t>
            </a:r>
          </a:p>
        </p:txBody>
      </p:sp>
      <p:sp>
        <p:nvSpPr>
          <p:cNvPr id="6" name="Text Placeholder 5">
            <a:extLst>
              <a:ext uri="{FF2B5EF4-FFF2-40B4-BE49-F238E27FC236}">
                <a16:creationId xmlns:a16="http://schemas.microsoft.com/office/drawing/2014/main" id="{3BC2DB09-02D7-4900-F254-7E49A0B444E4}"/>
              </a:ext>
            </a:extLst>
          </p:cNvPr>
          <p:cNvSpPr>
            <a:spLocks noGrp="1"/>
          </p:cNvSpPr>
          <p:nvPr>
            <p:ph type="body" sz="quarter" idx="21"/>
          </p:nvPr>
        </p:nvSpPr>
        <p:spPr/>
        <p:txBody>
          <a:bodyPr/>
          <a:lstStyle/>
          <a:p>
            <a:r>
              <a:rPr lang="en-US" sz="3600" dirty="0"/>
              <a:t>Multiple services interoperate across the network</a:t>
            </a:r>
          </a:p>
        </p:txBody>
      </p:sp>
      <p:sp>
        <p:nvSpPr>
          <p:cNvPr id="7" name="Text Placeholder 6">
            <a:extLst>
              <a:ext uri="{FF2B5EF4-FFF2-40B4-BE49-F238E27FC236}">
                <a16:creationId xmlns:a16="http://schemas.microsoft.com/office/drawing/2014/main" id="{27CF1C47-D039-AF72-01EB-3F1F701F3031}"/>
              </a:ext>
            </a:extLst>
          </p:cNvPr>
          <p:cNvSpPr>
            <a:spLocks noGrp="1"/>
          </p:cNvSpPr>
          <p:nvPr>
            <p:ph type="body" sz="quarter" idx="22"/>
          </p:nvPr>
        </p:nvSpPr>
        <p:spPr/>
        <p:txBody>
          <a:bodyPr/>
          <a:lstStyle/>
          <a:p>
            <a:pPr algn="ctr"/>
            <a:r>
              <a:rPr lang="en-US" dirty="0"/>
              <a:t>Network</a:t>
            </a:r>
          </a:p>
        </p:txBody>
      </p:sp>
      <p:sp>
        <p:nvSpPr>
          <p:cNvPr id="8" name="Title 7">
            <a:extLst>
              <a:ext uri="{FF2B5EF4-FFF2-40B4-BE49-F238E27FC236}">
                <a16:creationId xmlns:a16="http://schemas.microsoft.com/office/drawing/2014/main" id="{3C4E7CA6-0233-BB88-B315-56E2CC9CD38A}"/>
              </a:ext>
            </a:extLst>
          </p:cNvPr>
          <p:cNvSpPr>
            <a:spLocks noGrp="1"/>
          </p:cNvSpPr>
          <p:nvPr>
            <p:ph type="title"/>
          </p:nvPr>
        </p:nvSpPr>
        <p:spPr/>
        <p:txBody>
          <a:bodyPr>
            <a:normAutofit fontScale="90000"/>
          </a:bodyPr>
          <a:lstStyle/>
          <a:p>
            <a:r>
              <a:rPr lang="en-US" dirty="0"/>
              <a:t>Paradigm Shift Elements of Cloud Computing</a:t>
            </a:r>
          </a:p>
        </p:txBody>
      </p:sp>
      <p:sp>
        <p:nvSpPr>
          <p:cNvPr id="9" name="Text Placeholder 8">
            <a:extLst>
              <a:ext uri="{FF2B5EF4-FFF2-40B4-BE49-F238E27FC236}">
                <a16:creationId xmlns:a16="http://schemas.microsoft.com/office/drawing/2014/main" id="{F31291EE-1A99-D82D-D091-2200619F9B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5957497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Cloud Service Availability</a:t>
            </a:r>
          </a:p>
        </p:txBody>
      </p:sp>
    </p:spTree>
    <p:extLst>
      <p:ext uri="{BB962C8B-B14F-4D97-AF65-F5344CB8AC3E}">
        <p14:creationId xmlns:p14="http://schemas.microsoft.com/office/powerpoint/2010/main" val="121144216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6636-B3ED-A8F5-8CCD-92A7CD86DF91}"/>
              </a:ext>
            </a:extLst>
          </p:cNvPr>
          <p:cNvSpPr>
            <a:spLocks noGrp="1"/>
          </p:cNvSpPr>
          <p:nvPr>
            <p:ph type="title"/>
          </p:nvPr>
        </p:nvSpPr>
        <p:spPr>
          <a:xfrm>
            <a:off x="2167377" y="1871164"/>
            <a:ext cx="14715569" cy="511175"/>
          </a:xfrm>
        </p:spPr>
        <p:txBody>
          <a:bodyPr>
            <a:normAutofit/>
          </a:bodyPr>
          <a:lstStyle/>
          <a:p>
            <a:r>
              <a:rPr lang="en-US" sz="3200"/>
              <a:t>Cloud availability</a:t>
            </a:r>
          </a:p>
        </p:txBody>
      </p:sp>
      <p:sp>
        <p:nvSpPr>
          <p:cNvPr id="21" name="Text Placeholder 2">
            <a:extLst>
              <a:ext uri="{FF2B5EF4-FFF2-40B4-BE49-F238E27FC236}">
                <a16:creationId xmlns:a16="http://schemas.microsoft.com/office/drawing/2014/main" id="{3EF66953-F2D1-FBD1-0F34-B4B7B0897882}"/>
              </a:ext>
            </a:extLst>
          </p:cNvPr>
          <p:cNvSpPr>
            <a:spLocks noGrp="1"/>
          </p:cNvSpPr>
          <p:nvPr>
            <p:ph type="body" sz="quarter" idx="10"/>
          </p:nvPr>
        </p:nvSpPr>
        <p:spPr>
          <a:xfrm>
            <a:off x="2167377" y="2419728"/>
            <a:ext cx="9768875" cy="803546"/>
          </a:xfrm>
        </p:spPr>
        <p:txBody>
          <a:bodyPr/>
          <a:lstStyle/>
          <a:p>
            <a:endParaRPr lang="en-US"/>
          </a:p>
        </p:txBody>
      </p:sp>
      <p:sp>
        <p:nvSpPr>
          <p:cNvPr id="12" name="Text Placeholder 11">
            <a:extLst>
              <a:ext uri="{FF2B5EF4-FFF2-40B4-BE49-F238E27FC236}">
                <a16:creationId xmlns:a16="http://schemas.microsoft.com/office/drawing/2014/main" id="{21E24542-8940-3717-4CB7-29C332A9F69C}"/>
              </a:ext>
            </a:extLst>
          </p:cNvPr>
          <p:cNvSpPr>
            <a:spLocks noGrp="1"/>
          </p:cNvSpPr>
          <p:nvPr>
            <p:ph type="body" sz="quarter" idx="16"/>
          </p:nvPr>
        </p:nvSpPr>
        <p:spPr>
          <a:xfrm>
            <a:off x="2167377" y="6556917"/>
            <a:ext cx="9768906" cy="5575610"/>
          </a:xfrm>
        </p:spPr>
        <p:txBody>
          <a:bodyPr>
            <a:normAutofit/>
          </a:bodyPr>
          <a:lstStyle/>
          <a:p>
            <a:r>
              <a:rPr lang="en-US" dirty="0"/>
              <a:t>Remember when AWS and/or Cloudflare went down in Q4 2025?</a:t>
            </a:r>
          </a:p>
          <a:p>
            <a:r>
              <a:rPr lang="en-US" dirty="0"/>
              <a:t>Or when a shark bite Google’s underwater fiber optic cable?</a:t>
            </a:r>
          </a:p>
          <a:p>
            <a:endParaRPr lang="en-US" dirty="0"/>
          </a:p>
          <a:p>
            <a:r>
              <a:rPr lang="en-US" dirty="0"/>
              <a:t>Some smart toilets remembers that outage</a:t>
            </a:r>
          </a:p>
          <a:p>
            <a:endParaRPr lang="en-US" dirty="0"/>
          </a:p>
        </p:txBody>
      </p:sp>
      <p:pic>
        <p:nvPicPr>
          <p:cNvPr id="14" name="Picture Placeholder 13">
            <a:extLst>
              <a:ext uri="{FF2B5EF4-FFF2-40B4-BE49-F238E27FC236}">
                <a16:creationId xmlns:a16="http://schemas.microsoft.com/office/drawing/2014/main" id="{037400A5-507B-A670-733A-D0D9663EF072}"/>
              </a:ext>
            </a:extLst>
          </p:cNvPr>
          <p:cNvPicPr>
            <a:picLocks noGrp="1" noChangeAspect="1"/>
          </p:cNvPicPr>
          <p:nvPr>
            <p:ph type="pic" sz="quarter" idx="13"/>
          </p:nvPr>
        </p:nvPicPr>
        <p:blipFill>
          <a:blip r:embed="rId2"/>
          <a:srcRect l="1" t="1990" r="1" b="768"/>
          <a:stretch>
            <a:fillRect/>
          </a:stretch>
        </p:blipFill>
        <p:spPr>
          <a:xfrm>
            <a:off x="13981162" y="3094320"/>
            <a:ext cx="7698598" cy="9446480"/>
          </a:xfrm>
          <a:prstGeom prst="rect">
            <a:avLst/>
          </a:prstGeom>
          <a:noFill/>
        </p:spPr>
      </p:pic>
      <p:sp>
        <p:nvSpPr>
          <p:cNvPr id="13" name="Text Placeholder 12">
            <a:extLst>
              <a:ext uri="{FF2B5EF4-FFF2-40B4-BE49-F238E27FC236}">
                <a16:creationId xmlns:a16="http://schemas.microsoft.com/office/drawing/2014/main" id="{FFB73AA5-EFC8-51CB-7551-A6A8A0417CAA}"/>
              </a:ext>
            </a:extLst>
          </p:cNvPr>
          <p:cNvSpPr>
            <a:spLocks noGrp="1"/>
          </p:cNvSpPr>
          <p:nvPr>
            <p:ph type="body" sz="quarter" idx="17"/>
          </p:nvPr>
        </p:nvSpPr>
        <p:spPr>
          <a:xfrm>
            <a:off x="2166938" y="4210049"/>
            <a:ext cx="9768874" cy="2039112"/>
          </a:xfrm>
        </p:spPr>
        <p:txBody>
          <a:bodyPr>
            <a:normAutofit/>
          </a:bodyPr>
          <a:lstStyle/>
          <a:p>
            <a:r>
              <a:rPr lang="en-US" dirty="0"/>
              <a:t>There are factors that affects cloud availability, small mistakes could halt the entire operation.</a:t>
            </a:r>
          </a:p>
        </p:txBody>
      </p:sp>
      <p:pic>
        <p:nvPicPr>
          <p:cNvPr id="1028" name="Picture 4" descr="nowhereIsSafe : r/ProgrammerHumor">
            <a:extLst>
              <a:ext uri="{FF2B5EF4-FFF2-40B4-BE49-F238E27FC236}">
                <a16:creationId xmlns:a16="http://schemas.microsoft.com/office/drawing/2014/main" id="{70B0D8E0-2DBC-31DE-E7E9-E9474A9782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66938" y="10293568"/>
            <a:ext cx="4103914" cy="3077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75929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6D1E6-923A-F488-F98A-C8C28BB0C9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133F4C-8DD1-B130-AAFC-CC674B390B3D}"/>
              </a:ext>
            </a:extLst>
          </p:cNvPr>
          <p:cNvSpPr>
            <a:spLocks noGrp="1"/>
          </p:cNvSpPr>
          <p:nvPr>
            <p:ph type="title"/>
          </p:nvPr>
        </p:nvSpPr>
        <p:spPr>
          <a:xfrm>
            <a:off x="2167377" y="1871164"/>
            <a:ext cx="14715569" cy="511175"/>
          </a:xfrm>
        </p:spPr>
        <p:txBody>
          <a:bodyPr>
            <a:normAutofit/>
          </a:bodyPr>
          <a:lstStyle/>
          <a:p>
            <a:r>
              <a:rPr lang="en-US" sz="3200" dirty="0"/>
              <a:t>Cloud availability</a:t>
            </a:r>
          </a:p>
        </p:txBody>
      </p:sp>
      <p:sp>
        <p:nvSpPr>
          <p:cNvPr id="21" name="Text Placeholder 2">
            <a:extLst>
              <a:ext uri="{FF2B5EF4-FFF2-40B4-BE49-F238E27FC236}">
                <a16:creationId xmlns:a16="http://schemas.microsoft.com/office/drawing/2014/main" id="{34DEA982-DD80-81EC-006F-33A85704CA6E}"/>
              </a:ext>
            </a:extLst>
          </p:cNvPr>
          <p:cNvSpPr>
            <a:spLocks noGrp="1"/>
          </p:cNvSpPr>
          <p:nvPr>
            <p:ph type="body" sz="quarter" idx="10"/>
          </p:nvPr>
        </p:nvSpPr>
        <p:spPr>
          <a:xfrm>
            <a:off x="2167377" y="2419728"/>
            <a:ext cx="9768875" cy="803546"/>
          </a:xfrm>
        </p:spPr>
        <p:txBody>
          <a:bodyPr/>
          <a:lstStyle/>
          <a:p>
            <a:r>
              <a:rPr lang="en-US" dirty="0" err="1"/>
              <a:t>sada</a:t>
            </a:r>
            <a:endParaRPr lang="en-US" dirty="0"/>
          </a:p>
        </p:txBody>
      </p:sp>
      <p:sp>
        <p:nvSpPr>
          <p:cNvPr id="12" name="Text Placeholder 11">
            <a:extLst>
              <a:ext uri="{FF2B5EF4-FFF2-40B4-BE49-F238E27FC236}">
                <a16:creationId xmlns:a16="http://schemas.microsoft.com/office/drawing/2014/main" id="{19FE3CE3-069E-FBAF-3C9F-879F723ED241}"/>
              </a:ext>
            </a:extLst>
          </p:cNvPr>
          <p:cNvSpPr>
            <a:spLocks noGrp="1"/>
          </p:cNvSpPr>
          <p:nvPr>
            <p:ph type="body" sz="quarter" idx="16"/>
          </p:nvPr>
        </p:nvSpPr>
        <p:spPr>
          <a:xfrm>
            <a:off x="2167377" y="6556917"/>
            <a:ext cx="9768906" cy="5575610"/>
          </a:xfrm>
        </p:spPr>
        <p:txBody>
          <a:bodyPr>
            <a:normAutofit/>
          </a:bodyPr>
          <a:lstStyle/>
          <a:p>
            <a:r>
              <a:rPr lang="en-US" dirty="0"/>
              <a:t>March 2, 2018: Equinix Power Outage Behind AWS Cloud Disruption</a:t>
            </a:r>
          </a:p>
          <a:p>
            <a:r>
              <a:rPr lang="en-US" dirty="0"/>
              <a:t>power outage at the Equinix data center was blamed for connectivity problems that temporarily silenced Amazon’s smart assistant Alexa and disrupted operations for some AWS customers, including Atlassian, Twilio, and Capital One.</a:t>
            </a:r>
          </a:p>
        </p:txBody>
      </p:sp>
      <p:sp>
        <p:nvSpPr>
          <p:cNvPr id="13" name="Text Placeholder 12">
            <a:extLst>
              <a:ext uri="{FF2B5EF4-FFF2-40B4-BE49-F238E27FC236}">
                <a16:creationId xmlns:a16="http://schemas.microsoft.com/office/drawing/2014/main" id="{5D28408D-3750-CF8F-2F54-93627EE98CCF}"/>
              </a:ext>
            </a:extLst>
          </p:cNvPr>
          <p:cNvSpPr>
            <a:spLocks noGrp="1"/>
          </p:cNvSpPr>
          <p:nvPr>
            <p:ph type="body" sz="quarter" idx="17"/>
          </p:nvPr>
        </p:nvSpPr>
        <p:spPr>
          <a:xfrm>
            <a:off x="2166938" y="4210049"/>
            <a:ext cx="9768874" cy="2039112"/>
          </a:xfrm>
        </p:spPr>
        <p:txBody>
          <a:bodyPr>
            <a:normAutofit/>
          </a:bodyPr>
          <a:lstStyle/>
          <a:p>
            <a:r>
              <a:rPr lang="en-US" dirty="0"/>
              <a:t>On a more serious case,…</a:t>
            </a:r>
          </a:p>
        </p:txBody>
      </p:sp>
      <p:pic>
        <p:nvPicPr>
          <p:cNvPr id="6" name="Picture Placeholder 5">
            <a:extLst>
              <a:ext uri="{FF2B5EF4-FFF2-40B4-BE49-F238E27FC236}">
                <a16:creationId xmlns:a16="http://schemas.microsoft.com/office/drawing/2014/main" id="{37483371-FEBB-CC8B-A7CA-B45FB7D19EA7}"/>
              </a:ext>
            </a:extLst>
          </p:cNvPr>
          <p:cNvPicPr>
            <a:picLocks noGrp="1" noChangeAspect="1"/>
          </p:cNvPicPr>
          <p:nvPr>
            <p:ph type="pic" sz="quarter" idx="13"/>
          </p:nvPr>
        </p:nvPicPr>
        <p:blipFill>
          <a:blip r:embed="rId2"/>
          <a:srcRect l="2389" t="4164" r="1777" b="10323"/>
          <a:stretch>
            <a:fillRect/>
          </a:stretch>
        </p:blipFill>
        <p:spPr>
          <a:xfrm>
            <a:off x="13674157" y="3223274"/>
            <a:ext cx="7025956" cy="4787665"/>
          </a:xfrm>
          <a:prstGeom prst="rect">
            <a:avLst/>
          </a:prstGeom>
        </p:spPr>
      </p:pic>
      <p:sp>
        <p:nvSpPr>
          <p:cNvPr id="4" name="AutoShape 2" descr="Internet reacts with memes after global AWS outage disrupts major apps and  services worldwide">
            <a:extLst>
              <a:ext uri="{FF2B5EF4-FFF2-40B4-BE49-F238E27FC236}">
                <a16:creationId xmlns:a16="http://schemas.microsoft.com/office/drawing/2014/main" id="{7A5480F3-8D7A-6DB1-4E4F-9E76DEA2E3C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6F2C86A8-F4D2-EDED-3DFF-38937DBF3DF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descr="Equinix - Wikipedia bahasa Indonesia, ensiklopedia bebas">
            <a:extLst>
              <a:ext uri="{FF2B5EF4-FFF2-40B4-BE49-F238E27FC236}">
                <a16:creationId xmlns:a16="http://schemas.microsoft.com/office/drawing/2014/main" id="{77AA5DEF-6405-384A-5E53-E6BFF69FB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6750" y="9215272"/>
            <a:ext cx="6025311" cy="2917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24839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16748-C779-8338-C656-DA34A50C48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68F5ED-4677-13A0-C239-1D68A079F35D}"/>
              </a:ext>
            </a:extLst>
          </p:cNvPr>
          <p:cNvSpPr>
            <a:spLocks noGrp="1"/>
          </p:cNvSpPr>
          <p:nvPr>
            <p:ph type="title"/>
          </p:nvPr>
        </p:nvSpPr>
        <p:spPr/>
        <p:txBody>
          <a:bodyPr/>
          <a:lstStyle/>
          <a:p>
            <a:r>
              <a:rPr lang="en-US" dirty="0"/>
              <a:t>Network-centric Computing and Network-centric Content</a:t>
            </a:r>
          </a:p>
        </p:txBody>
      </p:sp>
    </p:spTree>
    <p:extLst>
      <p:ext uri="{BB962C8B-B14F-4D97-AF65-F5344CB8AC3E}">
        <p14:creationId xmlns:p14="http://schemas.microsoft.com/office/powerpoint/2010/main" val="5555698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4BC8-5A1D-B6D6-5CE8-EE86E18CBCA1}"/>
              </a:ext>
            </a:extLst>
          </p:cNvPr>
          <p:cNvSpPr>
            <a:spLocks noGrp="1"/>
          </p:cNvSpPr>
          <p:nvPr>
            <p:ph type="title"/>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r>
              <a:rPr kumimoji="0" lang="en-US" sz="3200" b="1" i="0" u="none" strike="noStrike" kern="0" cap="all" spc="0" normalizeH="0" baseline="0" noProof="0" dirty="0">
                <a:ln>
                  <a:noFill/>
                </a:ln>
                <a:solidFill>
                  <a:srgbClr val="128CCD"/>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Characteristics</a:t>
            </a:r>
            <a:endParaRPr lang="en-US" dirty="0"/>
          </a:p>
        </p:txBody>
      </p:sp>
      <p:sp>
        <p:nvSpPr>
          <p:cNvPr id="5" name="Content Placeholder 4">
            <a:extLst>
              <a:ext uri="{FF2B5EF4-FFF2-40B4-BE49-F238E27FC236}">
                <a16:creationId xmlns:a16="http://schemas.microsoft.com/office/drawing/2014/main" id="{5AB8E8FD-EB30-A621-B2C3-E9587004E175}"/>
              </a:ext>
            </a:extLst>
          </p:cNvPr>
          <p:cNvSpPr>
            <a:spLocks noGrp="1"/>
          </p:cNvSpPr>
          <p:nvPr>
            <p:ph type="body" sz="quarter" idx="10"/>
          </p:nvPr>
        </p:nvSpPr>
        <p:spPr/>
        <p:txBody>
          <a:bodyPr>
            <a:normAutofit/>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endParaRPr lang="en-US" dirty="0"/>
          </a:p>
        </p:txBody>
      </p:sp>
      <p:sp>
        <p:nvSpPr>
          <p:cNvPr id="11" name="Text Placeholder 10">
            <a:extLst>
              <a:ext uri="{FF2B5EF4-FFF2-40B4-BE49-F238E27FC236}">
                <a16:creationId xmlns:a16="http://schemas.microsoft.com/office/drawing/2014/main" id="{238E68CA-DF94-9DC8-9A19-692DE47785D1}"/>
              </a:ext>
            </a:extLst>
          </p:cNvPr>
          <p:cNvSpPr>
            <a:spLocks noGrp="1"/>
          </p:cNvSpPr>
          <p:nvPr>
            <p:ph type="body" sz="quarter" idx="16"/>
          </p:nvPr>
        </p:nvSpPr>
        <p:spPr/>
        <p:txBody>
          <a:bodyPr/>
          <a:lstStyle/>
          <a:p>
            <a:r>
              <a:rPr lang="en-US" dirty="0"/>
              <a:t>Computing and communication resources (CPU cycles, storage, network bandwidth) are shared , and resources can be aggregated to support data-intensive applications</a:t>
            </a:r>
          </a:p>
          <a:p>
            <a:r>
              <a:rPr lang="en-US" dirty="0"/>
              <a:t>Data sharing facilities collaborative activities</a:t>
            </a:r>
          </a:p>
          <a:p>
            <a:r>
              <a:rPr lang="en-US" dirty="0"/>
              <a:t>Virtually all application are networks intensive</a:t>
            </a:r>
          </a:p>
          <a:p>
            <a:r>
              <a:rPr lang="en-US" dirty="0"/>
              <a:t>The systems are accessed using thin clients running on systems with limited sources</a:t>
            </a:r>
          </a:p>
          <a:p>
            <a:endParaRPr lang="en-US" dirty="0"/>
          </a:p>
          <a:p>
            <a:endParaRPr lang="en-US" dirty="0"/>
          </a:p>
        </p:txBody>
      </p:sp>
      <p:sp>
        <p:nvSpPr>
          <p:cNvPr id="10" name="Picture Placeholder 9">
            <a:extLst>
              <a:ext uri="{FF2B5EF4-FFF2-40B4-BE49-F238E27FC236}">
                <a16:creationId xmlns:a16="http://schemas.microsoft.com/office/drawing/2014/main" id="{5DA32934-4F56-C925-700F-A60DBC51D2C7}"/>
              </a:ext>
            </a:extLst>
          </p:cNvPr>
          <p:cNvSpPr>
            <a:spLocks noGrp="1"/>
          </p:cNvSpPr>
          <p:nvPr>
            <p:ph type="pic" sz="quarter" idx="13"/>
          </p:nvPr>
        </p:nvSpPr>
        <p:spPr/>
        <p:txBody>
          <a:bodyPr/>
          <a:lstStyle/>
          <a:p>
            <a:endParaRPr lang="en-US"/>
          </a:p>
        </p:txBody>
      </p:sp>
      <p:sp>
        <p:nvSpPr>
          <p:cNvPr id="12" name="Text Placeholder 11">
            <a:extLst>
              <a:ext uri="{FF2B5EF4-FFF2-40B4-BE49-F238E27FC236}">
                <a16:creationId xmlns:a16="http://schemas.microsoft.com/office/drawing/2014/main" id="{99F50CA2-024D-C4CC-0034-3918D7288028}"/>
              </a:ext>
            </a:extLst>
          </p:cNvPr>
          <p:cNvSpPr>
            <a:spLocks noGrp="1"/>
          </p:cNvSpPr>
          <p:nvPr>
            <p:ph type="body" sz="quarter" idx="17"/>
          </p:nvPr>
        </p:nvSpPr>
        <p:spPr/>
        <p:txBody>
          <a:bodyPr/>
          <a:lstStyle/>
          <a:p>
            <a:r>
              <a:rPr lang="en-US" dirty="0"/>
              <a:t>Most applications are data intensive</a:t>
            </a:r>
          </a:p>
          <a:p>
            <a:endParaRPr lang="en-US" dirty="0"/>
          </a:p>
        </p:txBody>
      </p:sp>
      <p:sp>
        <p:nvSpPr>
          <p:cNvPr id="4" name="Slide Number Placeholder 3">
            <a:extLst>
              <a:ext uri="{FF2B5EF4-FFF2-40B4-BE49-F238E27FC236}">
                <a16:creationId xmlns:a16="http://schemas.microsoft.com/office/drawing/2014/main" id="{909D443F-BC1E-137A-AA40-579503284020}"/>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fld id="{F173735F-2667-4028-B606-D96AABD86FDB}" type="slidenum">
              <a:rPr lang="id-ID" smtClean="0"/>
              <a:pPr/>
              <a:t>18</a:t>
            </a:fld>
            <a:endParaRPr lang="id-ID"/>
          </a:p>
        </p:txBody>
      </p:sp>
    </p:spTree>
    <p:extLst>
      <p:ext uri="{BB962C8B-B14F-4D97-AF65-F5344CB8AC3E}">
        <p14:creationId xmlns:p14="http://schemas.microsoft.com/office/powerpoint/2010/main" val="6320296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56C4-D97F-C159-CD1B-02E0F3C0D65A}"/>
              </a:ext>
            </a:extLst>
          </p:cNvPr>
          <p:cNvSpPr>
            <a:spLocks noGrp="1"/>
          </p:cNvSpPr>
          <p:nvPr>
            <p:ph type="title"/>
          </p:nvPr>
        </p:nvSpPr>
        <p:spPr/>
        <p:txBody>
          <a:bodyPr>
            <a:normAutofit fontScale="90000"/>
          </a:bodyPr>
          <a:lstStyle/>
          <a:p>
            <a:r>
              <a:rPr lang="en-US" dirty="0"/>
              <a:t>Characteristics</a:t>
            </a:r>
          </a:p>
        </p:txBody>
      </p:sp>
      <p:sp>
        <p:nvSpPr>
          <p:cNvPr id="5" name="Content Placeholder 4">
            <a:extLst>
              <a:ext uri="{FF2B5EF4-FFF2-40B4-BE49-F238E27FC236}">
                <a16:creationId xmlns:a16="http://schemas.microsoft.com/office/drawing/2014/main" id="{B12551AD-64D8-4F38-6EB8-60BF29F5DA9E}"/>
              </a:ext>
            </a:extLst>
          </p:cNvPr>
          <p:cNvSpPr>
            <a:spLocks noGrp="1"/>
          </p:cNvSpPr>
          <p:nvPr>
            <p:ph type="body" sz="quarter" idx="10"/>
          </p:nvPr>
        </p:nvSpPr>
        <p:spPr/>
        <p:txBody>
          <a:bodyPr>
            <a:normAutofit fontScale="92500"/>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marR="0" lvl="0" indent="0" algn="l" defTabSz="2438338" rtl="0" eaLnBrk="1" fontAlgn="auto" latinLnBrk="0" hangingPunct="1">
              <a:lnSpc>
                <a:spcPct val="90000"/>
              </a:lnSpc>
              <a:spcBef>
                <a:spcPts val="4500"/>
              </a:spcBef>
              <a:spcAft>
                <a:spcPts val="0"/>
              </a:spcAft>
              <a:buClrTx/>
              <a:buSzPct val="123000"/>
              <a:buFontTx/>
              <a:buNone/>
              <a:tabLst/>
              <a:defRPr/>
            </a:pPr>
            <a:r>
              <a:rPr kumimoji="0" lang="en-US" sz="3200" b="1" i="0" u="none" strike="noStrike" kern="0" cap="all" spc="0" normalizeH="0" baseline="0" noProof="0" dirty="0">
                <a:ln>
                  <a:noFill/>
                </a:ln>
                <a:solidFill>
                  <a:srgbClr val="FFFFFF"/>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Those paradigm shift causes some concern</a:t>
            </a:r>
          </a:p>
        </p:txBody>
      </p:sp>
      <p:sp>
        <p:nvSpPr>
          <p:cNvPr id="6" name="Text Placeholder 5">
            <a:extLst>
              <a:ext uri="{FF2B5EF4-FFF2-40B4-BE49-F238E27FC236}">
                <a16:creationId xmlns:a16="http://schemas.microsoft.com/office/drawing/2014/main" id="{0298FE01-1853-E913-939C-585F82A5C4AA}"/>
              </a:ext>
            </a:extLst>
          </p:cNvPr>
          <p:cNvSpPr>
            <a:spLocks noGrp="1"/>
          </p:cNvSpPr>
          <p:nvPr>
            <p:ph type="body" sz="quarter" idx="11"/>
          </p:nvPr>
        </p:nvSpPr>
        <p:spPr/>
        <p:txBody>
          <a:bodyPr>
            <a:noAutofit/>
          </a:bodyPr>
          <a:lstStyle/>
          <a:p>
            <a:endParaRPr lang="en-US" dirty="0"/>
          </a:p>
          <a:p>
            <a:r>
              <a:rPr lang="en-US" dirty="0"/>
              <a:t>The management of large pools of resources poses new challenges because such systems are vulnerable to malicious attacks that can affect a large population of users</a:t>
            </a:r>
          </a:p>
          <a:p>
            <a:endParaRPr lang="en-US" dirty="0"/>
          </a:p>
        </p:txBody>
      </p:sp>
      <p:sp>
        <p:nvSpPr>
          <p:cNvPr id="7" name="Text Placeholder 6">
            <a:extLst>
              <a:ext uri="{FF2B5EF4-FFF2-40B4-BE49-F238E27FC236}">
                <a16:creationId xmlns:a16="http://schemas.microsoft.com/office/drawing/2014/main" id="{0762B56B-5F28-0869-94FB-06C4B0C4BC1C}"/>
              </a:ext>
            </a:extLst>
          </p:cNvPr>
          <p:cNvSpPr>
            <a:spLocks noGrp="1"/>
          </p:cNvSpPr>
          <p:nvPr>
            <p:ph type="body" sz="quarter" idx="16"/>
          </p:nvPr>
        </p:nvSpPr>
        <p:spPr/>
        <p:txBody>
          <a:bodyPr/>
          <a:lstStyle/>
          <a:p>
            <a:r>
              <a:rPr lang="en-US" dirty="0"/>
              <a:t>Large-scale systems are affected by phenomena characteristic to complex systems such as phase transitions when a relatively small change in the environment can lead to an undesirable system state</a:t>
            </a:r>
          </a:p>
          <a:p>
            <a:endParaRPr lang="en-US" dirty="0"/>
          </a:p>
          <a:p>
            <a:endParaRPr lang="en-US" dirty="0"/>
          </a:p>
        </p:txBody>
      </p:sp>
      <p:sp>
        <p:nvSpPr>
          <p:cNvPr id="4" name="Slide Number Placeholder 3">
            <a:extLst>
              <a:ext uri="{FF2B5EF4-FFF2-40B4-BE49-F238E27FC236}">
                <a16:creationId xmlns:a16="http://schemas.microsoft.com/office/drawing/2014/main" id="{2BD6BA0F-DF5F-45F2-F9FB-CB25A04BB716}"/>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fld id="{F173735F-2667-4028-B606-D96AABD86FDB}" type="slidenum">
              <a:rPr lang="id-ID" smtClean="0"/>
              <a:pPr/>
              <a:t>19</a:t>
            </a:fld>
            <a:endParaRPr lang="id-ID"/>
          </a:p>
        </p:txBody>
      </p:sp>
    </p:spTree>
    <p:extLst>
      <p:ext uri="{BB962C8B-B14F-4D97-AF65-F5344CB8AC3E}">
        <p14:creationId xmlns:p14="http://schemas.microsoft.com/office/powerpoint/2010/main" val="44009931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9AA5D-7FE6-5750-EDA1-9A0F94CE4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9EF6-C38B-CA8A-A762-D909311A57C9}"/>
              </a:ext>
            </a:extLst>
          </p:cNvPr>
          <p:cNvSpPr>
            <a:spLocks noGrp="1"/>
          </p:cNvSpPr>
          <p:nvPr>
            <p:ph type="title"/>
          </p:nvPr>
        </p:nvSpPr>
        <p:spPr/>
        <p:txBody>
          <a:bodyPr>
            <a:normAutofit fontScale="90000"/>
          </a:bodyPr>
          <a:lstStyle/>
          <a:p>
            <a:r>
              <a:rPr lang="en-US" dirty="0"/>
              <a:t>Characteristics</a:t>
            </a:r>
          </a:p>
        </p:txBody>
      </p:sp>
      <p:sp>
        <p:nvSpPr>
          <p:cNvPr id="5" name="Content Placeholder 4">
            <a:extLst>
              <a:ext uri="{FF2B5EF4-FFF2-40B4-BE49-F238E27FC236}">
                <a16:creationId xmlns:a16="http://schemas.microsoft.com/office/drawing/2014/main" id="{F7E776E2-B7CA-1B9C-169B-7F25E25E0D22}"/>
              </a:ext>
            </a:extLst>
          </p:cNvPr>
          <p:cNvSpPr>
            <a:spLocks noGrp="1"/>
          </p:cNvSpPr>
          <p:nvPr>
            <p:ph type="body" sz="quarter" idx="10"/>
          </p:nvPr>
        </p:nvSpPr>
        <p:spPr/>
        <p:txBody>
          <a:bodyPr>
            <a:normAutofit fontScale="92500"/>
          </a:bodyPr>
          <a:lstStyle>
            <a:defPPr>
              <a:defRPr lang="en-US"/>
            </a:defPPr>
            <a:lvl1pPr algn="l" rtl="0" fontAlgn="base">
              <a:spcBef>
                <a:spcPct val="0"/>
              </a:spcBef>
              <a:spcAft>
                <a:spcPct val="0"/>
              </a:spcAft>
              <a:defRPr sz="2857" kern="1200">
                <a:solidFill>
                  <a:schemeClr val="tx1"/>
                </a:solidFill>
                <a:latin typeface="Arial" pitchFamily="34" charset="0"/>
                <a:ea typeface="+mn-ea"/>
                <a:cs typeface="+mn-cs"/>
              </a:defRPr>
            </a:lvl1pPr>
            <a:lvl2pPr marL="1088547" algn="l" rtl="0" fontAlgn="base">
              <a:spcBef>
                <a:spcPct val="0"/>
              </a:spcBef>
              <a:spcAft>
                <a:spcPct val="0"/>
              </a:spcAft>
              <a:defRPr sz="2857" kern="1200">
                <a:solidFill>
                  <a:schemeClr val="tx1"/>
                </a:solidFill>
                <a:latin typeface="Arial" pitchFamily="34" charset="0"/>
                <a:ea typeface="+mn-ea"/>
                <a:cs typeface="+mn-cs"/>
              </a:defRPr>
            </a:lvl2pPr>
            <a:lvl3pPr marL="2177095" algn="l" rtl="0" fontAlgn="base">
              <a:spcBef>
                <a:spcPct val="0"/>
              </a:spcBef>
              <a:spcAft>
                <a:spcPct val="0"/>
              </a:spcAft>
              <a:defRPr sz="2857" kern="1200">
                <a:solidFill>
                  <a:schemeClr val="tx1"/>
                </a:solidFill>
                <a:latin typeface="Arial" pitchFamily="34" charset="0"/>
                <a:ea typeface="+mn-ea"/>
                <a:cs typeface="+mn-cs"/>
              </a:defRPr>
            </a:lvl3pPr>
            <a:lvl4pPr marL="3265642" algn="l" rtl="0" fontAlgn="base">
              <a:spcBef>
                <a:spcPct val="0"/>
              </a:spcBef>
              <a:spcAft>
                <a:spcPct val="0"/>
              </a:spcAft>
              <a:defRPr sz="2857" kern="1200">
                <a:solidFill>
                  <a:schemeClr val="tx1"/>
                </a:solidFill>
                <a:latin typeface="Arial" pitchFamily="34" charset="0"/>
                <a:ea typeface="+mn-ea"/>
                <a:cs typeface="+mn-cs"/>
              </a:defRPr>
            </a:lvl4pPr>
            <a:lvl5pPr marL="4354190" algn="l" rtl="0" fontAlgn="base">
              <a:spcBef>
                <a:spcPct val="0"/>
              </a:spcBef>
              <a:spcAft>
                <a:spcPct val="0"/>
              </a:spcAft>
              <a:defRPr sz="2857" kern="1200">
                <a:solidFill>
                  <a:schemeClr val="tx1"/>
                </a:solidFill>
                <a:latin typeface="Arial" pitchFamily="34" charset="0"/>
                <a:ea typeface="+mn-ea"/>
                <a:cs typeface="+mn-cs"/>
              </a:defRPr>
            </a:lvl5pPr>
            <a:lvl6pPr marL="5442737" algn="l" defTabSz="2177095" rtl="0" eaLnBrk="1" latinLnBrk="0" hangingPunct="1">
              <a:defRPr sz="2857" kern="1200">
                <a:solidFill>
                  <a:schemeClr val="tx1"/>
                </a:solidFill>
                <a:latin typeface="Arial" pitchFamily="34" charset="0"/>
                <a:ea typeface="+mn-ea"/>
                <a:cs typeface="+mn-cs"/>
              </a:defRPr>
            </a:lvl6pPr>
            <a:lvl7pPr marL="6531285" algn="l" defTabSz="2177095" rtl="0" eaLnBrk="1" latinLnBrk="0" hangingPunct="1">
              <a:defRPr sz="2857" kern="1200">
                <a:solidFill>
                  <a:schemeClr val="tx1"/>
                </a:solidFill>
                <a:latin typeface="Arial" pitchFamily="34" charset="0"/>
                <a:ea typeface="+mn-ea"/>
                <a:cs typeface="+mn-cs"/>
              </a:defRPr>
            </a:lvl7pPr>
            <a:lvl8pPr marL="7619832" algn="l" defTabSz="2177095" rtl="0" eaLnBrk="1" latinLnBrk="0" hangingPunct="1">
              <a:defRPr sz="2857" kern="1200">
                <a:solidFill>
                  <a:schemeClr val="tx1"/>
                </a:solidFill>
                <a:latin typeface="Arial" pitchFamily="34" charset="0"/>
                <a:ea typeface="+mn-ea"/>
                <a:cs typeface="+mn-cs"/>
              </a:defRPr>
            </a:lvl8pPr>
            <a:lvl9pPr marL="8708380" algn="l" defTabSz="2177095" rtl="0" eaLnBrk="1" latinLnBrk="0" hangingPunct="1">
              <a:defRPr sz="2857" kern="1200">
                <a:solidFill>
                  <a:schemeClr val="tx1"/>
                </a:solidFill>
                <a:latin typeface="Arial" pitchFamily="34" charset="0"/>
                <a:ea typeface="+mn-ea"/>
                <a:cs typeface="+mn-cs"/>
              </a:defRPr>
            </a:lvl9pPr>
          </a:lstStyle>
          <a:p>
            <a:pPr marL="0" marR="0" lvl="0" indent="0" algn="l" defTabSz="2438338" rtl="0" eaLnBrk="1" fontAlgn="auto" latinLnBrk="0" hangingPunct="1">
              <a:lnSpc>
                <a:spcPct val="90000"/>
              </a:lnSpc>
              <a:spcBef>
                <a:spcPts val="4500"/>
              </a:spcBef>
              <a:spcAft>
                <a:spcPts val="0"/>
              </a:spcAft>
              <a:buClrTx/>
              <a:buSzPct val="123000"/>
              <a:buFontTx/>
              <a:buNone/>
              <a:tabLst/>
              <a:defRPr/>
            </a:pPr>
            <a:r>
              <a:rPr kumimoji="0" lang="en-US" sz="3200" b="1" i="0" u="none" strike="noStrike" kern="0" cap="all" spc="0" normalizeH="0" baseline="0" noProof="0" dirty="0">
                <a:ln>
                  <a:noFill/>
                </a:ln>
                <a:solidFill>
                  <a:srgbClr val="FFFFFF"/>
                </a:solidFill>
                <a:effectLst/>
                <a:uLnTx/>
                <a:uFill>
                  <a:solidFill>
                    <a:srgbClr val="143E56"/>
                  </a:solidFill>
                </a:uFill>
                <a:latin typeface="Open Sans ExtraBold" pitchFamily="2" charset="0"/>
                <a:ea typeface="Open Sans ExtraBold" pitchFamily="2" charset="0"/>
                <a:cs typeface="Open Sans ExtraBold" pitchFamily="2" charset="0"/>
                <a:sym typeface="Helvetica Neue"/>
              </a:rPr>
              <a:t>Those paradigm shift causes some concern</a:t>
            </a:r>
          </a:p>
        </p:txBody>
      </p:sp>
      <p:sp>
        <p:nvSpPr>
          <p:cNvPr id="6" name="Text Placeholder 5">
            <a:extLst>
              <a:ext uri="{FF2B5EF4-FFF2-40B4-BE49-F238E27FC236}">
                <a16:creationId xmlns:a16="http://schemas.microsoft.com/office/drawing/2014/main" id="{7282AC36-B6F2-38A5-1FB0-D37EAB6BC10A}"/>
              </a:ext>
            </a:extLst>
          </p:cNvPr>
          <p:cNvSpPr>
            <a:spLocks noGrp="1"/>
          </p:cNvSpPr>
          <p:nvPr>
            <p:ph type="body" sz="quarter" idx="11"/>
          </p:nvPr>
        </p:nvSpPr>
        <p:spPr/>
        <p:txBody>
          <a:bodyPr>
            <a:noAutofit/>
          </a:bodyPr>
          <a:lstStyle/>
          <a:p>
            <a:r>
              <a:rPr lang="en-US" dirty="0"/>
              <a:t>Ensuring Quality of Service (QoS) guarantees is extremely challenging because perfect performance isolation and the ability to accommodate workloads with very large peak-to-average ratios are elusive</a:t>
            </a:r>
          </a:p>
        </p:txBody>
      </p:sp>
      <p:sp>
        <p:nvSpPr>
          <p:cNvPr id="7" name="Text Placeholder 6">
            <a:extLst>
              <a:ext uri="{FF2B5EF4-FFF2-40B4-BE49-F238E27FC236}">
                <a16:creationId xmlns:a16="http://schemas.microsoft.com/office/drawing/2014/main" id="{D40D1F9F-FF61-CB6E-999D-567F27BC23CF}"/>
              </a:ext>
            </a:extLst>
          </p:cNvPr>
          <p:cNvSpPr>
            <a:spLocks noGrp="1"/>
          </p:cNvSpPr>
          <p:nvPr>
            <p:ph type="body" sz="quarter" idx="16"/>
          </p:nvPr>
        </p:nvSpPr>
        <p:spPr/>
        <p:txBody>
          <a:bodyPr/>
          <a:lstStyle/>
          <a:p>
            <a:r>
              <a:rPr lang="en-US" dirty="0"/>
              <a:t>Data sharing poses not only security and privacy challenges but also requires mechanism for access control for authorized users and for detailed logs of the history of data changes.</a:t>
            </a:r>
          </a:p>
        </p:txBody>
      </p:sp>
      <p:sp>
        <p:nvSpPr>
          <p:cNvPr id="4" name="Slide Number Placeholder 3">
            <a:extLst>
              <a:ext uri="{FF2B5EF4-FFF2-40B4-BE49-F238E27FC236}">
                <a16:creationId xmlns:a16="http://schemas.microsoft.com/office/drawing/2014/main" id="{576A8732-38E3-1E03-E17B-CD94A1989B70}"/>
              </a:ext>
            </a:extLst>
          </p:cNvPr>
          <p:cNvSpPr>
            <a:spLocks noGrp="1"/>
          </p:cNvSpPr>
          <p:nvPr>
            <p:ph type="sldNum" sz="quarter" idx="4294967295"/>
          </p:nvPr>
        </p:nvSpPr>
        <p:spPr>
          <a:xfrm>
            <a:off x="18694400" y="12906375"/>
            <a:ext cx="5689600" cy="730250"/>
          </a:xfrm>
        </p:spPr>
        <p:txBody>
          <a:bodyPr/>
          <a:lstStyle>
            <a:defPPr>
              <a:defRPr lang="en-US"/>
            </a:defPPr>
            <a:lvl1pPr algn="l" rtl="0" fontAlgn="base">
              <a:spcBef>
                <a:spcPct val="0"/>
              </a:spcBef>
              <a:spcAft>
                <a:spcPct val="0"/>
              </a:spcAft>
              <a:defRPr sz="5714" kern="1200">
                <a:solidFill>
                  <a:schemeClr val="tx1"/>
                </a:solidFill>
                <a:latin typeface="Arial" pitchFamily="34" charset="0"/>
                <a:ea typeface="+mn-ea"/>
                <a:cs typeface="+mn-cs"/>
              </a:defRPr>
            </a:lvl1pPr>
            <a:lvl2pPr marL="2177094" algn="l" rtl="0" fontAlgn="base">
              <a:spcBef>
                <a:spcPct val="0"/>
              </a:spcBef>
              <a:spcAft>
                <a:spcPct val="0"/>
              </a:spcAft>
              <a:defRPr sz="5714" kern="1200">
                <a:solidFill>
                  <a:schemeClr val="tx1"/>
                </a:solidFill>
                <a:latin typeface="Arial" pitchFamily="34" charset="0"/>
                <a:ea typeface="+mn-ea"/>
                <a:cs typeface="+mn-cs"/>
              </a:defRPr>
            </a:lvl2pPr>
            <a:lvl3pPr marL="4354190" algn="l" rtl="0" fontAlgn="base">
              <a:spcBef>
                <a:spcPct val="0"/>
              </a:spcBef>
              <a:spcAft>
                <a:spcPct val="0"/>
              </a:spcAft>
              <a:defRPr sz="5714" kern="1200">
                <a:solidFill>
                  <a:schemeClr val="tx1"/>
                </a:solidFill>
                <a:latin typeface="Arial" pitchFamily="34" charset="0"/>
                <a:ea typeface="+mn-ea"/>
                <a:cs typeface="+mn-cs"/>
              </a:defRPr>
            </a:lvl3pPr>
            <a:lvl4pPr marL="6531284" algn="l" rtl="0" fontAlgn="base">
              <a:spcBef>
                <a:spcPct val="0"/>
              </a:spcBef>
              <a:spcAft>
                <a:spcPct val="0"/>
              </a:spcAft>
              <a:defRPr sz="5714" kern="1200">
                <a:solidFill>
                  <a:schemeClr val="tx1"/>
                </a:solidFill>
                <a:latin typeface="Arial" pitchFamily="34" charset="0"/>
                <a:ea typeface="+mn-ea"/>
                <a:cs typeface="+mn-cs"/>
              </a:defRPr>
            </a:lvl4pPr>
            <a:lvl5pPr marL="8708380" algn="l" rtl="0" fontAlgn="base">
              <a:spcBef>
                <a:spcPct val="0"/>
              </a:spcBef>
              <a:spcAft>
                <a:spcPct val="0"/>
              </a:spcAft>
              <a:defRPr sz="5714" kern="1200">
                <a:solidFill>
                  <a:schemeClr val="tx1"/>
                </a:solidFill>
                <a:latin typeface="Arial" pitchFamily="34" charset="0"/>
                <a:ea typeface="+mn-ea"/>
                <a:cs typeface="+mn-cs"/>
              </a:defRPr>
            </a:lvl5pPr>
            <a:lvl6pPr marL="10885474" algn="l" defTabSz="4354190" rtl="0" eaLnBrk="1" latinLnBrk="0" hangingPunct="1">
              <a:defRPr sz="5714" kern="1200">
                <a:solidFill>
                  <a:schemeClr val="tx1"/>
                </a:solidFill>
                <a:latin typeface="Arial" pitchFamily="34" charset="0"/>
                <a:ea typeface="+mn-ea"/>
                <a:cs typeface="+mn-cs"/>
              </a:defRPr>
            </a:lvl6pPr>
            <a:lvl7pPr marL="13062570" algn="l" defTabSz="4354190" rtl="0" eaLnBrk="1" latinLnBrk="0" hangingPunct="1">
              <a:defRPr sz="5714" kern="1200">
                <a:solidFill>
                  <a:schemeClr val="tx1"/>
                </a:solidFill>
                <a:latin typeface="Arial" pitchFamily="34" charset="0"/>
                <a:ea typeface="+mn-ea"/>
                <a:cs typeface="+mn-cs"/>
              </a:defRPr>
            </a:lvl7pPr>
            <a:lvl8pPr marL="15239664" algn="l" defTabSz="4354190" rtl="0" eaLnBrk="1" latinLnBrk="0" hangingPunct="1">
              <a:defRPr sz="5714" kern="1200">
                <a:solidFill>
                  <a:schemeClr val="tx1"/>
                </a:solidFill>
                <a:latin typeface="Arial" pitchFamily="34" charset="0"/>
                <a:ea typeface="+mn-ea"/>
                <a:cs typeface="+mn-cs"/>
              </a:defRPr>
            </a:lvl8pPr>
            <a:lvl9pPr marL="17416760" algn="l" defTabSz="4354190" rtl="0" eaLnBrk="1" latinLnBrk="0" hangingPunct="1">
              <a:defRPr sz="5714" kern="1200">
                <a:solidFill>
                  <a:schemeClr val="tx1"/>
                </a:solidFill>
                <a:latin typeface="Arial" pitchFamily="34" charset="0"/>
                <a:ea typeface="+mn-ea"/>
                <a:cs typeface="+mn-cs"/>
              </a:defRPr>
            </a:lvl9pPr>
          </a:lstStyle>
          <a:p>
            <a:fld id="{F173735F-2667-4028-B606-D96AABD86FDB}" type="slidenum">
              <a:rPr lang="id-ID" smtClean="0"/>
              <a:pPr/>
              <a:t>20</a:t>
            </a:fld>
            <a:endParaRPr lang="id-ID"/>
          </a:p>
        </p:txBody>
      </p:sp>
    </p:spTree>
    <p:extLst>
      <p:ext uri="{BB962C8B-B14F-4D97-AF65-F5344CB8AC3E}">
        <p14:creationId xmlns:p14="http://schemas.microsoft.com/office/powerpoint/2010/main" val="117573288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article related to implementation of Cloud Computing Technology</a:t>
            </a:r>
          </a:p>
          <a:p>
            <a:pPr marL="571500" indent="-571500">
              <a:buFont typeface="Arial" panose="020B0604020202020204" pitchFamily="34" charset="0"/>
              <a:buChar char="•"/>
            </a:pPr>
            <a:r>
              <a:rPr lang="en-US" dirty="0"/>
              <a:t>Find cases related to QoS problem of Cloud services</a:t>
            </a:r>
          </a:p>
        </p:txBody>
      </p:sp>
    </p:spTree>
    <p:extLst>
      <p:ext uri="{BB962C8B-B14F-4D97-AF65-F5344CB8AC3E}">
        <p14:creationId xmlns:p14="http://schemas.microsoft.com/office/powerpoint/2010/main" val="287359398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r>
              <a:rPr lang="en-US" dirty="0"/>
              <a:t>https://www.ucsusa.org/resources/each-countrys-share-co2-emissions</a:t>
            </a:r>
          </a:p>
          <a:p>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891</TotalTime>
  <Words>907</Words>
  <Application>Microsoft Office PowerPoint</Application>
  <PresentationFormat>Custom</PresentationFormat>
  <Paragraphs>98</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OCRB</vt:lpstr>
      <vt:lpstr>Tahoma</vt:lpstr>
      <vt:lpstr>Open Sans ExtraBold</vt:lpstr>
      <vt:lpstr>Arial</vt:lpstr>
      <vt:lpstr>Open Sans Semibold</vt:lpstr>
      <vt:lpstr>Open Sans Light</vt:lpstr>
      <vt:lpstr>21_BasicWhite</vt:lpstr>
      <vt:lpstr>Introduction to Cloud  Session 01</vt:lpstr>
      <vt:lpstr>Learning Objectives</vt:lpstr>
      <vt:lpstr>Outline</vt:lpstr>
      <vt:lpstr>Cloud Computing Overview</vt:lpstr>
      <vt:lpstr>PowerPoint Presentation</vt:lpstr>
      <vt:lpstr>PowerPoint Presentation</vt:lpstr>
      <vt:lpstr>Cloud Types</vt:lpstr>
      <vt:lpstr>Cloud overview</vt:lpstr>
      <vt:lpstr>Energy Use and Ecological Impact of Cloud Computing</vt:lpstr>
      <vt:lpstr>Energy Use and Ecological Impact of Cloud Computing</vt:lpstr>
      <vt:lpstr>How Cloud Data Centers Contributes to Lowering</vt:lpstr>
      <vt:lpstr>Ethical Issues in Cloud Computing</vt:lpstr>
      <vt:lpstr>Paradigm Shift Elements of Cloud Computing</vt:lpstr>
      <vt:lpstr>Cloud Service Availability</vt:lpstr>
      <vt:lpstr>Cloud availability</vt:lpstr>
      <vt:lpstr>Cloud availability</vt:lpstr>
      <vt:lpstr>Network-centric Computing and Network-centric Content</vt:lpstr>
      <vt:lpstr>Characteristics</vt:lpstr>
      <vt:lpstr>Characteristics</vt:lpstr>
      <vt:lpstr>Characteristics</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15</cp:revision>
  <dcterms:created xsi:type="dcterms:W3CDTF">2023-06-28T08:14:57Z</dcterms:created>
  <dcterms:modified xsi:type="dcterms:W3CDTF">2025-12-23T18:38:20Z</dcterms:modified>
</cp:coreProperties>
</file>