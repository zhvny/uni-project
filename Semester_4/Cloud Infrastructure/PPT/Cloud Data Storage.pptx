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0"/>
  </p:notesMasterIdLst>
  <p:sldIdLst>
    <p:sldId id="256" r:id="rId2"/>
    <p:sldId id="278" r:id="rId3"/>
    <p:sldId id="257" r:id="rId4"/>
    <p:sldId id="264" r:id="rId5"/>
    <p:sldId id="297" r:id="rId6"/>
    <p:sldId id="298" r:id="rId7"/>
    <p:sldId id="330" r:id="rId8"/>
    <p:sldId id="318" r:id="rId9"/>
    <p:sldId id="338" r:id="rId10"/>
    <p:sldId id="331" r:id="rId11"/>
    <p:sldId id="303" r:id="rId12"/>
    <p:sldId id="301" r:id="rId13"/>
    <p:sldId id="339" r:id="rId14"/>
    <p:sldId id="334" r:id="rId15"/>
    <p:sldId id="335" r:id="rId16"/>
    <p:sldId id="340" r:id="rId17"/>
    <p:sldId id="337" r:id="rId18"/>
    <p:sldId id="324" r:id="rId19"/>
    <p:sldId id="325" r:id="rId20"/>
    <p:sldId id="326" r:id="rId21"/>
    <p:sldId id="341" r:id="rId22"/>
    <p:sldId id="342" r:id="rId23"/>
    <p:sldId id="306" r:id="rId24"/>
    <p:sldId id="307" r:id="rId25"/>
    <p:sldId id="343" r:id="rId26"/>
    <p:sldId id="315" r:id="rId27"/>
    <p:sldId id="317" r:id="rId28"/>
    <p:sldId id="296" r:id="rId29"/>
  </p:sldIdLst>
  <p:sldSz cx="24384000" cy="13716000"/>
  <p:notesSz cx="6858000" cy="9144000"/>
  <p:embeddedFontLst>
    <p:embeddedFont>
      <p:font typeface="OCRB" panose="020B0609020202020204" pitchFamily="49" charset="0"/>
      <p:regular r:id="rId31"/>
    </p:embeddedFont>
    <p:embeddedFont>
      <p:font typeface="Open Sans" panose="020B0606030504020204" pitchFamily="34" charset="0"/>
      <p:regular r:id="rId32"/>
      <p:bold r:id="rId33"/>
      <p:italic r:id="rId34"/>
      <p:boldItalic r:id="rId35"/>
    </p:embeddedFont>
    <p:embeddedFont>
      <p:font typeface="Open Sans ExtraBold" panose="020B0906030804020204" pitchFamily="34" charset="0"/>
      <p:bold r:id="rId36"/>
      <p:italic r:id="rId37"/>
      <p:boldItalic r:id="rId38"/>
    </p:embeddedFont>
    <p:embeddedFont>
      <p:font typeface="Open Sans Light" panose="020B0306030504020204" pitchFamily="34" charset="0"/>
      <p:regular r:id="rId39"/>
      <p:italic r:id="rId40"/>
    </p:embeddedFont>
    <p:embeddedFont>
      <p:font typeface="Open Sans Semibold" panose="020B0706030804020204" pitchFamily="34" charset="0"/>
      <p:regular r:id="rId41"/>
      <p:bold r:id="rId42"/>
      <p:italic r:id="rId43"/>
      <p:boldItalic r:id="rId44"/>
    </p:embeddedFont>
    <p:embeddedFont>
      <p:font typeface="Tahoma" panose="020B0604030504040204" pitchFamily="34" charset="0"/>
      <p:regular r:id="rId45"/>
      <p:bold r:id="rId46"/>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96197"/>
  </p:normalViewPr>
  <p:slideViewPr>
    <p:cSldViewPr snapToGrid="0" snapToObjects="1">
      <p:cViewPr varScale="1">
        <p:scale>
          <a:sx n="38" d="100"/>
          <a:sy n="38" d="100"/>
        </p:scale>
        <p:origin x="82" y="125"/>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918C-94BA-768D-0DAB-4F7B7EB2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1B7B2-98E1-973B-DB1A-E34DFC03EC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864438-4B75-9973-2FD3-870FD207506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0927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BAFB-5EA1-E02D-9A5E-A5AB7228E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213FA-D988-B939-B1A1-FB7BA6CA11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5F15069-07DB-9934-63FD-6E6641E29A0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99002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6A55B-08CA-6632-5562-D1C935A41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6F929-678E-371C-66AB-F01CF81865E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430034-48A6-E158-9C04-1E607233992F}"/>
              </a:ext>
            </a:extLst>
          </p:cNvPr>
          <p:cNvSpPr>
            <a:spLocks noGrp="1"/>
          </p:cNvSpPr>
          <p:nvPr>
            <p:ph type="body" idx="1"/>
          </p:nvPr>
        </p:nvSpPr>
        <p:spPr/>
        <p:txBody>
          <a:bodyPr/>
          <a:lstStyle/>
          <a:p>
            <a:r>
              <a:rPr lang="en-US" dirty="0"/>
              <a:t>Reading and writing operations are performed directly on the cached copy of the file and bypass Venus. Only when a file is opened or closed does Venus communicate with Vice.</a:t>
            </a:r>
          </a:p>
          <a:p>
            <a:r>
              <a:rPr lang="en-US" dirty="0"/>
              <a:t>The emphasis of the AFS design is on performance, security, and simple management of the file system. The local disk of a workstation acts as a persistent cache ensuring scalability and reducing the response time. </a:t>
            </a:r>
          </a:p>
          <a:p>
            <a:r>
              <a:rPr lang="en-US" dirty="0"/>
              <a:t>The master copy of a file residing on one of the servers is updated only when the file is modified. This strategy reduces the server load and improves the system performance.</a:t>
            </a:r>
          </a:p>
          <a:p>
            <a:r>
              <a:rPr lang="en-US" dirty="0"/>
              <a:t>Another major objective of the AFS design is improved security. The communications between clients and servers are encrypted, and all file operations require secure network connections.</a:t>
            </a:r>
          </a:p>
        </p:txBody>
      </p:sp>
    </p:spTree>
    <p:extLst>
      <p:ext uri="{BB962C8B-B14F-4D97-AF65-F5344CB8AC3E}">
        <p14:creationId xmlns:p14="http://schemas.microsoft.com/office/powerpoint/2010/main" val="3390543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457200" algn="just">
              <a:buFont typeface="+mj-lt"/>
              <a:buAutoNum type="arabicPeriod"/>
            </a:pPr>
            <a:r>
              <a:rPr lang="en-US" b="1" dirty="0"/>
              <a:t>Sharding</a:t>
            </a:r>
            <a:r>
              <a:rPr lang="en-US" dirty="0"/>
              <a:t> is based on horizontal scalability; the data is distributed to the servers aiming to balance the workload. The aggregates are stored together if accessed together; the aggregate distribution to storage servers may change over time in response to access pattern changes. Sharding optimizes the writes.</a:t>
            </a:r>
          </a:p>
          <a:p>
            <a:pPr marL="457200" indent="-457200" algn="just">
              <a:buFont typeface="+mj-lt"/>
              <a:buAutoNum type="arabicPeriod"/>
            </a:pPr>
            <a:r>
              <a:rPr lang="en-US" b="1" dirty="0"/>
              <a:t>Master–slave replication </a:t>
            </a:r>
            <a:r>
              <a:rPr lang="en-US" dirty="0"/>
              <a:t>designates one server as master and all other storage servers as slaves. The master is responsible for processing updates and is the authoritative data source. Servers are synchronized with the master. A drawback of this distribution model is inconsistency as updates take time to propagate from the master to the slaves. This distribution model is optimal for read-intensive database applications and horizontal scaling because new slaves can be added easily.</a:t>
            </a:r>
          </a:p>
          <a:p>
            <a:pPr marL="457200" indent="-457200" algn="just">
              <a:buFont typeface="+mj-lt"/>
              <a:buAutoNum type="arabicPeriod"/>
            </a:pPr>
            <a:r>
              <a:rPr lang="en-US" b="1" dirty="0"/>
              <a:t>P2P</a:t>
            </a:r>
            <a:r>
              <a:rPr lang="en-US" dirty="0"/>
              <a:t> systems are the most democratic; servers have the same functionality and accept write operations; and loosing one or a few servers may affect performance but not system functionality. The price to pay is potential lack of consistency; a write-write conflict is unavoidable when a record is updated on two different servers at the same time.</a:t>
            </a:r>
          </a:p>
          <a:p>
            <a:endParaRPr lang="en-US" dirty="0"/>
          </a:p>
        </p:txBody>
      </p:sp>
    </p:spTree>
    <p:extLst>
      <p:ext uri="{BB962C8B-B14F-4D97-AF65-F5344CB8AC3E}">
        <p14:creationId xmlns:p14="http://schemas.microsoft.com/office/powerpoint/2010/main" val="9740333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1/5/2026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1/5/2026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positek.net/easy-backup-cloud-storage/" TargetMode="External"/><Relationship Id="rId2" Type="http://schemas.openxmlformats.org/officeDocument/2006/relationships/image" Target="../media/image22.pn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hyperlink" Target="https://www.flickr.com/photos/digitaldrew/4930438982/" TargetMode="External"/><Relationship Id="rId2" Type="http://schemas.openxmlformats.org/officeDocument/2006/relationships/image" Target="../media/image25.jpg"/><Relationship Id="rId1" Type="http://schemas.openxmlformats.org/officeDocument/2006/relationships/slideLayout" Target="../slideLayouts/slideLayout15.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wisc-online.com/learn/computer-science/it-networking/itnt514/fibre-channel-storage-area-networks" TargetMode="External"/><Relationship Id="rId2" Type="http://schemas.openxmlformats.org/officeDocument/2006/relationships/image" Target="../media/image26.jpeg"/><Relationship Id="rId1" Type="http://schemas.openxmlformats.org/officeDocument/2006/relationships/slideLayout" Target="../slideLayouts/slideLayout15.xml"/><Relationship Id="rId4" Type="http://schemas.openxmlformats.org/officeDocument/2006/relationships/hyperlink" Target="https://creativecommons.org/licenses/by/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tackoverflow.com/questions/37159201/which-one-is-er-diagram" TargetMode="External"/><Relationship Id="rId2" Type="http://schemas.openxmlformats.org/officeDocument/2006/relationships/image" Target="../media/image27.pn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dirty="0"/>
              <a:t>Cloud Data storage</a:t>
            </a:r>
            <a:br>
              <a:rPr lang="en-US" dirty="0"/>
            </a:br>
            <a:br>
              <a:rPr lang="en-US" dirty="0"/>
            </a:br>
            <a:r>
              <a:rPr lang="en-US" sz="6000" dirty="0"/>
              <a:t>Session 07</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fontScale="92500" lnSpcReduction="20000"/>
          </a:bodyPr>
          <a:lstStyle/>
          <a:p>
            <a:pPr marL="0" indent="0">
              <a:buNone/>
            </a:pPr>
            <a:endParaRPr lang="en-US" sz="3200" dirty="0"/>
          </a:p>
          <a:p>
            <a:pPr marL="0" indent="0">
              <a:buNone/>
            </a:pPr>
            <a:r>
              <a:rPr lang="en-US" sz="3200" dirty="0"/>
              <a:t>(C4) Analysis : identify problems that can be solved using cloud global infrastructure</a:t>
            </a:r>
          </a:p>
          <a:p>
            <a:pPr marL="0" indent="0">
              <a:buNone/>
            </a:pPr>
            <a:r>
              <a:rPr lang="en-US" sz="3200" dirty="0"/>
              <a:t>(C2) Comprehension : group Classify real-worlds problems in accordance with cloud computing infrastructure</a:t>
            </a:r>
          </a:p>
          <a:p>
            <a:pPr marL="0" indent="0">
              <a:buNone/>
            </a:pPr>
            <a:r>
              <a:rPr lang="en-US" sz="3200" dirty="0"/>
              <a:t>(C4) Analysis : analyze identifying problems and choose proper Cloud Services and Cloud Infrastructure</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Storage Models, File Systems, and Databases</a:t>
            </a:r>
          </a:p>
          <a:p>
            <a:pPr marL="0" indent="0">
              <a:buNone/>
            </a:pPr>
            <a:r>
              <a:rPr lang="en-US" sz="3200" dirty="0"/>
              <a:t>Distributed File Systems</a:t>
            </a:r>
          </a:p>
          <a:p>
            <a:pPr marL="0" indent="0">
              <a:buNone/>
            </a:pPr>
            <a:r>
              <a:rPr lang="en-US" sz="3200" dirty="0"/>
              <a:t>NoSQL Databases</a:t>
            </a:r>
          </a:p>
          <a:p>
            <a:pPr marL="0" indent="0">
              <a:buNone/>
            </a:pPr>
            <a:r>
              <a:rPr lang="en-US" sz="3200" dirty="0"/>
              <a:t>Disk Locality Versus Data Locality in Computer Clouds</a:t>
            </a:r>
          </a:p>
          <a:p>
            <a:pPr marL="0" indent="0">
              <a:buNone/>
            </a:pPr>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Storage Models, File Systems, and Databases</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Storage models</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r>
              <a:rPr lang="en-US" dirty="0"/>
              <a:t>a data model captures the most important logical aspects of a data structure in a database. Physical storage can be a local disk, a removable media, or storage accessible via the network.</a:t>
            </a:r>
          </a:p>
          <a:p>
            <a:r>
              <a:rPr lang="en-US" dirty="0"/>
              <a:t>Two abstract models of storage are commonly used: cell storage and journal storage.</a:t>
            </a:r>
          </a:p>
        </p:txBody>
      </p:sp>
      <p:pic>
        <p:nvPicPr>
          <p:cNvPr id="8" name="Picture Placeholder 7">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703" r="6703"/>
          <a:stretch/>
        </p:blipFill>
        <p:spPr>
          <a:xfrm>
            <a:off x="12339930" y="4210629"/>
            <a:ext cx="9099057" cy="7921898"/>
          </a:xfrm>
          <a:prstGeom prst="rect">
            <a:avLst/>
          </a:prstGeom>
          <a:noFill/>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r>
              <a:rPr lang="en-US" sz="2800" dirty="0"/>
              <a:t>Storage models describe the layout of a data structure in a physical storage;</a:t>
            </a:r>
          </a:p>
        </p:txBody>
      </p:sp>
      <p:sp>
        <p:nvSpPr>
          <p:cNvPr id="3" name="TextBox 2">
            <a:extLst>
              <a:ext uri="{FF2B5EF4-FFF2-40B4-BE49-F238E27FC236}">
                <a16:creationId xmlns:a16="http://schemas.microsoft.com/office/drawing/2014/main" id="{6A8E33A6-C993-24D7-337F-D5B372997D70}"/>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positek.net/easy-backup-cloud-storage/"/>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CCDFF4-D7DD-FD9C-6532-89E484B4168E}"/>
              </a:ext>
            </a:extLst>
          </p:cNvPr>
          <p:cNvSpPr>
            <a:spLocks noGrp="1"/>
          </p:cNvSpPr>
          <p:nvPr>
            <p:ph type="title"/>
          </p:nvPr>
        </p:nvSpPr>
        <p:spPr>
          <a:xfrm>
            <a:off x="2167377" y="1871164"/>
            <a:ext cx="14715569" cy="511175"/>
          </a:xfrm>
        </p:spPr>
        <p:txBody>
          <a:bodyPr>
            <a:normAutofit/>
          </a:bodyPr>
          <a:lstStyle/>
          <a:p>
            <a:r>
              <a:rPr lang="en-US" sz="3200" dirty="0"/>
              <a:t>Cell Storage</a:t>
            </a:r>
          </a:p>
        </p:txBody>
      </p:sp>
      <p:sp>
        <p:nvSpPr>
          <p:cNvPr id="14" name="Text Placeholder 2">
            <a:extLst>
              <a:ext uri="{FF2B5EF4-FFF2-40B4-BE49-F238E27FC236}">
                <a16:creationId xmlns:a16="http://schemas.microsoft.com/office/drawing/2014/main" id="{85A8F3D6-4803-8F4D-E16A-40D5148139E4}"/>
              </a:ext>
            </a:extLst>
          </p:cNvPr>
          <p:cNvSpPr>
            <a:spLocks noGrp="1"/>
          </p:cNvSpPr>
          <p:nvPr>
            <p:ph type="body" sz="quarter" idx="10"/>
          </p:nvPr>
        </p:nvSpPr>
        <p:spPr>
          <a:xfrm>
            <a:off x="2167377" y="2419728"/>
            <a:ext cx="9768875" cy="803546"/>
          </a:xfrm>
        </p:spPr>
        <p:txBody>
          <a:bodyPr/>
          <a:lstStyle/>
          <a:p>
            <a:endParaRPr lang="en-US"/>
          </a:p>
        </p:txBody>
      </p:sp>
      <p:sp>
        <p:nvSpPr>
          <p:cNvPr id="9" name="Text Placeholder 8">
            <a:extLst>
              <a:ext uri="{FF2B5EF4-FFF2-40B4-BE49-F238E27FC236}">
                <a16:creationId xmlns:a16="http://schemas.microsoft.com/office/drawing/2014/main" id="{C6CAEC1C-3E3E-4C0E-7170-4F15C61F7BDA}"/>
              </a:ext>
            </a:extLst>
          </p:cNvPr>
          <p:cNvSpPr>
            <a:spLocks noGrp="1"/>
          </p:cNvSpPr>
          <p:nvPr>
            <p:ph type="body" sz="quarter" idx="16"/>
          </p:nvPr>
        </p:nvSpPr>
        <p:spPr>
          <a:xfrm>
            <a:off x="2167377" y="6556917"/>
            <a:ext cx="9768906" cy="5575610"/>
          </a:xfrm>
        </p:spPr>
        <p:txBody>
          <a:bodyPr>
            <a:normAutofit/>
          </a:bodyPr>
          <a:lstStyle/>
          <a:p>
            <a:r>
              <a:rPr lang="en-US" dirty="0"/>
              <a:t>This model reflects the physical organization of several storage media; the primary memory of a computer is organized as an array of memory cells and a secondary storage device, e.g., a disk, is organized in sectors or blocks read and written as a unit. </a:t>
            </a:r>
          </a:p>
          <a:p>
            <a:r>
              <a:rPr lang="en-US" dirty="0"/>
              <a:t>Read/write coherence and before-or-after atomicity are two highly desirable properties of any storage model and, in particular, of cell storage;</a:t>
            </a:r>
          </a:p>
        </p:txBody>
      </p:sp>
      <p:pic>
        <p:nvPicPr>
          <p:cNvPr id="2" name="Content Placeholder 5">
            <a:extLst>
              <a:ext uri="{FF2B5EF4-FFF2-40B4-BE49-F238E27FC236}">
                <a16:creationId xmlns:a16="http://schemas.microsoft.com/office/drawing/2014/main" id="{E9CEAE08-2978-5789-42DF-D660D976DAD5}"/>
              </a:ext>
            </a:extLst>
          </p:cNvPr>
          <p:cNvPicPr>
            <a:picLocks noChangeAspect="1"/>
          </p:cNvPicPr>
          <p:nvPr/>
        </p:nvPicPr>
        <p:blipFill>
          <a:blip r:embed="rId2"/>
          <a:stretch>
            <a:fillRect/>
          </a:stretch>
        </p:blipFill>
        <p:spPr>
          <a:xfrm>
            <a:off x="12339930" y="4998720"/>
            <a:ext cx="11600324" cy="5220145"/>
          </a:xfrm>
          <a:prstGeom prst="rect">
            <a:avLst/>
          </a:prstGeom>
          <a:noFill/>
        </p:spPr>
      </p:pic>
      <p:sp>
        <p:nvSpPr>
          <p:cNvPr id="8" name="Text Placeholder 7">
            <a:extLst>
              <a:ext uri="{FF2B5EF4-FFF2-40B4-BE49-F238E27FC236}">
                <a16:creationId xmlns:a16="http://schemas.microsoft.com/office/drawing/2014/main" id="{2DC53045-19E4-98CE-73B3-3ECB2C6F731C}"/>
              </a:ext>
            </a:extLst>
          </p:cNvPr>
          <p:cNvSpPr>
            <a:spLocks noGrp="1"/>
          </p:cNvSpPr>
          <p:nvPr>
            <p:ph type="body" sz="quarter" idx="17"/>
          </p:nvPr>
        </p:nvSpPr>
        <p:spPr>
          <a:xfrm>
            <a:off x="2166938" y="4210049"/>
            <a:ext cx="9768874" cy="2039112"/>
          </a:xfrm>
        </p:spPr>
        <p:txBody>
          <a:bodyPr>
            <a:normAutofit/>
          </a:bodyPr>
          <a:lstStyle/>
          <a:p>
            <a:r>
              <a:rPr lang="en-US"/>
              <a:t>Cell storage assumes that the storage consists of cells of the same size and that each object fits in one cell.</a:t>
            </a:r>
          </a:p>
        </p:txBody>
      </p:sp>
    </p:spTree>
    <p:extLst>
      <p:ext uri="{BB962C8B-B14F-4D97-AF65-F5344CB8AC3E}">
        <p14:creationId xmlns:p14="http://schemas.microsoft.com/office/powerpoint/2010/main" val="29122815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CD6A-89A6-F879-CC24-253C6EFC8E6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FE9CCC-E831-7F9C-491D-DBCE09A7B276}"/>
              </a:ext>
            </a:extLst>
          </p:cNvPr>
          <p:cNvSpPr>
            <a:spLocks noGrp="1"/>
          </p:cNvSpPr>
          <p:nvPr>
            <p:ph type="title"/>
          </p:nvPr>
        </p:nvSpPr>
        <p:spPr>
          <a:xfrm>
            <a:off x="2167377" y="1871164"/>
            <a:ext cx="14715569" cy="511175"/>
          </a:xfrm>
        </p:spPr>
        <p:txBody>
          <a:bodyPr>
            <a:normAutofit/>
          </a:bodyPr>
          <a:lstStyle/>
          <a:p>
            <a:r>
              <a:rPr lang="en-US" sz="3200" dirty="0"/>
              <a:t>Journal storage</a:t>
            </a:r>
          </a:p>
        </p:txBody>
      </p:sp>
      <p:sp>
        <p:nvSpPr>
          <p:cNvPr id="7" name="Text Placeholder 6">
            <a:extLst>
              <a:ext uri="{FF2B5EF4-FFF2-40B4-BE49-F238E27FC236}">
                <a16:creationId xmlns:a16="http://schemas.microsoft.com/office/drawing/2014/main" id="{A3570689-2A27-A811-82C9-E205DCF236DC}"/>
              </a:ext>
            </a:extLst>
          </p:cNvPr>
          <p:cNvSpPr>
            <a:spLocks noGrp="1"/>
          </p:cNvSpPr>
          <p:nvPr>
            <p:ph type="body" sz="quarter" idx="10"/>
          </p:nvPr>
        </p:nvSpPr>
        <p:spPr>
          <a:xfrm>
            <a:off x="2167377" y="2419728"/>
            <a:ext cx="9768875" cy="803546"/>
          </a:xfrm>
        </p:spPr>
        <p:txBody>
          <a:bodyPr>
            <a:normAutofit/>
          </a:bodyPr>
          <a:lstStyle/>
          <a:p>
            <a:endParaRPr lang="en-US" sz="2700" dirty="0"/>
          </a:p>
        </p:txBody>
      </p:sp>
      <p:sp>
        <p:nvSpPr>
          <p:cNvPr id="9" name="Text Placeholder 8">
            <a:extLst>
              <a:ext uri="{FF2B5EF4-FFF2-40B4-BE49-F238E27FC236}">
                <a16:creationId xmlns:a16="http://schemas.microsoft.com/office/drawing/2014/main" id="{DC59B809-187C-2A0A-A783-A1E2517BD2D0}"/>
              </a:ext>
            </a:extLst>
          </p:cNvPr>
          <p:cNvSpPr>
            <a:spLocks noGrp="1"/>
          </p:cNvSpPr>
          <p:nvPr>
            <p:ph type="body" sz="quarter" idx="16"/>
          </p:nvPr>
        </p:nvSpPr>
        <p:spPr>
          <a:xfrm>
            <a:off x="2167377" y="6556917"/>
            <a:ext cx="9768906" cy="5575610"/>
          </a:xfrm>
        </p:spPr>
        <p:txBody>
          <a:bodyPr>
            <a:normAutofit/>
          </a:bodyPr>
          <a:lstStyle/>
          <a:p>
            <a:r>
              <a:rPr lang="en-US" dirty="0"/>
              <a:t>Journal storage consists of a manager and a cell storage where the entire history of a variable is maintained, rather than just the current value. </a:t>
            </a:r>
          </a:p>
          <a:p>
            <a:r>
              <a:rPr lang="en-US" dirty="0"/>
              <a:t>The user does not have direct access to the cell storage, instead it can request the journal manager to: (</a:t>
            </a:r>
            <a:r>
              <a:rPr lang="en-US" dirty="0" err="1"/>
              <a:t>i</a:t>
            </a:r>
            <a:r>
              <a:rPr lang="en-US" dirty="0"/>
              <a:t>) start a new action; (ii) read the value of a cell; (iii) write the value of a cell; (iv) commit an action; and (v) abort an action. </a:t>
            </a:r>
          </a:p>
          <a:p>
            <a:r>
              <a:rPr lang="en-US" dirty="0"/>
              <a:t>The journal manager translates user requests into commands sent to the cell storage: (</a:t>
            </a:r>
            <a:r>
              <a:rPr lang="en-US" dirty="0" err="1"/>
              <a:t>i</a:t>
            </a:r>
            <a:r>
              <a:rPr lang="en-US" dirty="0"/>
              <a:t>) read a cell; (ii) write a cell; (iii) allocate a cell; and (iv) deallocate a cell.</a:t>
            </a:r>
          </a:p>
        </p:txBody>
      </p:sp>
      <p:pic>
        <p:nvPicPr>
          <p:cNvPr id="11" name="Picture 10">
            <a:extLst>
              <a:ext uri="{FF2B5EF4-FFF2-40B4-BE49-F238E27FC236}">
                <a16:creationId xmlns:a16="http://schemas.microsoft.com/office/drawing/2014/main" id="{71D5176B-BBFA-CCD6-102F-B5F06AE6AAA5}"/>
              </a:ext>
            </a:extLst>
          </p:cNvPr>
          <p:cNvPicPr>
            <a:picLocks noChangeAspect="1"/>
          </p:cNvPicPr>
          <p:nvPr/>
        </p:nvPicPr>
        <p:blipFill>
          <a:blip r:embed="rId2">
            <a:extLst>
              <a:ext uri="{28A0092B-C50C-407E-A947-70E740481C1C}">
                <a14:useLocalDpi xmlns:a14="http://schemas.microsoft.com/office/drawing/2010/main" val="0"/>
              </a:ext>
            </a:extLst>
          </a:blip>
          <a:srcRect l="846" r="1839" b="16"/>
          <a:stretch>
            <a:fillRect/>
          </a:stretch>
        </p:blipFill>
        <p:spPr>
          <a:xfrm>
            <a:off x="12602818" y="4545893"/>
            <a:ext cx="11430000" cy="6526298"/>
          </a:xfrm>
          <a:prstGeom prst="rect">
            <a:avLst/>
          </a:prstGeom>
          <a:noFill/>
        </p:spPr>
      </p:pic>
      <p:sp>
        <p:nvSpPr>
          <p:cNvPr id="8" name="Text Placeholder 7">
            <a:extLst>
              <a:ext uri="{FF2B5EF4-FFF2-40B4-BE49-F238E27FC236}">
                <a16:creationId xmlns:a16="http://schemas.microsoft.com/office/drawing/2014/main" id="{CDC8264D-50E1-19D1-48BA-3828CD8C07BC}"/>
              </a:ext>
            </a:extLst>
          </p:cNvPr>
          <p:cNvSpPr>
            <a:spLocks noGrp="1"/>
          </p:cNvSpPr>
          <p:nvPr>
            <p:ph type="body" sz="quarter" idx="17"/>
          </p:nvPr>
        </p:nvSpPr>
        <p:spPr>
          <a:xfrm>
            <a:off x="2166938" y="4210049"/>
            <a:ext cx="9768874" cy="2039112"/>
          </a:xfrm>
        </p:spPr>
        <p:txBody>
          <a:bodyPr>
            <a:normAutofit/>
          </a:bodyPr>
          <a:lstStyle/>
          <a:p>
            <a:r>
              <a:rPr lang="en-US" sz="3600" dirty="0"/>
              <a:t>Journal storage is a fairly elaborate organization for storing composite objects such as records consisting of multiple fields. </a:t>
            </a:r>
          </a:p>
          <a:p>
            <a:endParaRPr lang="en-US" sz="3600" dirty="0"/>
          </a:p>
        </p:txBody>
      </p:sp>
    </p:spTree>
    <p:extLst>
      <p:ext uri="{BB962C8B-B14F-4D97-AF65-F5344CB8AC3E}">
        <p14:creationId xmlns:p14="http://schemas.microsoft.com/office/powerpoint/2010/main" val="355550694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84A8-5557-90FC-FFF0-90A581A15A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441058-6E58-3522-F0B4-DBF4AB7D6B76}"/>
              </a:ext>
            </a:extLst>
          </p:cNvPr>
          <p:cNvSpPr>
            <a:spLocks noGrp="1"/>
          </p:cNvSpPr>
          <p:nvPr>
            <p:ph type="title"/>
          </p:nvPr>
        </p:nvSpPr>
        <p:spPr>
          <a:xfrm>
            <a:off x="2167377" y="1871164"/>
            <a:ext cx="14715569" cy="511175"/>
          </a:xfrm>
        </p:spPr>
        <p:txBody>
          <a:bodyPr>
            <a:normAutofit/>
          </a:bodyPr>
          <a:lstStyle/>
          <a:p>
            <a:r>
              <a:rPr lang="en-US" sz="3200" dirty="0"/>
              <a:t>File system</a:t>
            </a:r>
          </a:p>
        </p:txBody>
      </p:sp>
      <p:sp>
        <p:nvSpPr>
          <p:cNvPr id="7" name="Text Placeholder 6">
            <a:extLst>
              <a:ext uri="{FF2B5EF4-FFF2-40B4-BE49-F238E27FC236}">
                <a16:creationId xmlns:a16="http://schemas.microsoft.com/office/drawing/2014/main" id="{E0FFCD34-8840-6A37-C228-DB239D21DC72}"/>
              </a:ext>
            </a:extLst>
          </p:cNvPr>
          <p:cNvSpPr>
            <a:spLocks noGrp="1"/>
          </p:cNvSpPr>
          <p:nvPr>
            <p:ph type="body" sz="quarter" idx="10"/>
          </p:nvPr>
        </p:nvSpPr>
        <p:spPr>
          <a:xfrm>
            <a:off x="2167377" y="2419728"/>
            <a:ext cx="9768875" cy="803546"/>
          </a:xfrm>
        </p:spPr>
        <p:txBody>
          <a:bodyPr>
            <a:normAutofit/>
          </a:bodyPr>
          <a:lstStyle/>
          <a:p>
            <a:endParaRPr lang="en-US" dirty="0"/>
          </a:p>
        </p:txBody>
      </p:sp>
      <p:sp>
        <p:nvSpPr>
          <p:cNvPr id="9" name="Text Placeholder 8">
            <a:extLst>
              <a:ext uri="{FF2B5EF4-FFF2-40B4-BE49-F238E27FC236}">
                <a16:creationId xmlns:a16="http://schemas.microsoft.com/office/drawing/2014/main" id="{3CF615AB-C908-182A-0B59-393D7CDC511B}"/>
              </a:ext>
            </a:extLst>
          </p:cNvPr>
          <p:cNvSpPr>
            <a:spLocks noGrp="1"/>
          </p:cNvSpPr>
          <p:nvPr>
            <p:ph type="body" sz="quarter" idx="16"/>
          </p:nvPr>
        </p:nvSpPr>
        <p:spPr>
          <a:xfrm>
            <a:off x="2167377" y="6556917"/>
            <a:ext cx="9768906" cy="5575610"/>
          </a:xfrm>
        </p:spPr>
        <p:txBody>
          <a:bodyPr>
            <a:normAutofit/>
          </a:bodyPr>
          <a:lstStyle/>
          <a:p>
            <a:r>
              <a:rPr lang="en-US" sz="2800" dirty="0"/>
              <a:t>High-performance systems can choose among three classes of file systems: Network File Systems (NFS), Storage Area Networks (SAN), and Parallel File Systems (PFS). </a:t>
            </a:r>
          </a:p>
          <a:p>
            <a:r>
              <a:rPr lang="en-US" sz="2800" dirty="0"/>
              <a:t>Network file systems are very popular and have been used for some time, but do not scale well and have reliability problems; an NFS server could be a single point of failure.</a:t>
            </a:r>
          </a:p>
        </p:txBody>
      </p:sp>
      <p:pic>
        <p:nvPicPr>
          <p:cNvPr id="11" name="Picture 10">
            <a:extLst>
              <a:ext uri="{FF2B5EF4-FFF2-40B4-BE49-F238E27FC236}">
                <a16:creationId xmlns:a16="http://schemas.microsoft.com/office/drawing/2014/main" id="{A7FEE5F9-F887-E434-66EB-D8DD4B3A831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8870" b="8870"/>
          <a:stretch/>
        </p:blipFill>
        <p:spPr>
          <a:xfrm>
            <a:off x="11935812" y="3661632"/>
            <a:ext cx="12374880" cy="7634640"/>
          </a:xfrm>
          <a:prstGeom prst="rect">
            <a:avLst/>
          </a:prstGeom>
          <a:noFill/>
        </p:spPr>
      </p:pic>
      <p:sp>
        <p:nvSpPr>
          <p:cNvPr id="8" name="Text Placeholder 7">
            <a:extLst>
              <a:ext uri="{FF2B5EF4-FFF2-40B4-BE49-F238E27FC236}">
                <a16:creationId xmlns:a16="http://schemas.microsoft.com/office/drawing/2014/main" id="{DD0001F0-1F68-D624-93F9-00382EF23FD8}"/>
              </a:ext>
            </a:extLst>
          </p:cNvPr>
          <p:cNvSpPr>
            <a:spLocks noGrp="1"/>
          </p:cNvSpPr>
          <p:nvPr>
            <p:ph type="body" sz="quarter" idx="17"/>
          </p:nvPr>
        </p:nvSpPr>
        <p:spPr>
          <a:xfrm>
            <a:off x="2166938" y="4210049"/>
            <a:ext cx="9768874" cy="2039112"/>
          </a:xfrm>
        </p:spPr>
        <p:txBody>
          <a:bodyPr>
            <a:normAutofit fontScale="92500"/>
          </a:bodyPr>
          <a:lstStyle/>
          <a:p>
            <a:r>
              <a:rPr lang="en-US" dirty="0"/>
              <a:t>A file system consists of a collection of directories and each directory provides information about a set of files.</a:t>
            </a:r>
          </a:p>
        </p:txBody>
      </p:sp>
      <p:sp>
        <p:nvSpPr>
          <p:cNvPr id="2" name="TextBox 1">
            <a:extLst>
              <a:ext uri="{FF2B5EF4-FFF2-40B4-BE49-F238E27FC236}">
                <a16:creationId xmlns:a16="http://schemas.microsoft.com/office/drawing/2014/main" id="{FB7573E7-CCC1-C393-5EAD-A5094D92DA1E}"/>
              </a:ext>
            </a:extLst>
          </p:cNvPr>
          <p:cNvSpPr txBox="1"/>
          <p:nvPr/>
        </p:nvSpPr>
        <p:spPr>
          <a:xfrm>
            <a:off x="16597994" y="11296272"/>
            <a:ext cx="3050515" cy="241092"/>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US" sz="900">
                <a:hlinkClick r:id="rId3" tooltip="https://www.flickr.com/photos/digitaldrew/4930438982/"/>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17576217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3DD70-06FD-75C6-C4B4-269CA6D9BD7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A551B6-968A-DEF5-09C6-9239B3DDE945}"/>
              </a:ext>
            </a:extLst>
          </p:cNvPr>
          <p:cNvSpPr>
            <a:spLocks noGrp="1"/>
          </p:cNvSpPr>
          <p:nvPr>
            <p:ph type="title"/>
          </p:nvPr>
        </p:nvSpPr>
        <p:spPr>
          <a:xfrm>
            <a:off x="2167377" y="1871164"/>
            <a:ext cx="14715569" cy="511175"/>
          </a:xfrm>
        </p:spPr>
        <p:txBody>
          <a:bodyPr>
            <a:normAutofit/>
          </a:bodyPr>
          <a:lstStyle/>
          <a:p>
            <a:r>
              <a:rPr lang="en-US" sz="3200" dirty="0"/>
              <a:t>File system</a:t>
            </a:r>
          </a:p>
        </p:txBody>
      </p:sp>
      <p:sp>
        <p:nvSpPr>
          <p:cNvPr id="16" name="Text Placeholder 2">
            <a:extLst>
              <a:ext uri="{FF2B5EF4-FFF2-40B4-BE49-F238E27FC236}">
                <a16:creationId xmlns:a16="http://schemas.microsoft.com/office/drawing/2014/main" id="{93CCC73A-E86B-CDC4-84E0-37472E7748AF}"/>
              </a:ext>
            </a:extLst>
          </p:cNvPr>
          <p:cNvSpPr>
            <a:spLocks noGrp="1"/>
          </p:cNvSpPr>
          <p:nvPr>
            <p:ph type="body" sz="quarter" idx="10"/>
          </p:nvPr>
        </p:nvSpPr>
        <p:spPr>
          <a:xfrm>
            <a:off x="2167377" y="2419728"/>
            <a:ext cx="9768875" cy="803546"/>
          </a:xfrm>
        </p:spPr>
        <p:txBody>
          <a:bodyPr/>
          <a:lstStyle/>
          <a:p>
            <a:endParaRPr lang="en-US"/>
          </a:p>
        </p:txBody>
      </p:sp>
      <p:sp>
        <p:nvSpPr>
          <p:cNvPr id="9" name="Text Placeholder 8">
            <a:extLst>
              <a:ext uri="{FF2B5EF4-FFF2-40B4-BE49-F238E27FC236}">
                <a16:creationId xmlns:a16="http://schemas.microsoft.com/office/drawing/2014/main" id="{D8BE81CE-3892-EA67-0246-213F814B5421}"/>
              </a:ext>
            </a:extLst>
          </p:cNvPr>
          <p:cNvSpPr>
            <a:spLocks noGrp="1"/>
          </p:cNvSpPr>
          <p:nvPr>
            <p:ph type="body" sz="quarter" idx="16"/>
          </p:nvPr>
        </p:nvSpPr>
        <p:spPr>
          <a:xfrm>
            <a:off x="2167377" y="6556917"/>
            <a:ext cx="9768906" cy="5575610"/>
          </a:xfrm>
        </p:spPr>
        <p:txBody>
          <a:bodyPr>
            <a:normAutofit/>
          </a:bodyPr>
          <a:lstStyle/>
          <a:p>
            <a:r>
              <a:rPr lang="en-US"/>
              <a:t>SAN can be pooled and then allocated based on the needs of the servers; pooling requires additional software and hardware support and represents another advantage of a centralized storage system.</a:t>
            </a:r>
          </a:p>
          <a:p>
            <a:r>
              <a:rPr lang="en-US"/>
              <a:t>Parallel file systems are scalable, are capable of distributing files across a large number of nodes, and provide a global naming space. In a parallel data system, several I/O nodes serve data to all computational nodes; the system includes also a metadata server that contains information about the data stored in the I/O nodes.</a:t>
            </a:r>
          </a:p>
        </p:txBody>
      </p:sp>
      <p:pic>
        <p:nvPicPr>
          <p:cNvPr id="11" name="Picture 10">
            <a:extLst>
              <a:ext uri="{FF2B5EF4-FFF2-40B4-BE49-F238E27FC236}">
                <a16:creationId xmlns:a16="http://schemas.microsoft.com/office/drawing/2014/main" id="{9CB859F9-7D67-314C-5EA6-629C3396ECE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7444" r="6410" b="-1"/>
          <a:stretch>
            <a:fillRect/>
          </a:stretch>
        </p:blipFill>
        <p:spPr>
          <a:xfrm>
            <a:off x="12339930" y="4210629"/>
            <a:ext cx="9099057" cy="7921898"/>
          </a:xfrm>
          <a:prstGeom prst="rect">
            <a:avLst/>
          </a:prstGeom>
          <a:noFill/>
        </p:spPr>
      </p:pic>
      <p:sp>
        <p:nvSpPr>
          <p:cNvPr id="8" name="Text Placeholder 7">
            <a:extLst>
              <a:ext uri="{FF2B5EF4-FFF2-40B4-BE49-F238E27FC236}">
                <a16:creationId xmlns:a16="http://schemas.microsoft.com/office/drawing/2014/main" id="{2DF58BF7-830D-3F90-E172-0A0499705947}"/>
              </a:ext>
            </a:extLst>
          </p:cNvPr>
          <p:cNvSpPr>
            <a:spLocks noGrp="1"/>
          </p:cNvSpPr>
          <p:nvPr>
            <p:ph type="body" sz="quarter" idx="17"/>
          </p:nvPr>
        </p:nvSpPr>
        <p:spPr>
          <a:xfrm>
            <a:off x="2166938" y="4210049"/>
            <a:ext cx="9768874" cy="2039112"/>
          </a:xfrm>
        </p:spPr>
        <p:txBody>
          <a:bodyPr>
            <a:normAutofit/>
          </a:bodyPr>
          <a:lstStyle/>
          <a:p>
            <a:r>
              <a:rPr lang="en-US" sz="4100"/>
              <a:t>SANs offer additional flexibility and allow cloud servers to deal with nondisruptive changes in the storage configuration.</a:t>
            </a:r>
          </a:p>
        </p:txBody>
      </p:sp>
      <p:sp>
        <p:nvSpPr>
          <p:cNvPr id="2" name="TextBox 1">
            <a:extLst>
              <a:ext uri="{FF2B5EF4-FFF2-40B4-BE49-F238E27FC236}">
                <a16:creationId xmlns:a16="http://schemas.microsoft.com/office/drawing/2014/main" id="{A7E4407C-B06D-636B-9166-9FD45BF2FDDE}"/>
              </a:ext>
            </a:extLst>
          </p:cNvPr>
          <p:cNvSpPr txBox="1"/>
          <p:nvPr/>
        </p:nvSpPr>
        <p:spPr>
          <a:xfrm>
            <a:off x="19036085" y="11883741"/>
            <a:ext cx="2402902"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www.wisc-online.com/learn/computer-science/it-networking/itnt514/fibre-channel-storage-area-network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120361250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8978A-1F3F-9843-8E63-8AB725B34D2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9BBE505-1DCD-7E2D-BFAF-7551CAFD2E6D}"/>
              </a:ext>
            </a:extLst>
          </p:cNvPr>
          <p:cNvSpPr>
            <a:spLocks noGrp="1"/>
          </p:cNvSpPr>
          <p:nvPr>
            <p:ph type="title"/>
          </p:nvPr>
        </p:nvSpPr>
        <p:spPr>
          <a:xfrm>
            <a:off x="2167377" y="1871164"/>
            <a:ext cx="14715569" cy="511175"/>
          </a:xfrm>
        </p:spPr>
        <p:txBody>
          <a:bodyPr>
            <a:normAutofit/>
          </a:bodyPr>
          <a:lstStyle/>
          <a:p>
            <a:r>
              <a:rPr lang="en-US" sz="3200" dirty="0"/>
              <a:t>Databases</a:t>
            </a:r>
          </a:p>
        </p:txBody>
      </p:sp>
      <p:sp>
        <p:nvSpPr>
          <p:cNvPr id="16" name="Text Placeholder 2">
            <a:extLst>
              <a:ext uri="{FF2B5EF4-FFF2-40B4-BE49-F238E27FC236}">
                <a16:creationId xmlns:a16="http://schemas.microsoft.com/office/drawing/2014/main" id="{3419DC92-669F-98D3-90EB-1A29E96067C8}"/>
              </a:ext>
            </a:extLst>
          </p:cNvPr>
          <p:cNvSpPr>
            <a:spLocks noGrp="1"/>
          </p:cNvSpPr>
          <p:nvPr>
            <p:ph type="body" sz="quarter" idx="10"/>
          </p:nvPr>
        </p:nvSpPr>
        <p:spPr>
          <a:xfrm>
            <a:off x="2167377" y="2419728"/>
            <a:ext cx="9768875" cy="803546"/>
          </a:xfrm>
        </p:spPr>
        <p:txBody>
          <a:bodyPr/>
          <a:lstStyle/>
          <a:p>
            <a:endParaRPr lang="en-US"/>
          </a:p>
        </p:txBody>
      </p:sp>
      <p:sp>
        <p:nvSpPr>
          <p:cNvPr id="9" name="Text Placeholder 8">
            <a:extLst>
              <a:ext uri="{FF2B5EF4-FFF2-40B4-BE49-F238E27FC236}">
                <a16:creationId xmlns:a16="http://schemas.microsoft.com/office/drawing/2014/main" id="{77BDF6C9-68EB-79E6-E404-85599B5498BE}"/>
              </a:ext>
            </a:extLst>
          </p:cNvPr>
          <p:cNvSpPr>
            <a:spLocks noGrp="1"/>
          </p:cNvSpPr>
          <p:nvPr>
            <p:ph type="body" sz="quarter" idx="16"/>
          </p:nvPr>
        </p:nvSpPr>
        <p:spPr>
          <a:xfrm>
            <a:off x="2167377" y="6556917"/>
            <a:ext cx="9768906" cy="5575610"/>
          </a:xfrm>
        </p:spPr>
        <p:txBody>
          <a:bodyPr>
            <a:normAutofit/>
          </a:bodyPr>
          <a:lstStyle/>
          <a:p>
            <a:r>
              <a:rPr lang="en-US"/>
              <a:t>The software that controls the access to the database is called a Data Base Management System (DBMS). </a:t>
            </a:r>
          </a:p>
          <a:p>
            <a:r>
              <a:rPr lang="en-US"/>
              <a:t>The main functions of a DBMS are: enforce data integrity, manage data access and concurrency control, and support recovery after a failure.</a:t>
            </a:r>
          </a:p>
          <a:p>
            <a:r>
              <a:rPr lang="en-US"/>
              <a:t>A DBMS supports a query language, a dedicated programming language used to develop database applications.</a:t>
            </a:r>
          </a:p>
        </p:txBody>
      </p:sp>
      <p:pic>
        <p:nvPicPr>
          <p:cNvPr id="11" name="Picture 10">
            <a:extLst>
              <a:ext uri="{FF2B5EF4-FFF2-40B4-BE49-F238E27FC236}">
                <a16:creationId xmlns:a16="http://schemas.microsoft.com/office/drawing/2014/main" id="{CB302CF5-100C-DEB4-2244-DF0ABD056C9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5932" b="5932"/>
          <a:stretch/>
        </p:blipFill>
        <p:spPr>
          <a:xfrm>
            <a:off x="12339930" y="4210049"/>
            <a:ext cx="10970660" cy="6768369"/>
          </a:xfrm>
          <a:prstGeom prst="rect">
            <a:avLst/>
          </a:prstGeom>
          <a:noFill/>
        </p:spPr>
      </p:pic>
      <p:sp>
        <p:nvSpPr>
          <p:cNvPr id="8" name="Text Placeholder 7">
            <a:extLst>
              <a:ext uri="{FF2B5EF4-FFF2-40B4-BE49-F238E27FC236}">
                <a16:creationId xmlns:a16="http://schemas.microsoft.com/office/drawing/2014/main" id="{AA69CD44-7C0F-919F-C1E7-13E27048A61A}"/>
              </a:ext>
            </a:extLst>
          </p:cNvPr>
          <p:cNvSpPr>
            <a:spLocks noGrp="1"/>
          </p:cNvSpPr>
          <p:nvPr>
            <p:ph type="body" sz="quarter" idx="17"/>
          </p:nvPr>
        </p:nvSpPr>
        <p:spPr>
          <a:xfrm>
            <a:off x="2166938" y="4210049"/>
            <a:ext cx="9768874" cy="2039112"/>
          </a:xfrm>
        </p:spPr>
        <p:txBody>
          <a:bodyPr>
            <a:normAutofit/>
          </a:bodyPr>
          <a:lstStyle/>
          <a:p>
            <a:r>
              <a:rPr lang="en-US" dirty="0"/>
              <a:t>A database is a collection of logically related records</a:t>
            </a:r>
          </a:p>
        </p:txBody>
      </p:sp>
      <p:sp>
        <p:nvSpPr>
          <p:cNvPr id="2" name="TextBox 1">
            <a:extLst>
              <a:ext uri="{FF2B5EF4-FFF2-40B4-BE49-F238E27FC236}">
                <a16:creationId xmlns:a16="http://schemas.microsoft.com/office/drawing/2014/main" id="{C04B4B58-2332-B831-2C35-1C39D9C21863}"/>
              </a:ext>
            </a:extLst>
          </p:cNvPr>
          <p:cNvSpPr txBox="1"/>
          <p:nvPr/>
        </p:nvSpPr>
        <p:spPr>
          <a:xfrm>
            <a:off x="18901434" y="10729632"/>
            <a:ext cx="2537553"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tackoverflow.com/questions/37159201/which-one-is-er-diagram">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399414678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Distributed File Systems</a:t>
            </a:r>
          </a:p>
        </p:txBody>
      </p:sp>
    </p:spTree>
    <p:extLst>
      <p:ext uri="{BB962C8B-B14F-4D97-AF65-F5344CB8AC3E}">
        <p14:creationId xmlns:p14="http://schemas.microsoft.com/office/powerpoint/2010/main" val="121542066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Network File System (NFS)</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the development of this application based on the client-server model was motivated by the need to share a file system among a number of clients interconnected by a local area network.</a:t>
            </a:r>
          </a:p>
          <a:p>
            <a:r>
              <a:rPr lang="en-US" dirty="0"/>
              <a:t>A majority of workstations were running under UNIX; thus, many design decisions for the NFS were influenced by the design philosophy of the UNIX File System (UFS).</a:t>
            </a:r>
          </a:p>
        </p:txBody>
      </p:sp>
      <p:pic>
        <p:nvPicPr>
          <p:cNvPr id="8" name="Picture Placeholder 7">
            <a:extLst>
              <a:ext uri="{FF2B5EF4-FFF2-40B4-BE49-F238E27FC236}">
                <a16:creationId xmlns:a16="http://schemas.microsoft.com/office/drawing/2014/main" id="{46B0B7D3-5506-E60C-B6DB-B4A033707DE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05" r="2329"/>
          <a:stretch>
            <a:fillRect/>
          </a:stretch>
        </p:blipFill>
        <p:spPr>
          <a:xfrm>
            <a:off x="11936283" y="3534732"/>
            <a:ext cx="12295317" cy="7944652"/>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dirty="0"/>
              <a:t>NFS was the first widely used distributed file system</a:t>
            </a:r>
          </a:p>
        </p:txBody>
      </p:sp>
    </p:spTree>
    <p:extLst>
      <p:ext uri="{BB962C8B-B14F-4D97-AF65-F5344CB8AC3E}">
        <p14:creationId xmlns:p14="http://schemas.microsoft.com/office/powerpoint/2010/main" val="414131878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BBBC-CF0A-A2C8-D8A2-3EE83FB6A1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5A79D-1E81-2B27-70ED-37043133D869}"/>
              </a:ext>
            </a:extLst>
          </p:cNvPr>
          <p:cNvSpPr>
            <a:spLocks noGrp="1"/>
          </p:cNvSpPr>
          <p:nvPr>
            <p:ph type="title"/>
          </p:nvPr>
        </p:nvSpPr>
        <p:spPr>
          <a:xfrm>
            <a:off x="2167377" y="1871164"/>
            <a:ext cx="14715569" cy="511175"/>
          </a:xfrm>
        </p:spPr>
        <p:txBody>
          <a:bodyPr>
            <a:normAutofit/>
          </a:bodyPr>
          <a:lstStyle/>
          <a:p>
            <a:r>
              <a:rPr lang="en-US" sz="3200" dirty="0"/>
              <a:t>Network File System (NFS)</a:t>
            </a:r>
          </a:p>
        </p:txBody>
      </p:sp>
      <p:sp>
        <p:nvSpPr>
          <p:cNvPr id="13" name="Text Placeholder 2">
            <a:extLst>
              <a:ext uri="{FF2B5EF4-FFF2-40B4-BE49-F238E27FC236}">
                <a16:creationId xmlns:a16="http://schemas.microsoft.com/office/drawing/2014/main" id="{4C92EDDB-A317-AB15-D667-3127E99D2FBD}"/>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C4BFBDE3-737F-FD43-A2DB-A5F8B60FE0A9}"/>
              </a:ext>
            </a:extLst>
          </p:cNvPr>
          <p:cNvSpPr>
            <a:spLocks noGrp="1"/>
          </p:cNvSpPr>
          <p:nvPr>
            <p:ph type="body" sz="quarter" idx="16"/>
          </p:nvPr>
        </p:nvSpPr>
        <p:spPr>
          <a:xfrm>
            <a:off x="2167377" y="6556917"/>
            <a:ext cx="9768906" cy="5575610"/>
          </a:xfrm>
        </p:spPr>
        <p:txBody>
          <a:bodyPr/>
          <a:lstStyle/>
          <a:p>
            <a:r>
              <a:rPr lang="en-US" dirty="0"/>
              <a:t>provide the same semantics as a local UFS to ensure compatibility with existing applications and facilitate easy integration into existing UFS; </a:t>
            </a:r>
          </a:p>
          <a:p>
            <a:r>
              <a:rPr lang="en-US" dirty="0"/>
              <a:t>ensure that the system will be widely used, thus support clients running on different operating systems; and </a:t>
            </a:r>
          </a:p>
          <a:p>
            <a:r>
              <a:rPr lang="en-US" dirty="0"/>
              <a:t>accept a modest performance degradation due to remote access over a network with a bandwidth of several Mbps.</a:t>
            </a:r>
          </a:p>
        </p:txBody>
      </p:sp>
      <p:pic>
        <p:nvPicPr>
          <p:cNvPr id="8" name="Picture Placeholder 7">
            <a:extLst>
              <a:ext uri="{FF2B5EF4-FFF2-40B4-BE49-F238E27FC236}">
                <a16:creationId xmlns:a16="http://schemas.microsoft.com/office/drawing/2014/main" id="{AA10894E-385A-07CF-2190-EB673A44C2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05" r="2329"/>
          <a:stretch>
            <a:fillRect/>
          </a:stretch>
        </p:blipFill>
        <p:spPr>
          <a:xfrm>
            <a:off x="11936283" y="3534732"/>
            <a:ext cx="12295317" cy="7944652"/>
          </a:xfrm>
          <a:prstGeom prst="rect">
            <a:avLst/>
          </a:prstGeom>
          <a:noFill/>
        </p:spPr>
      </p:pic>
      <p:sp>
        <p:nvSpPr>
          <p:cNvPr id="17" name="Text Placeholder 5">
            <a:extLst>
              <a:ext uri="{FF2B5EF4-FFF2-40B4-BE49-F238E27FC236}">
                <a16:creationId xmlns:a16="http://schemas.microsoft.com/office/drawing/2014/main" id="{668B5F5B-8EC1-24B8-AFE1-D3DBC4AAF954}"/>
              </a:ext>
            </a:extLst>
          </p:cNvPr>
          <p:cNvSpPr>
            <a:spLocks noGrp="1"/>
          </p:cNvSpPr>
          <p:nvPr>
            <p:ph type="body" sz="quarter" idx="17"/>
          </p:nvPr>
        </p:nvSpPr>
        <p:spPr>
          <a:xfrm>
            <a:off x="2166938" y="4210049"/>
            <a:ext cx="9768874" cy="2039112"/>
          </a:xfrm>
        </p:spPr>
        <p:txBody>
          <a:bodyPr>
            <a:normAutofit/>
          </a:bodyPr>
          <a:lstStyle/>
          <a:p>
            <a:r>
              <a:rPr lang="en-US" dirty="0"/>
              <a:t>Purpose of NSF</a:t>
            </a:r>
          </a:p>
        </p:txBody>
      </p:sp>
    </p:spTree>
    <p:extLst>
      <p:ext uri="{BB962C8B-B14F-4D97-AF65-F5344CB8AC3E}">
        <p14:creationId xmlns:p14="http://schemas.microsoft.com/office/powerpoint/2010/main" val="217284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8371-30D4-6994-2A65-F7EC372696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A99804-E377-83A4-9EB4-B8786DE7324A}"/>
              </a:ext>
            </a:extLst>
          </p:cNvPr>
          <p:cNvSpPr>
            <a:spLocks noGrp="1"/>
          </p:cNvSpPr>
          <p:nvPr>
            <p:ph type="title"/>
          </p:nvPr>
        </p:nvSpPr>
        <p:spPr>
          <a:xfrm>
            <a:off x="2167377" y="1871164"/>
            <a:ext cx="14715569" cy="511175"/>
          </a:xfrm>
        </p:spPr>
        <p:txBody>
          <a:bodyPr>
            <a:normAutofit/>
          </a:bodyPr>
          <a:lstStyle/>
          <a:p>
            <a:r>
              <a:rPr lang="en-US" sz="3200" dirty="0"/>
              <a:t>Unix File system</a:t>
            </a:r>
          </a:p>
        </p:txBody>
      </p:sp>
      <p:sp>
        <p:nvSpPr>
          <p:cNvPr id="13" name="Text Placeholder 2">
            <a:extLst>
              <a:ext uri="{FF2B5EF4-FFF2-40B4-BE49-F238E27FC236}">
                <a16:creationId xmlns:a16="http://schemas.microsoft.com/office/drawing/2014/main" id="{B5428E96-2F6A-8CE2-9210-AC8BD337ACF1}"/>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67BEBF13-CD54-F863-57B7-BC829F85A3FC}"/>
              </a:ext>
            </a:extLst>
          </p:cNvPr>
          <p:cNvSpPr>
            <a:spLocks noGrp="1"/>
          </p:cNvSpPr>
          <p:nvPr>
            <p:ph type="body" sz="quarter" idx="16"/>
          </p:nvPr>
        </p:nvSpPr>
        <p:spPr>
          <a:xfrm>
            <a:off x="2167377" y="6556917"/>
            <a:ext cx="9768906" cy="5575610"/>
          </a:xfrm>
        </p:spPr>
        <p:txBody>
          <a:bodyPr/>
          <a:lstStyle/>
          <a:p>
            <a:pPr fontAlgn="base"/>
            <a:r>
              <a:rPr lang="en-US" dirty="0"/>
              <a:t>A file is the smallest unit in which the information is stored. Unix file system has several important features. All data in Unix is organized into files. All files are organized into directories.</a:t>
            </a:r>
          </a:p>
          <a:p>
            <a:pPr fontAlgn="base"/>
            <a:r>
              <a:rPr lang="en-US" dirty="0"/>
              <a:t>Files in Unix System are organized into multi-level hierarchy structure known as a directory tree.</a:t>
            </a:r>
          </a:p>
          <a:p>
            <a:pPr fontAlgn="base"/>
            <a:r>
              <a:rPr lang="en-US" dirty="0"/>
              <a:t>At the very top of the file system is a directory called "root" which is represented by a "/". All other files are "descendants" of root. </a:t>
            </a:r>
          </a:p>
          <a:p>
            <a:pPr fontAlgn="base"/>
            <a:r>
              <a:rPr lang="en-US" dirty="0"/>
              <a:t>Unix file system also uses a set of permissions to control access to files and directories.</a:t>
            </a:r>
          </a:p>
        </p:txBody>
      </p:sp>
      <p:pic>
        <p:nvPicPr>
          <p:cNvPr id="8" name="Picture Placeholder 7">
            <a:extLst>
              <a:ext uri="{FF2B5EF4-FFF2-40B4-BE49-F238E27FC236}">
                <a16:creationId xmlns:a16="http://schemas.microsoft.com/office/drawing/2014/main" id="{BEF94F7F-0ABD-4885-D0E7-57B090A7126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4301" b="4566"/>
          <a:stretch>
            <a:fillRect/>
          </a:stretch>
        </p:blipFill>
        <p:spPr>
          <a:xfrm>
            <a:off x="11967012" y="4552121"/>
            <a:ext cx="12020040" cy="5148469"/>
          </a:xfrm>
          <a:prstGeom prst="rect">
            <a:avLst/>
          </a:prstGeom>
          <a:noFill/>
        </p:spPr>
      </p:pic>
      <p:sp>
        <p:nvSpPr>
          <p:cNvPr id="17" name="Text Placeholder 5">
            <a:extLst>
              <a:ext uri="{FF2B5EF4-FFF2-40B4-BE49-F238E27FC236}">
                <a16:creationId xmlns:a16="http://schemas.microsoft.com/office/drawing/2014/main" id="{81B2BF96-97B0-CC10-8121-514BCAD62971}"/>
              </a:ext>
            </a:extLst>
          </p:cNvPr>
          <p:cNvSpPr>
            <a:spLocks noGrp="1"/>
          </p:cNvSpPr>
          <p:nvPr>
            <p:ph type="body" sz="quarter" idx="17"/>
          </p:nvPr>
        </p:nvSpPr>
        <p:spPr>
          <a:xfrm>
            <a:off x="2166938" y="4210049"/>
            <a:ext cx="9768874" cy="2039112"/>
          </a:xfrm>
        </p:spPr>
        <p:txBody>
          <a:bodyPr>
            <a:normAutofit fontScale="92500"/>
          </a:bodyPr>
          <a:lstStyle/>
          <a:p>
            <a:r>
              <a:rPr lang="en-US" dirty="0"/>
              <a:t>UFS is a logical method of organizing and storing large amounts of information in a way that makes it easy to manage.</a:t>
            </a:r>
          </a:p>
        </p:txBody>
      </p:sp>
    </p:spTree>
    <p:extLst>
      <p:ext uri="{BB962C8B-B14F-4D97-AF65-F5344CB8AC3E}">
        <p14:creationId xmlns:p14="http://schemas.microsoft.com/office/powerpoint/2010/main" val="61156369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FD87C-5817-C405-7F3A-FE159E44E6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DD7CF6-2E3C-2D65-11C6-AE0083096452}"/>
              </a:ext>
            </a:extLst>
          </p:cNvPr>
          <p:cNvSpPr>
            <a:spLocks noGrp="1"/>
          </p:cNvSpPr>
          <p:nvPr>
            <p:ph type="title"/>
          </p:nvPr>
        </p:nvSpPr>
        <p:spPr>
          <a:xfrm>
            <a:off x="2167377" y="1871164"/>
            <a:ext cx="14715569" cy="511175"/>
          </a:xfrm>
        </p:spPr>
        <p:txBody>
          <a:bodyPr>
            <a:normAutofit/>
          </a:bodyPr>
          <a:lstStyle/>
          <a:p>
            <a:r>
              <a:rPr lang="en-US" sz="3200" dirty="0"/>
              <a:t>Andrew File System (AFS)</a:t>
            </a:r>
          </a:p>
        </p:txBody>
      </p:sp>
      <p:sp>
        <p:nvSpPr>
          <p:cNvPr id="2" name="TextBox 6">
            <a:extLst>
              <a:ext uri="{FF2B5EF4-FFF2-40B4-BE49-F238E27FC236}">
                <a16:creationId xmlns:a16="http://schemas.microsoft.com/office/drawing/2014/main" id="{2F6D0691-8F9C-1221-E64D-8E81640CE5FB}"/>
              </a:ext>
            </a:extLst>
          </p:cNvPr>
          <p:cNvSpPr txBox="1"/>
          <p:nvPr/>
        </p:nvSpPr>
        <p:spPr>
          <a:xfrm>
            <a:off x="2167377" y="2419728"/>
            <a:ext cx="9768875" cy="803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rtlCol="0">
            <a:normAutofit/>
          </a:bodyPr>
          <a:lstStyle>
            <a:defPPr>
              <a:defRPr lang="en-US"/>
            </a:defPPr>
            <a:lvl1pPr algn="l" rtl="0" fontAlgn="base">
              <a:spcBef>
                <a:spcPct val="0"/>
              </a:spcBef>
              <a:spcAft>
                <a:spcPct val="0"/>
              </a:spcAft>
              <a:defRPr sz="1200" kern="1200">
                <a:solidFill>
                  <a:schemeClr val="tx1"/>
                </a:solidFill>
                <a:latin typeface="Arial" pitchFamily="34" charset="0"/>
                <a:ea typeface="+mn-ea"/>
                <a:cs typeface="+mn-cs"/>
              </a:defRPr>
            </a:lvl1pPr>
            <a:lvl2pPr marL="457200" algn="l" rtl="0" fontAlgn="base">
              <a:spcBef>
                <a:spcPct val="0"/>
              </a:spcBef>
              <a:spcAft>
                <a:spcPct val="0"/>
              </a:spcAft>
              <a:defRPr sz="1200" kern="1200">
                <a:solidFill>
                  <a:schemeClr val="tx1"/>
                </a:solidFill>
                <a:latin typeface="Arial" pitchFamily="34" charset="0"/>
                <a:ea typeface="+mn-ea"/>
                <a:cs typeface="+mn-cs"/>
              </a:defRPr>
            </a:lvl2pPr>
            <a:lvl3pPr marL="914400" algn="l" rtl="0" fontAlgn="base">
              <a:spcBef>
                <a:spcPct val="0"/>
              </a:spcBef>
              <a:spcAft>
                <a:spcPct val="0"/>
              </a:spcAft>
              <a:defRPr sz="1200" kern="1200">
                <a:solidFill>
                  <a:schemeClr val="tx1"/>
                </a:solidFill>
                <a:latin typeface="Arial" pitchFamily="34" charset="0"/>
                <a:ea typeface="+mn-ea"/>
                <a:cs typeface="+mn-cs"/>
              </a:defRPr>
            </a:lvl3pPr>
            <a:lvl4pPr marL="1371600" algn="l" rtl="0" fontAlgn="base">
              <a:spcBef>
                <a:spcPct val="0"/>
              </a:spcBef>
              <a:spcAft>
                <a:spcPct val="0"/>
              </a:spcAft>
              <a:defRPr sz="1200" kern="1200">
                <a:solidFill>
                  <a:schemeClr val="tx1"/>
                </a:solidFill>
                <a:latin typeface="Arial" pitchFamily="34" charset="0"/>
                <a:ea typeface="+mn-ea"/>
                <a:cs typeface="+mn-cs"/>
              </a:defRPr>
            </a:lvl4pPr>
            <a:lvl5pPr marL="1828800" algn="l" rtl="0" fontAlgn="base">
              <a:spcBef>
                <a:spcPct val="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Arial" pitchFamily="34" charset="0"/>
                <a:ea typeface="+mn-ea"/>
                <a:cs typeface="+mn-cs"/>
              </a:defRPr>
            </a:lvl6pPr>
            <a:lvl7pPr marL="2743200" algn="l" defTabSz="914400" rtl="0" eaLnBrk="1" latinLnBrk="0" hangingPunct="1">
              <a:defRPr sz="1200" kern="1200">
                <a:solidFill>
                  <a:schemeClr val="tx1"/>
                </a:solidFill>
                <a:latin typeface="Arial" pitchFamily="34" charset="0"/>
                <a:ea typeface="+mn-ea"/>
                <a:cs typeface="+mn-cs"/>
              </a:defRPr>
            </a:lvl7pPr>
            <a:lvl8pPr marL="3200400" algn="l" defTabSz="914400" rtl="0" eaLnBrk="1" latinLnBrk="0" hangingPunct="1">
              <a:defRPr sz="1200" kern="1200">
                <a:solidFill>
                  <a:schemeClr val="tx1"/>
                </a:solidFill>
                <a:latin typeface="Arial" pitchFamily="34" charset="0"/>
                <a:ea typeface="+mn-ea"/>
                <a:cs typeface="+mn-cs"/>
              </a:defRPr>
            </a:lvl8pPr>
            <a:lvl9pPr marL="3657600" algn="l" defTabSz="914400" rtl="0" eaLnBrk="1" latinLnBrk="0" hangingPunct="1">
              <a:defRPr sz="1200" kern="1200">
                <a:solidFill>
                  <a:schemeClr val="tx1"/>
                </a:solidFill>
                <a:latin typeface="Arial" pitchFamily="34" charset="0"/>
                <a:ea typeface="+mn-ea"/>
                <a:cs typeface="+mn-cs"/>
              </a:defRPr>
            </a:lvl9pPr>
          </a:lstStyle>
          <a:p>
            <a:pPr hangingPunct="1">
              <a:spcBef>
                <a:spcPts val="4500"/>
              </a:spcBef>
              <a:spcAft>
                <a:spcPts val="0"/>
              </a:spcAft>
              <a:buSzPct val="123000"/>
            </a:pPr>
            <a:endParaRPr kumimoji="0" lang="en-US" sz="3200" b="1" i="0" u="none" strike="noStrike" cap="all" spc="0" normalizeH="0" baseline="0" dirty="0">
              <a:ln>
                <a:noFill/>
              </a:ln>
              <a:solidFill>
                <a:schemeClr val="bg1"/>
              </a:solidFill>
              <a:effectLst/>
              <a:uFill>
                <a:solidFill>
                  <a:srgbClr val="143E56"/>
                </a:solidFill>
              </a:uFill>
            </a:endParaRPr>
          </a:p>
        </p:txBody>
      </p:sp>
      <p:sp>
        <p:nvSpPr>
          <p:cNvPr id="15" name="Text Placeholder 3">
            <a:extLst>
              <a:ext uri="{FF2B5EF4-FFF2-40B4-BE49-F238E27FC236}">
                <a16:creationId xmlns:a16="http://schemas.microsoft.com/office/drawing/2014/main" id="{735E2885-0C18-B9F4-308F-24E8DD4776C2}"/>
              </a:ext>
            </a:extLst>
          </p:cNvPr>
          <p:cNvSpPr>
            <a:spLocks noGrp="1"/>
          </p:cNvSpPr>
          <p:nvPr>
            <p:ph type="body" sz="quarter" idx="16"/>
          </p:nvPr>
        </p:nvSpPr>
        <p:spPr>
          <a:xfrm>
            <a:off x="2167377" y="6556917"/>
            <a:ext cx="9768906" cy="5575610"/>
          </a:xfrm>
        </p:spPr>
        <p:txBody>
          <a:bodyPr>
            <a:normAutofit/>
          </a:bodyPr>
          <a:lstStyle/>
          <a:p>
            <a:r>
              <a:rPr lang="en-US" dirty="0"/>
              <a:t>System designers envisioned a very large number of workstations interconnected with a relatively small number of servers. It was anticipated that each individual at CMU would have an Andrew workstation, thus the system would connect up to 10000 workstations.</a:t>
            </a:r>
          </a:p>
          <a:p>
            <a:r>
              <a:rPr lang="en-US" dirty="0"/>
              <a:t>The set of trusted servers in AFS form a structure called Vice. The workstation OS, 4.2BSD UNIX, intercepts file system calls and forwards them to a user-level process called Venus which caches files from Vice and stores modified copies of files back on the servers they came from. </a:t>
            </a:r>
          </a:p>
          <a:p>
            <a:endParaRPr lang="en-US" dirty="0"/>
          </a:p>
        </p:txBody>
      </p:sp>
      <p:pic>
        <p:nvPicPr>
          <p:cNvPr id="6" name="Picture Placeholder 5">
            <a:extLst>
              <a:ext uri="{FF2B5EF4-FFF2-40B4-BE49-F238E27FC236}">
                <a16:creationId xmlns:a16="http://schemas.microsoft.com/office/drawing/2014/main" id="{B50C0D9E-B698-FDAE-E834-6BE17868A3F6}"/>
              </a:ext>
            </a:extLst>
          </p:cNvPr>
          <p:cNvPicPr>
            <a:picLocks noGrp="1" noChangeAspect="1"/>
          </p:cNvPicPr>
          <p:nvPr>
            <p:ph type="pic" sz="quarter" idx="13"/>
          </p:nvPr>
        </p:nvPicPr>
        <p:blipFill>
          <a:blip r:embed="rId3"/>
          <a:srcRect l="5843" r="8011" b="-1"/>
          <a:stretch>
            <a:fillRect/>
          </a:stretch>
        </p:blipFill>
        <p:spPr>
          <a:xfrm>
            <a:off x="12339930" y="4210629"/>
            <a:ext cx="9099057" cy="7921898"/>
          </a:xfrm>
          <a:prstGeom prst="rect">
            <a:avLst/>
          </a:prstGeom>
          <a:noFill/>
        </p:spPr>
      </p:pic>
      <p:sp>
        <p:nvSpPr>
          <p:cNvPr id="17" name="Text Placeholder 5">
            <a:extLst>
              <a:ext uri="{FF2B5EF4-FFF2-40B4-BE49-F238E27FC236}">
                <a16:creationId xmlns:a16="http://schemas.microsoft.com/office/drawing/2014/main" id="{0025527C-B6E7-4FDE-B958-7BC910AA2121}"/>
              </a:ext>
            </a:extLst>
          </p:cNvPr>
          <p:cNvSpPr>
            <a:spLocks noGrp="1"/>
          </p:cNvSpPr>
          <p:nvPr>
            <p:ph type="body" sz="quarter" idx="17"/>
          </p:nvPr>
        </p:nvSpPr>
        <p:spPr>
          <a:xfrm>
            <a:off x="2166938" y="4210049"/>
            <a:ext cx="9768874" cy="2039112"/>
          </a:xfrm>
        </p:spPr>
        <p:txBody>
          <a:bodyPr>
            <a:normAutofit/>
          </a:bodyPr>
          <a:lstStyle/>
          <a:p>
            <a:r>
              <a:rPr lang="en-US" sz="4100"/>
              <a:t>AFS is a distributed file system developed in the late 1980s at Carnegie Mellon University in collaboration with IBM.</a:t>
            </a:r>
          </a:p>
        </p:txBody>
      </p:sp>
    </p:spTree>
    <p:extLst>
      <p:ext uri="{BB962C8B-B14F-4D97-AF65-F5344CB8AC3E}">
        <p14:creationId xmlns:p14="http://schemas.microsoft.com/office/powerpoint/2010/main" val="400265774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5C0BE-2303-C5AB-9D40-B21F1BC42EE4}"/>
              </a:ext>
            </a:extLst>
          </p:cNvPr>
          <p:cNvSpPr>
            <a:spLocks noGrp="1"/>
          </p:cNvSpPr>
          <p:nvPr>
            <p:ph type="title"/>
          </p:nvPr>
        </p:nvSpPr>
        <p:spPr/>
        <p:txBody>
          <a:bodyPr>
            <a:normAutofit fontScale="90000"/>
          </a:bodyPr>
          <a:lstStyle/>
          <a:p>
            <a:r>
              <a:rPr lang="en-US" dirty="0"/>
              <a:t>Comparison of several network file system</a:t>
            </a:r>
          </a:p>
        </p:txBody>
      </p:sp>
      <p:sp>
        <p:nvSpPr>
          <p:cNvPr id="3" name="Text Placeholder 2">
            <a:extLst>
              <a:ext uri="{FF2B5EF4-FFF2-40B4-BE49-F238E27FC236}">
                <a16:creationId xmlns:a16="http://schemas.microsoft.com/office/drawing/2014/main" id="{4FDFF105-9E7E-C8C8-1955-5EE9DA915DB1}"/>
              </a:ext>
            </a:extLst>
          </p:cNvPr>
          <p:cNvSpPr>
            <a:spLocks noGrp="1"/>
          </p:cNvSpPr>
          <p:nvPr>
            <p:ph type="body" sz="quarter" idx="10"/>
          </p:nvPr>
        </p:nvSpPr>
        <p:spPr/>
        <p:txBody>
          <a:bodyPr/>
          <a:lstStyle/>
          <a:p>
            <a:endParaRPr lang="en-US"/>
          </a:p>
        </p:txBody>
      </p:sp>
      <p:pic>
        <p:nvPicPr>
          <p:cNvPr id="5" name="Content Placeholder 4">
            <a:extLst>
              <a:ext uri="{FF2B5EF4-FFF2-40B4-BE49-F238E27FC236}">
                <a16:creationId xmlns:a16="http://schemas.microsoft.com/office/drawing/2014/main" id="{866ED2C2-7354-1448-9871-B4930C76719D}"/>
              </a:ext>
            </a:extLst>
          </p:cNvPr>
          <p:cNvPicPr>
            <a:picLocks noGrp="1" noChangeAspect="1"/>
          </p:cNvPicPr>
          <p:nvPr>
            <p:ph sz="quarter" idx="11"/>
          </p:nvPr>
        </p:nvPicPr>
        <p:blipFill>
          <a:blip r:embed="rId2"/>
          <a:stretch>
            <a:fillRect/>
          </a:stretch>
        </p:blipFill>
        <p:spPr>
          <a:xfrm>
            <a:off x="5003127" y="3965218"/>
            <a:ext cx="14377746" cy="7586654"/>
          </a:xfrm>
          <a:prstGeom prst="rect">
            <a:avLst/>
          </a:prstGeom>
        </p:spPr>
      </p:pic>
    </p:spTree>
    <p:extLst>
      <p:ext uri="{BB962C8B-B14F-4D97-AF65-F5344CB8AC3E}">
        <p14:creationId xmlns:p14="http://schemas.microsoft.com/office/powerpoint/2010/main" val="260457463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err="1"/>
              <a:t>noSQL</a:t>
            </a:r>
            <a:r>
              <a:rPr lang="en-US" dirty="0"/>
              <a:t> database</a:t>
            </a:r>
          </a:p>
        </p:txBody>
      </p:sp>
    </p:spTree>
    <p:extLst>
      <p:ext uri="{BB962C8B-B14F-4D97-AF65-F5344CB8AC3E}">
        <p14:creationId xmlns:p14="http://schemas.microsoft.com/office/powerpoint/2010/main" val="275335500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err="1"/>
              <a:t>Nosql</a:t>
            </a:r>
            <a:r>
              <a:rPr lang="en-US" dirty="0"/>
              <a:t> database</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r>
              <a:rPr lang="en-US" dirty="0"/>
              <a:t>NoSQL databases differ from each other, run well on large clusters, and are open source. </a:t>
            </a:r>
          </a:p>
          <a:p>
            <a:r>
              <a:rPr lang="en-US" dirty="0"/>
              <a:t>NoSQL schema is defined implicitly by the way application code utilizes the database. </a:t>
            </a:r>
          </a:p>
          <a:p>
            <a:r>
              <a:rPr lang="en-US" dirty="0"/>
              <a:t>NoSQL does not reflect an advance in storing technology, rather a response to practical needs to efficiently access very large datasets stored on large computer clusters.</a:t>
            </a:r>
          </a:p>
        </p:txBody>
      </p:sp>
      <p:pic>
        <p:nvPicPr>
          <p:cNvPr id="5" name="Content Placeholder 5">
            <a:extLst>
              <a:ext uri="{FF2B5EF4-FFF2-40B4-BE49-F238E27FC236}">
                <a16:creationId xmlns:a16="http://schemas.microsoft.com/office/drawing/2014/main" id="{66C5D403-BBB5-602A-5C43-6790BBAD9EC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85" r="185"/>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a:bodyPr>
          <a:lstStyle/>
          <a:p>
            <a:r>
              <a:rPr lang="en-US" dirty="0"/>
              <a:t>NoSQL  refers to a set of databases developed in late 1990s that do not rely on the relational model. </a:t>
            </a:r>
          </a:p>
        </p:txBody>
      </p:sp>
    </p:spTree>
    <p:extLst>
      <p:ext uri="{BB962C8B-B14F-4D97-AF65-F5344CB8AC3E}">
        <p14:creationId xmlns:p14="http://schemas.microsoft.com/office/powerpoint/2010/main" val="249847757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54AF-8B2D-30B1-3B0B-40EF72CD6B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72E4012-450F-FB44-3559-097E7AD7A5A7}"/>
              </a:ext>
            </a:extLst>
          </p:cNvPr>
          <p:cNvSpPr>
            <a:spLocks noGrp="1"/>
          </p:cNvSpPr>
          <p:nvPr>
            <p:ph type="title"/>
          </p:nvPr>
        </p:nvSpPr>
        <p:spPr>
          <a:xfrm>
            <a:off x="2167377" y="1871164"/>
            <a:ext cx="14715569" cy="511175"/>
          </a:xfrm>
        </p:spPr>
        <p:txBody>
          <a:bodyPr>
            <a:normAutofit fontScale="90000"/>
          </a:bodyPr>
          <a:lstStyle/>
          <a:p>
            <a:r>
              <a:rPr lang="en-US" dirty="0"/>
              <a:t>NoSQL Distribution Models</a:t>
            </a:r>
          </a:p>
        </p:txBody>
      </p:sp>
      <p:sp>
        <p:nvSpPr>
          <p:cNvPr id="16" name="Text Placeholder 2">
            <a:extLst>
              <a:ext uri="{FF2B5EF4-FFF2-40B4-BE49-F238E27FC236}">
                <a16:creationId xmlns:a16="http://schemas.microsoft.com/office/drawing/2014/main" id="{1B2F4148-56DC-833E-3AFF-1A8FA4800BF9}"/>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4AE237D6-FB17-0278-65E3-8488DF269029}"/>
              </a:ext>
            </a:extLst>
          </p:cNvPr>
          <p:cNvSpPr>
            <a:spLocks noGrp="1"/>
          </p:cNvSpPr>
          <p:nvPr>
            <p:ph type="body" sz="quarter" idx="16"/>
          </p:nvPr>
        </p:nvSpPr>
        <p:spPr>
          <a:xfrm>
            <a:off x="2167377" y="6556917"/>
            <a:ext cx="9768906" cy="5575610"/>
          </a:xfrm>
        </p:spPr>
        <p:txBody>
          <a:bodyPr/>
          <a:lstStyle/>
          <a:p>
            <a:pPr algn="just"/>
            <a:r>
              <a:rPr lang="en-US" dirty="0"/>
              <a:t>of the relational model in favor of more complex data structures allowing lists and other record structures to be nested. The aggregate structures are naturally replicated and sharded; storing relevant data on the same storage server minimizes the number of servers accessed to respond to a query. The </a:t>
            </a:r>
            <a:r>
              <a:rPr lang="en-US" dirty="0" err="1"/>
              <a:t>NoSQSL</a:t>
            </a:r>
            <a:r>
              <a:rPr lang="en-US" dirty="0"/>
              <a:t> distribution models are: </a:t>
            </a:r>
          </a:p>
          <a:p>
            <a:pPr marL="514350" indent="-514350" algn="just">
              <a:buAutoNum type="romanLcParenBoth"/>
            </a:pPr>
            <a:r>
              <a:rPr lang="en-US" dirty="0"/>
              <a:t>sharding; </a:t>
            </a:r>
          </a:p>
          <a:p>
            <a:pPr marL="514350" indent="-514350" algn="just">
              <a:buAutoNum type="romanLcParenBoth"/>
            </a:pPr>
            <a:r>
              <a:rPr lang="en-US" dirty="0"/>
              <a:t>master–slave replication; and </a:t>
            </a:r>
          </a:p>
          <a:p>
            <a:pPr marL="514350" indent="-514350" algn="just">
              <a:buAutoNum type="romanLcParenBoth"/>
            </a:pPr>
            <a:r>
              <a:rPr lang="en-US" dirty="0"/>
              <a:t>peer-to-peer (P2P) replication</a:t>
            </a:r>
          </a:p>
        </p:txBody>
      </p:sp>
      <p:pic>
        <p:nvPicPr>
          <p:cNvPr id="5" name="Content Placeholder 5">
            <a:extLst>
              <a:ext uri="{FF2B5EF4-FFF2-40B4-BE49-F238E27FC236}">
                <a16:creationId xmlns:a16="http://schemas.microsoft.com/office/drawing/2014/main" id="{AF105630-C700-3FB5-6260-44901A89673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 r="18"/>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64B10EC7-EC7D-FF75-17D0-120A0C8845D7}"/>
              </a:ext>
            </a:extLst>
          </p:cNvPr>
          <p:cNvSpPr>
            <a:spLocks noGrp="1"/>
          </p:cNvSpPr>
          <p:nvPr>
            <p:ph type="body" sz="quarter" idx="17"/>
          </p:nvPr>
        </p:nvSpPr>
        <p:spPr>
          <a:xfrm>
            <a:off x="2166938" y="4210049"/>
            <a:ext cx="9768874" cy="2039112"/>
          </a:xfrm>
        </p:spPr>
        <p:txBody>
          <a:bodyPr>
            <a:normAutofit/>
          </a:bodyPr>
          <a:lstStyle/>
          <a:p>
            <a:pPr algn="just"/>
            <a:r>
              <a:rPr lang="en-US" dirty="0"/>
              <a:t>The distribution model is based on an aggregate data model that eliminates the relations and transactions</a:t>
            </a:r>
          </a:p>
        </p:txBody>
      </p:sp>
    </p:spTree>
    <p:extLst>
      <p:ext uri="{BB962C8B-B14F-4D97-AF65-F5344CB8AC3E}">
        <p14:creationId xmlns:p14="http://schemas.microsoft.com/office/powerpoint/2010/main" val="370091777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13FA-3F41-1D8A-E48A-AC323AE9998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DC44C4BC-0EC4-48B7-E8E7-658F6F346DAB}"/>
              </a:ext>
            </a:extLst>
          </p:cNvPr>
          <p:cNvSpPr>
            <a:spLocks noGrp="1"/>
          </p:cNvSpPr>
          <p:nvPr>
            <p:ph type="title"/>
          </p:nvPr>
        </p:nvSpPr>
        <p:spPr/>
        <p:txBody>
          <a:bodyPr>
            <a:normAutofit/>
          </a:bodyPr>
          <a:lstStyle/>
          <a:p>
            <a:r>
              <a:rPr lang="en-US" sz="3200" dirty="0"/>
              <a:t>NoSQL Database Types</a:t>
            </a:r>
          </a:p>
        </p:txBody>
      </p:sp>
      <p:sp>
        <p:nvSpPr>
          <p:cNvPr id="20" name="Text Placeholder 5">
            <a:extLst>
              <a:ext uri="{FF2B5EF4-FFF2-40B4-BE49-F238E27FC236}">
                <a16:creationId xmlns:a16="http://schemas.microsoft.com/office/drawing/2014/main" id="{1CAFDA1E-E1A8-DA6E-A5A7-92FA08C83C1B}"/>
              </a:ext>
            </a:extLst>
          </p:cNvPr>
          <p:cNvSpPr>
            <a:spLocks noGrp="1"/>
          </p:cNvSpPr>
          <p:nvPr>
            <p:ph type="body" sz="quarter" idx="10"/>
          </p:nvPr>
        </p:nvSpPr>
        <p:spPr/>
        <p:txBody>
          <a:bodyPr>
            <a:normAutofit/>
          </a:bodyPr>
          <a:lstStyle/>
          <a:p>
            <a:endParaRPr lang="en-US" sz="4100" dirty="0"/>
          </a:p>
        </p:txBody>
      </p:sp>
      <p:sp>
        <p:nvSpPr>
          <p:cNvPr id="18" name="Text Placeholder 3">
            <a:extLst>
              <a:ext uri="{FF2B5EF4-FFF2-40B4-BE49-F238E27FC236}">
                <a16:creationId xmlns:a16="http://schemas.microsoft.com/office/drawing/2014/main" id="{E296E941-93CD-444B-DA3B-DFEA17B837E3}"/>
              </a:ext>
            </a:extLst>
          </p:cNvPr>
          <p:cNvSpPr>
            <a:spLocks noGrp="1"/>
          </p:cNvSpPr>
          <p:nvPr>
            <p:ph sz="quarter" idx="11"/>
          </p:nvPr>
        </p:nvSpPr>
        <p:spPr/>
        <p:txBody>
          <a:bodyPr>
            <a:normAutofit fontScale="92500"/>
          </a:bodyPr>
          <a:lstStyle/>
          <a:p>
            <a:pPr marL="457200" indent="-457200">
              <a:buAutoNum type="arabicPeriod"/>
            </a:pPr>
            <a:r>
              <a:rPr lang="en-US" dirty="0"/>
              <a:t> Key-value. This type of NoSQL databases model data as an index key and a value, similar with hash tables. Access to database is via primary key. Modeling relationships among different sets of data, correlating data with different sets of keys, searching based on the value of the key-value pair, and operations on sets are not recommended for key-value databases.</a:t>
            </a:r>
          </a:p>
          <a:p>
            <a:pPr marL="457200" indent="-457200">
              <a:buAutoNum type="arabicPeriod"/>
            </a:pPr>
            <a:r>
              <a:rPr lang="en-US" dirty="0"/>
              <a:t>Document databases. Similar to key-value, but the value associated with a key contains structured or </a:t>
            </a:r>
            <a:r>
              <a:rPr lang="en-US" dirty="0" err="1"/>
              <a:t>semistructured</a:t>
            </a:r>
            <a:r>
              <a:rPr lang="en-US" dirty="0"/>
              <a:t> data. These databases enjoy a number of useful features such as: (</a:t>
            </a:r>
            <a:r>
              <a:rPr lang="en-US" dirty="0" err="1"/>
              <a:t>i</a:t>
            </a:r>
            <a:r>
              <a:rPr lang="en-US" dirty="0"/>
              <a:t>) ability to query data in the document without having to retrieve the whole document by key; (ii) support nested documents within the value field. Document databases should not be used for complex transactions spanning different operations because atomicity is only guaranteed within a single document, not across documents.</a:t>
            </a:r>
          </a:p>
        </p:txBody>
      </p:sp>
    </p:spTree>
    <p:extLst>
      <p:ext uri="{BB962C8B-B14F-4D97-AF65-F5344CB8AC3E}">
        <p14:creationId xmlns:p14="http://schemas.microsoft.com/office/powerpoint/2010/main" val="122594263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4AAD-485B-6676-D731-8A7DFAD5147D}"/>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B5C8651-9783-022C-0C7D-D32F0610C04E}"/>
              </a:ext>
            </a:extLst>
          </p:cNvPr>
          <p:cNvSpPr>
            <a:spLocks noGrp="1"/>
          </p:cNvSpPr>
          <p:nvPr>
            <p:ph type="title"/>
          </p:nvPr>
        </p:nvSpPr>
        <p:spPr/>
        <p:txBody>
          <a:bodyPr>
            <a:normAutofit/>
          </a:bodyPr>
          <a:lstStyle/>
          <a:p>
            <a:r>
              <a:rPr lang="en-US" sz="3200" dirty="0"/>
              <a:t>NoSQL Database Types</a:t>
            </a:r>
          </a:p>
        </p:txBody>
      </p:sp>
      <p:sp>
        <p:nvSpPr>
          <p:cNvPr id="20" name="Text Placeholder 5">
            <a:extLst>
              <a:ext uri="{FF2B5EF4-FFF2-40B4-BE49-F238E27FC236}">
                <a16:creationId xmlns:a16="http://schemas.microsoft.com/office/drawing/2014/main" id="{A5A76BE4-C3DC-EC2F-2B9D-74D396829E63}"/>
              </a:ext>
            </a:extLst>
          </p:cNvPr>
          <p:cNvSpPr>
            <a:spLocks noGrp="1"/>
          </p:cNvSpPr>
          <p:nvPr>
            <p:ph type="body" sz="quarter" idx="10"/>
          </p:nvPr>
        </p:nvSpPr>
        <p:spPr/>
        <p:txBody>
          <a:bodyPr>
            <a:normAutofit/>
          </a:bodyPr>
          <a:lstStyle/>
          <a:p>
            <a:endParaRPr lang="en-US" sz="4100" dirty="0"/>
          </a:p>
        </p:txBody>
      </p:sp>
      <p:sp>
        <p:nvSpPr>
          <p:cNvPr id="18" name="Text Placeholder 3">
            <a:extLst>
              <a:ext uri="{FF2B5EF4-FFF2-40B4-BE49-F238E27FC236}">
                <a16:creationId xmlns:a16="http://schemas.microsoft.com/office/drawing/2014/main" id="{7145CF75-3B01-95CF-F544-199AE4FE9254}"/>
              </a:ext>
            </a:extLst>
          </p:cNvPr>
          <p:cNvSpPr>
            <a:spLocks noGrp="1"/>
          </p:cNvSpPr>
          <p:nvPr>
            <p:ph sz="quarter" idx="11"/>
          </p:nvPr>
        </p:nvSpPr>
        <p:spPr/>
        <p:txBody>
          <a:bodyPr>
            <a:normAutofit fontScale="92500"/>
          </a:bodyPr>
          <a:lstStyle/>
          <a:p>
            <a:pPr marL="457200" indent="-457200">
              <a:buFont typeface="+mj-lt"/>
              <a:buAutoNum type="arabicPeriod" startAt="3"/>
            </a:pPr>
            <a:r>
              <a:rPr lang="en-US" dirty="0"/>
              <a:t>Column-family databases. Such databases store large sparse tables with a very large number of rows and only a few columns. They store data in column families as rows. Several columns are associated with a row key for data often accessed together. Super “columns consist of a map of columns; there are also super column families.</a:t>
            </a:r>
          </a:p>
          <a:p>
            <a:pPr marL="457200" indent="-457200">
              <a:buAutoNum type="arabicPeriod" startAt="3"/>
            </a:pPr>
            <a:r>
              <a:rPr lang="en-US" dirty="0"/>
              <a:t>Graph databases. In graph databases, the vertices represent entities, and the directional edges represent relationships among the entities. The graphs are meant to be stored with a single organizational structure and then interpreted in different ways based on the relationships. Scaling graph databases is different than for aggregate-oriented models, and sharding is difficult because the nodes are relationship-oriented rather than aggregate-oriented. Horizontal scaling is ineffective for graph databases, only vertical scaling is suitable.</a:t>
            </a:r>
          </a:p>
          <a:p>
            <a:endParaRPr lang="en-US" dirty="0"/>
          </a:p>
        </p:txBody>
      </p:sp>
    </p:spTree>
    <p:extLst>
      <p:ext uri="{BB962C8B-B14F-4D97-AF65-F5344CB8AC3E}">
        <p14:creationId xmlns:p14="http://schemas.microsoft.com/office/powerpoint/2010/main" val="420916071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D0711-753E-0C62-1830-D5F6DDA82C5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40E4DFC-373C-AA60-4EE1-45B74223D022}"/>
              </a:ext>
            </a:extLst>
          </p:cNvPr>
          <p:cNvSpPr>
            <a:spLocks noGrp="1"/>
          </p:cNvSpPr>
          <p:nvPr>
            <p:ph type="title"/>
          </p:nvPr>
        </p:nvSpPr>
        <p:spPr/>
        <p:txBody>
          <a:bodyPr>
            <a:normAutofit/>
          </a:bodyPr>
          <a:lstStyle/>
          <a:p>
            <a:r>
              <a:rPr lang="en-US" sz="3200" dirty="0"/>
              <a:t>NoSQL Database Types</a:t>
            </a:r>
          </a:p>
        </p:txBody>
      </p:sp>
      <p:sp>
        <p:nvSpPr>
          <p:cNvPr id="20" name="Text Placeholder 5">
            <a:extLst>
              <a:ext uri="{FF2B5EF4-FFF2-40B4-BE49-F238E27FC236}">
                <a16:creationId xmlns:a16="http://schemas.microsoft.com/office/drawing/2014/main" id="{393DFE5F-80C1-7F1D-E024-94FAA8CAD609}"/>
              </a:ext>
            </a:extLst>
          </p:cNvPr>
          <p:cNvSpPr>
            <a:spLocks noGrp="1"/>
          </p:cNvSpPr>
          <p:nvPr>
            <p:ph type="body" sz="quarter" idx="10"/>
          </p:nvPr>
        </p:nvSpPr>
        <p:spPr/>
        <p:txBody>
          <a:bodyPr>
            <a:normAutofit/>
          </a:bodyPr>
          <a:lstStyle/>
          <a:p>
            <a:endParaRPr lang="en-US" sz="4100" dirty="0"/>
          </a:p>
        </p:txBody>
      </p:sp>
      <p:sp>
        <p:nvSpPr>
          <p:cNvPr id="18" name="Text Placeholder 3">
            <a:extLst>
              <a:ext uri="{FF2B5EF4-FFF2-40B4-BE49-F238E27FC236}">
                <a16:creationId xmlns:a16="http://schemas.microsoft.com/office/drawing/2014/main" id="{36CCDEE9-4E3B-39AB-26E3-98D2B6FB86FF}"/>
              </a:ext>
            </a:extLst>
          </p:cNvPr>
          <p:cNvSpPr>
            <a:spLocks noGrp="1"/>
          </p:cNvSpPr>
          <p:nvPr>
            <p:ph sz="quarter" idx="11"/>
          </p:nvPr>
        </p:nvSpPr>
        <p:spPr/>
        <p:txBody>
          <a:bodyPr>
            <a:normAutofit/>
          </a:bodyPr>
          <a:lstStyle/>
          <a:p>
            <a:r>
              <a:rPr lang="en-US" dirty="0"/>
              <a:t>Cloud stores such as document stores and NoSQL databases are designed to scale well, do not exhibit a single point of failure, have built-in support for consensus-based decisions, and support partitioning and replication as basic primitives. </a:t>
            </a:r>
          </a:p>
          <a:p>
            <a:r>
              <a:rPr lang="en-US" dirty="0"/>
              <a:t>Systems such as </a:t>
            </a:r>
            <a:r>
              <a:rPr lang="en-US" dirty="0" err="1"/>
              <a:t>SimpleDB</a:t>
            </a:r>
            <a:r>
              <a:rPr lang="en-US" dirty="0"/>
              <a:t>, CouchDB (http://couchdb.apache.org/), or Oracle NoSQL database are very popular, though they provide less functionality than traditional databases. </a:t>
            </a:r>
          </a:p>
          <a:p>
            <a:r>
              <a:rPr lang="en-US" dirty="0"/>
              <a:t>The key-value data model is very popular. Several such systems including Voldemort, Redis, </a:t>
            </a:r>
            <a:r>
              <a:rPr lang="en-US" dirty="0" err="1"/>
              <a:t>Scalaris</a:t>
            </a:r>
            <a:r>
              <a:rPr lang="en-US" dirty="0"/>
              <a:t>, and Tokyo cabinet are discussed in.</a:t>
            </a:r>
          </a:p>
        </p:txBody>
      </p:sp>
    </p:spTree>
    <p:extLst>
      <p:ext uri="{BB962C8B-B14F-4D97-AF65-F5344CB8AC3E}">
        <p14:creationId xmlns:p14="http://schemas.microsoft.com/office/powerpoint/2010/main" val="37571474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Disk Locality Versus Data Locality in Computer Clouds</a:t>
            </a:r>
          </a:p>
        </p:txBody>
      </p:sp>
    </p:spTree>
    <p:extLst>
      <p:ext uri="{BB962C8B-B14F-4D97-AF65-F5344CB8AC3E}">
        <p14:creationId xmlns:p14="http://schemas.microsoft.com/office/powerpoint/2010/main" val="121144216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6636-B3ED-A8F5-8CCD-92A7CD86DF91}"/>
              </a:ext>
            </a:extLst>
          </p:cNvPr>
          <p:cNvSpPr>
            <a:spLocks noGrp="1"/>
          </p:cNvSpPr>
          <p:nvPr>
            <p:ph type="title"/>
          </p:nvPr>
        </p:nvSpPr>
        <p:spPr>
          <a:xfrm>
            <a:off x="2167377" y="1871164"/>
            <a:ext cx="14715569" cy="511175"/>
          </a:xfrm>
        </p:spPr>
        <p:txBody>
          <a:bodyPr>
            <a:normAutofit/>
          </a:bodyPr>
          <a:lstStyle/>
          <a:p>
            <a:r>
              <a:rPr lang="en-US" sz="3200" dirty="0"/>
              <a:t>Locality</a:t>
            </a:r>
          </a:p>
        </p:txBody>
      </p:sp>
      <p:sp>
        <p:nvSpPr>
          <p:cNvPr id="21" name="Text Placeholder 2">
            <a:extLst>
              <a:ext uri="{FF2B5EF4-FFF2-40B4-BE49-F238E27FC236}">
                <a16:creationId xmlns:a16="http://schemas.microsoft.com/office/drawing/2014/main" id="{3EF66953-F2D1-FBD1-0F34-B4B7B0897882}"/>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21E24542-8940-3717-4CB7-29C332A9F69C}"/>
              </a:ext>
            </a:extLst>
          </p:cNvPr>
          <p:cNvSpPr>
            <a:spLocks noGrp="1"/>
          </p:cNvSpPr>
          <p:nvPr>
            <p:ph type="body" sz="quarter" idx="16"/>
          </p:nvPr>
        </p:nvSpPr>
        <p:spPr>
          <a:xfrm>
            <a:off x="2167377" y="6556917"/>
            <a:ext cx="9768906" cy="5575610"/>
          </a:xfrm>
        </p:spPr>
        <p:txBody>
          <a:bodyPr>
            <a:normAutofit fontScale="92500"/>
          </a:bodyPr>
          <a:lstStyle/>
          <a:p>
            <a:r>
              <a:rPr lang="en-US" dirty="0"/>
              <a:t>Virtual memory can only be effective if the code and the data exhibit spatial and temporal locality so that page faults occur infrequently.</a:t>
            </a:r>
          </a:p>
          <a:p>
            <a:r>
              <a:rPr lang="en-US" dirty="0"/>
              <a:t>Locality improves the performance of cloud applications for two main reasons: </a:t>
            </a:r>
          </a:p>
          <a:p>
            <a:pPr marL="514350" indent="-514350">
              <a:buAutoNum type="romanLcParenBoth"/>
            </a:pPr>
            <a:r>
              <a:rPr lang="en-US" dirty="0"/>
              <a:t>disk bandwidth is larger than the network bandwidth, and the off-rack communication bandwidth is oversubscribed and affects the off-rack disk access; and </a:t>
            </a:r>
          </a:p>
          <a:p>
            <a:pPr marL="514350" indent="-514350">
              <a:buAutoNum type="romanLcParenBoth"/>
            </a:pPr>
            <a:r>
              <a:rPr lang="en-US" dirty="0"/>
              <a:t>(ii) the better performance of I/O-intensive applications, when data is stored locally, is due to the lower latency and the higher bandwidth of a local disk versus the latency and the bandwidth of a remote disk.</a:t>
            </a:r>
          </a:p>
        </p:txBody>
      </p:sp>
      <p:pic>
        <p:nvPicPr>
          <p:cNvPr id="14" name="Picture Placeholder 13">
            <a:extLst>
              <a:ext uri="{FF2B5EF4-FFF2-40B4-BE49-F238E27FC236}">
                <a16:creationId xmlns:a16="http://schemas.microsoft.com/office/drawing/2014/main" id="{037400A5-507B-A670-733A-D0D9663EF072}"/>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334" t="1760" r="1197"/>
          <a:stretch>
            <a:fillRect/>
          </a:stretch>
        </p:blipFill>
        <p:spPr>
          <a:xfrm>
            <a:off x="11935812" y="3799840"/>
            <a:ext cx="12146361" cy="7222967"/>
          </a:xfrm>
          <a:prstGeom prst="rect">
            <a:avLst/>
          </a:prstGeom>
          <a:noFill/>
        </p:spPr>
      </p:pic>
      <p:sp>
        <p:nvSpPr>
          <p:cNvPr id="13" name="Text Placeholder 12">
            <a:extLst>
              <a:ext uri="{FF2B5EF4-FFF2-40B4-BE49-F238E27FC236}">
                <a16:creationId xmlns:a16="http://schemas.microsoft.com/office/drawing/2014/main" id="{FFB73AA5-EFC8-51CB-7551-A6A8A0417CAA}"/>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Locality has major implications for memory hierarchies. The performance of a processor is highly dependent on the ability to access code and data in the cache rather than memory.</a:t>
            </a:r>
          </a:p>
        </p:txBody>
      </p:sp>
    </p:spTree>
    <p:extLst>
      <p:ext uri="{BB962C8B-B14F-4D97-AF65-F5344CB8AC3E}">
        <p14:creationId xmlns:p14="http://schemas.microsoft.com/office/powerpoint/2010/main" val="282275929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E82A6-C0D4-40F8-5E19-8B6940567C0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F515891-DA8B-3186-4636-9B1DC3B58A89}"/>
              </a:ext>
            </a:extLst>
          </p:cNvPr>
          <p:cNvSpPr>
            <a:spLocks noGrp="1"/>
          </p:cNvSpPr>
          <p:nvPr>
            <p:ph type="title"/>
          </p:nvPr>
        </p:nvSpPr>
        <p:spPr>
          <a:xfrm>
            <a:off x="2167377" y="1871164"/>
            <a:ext cx="14715569" cy="511175"/>
          </a:xfrm>
        </p:spPr>
        <p:txBody>
          <a:bodyPr>
            <a:normAutofit/>
          </a:bodyPr>
          <a:lstStyle/>
          <a:p>
            <a:r>
              <a:rPr lang="en-US" sz="3200" dirty="0"/>
              <a:t>Locality</a:t>
            </a:r>
          </a:p>
        </p:txBody>
      </p:sp>
      <p:sp>
        <p:nvSpPr>
          <p:cNvPr id="21" name="Text Placeholder 2">
            <a:extLst>
              <a:ext uri="{FF2B5EF4-FFF2-40B4-BE49-F238E27FC236}">
                <a16:creationId xmlns:a16="http://schemas.microsoft.com/office/drawing/2014/main" id="{FB6E9EC1-0A47-D4E5-BE8D-27D0AFD63EC3}"/>
              </a:ext>
            </a:extLst>
          </p:cNvPr>
          <p:cNvSpPr>
            <a:spLocks noGrp="1"/>
          </p:cNvSpPr>
          <p:nvPr>
            <p:ph type="body" sz="quarter" idx="10"/>
          </p:nvPr>
        </p:nvSpPr>
        <p:spPr>
          <a:xfrm>
            <a:off x="2167377" y="2419728"/>
            <a:ext cx="9768875" cy="803546"/>
          </a:xfrm>
        </p:spPr>
        <p:txBody>
          <a:bodyPr/>
          <a:lstStyle/>
          <a:p>
            <a:r>
              <a:rPr lang="en-US" dirty="0"/>
              <a:t>Why store on disk then load to memory</a:t>
            </a:r>
          </a:p>
        </p:txBody>
      </p:sp>
      <p:sp>
        <p:nvSpPr>
          <p:cNvPr id="12" name="Text Placeholder 11">
            <a:extLst>
              <a:ext uri="{FF2B5EF4-FFF2-40B4-BE49-F238E27FC236}">
                <a16:creationId xmlns:a16="http://schemas.microsoft.com/office/drawing/2014/main" id="{533C8244-2B1E-9C9F-E212-8888AB4EFD7F}"/>
              </a:ext>
            </a:extLst>
          </p:cNvPr>
          <p:cNvSpPr>
            <a:spLocks noGrp="1"/>
          </p:cNvSpPr>
          <p:nvPr>
            <p:ph type="body" sz="quarter" idx="16"/>
          </p:nvPr>
        </p:nvSpPr>
        <p:spPr>
          <a:xfrm>
            <a:off x="2167377" y="6556917"/>
            <a:ext cx="9768906" cy="5575610"/>
          </a:xfrm>
        </p:spPr>
        <p:txBody>
          <a:bodyPr>
            <a:normAutofit fontScale="77500" lnSpcReduction="20000"/>
          </a:bodyPr>
          <a:lstStyle/>
          <a:p>
            <a:pPr marL="457200" indent="-457200">
              <a:buAutoNum type="alphaLcPeriod"/>
            </a:pPr>
            <a:r>
              <a:rPr lang="en-US" dirty="0"/>
              <a:t> Networking technology improves at a faster pace than hard disk technology.</a:t>
            </a:r>
          </a:p>
          <a:p>
            <a:pPr marL="457200" indent="-457200">
              <a:buAutoNum type="alphaLcPeriod"/>
            </a:pPr>
            <a:r>
              <a:rPr lang="en-US" dirty="0"/>
              <a:t>The bandwidth available to applications will increase as data centers adopt bisection topologies for their interconnects.</a:t>
            </a:r>
          </a:p>
          <a:p>
            <a:pPr marL="457200" indent="-457200">
              <a:buAutoNum type="alphaLcPeriod"/>
            </a:pPr>
            <a:r>
              <a:rPr lang="en-US" dirty="0"/>
              <a:t>The latency of a read access to a local disk is only slightly lower than the latency of a read to a disk in the same rack; local disk access is about 8% faster.</a:t>
            </a:r>
          </a:p>
          <a:p>
            <a:pPr marL="457200" indent="-457200">
              <a:buAutoNum type="alphaLcPeriod"/>
            </a:pPr>
            <a:r>
              <a:rPr lang="en-US" dirty="0"/>
              <a:t>Though the cost of solid-state disk technology is dropping at a impressive rate, i.e., 50% per year, solid-state disks are unlikely to replace hard disk drives any time soon due to the sheer volume of data stored on computer clouds.</a:t>
            </a:r>
          </a:p>
          <a:p>
            <a:pPr marL="457200" indent="-457200">
              <a:buAutoNum type="alphaLcPeriod"/>
            </a:pPr>
            <a:r>
              <a:rPr lang="en-US" dirty="0"/>
              <a:t>Accessing data in local memory is two orders of magnitude faster than reading from a local disk.</a:t>
            </a:r>
          </a:p>
          <a:p>
            <a:pPr marL="457200" indent="-457200">
              <a:buAutoNum type="alphaLcPeriod"/>
            </a:pPr>
            <a:r>
              <a:rPr lang="en-US" dirty="0"/>
              <a:t>There is at least a two orders of magnitude discrepancy between the capacity of the disks and the memory of today's clusters.</a:t>
            </a:r>
          </a:p>
        </p:txBody>
      </p:sp>
      <p:pic>
        <p:nvPicPr>
          <p:cNvPr id="14" name="Picture Placeholder 13">
            <a:extLst>
              <a:ext uri="{FF2B5EF4-FFF2-40B4-BE49-F238E27FC236}">
                <a16:creationId xmlns:a16="http://schemas.microsoft.com/office/drawing/2014/main" id="{73D4A54B-84A2-8B1E-1209-614B4913631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334" t="1760" r="1197"/>
          <a:stretch>
            <a:fillRect/>
          </a:stretch>
        </p:blipFill>
        <p:spPr>
          <a:xfrm>
            <a:off x="11935812" y="3799840"/>
            <a:ext cx="12146361" cy="7222967"/>
          </a:xfrm>
          <a:prstGeom prst="rect">
            <a:avLst/>
          </a:prstGeom>
          <a:noFill/>
        </p:spPr>
      </p:pic>
      <p:sp>
        <p:nvSpPr>
          <p:cNvPr id="13" name="Text Placeholder 12">
            <a:extLst>
              <a:ext uri="{FF2B5EF4-FFF2-40B4-BE49-F238E27FC236}">
                <a16:creationId xmlns:a16="http://schemas.microsoft.com/office/drawing/2014/main" id="{E3FCEDAC-6928-3D15-2BE6-3547FCE89C6B}"/>
              </a:ext>
            </a:extLst>
          </p:cNvPr>
          <p:cNvSpPr>
            <a:spLocks noGrp="1"/>
          </p:cNvSpPr>
          <p:nvPr>
            <p:ph type="body" sz="quarter" idx="17"/>
          </p:nvPr>
        </p:nvSpPr>
        <p:spPr>
          <a:xfrm>
            <a:off x="2166938" y="4210049"/>
            <a:ext cx="9768874" cy="2039112"/>
          </a:xfrm>
        </p:spPr>
        <p:txBody>
          <a:bodyPr>
            <a:normAutofit/>
          </a:bodyPr>
          <a:lstStyle/>
          <a:p>
            <a:r>
              <a:rPr lang="en-US" dirty="0"/>
              <a:t>There are several reasons on that, mainly speed, latency, cost</a:t>
            </a:r>
          </a:p>
        </p:txBody>
      </p:sp>
    </p:spTree>
    <p:extLst>
      <p:ext uri="{BB962C8B-B14F-4D97-AF65-F5344CB8AC3E}">
        <p14:creationId xmlns:p14="http://schemas.microsoft.com/office/powerpoint/2010/main" val="330311366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Compare </a:t>
            </a:r>
            <a:r>
              <a:rPr lang="en-US" dirty="0" err="1"/>
              <a:t>noSQL</a:t>
            </a:r>
            <a:r>
              <a:rPr lang="en-US" dirty="0"/>
              <a:t> DB and SQL in terms of speed and cost of operation</a:t>
            </a:r>
          </a:p>
        </p:txBody>
      </p:sp>
    </p:spTree>
    <p:extLst>
      <p:ext uri="{BB962C8B-B14F-4D97-AF65-F5344CB8AC3E}">
        <p14:creationId xmlns:p14="http://schemas.microsoft.com/office/powerpoint/2010/main" val="287359398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1000</TotalTime>
  <Words>2399</Words>
  <Application>Microsoft Office PowerPoint</Application>
  <PresentationFormat>Custom</PresentationFormat>
  <Paragraphs>115</Paragraphs>
  <Slides>28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Open Sans ExtraBold</vt:lpstr>
      <vt:lpstr>Open Sans</vt:lpstr>
      <vt:lpstr>OCRB</vt:lpstr>
      <vt:lpstr>Tahoma</vt:lpstr>
      <vt:lpstr>Open Sans Semibold</vt:lpstr>
      <vt:lpstr>Open Sans Light</vt:lpstr>
      <vt:lpstr>21_BasicWhite</vt:lpstr>
      <vt:lpstr>Cloud Data storage  Session 07</vt:lpstr>
      <vt:lpstr>Learning outcomes</vt:lpstr>
      <vt:lpstr>Outline</vt:lpstr>
      <vt:lpstr>Storage Models, File Systems, and Databases</vt:lpstr>
      <vt:lpstr>Storage models</vt:lpstr>
      <vt:lpstr>Cell Storage</vt:lpstr>
      <vt:lpstr>Journal storage</vt:lpstr>
      <vt:lpstr>File system</vt:lpstr>
      <vt:lpstr>File system</vt:lpstr>
      <vt:lpstr>Databases</vt:lpstr>
      <vt:lpstr>Distributed File Systems</vt:lpstr>
      <vt:lpstr>Network File System (NFS)</vt:lpstr>
      <vt:lpstr>Network File System (NFS)</vt:lpstr>
      <vt:lpstr>Unix File system</vt:lpstr>
      <vt:lpstr>Andrew File System (AFS)</vt:lpstr>
      <vt:lpstr>Comparison of several network file system</vt:lpstr>
      <vt:lpstr>noSQL database</vt:lpstr>
      <vt:lpstr>Nosql database</vt:lpstr>
      <vt:lpstr>NoSQL Distribution Models</vt:lpstr>
      <vt:lpstr>NoSQL Database Types</vt:lpstr>
      <vt:lpstr>NoSQL Database Types</vt:lpstr>
      <vt:lpstr>NoSQL Database Types</vt:lpstr>
      <vt:lpstr>Disk Locality Versus Data Locality in Computer Clouds</vt:lpstr>
      <vt:lpstr>Locality</vt:lpstr>
      <vt:lpstr>Locality</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19</cp:revision>
  <dcterms:created xsi:type="dcterms:W3CDTF">2023-06-28T08:14:57Z</dcterms:created>
  <dcterms:modified xsi:type="dcterms:W3CDTF">2026-01-05T10:20:16Z</dcterms:modified>
</cp:coreProperties>
</file>