
<file path=[Content_Types].xml><?xml version="1.0" encoding="utf-8"?>
<Types xmlns="http://schemas.openxmlformats.org/package/2006/content-types">
  <Default Extension="1" ContentType="image/jpeg"/>
  <Default Extension="emf" ContentType="image/x-emf"/>
  <Default Extension="fntdata" ContentType="application/x-fontdata"/>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78" r:id="rId3"/>
    <p:sldId id="257" r:id="rId4"/>
    <p:sldId id="264" r:id="rId5"/>
    <p:sldId id="297" r:id="rId6"/>
    <p:sldId id="298" r:id="rId7"/>
    <p:sldId id="318" r:id="rId8"/>
    <p:sldId id="319" r:id="rId9"/>
    <p:sldId id="320" r:id="rId10"/>
    <p:sldId id="321" r:id="rId11"/>
    <p:sldId id="323" r:id="rId12"/>
    <p:sldId id="303" r:id="rId13"/>
    <p:sldId id="301" r:id="rId14"/>
    <p:sldId id="324" r:id="rId15"/>
    <p:sldId id="326" r:id="rId16"/>
    <p:sldId id="327" r:id="rId17"/>
    <p:sldId id="304" r:id="rId18"/>
    <p:sldId id="328" r:id="rId19"/>
    <p:sldId id="329" r:id="rId20"/>
    <p:sldId id="331" r:id="rId21"/>
    <p:sldId id="306" r:id="rId22"/>
    <p:sldId id="307" r:id="rId23"/>
    <p:sldId id="334" r:id="rId24"/>
    <p:sldId id="308" r:id="rId25"/>
    <p:sldId id="336" r:id="rId26"/>
    <p:sldId id="338" r:id="rId27"/>
    <p:sldId id="340" r:id="rId28"/>
    <p:sldId id="343" r:id="rId29"/>
    <p:sldId id="345" r:id="rId30"/>
    <p:sldId id="347" r:id="rId31"/>
    <p:sldId id="349" r:id="rId32"/>
    <p:sldId id="315" r:id="rId33"/>
    <p:sldId id="317" r:id="rId34"/>
    <p:sldId id="296" r:id="rId35"/>
  </p:sldIdLst>
  <p:sldSz cx="24384000" cy="13716000"/>
  <p:notesSz cx="6858000" cy="9144000"/>
  <p:embeddedFontLst>
    <p:embeddedFont>
      <p:font typeface="OCRB" panose="020B0609020202020204" pitchFamily="49" charset="0"/>
      <p:regular r:id="rId37"/>
    </p:embeddedFont>
    <p:embeddedFont>
      <p:font typeface="Open Sans ExtraBold" panose="020B0906030804020204" pitchFamily="34" charset="0"/>
      <p:bold r:id="rId38"/>
      <p:italic r:id="rId39"/>
      <p:boldItalic r:id="rId40"/>
    </p:embeddedFont>
    <p:embeddedFont>
      <p:font typeface="Open Sans Light" panose="020B0306030504020204" pitchFamily="34" charset="0"/>
      <p:regular r:id="rId41"/>
      <p:italic r:id="rId42"/>
    </p:embeddedFont>
    <p:embeddedFont>
      <p:font typeface="Open Sans Semibold" panose="020B0706030804020204" pitchFamily="34" charset="0"/>
      <p:regular r:id="rId43"/>
      <p:bold r:id="rId44"/>
      <p:italic r:id="rId45"/>
      <p:boldItalic r:id="rId46"/>
    </p:embeddedFont>
    <p:embeddedFont>
      <p:font typeface="Tahoma" panose="020B0604030504040204" pitchFamily="34" charset="0"/>
      <p:regular r:id="rId47"/>
      <p:bold r:id="rId48"/>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autoAdjust="0"/>
    <p:restoredTop sz="96197"/>
  </p:normalViewPr>
  <p:slideViewPr>
    <p:cSldViewPr snapToGrid="0" snapToObjects="1">
      <p:cViewPr varScale="1">
        <p:scale>
          <a:sx n="32" d="100"/>
          <a:sy n="32" d="100"/>
        </p:scale>
        <p:origin x="1002" y="10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sv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sv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0353C7-1B5C-4288-BCE5-D5EF6E83E4B0}"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FDDD1FFC-3F29-468B-AFCC-3960C561318F}">
      <dgm:prSet/>
      <dgm:spPr/>
      <dgm:t>
        <a:bodyPr/>
        <a:lstStyle/>
        <a:p>
          <a:r>
            <a:rPr lang="en-US"/>
            <a:t>Information hiding;</a:t>
          </a:r>
        </a:p>
      </dgm:t>
    </dgm:pt>
    <dgm:pt modelId="{34B401C8-8834-4A10-8782-0CEA9B04056E}" type="parTrans" cxnId="{293E4626-0911-45DA-881A-02BF52F6B30E}">
      <dgm:prSet/>
      <dgm:spPr/>
      <dgm:t>
        <a:bodyPr/>
        <a:lstStyle/>
        <a:p>
          <a:endParaRPr lang="en-US"/>
        </a:p>
      </dgm:t>
    </dgm:pt>
    <dgm:pt modelId="{33DCDA9C-C795-4E79-8BFB-AAEBD44C113F}" type="sibTrans" cxnId="{293E4626-0911-45DA-881A-02BF52F6B30E}">
      <dgm:prSet/>
      <dgm:spPr/>
      <dgm:t>
        <a:bodyPr/>
        <a:lstStyle/>
        <a:p>
          <a:endParaRPr lang="en-US"/>
        </a:p>
      </dgm:t>
    </dgm:pt>
    <dgm:pt modelId="{FE17BD08-07FE-4247-93B8-36E0EDA593ED}">
      <dgm:prSet/>
      <dgm:spPr/>
      <dgm:t>
        <a:bodyPr/>
        <a:lstStyle/>
        <a:p>
          <a:r>
            <a:rPr lang="en-US"/>
            <a:t>Invariant behavior;</a:t>
          </a:r>
        </a:p>
      </dgm:t>
    </dgm:pt>
    <dgm:pt modelId="{26668802-8555-46A3-852C-481703B88CF9}" type="parTrans" cxnId="{2A668FC9-51CF-4704-93CA-41E38978A567}">
      <dgm:prSet/>
      <dgm:spPr/>
      <dgm:t>
        <a:bodyPr/>
        <a:lstStyle/>
        <a:p>
          <a:endParaRPr lang="en-US"/>
        </a:p>
      </dgm:t>
    </dgm:pt>
    <dgm:pt modelId="{E8B17FCB-F993-4D29-9D8A-AE48C1A15BEE}" type="sibTrans" cxnId="{2A668FC9-51CF-4704-93CA-41E38978A567}">
      <dgm:prSet/>
      <dgm:spPr/>
      <dgm:t>
        <a:bodyPr/>
        <a:lstStyle/>
        <a:p>
          <a:endParaRPr lang="en-US"/>
        </a:p>
      </dgm:t>
    </dgm:pt>
    <dgm:pt modelId="{58C1335B-2EFD-4AE2-BD9B-9D99EB476066}">
      <dgm:prSet/>
      <dgm:spPr/>
      <dgm:t>
        <a:bodyPr/>
        <a:lstStyle/>
        <a:p>
          <a:r>
            <a:rPr lang="en-US"/>
            <a:t>Data generality; </a:t>
          </a:r>
        </a:p>
      </dgm:t>
    </dgm:pt>
    <dgm:pt modelId="{158855B8-FA40-4F3C-A2BD-36AA46D825DF}" type="parTrans" cxnId="{66397A9B-AECF-42D9-9C7A-B8B8E3BDDB0A}">
      <dgm:prSet/>
      <dgm:spPr/>
      <dgm:t>
        <a:bodyPr/>
        <a:lstStyle/>
        <a:p>
          <a:endParaRPr lang="en-US"/>
        </a:p>
      </dgm:t>
    </dgm:pt>
    <dgm:pt modelId="{CFF07ABA-1415-4B92-A9D0-1AE4DB844107}" type="sibTrans" cxnId="{66397A9B-AECF-42D9-9C7A-B8B8E3BDDB0A}">
      <dgm:prSet/>
      <dgm:spPr/>
      <dgm:t>
        <a:bodyPr/>
        <a:lstStyle/>
        <a:p>
          <a:endParaRPr lang="en-US"/>
        </a:p>
      </dgm:t>
    </dgm:pt>
    <dgm:pt modelId="{6B4ACB4F-2C63-4892-9C66-3F78C8B80643}">
      <dgm:prSet/>
      <dgm:spPr/>
      <dgm:t>
        <a:bodyPr/>
        <a:lstStyle/>
        <a:p>
          <a:r>
            <a:rPr lang="en-US"/>
            <a:t>Secure arguments;</a:t>
          </a:r>
        </a:p>
      </dgm:t>
    </dgm:pt>
    <dgm:pt modelId="{C0F50F52-B125-4A3C-AC8C-C7BA54602513}" type="parTrans" cxnId="{707E6133-E944-4145-9B82-73DE1A50F440}">
      <dgm:prSet/>
      <dgm:spPr/>
      <dgm:t>
        <a:bodyPr/>
        <a:lstStyle/>
        <a:p>
          <a:endParaRPr lang="en-US"/>
        </a:p>
      </dgm:t>
    </dgm:pt>
    <dgm:pt modelId="{E743628B-61C0-4A59-BE3F-895CE0D06638}" type="sibTrans" cxnId="{707E6133-E944-4145-9B82-73DE1A50F440}">
      <dgm:prSet/>
      <dgm:spPr/>
      <dgm:t>
        <a:bodyPr/>
        <a:lstStyle/>
        <a:p>
          <a:endParaRPr lang="en-US"/>
        </a:p>
      </dgm:t>
    </dgm:pt>
    <dgm:pt modelId="{081E7F25-CEB1-429D-A5C7-F3FE1E3B5E35}">
      <dgm:prSet/>
      <dgm:spPr/>
      <dgm:t>
        <a:bodyPr/>
        <a:lstStyle/>
        <a:p>
          <a:r>
            <a:rPr lang="en-US"/>
            <a:t>Recursive construction;</a:t>
          </a:r>
        </a:p>
      </dgm:t>
    </dgm:pt>
    <dgm:pt modelId="{B8008222-DD54-4301-B00E-397448C16346}" type="parTrans" cxnId="{8CF5B685-E8C1-4C29-A4FE-1857EA028E8C}">
      <dgm:prSet/>
      <dgm:spPr/>
      <dgm:t>
        <a:bodyPr/>
        <a:lstStyle/>
        <a:p>
          <a:endParaRPr lang="en-US"/>
        </a:p>
      </dgm:t>
    </dgm:pt>
    <dgm:pt modelId="{0BD4304B-64EE-4515-A7C3-2668BC7D115C}" type="sibTrans" cxnId="{8CF5B685-E8C1-4C29-A4FE-1857EA028E8C}">
      <dgm:prSet/>
      <dgm:spPr/>
      <dgm:t>
        <a:bodyPr/>
        <a:lstStyle/>
        <a:p>
          <a:endParaRPr lang="en-US"/>
        </a:p>
      </dgm:t>
    </dgm:pt>
    <dgm:pt modelId="{989BCADD-A295-477C-9157-67EA04A59D98}">
      <dgm:prSet/>
      <dgm:spPr/>
      <dgm:t>
        <a:bodyPr/>
        <a:lstStyle/>
        <a:p>
          <a:r>
            <a:rPr lang="en-US"/>
            <a:t>System resource management;</a:t>
          </a:r>
        </a:p>
      </dgm:t>
    </dgm:pt>
    <dgm:pt modelId="{4AFACB6D-C35B-46DA-88F9-BA596E390542}" type="parTrans" cxnId="{9FB469C7-DBB2-4E09-BE69-058239E862AC}">
      <dgm:prSet/>
      <dgm:spPr/>
      <dgm:t>
        <a:bodyPr/>
        <a:lstStyle/>
        <a:p>
          <a:endParaRPr lang="en-US"/>
        </a:p>
      </dgm:t>
    </dgm:pt>
    <dgm:pt modelId="{002AF2CE-6614-42DB-869B-D89009067DA7}" type="sibTrans" cxnId="{9FB469C7-DBB2-4E09-BE69-058239E862AC}">
      <dgm:prSet/>
      <dgm:spPr/>
      <dgm:t>
        <a:bodyPr/>
        <a:lstStyle/>
        <a:p>
          <a:endParaRPr lang="en-US"/>
        </a:p>
      </dgm:t>
    </dgm:pt>
    <dgm:pt modelId="{2DF5A5E5-70A4-41D1-BC95-20161548F953}" type="pres">
      <dgm:prSet presAssocID="{610353C7-1B5C-4288-BCE5-D5EF6E83E4B0}" presName="root" presStyleCnt="0">
        <dgm:presLayoutVars>
          <dgm:dir/>
          <dgm:resizeHandles val="exact"/>
        </dgm:presLayoutVars>
      </dgm:prSet>
      <dgm:spPr/>
    </dgm:pt>
    <dgm:pt modelId="{DC6AD598-05F8-42F6-B1EE-941E6375CD18}" type="pres">
      <dgm:prSet presAssocID="{FDDD1FFC-3F29-468B-AFCC-3960C561318F}" presName="compNode" presStyleCnt="0"/>
      <dgm:spPr/>
    </dgm:pt>
    <dgm:pt modelId="{A1E4EF13-5FB1-40D8-9645-C752643C6178}" type="pres">
      <dgm:prSet presAssocID="{FDDD1FFC-3F29-468B-AFCC-3960C561318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8E8D42C5-41AE-4CF5-9715-7CB8C526002B}" type="pres">
      <dgm:prSet presAssocID="{FDDD1FFC-3F29-468B-AFCC-3960C561318F}" presName="spaceRect" presStyleCnt="0"/>
      <dgm:spPr/>
    </dgm:pt>
    <dgm:pt modelId="{B83BE598-6BEA-40AF-88BC-80668891B13F}" type="pres">
      <dgm:prSet presAssocID="{FDDD1FFC-3F29-468B-AFCC-3960C561318F}" presName="textRect" presStyleLbl="revTx" presStyleIdx="0" presStyleCnt="6">
        <dgm:presLayoutVars>
          <dgm:chMax val="1"/>
          <dgm:chPref val="1"/>
        </dgm:presLayoutVars>
      </dgm:prSet>
      <dgm:spPr/>
    </dgm:pt>
    <dgm:pt modelId="{7020FF9E-CA30-49B2-B6D4-31073536C793}" type="pres">
      <dgm:prSet presAssocID="{33DCDA9C-C795-4E79-8BFB-AAEBD44C113F}" presName="sibTrans" presStyleCnt="0"/>
      <dgm:spPr/>
    </dgm:pt>
    <dgm:pt modelId="{27DF07E4-340A-4048-8EA6-B211E1541073}" type="pres">
      <dgm:prSet presAssocID="{FE17BD08-07FE-4247-93B8-36E0EDA593ED}" presName="compNode" presStyleCnt="0"/>
      <dgm:spPr/>
    </dgm:pt>
    <dgm:pt modelId="{5AB1B48A-337D-4A7B-80FD-4B8338F49B1A}" type="pres">
      <dgm:prSet presAssocID="{FE17BD08-07FE-4247-93B8-36E0EDA593E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rcular Flowchart"/>
        </a:ext>
      </dgm:extLst>
    </dgm:pt>
    <dgm:pt modelId="{D2A2ADC4-DCA0-4551-B3F7-830A7B86CC46}" type="pres">
      <dgm:prSet presAssocID="{FE17BD08-07FE-4247-93B8-36E0EDA593ED}" presName="spaceRect" presStyleCnt="0"/>
      <dgm:spPr/>
    </dgm:pt>
    <dgm:pt modelId="{99F17F53-90DD-4074-92A1-6C1B38EF4AFF}" type="pres">
      <dgm:prSet presAssocID="{FE17BD08-07FE-4247-93B8-36E0EDA593ED}" presName="textRect" presStyleLbl="revTx" presStyleIdx="1" presStyleCnt="6">
        <dgm:presLayoutVars>
          <dgm:chMax val="1"/>
          <dgm:chPref val="1"/>
        </dgm:presLayoutVars>
      </dgm:prSet>
      <dgm:spPr/>
    </dgm:pt>
    <dgm:pt modelId="{43107087-5E95-4F8E-B67E-9CA76314530F}" type="pres">
      <dgm:prSet presAssocID="{E8B17FCB-F993-4D29-9D8A-AE48C1A15BEE}" presName="sibTrans" presStyleCnt="0"/>
      <dgm:spPr/>
    </dgm:pt>
    <dgm:pt modelId="{506D4940-A5C4-4C37-9AFA-03838F1BAD5D}" type="pres">
      <dgm:prSet presAssocID="{58C1335B-2EFD-4AE2-BD9B-9D99EB476066}" presName="compNode" presStyleCnt="0"/>
      <dgm:spPr/>
    </dgm:pt>
    <dgm:pt modelId="{E19B2F22-F64A-42B8-9395-523B562D94E5}" type="pres">
      <dgm:prSet presAssocID="{58C1335B-2EFD-4AE2-BD9B-9D99EB47606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82B6C8CF-C298-426E-868F-8F3B5879E788}" type="pres">
      <dgm:prSet presAssocID="{58C1335B-2EFD-4AE2-BD9B-9D99EB476066}" presName="spaceRect" presStyleCnt="0"/>
      <dgm:spPr/>
    </dgm:pt>
    <dgm:pt modelId="{82506910-E3F4-431A-8E51-3CCAF37DF575}" type="pres">
      <dgm:prSet presAssocID="{58C1335B-2EFD-4AE2-BD9B-9D99EB476066}" presName="textRect" presStyleLbl="revTx" presStyleIdx="2" presStyleCnt="6">
        <dgm:presLayoutVars>
          <dgm:chMax val="1"/>
          <dgm:chPref val="1"/>
        </dgm:presLayoutVars>
      </dgm:prSet>
      <dgm:spPr/>
    </dgm:pt>
    <dgm:pt modelId="{9393B2EA-F53E-4CD2-BA49-6F9FC4F8C7DC}" type="pres">
      <dgm:prSet presAssocID="{CFF07ABA-1415-4B92-A9D0-1AE4DB844107}" presName="sibTrans" presStyleCnt="0"/>
      <dgm:spPr/>
    </dgm:pt>
    <dgm:pt modelId="{97E01BDA-32A7-4ABA-AD34-6CDD821A5A36}" type="pres">
      <dgm:prSet presAssocID="{6B4ACB4F-2C63-4892-9C66-3F78C8B80643}" presName="compNode" presStyleCnt="0"/>
      <dgm:spPr/>
    </dgm:pt>
    <dgm:pt modelId="{391FF981-C0F1-4EA4-81B4-28D229B85F46}" type="pres">
      <dgm:prSet presAssocID="{6B4ACB4F-2C63-4892-9C66-3F78C8B80643}"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C1F99E61-7217-40F6-BEBB-B084073C85EB}" type="pres">
      <dgm:prSet presAssocID="{6B4ACB4F-2C63-4892-9C66-3F78C8B80643}" presName="spaceRect" presStyleCnt="0"/>
      <dgm:spPr/>
    </dgm:pt>
    <dgm:pt modelId="{C4388DB9-FEA0-47CF-A3A7-D61920F9D77C}" type="pres">
      <dgm:prSet presAssocID="{6B4ACB4F-2C63-4892-9C66-3F78C8B80643}" presName="textRect" presStyleLbl="revTx" presStyleIdx="3" presStyleCnt="6">
        <dgm:presLayoutVars>
          <dgm:chMax val="1"/>
          <dgm:chPref val="1"/>
        </dgm:presLayoutVars>
      </dgm:prSet>
      <dgm:spPr/>
    </dgm:pt>
    <dgm:pt modelId="{3ACB9424-65C5-4D3D-BD34-8C80AB210FD1}" type="pres">
      <dgm:prSet presAssocID="{E743628B-61C0-4A59-BE3F-895CE0D06638}" presName="sibTrans" presStyleCnt="0"/>
      <dgm:spPr/>
    </dgm:pt>
    <dgm:pt modelId="{A5CBA090-454E-4276-8D9F-DC9C1320E2EB}" type="pres">
      <dgm:prSet presAssocID="{081E7F25-CEB1-429D-A5C7-F3FE1E3B5E35}" presName="compNode" presStyleCnt="0"/>
      <dgm:spPr/>
    </dgm:pt>
    <dgm:pt modelId="{EA87585F-D288-48CA-B848-C9EED993D6E6}" type="pres">
      <dgm:prSet presAssocID="{081E7F25-CEB1-429D-A5C7-F3FE1E3B5E35}"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xcavator"/>
        </a:ext>
      </dgm:extLst>
    </dgm:pt>
    <dgm:pt modelId="{35DB197B-D5AF-4C2D-AC38-1C8C35387F7F}" type="pres">
      <dgm:prSet presAssocID="{081E7F25-CEB1-429D-A5C7-F3FE1E3B5E35}" presName="spaceRect" presStyleCnt="0"/>
      <dgm:spPr/>
    </dgm:pt>
    <dgm:pt modelId="{6008A64B-939F-4E2E-B0F6-2121CBC77315}" type="pres">
      <dgm:prSet presAssocID="{081E7F25-CEB1-429D-A5C7-F3FE1E3B5E35}" presName="textRect" presStyleLbl="revTx" presStyleIdx="4" presStyleCnt="6">
        <dgm:presLayoutVars>
          <dgm:chMax val="1"/>
          <dgm:chPref val="1"/>
        </dgm:presLayoutVars>
      </dgm:prSet>
      <dgm:spPr/>
    </dgm:pt>
    <dgm:pt modelId="{E95653D8-0B78-4590-97BC-FAFA2547DDB4}" type="pres">
      <dgm:prSet presAssocID="{0BD4304B-64EE-4515-A7C3-2668BC7D115C}" presName="sibTrans" presStyleCnt="0"/>
      <dgm:spPr/>
    </dgm:pt>
    <dgm:pt modelId="{948F389C-1ECD-4232-A6A9-0D5B2D3CCB44}" type="pres">
      <dgm:prSet presAssocID="{989BCADD-A295-477C-9157-67EA04A59D98}" presName="compNode" presStyleCnt="0"/>
      <dgm:spPr/>
    </dgm:pt>
    <dgm:pt modelId="{513D9E12-B1EC-4DE0-A17F-AFDE199272CF}" type="pres">
      <dgm:prSet presAssocID="{989BCADD-A295-477C-9157-67EA04A59D98}"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ierarchy"/>
        </a:ext>
      </dgm:extLst>
    </dgm:pt>
    <dgm:pt modelId="{A21D49AD-2999-42F0-AD1E-24469CB246B7}" type="pres">
      <dgm:prSet presAssocID="{989BCADD-A295-477C-9157-67EA04A59D98}" presName="spaceRect" presStyleCnt="0"/>
      <dgm:spPr/>
    </dgm:pt>
    <dgm:pt modelId="{B9DFA251-7BC8-4EF1-87B9-76A682511212}" type="pres">
      <dgm:prSet presAssocID="{989BCADD-A295-477C-9157-67EA04A59D98}" presName="textRect" presStyleLbl="revTx" presStyleIdx="5" presStyleCnt="6">
        <dgm:presLayoutVars>
          <dgm:chMax val="1"/>
          <dgm:chPref val="1"/>
        </dgm:presLayoutVars>
      </dgm:prSet>
      <dgm:spPr/>
    </dgm:pt>
  </dgm:ptLst>
  <dgm:cxnLst>
    <dgm:cxn modelId="{AF98F814-9E74-448C-8926-6240D0A50506}" type="presOf" srcId="{989BCADD-A295-477C-9157-67EA04A59D98}" destId="{B9DFA251-7BC8-4EF1-87B9-76A682511212}" srcOrd="0" destOrd="0" presId="urn:microsoft.com/office/officeart/2018/2/layout/IconLabelList"/>
    <dgm:cxn modelId="{293E4626-0911-45DA-881A-02BF52F6B30E}" srcId="{610353C7-1B5C-4288-BCE5-D5EF6E83E4B0}" destId="{FDDD1FFC-3F29-468B-AFCC-3960C561318F}" srcOrd="0" destOrd="0" parTransId="{34B401C8-8834-4A10-8782-0CEA9B04056E}" sibTransId="{33DCDA9C-C795-4E79-8BFB-AAEBD44C113F}"/>
    <dgm:cxn modelId="{54D0DC26-1E03-40F9-9F49-1240EEEF716E}" type="presOf" srcId="{6B4ACB4F-2C63-4892-9C66-3F78C8B80643}" destId="{C4388DB9-FEA0-47CF-A3A7-D61920F9D77C}" srcOrd="0" destOrd="0" presId="urn:microsoft.com/office/officeart/2018/2/layout/IconLabelList"/>
    <dgm:cxn modelId="{707E6133-E944-4145-9B82-73DE1A50F440}" srcId="{610353C7-1B5C-4288-BCE5-D5EF6E83E4B0}" destId="{6B4ACB4F-2C63-4892-9C66-3F78C8B80643}" srcOrd="3" destOrd="0" parTransId="{C0F50F52-B125-4A3C-AC8C-C7BA54602513}" sibTransId="{E743628B-61C0-4A59-BE3F-895CE0D06638}"/>
    <dgm:cxn modelId="{725F386E-FA09-48C0-8BBE-7F6DAF3756EF}" type="presOf" srcId="{610353C7-1B5C-4288-BCE5-D5EF6E83E4B0}" destId="{2DF5A5E5-70A4-41D1-BC95-20161548F953}" srcOrd="0" destOrd="0" presId="urn:microsoft.com/office/officeart/2018/2/layout/IconLabelList"/>
    <dgm:cxn modelId="{8CF5B685-E8C1-4C29-A4FE-1857EA028E8C}" srcId="{610353C7-1B5C-4288-BCE5-D5EF6E83E4B0}" destId="{081E7F25-CEB1-429D-A5C7-F3FE1E3B5E35}" srcOrd="4" destOrd="0" parTransId="{B8008222-DD54-4301-B00E-397448C16346}" sibTransId="{0BD4304B-64EE-4515-A7C3-2668BC7D115C}"/>
    <dgm:cxn modelId="{22BC288E-8DC6-4486-9F51-1F947CB667AD}" type="presOf" srcId="{FDDD1FFC-3F29-468B-AFCC-3960C561318F}" destId="{B83BE598-6BEA-40AF-88BC-80668891B13F}" srcOrd="0" destOrd="0" presId="urn:microsoft.com/office/officeart/2018/2/layout/IconLabelList"/>
    <dgm:cxn modelId="{2B2E3195-E227-4AEE-A21D-2F1063D5851A}" type="presOf" srcId="{081E7F25-CEB1-429D-A5C7-F3FE1E3B5E35}" destId="{6008A64B-939F-4E2E-B0F6-2121CBC77315}" srcOrd="0" destOrd="0" presId="urn:microsoft.com/office/officeart/2018/2/layout/IconLabelList"/>
    <dgm:cxn modelId="{69D20F9A-8D96-4B3F-923C-FA5AAD34CD15}" type="presOf" srcId="{58C1335B-2EFD-4AE2-BD9B-9D99EB476066}" destId="{82506910-E3F4-431A-8E51-3CCAF37DF575}" srcOrd="0" destOrd="0" presId="urn:microsoft.com/office/officeart/2018/2/layout/IconLabelList"/>
    <dgm:cxn modelId="{66397A9B-AECF-42D9-9C7A-B8B8E3BDDB0A}" srcId="{610353C7-1B5C-4288-BCE5-D5EF6E83E4B0}" destId="{58C1335B-2EFD-4AE2-BD9B-9D99EB476066}" srcOrd="2" destOrd="0" parTransId="{158855B8-FA40-4F3C-A2BD-36AA46D825DF}" sibTransId="{CFF07ABA-1415-4B92-A9D0-1AE4DB844107}"/>
    <dgm:cxn modelId="{6575DCAE-6061-4B4F-8C84-D191FD49ACBF}" type="presOf" srcId="{FE17BD08-07FE-4247-93B8-36E0EDA593ED}" destId="{99F17F53-90DD-4074-92A1-6C1B38EF4AFF}" srcOrd="0" destOrd="0" presId="urn:microsoft.com/office/officeart/2018/2/layout/IconLabelList"/>
    <dgm:cxn modelId="{9FB469C7-DBB2-4E09-BE69-058239E862AC}" srcId="{610353C7-1B5C-4288-BCE5-D5EF6E83E4B0}" destId="{989BCADD-A295-477C-9157-67EA04A59D98}" srcOrd="5" destOrd="0" parTransId="{4AFACB6D-C35B-46DA-88F9-BA596E390542}" sibTransId="{002AF2CE-6614-42DB-869B-D89009067DA7}"/>
    <dgm:cxn modelId="{2A668FC9-51CF-4704-93CA-41E38978A567}" srcId="{610353C7-1B5C-4288-BCE5-D5EF6E83E4B0}" destId="{FE17BD08-07FE-4247-93B8-36E0EDA593ED}" srcOrd="1" destOrd="0" parTransId="{26668802-8555-46A3-852C-481703B88CF9}" sibTransId="{E8B17FCB-F993-4D29-9D8A-AE48C1A15BEE}"/>
    <dgm:cxn modelId="{181E844F-B005-4DE5-94BA-3A4EF105886A}" type="presParOf" srcId="{2DF5A5E5-70A4-41D1-BC95-20161548F953}" destId="{DC6AD598-05F8-42F6-B1EE-941E6375CD18}" srcOrd="0" destOrd="0" presId="urn:microsoft.com/office/officeart/2018/2/layout/IconLabelList"/>
    <dgm:cxn modelId="{4476C1E9-359D-42FD-BD46-C99205B09FCF}" type="presParOf" srcId="{DC6AD598-05F8-42F6-B1EE-941E6375CD18}" destId="{A1E4EF13-5FB1-40D8-9645-C752643C6178}" srcOrd="0" destOrd="0" presId="urn:microsoft.com/office/officeart/2018/2/layout/IconLabelList"/>
    <dgm:cxn modelId="{DCB88835-1B2A-46BB-AF5D-90A9B08391C2}" type="presParOf" srcId="{DC6AD598-05F8-42F6-B1EE-941E6375CD18}" destId="{8E8D42C5-41AE-4CF5-9715-7CB8C526002B}" srcOrd="1" destOrd="0" presId="urn:microsoft.com/office/officeart/2018/2/layout/IconLabelList"/>
    <dgm:cxn modelId="{46F7CB64-8364-4CFF-8009-968E83C4FD1E}" type="presParOf" srcId="{DC6AD598-05F8-42F6-B1EE-941E6375CD18}" destId="{B83BE598-6BEA-40AF-88BC-80668891B13F}" srcOrd="2" destOrd="0" presId="urn:microsoft.com/office/officeart/2018/2/layout/IconLabelList"/>
    <dgm:cxn modelId="{4C807DCB-DEFB-419E-9588-55289F9FAB6C}" type="presParOf" srcId="{2DF5A5E5-70A4-41D1-BC95-20161548F953}" destId="{7020FF9E-CA30-49B2-B6D4-31073536C793}" srcOrd="1" destOrd="0" presId="urn:microsoft.com/office/officeart/2018/2/layout/IconLabelList"/>
    <dgm:cxn modelId="{B6B833A2-99F6-461B-8E12-386062FEFFA9}" type="presParOf" srcId="{2DF5A5E5-70A4-41D1-BC95-20161548F953}" destId="{27DF07E4-340A-4048-8EA6-B211E1541073}" srcOrd="2" destOrd="0" presId="urn:microsoft.com/office/officeart/2018/2/layout/IconLabelList"/>
    <dgm:cxn modelId="{E1F105EF-73F9-4B82-BC38-6DED6162F267}" type="presParOf" srcId="{27DF07E4-340A-4048-8EA6-B211E1541073}" destId="{5AB1B48A-337D-4A7B-80FD-4B8338F49B1A}" srcOrd="0" destOrd="0" presId="urn:microsoft.com/office/officeart/2018/2/layout/IconLabelList"/>
    <dgm:cxn modelId="{88E39F8D-98AE-468B-BDA5-6B973A9DAE55}" type="presParOf" srcId="{27DF07E4-340A-4048-8EA6-B211E1541073}" destId="{D2A2ADC4-DCA0-4551-B3F7-830A7B86CC46}" srcOrd="1" destOrd="0" presId="urn:microsoft.com/office/officeart/2018/2/layout/IconLabelList"/>
    <dgm:cxn modelId="{D8ED7B49-7CF4-40C7-8ED4-4B41C37D9972}" type="presParOf" srcId="{27DF07E4-340A-4048-8EA6-B211E1541073}" destId="{99F17F53-90DD-4074-92A1-6C1B38EF4AFF}" srcOrd="2" destOrd="0" presId="urn:microsoft.com/office/officeart/2018/2/layout/IconLabelList"/>
    <dgm:cxn modelId="{86A7A479-750C-4261-A30E-9E5CB845F053}" type="presParOf" srcId="{2DF5A5E5-70A4-41D1-BC95-20161548F953}" destId="{43107087-5E95-4F8E-B67E-9CA76314530F}" srcOrd="3" destOrd="0" presId="urn:microsoft.com/office/officeart/2018/2/layout/IconLabelList"/>
    <dgm:cxn modelId="{0CFA45C1-B267-4ABB-A055-5E40F5DD9FDE}" type="presParOf" srcId="{2DF5A5E5-70A4-41D1-BC95-20161548F953}" destId="{506D4940-A5C4-4C37-9AFA-03838F1BAD5D}" srcOrd="4" destOrd="0" presId="urn:microsoft.com/office/officeart/2018/2/layout/IconLabelList"/>
    <dgm:cxn modelId="{72A53E66-CA39-4CB5-9302-0D5F986C313A}" type="presParOf" srcId="{506D4940-A5C4-4C37-9AFA-03838F1BAD5D}" destId="{E19B2F22-F64A-42B8-9395-523B562D94E5}" srcOrd="0" destOrd="0" presId="urn:microsoft.com/office/officeart/2018/2/layout/IconLabelList"/>
    <dgm:cxn modelId="{7F4ECF84-5598-4744-BF80-089828A07874}" type="presParOf" srcId="{506D4940-A5C4-4C37-9AFA-03838F1BAD5D}" destId="{82B6C8CF-C298-426E-868F-8F3B5879E788}" srcOrd="1" destOrd="0" presId="urn:microsoft.com/office/officeart/2018/2/layout/IconLabelList"/>
    <dgm:cxn modelId="{604696E9-EF07-47C6-A13D-1BE54173478B}" type="presParOf" srcId="{506D4940-A5C4-4C37-9AFA-03838F1BAD5D}" destId="{82506910-E3F4-431A-8E51-3CCAF37DF575}" srcOrd="2" destOrd="0" presId="urn:microsoft.com/office/officeart/2018/2/layout/IconLabelList"/>
    <dgm:cxn modelId="{8107AAF7-A299-480F-AF99-D23E180A7B38}" type="presParOf" srcId="{2DF5A5E5-70A4-41D1-BC95-20161548F953}" destId="{9393B2EA-F53E-4CD2-BA49-6F9FC4F8C7DC}" srcOrd="5" destOrd="0" presId="urn:microsoft.com/office/officeart/2018/2/layout/IconLabelList"/>
    <dgm:cxn modelId="{0A0E01BB-160A-46F7-B418-B31B2E598840}" type="presParOf" srcId="{2DF5A5E5-70A4-41D1-BC95-20161548F953}" destId="{97E01BDA-32A7-4ABA-AD34-6CDD821A5A36}" srcOrd="6" destOrd="0" presId="urn:microsoft.com/office/officeart/2018/2/layout/IconLabelList"/>
    <dgm:cxn modelId="{9C3C000F-4081-4C4D-907A-D444E0D706C4}" type="presParOf" srcId="{97E01BDA-32A7-4ABA-AD34-6CDD821A5A36}" destId="{391FF981-C0F1-4EA4-81B4-28D229B85F46}" srcOrd="0" destOrd="0" presId="urn:microsoft.com/office/officeart/2018/2/layout/IconLabelList"/>
    <dgm:cxn modelId="{ECBA786A-9DF2-4A1C-96BF-74AB67268861}" type="presParOf" srcId="{97E01BDA-32A7-4ABA-AD34-6CDD821A5A36}" destId="{C1F99E61-7217-40F6-BEBB-B084073C85EB}" srcOrd="1" destOrd="0" presId="urn:microsoft.com/office/officeart/2018/2/layout/IconLabelList"/>
    <dgm:cxn modelId="{1FD51D09-F18B-41E9-AEEE-CF733468B1A1}" type="presParOf" srcId="{97E01BDA-32A7-4ABA-AD34-6CDD821A5A36}" destId="{C4388DB9-FEA0-47CF-A3A7-D61920F9D77C}" srcOrd="2" destOrd="0" presId="urn:microsoft.com/office/officeart/2018/2/layout/IconLabelList"/>
    <dgm:cxn modelId="{FF7EA8B6-B923-4F10-B782-BDA6243C4633}" type="presParOf" srcId="{2DF5A5E5-70A4-41D1-BC95-20161548F953}" destId="{3ACB9424-65C5-4D3D-BD34-8C80AB210FD1}" srcOrd="7" destOrd="0" presId="urn:microsoft.com/office/officeart/2018/2/layout/IconLabelList"/>
    <dgm:cxn modelId="{5BAB855E-8E7D-4A9F-8E75-65B2D5274BA2}" type="presParOf" srcId="{2DF5A5E5-70A4-41D1-BC95-20161548F953}" destId="{A5CBA090-454E-4276-8D9F-DC9C1320E2EB}" srcOrd="8" destOrd="0" presId="urn:microsoft.com/office/officeart/2018/2/layout/IconLabelList"/>
    <dgm:cxn modelId="{674389F2-7ED2-4296-90A3-200F4CCDDD1D}" type="presParOf" srcId="{A5CBA090-454E-4276-8D9F-DC9C1320E2EB}" destId="{EA87585F-D288-48CA-B848-C9EED993D6E6}" srcOrd="0" destOrd="0" presId="urn:microsoft.com/office/officeart/2018/2/layout/IconLabelList"/>
    <dgm:cxn modelId="{EC988247-D534-4F97-B3E7-CA926B4EDF83}" type="presParOf" srcId="{A5CBA090-454E-4276-8D9F-DC9C1320E2EB}" destId="{35DB197B-D5AF-4C2D-AC38-1C8C35387F7F}" srcOrd="1" destOrd="0" presId="urn:microsoft.com/office/officeart/2018/2/layout/IconLabelList"/>
    <dgm:cxn modelId="{2736C51F-EA93-40F6-80CF-E5AD94918665}" type="presParOf" srcId="{A5CBA090-454E-4276-8D9F-DC9C1320E2EB}" destId="{6008A64B-939F-4E2E-B0F6-2121CBC77315}" srcOrd="2" destOrd="0" presId="urn:microsoft.com/office/officeart/2018/2/layout/IconLabelList"/>
    <dgm:cxn modelId="{2E717908-62F2-4224-B147-72B96B796B85}" type="presParOf" srcId="{2DF5A5E5-70A4-41D1-BC95-20161548F953}" destId="{E95653D8-0B78-4590-97BC-FAFA2547DDB4}" srcOrd="9" destOrd="0" presId="urn:microsoft.com/office/officeart/2018/2/layout/IconLabelList"/>
    <dgm:cxn modelId="{9BC0CF33-C053-4E14-BA9A-BCCFBB6491AF}" type="presParOf" srcId="{2DF5A5E5-70A4-41D1-BC95-20161548F953}" destId="{948F389C-1ECD-4232-A6A9-0D5B2D3CCB44}" srcOrd="10" destOrd="0" presId="urn:microsoft.com/office/officeart/2018/2/layout/IconLabelList"/>
    <dgm:cxn modelId="{D4C84589-CE5B-476C-87D7-8BCC40986B81}" type="presParOf" srcId="{948F389C-1ECD-4232-A6A9-0D5B2D3CCB44}" destId="{513D9E12-B1EC-4DE0-A17F-AFDE199272CF}" srcOrd="0" destOrd="0" presId="urn:microsoft.com/office/officeart/2018/2/layout/IconLabelList"/>
    <dgm:cxn modelId="{21034975-3E02-414E-86FC-6AF4A6A27F32}" type="presParOf" srcId="{948F389C-1ECD-4232-A6A9-0D5B2D3CCB44}" destId="{A21D49AD-2999-42F0-AD1E-24469CB246B7}" srcOrd="1" destOrd="0" presId="urn:microsoft.com/office/officeart/2018/2/layout/IconLabelList"/>
    <dgm:cxn modelId="{071F374D-BACA-4A05-8713-3C8AAE3CEC82}" type="presParOf" srcId="{948F389C-1ECD-4232-A6A9-0D5B2D3CCB44}" destId="{B9DFA251-7BC8-4EF1-87B9-76A682511212}" srcOrd="2" destOrd="0" presId="urn:microsoft.com/office/officeart/2018/2/layout/IconLabelList"/>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E4EF13-5FB1-40D8-9645-C752643C6178}">
      <dsp:nvSpPr>
        <dsp:cNvPr id="0" name=""/>
        <dsp:cNvSpPr/>
      </dsp:nvSpPr>
      <dsp:spPr>
        <a:xfrm>
          <a:off x="1062211" y="1739347"/>
          <a:ext cx="1015228" cy="10152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3BE598-6BEA-40AF-88BC-80668891B13F}">
      <dsp:nvSpPr>
        <dsp:cNvPr id="0" name=""/>
        <dsp:cNvSpPr/>
      </dsp:nvSpPr>
      <dsp:spPr>
        <a:xfrm>
          <a:off x="441794" y="3087379"/>
          <a:ext cx="225606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kern="1200"/>
            <a:t>Information hiding;</a:t>
          </a:r>
        </a:p>
      </dsp:txBody>
      <dsp:txXfrm>
        <a:off x="441794" y="3087379"/>
        <a:ext cx="2256063" cy="720000"/>
      </dsp:txXfrm>
    </dsp:sp>
    <dsp:sp modelId="{5AB1B48A-337D-4A7B-80FD-4B8338F49B1A}">
      <dsp:nvSpPr>
        <dsp:cNvPr id="0" name=""/>
        <dsp:cNvSpPr/>
      </dsp:nvSpPr>
      <dsp:spPr>
        <a:xfrm>
          <a:off x="3713085" y="1739347"/>
          <a:ext cx="1015228" cy="10152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9F17F53-90DD-4074-92A1-6C1B38EF4AFF}">
      <dsp:nvSpPr>
        <dsp:cNvPr id="0" name=""/>
        <dsp:cNvSpPr/>
      </dsp:nvSpPr>
      <dsp:spPr>
        <a:xfrm>
          <a:off x="3092668" y="3087379"/>
          <a:ext cx="225606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kern="1200"/>
            <a:t>Invariant behavior;</a:t>
          </a:r>
        </a:p>
      </dsp:txBody>
      <dsp:txXfrm>
        <a:off x="3092668" y="3087379"/>
        <a:ext cx="2256063" cy="720000"/>
      </dsp:txXfrm>
    </dsp:sp>
    <dsp:sp modelId="{E19B2F22-F64A-42B8-9395-523B562D94E5}">
      <dsp:nvSpPr>
        <dsp:cNvPr id="0" name=""/>
        <dsp:cNvSpPr/>
      </dsp:nvSpPr>
      <dsp:spPr>
        <a:xfrm>
          <a:off x="6363960" y="1739347"/>
          <a:ext cx="1015228" cy="10152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506910-E3F4-431A-8E51-3CCAF37DF575}">
      <dsp:nvSpPr>
        <dsp:cNvPr id="0" name=""/>
        <dsp:cNvSpPr/>
      </dsp:nvSpPr>
      <dsp:spPr>
        <a:xfrm>
          <a:off x="5743542" y="3087379"/>
          <a:ext cx="225606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kern="1200"/>
            <a:t>Data generality; </a:t>
          </a:r>
        </a:p>
      </dsp:txBody>
      <dsp:txXfrm>
        <a:off x="5743542" y="3087379"/>
        <a:ext cx="2256063" cy="720000"/>
      </dsp:txXfrm>
    </dsp:sp>
    <dsp:sp modelId="{391FF981-C0F1-4EA4-81B4-28D229B85F46}">
      <dsp:nvSpPr>
        <dsp:cNvPr id="0" name=""/>
        <dsp:cNvSpPr/>
      </dsp:nvSpPr>
      <dsp:spPr>
        <a:xfrm>
          <a:off x="9014834" y="1739347"/>
          <a:ext cx="1015228" cy="10152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4388DB9-FEA0-47CF-A3A7-D61920F9D77C}">
      <dsp:nvSpPr>
        <dsp:cNvPr id="0" name=""/>
        <dsp:cNvSpPr/>
      </dsp:nvSpPr>
      <dsp:spPr>
        <a:xfrm>
          <a:off x="8394417" y="3087379"/>
          <a:ext cx="225606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kern="1200"/>
            <a:t>Secure arguments;</a:t>
          </a:r>
        </a:p>
      </dsp:txBody>
      <dsp:txXfrm>
        <a:off x="8394417" y="3087379"/>
        <a:ext cx="2256063" cy="720000"/>
      </dsp:txXfrm>
    </dsp:sp>
    <dsp:sp modelId="{EA87585F-D288-48CA-B848-C9EED993D6E6}">
      <dsp:nvSpPr>
        <dsp:cNvPr id="0" name=""/>
        <dsp:cNvSpPr/>
      </dsp:nvSpPr>
      <dsp:spPr>
        <a:xfrm>
          <a:off x="11665708" y="1739347"/>
          <a:ext cx="1015228" cy="10152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08A64B-939F-4E2E-B0F6-2121CBC77315}">
      <dsp:nvSpPr>
        <dsp:cNvPr id="0" name=""/>
        <dsp:cNvSpPr/>
      </dsp:nvSpPr>
      <dsp:spPr>
        <a:xfrm>
          <a:off x="11045291" y="3087379"/>
          <a:ext cx="225606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kern="1200"/>
            <a:t>Recursive construction;</a:t>
          </a:r>
        </a:p>
      </dsp:txBody>
      <dsp:txXfrm>
        <a:off x="11045291" y="3087379"/>
        <a:ext cx="2256063" cy="720000"/>
      </dsp:txXfrm>
    </dsp:sp>
    <dsp:sp modelId="{513D9E12-B1EC-4DE0-A17F-AFDE199272CF}">
      <dsp:nvSpPr>
        <dsp:cNvPr id="0" name=""/>
        <dsp:cNvSpPr/>
      </dsp:nvSpPr>
      <dsp:spPr>
        <a:xfrm>
          <a:off x="14316582" y="1739347"/>
          <a:ext cx="1015228" cy="10152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DFA251-7BC8-4EF1-87B9-76A682511212}">
      <dsp:nvSpPr>
        <dsp:cNvPr id="0" name=""/>
        <dsp:cNvSpPr/>
      </dsp:nvSpPr>
      <dsp:spPr>
        <a:xfrm>
          <a:off x="13696165" y="3087379"/>
          <a:ext cx="225606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kern="1200"/>
            <a:t>System resource management;</a:t>
          </a:r>
        </a:p>
      </dsp:txBody>
      <dsp:txXfrm>
        <a:off x="13696165" y="3087379"/>
        <a:ext cx="225606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Memory latency </a:t>
            </a:r>
            <a:r>
              <a:rPr lang="en-US" dirty="0"/>
              <a:t>is the time it takes to fetch one instruction, or a word or byte of data, measured in picoseconds (</a:t>
            </a:r>
            <a:r>
              <a:rPr lang="en-US" dirty="0" err="1"/>
              <a:t>psec</a:t>
            </a:r>
            <a:r>
              <a:rPr lang="en-US" dirty="0"/>
              <a:t>), nanoseconds (</a:t>
            </a:r>
            <a:r>
              <a:rPr lang="en-US" dirty="0" err="1"/>
              <a:t>nsec</a:t>
            </a:r>
            <a:r>
              <a:rPr lang="en-US" dirty="0"/>
              <a:t>), or milliseconds (msec); </a:t>
            </a:r>
          </a:p>
          <a:p>
            <a:r>
              <a:rPr lang="en-US" b="1" dirty="0"/>
              <a:t>memory bandwidth</a:t>
            </a:r>
            <a:r>
              <a:rPr lang="en-US" dirty="0"/>
              <a:t> is the amount of data delivered in one unit of time, measured in GB/sec or MB/sec.</a:t>
            </a:r>
          </a:p>
          <a:p>
            <a:r>
              <a:rPr lang="en-US" dirty="0"/>
              <a:t>Ideally, the storage should have infinite capacity and bandwidth and zero latency and cost,</a:t>
            </a:r>
          </a:p>
          <a:p>
            <a:r>
              <a:rPr lang="en-US" dirty="0"/>
              <a:t>but in reality, the storage has limited capacity, finite bandwidth, and non-zero latency. </a:t>
            </a:r>
          </a:p>
          <a:p>
            <a:r>
              <a:rPr lang="en-US" b="1" dirty="0"/>
              <a:t>Memory cost</a:t>
            </a:r>
            <a:r>
              <a:rPr lang="en-US" dirty="0"/>
              <a:t> is also a factor: The faster, the higher is the cost of physical memory.</a:t>
            </a:r>
          </a:p>
          <a:p>
            <a:r>
              <a:rPr lang="en-US" dirty="0"/>
              <a:t>Computers need large memories because the code footprint, as well as the size of data, have been continually increasing.</a:t>
            </a:r>
          </a:p>
          <a:p>
            <a:r>
              <a:rPr lang="en-US" dirty="0"/>
              <a:t>The cost of very large and very fast memory is prohibitive, and solutions balancing the memory performance and cost have been developed.</a:t>
            </a:r>
          </a:p>
        </p:txBody>
      </p:sp>
      <p:sp>
        <p:nvSpPr>
          <p:cNvPr id="4" name="Slide Number Placeholder 3"/>
          <p:cNvSpPr>
            <a:spLocks noGrp="1"/>
          </p:cNvSpPr>
          <p:nvPr>
            <p:ph type="sldNum" sz="quarter" idx="5"/>
          </p:nvPr>
        </p:nvSpPr>
        <p:spPr/>
        <p:txBody>
          <a:bodyPr/>
          <a:lstStyle/>
          <a:p>
            <a:pPr>
              <a:defRPr/>
            </a:pPr>
            <a:fld id="{79AA5398-C5FC-44A4-BE40-14B7E609EB14}" type="slidenum">
              <a:rPr lang="en-US" smtClean="0"/>
              <a:pPr>
                <a:defRPr/>
              </a:pPr>
              <a:t>14</a:t>
            </a:fld>
            <a:endParaRPr lang="en-US"/>
          </a:p>
        </p:txBody>
      </p:sp>
    </p:spTree>
    <p:extLst>
      <p:ext uri="{BB962C8B-B14F-4D97-AF65-F5344CB8AC3E}">
        <p14:creationId xmlns:p14="http://schemas.microsoft.com/office/powerpoint/2010/main" val="2054781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9AA5398-C5FC-44A4-BE40-14B7E609EB14}" type="slidenum">
              <a:rPr lang="en-US" smtClean="0"/>
              <a:pPr>
                <a:defRPr/>
              </a:pPr>
              <a:t>16</a:t>
            </a:fld>
            <a:endParaRPr lang="en-US"/>
          </a:p>
        </p:txBody>
      </p:sp>
    </p:spTree>
    <p:extLst>
      <p:ext uri="{BB962C8B-B14F-4D97-AF65-F5344CB8AC3E}">
        <p14:creationId xmlns:p14="http://schemas.microsoft.com/office/powerpoint/2010/main" val="3300275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indent="-228600">
              <a:buAutoNum type="arabicPeriod"/>
            </a:pPr>
            <a:r>
              <a:rPr lang="en-US" b="1" dirty="0"/>
              <a:t>Information hiding</a:t>
            </a:r>
            <a:r>
              <a:rPr lang="en-US" dirty="0"/>
              <a:t>; the user of a module does not need to know anything about the internal mechanism of the module to make effective use of it.</a:t>
            </a:r>
          </a:p>
          <a:p>
            <a:pPr marL="228600" indent="-228600">
              <a:buAutoNum type="arabicPeriod"/>
            </a:pPr>
            <a:r>
              <a:rPr lang="en-US" b="1" dirty="0"/>
              <a:t>Invariant behavior</a:t>
            </a:r>
            <a:r>
              <a:rPr lang="en-US" dirty="0"/>
              <a:t>; the functional behavior of a module must be independent of the site or context from which it is invoked.</a:t>
            </a:r>
          </a:p>
          <a:p>
            <a:pPr marL="228600" indent="-228600">
              <a:buAutoNum type="arabicPeriod"/>
            </a:pPr>
            <a:r>
              <a:rPr lang="en-US" b="1" dirty="0"/>
              <a:t>Data generality</a:t>
            </a:r>
            <a:r>
              <a:rPr lang="en-US" dirty="0"/>
              <a:t>; the interface to a module must be capable of passing any data object an application may require.</a:t>
            </a:r>
          </a:p>
          <a:p>
            <a:pPr marL="228600" indent="-228600">
              <a:buAutoNum type="arabicPeriod"/>
            </a:pPr>
            <a:r>
              <a:rPr lang="en-US" b="1" dirty="0"/>
              <a:t>Secure arguments</a:t>
            </a:r>
            <a:r>
              <a:rPr lang="en-US" dirty="0"/>
              <a:t>; the interface to a module must not allow side-effects on arguments supplied to the interface.</a:t>
            </a:r>
          </a:p>
          <a:p>
            <a:pPr marL="228600" indent="-228600">
              <a:buAutoNum type="arabicPeriod"/>
            </a:pPr>
            <a:r>
              <a:rPr lang="en-US" b="1" dirty="0"/>
              <a:t>Recursive construction</a:t>
            </a:r>
            <a:r>
              <a:rPr lang="en-US" dirty="0"/>
              <a:t>; a program constructed from modules must be usable as a component in building larger programs or modules.</a:t>
            </a:r>
          </a:p>
          <a:p>
            <a:pPr marL="228600" indent="-228600">
              <a:buAutoNum type="arabicPeriod"/>
            </a:pPr>
            <a:r>
              <a:rPr lang="en-US" b="1" dirty="0"/>
              <a:t>System resource management</a:t>
            </a:r>
            <a:r>
              <a:rPr lang="en-US" dirty="0"/>
              <a:t>; resource management for program modules must be performed by the computer system and not by individual program modules.</a:t>
            </a:r>
          </a:p>
          <a:p>
            <a:endParaRPr lang="en-US" dirty="0"/>
          </a:p>
          <a:p>
            <a:endParaRPr lang="en-US" dirty="0"/>
          </a:p>
        </p:txBody>
      </p:sp>
    </p:spTree>
    <p:extLst>
      <p:ext uri="{BB962C8B-B14F-4D97-AF65-F5344CB8AC3E}">
        <p14:creationId xmlns:p14="http://schemas.microsoft.com/office/powerpoint/2010/main" val="32491753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hyperlink" Target="https://pixabay.com/illustrations/cost-dollar-finance-money-business-1174932/"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30.jpg"/><Relationship Id="rId5" Type="http://schemas.openxmlformats.org/officeDocument/2006/relationships/hyperlink" Target="https://www.rawpixel.com/search/broadband" TargetMode="External"/><Relationship Id="rId4" Type="http://schemas.openxmlformats.org/officeDocument/2006/relationships/image" Target="../media/image29.1"/></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15.xml"/><Relationship Id="rId5" Type="http://schemas.openxmlformats.org/officeDocument/2006/relationships/hyperlink" Target="https://creativecommons.org/licenses/by-sa/3.0/" TargetMode="External"/><Relationship Id="rId4" Type="http://schemas.openxmlformats.org/officeDocument/2006/relationships/hyperlink" Target="https://he.wikipedia.org/wiki/AR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pxhere.com/en/photo/1189447" TargetMode="External"/><Relationship Id="rId2" Type="http://schemas.openxmlformats.org/officeDocument/2006/relationships/image" Target="../media/image32.jp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hyperlink" Target="https://wiki.kfki.hu/nano/How_to_run_calculations" TargetMode="External"/><Relationship Id="rId2" Type="http://schemas.openxmlformats.org/officeDocument/2006/relationships/image" Target="../media/image33.gif"/><Relationship Id="rId1" Type="http://schemas.openxmlformats.org/officeDocument/2006/relationships/slideLayout" Target="../slideLayouts/slideLayout15.xml"/><Relationship Id="rId4" Type="http://schemas.openxmlformats.org/officeDocument/2006/relationships/hyperlink" Target="https://creativecommons.org/licenses/by/3.0/"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iki.kfki.hu/nano/How_to_run_calculations" TargetMode="External"/><Relationship Id="rId2" Type="http://schemas.openxmlformats.org/officeDocument/2006/relationships/image" Target="../media/image33.gif"/><Relationship Id="rId1" Type="http://schemas.openxmlformats.org/officeDocument/2006/relationships/slideLayout" Target="../slideLayouts/slideLayout15.xml"/><Relationship Id="rId4" Type="http://schemas.openxmlformats.org/officeDocument/2006/relationships/hyperlink" Target="https://creativecommons.org/licenses/by/3.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hyperlink" Target="https://www.wallpaperflare.com/black-circuit-breaker-server-machine-computer-hardware-network-wallpaper-hoeta/download/1920x1080" TargetMode="External"/><Relationship Id="rId2" Type="http://schemas.openxmlformats.org/officeDocument/2006/relationships/image" Target="../media/image34.jp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hyperlink" Target="https://www.wallpaperflare.com/black-circuit-breaker-server-machine-computer-hardware-network-wallpaper-hoeta/download/1920x1080" TargetMode="External"/><Relationship Id="rId2" Type="http://schemas.openxmlformats.org/officeDocument/2006/relationships/image" Target="../media/image34.jp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hyperlink" Target="https://framablog.org/2019/03/07/la-fee-diverse-deploie-ses-ailes/" TargetMode="External"/><Relationship Id="rId2" Type="http://schemas.openxmlformats.org/officeDocument/2006/relationships/image" Target="../media/image35.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framablog.org/2019/03/07/la-fee-diverse-deploie-ses-ailes/" TargetMode="External"/><Relationship Id="rId2" Type="http://schemas.openxmlformats.org/officeDocument/2006/relationships/image" Target="../media/image35.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hyperlink" Target="https://pixabay.com/no/lego-barn-leker-fargerike-spiller-674881/" TargetMode="External"/><Relationship Id="rId2" Type="http://schemas.openxmlformats.org/officeDocument/2006/relationships/image" Target="../media/image36.jp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framablog.org/2019/03/07/la-fee-diverse-deploie-ses-ailes/" TargetMode="External"/><Relationship Id="rId2" Type="http://schemas.openxmlformats.org/officeDocument/2006/relationships/image" Target="../media/image35.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framablog.org/2019/03/07/la-fee-diverse-deploie-ses-ailes/" TargetMode="External"/><Relationship Id="rId2" Type="http://schemas.openxmlformats.org/officeDocument/2006/relationships/image" Target="../media/image35.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pexels.com/photo/brown-brick-wall-4373161/" TargetMode="External"/><Relationship Id="rId2" Type="http://schemas.openxmlformats.org/officeDocument/2006/relationships/image" Target="../media/image49.jpe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dirty="0"/>
              <a:t>Parallel Processing and Distribute Computing</a:t>
            </a:r>
            <a:br>
              <a:rPr lang="en-US" dirty="0"/>
            </a:br>
            <a:br>
              <a:rPr lang="en-US" dirty="0"/>
            </a:br>
            <a:r>
              <a:rPr lang="en-US" sz="6000" dirty="0"/>
              <a:t>Session 03</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US" sz="3200" dirty="0"/>
          </a:p>
          <a:p>
            <a:pPr marL="0" indent="0">
              <a:buNone/>
            </a:pPr>
            <a:r>
              <a:rPr lang="en-US" sz="3200" dirty="0"/>
              <a:t>Students able to known and explain the concepts of computer architecture and it complications</a:t>
            </a:r>
          </a:p>
          <a:p>
            <a:pPr marL="0" indent="0">
              <a:buNone/>
            </a:pPr>
            <a:endParaRPr lang="en-US" sz="3200" dirty="0"/>
          </a:p>
          <a:p>
            <a:pPr marL="0" indent="0">
              <a:buNone/>
            </a:pPr>
            <a:r>
              <a:rPr lang="en-US" sz="3200" dirty="0"/>
              <a:t>Students known about data, thread, and task level on parallelism</a:t>
            </a:r>
          </a:p>
          <a:p>
            <a:pPr marL="0" indent="0">
              <a:buNone/>
            </a:pPr>
            <a:endParaRPr lang="en-US" sz="3200" dirty="0"/>
          </a:p>
          <a:p>
            <a:pPr marL="0" indent="0">
              <a:buNone/>
            </a:pPr>
            <a:r>
              <a:rPr lang="en-US" sz="3200" dirty="0"/>
              <a:t>Students known and able to describe supercomputer, distributed systems, and modularity</a:t>
            </a:r>
          </a:p>
          <a:p>
            <a:pPr marL="0" indent="0">
              <a:buNone/>
            </a:pPr>
            <a:endParaRPr lang="en-US" sz="3200"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US" sz="3200" dirty="0"/>
              <a:t>Computer Architecture Concepts</a:t>
            </a:r>
          </a:p>
          <a:p>
            <a:r>
              <a:rPr lang="en-US" sz="3200" dirty="0"/>
              <a:t>Grand Architectural Complications</a:t>
            </a:r>
          </a:p>
          <a:p>
            <a:r>
              <a:rPr lang="en-US" sz="3200" dirty="0"/>
              <a:t>Data, Thread-level, and Task-level Parallelism</a:t>
            </a:r>
          </a:p>
          <a:p>
            <a:r>
              <a:rPr lang="en-US" sz="3200" dirty="0"/>
              <a:t>From Supercomputers to Distributed Systems</a:t>
            </a:r>
          </a:p>
          <a:p>
            <a:r>
              <a:rPr lang="en-US" sz="3200" dirty="0"/>
              <a:t>Modularity</a:t>
            </a:r>
          </a:p>
          <a:p>
            <a:pPr marL="0" indent="0">
              <a:buNone/>
            </a:pPr>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Computer Architecture Concepts</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946277"/>
            <a:ext cx="14715569" cy="511175"/>
          </a:xfrm>
        </p:spPr>
        <p:txBody>
          <a:bodyPr>
            <a:normAutofit fontScale="90000"/>
          </a:bodyPr>
          <a:lstStyle/>
          <a:p>
            <a:r>
              <a:rPr lang="en-US" dirty="0"/>
              <a:t>Computer Architecture Concepts</a:t>
            </a:r>
          </a:p>
        </p:txBody>
      </p:sp>
      <p:sp>
        <p:nvSpPr>
          <p:cNvPr id="3" name="Text Placeholder 2">
            <a:extLst>
              <a:ext uri="{FF2B5EF4-FFF2-40B4-BE49-F238E27FC236}">
                <a16:creationId xmlns:a16="http://schemas.microsoft.com/office/drawing/2014/main" id="{0F8AA97F-8B42-B041-BB62-3C1C43850DE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sz="quarter" idx="11"/>
          </p:nvPr>
        </p:nvSpPr>
        <p:spPr/>
        <p:txBody>
          <a:bodyPr>
            <a:normAutofit fontScale="70000" lnSpcReduction="20000"/>
          </a:bodyPr>
          <a:lstStyle/>
          <a:p>
            <a:pPr marL="0" indent="0">
              <a:buNone/>
            </a:pPr>
            <a:r>
              <a:rPr lang="en-US" sz="4000" dirty="0"/>
              <a:t>Computer architecture describes the functionality, organization, and implementation of computer systems.</a:t>
            </a:r>
          </a:p>
          <a:p>
            <a:pPr marL="0" indent="0">
              <a:buNone/>
            </a:pPr>
            <a:r>
              <a:rPr lang="en-US" sz="4000" dirty="0"/>
              <a:t>Three sub-systems of computer process:</a:t>
            </a:r>
          </a:p>
          <a:p>
            <a:pPr marL="0" indent="0">
              <a:buNone/>
            </a:pPr>
            <a:r>
              <a:rPr lang="en-US" sz="4000" dirty="0"/>
              <a:t>      - CPU (Central Processing Unit) : Transforms data</a:t>
            </a:r>
          </a:p>
          <a:p>
            <a:pPr marL="0" indent="0">
              <a:buNone/>
            </a:pPr>
            <a:r>
              <a:rPr lang="en-US" sz="4000" dirty="0"/>
              <a:t>      - Memory : Stores data</a:t>
            </a:r>
          </a:p>
          <a:p>
            <a:pPr marL="0" indent="0">
              <a:buNone/>
            </a:pPr>
            <a:r>
              <a:rPr lang="en-US" sz="4000" dirty="0"/>
              <a:t>      - I/O (Input/Output) : Supports communication with the outside world</a:t>
            </a:r>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CAB1-535E-115F-AE1E-E8FDE6A953F8}"/>
              </a:ext>
            </a:extLst>
          </p:cNvPr>
          <p:cNvSpPr>
            <a:spLocks noGrp="1"/>
          </p:cNvSpPr>
          <p:nvPr>
            <p:ph type="title"/>
          </p:nvPr>
        </p:nvSpPr>
        <p:spPr/>
        <p:txBody>
          <a:bodyPr anchor="ctr">
            <a:normAutofit fontScale="90000"/>
          </a:bodyPr>
          <a:lstStyle/>
          <a:p>
            <a:r>
              <a:rPr lang="en-US" dirty="0"/>
              <a:t>Latency Hiding</a:t>
            </a:r>
          </a:p>
        </p:txBody>
      </p:sp>
      <p:sp>
        <p:nvSpPr>
          <p:cNvPr id="4" name="Content Placeholder 3">
            <a:extLst>
              <a:ext uri="{FF2B5EF4-FFF2-40B4-BE49-F238E27FC236}">
                <a16:creationId xmlns:a16="http://schemas.microsoft.com/office/drawing/2014/main" id="{6D056936-694B-AF01-91D0-DAEB0344324D}"/>
              </a:ext>
            </a:extLst>
          </p:cNvPr>
          <p:cNvSpPr>
            <a:spLocks noGrp="1"/>
          </p:cNvSpPr>
          <p:nvPr>
            <p:ph type="body" sz="quarter" idx="10"/>
          </p:nvPr>
        </p:nvSpPr>
        <p:spPr>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chor="t">
            <a:normAutofit/>
          </a:bodyPr>
          <a:lstStyle/>
          <a:p>
            <a:pPr marL="0" indent="0" algn="ctr" hangingPunct="0">
              <a:spcBef>
                <a:spcPts val="0"/>
              </a:spcBef>
              <a:spcAft>
                <a:spcPts val="600"/>
              </a:spcAft>
              <a:buSzTx/>
              <a:buNone/>
            </a:pPr>
            <a:endParaRPr kumimoji="0" lang="en-US" sz="3000" b="0" i="0" u="none" strike="noStrike" cap="none" spc="0" normalizeH="0" baseline="0" dirty="0">
              <a:ln>
                <a:noFill/>
              </a:ln>
              <a:solidFill>
                <a:srgbClr val="FFFFFF"/>
              </a:solidFill>
              <a:effectLst/>
              <a:uFillTx/>
            </a:endParaRPr>
          </a:p>
        </p:txBody>
      </p:sp>
      <p:sp>
        <p:nvSpPr>
          <p:cNvPr id="8" name="Text Placeholder 7">
            <a:extLst>
              <a:ext uri="{FF2B5EF4-FFF2-40B4-BE49-F238E27FC236}">
                <a16:creationId xmlns:a16="http://schemas.microsoft.com/office/drawing/2014/main" id="{41F83A61-4730-098E-E8AB-CFABD7DEA2D0}"/>
              </a:ext>
            </a:extLst>
          </p:cNvPr>
          <p:cNvSpPr>
            <a:spLocks noGrp="1"/>
          </p:cNvSpPr>
          <p:nvPr>
            <p:ph type="body" sz="quarter" idx="16"/>
          </p:nvPr>
        </p:nvSpPr>
        <p:spPr/>
        <p:txBody>
          <a:bodyPr/>
          <a:lstStyle/>
          <a:p>
            <a:pPr hangingPunct="0">
              <a:spcBef>
                <a:spcPts val="0"/>
              </a:spcBef>
              <a:spcAft>
                <a:spcPts val="600"/>
              </a:spcAft>
              <a:buSzTx/>
            </a:pPr>
            <a:endParaRPr lang="en-US" sz="2800" dirty="0"/>
          </a:p>
          <a:p>
            <a:pPr hangingPunct="0">
              <a:spcBef>
                <a:spcPts val="0"/>
              </a:spcBef>
              <a:spcAft>
                <a:spcPts val="600"/>
              </a:spcAft>
              <a:buSzTx/>
            </a:pPr>
            <a:r>
              <a:rPr lang="en-US" sz="2800" dirty="0"/>
              <a:t>CPU registers are the fastest, the main memory is slower by some two orders of magnitude, and I/O devices are orders of magnitude slower than memory.</a:t>
            </a:r>
          </a:p>
          <a:p>
            <a:pPr hangingPunct="0">
              <a:spcBef>
                <a:spcPts val="0"/>
              </a:spcBef>
              <a:spcAft>
                <a:spcPts val="600"/>
              </a:spcAft>
              <a:buSzTx/>
            </a:pPr>
            <a:endParaRPr lang="en-US" sz="2800" dirty="0"/>
          </a:p>
          <a:p>
            <a:pPr hangingPunct="0">
              <a:spcBef>
                <a:spcPts val="0"/>
              </a:spcBef>
              <a:spcAft>
                <a:spcPts val="600"/>
              </a:spcAft>
              <a:buSzTx/>
            </a:pPr>
            <a:r>
              <a:rPr lang="en-US" sz="2800" dirty="0"/>
              <a:t>The impact of this discrepancy on processor performance, due to physical and technological limitations of the three subsystems, can be hidden to some extent through architectural complications and data buffering.</a:t>
            </a:r>
          </a:p>
          <a:p>
            <a:pPr hangingPunct="0">
              <a:spcBef>
                <a:spcPts val="0"/>
              </a:spcBef>
              <a:spcAft>
                <a:spcPts val="600"/>
              </a:spcAft>
              <a:buSzTx/>
            </a:pPr>
            <a:endParaRPr lang="en-US" sz="2800" dirty="0"/>
          </a:p>
          <a:p>
            <a:pPr hangingPunct="0">
              <a:spcBef>
                <a:spcPts val="0"/>
              </a:spcBef>
              <a:spcAft>
                <a:spcPts val="600"/>
              </a:spcAft>
              <a:buSzTx/>
            </a:pPr>
            <a:r>
              <a:rPr lang="en-US" sz="2800" dirty="0"/>
              <a:t>Hiding the latency of slower subsystems is the holy grail of computer architecture. Latency hiding leads to architectural complications, eventually creating the hardware vulnerabilities.</a:t>
            </a:r>
          </a:p>
          <a:p>
            <a:pPr hangingPunct="0">
              <a:spcBef>
                <a:spcPts val="0"/>
              </a:spcBef>
              <a:spcAft>
                <a:spcPts val="600"/>
              </a:spcAft>
              <a:buSzTx/>
            </a:pPr>
            <a:endParaRPr lang="en-US" sz="2800" dirty="0"/>
          </a:p>
          <a:p>
            <a:endParaRPr lang="en-US" dirty="0"/>
          </a:p>
        </p:txBody>
      </p:sp>
      <p:pic>
        <p:nvPicPr>
          <p:cNvPr id="10" name="Picture Placeholder 9">
            <a:extLst>
              <a:ext uri="{FF2B5EF4-FFF2-40B4-BE49-F238E27FC236}">
                <a16:creationId xmlns:a16="http://schemas.microsoft.com/office/drawing/2014/main" id="{6F26DF28-EC1C-D383-6208-010B22A14A0B}"/>
              </a:ext>
            </a:extLst>
          </p:cNvPr>
          <p:cNvPicPr>
            <a:picLocks noGrp="1" noChangeAspect="1"/>
          </p:cNvPicPr>
          <p:nvPr>
            <p:ph type="pic" sz="quarter" idx="13"/>
          </p:nvPr>
        </p:nvPicPr>
        <p:blipFill>
          <a:blip r:embed="rId2"/>
          <a:srcRect l="3698" r="3698"/>
          <a:stretch>
            <a:fillRect/>
          </a:stretch>
        </p:blipFill>
        <p:spPr>
          <a:prstGeom prst="rect">
            <a:avLst/>
          </a:prstGeom>
        </p:spPr>
      </p:pic>
      <p:sp>
        <p:nvSpPr>
          <p:cNvPr id="9" name="Text Placeholder 8">
            <a:extLst>
              <a:ext uri="{FF2B5EF4-FFF2-40B4-BE49-F238E27FC236}">
                <a16:creationId xmlns:a16="http://schemas.microsoft.com/office/drawing/2014/main" id="{F50A6BE3-9494-EABA-81E3-50FE2F3E0C31}"/>
              </a:ext>
            </a:extLst>
          </p:cNvPr>
          <p:cNvSpPr>
            <a:spLocks noGrp="1"/>
          </p:cNvSpPr>
          <p:nvPr>
            <p:ph type="body" sz="quarter" idx="17"/>
          </p:nvPr>
        </p:nvSpPr>
        <p:spPr/>
        <p:txBody>
          <a:bodyPr>
            <a:normAutofit fontScale="77500" lnSpcReduction="20000"/>
          </a:bodyPr>
          <a:lstStyle/>
          <a:p>
            <a:r>
              <a:rPr lang="en-US" dirty="0"/>
              <a:t>The three subsystems of a processor have different bandwidths, i.e., numbers of operations per unit of time, and latency, i.e., the time between the start and the completion of an operation.</a:t>
            </a:r>
          </a:p>
          <a:p>
            <a:endParaRPr lang="en-US" dirty="0"/>
          </a:p>
        </p:txBody>
      </p:sp>
    </p:spTree>
    <p:extLst>
      <p:ext uri="{BB962C8B-B14F-4D97-AF65-F5344CB8AC3E}">
        <p14:creationId xmlns:p14="http://schemas.microsoft.com/office/powerpoint/2010/main" val="29122815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FAA4-15CF-84CC-47CE-9F7A20819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E50B8-1881-0D83-3767-FD9E8E918272}"/>
              </a:ext>
            </a:extLst>
          </p:cNvPr>
          <p:cNvSpPr>
            <a:spLocks noGrp="1"/>
          </p:cNvSpPr>
          <p:nvPr>
            <p:ph type="title"/>
          </p:nvPr>
        </p:nvSpPr>
        <p:spPr/>
        <p:txBody>
          <a:bodyPr anchor="ctr">
            <a:normAutofit fontScale="90000"/>
          </a:bodyPr>
          <a:lstStyle/>
          <a:p>
            <a:r>
              <a:rPr lang="en-US" dirty="0"/>
              <a:t>Instruction Set Architecture (ISA)</a:t>
            </a:r>
          </a:p>
        </p:txBody>
      </p:sp>
      <p:sp>
        <p:nvSpPr>
          <p:cNvPr id="4" name="Content Placeholder 3">
            <a:extLst>
              <a:ext uri="{FF2B5EF4-FFF2-40B4-BE49-F238E27FC236}">
                <a16:creationId xmlns:a16="http://schemas.microsoft.com/office/drawing/2014/main" id="{5112A336-693B-93DD-119C-E8A703C7D17B}"/>
              </a:ext>
            </a:extLst>
          </p:cNvPr>
          <p:cNvSpPr>
            <a:spLocks noGrp="1"/>
          </p:cNvSpPr>
          <p:nvPr>
            <p:ph type="body" sz="quarter" idx="10"/>
          </p:nvPr>
        </p:nvSpPr>
        <p:spPr>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chor="t">
            <a:normAutofit/>
          </a:bodyPr>
          <a:lstStyle/>
          <a:p>
            <a:pPr marL="0" indent="0" algn="ctr" hangingPunct="0">
              <a:spcBef>
                <a:spcPts val="0"/>
              </a:spcBef>
              <a:spcAft>
                <a:spcPts val="600"/>
              </a:spcAft>
              <a:buSzTx/>
              <a:buNone/>
            </a:pPr>
            <a:endParaRPr kumimoji="0" lang="en-US" sz="3000" b="0" i="0" u="none" strike="noStrike" cap="none" spc="0" normalizeH="0" baseline="0" dirty="0">
              <a:ln>
                <a:noFill/>
              </a:ln>
              <a:solidFill>
                <a:srgbClr val="FFFFFF"/>
              </a:solidFill>
              <a:effectLst/>
              <a:uFillTx/>
            </a:endParaRPr>
          </a:p>
        </p:txBody>
      </p:sp>
      <p:sp>
        <p:nvSpPr>
          <p:cNvPr id="8" name="Text Placeholder 7">
            <a:extLst>
              <a:ext uri="{FF2B5EF4-FFF2-40B4-BE49-F238E27FC236}">
                <a16:creationId xmlns:a16="http://schemas.microsoft.com/office/drawing/2014/main" id="{938352AD-095E-213E-EBFA-28E02DC0E4A9}"/>
              </a:ext>
            </a:extLst>
          </p:cNvPr>
          <p:cNvSpPr>
            <a:spLocks noGrp="1"/>
          </p:cNvSpPr>
          <p:nvPr>
            <p:ph type="body" sz="quarter" idx="16"/>
          </p:nvPr>
        </p:nvSpPr>
        <p:spPr/>
        <p:txBody>
          <a:bodyPr/>
          <a:lstStyle/>
          <a:p>
            <a:pPr algn="just"/>
            <a:r>
              <a:rPr lang="en-US" sz="2800" dirty="0"/>
              <a:t>CISC (Complex Instruction Set Computer) and RISC (Reduced Instruction Set Computer) are two competing CPU architectures.</a:t>
            </a:r>
          </a:p>
        </p:txBody>
      </p:sp>
      <p:sp>
        <p:nvSpPr>
          <p:cNvPr id="9" name="Text Placeholder 8">
            <a:extLst>
              <a:ext uri="{FF2B5EF4-FFF2-40B4-BE49-F238E27FC236}">
                <a16:creationId xmlns:a16="http://schemas.microsoft.com/office/drawing/2014/main" id="{8717BB84-A5D9-CDAE-A7BE-61E8556A1AD3}"/>
              </a:ext>
            </a:extLst>
          </p:cNvPr>
          <p:cNvSpPr>
            <a:spLocks noGrp="1"/>
          </p:cNvSpPr>
          <p:nvPr>
            <p:ph type="body" sz="quarter" idx="17"/>
          </p:nvPr>
        </p:nvSpPr>
        <p:spPr/>
        <p:txBody>
          <a:bodyPr>
            <a:normAutofit fontScale="92500" lnSpcReduction="20000"/>
          </a:bodyPr>
          <a:lstStyle/>
          <a:p>
            <a:r>
              <a:rPr lang="en-US" dirty="0"/>
              <a:t>ISA is an abstract model of a processor defining the set of instructions executed by the CPU. ISA reflects compiler writer's and programmer's view of the processor.</a:t>
            </a:r>
          </a:p>
          <a:p>
            <a:endParaRPr lang="en-US" dirty="0"/>
          </a:p>
        </p:txBody>
      </p:sp>
      <p:pic>
        <p:nvPicPr>
          <p:cNvPr id="6" name="Picture Placeholder 5">
            <a:extLst>
              <a:ext uri="{FF2B5EF4-FFF2-40B4-BE49-F238E27FC236}">
                <a16:creationId xmlns:a16="http://schemas.microsoft.com/office/drawing/2014/main" id="{3EC90332-1BE7-C844-6EE0-0F114F9209BC}"/>
              </a:ext>
            </a:extLst>
          </p:cNvPr>
          <p:cNvPicPr>
            <a:picLocks noGrp="1" noChangeAspect="1"/>
          </p:cNvPicPr>
          <p:nvPr>
            <p:ph type="pic" sz="quarter" idx="13"/>
          </p:nvPr>
        </p:nvPicPr>
        <p:blipFill>
          <a:blip r:embed="rId2"/>
          <a:srcRect l="3698" r="3698"/>
          <a:stretch>
            <a:fillRect/>
          </a:stretch>
        </p:blipFill>
        <p:spPr>
          <a:prstGeom prst="rect">
            <a:avLst/>
          </a:prstGeom>
        </p:spPr>
      </p:pic>
    </p:spTree>
    <p:extLst>
      <p:ext uri="{BB962C8B-B14F-4D97-AF65-F5344CB8AC3E}">
        <p14:creationId xmlns:p14="http://schemas.microsoft.com/office/powerpoint/2010/main" val="362432843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CEF68-DE6C-4903-3A90-90F02CE9B365}"/>
              </a:ext>
            </a:extLst>
          </p:cNvPr>
          <p:cNvSpPr>
            <a:spLocks noGrp="1"/>
          </p:cNvSpPr>
          <p:nvPr>
            <p:ph type="title"/>
          </p:nvPr>
        </p:nvSpPr>
        <p:spPr/>
        <p:txBody>
          <a:bodyPr>
            <a:normAutofit fontScale="90000"/>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kumimoji="0" lang="en-US" sz="3400" b="1" i="0" u="none" strike="noStrike" kern="0" cap="all" spc="0" normalizeH="0" baseline="0" noProof="0" dirty="0">
                <a:ln>
                  <a:noFill/>
                </a:ln>
                <a:solidFill>
                  <a:srgbClr val="128CCD"/>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Processor, clock, CPI and IPC</a:t>
            </a:r>
            <a:endParaRPr lang="en-US" dirty="0"/>
          </a:p>
        </p:txBody>
      </p:sp>
      <p:sp>
        <p:nvSpPr>
          <p:cNvPr id="10" name="Text Placeholder 9">
            <a:extLst>
              <a:ext uri="{FF2B5EF4-FFF2-40B4-BE49-F238E27FC236}">
                <a16:creationId xmlns:a16="http://schemas.microsoft.com/office/drawing/2014/main" id="{A8DE6C97-0615-CFDF-9577-6FB78BDA1BED}"/>
              </a:ext>
            </a:extLst>
          </p:cNvPr>
          <p:cNvSpPr>
            <a:spLocks noGrp="1"/>
          </p:cNvSpPr>
          <p:nvPr>
            <p:ph type="body" sz="quarter" idx="10"/>
          </p:nvPr>
        </p:nvSpPr>
        <p:spPr/>
        <p:txBody>
          <a:bodyPr/>
          <a:lstStyle/>
          <a:p>
            <a:endParaRPr lang="en-US" dirty="0"/>
          </a:p>
        </p:txBody>
      </p:sp>
      <p:sp>
        <p:nvSpPr>
          <p:cNvPr id="8" name="Text Placeholder 7">
            <a:extLst>
              <a:ext uri="{FF2B5EF4-FFF2-40B4-BE49-F238E27FC236}">
                <a16:creationId xmlns:a16="http://schemas.microsoft.com/office/drawing/2014/main" id="{BA0B38D7-0A49-2663-EB3D-3073C254002D}"/>
              </a:ext>
            </a:extLst>
          </p:cNvPr>
          <p:cNvSpPr>
            <a:spLocks noGrp="1"/>
          </p:cNvSpPr>
          <p:nvPr>
            <p:ph type="body" sz="quarter" idx="16"/>
          </p:nvPr>
        </p:nvSpPr>
        <p:spPr/>
        <p:txBody>
          <a:bodyPr/>
          <a:lstStyle/>
          <a:p>
            <a:pPr algn="just"/>
            <a:r>
              <a:rPr lang="en-US" dirty="0"/>
              <a:t>All CPU activities are controlled by an </a:t>
            </a:r>
            <a:r>
              <a:rPr lang="en-US" b="1" dirty="0"/>
              <a:t>internal clock</a:t>
            </a:r>
            <a:r>
              <a:rPr lang="en-US" dirty="0"/>
              <a:t>. The CU implements a state machine and at each clock cycle dictates what latches should open along the control paths to different circuits and what actions should be carried out. R, the clock rate, is measured in GHz (Gigahertz) (a Hz is one cycle/second and one GHz is 109 Hz).</a:t>
            </a:r>
          </a:p>
          <a:p>
            <a:pPr algn="just"/>
            <a:r>
              <a:rPr lang="en-US" dirty="0"/>
              <a:t>CPU bandwidth is determined by </a:t>
            </a:r>
            <a:r>
              <a:rPr lang="en-US" b="1" dirty="0"/>
              <a:t>IPC</a:t>
            </a:r>
            <a:r>
              <a:rPr lang="en-US" dirty="0"/>
              <a:t> </a:t>
            </a:r>
            <a:r>
              <a:rPr lang="en-US" b="1" dirty="0"/>
              <a:t>(Instructions per Clock Cycle)</a:t>
            </a:r>
            <a:r>
              <a:rPr lang="en-US" dirty="0"/>
              <a:t> or </a:t>
            </a:r>
            <a:r>
              <a:rPr lang="en-US" b="1" dirty="0"/>
              <a:t>CPI</a:t>
            </a:r>
            <a:r>
              <a:rPr lang="en-US" dirty="0"/>
              <a:t> </a:t>
            </a:r>
            <a:r>
              <a:rPr lang="en-US" b="1" dirty="0"/>
              <a:t>(Cycle per Instruction)</a:t>
            </a:r>
            <a:r>
              <a:rPr lang="en-US" dirty="0"/>
              <a:t>, IPC = 1/CPI</a:t>
            </a:r>
          </a:p>
          <a:p>
            <a:endParaRPr lang="en-US" dirty="0"/>
          </a:p>
        </p:txBody>
      </p:sp>
      <p:pic>
        <p:nvPicPr>
          <p:cNvPr id="13" name="Picture Placeholder 12">
            <a:extLst>
              <a:ext uri="{FF2B5EF4-FFF2-40B4-BE49-F238E27FC236}">
                <a16:creationId xmlns:a16="http://schemas.microsoft.com/office/drawing/2014/main" id="{4A5E7309-678C-8C99-3418-D863A00C45C0}"/>
              </a:ext>
            </a:extLst>
          </p:cNvPr>
          <p:cNvPicPr>
            <a:picLocks noGrp="1" noChangeAspect="1"/>
          </p:cNvPicPr>
          <p:nvPr>
            <p:ph type="pic" sz="quarter" idx="13"/>
          </p:nvPr>
        </p:nvPicPr>
        <p:blipFill>
          <a:blip r:embed="rId2"/>
          <a:srcRect t="17622" b="17622"/>
          <a:stretch>
            <a:fillRect/>
          </a:stretch>
        </p:blipFill>
        <p:spPr>
          <a:prstGeom prst="rect">
            <a:avLst/>
          </a:prstGeom>
        </p:spPr>
      </p:pic>
      <p:sp>
        <p:nvSpPr>
          <p:cNvPr id="12" name="Text Placeholder 11">
            <a:extLst>
              <a:ext uri="{FF2B5EF4-FFF2-40B4-BE49-F238E27FC236}">
                <a16:creationId xmlns:a16="http://schemas.microsoft.com/office/drawing/2014/main" id="{F66DD782-BBC8-3FF2-4E67-213049F832A8}"/>
              </a:ext>
            </a:extLst>
          </p:cNvPr>
          <p:cNvSpPr>
            <a:spLocks noGrp="1"/>
          </p:cNvSpPr>
          <p:nvPr>
            <p:ph type="body" sz="quarter" idx="17"/>
          </p:nvPr>
        </p:nvSpPr>
        <p:spPr/>
        <p:txBody>
          <a:bodyPr>
            <a:normAutofit fontScale="92500"/>
          </a:bodyPr>
          <a:lstStyle/>
          <a:p>
            <a:r>
              <a:rPr lang="en-US" dirty="0"/>
              <a:t>The basic subsystems of a CPU are a Control Unit (CU), an ALU (Arithmetic and Logic Unit), and a Register File (RF).</a:t>
            </a:r>
          </a:p>
          <a:p>
            <a:endParaRPr lang="en-US" dirty="0"/>
          </a:p>
        </p:txBody>
      </p:sp>
      <p:sp>
        <p:nvSpPr>
          <p:cNvPr id="5" name="Slide Number Placeholder 4">
            <a:extLst>
              <a:ext uri="{FF2B5EF4-FFF2-40B4-BE49-F238E27FC236}">
                <a16:creationId xmlns:a16="http://schemas.microsoft.com/office/drawing/2014/main" id="{6B466145-D116-27EF-C016-FFEF22887BE3}"/>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defRPr/>
            </a:pPr>
            <a:fld id="{55B5EB7E-3145-403B-B703-330A724ECA2A}" type="slidenum">
              <a:rPr lang="en-US" smtClean="0"/>
              <a:pPr>
                <a:defRPr/>
              </a:pPr>
              <a:t>8</a:t>
            </a:fld>
            <a:endParaRPr lang="en-US"/>
          </a:p>
        </p:txBody>
      </p:sp>
    </p:spTree>
    <p:extLst>
      <p:ext uri="{BB962C8B-B14F-4D97-AF65-F5344CB8AC3E}">
        <p14:creationId xmlns:p14="http://schemas.microsoft.com/office/powerpoint/2010/main" val="336802197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EDDE3-5E0B-A1C8-BCAC-ECD80E937268}"/>
              </a:ext>
            </a:extLst>
          </p:cNvPr>
          <p:cNvSpPr>
            <a:spLocks noGrp="1"/>
          </p:cNvSpPr>
          <p:nvPr>
            <p:ph type="title"/>
          </p:nvPr>
        </p:nvSpPr>
        <p:spPr>
          <a:xfrm>
            <a:off x="2173889" y="1116070"/>
            <a:ext cx="14715569" cy="511175"/>
          </a:xfrm>
        </p:spPr>
        <p:txBody>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lgn="r"/>
            <a:r>
              <a:rPr lang="en-US" dirty="0"/>
              <a:t>.</a:t>
            </a:r>
          </a:p>
        </p:txBody>
      </p:sp>
      <p:sp>
        <p:nvSpPr>
          <p:cNvPr id="3" name="Content Placeholder 2">
            <a:extLst>
              <a:ext uri="{FF2B5EF4-FFF2-40B4-BE49-F238E27FC236}">
                <a16:creationId xmlns:a16="http://schemas.microsoft.com/office/drawing/2014/main" id="{BA776E11-1B60-65B0-7091-F009E02B4196}"/>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lgn="just"/>
            <a:endParaRPr lang="en-US" dirty="0"/>
          </a:p>
        </p:txBody>
      </p:sp>
      <p:sp>
        <p:nvSpPr>
          <p:cNvPr id="7" name="Text Placeholder 6">
            <a:extLst>
              <a:ext uri="{FF2B5EF4-FFF2-40B4-BE49-F238E27FC236}">
                <a16:creationId xmlns:a16="http://schemas.microsoft.com/office/drawing/2014/main" id="{932A1C03-1C94-82AA-21A7-63C35FAD8006}"/>
              </a:ext>
            </a:extLst>
          </p:cNvPr>
          <p:cNvSpPr>
            <a:spLocks noGrp="1"/>
          </p:cNvSpPr>
          <p:nvPr>
            <p:ph type="body" sz="quarter" idx="16"/>
          </p:nvPr>
        </p:nvSpPr>
        <p:spPr/>
        <p:txBody>
          <a:bodyPr/>
          <a:lstStyle/>
          <a:p>
            <a:pPr algn="ctr"/>
            <a:r>
              <a:rPr lang="en-US" dirty="0"/>
              <a:t>T=N×CPI×R</a:t>
            </a:r>
          </a:p>
          <a:p>
            <a:r>
              <a:rPr lang="en-US" dirty="0"/>
              <a:t>The only way to decrease the execution time of applications is to increase CPI, R, or both.</a:t>
            </a:r>
          </a:p>
          <a:p>
            <a:r>
              <a:rPr lang="en-US" dirty="0"/>
              <a:t>The only alternative to boost system performance is to increase the CPI of each CPU and to have multiple cores.</a:t>
            </a:r>
          </a:p>
          <a:p>
            <a:endParaRPr lang="en-US" dirty="0"/>
          </a:p>
        </p:txBody>
      </p:sp>
      <p:pic>
        <p:nvPicPr>
          <p:cNvPr id="10" name="Picture Placeholder 9">
            <a:extLst>
              <a:ext uri="{FF2B5EF4-FFF2-40B4-BE49-F238E27FC236}">
                <a16:creationId xmlns:a16="http://schemas.microsoft.com/office/drawing/2014/main" id="{1E501B64-63D5-562C-8138-0A9C3A70393B}"/>
              </a:ext>
            </a:extLst>
          </p:cNvPr>
          <p:cNvPicPr>
            <a:picLocks noGrp="1" noChangeAspect="1"/>
          </p:cNvPicPr>
          <p:nvPr>
            <p:ph type="pic" sz="quarter" idx="13"/>
          </p:nvPr>
        </p:nvPicPr>
        <p:blipFill>
          <a:blip r:embed="rId2"/>
          <a:srcRect l="38" r="38"/>
          <a:stretch>
            <a:fillRect/>
          </a:stretch>
        </p:blipFill>
        <p:spPr>
          <a:prstGeom prst="rect">
            <a:avLst/>
          </a:prstGeom>
        </p:spPr>
      </p:pic>
      <p:sp>
        <p:nvSpPr>
          <p:cNvPr id="8" name="Text Placeholder 7">
            <a:extLst>
              <a:ext uri="{FF2B5EF4-FFF2-40B4-BE49-F238E27FC236}">
                <a16:creationId xmlns:a16="http://schemas.microsoft.com/office/drawing/2014/main" id="{2F1260C0-ECA3-AC24-1F74-2ACCA7023C0A}"/>
              </a:ext>
            </a:extLst>
          </p:cNvPr>
          <p:cNvSpPr>
            <a:spLocks noGrp="1"/>
          </p:cNvSpPr>
          <p:nvPr>
            <p:ph type="body" sz="quarter" idx="17"/>
          </p:nvPr>
        </p:nvSpPr>
        <p:spPr/>
        <p:txBody>
          <a:bodyPr>
            <a:normAutofit fontScale="85000" lnSpcReduction="10000"/>
          </a:bodyPr>
          <a:lstStyle/>
          <a:p>
            <a:r>
              <a:rPr lang="en-US" dirty="0"/>
              <a:t>The larger the IPC, the more performant the processor architecture. T, the execution time of an application, is a function of: N, the number of instructions executed, CPI, and R:</a:t>
            </a:r>
          </a:p>
        </p:txBody>
      </p:sp>
      <p:sp>
        <p:nvSpPr>
          <p:cNvPr id="5" name="Slide Number Placeholder 4">
            <a:extLst>
              <a:ext uri="{FF2B5EF4-FFF2-40B4-BE49-F238E27FC236}">
                <a16:creationId xmlns:a16="http://schemas.microsoft.com/office/drawing/2014/main" id="{CFA6498D-DC34-3005-016C-4636A3B5B4AD}"/>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defRPr/>
            </a:pPr>
            <a:fld id="{55B5EB7E-3145-403B-B703-330A724ECA2A}" type="slidenum">
              <a:rPr lang="en-US" smtClean="0"/>
              <a:pPr>
                <a:defRPr/>
              </a:pPr>
              <a:t>9</a:t>
            </a:fld>
            <a:endParaRPr lang="en-US"/>
          </a:p>
        </p:txBody>
      </p:sp>
      <p:sp>
        <p:nvSpPr>
          <p:cNvPr id="9" name="Title 1">
            <a:extLst>
              <a:ext uri="{FF2B5EF4-FFF2-40B4-BE49-F238E27FC236}">
                <a16:creationId xmlns:a16="http://schemas.microsoft.com/office/drawing/2014/main" id="{9FCF2426-0C97-B6E9-31E3-D0467AB4A7AD}"/>
              </a:ext>
            </a:extLst>
          </p:cNvPr>
          <p:cNvSpPr txBox="1">
            <a:spLocks/>
          </p:cNvSpPr>
          <p:nvPr/>
        </p:nvSpPr>
        <p:spPr>
          <a:xfrm>
            <a:off x="2166938" y="1804557"/>
            <a:ext cx="14715569" cy="5111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7500"/>
          </a:bodyPr>
          <a:lstStyle>
            <a:defPPr>
              <a:defRPr lang="en-US"/>
            </a:defPPr>
            <a:lvl1pPr marL="0" marR="0" indent="0" algn="l" defTabSz="2438338" rtl="0" eaLnBrk="1" fontAlgn="base" latinLnBrk="0" hangingPunct="1">
              <a:lnSpc>
                <a:spcPct val="80000"/>
              </a:lnSpc>
              <a:spcBef>
                <a:spcPct val="0"/>
              </a:spcBef>
              <a:spcAft>
                <a:spcPct val="0"/>
              </a:spcAft>
              <a:buClrTx/>
              <a:buSzTx/>
              <a:buFontTx/>
              <a:buNone/>
              <a:tabLst/>
              <a:defRPr kumimoji="0" lang="en-US" sz="2857" b="1" i="0" u="none" strike="noStrike" kern="1200" cap="all" spc="0" normalizeH="0" baseline="0">
                <a:ln>
                  <a:noFill/>
                </a:ln>
                <a:solidFill>
                  <a:schemeClr val="tx1"/>
                </a:solidFill>
                <a:effectLst/>
                <a:uFill>
                  <a:solidFill>
                    <a:srgbClr val="143E56"/>
                  </a:solidFill>
                </a:uFill>
                <a:latin typeface="Arial" pitchFamily="34" charset="0"/>
                <a:ea typeface="+mn-ea"/>
                <a:cs typeface="+mn-cs"/>
                <a:sym typeface="Helvetica Neue"/>
              </a:defRPr>
            </a:lvl1pPr>
            <a:lvl2pPr marL="1088547" marR="0" indent="457200" algn="l" defTabSz="2438338" rtl="0" eaLnBrk="1" fontAlgn="base" latinLnBrk="0" hangingPunct="1">
              <a:lnSpc>
                <a:spcPct val="80000"/>
              </a:lnSpc>
              <a:spcBef>
                <a:spcPct val="0"/>
              </a:spcBef>
              <a:spcAft>
                <a:spcPct val="0"/>
              </a:spcAft>
              <a:buClrTx/>
              <a:buSzTx/>
              <a:buFontTx/>
              <a:buNone/>
              <a:tabLst/>
              <a:defRPr sz="2857" b="1" i="0" u="none" strike="noStrike" kern="1200" cap="none" spc="-170" baseline="0">
                <a:solidFill>
                  <a:schemeClr val="tx1"/>
                </a:solidFill>
                <a:uFillTx/>
                <a:latin typeface="Arial" pitchFamily="34" charset="0"/>
                <a:ea typeface="+mn-ea"/>
                <a:cs typeface="+mn-cs"/>
                <a:sym typeface="Helvetica Neue"/>
              </a:defRPr>
            </a:lvl2pPr>
            <a:lvl3pPr marL="2177095" marR="0" indent="914400" algn="l" defTabSz="2438338" rtl="0" eaLnBrk="1" fontAlgn="base" latinLnBrk="0" hangingPunct="1">
              <a:lnSpc>
                <a:spcPct val="80000"/>
              </a:lnSpc>
              <a:spcBef>
                <a:spcPct val="0"/>
              </a:spcBef>
              <a:spcAft>
                <a:spcPct val="0"/>
              </a:spcAft>
              <a:buClrTx/>
              <a:buSzTx/>
              <a:buFontTx/>
              <a:buNone/>
              <a:tabLst/>
              <a:defRPr sz="2857" b="1" i="0" u="none" strike="noStrike" kern="1200" cap="none" spc="-170" baseline="0">
                <a:solidFill>
                  <a:schemeClr val="tx1"/>
                </a:solidFill>
                <a:uFillTx/>
                <a:latin typeface="Arial" pitchFamily="34" charset="0"/>
                <a:ea typeface="+mn-ea"/>
                <a:cs typeface="+mn-cs"/>
                <a:sym typeface="Helvetica Neue"/>
              </a:defRPr>
            </a:lvl3pPr>
            <a:lvl4pPr marL="3265642" marR="0" indent="1371600" algn="l" defTabSz="2438338" rtl="0" eaLnBrk="1" fontAlgn="base" latinLnBrk="0" hangingPunct="1">
              <a:lnSpc>
                <a:spcPct val="80000"/>
              </a:lnSpc>
              <a:spcBef>
                <a:spcPct val="0"/>
              </a:spcBef>
              <a:spcAft>
                <a:spcPct val="0"/>
              </a:spcAft>
              <a:buClrTx/>
              <a:buSzTx/>
              <a:buFontTx/>
              <a:buNone/>
              <a:tabLst/>
              <a:defRPr sz="2857" b="1" i="0" u="none" strike="noStrike" kern="1200" cap="none" spc="-170" baseline="0">
                <a:solidFill>
                  <a:schemeClr val="tx1"/>
                </a:solidFill>
                <a:uFillTx/>
                <a:latin typeface="Arial" pitchFamily="34" charset="0"/>
                <a:ea typeface="+mn-ea"/>
                <a:cs typeface="+mn-cs"/>
                <a:sym typeface="Helvetica Neue"/>
              </a:defRPr>
            </a:lvl4pPr>
            <a:lvl5pPr marL="4354190" marR="0" indent="1828800" algn="l" defTabSz="2438338" rtl="0" eaLnBrk="1" fontAlgn="base" latinLnBrk="0" hangingPunct="1">
              <a:lnSpc>
                <a:spcPct val="80000"/>
              </a:lnSpc>
              <a:spcBef>
                <a:spcPct val="0"/>
              </a:spcBef>
              <a:spcAft>
                <a:spcPct val="0"/>
              </a:spcAft>
              <a:buClrTx/>
              <a:buSzTx/>
              <a:buFontTx/>
              <a:buNone/>
              <a:tabLst/>
              <a:defRPr sz="2857" b="1" i="0" u="none" strike="noStrike" kern="1200" cap="none" spc="-170" baseline="0">
                <a:solidFill>
                  <a:schemeClr val="tx1"/>
                </a:solidFill>
                <a:uFillTx/>
                <a:latin typeface="Arial" pitchFamily="34" charset="0"/>
                <a:ea typeface="+mn-ea"/>
                <a:cs typeface="+mn-cs"/>
                <a:sym typeface="Helvetica Neue"/>
              </a:defRPr>
            </a:lvl5pPr>
            <a:lvl6pPr marL="5442737" marR="0" indent="2286000" algn="l" defTabSz="2177095" rtl="0" eaLnBrk="1" latinLnBrk="0" hangingPunct="1">
              <a:lnSpc>
                <a:spcPct val="80000"/>
              </a:lnSpc>
              <a:spcBef>
                <a:spcPts val="0"/>
              </a:spcBef>
              <a:spcAft>
                <a:spcPts val="0"/>
              </a:spcAft>
              <a:buClrTx/>
              <a:buSzTx/>
              <a:buFontTx/>
              <a:buNone/>
              <a:tabLst/>
              <a:defRPr sz="2857" b="1" i="0" u="none" strike="noStrike" kern="1200" cap="none" spc="-170" baseline="0">
                <a:solidFill>
                  <a:schemeClr val="tx1"/>
                </a:solidFill>
                <a:uFillTx/>
                <a:latin typeface="Arial" pitchFamily="34" charset="0"/>
                <a:ea typeface="+mn-ea"/>
                <a:cs typeface="+mn-cs"/>
                <a:sym typeface="Helvetica Neue"/>
              </a:defRPr>
            </a:lvl6pPr>
            <a:lvl7pPr marL="6531285" marR="0" indent="2743200" algn="l" defTabSz="2177095" rtl="0" eaLnBrk="1" latinLnBrk="0" hangingPunct="1">
              <a:lnSpc>
                <a:spcPct val="80000"/>
              </a:lnSpc>
              <a:spcBef>
                <a:spcPts val="0"/>
              </a:spcBef>
              <a:spcAft>
                <a:spcPts val="0"/>
              </a:spcAft>
              <a:buClrTx/>
              <a:buSzTx/>
              <a:buFontTx/>
              <a:buNone/>
              <a:tabLst/>
              <a:defRPr sz="2857" b="1" i="0" u="none" strike="noStrike" kern="1200" cap="none" spc="-170" baseline="0">
                <a:solidFill>
                  <a:schemeClr val="tx1"/>
                </a:solidFill>
                <a:uFillTx/>
                <a:latin typeface="Arial" pitchFamily="34" charset="0"/>
                <a:ea typeface="+mn-ea"/>
                <a:cs typeface="+mn-cs"/>
                <a:sym typeface="Helvetica Neue"/>
              </a:defRPr>
            </a:lvl7pPr>
            <a:lvl8pPr marL="7619832" marR="0" indent="3200400" algn="l" defTabSz="2177095" rtl="0" eaLnBrk="1" latinLnBrk="0" hangingPunct="1">
              <a:lnSpc>
                <a:spcPct val="80000"/>
              </a:lnSpc>
              <a:spcBef>
                <a:spcPts val="0"/>
              </a:spcBef>
              <a:spcAft>
                <a:spcPts val="0"/>
              </a:spcAft>
              <a:buClrTx/>
              <a:buSzTx/>
              <a:buFontTx/>
              <a:buNone/>
              <a:tabLst/>
              <a:defRPr sz="2857" b="1" i="0" u="none" strike="noStrike" kern="1200" cap="none" spc="-170" baseline="0">
                <a:solidFill>
                  <a:schemeClr val="tx1"/>
                </a:solidFill>
                <a:uFillTx/>
                <a:latin typeface="Arial" pitchFamily="34" charset="0"/>
                <a:ea typeface="+mn-ea"/>
                <a:cs typeface="+mn-cs"/>
                <a:sym typeface="Helvetica Neue"/>
              </a:defRPr>
            </a:lvl8pPr>
            <a:lvl9pPr marL="8708380" marR="0" indent="3657600" algn="l" defTabSz="2177095" rtl="0" eaLnBrk="1" latinLnBrk="0" hangingPunct="1">
              <a:lnSpc>
                <a:spcPct val="80000"/>
              </a:lnSpc>
              <a:spcBef>
                <a:spcPts val="0"/>
              </a:spcBef>
              <a:spcAft>
                <a:spcPts val="0"/>
              </a:spcAft>
              <a:buClrTx/>
              <a:buSzTx/>
              <a:buFontTx/>
              <a:buNone/>
              <a:tabLst/>
              <a:defRPr sz="2857" b="1" i="0" u="none" strike="noStrike" kern="1200" cap="none" spc="-170" baseline="0">
                <a:solidFill>
                  <a:schemeClr val="tx1"/>
                </a:solidFill>
                <a:uFillTx/>
                <a:latin typeface="Arial" pitchFamily="34" charset="0"/>
                <a:ea typeface="+mn-ea"/>
                <a:cs typeface="+mn-cs"/>
                <a:sym typeface="Helvetica Neue"/>
              </a:defRPr>
            </a:lvl9pPr>
          </a:lstStyle>
          <a:p>
            <a:r>
              <a:rPr lang="en-US" sz="3400" kern="0" dirty="0">
                <a:solidFill>
                  <a:srgbClr val="128CCD"/>
                </a:solidFill>
                <a:latin typeface="Open Sans ExtraBold" pitchFamily="2" charset="0"/>
                <a:ea typeface="Open Sans ExtraBold" pitchFamily="2" charset="0"/>
                <a:cs typeface="Open Sans ExtraBold" pitchFamily="2" charset="0"/>
              </a:rPr>
              <a:t>Processor, clock, CPI and IPC</a:t>
            </a:r>
            <a:endParaRPr lang="en-US" dirty="0"/>
          </a:p>
        </p:txBody>
      </p:sp>
    </p:spTree>
    <p:extLst>
      <p:ext uri="{BB962C8B-B14F-4D97-AF65-F5344CB8AC3E}">
        <p14:creationId xmlns:p14="http://schemas.microsoft.com/office/powerpoint/2010/main" val="389514123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99706-A04E-CEEB-F0C9-3AA414B5152F}"/>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a:solidFill>
                  <a:srgbClr val="128CCD"/>
                </a:solidFill>
              </a:rPr>
              <a:t>Bit-level and Instruction-level Parallelism</a:t>
            </a:r>
          </a:p>
        </p:txBody>
      </p:sp>
      <p:sp>
        <p:nvSpPr>
          <p:cNvPr id="20" name="Text Placeholder 2">
            <a:extLst>
              <a:ext uri="{FF2B5EF4-FFF2-40B4-BE49-F238E27FC236}">
                <a16:creationId xmlns:a16="http://schemas.microsoft.com/office/drawing/2014/main" id="{2A614635-A120-B9DB-693E-1DEEE106AEFB}"/>
              </a:ext>
            </a:extLst>
          </p:cNvPr>
          <p:cNvSpPr>
            <a:spLocks noGrp="1"/>
          </p:cNvSpPr>
          <p:nvPr>
            <p:ph type="body" sz="quarter" idx="10"/>
          </p:nvPr>
        </p:nvSpPr>
        <p:spPr>
          <a:xfrm>
            <a:off x="2167377" y="2419728"/>
            <a:ext cx="9768875" cy="803546"/>
          </a:xfrm>
        </p:spPr>
        <p:txBody>
          <a:bodyPr/>
          <a:lstStyle/>
          <a:p>
            <a:endParaRPr lang="en-US"/>
          </a:p>
        </p:txBody>
      </p:sp>
      <p:sp>
        <p:nvSpPr>
          <p:cNvPr id="13" name="Text Placeholder 12">
            <a:extLst>
              <a:ext uri="{FF2B5EF4-FFF2-40B4-BE49-F238E27FC236}">
                <a16:creationId xmlns:a16="http://schemas.microsoft.com/office/drawing/2014/main" id="{A65A4502-E732-9E02-DC84-4F23E95BD229}"/>
              </a:ext>
            </a:extLst>
          </p:cNvPr>
          <p:cNvSpPr>
            <a:spLocks noGrp="1"/>
          </p:cNvSpPr>
          <p:nvPr>
            <p:ph type="body" sz="quarter" idx="16"/>
          </p:nvPr>
        </p:nvSpPr>
        <p:spPr>
          <a:xfrm>
            <a:off x="2167377" y="6556917"/>
            <a:ext cx="9768906" cy="5575610"/>
          </a:xfrm>
        </p:spPr>
        <p:txBody>
          <a:bodyPr>
            <a:normAutofit/>
          </a:bodyPr>
          <a:lstStyle/>
          <a:p>
            <a:r>
              <a:rPr lang="en-US" b="1" dirty="0"/>
              <a:t>Bit-level parallelism</a:t>
            </a:r>
            <a:r>
              <a:rPr lang="en-US" dirty="0"/>
              <a:t>. A computer word is handled as a unit by the instruction set and the processor hardware. The number of bits in a word has increased gradually from 4-bit processors to 8-bit, 16-bit, and 32-bit processors. This has reduced the number of instructions required to process larger size operands and enabled a dramatic performance improvement. </a:t>
            </a:r>
          </a:p>
          <a:p>
            <a:r>
              <a:rPr lang="en-US" b="1" dirty="0"/>
              <a:t>Instruction-level parallelism (ILP)</a:t>
            </a:r>
            <a:r>
              <a:rPr lang="en-US" dirty="0"/>
              <a:t>. Computers used multi-stage pipelines to speedup execution. Once an n-stage pipeline is full, an instruction is completed at every clock cycle unless the pipeline is stalled. </a:t>
            </a:r>
          </a:p>
          <a:p>
            <a:endParaRPr lang="en-US" dirty="0"/>
          </a:p>
        </p:txBody>
      </p:sp>
      <p:pic>
        <p:nvPicPr>
          <p:cNvPr id="17" name="Picture Placeholder 16">
            <a:extLst>
              <a:ext uri="{FF2B5EF4-FFF2-40B4-BE49-F238E27FC236}">
                <a16:creationId xmlns:a16="http://schemas.microsoft.com/office/drawing/2014/main" id="{06BFD865-FC8C-E89C-4139-64D4758C3552}"/>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3320" b="3320"/>
          <a:stretch/>
        </p:blipFill>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
        <p:nvSpPr>
          <p:cNvPr id="24" name="Text Placeholder 5">
            <a:extLst>
              <a:ext uri="{FF2B5EF4-FFF2-40B4-BE49-F238E27FC236}">
                <a16:creationId xmlns:a16="http://schemas.microsoft.com/office/drawing/2014/main" id="{1F11E137-4E91-E99D-B4A3-6756AC7A6849}"/>
              </a:ext>
            </a:extLst>
          </p:cNvPr>
          <p:cNvSpPr>
            <a:spLocks noGrp="1"/>
          </p:cNvSpPr>
          <p:nvPr>
            <p:ph type="body" sz="quarter" idx="17"/>
          </p:nvPr>
        </p:nvSpPr>
        <p:spPr>
          <a:xfrm>
            <a:off x="2166938" y="4210049"/>
            <a:ext cx="9768874" cy="2039112"/>
          </a:xfrm>
        </p:spPr>
        <p:txBody>
          <a:bodyPr/>
          <a:lstStyle/>
          <a:p>
            <a:endParaRPr lang="en-US"/>
          </a:p>
        </p:txBody>
      </p:sp>
      <p:sp>
        <p:nvSpPr>
          <p:cNvPr id="5" name="Slide Number Placeholder 4" hidden="1">
            <a:extLst>
              <a:ext uri="{FF2B5EF4-FFF2-40B4-BE49-F238E27FC236}">
                <a16:creationId xmlns:a16="http://schemas.microsoft.com/office/drawing/2014/main" id="{90D30B22-3957-C8E1-E7C2-7D436CA83758}"/>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defRPr/>
            </a:pPr>
            <a:fld id="{55B5EB7E-3145-403B-B703-330A724ECA2A}" type="slidenum">
              <a:rPr lang="en-US" smtClean="0"/>
              <a:pPr>
                <a:spcAft>
                  <a:spcPts val="600"/>
                </a:spcAft>
                <a:defRPr/>
              </a:pPr>
              <a:t>10</a:t>
            </a:fld>
            <a:endParaRPr lang="en-US"/>
          </a:p>
        </p:txBody>
      </p:sp>
    </p:spTree>
    <p:extLst>
      <p:ext uri="{BB962C8B-B14F-4D97-AF65-F5344CB8AC3E}">
        <p14:creationId xmlns:p14="http://schemas.microsoft.com/office/powerpoint/2010/main" val="26175427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6182-7ACA-3723-A2B9-12D0F143FEE3}"/>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a:solidFill>
                  <a:srgbClr val="128CCD"/>
                </a:solidFill>
              </a:rPr>
              <a:t>Performance Metrics and Benchmarks</a:t>
            </a:r>
          </a:p>
        </p:txBody>
      </p:sp>
      <p:sp>
        <p:nvSpPr>
          <p:cNvPr id="13" name="Text Placeholder 2">
            <a:extLst>
              <a:ext uri="{FF2B5EF4-FFF2-40B4-BE49-F238E27FC236}">
                <a16:creationId xmlns:a16="http://schemas.microsoft.com/office/drawing/2014/main" id="{CC6A105C-C158-48AB-F4AE-EF1728DDEA96}"/>
              </a:ext>
            </a:extLst>
          </p:cNvPr>
          <p:cNvSpPr>
            <a:spLocks noGrp="1"/>
          </p:cNvSpPr>
          <p:nvPr>
            <p:ph type="body" sz="quarter" idx="10"/>
          </p:nvPr>
        </p:nvSpPr>
        <p:spPr>
          <a:xfrm>
            <a:off x="2167377" y="2419728"/>
            <a:ext cx="9768875" cy="803546"/>
          </a:xfrm>
        </p:spPr>
        <p:txBody>
          <a:bodyPr/>
          <a:lstStyle/>
          <a:p>
            <a:endParaRPr lang="en-US"/>
          </a:p>
        </p:txBody>
      </p:sp>
      <p:sp>
        <p:nvSpPr>
          <p:cNvPr id="3" name="Content Placeholder 2">
            <a:extLst>
              <a:ext uri="{FF2B5EF4-FFF2-40B4-BE49-F238E27FC236}">
                <a16:creationId xmlns:a16="http://schemas.microsoft.com/office/drawing/2014/main" id="{7EA41DDF-3A19-D19B-323E-96587BED1C8D}"/>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endParaRPr lang="en-US" sz="2200" dirty="0">
              <a:solidFill>
                <a:srgbClr val="FFFFFF"/>
              </a:solidFill>
            </a:endParaRPr>
          </a:p>
          <a:p>
            <a:pPr>
              <a:spcAft>
                <a:spcPts val="600"/>
              </a:spcAft>
            </a:pPr>
            <a:r>
              <a:rPr lang="en-US" sz="2200" dirty="0">
                <a:solidFill>
                  <a:srgbClr val="FFFFFF"/>
                </a:solidFill>
              </a:rPr>
              <a:t>The information provided by MIPS and MFLOPS is of limited usefulness because processor performance is application-specific. </a:t>
            </a:r>
          </a:p>
          <a:p>
            <a:pPr>
              <a:spcAft>
                <a:spcPts val="600"/>
              </a:spcAft>
            </a:pPr>
            <a:endParaRPr lang="en-US" sz="2200" dirty="0">
              <a:solidFill>
                <a:srgbClr val="FFFFFF"/>
              </a:solidFill>
            </a:endParaRPr>
          </a:p>
          <a:p>
            <a:pPr>
              <a:spcAft>
                <a:spcPts val="600"/>
              </a:spcAft>
            </a:pPr>
            <a:r>
              <a:rPr lang="en-US" sz="2200" dirty="0">
                <a:solidFill>
                  <a:srgbClr val="FFFFFF"/>
                </a:solidFill>
              </a:rPr>
              <a:t>An application can be CPU-, memory-, I/O-, or all-intensive; the application will run optimally on a processor where the corresponding subsystem, CPU, memory, and I/O is optimized. Applications running on the same processor may run at very different MIPS or MFLOS rates depending on the type of resources intensively used. </a:t>
            </a:r>
          </a:p>
          <a:p>
            <a:pPr>
              <a:spcAft>
                <a:spcPts val="600"/>
              </a:spcAft>
            </a:pPr>
            <a:endParaRPr lang="en-US" sz="2200" dirty="0">
              <a:solidFill>
                <a:srgbClr val="FFFFFF"/>
              </a:solidFill>
            </a:endParaRPr>
          </a:p>
          <a:p>
            <a:pPr>
              <a:spcAft>
                <a:spcPts val="600"/>
              </a:spcAft>
            </a:pPr>
            <a:r>
              <a:rPr lang="en-US" sz="2200" dirty="0">
                <a:solidFill>
                  <a:srgbClr val="FFFFFF"/>
                </a:solidFill>
              </a:rPr>
              <a:t>The only useful performance characterization of a processor is provided by benchmarks, suites of applications with similar characteristics.</a:t>
            </a:r>
          </a:p>
        </p:txBody>
      </p:sp>
      <p:pic>
        <p:nvPicPr>
          <p:cNvPr id="9" name="Video 8" descr="Electronic System">
            <a:extLst>
              <a:ext uri="{FF2B5EF4-FFF2-40B4-BE49-F238E27FC236}">
                <a16:creationId xmlns:a16="http://schemas.microsoft.com/office/drawing/2014/main" id="{70738207-DE29-6C2B-AE1D-9C0E44677F0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5178" r="20029" b="-1"/>
          <a:stretch>
            <a:fillRect/>
          </a:stretch>
        </p:blipFill>
        <p:spPr>
          <a:xfrm>
            <a:off x="12339930" y="4210629"/>
            <a:ext cx="9099057" cy="7921898"/>
          </a:xfrm>
          <a:prstGeom prst="rect">
            <a:avLst/>
          </a:prstGeom>
          <a:noFill/>
        </p:spPr>
      </p:pic>
      <p:sp>
        <p:nvSpPr>
          <p:cNvPr id="15" name="Text Placeholder 5">
            <a:extLst>
              <a:ext uri="{FF2B5EF4-FFF2-40B4-BE49-F238E27FC236}">
                <a16:creationId xmlns:a16="http://schemas.microsoft.com/office/drawing/2014/main" id="{8020DC4F-3316-EC15-E697-91B3CA6C9504}"/>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solidFill>
                  <a:srgbClr val="FFFFFF"/>
                </a:solidFill>
              </a:rPr>
              <a:t>MIPS (Million Instructions per Second) quantify processor performance for integer arithmetic, while MFLOPS (Million Floating Point Operations per Second) quantify processor performance for floating-point arithmetic.</a:t>
            </a:r>
          </a:p>
          <a:p>
            <a:endParaRPr lang="en-US" dirty="0"/>
          </a:p>
        </p:txBody>
      </p:sp>
      <p:sp>
        <p:nvSpPr>
          <p:cNvPr id="5" name="Slide Number Placeholder 4" hidden="1">
            <a:extLst>
              <a:ext uri="{FF2B5EF4-FFF2-40B4-BE49-F238E27FC236}">
                <a16:creationId xmlns:a16="http://schemas.microsoft.com/office/drawing/2014/main" id="{B282565F-EA3C-A9D2-1673-AEC941DAAD32}"/>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defRPr/>
            </a:pPr>
            <a:fld id="{55B5EB7E-3145-403B-B703-330A724ECA2A}" type="slidenum">
              <a:rPr lang="en-US" smtClean="0"/>
              <a:pPr>
                <a:spcAft>
                  <a:spcPts val="600"/>
                </a:spcAft>
                <a:defRPr/>
              </a:pPr>
              <a:t>11</a:t>
            </a:fld>
            <a:endParaRPr lang="en-US"/>
          </a:p>
        </p:txBody>
      </p:sp>
    </p:spTree>
    <p:extLst>
      <p:ext uri="{BB962C8B-B14F-4D97-AF65-F5344CB8AC3E}">
        <p14:creationId xmlns:p14="http://schemas.microsoft.com/office/powerpoint/2010/main" val="39935398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5"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mute="1">
                <p:cTn id="12" repeatCount="indefinite" fill="hold" display="0">
                  <p:stCondLst>
                    <p:cond delay="indefinite"/>
                  </p:stCondLst>
                </p:cTn>
                <p:tgtEl>
                  <p:spTgt spid="9"/>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Grand Architectural Complications</a:t>
            </a:r>
          </a:p>
        </p:txBody>
      </p:sp>
    </p:spTree>
    <p:extLst>
      <p:ext uri="{BB962C8B-B14F-4D97-AF65-F5344CB8AC3E}">
        <p14:creationId xmlns:p14="http://schemas.microsoft.com/office/powerpoint/2010/main" val="121542066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Grand Architectural Complications</a:t>
            </a:r>
          </a:p>
        </p:txBody>
      </p:sp>
      <p:sp>
        <p:nvSpPr>
          <p:cNvPr id="23" name="Text Placeholder 2">
            <a:extLst>
              <a:ext uri="{FF2B5EF4-FFF2-40B4-BE49-F238E27FC236}">
                <a16:creationId xmlns:a16="http://schemas.microsoft.com/office/drawing/2014/main" id="{4EF625FD-9B82-15DE-0782-067358F10491}"/>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normAutofit/>
          </a:bodyPr>
          <a:lstStyle/>
          <a:p>
            <a:r>
              <a:rPr lang="en-US" dirty="0"/>
              <a:t>The paramount complication is the architecture </a:t>
            </a:r>
            <a:r>
              <a:rPr lang="en-US" b="1" dirty="0"/>
              <a:t>must ensure program correctness</a:t>
            </a:r>
            <a:r>
              <a:rPr lang="en-US" dirty="0"/>
              <a:t>. This means that the architecture should :</a:t>
            </a:r>
            <a:endParaRPr lang="en-US"/>
          </a:p>
          <a:p>
            <a:pPr marL="914400" indent="-914400">
              <a:buFont typeface="+mj-lt"/>
              <a:buAutoNum type="arabicPeriod"/>
            </a:pPr>
            <a:r>
              <a:rPr lang="en-US" dirty="0"/>
              <a:t>Preserve exception behavior</a:t>
            </a:r>
            <a:endParaRPr lang="en-US"/>
          </a:p>
          <a:p>
            <a:pPr marL="914400" indent="-914400">
              <a:buFont typeface="+mj-lt"/>
              <a:buAutoNum type="arabicPeriod"/>
            </a:pPr>
            <a:r>
              <a:rPr lang="en-US" dirty="0"/>
              <a:t>Preserve instruction flow</a:t>
            </a:r>
            <a:endParaRPr lang="en-US"/>
          </a:p>
          <a:p>
            <a:pPr marL="914400" indent="-914400">
              <a:buFont typeface="+mj-lt"/>
              <a:buAutoNum type="arabicPeriod"/>
            </a:pPr>
            <a:r>
              <a:rPr lang="en-US" dirty="0"/>
              <a:t>Preserve security</a:t>
            </a:r>
            <a:endParaRPr lang="en-US"/>
          </a:p>
        </p:txBody>
      </p:sp>
      <p:pic>
        <p:nvPicPr>
          <p:cNvPr id="19" name="Picture 18" descr="Draft drawing of a floor plan">
            <a:extLst>
              <a:ext uri="{FF2B5EF4-FFF2-40B4-BE49-F238E27FC236}">
                <a16:creationId xmlns:a16="http://schemas.microsoft.com/office/drawing/2014/main" id="{4C0DE306-59EC-57CB-D22E-C169B9359E1D}"/>
              </a:ext>
            </a:extLst>
          </p:cNvPr>
          <p:cNvPicPr>
            <a:picLocks noChangeAspect="1"/>
          </p:cNvPicPr>
          <p:nvPr/>
        </p:nvPicPr>
        <p:blipFill>
          <a:blip r:embed="rId2"/>
          <a:srcRect l="20747" r="2" b="2"/>
          <a:stretch>
            <a:fillRect/>
          </a:stretch>
        </p:blipFill>
        <p:spPr>
          <a:xfrm>
            <a:off x="12339930" y="4210629"/>
            <a:ext cx="9099057" cy="7921898"/>
          </a:xfrm>
          <a:prstGeom prst="rect">
            <a:avLst/>
          </a:prstGeom>
          <a:noFill/>
        </p:spPr>
      </p:pic>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a:bodyPr>
          <a:lstStyle/>
          <a:p>
            <a:r>
              <a:rPr lang="en-US" sz="3100"/>
              <a:t>There is two conditions guarantee computation completion in the shortest possible time:</a:t>
            </a:r>
          </a:p>
          <a:p>
            <a:r>
              <a:rPr lang="en-US" sz="3100"/>
              <a:t>Memory Optimization and CPU Optimization</a:t>
            </a:r>
          </a:p>
        </p:txBody>
      </p:sp>
    </p:spTree>
    <p:extLst>
      <p:ext uri="{BB962C8B-B14F-4D97-AF65-F5344CB8AC3E}">
        <p14:creationId xmlns:p14="http://schemas.microsoft.com/office/powerpoint/2010/main" val="414131878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40144-47C8-7A83-34DE-047049DB1CF1}"/>
              </a:ext>
            </a:extLst>
          </p:cNvPr>
          <p:cNvSpPr>
            <a:spLocks noGrp="1"/>
          </p:cNvSpPr>
          <p:nvPr>
            <p:ph type="title"/>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kumimoji="0" lang="en-US" sz="3200" b="1" i="0" u="none" strike="noStrike" kern="0" cap="all" spc="0" normalizeH="0" baseline="0" noProof="0" dirty="0">
                <a:ln>
                  <a:noFill/>
                </a:ln>
                <a:solidFill>
                  <a:srgbClr val="128CCD"/>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Memory optimization</a:t>
            </a:r>
            <a:endParaRPr lang="en-US" dirty="0"/>
          </a:p>
        </p:txBody>
      </p:sp>
      <p:sp>
        <p:nvSpPr>
          <p:cNvPr id="3" name="Content Placeholder 2">
            <a:extLst>
              <a:ext uri="{FF2B5EF4-FFF2-40B4-BE49-F238E27FC236}">
                <a16:creationId xmlns:a16="http://schemas.microsoft.com/office/drawing/2014/main" id="{ACD14DAA-069E-EC39-6C2F-6B0D31617DF2}"/>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marL="0" marR="0" lvl="0" indent="0" algn="l" defTabSz="2438338" rtl="0" eaLnBrk="1" fontAlgn="auto" latinLnBrk="0" hangingPunct="1">
              <a:lnSpc>
                <a:spcPct val="90000"/>
              </a:lnSpc>
              <a:spcBef>
                <a:spcPts val="4500"/>
              </a:spcBef>
              <a:spcAft>
                <a:spcPts val="0"/>
              </a:spcAft>
              <a:buClrTx/>
              <a:buSzPct val="123000"/>
              <a:buFontTx/>
              <a:buNone/>
              <a:tabLst/>
              <a:defRPr/>
            </a:pPr>
            <a:r>
              <a:rPr kumimoji="0" lang="en-US" sz="3200" b="1" i="0" u="none" strike="noStrike" kern="0" cap="all" spc="0" normalizeH="0" baseline="0" noProof="0" dirty="0">
                <a:ln>
                  <a:noFill/>
                </a:ln>
                <a:solidFill>
                  <a:srgbClr val="FFFFFF"/>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Things to consider</a:t>
            </a:r>
          </a:p>
        </p:txBody>
      </p:sp>
      <p:sp>
        <p:nvSpPr>
          <p:cNvPr id="10" name="Text Placeholder 9">
            <a:extLst>
              <a:ext uri="{FF2B5EF4-FFF2-40B4-BE49-F238E27FC236}">
                <a16:creationId xmlns:a16="http://schemas.microsoft.com/office/drawing/2014/main" id="{252596BF-8210-9F5C-6CEC-4A64200754DE}"/>
              </a:ext>
            </a:extLst>
          </p:cNvPr>
          <p:cNvSpPr>
            <a:spLocks noGrp="1"/>
          </p:cNvSpPr>
          <p:nvPr>
            <p:ph type="body" sz="quarter" idx="14"/>
          </p:nvPr>
        </p:nvSpPr>
        <p:spPr/>
        <p:txBody>
          <a:bodyPr/>
          <a:lstStyle/>
          <a:p>
            <a:r>
              <a:rPr lang="en-US" b="1" dirty="0"/>
              <a:t>Memory Latency</a:t>
            </a:r>
            <a:r>
              <a:rPr lang="en-US" dirty="0"/>
              <a:t> : is the time it takes to fetch one instruction, or a word or byte of data</a:t>
            </a:r>
          </a:p>
          <a:p>
            <a:endParaRPr lang="en-US" dirty="0"/>
          </a:p>
          <a:p>
            <a:endParaRPr lang="en-US" dirty="0"/>
          </a:p>
          <a:p>
            <a:r>
              <a:rPr lang="en-US" dirty="0"/>
              <a:t>.</a:t>
            </a:r>
          </a:p>
          <a:p>
            <a:pPr>
              <a:buFontTx/>
              <a:buChar char="-"/>
            </a:pPr>
            <a:endParaRPr lang="en-US" dirty="0"/>
          </a:p>
          <a:p>
            <a:endParaRPr lang="en-US" dirty="0"/>
          </a:p>
        </p:txBody>
      </p:sp>
      <p:sp>
        <p:nvSpPr>
          <p:cNvPr id="11" name="Text Placeholder 10">
            <a:extLst>
              <a:ext uri="{FF2B5EF4-FFF2-40B4-BE49-F238E27FC236}">
                <a16:creationId xmlns:a16="http://schemas.microsoft.com/office/drawing/2014/main" id="{E56B010A-1405-F5FB-2CCC-B325D03F3E91}"/>
              </a:ext>
            </a:extLst>
          </p:cNvPr>
          <p:cNvSpPr>
            <a:spLocks noGrp="1"/>
          </p:cNvSpPr>
          <p:nvPr>
            <p:ph type="body" sz="quarter" idx="15"/>
          </p:nvPr>
        </p:nvSpPr>
        <p:spPr/>
        <p:txBody>
          <a:bodyPr/>
          <a:lstStyle/>
          <a:p>
            <a:r>
              <a:rPr lang="en-US" dirty="0"/>
              <a:t> </a:t>
            </a:r>
            <a:r>
              <a:rPr lang="en-US" b="1" dirty="0"/>
              <a:t>Bandwidth</a:t>
            </a:r>
            <a:r>
              <a:rPr lang="en-US" dirty="0"/>
              <a:t> : is the amount of data delivered in one  unit of time</a:t>
            </a:r>
          </a:p>
        </p:txBody>
      </p:sp>
      <p:sp>
        <p:nvSpPr>
          <p:cNvPr id="12" name="Text Placeholder 11">
            <a:extLst>
              <a:ext uri="{FF2B5EF4-FFF2-40B4-BE49-F238E27FC236}">
                <a16:creationId xmlns:a16="http://schemas.microsoft.com/office/drawing/2014/main" id="{F296B3AC-A564-3168-4E5E-B27E6692B5C3}"/>
              </a:ext>
            </a:extLst>
          </p:cNvPr>
          <p:cNvSpPr>
            <a:spLocks noGrp="1"/>
          </p:cNvSpPr>
          <p:nvPr>
            <p:ph type="body" sz="quarter" idx="16"/>
          </p:nvPr>
        </p:nvSpPr>
        <p:spPr/>
        <p:txBody>
          <a:bodyPr/>
          <a:lstStyle/>
          <a:p>
            <a:r>
              <a:rPr lang="en-US" b="1" dirty="0"/>
              <a:t>Cost</a:t>
            </a:r>
            <a:r>
              <a:rPr lang="en-US" dirty="0"/>
              <a:t> : the faster, the higher is the cost of physical memory</a:t>
            </a:r>
          </a:p>
        </p:txBody>
      </p:sp>
      <p:pic>
        <p:nvPicPr>
          <p:cNvPr id="18" name="Picture Placeholder 17" descr="Close-up of a server network panel with lights and cables">
            <a:extLst>
              <a:ext uri="{FF2B5EF4-FFF2-40B4-BE49-F238E27FC236}">
                <a16:creationId xmlns:a16="http://schemas.microsoft.com/office/drawing/2014/main" id="{E4C07509-4C6B-2A75-3025-B25D2861A23F}"/>
              </a:ext>
            </a:extLst>
          </p:cNvPr>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rcRect l="11983" r="11983"/>
          <a:stretch>
            <a:fillRect/>
          </a:stretch>
        </p:blipFill>
        <p:spPr/>
      </p:pic>
      <p:pic>
        <p:nvPicPr>
          <p:cNvPr id="20" name="Picture Placeholder 19">
            <a:extLst>
              <a:ext uri="{FF2B5EF4-FFF2-40B4-BE49-F238E27FC236}">
                <a16:creationId xmlns:a16="http://schemas.microsoft.com/office/drawing/2014/main" id="{57C00A58-226A-2E97-3DA1-CF248F299F8B}"/>
              </a:ext>
            </a:extLst>
          </p:cNvPr>
          <p:cNvPicPr>
            <a:picLocks noGrp="1" noChangeAspect="1"/>
          </p:cNvPicPr>
          <p:nvPr>
            <p:ph type="pic" sz="quarter" idx="12"/>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5776" r="15776"/>
          <a:stretch>
            <a:fillRect/>
          </a:stretch>
        </p:blipFill>
        <p:spPr/>
      </p:pic>
      <p:pic>
        <p:nvPicPr>
          <p:cNvPr id="22" name="Picture Placeholder 21">
            <a:extLst>
              <a:ext uri="{FF2B5EF4-FFF2-40B4-BE49-F238E27FC236}">
                <a16:creationId xmlns:a16="http://schemas.microsoft.com/office/drawing/2014/main" id="{521B21F9-72E3-0619-25E8-C9EB28A50721}"/>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9716" r="9716"/>
          <a:stretch>
            <a:fillRect/>
          </a:stretch>
        </p:blipFill>
        <p:spPr/>
      </p:pic>
    </p:spTree>
    <p:extLst>
      <p:ext uri="{BB962C8B-B14F-4D97-AF65-F5344CB8AC3E}">
        <p14:creationId xmlns:p14="http://schemas.microsoft.com/office/powerpoint/2010/main" val="312567880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F452-CE94-3974-4F15-C5DD7B20C9C1}"/>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dirty="0">
                <a:solidFill>
                  <a:srgbClr val="128CCD"/>
                </a:solidFill>
              </a:rPr>
              <a:t>CPU Optimization</a:t>
            </a:r>
          </a:p>
        </p:txBody>
      </p:sp>
      <p:sp>
        <p:nvSpPr>
          <p:cNvPr id="14" name="Text Placeholder 2">
            <a:extLst>
              <a:ext uri="{FF2B5EF4-FFF2-40B4-BE49-F238E27FC236}">
                <a16:creationId xmlns:a16="http://schemas.microsoft.com/office/drawing/2014/main" id="{33E7CE41-BDF3-E88A-2B0D-F0CE1E61A4F3}"/>
              </a:ext>
            </a:extLst>
          </p:cNvPr>
          <p:cNvSpPr>
            <a:spLocks noGrp="1"/>
          </p:cNvSpPr>
          <p:nvPr>
            <p:ph type="body" sz="quarter" idx="10"/>
          </p:nvPr>
        </p:nvSpPr>
        <p:spPr>
          <a:xfrm>
            <a:off x="2167377" y="2419728"/>
            <a:ext cx="9768875" cy="803546"/>
          </a:xfrm>
        </p:spPr>
        <p:txBody>
          <a:bodyPr/>
          <a:lstStyle/>
          <a:p>
            <a:endParaRPr lang="en-US"/>
          </a:p>
        </p:txBody>
      </p:sp>
      <p:sp>
        <p:nvSpPr>
          <p:cNvPr id="8" name="Text Placeholder 7">
            <a:extLst>
              <a:ext uri="{FF2B5EF4-FFF2-40B4-BE49-F238E27FC236}">
                <a16:creationId xmlns:a16="http://schemas.microsoft.com/office/drawing/2014/main" id="{6620BFA0-EF37-3EBA-CED3-13429D5AD926}"/>
              </a:ext>
            </a:extLst>
          </p:cNvPr>
          <p:cNvSpPr>
            <a:spLocks noGrp="1"/>
          </p:cNvSpPr>
          <p:nvPr>
            <p:ph sz="quarter" idx="11"/>
          </p:nvPr>
        </p:nvSpPr>
        <p:spPr>
          <a:xfrm>
            <a:off x="5486930" y="5334432"/>
            <a:ext cx="13714940" cy="4522264"/>
          </a:xfrm>
        </p:spPr>
        <p:txBody>
          <a:bodyPr>
            <a:normAutofit fontScale="92500" lnSpcReduction="10000"/>
          </a:bodyPr>
          <a:lstStyle/>
          <a:p>
            <a:pPr>
              <a:lnSpc>
                <a:spcPct val="90000"/>
              </a:lnSpc>
            </a:pPr>
            <a:r>
              <a:rPr lang="en-US" sz="2400" dirty="0"/>
              <a:t>Major implications in  keeping the pipe full at the times for </a:t>
            </a:r>
            <a:r>
              <a:rPr lang="en-US" sz="2400" dirty="0" err="1"/>
              <a:t>cpu</a:t>
            </a:r>
            <a:r>
              <a:rPr lang="en-US" sz="2400" dirty="0"/>
              <a:t> optimization:</a:t>
            </a:r>
          </a:p>
          <a:p>
            <a:pPr>
              <a:lnSpc>
                <a:spcPct val="90000"/>
              </a:lnSpc>
            </a:pPr>
            <a:r>
              <a:rPr lang="en-US" sz="2400" dirty="0"/>
              <a:t>B1—avoid pipeline stalls;</a:t>
            </a:r>
          </a:p>
          <a:p>
            <a:pPr>
              <a:lnSpc>
                <a:spcPct val="90000"/>
              </a:lnSpc>
            </a:pPr>
            <a:r>
              <a:rPr lang="en-US" sz="2400" dirty="0"/>
              <a:t>B2—deal with the fact that different arithmetic operations require a different number of clock cycles; for example, an integer addition my require two clock cycles, a multiplication 12 clock cycles, and a division 50–60 clock cycles;</a:t>
            </a:r>
          </a:p>
          <a:p>
            <a:pPr>
              <a:lnSpc>
                <a:spcPct val="90000"/>
              </a:lnSpc>
            </a:pPr>
            <a:r>
              <a:rPr lang="en-US" sz="2400" dirty="0"/>
              <a:t>B3—avoid wasting clock cycles due to control flow instructions which alter the sequential execution pattern. A control flow instruction could be a condition generated by an arithmetic operation that modifies condition codes and may or may not force us to fetch a new instruction, or a subprogram call or an instruction that transfers control to a subprogram or elsewhere in the address space of the program.</a:t>
            </a:r>
          </a:p>
          <a:p>
            <a:pPr>
              <a:lnSpc>
                <a:spcPct val="90000"/>
              </a:lnSpc>
            </a:pPr>
            <a:endParaRPr lang="en-US" sz="2400" dirty="0"/>
          </a:p>
        </p:txBody>
      </p:sp>
      <p:sp>
        <p:nvSpPr>
          <p:cNvPr id="5" name="Slide Number Placeholder 4" hidden="1">
            <a:extLst>
              <a:ext uri="{FF2B5EF4-FFF2-40B4-BE49-F238E27FC236}">
                <a16:creationId xmlns:a16="http://schemas.microsoft.com/office/drawing/2014/main" id="{F1F462D8-1A65-45CE-D90A-0C45FF24E672}"/>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defRPr/>
            </a:pPr>
            <a:fld id="{55B5EB7E-3145-403B-B703-330A724ECA2A}" type="slidenum">
              <a:rPr lang="en-US" smtClean="0"/>
              <a:pPr>
                <a:spcAft>
                  <a:spcPts val="600"/>
                </a:spcAft>
                <a:defRPr/>
              </a:pPr>
              <a:t>15</a:t>
            </a:fld>
            <a:endParaRPr lang="en-US"/>
          </a:p>
        </p:txBody>
      </p:sp>
    </p:spTree>
    <p:extLst>
      <p:ext uri="{BB962C8B-B14F-4D97-AF65-F5344CB8AC3E}">
        <p14:creationId xmlns:p14="http://schemas.microsoft.com/office/powerpoint/2010/main" val="222161439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3536D-2C3B-4D10-5523-37C4F781F1B5}"/>
              </a:ext>
            </a:extLst>
          </p:cNvPr>
          <p:cNvSpPr>
            <a:spLocks noGrp="1"/>
          </p:cNvSpPr>
          <p:nvPr>
            <p:ph type="title"/>
          </p:nvPr>
        </p:nvSpPr>
        <p:spPr/>
        <p:txBody>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2800" dirty="0">
                <a:solidFill>
                  <a:srgbClr val="128CCD"/>
                </a:solidFill>
              </a:rPr>
              <a:t>Critical vulnerabilities</a:t>
            </a:r>
            <a:endParaRPr lang="en-US" dirty="0"/>
          </a:p>
        </p:txBody>
      </p:sp>
      <p:sp>
        <p:nvSpPr>
          <p:cNvPr id="3" name="Content Placeholder 2">
            <a:extLst>
              <a:ext uri="{FF2B5EF4-FFF2-40B4-BE49-F238E27FC236}">
                <a16:creationId xmlns:a16="http://schemas.microsoft.com/office/drawing/2014/main" id="{7FF168D0-4C38-7C78-E9DE-E720D5EF0202}"/>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marL="0" indent="0">
              <a:buNone/>
            </a:pPr>
            <a:endParaRPr lang="en-US" dirty="0"/>
          </a:p>
        </p:txBody>
      </p:sp>
      <p:sp>
        <p:nvSpPr>
          <p:cNvPr id="8" name="Text Placeholder 7">
            <a:extLst>
              <a:ext uri="{FF2B5EF4-FFF2-40B4-BE49-F238E27FC236}">
                <a16:creationId xmlns:a16="http://schemas.microsoft.com/office/drawing/2014/main" id="{05F3FF80-EF10-1D76-C49F-05FE53D7CA8A}"/>
              </a:ext>
            </a:extLst>
          </p:cNvPr>
          <p:cNvSpPr>
            <a:spLocks noGrp="1"/>
          </p:cNvSpPr>
          <p:nvPr>
            <p:ph type="body" sz="quarter" idx="16"/>
          </p:nvPr>
        </p:nvSpPr>
        <p:spPr/>
        <p:txBody>
          <a:bodyPr/>
          <a:lstStyle/>
          <a:p>
            <a:pPr marL="914400" indent="-914400">
              <a:buFont typeface="+mj-lt"/>
              <a:buAutoNum type="arabicPeriod"/>
            </a:pPr>
            <a:r>
              <a:rPr lang="en-US" b="1" dirty="0"/>
              <a:t>Meltdown</a:t>
            </a:r>
            <a:r>
              <a:rPr lang="en-US" dirty="0"/>
              <a:t> vulnerability exploits a race condition between memory access and privilege checking during instruction processing and affects x86-based systems.</a:t>
            </a:r>
          </a:p>
          <a:p>
            <a:pPr marL="914400" indent="-914400">
              <a:buFont typeface="+mj-lt"/>
              <a:buAutoNum type="arabicPeriod"/>
            </a:pPr>
            <a:r>
              <a:rPr lang="en-US" b="1" dirty="0" err="1"/>
              <a:t>Spectre</a:t>
            </a:r>
            <a:r>
              <a:rPr lang="en-US" dirty="0"/>
              <a:t> enables a whole class of potential vulnerabilities by exploiting branch prediction. </a:t>
            </a:r>
          </a:p>
          <a:p>
            <a:endParaRPr lang="en-US" dirty="0"/>
          </a:p>
        </p:txBody>
      </p:sp>
      <p:pic>
        <p:nvPicPr>
          <p:cNvPr id="11" name="Picture Placeholder 10">
            <a:extLst>
              <a:ext uri="{FF2B5EF4-FFF2-40B4-BE49-F238E27FC236}">
                <a16:creationId xmlns:a16="http://schemas.microsoft.com/office/drawing/2014/main" id="{377E3560-4CCF-170B-A88E-F42804C10DA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110" b="2110"/>
          <a:stretch>
            <a:fillRect/>
          </a:stretch>
        </p:blipFill>
        <p:spPr>
          <a:xfrm>
            <a:off x="12635207" y="4245218"/>
            <a:ext cx="8495477" cy="7396404"/>
          </a:xfrm>
        </p:spPr>
      </p:pic>
      <p:sp>
        <p:nvSpPr>
          <p:cNvPr id="9" name="Text Placeholder 8">
            <a:extLst>
              <a:ext uri="{FF2B5EF4-FFF2-40B4-BE49-F238E27FC236}">
                <a16:creationId xmlns:a16="http://schemas.microsoft.com/office/drawing/2014/main" id="{F1FBC847-73E7-E51C-27EA-1F2E00AB190C}"/>
              </a:ext>
            </a:extLst>
          </p:cNvPr>
          <p:cNvSpPr>
            <a:spLocks noGrp="1"/>
          </p:cNvSpPr>
          <p:nvPr>
            <p:ph type="body" sz="quarter" idx="17"/>
          </p:nvPr>
        </p:nvSpPr>
        <p:spPr/>
        <p:txBody>
          <a:bodyPr>
            <a:normAutofit fontScale="92500" lnSpcReduction="20000"/>
          </a:bodyPr>
          <a:lstStyle/>
          <a:p>
            <a:r>
              <a:rPr lang="en-US" dirty="0"/>
              <a:t>There are two hardware vulnerabilities that affect systems with Intel x86, IBM Power architectures, and some ARM microprocessors : </a:t>
            </a:r>
          </a:p>
          <a:p>
            <a:endParaRPr lang="en-US" dirty="0"/>
          </a:p>
        </p:txBody>
      </p:sp>
      <p:sp>
        <p:nvSpPr>
          <p:cNvPr id="12" name="TextBox 11">
            <a:extLst>
              <a:ext uri="{FF2B5EF4-FFF2-40B4-BE49-F238E27FC236}">
                <a16:creationId xmlns:a16="http://schemas.microsoft.com/office/drawing/2014/main" id="{ECAAA1ED-5D36-CFDF-A040-44AEE82422AD}"/>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4" tooltip="https://he.wikipedia.org/wiki/ARM"/>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276172831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Data, Thread, and Task-level parallelism</a:t>
            </a:r>
          </a:p>
        </p:txBody>
      </p:sp>
    </p:spTree>
    <p:extLst>
      <p:ext uri="{BB962C8B-B14F-4D97-AF65-F5344CB8AC3E}">
        <p14:creationId xmlns:p14="http://schemas.microsoft.com/office/powerpoint/2010/main" val="48882962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D1E69-9E73-E9AA-12D3-5278F4D81568}"/>
              </a:ext>
            </a:extLst>
          </p:cNvPr>
          <p:cNvSpPr>
            <a:spLocks noGrp="1"/>
          </p:cNvSpPr>
          <p:nvPr>
            <p:ph type="title"/>
          </p:nvPr>
        </p:nvSpPr>
        <p:spPr/>
        <p:txBody>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dirty="0">
                <a:solidFill>
                  <a:srgbClr val="128CCD"/>
                </a:solidFill>
              </a:rPr>
              <a:t>Data-level parallelism</a:t>
            </a:r>
            <a:endParaRPr lang="en-US" dirty="0"/>
          </a:p>
        </p:txBody>
      </p:sp>
      <p:sp>
        <p:nvSpPr>
          <p:cNvPr id="3" name="Content Placeholder 2">
            <a:extLst>
              <a:ext uri="{FF2B5EF4-FFF2-40B4-BE49-F238E27FC236}">
                <a16:creationId xmlns:a16="http://schemas.microsoft.com/office/drawing/2014/main" id="{3017DC88-1438-A5A6-E8C0-16861D43ECEC}"/>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lgn="just"/>
            <a:endParaRPr lang="en-US" dirty="0">
              <a:solidFill>
                <a:schemeClr val="bg1"/>
              </a:solidFill>
            </a:endParaRPr>
          </a:p>
        </p:txBody>
      </p:sp>
      <p:sp>
        <p:nvSpPr>
          <p:cNvPr id="8" name="Text Placeholder 7">
            <a:extLst>
              <a:ext uri="{FF2B5EF4-FFF2-40B4-BE49-F238E27FC236}">
                <a16:creationId xmlns:a16="http://schemas.microsoft.com/office/drawing/2014/main" id="{F69456A5-E78D-26AF-17D9-C362B6B94480}"/>
              </a:ext>
            </a:extLst>
          </p:cNvPr>
          <p:cNvSpPr>
            <a:spLocks noGrp="1"/>
          </p:cNvSpPr>
          <p:nvPr>
            <p:ph type="body" sz="quarter" idx="16"/>
          </p:nvPr>
        </p:nvSpPr>
        <p:spPr/>
        <p:txBody>
          <a:bodyPr/>
          <a:lstStyle/>
          <a:p>
            <a:pPr algn="just"/>
            <a:r>
              <a:rPr lang="en-US" dirty="0"/>
              <a:t>It is based on partitioning data into large chunks / blocks / segments and running concurrently either multiple programs or copies of the same program, each on a different data block. </a:t>
            </a:r>
          </a:p>
          <a:p>
            <a:pPr algn="just"/>
            <a:r>
              <a:rPr lang="en-US" dirty="0"/>
              <a:t>In the latter case the paradigm is </a:t>
            </a:r>
            <a:r>
              <a:rPr lang="en-US" b="1" dirty="0"/>
              <a:t>called Same Program Multiple Data (SPMD)</a:t>
            </a:r>
            <a:r>
              <a:rPr lang="en-US" dirty="0"/>
              <a:t>.</a:t>
            </a:r>
          </a:p>
          <a:p>
            <a:pPr algn="just"/>
            <a:r>
              <a:rPr lang="en-US" dirty="0"/>
              <a:t>There are the so-called </a:t>
            </a:r>
            <a:r>
              <a:rPr lang="en-US" b="1" dirty="0"/>
              <a:t>embarrassingly parallel</a:t>
            </a:r>
            <a:r>
              <a:rPr lang="en-US" dirty="0"/>
              <a:t> problems where little or no effort is needed to extract parallelism and to run a number of concurrent tasks with little or no communication among them.</a:t>
            </a:r>
          </a:p>
          <a:p>
            <a:endParaRPr lang="en-US" dirty="0"/>
          </a:p>
        </p:txBody>
      </p:sp>
      <p:pic>
        <p:nvPicPr>
          <p:cNvPr id="14" name="Picture Placeholder 13">
            <a:extLst>
              <a:ext uri="{FF2B5EF4-FFF2-40B4-BE49-F238E27FC236}">
                <a16:creationId xmlns:a16="http://schemas.microsoft.com/office/drawing/2014/main" id="{C18B4A56-7B7B-6780-F660-58ABB2C9299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718" r="11718"/>
          <a:stretch>
            <a:fillRect/>
          </a:stretch>
        </p:blipFill>
        <p:spPr/>
      </p:pic>
      <p:sp>
        <p:nvSpPr>
          <p:cNvPr id="9" name="Text Placeholder 8">
            <a:extLst>
              <a:ext uri="{FF2B5EF4-FFF2-40B4-BE49-F238E27FC236}">
                <a16:creationId xmlns:a16="http://schemas.microsoft.com/office/drawing/2014/main" id="{C03A190C-3EF6-8496-34C1-5A2BE11F306B}"/>
              </a:ext>
            </a:extLst>
          </p:cNvPr>
          <p:cNvSpPr>
            <a:spLocks noGrp="1"/>
          </p:cNvSpPr>
          <p:nvPr>
            <p:ph type="body" sz="quarter" idx="17"/>
          </p:nvPr>
        </p:nvSpPr>
        <p:spPr/>
        <p:txBody>
          <a:bodyPr/>
          <a:lstStyle/>
          <a:p>
            <a:r>
              <a:rPr lang="en-US" dirty="0"/>
              <a:t>Data-level parallelism is an extreme form of coarse-grained parallelism.</a:t>
            </a:r>
          </a:p>
        </p:txBody>
      </p:sp>
      <p:sp>
        <p:nvSpPr>
          <p:cNvPr id="5" name="Slide Number Placeholder 4">
            <a:extLst>
              <a:ext uri="{FF2B5EF4-FFF2-40B4-BE49-F238E27FC236}">
                <a16:creationId xmlns:a16="http://schemas.microsoft.com/office/drawing/2014/main" id="{8C96EB50-688A-8A6A-01C3-F0BDAF8FCD21}"/>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defRPr/>
            </a:pPr>
            <a:fld id="{55B5EB7E-3145-403B-B703-330A724ECA2A}" type="slidenum">
              <a:rPr lang="en-US" smtClean="0"/>
              <a:pPr>
                <a:defRPr/>
              </a:pPr>
              <a:t>18</a:t>
            </a:fld>
            <a:endParaRPr lang="en-US"/>
          </a:p>
        </p:txBody>
      </p:sp>
    </p:spTree>
    <p:extLst>
      <p:ext uri="{BB962C8B-B14F-4D97-AF65-F5344CB8AC3E}">
        <p14:creationId xmlns:p14="http://schemas.microsoft.com/office/powerpoint/2010/main" val="426350731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222-52CC-98EE-D279-4DAF5CDD47BD}"/>
              </a:ext>
            </a:extLst>
          </p:cNvPr>
          <p:cNvSpPr>
            <a:spLocks noGrp="1"/>
          </p:cNvSpPr>
          <p:nvPr>
            <p:ph type="title"/>
          </p:nvPr>
        </p:nvSpPr>
        <p:spPr/>
        <p:txBody>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endParaRPr lang="en-US" dirty="0"/>
          </a:p>
        </p:txBody>
      </p:sp>
      <p:sp>
        <p:nvSpPr>
          <p:cNvPr id="3" name="Content Placeholder 2">
            <a:extLst>
              <a:ext uri="{FF2B5EF4-FFF2-40B4-BE49-F238E27FC236}">
                <a16:creationId xmlns:a16="http://schemas.microsoft.com/office/drawing/2014/main" id="{46000144-8264-D5C2-7969-A09F6E76FD4C}"/>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lgn="just"/>
            <a:endParaRPr lang="en-US" dirty="0"/>
          </a:p>
        </p:txBody>
      </p:sp>
      <p:sp>
        <p:nvSpPr>
          <p:cNvPr id="8" name="Text Placeholder 7">
            <a:extLst>
              <a:ext uri="{FF2B5EF4-FFF2-40B4-BE49-F238E27FC236}">
                <a16:creationId xmlns:a16="http://schemas.microsoft.com/office/drawing/2014/main" id="{BAAC34AF-A918-9B59-50C4-071DA0B46758}"/>
              </a:ext>
            </a:extLst>
          </p:cNvPr>
          <p:cNvSpPr>
            <a:spLocks noGrp="1"/>
          </p:cNvSpPr>
          <p:nvPr>
            <p:ph type="body" sz="quarter" idx="16"/>
          </p:nvPr>
        </p:nvSpPr>
        <p:spPr/>
        <p:txBody>
          <a:bodyPr/>
          <a:lstStyle/>
          <a:p>
            <a:pPr algn="just"/>
            <a:r>
              <a:rPr lang="en-US" dirty="0"/>
              <a:t>the use of thread-level is for data-parallel using a GPU. It can be used on single and multicore processor to run multiple processes concurrently.</a:t>
            </a:r>
          </a:p>
          <a:p>
            <a:pPr algn="just"/>
            <a:r>
              <a:rPr lang="en-US" dirty="0"/>
              <a:t>Database applications are memory-intensive and I/O-intensive; and multiple threads are used to hide the latency of memory and I/O access.</a:t>
            </a:r>
          </a:p>
          <a:p>
            <a:pPr algn="just"/>
            <a:r>
              <a:rPr lang="en-US" dirty="0"/>
              <a:t>In the context of scheduling, a job consists of multiple tasks scheduled either independently or co-scheduled when they need to communicate with one another</a:t>
            </a:r>
          </a:p>
          <a:p>
            <a:endParaRPr lang="en-US" dirty="0"/>
          </a:p>
        </p:txBody>
      </p:sp>
      <p:pic>
        <p:nvPicPr>
          <p:cNvPr id="11" name="Picture Placeholder 10">
            <a:extLst>
              <a:ext uri="{FF2B5EF4-FFF2-40B4-BE49-F238E27FC236}">
                <a16:creationId xmlns:a16="http://schemas.microsoft.com/office/drawing/2014/main" id="{F836E940-DC83-4935-9702-339098EDBE3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59" t="1619" r="28241" b="1168"/>
          <a:stretch>
            <a:fillRect/>
          </a:stretch>
        </p:blipFill>
        <p:spPr>
          <a:xfrm>
            <a:off x="12339930" y="4431323"/>
            <a:ext cx="9876693" cy="7701204"/>
          </a:xfrm>
        </p:spPr>
      </p:pic>
      <p:sp>
        <p:nvSpPr>
          <p:cNvPr id="9" name="Text Placeholder 8">
            <a:extLst>
              <a:ext uri="{FF2B5EF4-FFF2-40B4-BE49-F238E27FC236}">
                <a16:creationId xmlns:a16="http://schemas.microsoft.com/office/drawing/2014/main" id="{1056779B-A75D-1EDD-3263-69C0CABF162E}"/>
              </a:ext>
            </a:extLst>
          </p:cNvPr>
          <p:cNvSpPr>
            <a:spLocks noGrp="1"/>
          </p:cNvSpPr>
          <p:nvPr>
            <p:ph type="body" sz="quarter" idx="17"/>
          </p:nvPr>
        </p:nvSpPr>
        <p:spPr/>
        <p:txBody>
          <a:bodyPr/>
          <a:lstStyle/>
          <a:p>
            <a:r>
              <a:rPr lang="en-US" dirty="0"/>
              <a:t>Thread is a subset of vector elements processed by one of the lanes of a multithreaded processor,</a:t>
            </a:r>
          </a:p>
        </p:txBody>
      </p:sp>
      <p:sp>
        <p:nvSpPr>
          <p:cNvPr id="12" name="TextBox 11">
            <a:extLst>
              <a:ext uri="{FF2B5EF4-FFF2-40B4-BE49-F238E27FC236}">
                <a16:creationId xmlns:a16="http://schemas.microsoft.com/office/drawing/2014/main" id="{41B98A94-885E-20A9-DF7F-19B4431E580E}"/>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wiki.kfki.hu/nano/How_to_run_calculations"/>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168919402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8D47-60F5-F371-ECA5-466445192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91067-A0DA-D6D6-4F99-BCC28A8E11BF}"/>
              </a:ext>
            </a:extLst>
          </p:cNvPr>
          <p:cNvSpPr>
            <a:spLocks noGrp="1"/>
          </p:cNvSpPr>
          <p:nvPr>
            <p:ph type="title"/>
          </p:nvPr>
        </p:nvSpPr>
        <p:spPr/>
        <p:txBody>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dirty="0">
                <a:solidFill>
                  <a:srgbClr val="128CCD"/>
                </a:solidFill>
              </a:rPr>
              <a:t>Thread-level and Task-level Parallelism</a:t>
            </a:r>
            <a:endParaRPr lang="en-US" dirty="0"/>
          </a:p>
        </p:txBody>
      </p:sp>
      <p:sp>
        <p:nvSpPr>
          <p:cNvPr id="3" name="Content Placeholder 2">
            <a:extLst>
              <a:ext uri="{FF2B5EF4-FFF2-40B4-BE49-F238E27FC236}">
                <a16:creationId xmlns:a16="http://schemas.microsoft.com/office/drawing/2014/main" id="{1447EC8D-637A-9BCA-FD4A-81974A8D5AB9}"/>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lgn="just"/>
            <a:endParaRPr lang="en-US" dirty="0"/>
          </a:p>
        </p:txBody>
      </p:sp>
      <p:sp>
        <p:nvSpPr>
          <p:cNvPr id="8" name="Text Placeholder 7">
            <a:extLst>
              <a:ext uri="{FF2B5EF4-FFF2-40B4-BE49-F238E27FC236}">
                <a16:creationId xmlns:a16="http://schemas.microsoft.com/office/drawing/2014/main" id="{037D26CF-260D-FE26-E193-7FEA46B8338F}"/>
              </a:ext>
            </a:extLst>
          </p:cNvPr>
          <p:cNvSpPr>
            <a:spLocks noGrp="1"/>
          </p:cNvSpPr>
          <p:nvPr>
            <p:ph type="body" sz="quarter" idx="16"/>
          </p:nvPr>
        </p:nvSpPr>
        <p:spPr/>
        <p:txBody>
          <a:bodyPr/>
          <a:lstStyle/>
          <a:p>
            <a:pPr algn="just"/>
            <a:r>
              <a:rPr lang="en-US" dirty="0"/>
              <a:t>Such applications involve computationally intensive tasks.</a:t>
            </a:r>
          </a:p>
          <a:p>
            <a:pPr algn="just"/>
            <a:r>
              <a:rPr lang="en-US" dirty="0"/>
              <a:t>Multiple instances running concurrently test the fitness of different sets of parameters, and the results are then compared to determine the optimal set of model parameters.</a:t>
            </a:r>
          </a:p>
          <a:p>
            <a:pPr algn="just"/>
            <a:r>
              <a:rPr lang="en-US" dirty="0"/>
              <a:t>There are also numerical simulations of complex systems that require an optimal design of a physical system.</a:t>
            </a:r>
          </a:p>
          <a:p>
            <a:pPr algn="just"/>
            <a:r>
              <a:rPr lang="en-US" dirty="0"/>
              <a:t>Multiple design alternatives are compared, and the optimal one is selected according to several optimization criteria.</a:t>
            </a:r>
          </a:p>
        </p:txBody>
      </p:sp>
      <p:pic>
        <p:nvPicPr>
          <p:cNvPr id="11" name="Picture Placeholder 10">
            <a:extLst>
              <a:ext uri="{FF2B5EF4-FFF2-40B4-BE49-F238E27FC236}">
                <a16:creationId xmlns:a16="http://schemas.microsoft.com/office/drawing/2014/main" id="{8FFDE169-E66E-003A-7D54-32A86241871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59" t="1619" r="28241" b="1168"/>
          <a:stretch>
            <a:fillRect/>
          </a:stretch>
        </p:blipFill>
        <p:spPr>
          <a:xfrm>
            <a:off x="12339930" y="4431323"/>
            <a:ext cx="9876693" cy="7701204"/>
          </a:xfrm>
        </p:spPr>
      </p:pic>
      <p:sp>
        <p:nvSpPr>
          <p:cNvPr id="9" name="Text Placeholder 8">
            <a:extLst>
              <a:ext uri="{FF2B5EF4-FFF2-40B4-BE49-F238E27FC236}">
                <a16:creationId xmlns:a16="http://schemas.microsoft.com/office/drawing/2014/main" id="{1A095FDC-D20C-98A6-DB5D-E04569F3B2A8}"/>
              </a:ext>
            </a:extLst>
          </p:cNvPr>
          <p:cNvSpPr>
            <a:spLocks noGrp="1"/>
          </p:cNvSpPr>
          <p:nvPr>
            <p:ph type="body" sz="quarter" idx="17"/>
          </p:nvPr>
        </p:nvSpPr>
        <p:spPr/>
        <p:txBody>
          <a:bodyPr>
            <a:normAutofit fontScale="85000" lnSpcReduction="10000"/>
          </a:bodyPr>
          <a:lstStyle/>
          <a:p>
            <a:r>
              <a:rPr lang="en-US" dirty="0"/>
              <a:t>Cloud computing is an appealing environment of running applications attempting to identify optimal model parameters that best fit experimental data.</a:t>
            </a:r>
          </a:p>
        </p:txBody>
      </p:sp>
      <p:sp>
        <p:nvSpPr>
          <p:cNvPr id="12" name="TextBox 11">
            <a:extLst>
              <a:ext uri="{FF2B5EF4-FFF2-40B4-BE49-F238E27FC236}">
                <a16:creationId xmlns:a16="http://schemas.microsoft.com/office/drawing/2014/main" id="{A93A23AA-E7C3-9E7D-296F-E1DA5FD39AE4}"/>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wiki.kfki.hu/nano/How_to_run_calculations"/>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331199438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8B7BB-26BA-CA24-B035-709FF09059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1F93C0-9E23-576A-A7B3-427CD034842A}"/>
              </a:ext>
            </a:extLst>
          </p:cNvPr>
          <p:cNvSpPr>
            <a:spLocks noGrp="1"/>
          </p:cNvSpPr>
          <p:nvPr>
            <p:ph type="title"/>
          </p:nvPr>
        </p:nvSpPr>
        <p:spPr/>
        <p:txBody>
          <a:bodyPr/>
          <a:lstStyle/>
          <a:p>
            <a:r>
              <a:rPr lang="en-US" dirty="0"/>
              <a:t>From supercomputers to distributed systems</a:t>
            </a:r>
          </a:p>
        </p:txBody>
      </p:sp>
    </p:spTree>
    <p:extLst>
      <p:ext uri="{BB962C8B-B14F-4D97-AF65-F5344CB8AC3E}">
        <p14:creationId xmlns:p14="http://schemas.microsoft.com/office/powerpoint/2010/main" val="121144216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3CC6636-B3ED-A8F5-8CCD-92A7CD86DF91}"/>
              </a:ext>
            </a:extLst>
          </p:cNvPr>
          <p:cNvSpPr>
            <a:spLocks noGrp="1"/>
          </p:cNvSpPr>
          <p:nvPr>
            <p:ph type="title"/>
          </p:nvPr>
        </p:nvSpPr>
        <p:spPr>
          <a:xfrm>
            <a:off x="2167377" y="1871164"/>
            <a:ext cx="14715569" cy="511175"/>
          </a:xfrm>
        </p:spPr>
        <p:txBody>
          <a:bodyPr>
            <a:normAutofit/>
          </a:bodyPr>
          <a:lstStyle/>
          <a:p>
            <a:r>
              <a:rPr lang="en-US" sz="3200" dirty="0"/>
              <a:t>Supercomputer</a:t>
            </a:r>
          </a:p>
        </p:txBody>
      </p:sp>
      <p:sp>
        <p:nvSpPr>
          <p:cNvPr id="21" name="Text Placeholder 2">
            <a:extLst>
              <a:ext uri="{FF2B5EF4-FFF2-40B4-BE49-F238E27FC236}">
                <a16:creationId xmlns:a16="http://schemas.microsoft.com/office/drawing/2014/main" id="{3EF66953-F2D1-FBD1-0F34-B4B7B0897882}"/>
              </a:ext>
            </a:extLst>
          </p:cNvPr>
          <p:cNvSpPr>
            <a:spLocks noGrp="1"/>
          </p:cNvSpPr>
          <p:nvPr>
            <p:ph type="body" sz="quarter" idx="10"/>
          </p:nvPr>
        </p:nvSpPr>
        <p:spPr>
          <a:xfrm>
            <a:off x="2167377" y="2419728"/>
            <a:ext cx="9768875" cy="803546"/>
          </a:xfrm>
        </p:spPr>
        <p:txBody>
          <a:bodyPr/>
          <a:lstStyle/>
          <a:p>
            <a:endParaRPr lang="en-US"/>
          </a:p>
        </p:txBody>
      </p:sp>
      <p:sp>
        <p:nvSpPr>
          <p:cNvPr id="12" name="Text Placeholder 11">
            <a:extLst>
              <a:ext uri="{FF2B5EF4-FFF2-40B4-BE49-F238E27FC236}">
                <a16:creationId xmlns:a16="http://schemas.microsoft.com/office/drawing/2014/main" id="{21E24542-8940-3717-4CB7-29C332A9F69C}"/>
              </a:ext>
            </a:extLst>
          </p:cNvPr>
          <p:cNvSpPr>
            <a:spLocks noGrp="1"/>
          </p:cNvSpPr>
          <p:nvPr>
            <p:ph type="body" sz="quarter" idx="16"/>
          </p:nvPr>
        </p:nvSpPr>
        <p:spPr>
          <a:xfrm>
            <a:off x="2167377" y="6556917"/>
            <a:ext cx="9768906" cy="5575610"/>
          </a:xfrm>
        </p:spPr>
        <p:txBody>
          <a:bodyPr>
            <a:normAutofit/>
          </a:bodyPr>
          <a:lstStyle/>
          <a:p>
            <a:pPr algn="just"/>
            <a:endParaRPr lang="en-ID" dirty="0">
              <a:latin typeface="Arial" panose="020B0604020202020204" pitchFamily="34" charset="0"/>
            </a:endParaRPr>
          </a:p>
          <a:p>
            <a:pPr algn="just"/>
            <a:r>
              <a:rPr lang="en-ID" dirty="0">
                <a:latin typeface="Arial" panose="020B0604020202020204" pitchFamily="34" charset="0"/>
              </a:rPr>
              <a:t>Supercomputer architectures are made up of multiple central processing units (CPUs). These CPUs have groups composed of compute nodes and memory. Supercomputers can contain thousands of nodes that use parallel processing to communicate with one another to solve problems.</a:t>
            </a:r>
          </a:p>
          <a:p>
            <a:pPr algn="just"/>
            <a:r>
              <a:rPr lang="en-ID" dirty="0">
                <a:latin typeface="Arial" panose="020B0604020202020204" pitchFamily="34" charset="0"/>
              </a:rPr>
              <a:t>Supercomputers have been used for scientific and engineering applications that must handle massive databases, do a great amount of computation or both.</a:t>
            </a:r>
            <a:endParaRPr lang="en-US" dirty="0"/>
          </a:p>
        </p:txBody>
      </p:sp>
      <p:sp>
        <p:nvSpPr>
          <p:cNvPr id="13" name="Text Placeholder 12">
            <a:extLst>
              <a:ext uri="{FF2B5EF4-FFF2-40B4-BE49-F238E27FC236}">
                <a16:creationId xmlns:a16="http://schemas.microsoft.com/office/drawing/2014/main" id="{FFB73AA5-EFC8-51CB-7551-A6A8A0417CAA}"/>
              </a:ext>
            </a:extLst>
          </p:cNvPr>
          <p:cNvSpPr>
            <a:spLocks noGrp="1"/>
          </p:cNvSpPr>
          <p:nvPr>
            <p:ph type="body" sz="quarter" idx="17"/>
          </p:nvPr>
        </p:nvSpPr>
        <p:spPr>
          <a:xfrm>
            <a:off x="2166938" y="4210049"/>
            <a:ext cx="9768874" cy="2039112"/>
          </a:xfrm>
        </p:spPr>
        <p:txBody>
          <a:bodyPr>
            <a:normAutofit/>
          </a:bodyPr>
          <a:lstStyle/>
          <a:p>
            <a:r>
              <a:rPr lang="en-US" dirty="0"/>
              <a:t>A supercomputer is a computer that performs at or near the highest operational rate for computers.</a:t>
            </a:r>
          </a:p>
        </p:txBody>
      </p:sp>
      <p:pic>
        <p:nvPicPr>
          <p:cNvPr id="5" name="Picture Placeholder 4">
            <a:extLst>
              <a:ext uri="{FF2B5EF4-FFF2-40B4-BE49-F238E27FC236}">
                <a16:creationId xmlns:a16="http://schemas.microsoft.com/office/drawing/2014/main" id="{EB900723-73EB-0967-78B1-0EF57AF9470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4110" r="14110"/>
          <a:stretch>
            <a:fillRect/>
          </a:stretch>
        </p:blipFill>
        <p:spPr/>
      </p:pic>
    </p:spTree>
    <p:extLst>
      <p:ext uri="{BB962C8B-B14F-4D97-AF65-F5344CB8AC3E}">
        <p14:creationId xmlns:p14="http://schemas.microsoft.com/office/powerpoint/2010/main" val="282275929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22DB3-4ECB-DB72-EAA9-CA29D60D636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8C896F8-66C8-2ED4-4038-74AFF15381C2}"/>
              </a:ext>
            </a:extLst>
          </p:cNvPr>
          <p:cNvSpPr>
            <a:spLocks noGrp="1"/>
          </p:cNvSpPr>
          <p:nvPr>
            <p:ph type="title"/>
          </p:nvPr>
        </p:nvSpPr>
        <p:spPr>
          <a:xfrm>
            <a:off x="2167377" y="1871164"/>
            <a:ext cx="14715569" cy="511175"/>
          </a:xfrm>
        </p:spPr>
        <p:txBody>
          <a:bodyPr>
            <a:normAutofit/>
          </a:bodyPr>
          <a:lstStyle/>
          <a:p>
            <a:r>
              <a:rPr lang="en-US" sz="3200" dirty="0" err="1"/>
              <a:t>sUPERCOMPUTER</a:t>
            </a:r>
            <a:endParaRPr lang="en-US" sz="3200" dirty="0"/>
          </a:p>
        </p:txBody>
      </p:sp>
      <p:sp>
        <p:nvSpPr>
          <p:cNvPr id="21" name="Text Placeholder 2">
            <a:extLst>
              <a:ext uri="{FF2B5EF4-FFF2-40B4-BE49-F238E27FC236}">
                <a16:creationId xmlns:a16="http://schemas.microsoft.com/office/drawing/2014/main" id="{F300153E-6D4B-21FF-CD6A-B4827D5C7C3B}"/>
              </a:ext>
            </a:extLst>
          </p:cNvPr>
          <p:cNvSpPr>
            <a:spLocks noGrp="1"/>
          </p:cNvSpPr>
          <p:nvPr>
            <p:ph type="body" sz="quarter" idx="10"/>
          </p:nvPr>
        </p:nvSpPr>
        <p:spPr>
          <a:xfrm>
            <a:off x="2167377" y="2419728"/>
            <a:ext cx="9768875" cy="803546"/>
          </a:xfrm>
        </p:spPr>
        <p:txBody>
          <a:bodyPr/>
          <a:lstStyle/>
          <a:p>
            <a:endParaRPr lang="en-US"/>
          </a:p>
        </p:txBody>
      </p:sp>
      <p:sp>
        <p:nvSpPr>
          <p:cNvPr id="12" name="Text Placeholder 11">
            <a:extLst>
              <a:ext uri="{FF2B5EF4-FFF2-40B4-BE49-F238E27FC236}">
                <a16:creationId xmlns:a16="http://schemas.microsoft.com/office/drawing/2014/main" id="{9303D26C-B2AB-980A-5464-489E11737EA1}"/>
              </a:ext>
            </a:extLst>
          </p:cNvPr>
          <p:cNvSpPr>
            <a:spLocks noGrp="1"/>
          </p:cNvSpPr>
          <p:nvPr>
            <p:ph type="body" sz="quarter" idx="16"/>
          </p:nvPr>
        </p:nvSpPr>
        <p:spPr>
          <a:xfrm>
            <a:off x="2167377" y="6556917"/>
            <a:ext cx="9768906" cy="5575610"/>
          </a:xfrm>
        </p:spPr>
        <p:txBody>
          <a:bodyPr>
            <a:normAutofit/>
          </a:bodyPr>
          <a:lstStyle/>
          <a:p>
            <a:pPr algn="just"/>
            <a:r>
              <a:rPr lang="en-US" dirty="0"/>
              <a:t>when low-latency and high-bandwidth Wide Area Networks (WANs) allowed individual systems, many of them multiprocessors, to be geographically separated.</a:t>
            </a:r>
          </a:p>
          <a:p>
            <a:pPr algn="just"/>
            <a:r>
              <a:rPr lang="en-US" b="1" dirty="0"/>
              <a:t>Large-scale distributed systems </a:t>
            </a:r>
            <a:r>
              <a:rPr lang="en-US" dirty="0"/>
              <a:t>were first used for scientific and engineering applications and took advantage of the advancements in system software, programming models, tools, and algorithms developed for parallel processing.</a:t>
            </a:r>
          </a:p>
        </p:txBody>
      </p:sp>
      <p:sp>
        <p:nvSpPr>
          <p:cNvPr id="13" name="Text Placeholder 12">
            <a:extLst>
              <a:ext uri="{FF2B5EF4-FFF2-40B4-BE49-F238E27FC236}">
                <a16:creationId xmlns:a16="http://schemas.microsoft.com/office/drawing/2014/main" id="{F0BDA95A-B0FF-D07C-3204-9805FBDE9A7F}"/>
              </a:ext>
            </a:extLst>
          </p:cNvPr>
          <p:cNvSpPr>
            <a:spLocks noGrp="1"/>
          </p:cNvSpPr>
          <p:nvPr>
            <p:ph type="body" sz="quarter" idx="17"/>
          </p:nvPr>
        </p:nvSpPr>
        <p:spPr>
          <a:xfrm>
            <a:off x="2166938" y="4210049"/>
            <a:ext cx="9768874" cy="2039112"/>
          </a:xfrm>
        </p:spPr>
        <p:txBody>
          <a:bodyPr>
            <a:normAutofit/>
          </a:bodyPr>
          <a:lstStyle/>
          <a:p>
            <a:r>
              <a:rPr lang="en-US" dirty="0"/>
              <a:t>The next natural step to increase the computing power was possible due to advances in communication networks </a:t>
            </a:r>
          </a:p>
        </p:txBody>
      </p:sp>
      <p:pic>
        <p:nvPicPr>
          <p:cNvPr id="5" name="Picture Placeholder 4">
            <a:extLst>
              <a:ext uri="{FF2B5EF4-FFF2-40B4-BE49-F238E27FC236}">
                <a16:creationId xmlns:a16="http://schemas.microsoft.com/office/drawing/2014/main" id="{41202464-9F6E-E41F-C309-956312441A9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4110" r="14110"/>
          <a:stretch>
            <a:fillRect/>
          </a:stretch>
        </p:blipFill>
        <p:spPr/>
      </p:pic>
    </p:spTree>
    <p:extLst>
      <p:ext uri="{BB962C8B-B14F-4D97-AF65-F5344CB8AC3E}">
        <p14:creationId xmlns:p14="http://schemas.microsoft.com/office/powerpoint/2010/main" val="176809610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6D1E6-923A-F488-F98A-C8C28BB0C9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E133F4C-8DD1-B130-AAFC-CC674B390B3D}"/>
              </a:ext>
            </a:extLst>
          </p:cNvPr>
          <p:cNvSpPr>
            <a:spLocks noGrp="1"/>
          </p:cNvSpPr>
          <p:nvPr>
            <p:ph type="title"/>
          </p:nvPr>
        </p:nvSpPr>
        <p:spPr>
          <a:xfrm>
            <a:off x="2167377" y="1871164"/>
            <a:ext cx="14715569" cy="511175"/>
          </a:xfrm>
        </p:spPr>
        <p:txBody>
          <a:bodyPr>
            <a:normAutofit/>
          </a:bodyPr>
          <a:lstStyle/>
          <a:p>
            <a:r>
              <a:rPr lang="en-US" sz="3200" dirty="0"/>
              <a:t>Distributed system</a:t>
            </a:r>
          </a:p>
        </p:txBody>
      </p:sp>
      <p:sp>
        <p:nvSpPr>
          <p:cNvPr id="21" name="Text Placeholder 2">
            <a:extLst>
              <a:ext uri="{FF2B5EF4-FFF2-40B4-BE49-F238E27FC236}">
                <a16:creationId xmlns:a16="http://schemas.microsoft.com/office/drawing/2014/main" id="{34DEA982-DD80-81EC-006F-33A85704CA6E}"/>
              </a:ext>
            </a:extLst>
          </p:cNvPr>
          <p:cNvSpPr>
            <a:spLocks noGrp="1"/>
          </p:cNvSpPr>
          <p:nvPr>
            <p:ph type="body" sz="quarter" idx="10"/>
          </p:nvPr>
        </p:nvSpPr>
        <p:spPr>
          <a:xfrm>
            <a:off x="2167377" y="2419728"/>
            <a:ext cx="9768875" cy="803546"/>
          </a:xfrm>
        </p:spPr>
        <p:txBody>
          <a:bodyPr/>
          <a:lstStyle/>
          <a:p>
            <a:endParaRPr lang="en-US" dirty="0"/>
          </a:p>
        </p:txBody>
      </p:sp>
      <p:sp>
        <p:nvSpPr>
          <p:cNvPr id="12" name="Text Placeholder 11">
            <a:extLst>
              <a:ext uri="{FF2B5EF4-FFF2-40B4-BE49-F238E27FC236}">
                <a16:creationId xmlns:a16="http://schemas.microsoft.com/office/drawing/2014/main" id="{19FE3CE3-069E-FBAF-3C9F-879F723ED241}"/>
              </a:ext>
            </a:extLst>
          </p:cNvPr>
          <p:cNvSpPr>
            <a:spLocks noGrp="1"/>
          </p:cNvSpPr>
          <p:nvPr>
            <p:ph type="body" sz="quarter" idx="16"/>
          </p:nvPr>
        </p:nvSpPr>
        <p:spPr>
          <a:xfrm>
            <a:off x="2167377" y="6556917"/>
            <a:ext cx="9768906" cy="5575610"/>
          </a:xfrm>
        </p:spPr>
        <p:txBody>
          <a:bodyPr>
            <a:noAutofit/>
          </a:bodyPr>
          <a:lstStyle/>
          <a:p>
            <a:endParaRPr lang="en-US" dirty="0"/>
          </a:p>
          <a:p>
            <a:r>
              <a:rPr lang="en-US" dirty="0"/>
              <a:t>The middleware should support this set of desirable properties of the distributed system</a:t>
            </a:r>
          </a:p>
          <a:p>
            <a:pPr>
              <a:lnSpc>
                <a:spcPct val="100000"/>
              </a:lnSpc>
            </a:pPr>
            <a:r>
              <a:rPr lang="en-US" sz="2000" dirty="0"/>
              <a:t>Access transparency; Location transparency; Concurrency transparency; </a:t>
            </a:r>
          </a:p>
          <a:p>
            <a:pPr>
              <a:lnSpc>
                <a:spcPct val="100000"/>
              </a:lnSpc>
            </a:pPr>
            <a:r>
              <a:rPr lang="en-US" sz="2000" dirty="0"/>
              <a:t>Replication transparency; Failure transparency; Migration transparency;</a:t>
            </a:r>
          </a:p>
          <a:p>
            <a:pPr>
              <a:lnSpc>
                <a:spcPct val="120000"/>
              </a:lnSpc>
            </a:pPr>
            <a:r>
              <a:rPr lang="en-US" sz="2000" dirty="0"/>
              <a:t>Performance transparency; Scaling transparency;</a:t>
            </a:r>
          </a:p>
        </p:txBody>
      </p:sp>
      <p:sp>
        <p:nvSpPr>
          <p:cNvPr id="13" name="Text Placeholder 12">
            <a:extLst>
              <a:ext uri="{FF2B5EF4-FFF2-40B4-BE49-F238E27FC236}">
                <a16:creationId xmlns:a16="http://schemas.microsoft.com/office/drawing/2014/main" id="{5D28408D-3750-CF8F-2F54-93627EE98CCF}"/>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A distributed system is a collection of computers connected through a network and a distribution software called middleware, which enables computers to coordinate their activities and to share the resources of the system.</a:t>
            </a:r>
          </a:p>
        </p:txBody>
      </p:sp>
      <p:sp>
        <p:nvSpPr>
          <p:cNvPr id="4" name="AutoShape 2" descr="Internet reacts with memes after global AWS outage disrupts major apps and  services worldwide">
            <a:extLst>
              <a:ext uri="{FF2B5EF4-FFF2-40B4-BE49-F238E27FC236}">
                <a16:creationId xmlns:a16="http://schemas.microsoft.com/office/drawing/2014/main" id="{7A5480F3-8D7A-6DB1-4E4F-9E76DEA2E3C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6F2C86A8-F4D2-EDED-3DFF-38937DBF3DF3}"/>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Placeholder 4">
            <a:extLst>
              <a:ext uri="{FF2B5EF4-FFF2-40B4-BE49-F238E27FC236}">
                <a16:creationId xmlns:a16="http://schemas.microsoft.com/office/drawing/2014/main" id="{6352BAB2-25C3-3DD2-0CA3-D820A4AC915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416" r="19416"/>
          <a:stretch/>
        </p:blipFill>
        <p:spPr>
          <a:xfrm>
            <a:off x="12339930" y="4210629"/>
            <a:ext cx="9099057" cy="7921898"/>
          </a:xfrm>
        </p:spPr>
      </p:pic>
      <p:sp>
        <p:nvSpPr>
          <p:cNvPr id="9" name="TextBox 8">
            <a:extLst>
              <a:ext uri="{FF2B5EF4-FFF2-40B4-BE49-F238E27FC236}">
                <a16:creationId xmlns:a16="http://schemas.microsoft.com/office/drawing/2014/main" id="{6C998F46-E4DE-305E-5160-F72916C4F440}"/>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framablog.org/2019/03/07/la-fee-diverse-deploie-ses-ailes/"/>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146924839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645EF-31D3-F85B-73D6-98710463AEF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1E1D47B-A127-9D68-725F-27FEE9A46581}"/>
              </a:ext>
            </a:extLst>
          </p:cNvPr>
          <p:cNvSpPr>
            <a:spLocks noGrp="1"/>
          </p:cNvSpPr>
          <p:nvPr>
            <p:ph type="title"/>
          </p:nvPr>
        </p:nvSpPr>
        <p:spPr>
          <a:xfrm>
            <a:off x="2167377" y="1871164"/>
            <a:ext cx="14715569" cy="511175"/>
          </a:xfrm>
        </p:spPr>
        <p:txBody>
          <a:bodyPr>
            <a:normAutofit/>
          </a:bodyPr>
          <a:lstStyle/>
          <a:p>
            <a:r>
              <a:rPr lang="en-US" sz="3200" dirty="0"/>
              <a:t>Distributed system</a:t>
            </a:r>
          </a:p>
        </p:txBody>
      </p:sp>
      <p:sp>
        <p:nvSpPr>
          <p:cNvPr id="21" name="Text Placeholder 2">
            <a:extLst>
              <a:ext uri="{FF2B5EF4-FFF2-40B4-BE49-F238E27FC236}">
                <a16:creationId xmlns:a16="http://schemas.microsoft.com/office/drawing/2014/main" id="{0410F505-44D7-BBD5-D1AA-91610E0506BE}"/>
              </a:ext>
            </a:extLst>
          </p:cNvPr>
          <p:cNvSpPr>
            <a:spLocks noGrp="1"/>
          </p:cNvSpPr>
          <p:nvPr>
            <p:ph type="body" sz="quarter" idx="10"/>
          </p:nvPr>
        </p:nvSpPr>
        <p:spPr>
          <a:xfrm>
            <a:off x="2167377" y="2419728"/>
            <a:ext cx="9768875" cy="803546"/>
          </a:xfrm>
        </p:spPr>
        <p:txBody>
          <a:bodyPr/>
          <a:lstStyle/>
          <a:p>
            <a:r>
              <a:rPr lang="en-US" dirty="0"/>
              <a:t>characteristics</a:t>
            </a:r>
          </a:p>
        </p:txBody>
      </p:sp>
      <p:sp>
        <p:nvSpPr>
          <p:cNvPr id="12" name="Text Placeholder 11">
            <a:extLst>
              <a:ext uri="{FF2B5EF4-FFF2-40B4-BE49-F238E27FC236}">
                <a16:creationId xmlns:a16="http://schemas.microsoft.com/office/drawing/2014/main" id="{6FCA8140-170D-A619-53EB-1F4A6E7DBEE5}"/>
              </a:ext>
            </a:extLst>
          </p:cNvPr>
          <p:cNvSpPr>
            <a:spLocks noGrp="1"/>
          </p:cNvSpPr>
          <p:nvPr>
            <p:ph type="body" sz="quarter" idx="16"/>
          </p:nvPr>
        </p:nvSpPr>
        <p:spPr>
          <a:xfrm>
            <a:off x="2167377" y="6556917"/>
            <a:ext cx="9768906" cy="5575610"/>
          </a:xfrm>
        </p:spPr>
        <p:txBody>
          <a:bodyPr>
            <a:noAutofit/>
          </a:bodyPr>
          <a:lstStyle/>
          <a:p>
            <a:pPr algn="just"/>
            <a:r>
              <a:rPr lang="en-US" dirty="0"/>
              <a:t>There are multiple points of control and multiple points of failure in a distributed system, and some sources may not be accessible at all times. </a:t>
            </a:r>
          </a:p>
          <a:p>
            <a:pPr algn="just"/>
            <a:r>
              <a:rPr lang="en-US" dirty="0"/>
              <a:t>Distributed systems can be scaled-up by adding more resources and can be designed to maintain availability even at low levels of hardware/software/network reliability.</a:t>
            </a:r>
          </a:p>
        </p:txBody>
      </p:sp>
      <p:sp>
        <p:nvSpPr>
          <p:cNvPr id="13" name="Text Placeholder 12">
            <a:extLst>
              <a:ext uri="{FF2B5EF4-FFF2-40B4-BE49-F238E27FC236}">
                <a16:creationId xmlns:a16="http://schemas.microsoft.com/office/drawing/2014/main" id="{AB141CCD-622B-F4F0-208D-B6ED2D458219}"/>
              </a:ext>
            </a:extLst>
          </p:cNvPr>
          <p:cNvSpPr>
            <a:spLocks noGrp="1"/>
          </p:cNvSpPr>
          <p:nvPr>
            <p:ph type="body" sz="quarter" idx="17"/>
          </p:nvPr>
        </p:nvSpPr>
        <p:spPr>
          <a:xfrm>
            <a:off x="2166938" y="4210049"/>
            <a:ext cx="9768874" cy="2039112"/>
          </a:xfrm>
        </p:spPr>
        <p:txBody>
          <a:bodyPr>
            <a:normAutofit fontScale="92500" lnSpcReduction="20000"/>
          </a:bodyPr>
          <a:lstStyle/>
          <a:p>
            <a:pPr algn="just"/>
            <a:r>
              <a:rPr lang="en-US" dirty="0"/>
              <a:t>Its components are autonomous, meaning scheduling and other resource management and security policies are implemented by each system. </a:t>
            </a:r>
          </a:p>
        </p:txBody>
      </p:sp>
      <p:sp>
        <p:nvSpPr>
          <p:cNvPr id="4" name="AutoShape 2" descr="Internet reacts with memes after global AWS outage disrupts major apps and  services worldwide">
            <a:extLst>
              <a:ext uri="{FF2B5EF4-FFF2-40B4-BE49-F238E27FC236}">
                <a16:creationId xmlns:a16="http://schemas.microsoft.com/office/drawing/2014/main" id="{F9F83E6E-9C5A-50C2-6174-A2F913CEE1B3}"/>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2871B51F-8B00-AA65-9DBC-275D2E9712F9}"/>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Placeholder 4">
            <a:extLst>
              <a:ext uri="{FF2B5EF4-FFF2-40B4-BE49-F238E27FC236}">
                <a16:creationId xmlns:a16="http://schemas.microsoft.com/office/drawing/2014/main" id="{2F1B2B46-FA49-9F24-99E5-6BC3283FB58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416" r="19416"/>
          <a:stretch/>
        </p:blipFill>
        <p:spPr>
          <a:xfrm>
            <a:off x="12339930" y="4210629"/>
            <a:ext cx="9099057" cy="7921898"/>
          </a:xfrm>
        </p:spPr>
      </p:pic>
      <p:sp>
        <p:nvSpPr>
          <p:cNvPr id="3" name="TextBox 2">
            <a:extLst>
              <a:ext uri="{FF2B5EF4-FFF2-40B4-BE49-F238E27FC236}">
                <a16:creationId xmlns:a16="http://schemas.microsoft.com/office/drawing/2014/main" id="{697863C5-B13A-2761-310E-4EC8E0CA6EC5}"/>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framablog.org/2019/03/07/la-fee-diverse-deploie-ses-ailes/"/>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1211558900"/>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2E91C-E5E8-89C1-62A0-51FE508F55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E47E28-42D7-314D-D470-F96507791642}"/>
              </a:ext>
            </a:extLst>
          </p:cNvPr>
          <p:cNvSpPr>
            <a:spLocks noGrp="1"/>
          </p:cNvSpPr>
          <p:nvPr>
            <p:ph type="title"/>
          </p:nvPr>
        </p:nvSpPr>
        <p:spPr/>
        <p:txBody>
          <a:bodyPr/>
          <a:lstStyle/>
          <a:p>
            <a:r>
              <a:rPr lang="en-US" dirty="0"/>
              <a:t>Modularity</a:t>
            </a:r>
          </a:p>
        </p:txBody>
      </p:sp>
    </p:spTree>
    <p:extLst>
      <p:ext uri="{BB962C8B-B14F-4D97-AF65-F5344CB8AC3E}">
        <p14:creationId xmlns:p14="http://schemas.microsoft.com/office/powerpoint/2010/main" val="156693944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D4404-5B01-E994-1F5E-1C92F87AB20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4F5777D-4394-F6A7-0D9A-21A8276F745C}"/>
              </a:ext>
            </a:extLst>
          </p:cNvPr>
          <p:cNvSpPr>
            <a:spLocks noGrp="1"/>
          </p:cNvSpPr>
          <p:nvPr>
            <p:ph type="title"/>
          </p:nvPr>
        </p:nvSpPr>
        <p:spPr>
          <a:xfrm>
            <a:off x="1206500" y="1079500"/>
            <a:ext cx="21971000" cy="1433163"/>
          </a:xfrm>
        </p:spPr>
        <p:txBody>
          <a:bodyPr anchor="ctr">
            <a:normAutofit/>
          </a:bodyPr>
          <a:lstStyle/>
          <a:p>
            <a:r>
              <a:rPr lang="en-US"/>
              <a:t>Modularity</a:t>
            </a:r>
          </a:p>
        </p:txBody>
      </p:sp>
      <p:sp>
        <p:nvSpPr>
          <p:cNvPr id="36" name="Text Placeholder 2">
            <a:extLst>
              <a:ext uri="{FF2B5EF4-FFF2-40B4-BE49-F238E27FC236}">
                <a16:creationId xmlns:a16="http://schemas.microsoft.com/office/drawing/2014/main" id="{CE3BDB1E-9C93-7EAA-088B-A8EFB18F07C0}"/>
              </a:ext>
            </a:extLst>
          </p:cNvPr>
          <p:cNvSpPr>
            <a:spLocks noGrp="1"/>
          </p:cNvSpPr>
          <p:nvPr>
            <p:ph type="body" sz="quarter" idx="10"/>
          </p:nvPr>
        </p:nvSpPr>
        <p:spPr>
          <a:xfrm>
            <a:off x="2167377" y="2419728"/>
            <a:ext cx="9768875" cy="803546"/>
          </a:xfrm>
        </p:spPr>
        <p:txBody>
          <a:bodyPr/>
          <a:lstStyle/>
          <a:p>
            <a:endParaRPr lang="en-US"/>
          </a:p>
        </p:txBody>
      </p:sp>
      <p:sp>
        <p:nvSpPr>
          <p:cNvPr id="12" name="Text Placeholder 11">
            <a:extLst>
              <a:ext uri="{FF2B5EF4-FFF2-40B4-BE49-F238E27FC236}">
                <a16:creationId xmlns:a16="http://schemas.microsoft.com/office/drawing/2014/main" id="{6331E654-52E2-CE93-EAE4-DC11B2D0A1A5}"/>
              </a:ext>
            </a:extLst>
          </p:cNvPr>
          <p:cNvSpPr>
            <a:spLocks noGrp="1"/>
          </p:cNvSpPr>
          <p:nvPr>
            <p:ph sz="quarter" idx="11"/>
          </p:nvPr>
        </p:nvSpPr>
        <p:spPr>
          <a:xfrm>
            <a:off x="5486930" y="5334432"/>
            <a:ext cx="6762220" cy="4522264"/>
          </a:xfrm>
        </p:spPr>
        <p:txBody>
          <a:bodyPr>
            <a:normAutofit/>
          </a:bodyPr>
          <a:lstStyle/>
          <a:p>
            <a:r>
              <a:rPr lang="en-US"/>
              <a:t>Modularity is a basic concept in the design of man-made systems; a system is made out of components, or modules, with well-defined functions. </a:t>
            </a:r>
          </a:p>
          <a:p>
            <a:r>
              <a:rPr lang="en-US"/>
              <a:t>Modularity supports the separation of concerns, encourages specialization, improves maintainability, reduces costs, and decreases the development time of a system.</a:t>
            </a:r>
          </a:p>
        </p:txBody>
      </p:sp>
      <p:pic>
        <p:nvPicPr>
          <p:cNvPr id="2" name="Picture Placeholder 4">
            <a:extLst>
              <a:ext uri="{FF2B5EF4-FFF2-40B4-BE49-F238E27FC236}">
                <a16:creationId xmlns:a16="http://schemas.microsoft.com/office/drawing/2014/main" id="{F4266A24-7141-062C-BAD4-F220BD131C20}"/>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561"/>
          <a:stretch>
            <a:fillRect/>
          </a:stretch>
        </p:blipFill>
        <p:spPr>
          <a:xfrm>
            <a:off x="12439650" y="5334432"/>
            <a:ext cx="6762220" cy="4522264"/>
          </a:xfrm>
          <a:noFill/>
        </p:spPr>
      </p:pic>
      <p:sp>
        <p:nvSpPr>
          <p:cNvPr id="4" name="AutoShape 2" descr="Internet reacts with memes after global AWS outage disrupts major apps and  services worldwide">
            <a:extLst>
              <a:ext uri="{FF2B5EF4-FFF2-40B4-BE49-F238E27FC236}">
                <a16:creationId xmlns:a16="http://schemas.microsoft.com/office/drawing/2014/main" id="{A39305D5-52BE-108D-44C7-C439454BE9F1}"/>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494E4CE8-8CCC-3EF6-7A59-040133F5B3C6}"/>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3205045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ED0F7-77E5-0691-3167-910B9DAD35F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F8CFCC-A6FA-284E-0476-71AA7FA734DA}"/>
              </a:ext>
            </a:extLst>
          </p:cNvPr>
          <p:cNvSpPr>
            <a:spLocks noGrp="1"/>
          </p:cNvSpPr>
          <p:nvPr>
            <p:ph type="title"/>
          </p:nvPr>
        </p:nvSpPr>
        <p:spPr>
          <a:xfrm>
            <a:off x="2167377" y="1871164"/>
            <a:ext cx="14715569" cy="511175"/>
          </a:xfrm>
        </p:spPr>
        <p:txBody>
          <a:bodyPr>
            <a:normAutofit/>
          </a:bodyPr>
          <a:lstStyle/>
          <a:p>
            <a:r>
              <a:rPr lang="en-US" sz="3200" dirty="0"/>
              <a:t>Principles of modular software</a:t>
            </a:r>
          </a:p>
        </p:txBody>
      </p:sp>
      <p:sp>
        <p:nvSpPr>
          <p:cNvPr id="21" name="Text Placeholder 2">
            <a:extLst>
              <a:ext uri="{FF2B5EF4-FFF2-40B4-BE49-F238E27FC236}">
                <a16:creationId xmlns:a16="http://schemas.microsoft.com/office/drawing/2014/main" id="{3DF8F48B-C907-4B0A-799D-A74B96A4A0E8}"/>
              </a:ext>
            </a:extLst>
          </p:cNvPr>
          <p:cNvSpPr>
            <a:spLocks noGrp="1"/>
          </p:cNvSpPr>
          <p:nvPr>
            <p:ph type="body" sz="quarter" idx="10"/>
          </p:nvPr>
        </p:nvSpPr>
        <p:spPr>
          <a:xfrm>
            <a:off x="2167377" y="2419728"/>
            <a:ext cx="9768875" cy="803546"/>
          </a:xfrm>
        </p:spPr>
        <p:txBody>
          <a:bodyPr/>
          <a:lstStyle/>
          <a:p>
            <a:endParaRPr lang="en-US" dirty="0"/>
          </a:p>
        </p:txBody>
      </p:sp>
      <p:sp>
        <p:nvSpPr>
          <p:cNvPr id="4" name="AutoShape 2" descr="Internet reacts with memes after global AWS outage disrupts major apps and  services worldwide">
            <a:extLst>
              <a:ext uri="{FF2B5EF4-FFF2-40B4-BE49-F238E27FC236}">
                <a16:creationId xmlns:a16="http://schemas.microsoft.com/office/drawing/2014/main" id="{4B7892EB-E6EE-3AF0-2F3F-F3C40E75B0CA}"/>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61919278-08DE-2724-4B26-A359CE134B13}"/>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Content Placeholder 2">
            <a:extLst>
              <a:ext uri="{FF2B5EF4-FFF2-40B4-BE49-F238E27FC236}">
                <a16:creationId xmlns:a16="http://schemas.microsoft.com/office/drawing/2014/main" id="{724E607F-F84D-A1B8-3099-4077EE11DDEC}"/>
              </a:ext>
            </a:extLst>
          </p:cNvPr>
          <p:cNvGraphicFramePr>
            <a:graphicFrameLocks/>
          </p:cNvGraphicFramePr>
          <p:nvPr>
            <p:extLst>
              <p:ext uri="{D42A27DB-BD31-4B8C-83A1-F6EECF244321}">
                <p14:modId xmlns:p14="http://schemas.microsoft.com/office/powerpoint/2010/main" val="1465450685"/>
              </p:ext>
            </p:extLst>
          </p:nvPr>
        </p:nvGraphicFramePr>
        <p:xfrm>
          <a:off x="3739240" y="5048240"/>
          <a:ext cx="16394023" cy="55467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031883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F6341-503B-B7F2-19F6-9FFF1647FD3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02BD4A1-B9CB-E9E0-9D2C-BF18CDA586F0}"/>
              </a:ext>
            </a:extLst>
          </p:cNvPr>
          <p:cNvSpPr>
            <a:spLocks noGrp="1"/>
          </p:cNvSpPr>
          <p:nvPr>
            <p:ph type="title"/>
          </p:nvPr>
        </p:nvSpPr>
        <p:spPr>
          <a:xfrm>
            <a:off x="2167377" y="1871164"/>
            <a:ext cx="14715569" cy="511175"/>
          </a:xfrm>
        </p:spPr>
        <p:txBody>
          <a:bodyPr>
            <a:normAutofit/>
          </a:bodyPr>
          <a:lstStyle/>
          <a:p>
            <a:r>
              <a:rPr lang="en-US" sz="3200" dirty="0"/>
              <a:t>Soft Modularity</a:t>
            </a:r>
          </a:p>
        </p:txBody>
      </p:sp>
      <p:sp>
        <p:nvSpPr>
          <p:cNvPr id="21" name="Text Placeholder 2">
            <a:extLst>
              <a:ext uri="{FF2B5EF4-FFF2-40B4-BE49-F238E27FC236}">
                <a16:creationId xmlns:a16="http://schemas.microsoft.com/office/drawing/2014/main" id="{1407992B-5456-A693-86A0-6A56AE36231D}"/>
              </a:ext>
            </a:extLst>
          </p:cNvPr>
          <p:cNvSpPr>
            <a:spLocks noGrp="1"/>
          </p:cNvSpPr>
          <p:nvPr>
            <p:ph type="body" sz="quarter" idx="10"/>
          </p:nvPr>
        </p:nvSpPr>
        <p:spPr>
          <a:xfrm>
            <a:off x="2167377" y="2419728"/>
            <a:ext cx="9768875" cy="803546"/>
          </a:xfrm>
        </p:spPr>
        <p:txBody>
          <a:bodyPr/>
          <a:lstStyle/>
          <a:p>
            <a:endParaRPr lang="en-US" dirty="0"/>
          </a:p>
        </p:txBody>
      </p:sp>
      <p:sp>
        <p:nvSpPr>
          <p:cNvPr id="12" name="Text Placeholder 11">
            <a:extLst>
              <a:ext uri="{FF2B5EF4-FFF2-40B4-BE49-F238E27FC236}">
                <a16:creationId xmlns:a16="http://schemas.microsoft.com/office/drawing/2014/main" id="{18DAF6FC-BD48-FA15-F6EF-88D73E7F0296}"/>
              </a:ext>
            </a:extLst>
          </p:cNvPr>
          <p:cNvSpPr>
            <a:spLocks noGrp="1"/>
          </p:cNvSpPr>
          <p:nvPr>
            <p:ph type="body" sz="quarter" idx="16"/>
          </p:nvPr>
        </p:nvSpPr>
        <p:spPr>
          <a:xfrm>
            <a:off x="2167377" y="6556917"/>
            <a:ext cx="9768906" cy="5575610"/>
          </a:xfrm>
        </p:spPr>
        <p:txBody>
          <a:bodyPr>
            <a:noAutofit/>
          </a:bodyPr>
          <a:lstStyle/>
          <a:p>
            <a:pPr algn="just"/>
            <a:r>
              <a:rPr lang="en-US" dirty="0"/>
              <a:t>The former implies dividing a program into modules that call each other and communicate </a:t>
            </a:r>
            <a:r>
              <a:rPr lang="en-US" b="1" dirty="0"/>
              <a:t>using shared-memory</a:t>
            </a:r>
            <a:r>
              <a:rPr lang="en-US" dirty="0"/>
              <a:t> or follow the procedure call convention.</a:t>
            </a:r>
          </a:p>
        </p:txBody>
      </p:sp>
      <p:sp>
        <p:nvSpPr>
          <p:cNvPr id="13" name="Text Placeholder 12">
            <a:extLst>
              <a:ext uri="{FF2B5EF4-FFF2-40B4-BE49-F238E27FC236}">
                <a16:creationId xmlns:a16="http://schemas.microsoft.com/office/drawing/2014/main" id="{5298F79A-B8C2-C802-1AED-2FE1C0201FE4}"/>
              </a:ext>
            </a:extLst>
          </p:cNvPr>
          <p:cNvSpPr>
            <a:spLocks noGrp="1"/>
          </p:cNvSpPr>
          <p:nvPr>
            <p:ph type="body" sz="quarter" idx="17"/>
          </p:nvPr>
        </p:nvSpPr>
        <p:spPr>
          <a:xfrm>
            <a:off x="2166938" y="4210049"/>
            <a:ext cx="9768874" cy="2039112"/>
          </a:xfrm>
        </p:spPr>
        <p:txBody>
          <a:bodyPr>
            <a:normAutofit/>
          </a:bodyPr>
          <a:lstStyle/>
          <a:p>
            <a:pPr algn="just"/>
            <a:r>
              <a:rPr lang="en-US" dirty="0"/>
              <a:t>Soft modularity hides the details of the implementation of a module</a:t>
            </a:r>
          </a:p>
        </p:txBody>
      </p:sp>
      <p:sp>
        <p:nvSpPr>
          <p:cNvPr id="4" name="AutoShape 2" descr="Internet reacts with memes after global AWS outage disrupts major apps and  services worldwide">
            <a:extLst>
              <a:ext uri="{FF2B5EF4-FFF2-40B4-BE49-F238E27FC236}">
                <a16:creationId xmlns:a16="http://schemas.microsoft.com/office/drawing/2014/main" id="{F532BD3E-9BA5-8067-DAEA-B3AC6B153EB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C29DB438-615B-4E35-5488-F916FE4C6E05}"/>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Placeholder 4">
            <a:extLst>
              <a:ext uri="{FF2B5EF4-FFF2-40B4-BE49-F238E27FC236}">
                <a16:creationId xmlns:a16="http://schemas.microsoft.com/office/drawing/2014/main" id="{CC0DE578-4637-565F-090C-9223BAA4C7F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416" r="19416"/>
          <a:stretch/>
        </p:blipFill>
        <p:spPr>
          <a:xfrm>
            <a:off x="12339930" y="4210629"/>
            <a:ext cx="9099057" cy="7921898"/>
          </a:xfrm>
        </p:spPr>
      </p:pic>
      <p:sp>
        <p:nvSpPr>
          <p:cNvPr id="3" name="TextBox 2">
            <a:extLst>
              <a:ext uri="{FF2B5EF4-FFF2-40B4-BE49-F238E27FC236}">
                <a16:creationId xmlns:a16="http://schemas.microsoft.com/office/drawing/2014/main" id="{74CE3531-9874-EE7B-4CE0-6FBAE75936F6}"/>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framablog.org/2019/03/07/la-fee-diverse-deploie-ses-ailes/"/>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320798421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A2810-B291-25F5-8D2D-E1B9C118BB3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9AD0114-E46F-A52D-7540-EE74145B8155}"/>
              </a:ext>
            </a:extLst>
          </p:cNvPr>
          <p:cNvSpPr>
            <a:spLocks noGrp="1"/>
          </p:cNvSpPr>
          <p:nvPr>
            <p:ph type="title"/>
          </p:nvPr>
        </p:nvSpPr>
        <p:spPr>
          <a:xfrm>
            <a:off x="2167377" y="1871164"/>
            <a:ext cx="14715569" cy="511175"/>
          </a:xfrm>
        </p:spPr>
        <p:txBody>
          <a:bodyPr>
            <a:normAutofit/>
          </a:bodyPr>
          <a:lstStyle/>
          <a:p>
            <a:r>
              <a:rPr lang="en-US" sz="3200" dirty="0"/>
              <a:t>Soft Modularity</a:t>
            </a:r>
          </a:p>
        </p:txBody>
      </p:sp>
      <p:sp>
        <p:nvSpPr>
          <p:cNvPr id="21" name="Text Placeholder 2">
            <a:extLst>
              <a:ext uri="{FF2B5EF4-FFF2-40B4-BE49-F238E27FC236}">
                <a16:creationId xmlns:a16="http://schemas.microsoft.com/office/drawing/2014/main" id="{2B57F2D1-1D6E-E89F-D3D6-D9989E861D90}"/>
              </a:ext>
            </a:extLst>
          </p:cNvPr>
          <p:cNvSpPr>
            <a:spLocks noGrp="1"/>
          </p:cNvSpPr>
          <p:nvPr>
            <p:ph type="body" sz="quarter" idx="10"/>
          </p:nvPr>
        </p:nvSpPr>
        <p:spPr>
          <a:xfrm>
            <a:off x="2167377" y="2419728"/>
            <a:ext cx="9768875" cy="803546"/>
          </a:xfrm>
        </p:spPr>
        <p:txBody>
          <a:bodyPr/>
          <a:lstStyle/>
          <a:p>
            <a:r>
              <a:rPr lang="en-US" dirty="0"/>
              <a:t>Benefit</a:t>
            </a:r>
          </a:p>
        </p:txBody>
      </p:sp>
      <p:sp>
        <p:nvSpPr>
          <p:cNvPr id="12" name="Text Placeholder 11">
            <a:extLst>
              <a:ext uri="{FF2B5EF4-FFF2-40B4-BE49-F238E27FC236}">
                <a16:creationId xmlns:a16="http://schemas.microsoft.com/office/drawing/2014/main" id="{F79813B6-29EB-34CF-049E-65F2E83E792D}"/>
              </a:ext>
            </a:extLst>
          </p:cNvPr>
          <p:cNvSpPr>
            <a:spLocks noGrp="1"/>
          </p:cNvSpPr>
          <p:nvPr>
            <p:ph type="body" sz="quarter" idx="16"/>
          </p:nvPr>
        </p:nvSpPr>
        <p:spPr>
          <a:xfrm>
            <a:off x="2167377" y="6556917"/>
            <a:ext cx="9768906" cy="5575610"/>
          </a:xfrm>
        </p:spPr>
        <p:txBody>
          <a:bodyPr>
            <a:noAutofit/>
          </a:bodyPr>
          <a:lstStyle/>
          <a:p>
            <a:pPr marL="914400" indent="-914400" algn="just">
              <a:buAutoNum type="arabicPeriod"/>
            </a:pPr>
            <a:r>
              <a:rPr lang="en-US" dirty="0"/>
              <a:t>Once the interfaces of the modules are defined, the modules can be developed independently;</a:t>
            </a:r>
          </a:p>
          <a:p>
            <a:pPr marL="914400" indent="-914400" algn="just">
              <a:buAutoNum type="arabicPeriod"/>
            </a:pPr>
            <a:r>
              <a:rPr lang="en-US" dirty="0"/>
              <a:t>A module can be replaced with a more elaborate, or with a more efficient one, as long as its interfaces with the other modules are not changed;</a:t>
            </a:r>
          </a:p>
          <a:p>
            <a:pPr marL="914400" indent="-914400" algn="just">
              <a:buAutoNum type="arabicPeriod"/>
            </a:pPr>
            <a:r>
              <a:rPr lang="en-US" dirty="0"/>
              <a:t>The modules can be written using different programming languages and can be tested independently.</a:t>
            </a:r>
          </a:p>
        </p:txBody>
      </p:sp>
      <p:sp>
        <p:nvSpPr>
          <p:cNvPr id="13" name="Text Placeholder 12">
            <a:extLst>
              <a:ext uri="{FF2B5EF4-FFF2-40B4-BE49-F238E27FC236}">
                <a16:creationId xmlns:a16="http://schemas.microsoft.com/office/drawing/2014/main" id="{93039CDF-D5CE-0AE9-A10D-A5FC68E68993}"/>
              </a:ext>
            </a:extLst>
          </p:cNvPr>
          <p:cNvSpPr>
            <a:spLocks noGrp="1"/>
          </p:cNvSpPr>
          <p:nvPr>
            <p:ph type="body" sz="quarter" idx="17"/>
          </p:nvPr>
        </p:nvSpPr>
        <p:spPr>
          <a:xfrm>
            <a:off x="2166938" y="4210049"/>
            <a:ext cx="9768874" cy="2039112"/>
          </a:xfrm>
        </p:spPr>
        <p:txBody>
          <a:bodyPr>
            <a:normAutofit/>
          </a:bodyPr>
          <a:lstStyle/>
          <a:p>
            <a:pPr algn="just"/>
            <a:r>
              <a:rPr lang="en-US" dirty="0"/>
              <a:t>Soft modularity hides the details of the implementation of a module</a:t>
            </a:r>
          </a:p>
        </p:txBody>
      </p:sp>
      <p:sp>
        <p:nvSpPr>
          <p:cNvPr id="4" name="AutoShape 2" descr="Internet reacts with memes after global AWS outage disrupts major apps and  services worldwide">
            <a:extLst>
              <a:ext uri="{FF2B5EF4-FFF2-40B4-BE49-F238E27FC236}">
                <a16:creationId xmlns:a16="http://schemas.microsoft.com/office/drawing/2014/main" id="{B30F6191-ABE0-EB1E-F877-4410EA1B0F8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5581373B-369D-543F-14B1-9CD1F25E3A30}"/>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Placeholder 4">
            <a:extLst>
              <a:ext uri="{FF2B5EF4-FFF2-40B4-BE49-F238E27FC236}">
                <a16:creationId xmlns:a16="http://schemas.microsoft.com/office/drawing/2014/main" id="{86BACAD4-938C-6FD1-3A4B-3C160B68F734}"/>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416" r="19416"/>
          <a:stretch/>
        </p:blipFill>
        <p:spPr>
          <a:xfrm>
            <a:off x="12339930" y="4210629"/>
            <a:ext cx="9099057" cy="7921898"/>
          </a:xfrm>
        </p:spPr>
      </p:pic>
      <p:sp>
        <p:nvSpPr>
          <p:cNvPr id="3" name="TextBox 2">
            <a:extLst>
              <a:ext uri="{FF2B5EF4-FFF2-40B4-BE49-F238E27FC236}">
                <a16:creationId xmlns:a16="http://schemas.microsoft.com/office/drawing/2014/main" id="{14312B08-3A89-96C9-EBFA-48812A116714}"/>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framablog.org/2019/03/07/la-fee-diverse-deploie-ses-ailes/"/>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14966110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9F3F3-388F-9752-1170-5542EBE5485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EEDE764-4144-1940-46A9-BD94C6282A50}"/>
              </a:ext>
            </a:extLst>
          </p:cNvPr>
          <p:cNvSpPr>
            <a:spLocks noGrp="1"/>
          </p:cNvSpPr>
          <p:nvPr>
            <p:ph type="title"/>
          </p:nvPr>
        </p:nvSpPr>
        <p:spPr>
          <a:xfrm>
            <a:off x="2167377" y="1871164"/>
            <a:ext cx="14715569" cy="511175"/>
          </a:xfrm>
        </p:spPr>
        <p:txBody>
          <a:bodyPr>
            <a:normAutofit/>
          </a:bodyPr>
          <a:lstStyle/>
          <a:p>
            <a:r>
              <a:rPr lang="en-US" sz="3200" dirty="0"/>
              <a:t>Enforced Modularity</a:t>
            </a:r>
          </a:p>
        </p:txBody>
      </p:sp>
      <p:sp>
        <p:nvSpPr>
          <p:cNvPr id="21" name="Text Placeholder 2">
            <a:extLst>
              <a:ext uri="{FF2B5EF4-FFF2-40B4-BE49-F238E27FC236}">
                <a16:creationId xmlns:a16="http://schemas.microsoft.com/office/drawing/2014/main" id="{634AF11C-7217-66CF-EFB2-0277E3C23D23}"/>
              </a:ext>
            </a:extLst>
          </p:cNvPr>
          <p:cNvSpPr>
            <a:spLocks noGrp="1"/>
          </p:cNvSpPr>
          <p:nvPr>
            <p:ph type="body" sz="quarter" idx="10"/>
          </p:nvPr>
        </p:nvSpPr>
        <p:spPr>
          <a:xfrm>
            <a:off x="2167377" y="2419728"/>
            <a:ext cx="9768875" cy="803546"/>
          </a:xfrm>
        </p:spPr>
        <p:txBody>
          <a:bodyPr/>
          <a:lstStyle/>
          <a:p>
            <a:endParaRPr lang="en-US" dirty="0"/>
          </a:p>
        </p:txBody>
      </p:sp>
      <p:sp>
        <p:nvSpPr>
          <p:cNvPr id="12" name="Text Placeholder 11">
            <a:extLst>
              <a:ext uri="{FF2B5EF4-FFF2-40B4-BE49-F238E27FC236}">
                <a16:creationId xmlns:a16="http://schemas.microsoft.com/office/drawing/2014/main" id="{0D9C906D-EC01-62BC-A5EF-401E42408E89}"/>
              </a:ext>
            </a:extLst>
          </p:cNvPr>
          <p:cNvSpPr>
            <a:spLocks noGrp="1"/>
          </p:cNvSpPr>
          <p:nvPr>
            <p:ph type="body" sz="quarter" idx="16"/>
          </p:nvPr>
        </p:nvSpPr>
        <p:spPr>
          <a:xfrm>
            <a:off x="2167377" y="6556917"/>
            <a:ext cx="9768906" cy="5575610"/>
          </a:xfrm>
        </p:spPr>
        <p:txBody>
          <a:bodyPr>
            <a:noAutofit/>
          </a:bodyPr>
          <a:lstStyle/>
          <a:p>
            <a:pPr algn="just"/>
            <a:r>
              <a:rPr lang="en-US" dirty="0"/>
              <a:t>This paradigm leads to a more robust design: The clients and the servers are independent modules and may fail separately. </a:t>
            </a:r>
          </a:p>
          <a:p>
            <a:pPr algn="just"/>
            <a:r>
              <a:rPr lang="en-US" dirty="0"/>
              <a:t>The system is more robust because it does not allow errors to propagate. Enforced modularity makes an attack less likely because it is difficult for an intruder to guess the format of the messages or the sequence numbers of segments, when messages are transported by TCP.</a:t>
            </a:r>
          </a:p>
        </p:txBody>
      </p:sp>
      <p:sp>
        <p:nvSpPr>
          <p:cNvPr id="13" name="Text Placeholder 12">
            <a:extLst>
              <a:ext uri="{FF2B5EF4-FFF2-40B4-BE49-F238E27FC236}">
                <a16:creationId xmlns:a16="http://schemas.microsoft.com/office/drawing/2014/main" id="{AE5346F9-35D9-C2FA-44A8-FCEE586B99C1}"/>
              </a:ext>
            </a:extLst>
          </p:cNvPr>
          <p:cNvSpPr>
            <a:spLocks noGrp="1"/>
          </p:cNvSpPr>
          <p:nvPr>
            <p:ph type="body" sz="quarter" idx="17"/>
          </p:nvPr>
        </p:nvSpPr>
        <p:spPr>
          <a:xfrm>
            <a:off x="2166938" y="4210049"/>
            <a:ext cx="9768874" cy="2039112"/>
          </a:xfrm>
        </p:spPr>
        <p:txBody>
          <a:bodyPr>
            <a:normAutofit/>
          </a:bodyPr>
          <a:lstStyle/>
          <a:p>
            <a:pPr algn="just"/>
            <a:r>
              <a:rPr lang="en-US" dirty="0"/>
              <a:t>Enforced modularity </a:t>
            </a:r>
            <a:r>
              <a:rPr lang="en-US" b="1" dirty="0"/>
              <a:t>modules need to be forced </a:t>
            </a:r>
            <a:r>
              <a:rPr lang="en-US" dirty="0"/>
              <a:t>to interact only by sending and receiving messages.</a:t>
            </a:r>
          </a:p>
        </p:txBody>
      </p:sp>
      <p:sp>
        <p:nvSpPr>
          <p:cNvPr id="4" name="AutoShape 2" descr="Internet reacts with memes after global AWS outage disrupts major apps and  services worldwide">
            <a:extLst>
              <a:ext uri="{FF2B5EF4-FFF2-40B4-BE49-F238E27FC236}">
                <a16:creationId xmlns:a16="http://schemas.microsoft.com/office/drawing/2014/main" id="{9677C207-B028-F356-EBAB-5F9E025B5FB3}"/>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78FB364A-155A-8BEA-4B1C-64B0A740B296}"/>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Placeholder 4">
            <a:extLst>
              <a:ext uri="{FF2B5EF4-FFF2-40B4-BE49-F238E27FC236}">
                <a16:creationId xmlns:a16="http://schemas.microsoft.com/office/drawing/2014/main" id="{62B0B16F-01AE-60CF-A8A9-03904F9072DE}"/>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713" r="11713"/>
          <a:stretch/>
        </p:blipFill>
        <p:spPr>
          <a:xfrm>
            <a:off x="12339930" y="4210629"/>
            <a:ext cx="9099057" cy="7921898"/>
          </a:xfrm>
        </p:spPr>
      </p:pic>
    </p:spTree>
    <p:extLst>
      <p:ext uri="{BB962C8B-B14F-4D97-AF65-F5344CB8AC3E}">
        <p14:creationId xmlns:p14="http://schemas.microsoft.com/office/powerpoint/2010/main" val="195133129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Find article related to implementation of Supercomputer and distributed systems</a:t>
            </a:r>
          </a:p>
        </p:txBody>
      </p:sp>
    </p:spTree>
    <p:extLst>
      <p:ext uri="{BB962C8B-B14F-4D97-AF65-F5344CB8AC3E}">
        <p14:creationId xmlns:p14="http://schemas.microsoft.com/office/powerpoint/2010/main" val="287359398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pPr marL="0" indent="0">
              <a:buNone/>
            </a:pPr>
            <a:endParaRPr lang="en-US" dirty="0"/>
          </a:p>
        </p:txBody>
      </p:sp>
    </p:spTree>
    <p:extLst>
      <p:ext uri="{BB962C8B-B14F-4D97-AF65-F5344CB8AC3E}">
        <p14:creationId xmlns:p14="http://schemas.microsoft.com/office/powerpoint/2010/main" val="173051092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943</TotalTime>
  <Words>2391</Words>
  <Application>Microsoft Office PowerPoint</Application>
  <PresentationFormat>Custom</PresentationFormat>
  <Paragraphs>176</Paragraphs>
  <Slides>34</Slides>
  <Notes>3</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Open Sans Light</vt:lpstr>
      <vt:lpstr>Open Sans ExtraBold</vt:lpstr>
      <vt:lpstr>Tahoma</vt:lpstr>
      <vt:lpstr>Open Sans Semibold</vt:lpstr>
      <vt:lpstr>OCRB</vt:lpstr>
      <vt:lpstr>Arial</vt:lpstr>
      <vt:lpstr>21_BasicWhite</vt:lpstr>
      <vt:lpstr>Parallel Processing and Distribute Computing  Session 03</vt:lpstr>
      <vt:lpstr>Learning Objectives</vt:lpstr>
      <vt:lpstr>Outline</vt:lpstr>
      <vt:lpstr>Computer Architecture Concepts</vt:lpstr>
      <vt:lpstr>Computer Architecture Concepts</vt:lpstr>
      <vt:lpstr>Latency Hiding</vt:lpstr>
      <vt:lpstr>Instruction Set Architecture (ISA)</vt:lpstr>
      <vt:lpstr>Processor, clock, CPI and IPC</vt:lpstr>
      <vt:lpstr>.</vt:lpstr>
      <vt:lpstr>Bit-level and Instruction-level Parallelism</vt:lpstr>
      <vt:lpstr>Performance Metrics and Benchmarks</vt:lpstr>
      <vt:lpstr>Grand Architectural Complications</vt:lpstr>
      <vt:lpstr>Grand Architectural Complications</vt:lpstr>
      <vt:lpstr>Memory optimization</vt:lpstr>
      <vt:lpstr>CPU Optimization</vt:lpstr>
      <vt:lpstr>Critical vulnerabilities</vt:lpstr>
      <vt:lpstr>Data, Thread, and Task-level parallelism</vt:lpstr>
      <vt:lpstr>Data-level parallelism</vt:lpstr>
      <vt:lpstr>PowerPoint Presentation</vt:lpstr>
      <vt:lpstr>Thread-level and Task-level Parallelism</vt:lpstr>
      <vt:lpstr>From supercomputers to distributed systems</vt:lpstr>
      <vt:lpstr>Supercomputer</vt:lpstr>
      <vt:lpstr>sUPERCOMPUTER</vt:lpstr>
      <vt:lpstr>Distributed system</vt:lpstr>
      <vt:lpstr>Distributed system</vt:lpstr>
      <vt:lpstr>Modularity</vt:lpstr>
      <vt:lpstr>Modularity</vt:lpstr>
      <vt:lpstr>Principles of modular software</vt:lpstr>
      <vt:lpstr>Soft Modularity</vt:lpstr>
      <vt:lpstr>Soft Modularity</vt:lpstr>
      <vt:lpstr>Enforced Modularity</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17</cp:revision>
  <dcterms:created xsi:type="dcterms:W3CDTF">2023-06-28T08:14:57Z</dcterms:created>
  <dcterms:modified xsi:type="dcterms:W3CDTF">2026-01-09T07:55:50Z</dcterms:modified>
</cp:coreProperties>
</file>