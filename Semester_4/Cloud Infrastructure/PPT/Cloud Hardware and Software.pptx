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6"/>
  </p:notesMasterIdLst>
  <p:sldIdLst>
    <p:sldId id="256" r:id="rId2"/>
    <p:sldId id="278" r:id="rId3"/>
    <p:sldId id="257" r:id="rId4"/>
    <p:sldId id="264" r:id="rId5"/>
    <p:sldId id="297" r:id="rId6"/>
    <p:sldId id="298" r:id="rId7"/>
    <p:sldId id="318" r:id="rId8"/>
    <p:sldId id="300" r:id="rId9"/>
    <p:sldId id="303" r:id="rId10"/>
    <p:sldId id="301" r:id="rId11"/>
    <p:sldId id="320" r:id="rId12"/>
    <p:sldId id="321" r:id="rId13"/>
    <p:sldId id="322" r:id="rId14"/>
    <p:sldId id="323" r:id="rId15"/>
    <p:sldId id="304" r:id="rId16"/>
    <p:sldId id="324" r:id="rId17"/>
    <p:sldId id="325" r:id="rId18"/>
    <p:sldId id="326" r:id="rId19"/>
    <p:sldId id="327" r:id="rId20"/>
    <p:sldId id="328" r:id="rId21"/>
    <p:sldId id="329" r:id="rId22"/>
    <p:sldId id="306" r:id="rId23"/>
    <p:sldId id="307" r:id="rId24"/>
    <p:sldId id="308" r:id="rId25"/>
    <p:sldId id="319" r:id="rId26"/>
    <p:sldId id="330" r:id="rId27"/>
    <p:sldId id="309" r:id="rId28"/>
    <p:sldId id="311" r:id="rId29"/>
    <p:sldId id="331" r:id="rId30"/>
    <p:sldId id="312" r:id="rId31"/>
    <p:sldId id="332" r:id="rId32"/>
    <p:sldId id="315" r:id="rId33"/>
    <p:sldId id="317" r:id="rId34"/>
    <p:sldId id="296" r:id="rId35"/>
  </p:sldIdLst>
  <p:sldSz cx="24384000" cy="13716000"/>
  <p:notesSz cx="6858000" cy="9144000"/>
  <p:embeddedFontLst>
    <p:embeddedFont>
      <p:font typeface="OCRB" panose="020B0609020202020204" pitchFamily="49" charset="0"/>
      <p:regular r:id="rId37"/>
    </p:embeddedFont>
    <p:embeddedFont>
      <p:font typeface="Open Sans" panose="020B0606030504020204" pitchFamily="34" charset="0"/>
      <p:regular r:id="rId38"/>
      <p:bold r:id="rId39"/>
      <p:italic r:id="rId40"/>
      <p:boldItalic r:id="rId41"/>
    </p:embeddedFont>
    <p:embeddedFont>
      <p:font typeface="Open Sans ExtraBold" panose="020B0906030804020204" pitchFamily="34" charset="0"/>
      <p:bold r:id="rId42"/>
      <p:italic r:id="rId43"/>
      <p:boldItalic r:id="rId44"/>
    </p:embeddedFont>
    <p:embeddedFont>
      <p:font typeface="Open Sans Light" panose="020B0306030504020204" pitchFamily="34" charset="0"/>
      <p:regular r:id="rId45"/>
      <p:italic r:id="rId46"/>
    </p:embeddedFont>
    <p:embeddedFont>
      <p:font typeface="Open Sans Semibold" panose="020B0706030804020204" pitchFamily="34" charset="0"/>
      <p:regular r:id="rId47"/>
      <p:bold r:id="rId48"/>
      <p:italic r:id="rId49"/>
      <p:boldItalic r:id="rId50"/>
    </p:embeddedFont>
    <p:embeddedFont>
      <p:font typeface="Tahoma" panose="020B0604030504040204" pitchFamily="34" charset="0"/>
      <p:regular r:id="rId51"/>
      <p:bold r:id="rId52"/>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FAE995-0F9C-D74A-95D1-DD92ECB55CB7}" v="77" dt="2023-12-07T07:14:46.02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55" autoAdjust="0"/>
    <p:restoredTop sz="96197"/>
  </p:normalViewPr>
  <p:slideViewPr>
    <p:cSldViewPr snapToGrid="0" snapToObjects="1">
      <p:cViewPr varScale="1">
        <p:scale>
          <a:sx n="32" d="100"/>
          <a:sy n="32" d="100"/>
        </p:scale>
        <p:origin x="1002" y="102"/>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presProps" Target="pres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font" Target="fonts/font13.fntdata"/><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17588374"/>
      </p:ext>
    </p:extLst>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Typically, a </a:t>
            </a:r>
            <a:r>
              <a:rPr lang="en-US" b="1" dirty="0"/>
              <a:t>rack</a:t>
            </a:r>
            <a:r>
              <a:rPr lang="en-US" dirty="0"/>
              <a:t> consists of 48 servers interconnected by a 48 port, 10 Gbps Ethernet (GE) switch. </a:t>
            </a:r>
          </a:p>
          <a:p>
            <a:r>
              <a:rPr lang="en-US" dirty="0"/>
              <a:t>In addition to the 48 ports, the GE switch has two to eight uplink ports connecting a rack to a cell. </a:t>
            </a:r>
          </a:p>
          <a:p>
            <a:r>
              <a:rPr lang="en-US" dirty="0"/>
              <a:t>Thus, the level of oversubscription, the ratio of internal to external ports, is between 48/8=6 and 48/2=24. </a:t>
            </a:r>
          </a:p>
          <a:p>
            <a:r>
              <a:rPr lang="en-US" dirty="0"/>
              <a:t>This has serious implications for the performance of an application; two processes running on servers in the same rack have a much larger bandwidth and lower latency than the same processes running on servers in different racks.</a:t>
            </a:r>
          </a:p>
          <a:p>
            <a:r>
              <a:rPr lang="en-US" dirty="0"/>
              <a:t>The next component is a </a:t>
            </a:r>
            <a:r>
              <a:rPr lang="en-US" b="1" dirty="0"/>
              <a:t>cell</a:t>
            </a:r>
            <a:r>
              <a:rPr lang="en-US" dirty="0"/>
              <a:t>, sometimes called an array, consisting of a number of racks. </a:t>
            </a:r>
          </a:p>
          <a:p>
            <a:r>
              <a:rPr lang="en-US" dirty="0"/>
              <a:t>The racks in a cell are connected by an array switch, a rather expensive communication hardware with a cost two orders of magnitude higher than that of a rack switch. </a:t>
            </a:r>
          </a:p>
          <a:p>
            <a:r>
              <a:rPr lang="en-US" dirty="0"/>
              <a:t>The cost is justified as the bandwidth of a switch with n ports is of order n</a:t>
            </a:r>
            <a:r>
              <a:rPr lang="en-US" baseline="30000" dirty="0"/>
              <a:t>2</a:t>
            </a:r>
            <a:r>
              <a:rPr lang="en-US" dirty="0"/>
              <a:t>. </a:t>
            </a:r>
          </a:p>
          <a:p>
            <a:r>
              <a:rPr lang="en-US" dirty="0"/>
              <a:t>To support a 10 times larger bandwidth for 10 times as many ports, the cost increases by a factor of 10</a:t>
            </a:r>
            <a:r>
              <a:rPr lang="en-US" baseline="30000" dirty="0"/>
              <a:t>2</a:t>
            </a:r>
            <a:r>
              <a:rPr lang="en-US" dirty="0"/>
              <a:t>. An array switch can support up to 30 racks.</a:t>
            </a:r>
          </a:p>
          <a:p>
            <a:endParaRPr lang="en-US" dirty="0"/>
          </a:p>
        </p:txBody>
      </p:sp>
    </p:spTree>
    <p:extLst>
      <p:ext uri="{BB962C8B-B14F-4D97-AF65-F5344CB8AC3E}">
        <p14:creationId xmlns:p14="http://schemas.microsoft.com/office/powerpoint/2010/main" val="2537298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35924-BB87-D453-EF59-837A2416B7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0283D0-899F-4165-504B-4583A13FD2D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9D6B457-17A3-987D-FBF1-23FC8ABD78D8}"/>
              </a:ext>
            </a:extLst>
          </p:cNvPr>
          <p:cNvSpPr>
            <a:spLocks noGrp="1"/>
          </p:cNvSpPr>
          <p:nvPr>
            <p:ph type="body" idx="1"/>
          </p:nvPr>
        </p:nvSpPr>
        <p:spPr/>
        <p:txBody>
          <a:bodyPr/>
          <a:lstStyle/>
          <a:p>
            <a:r>
              <a:rPr lang="en-US" dirty="0"/>
              <a:t>To put this into perspective, the memory-to-memory transfer of 1 000 MB takes 50 msec within a server, 10 seconds within the rack, and 100 seconds within a cell, while disk transfers take 5, 10, and 100 seconds, respectively.</a:t>
            </a:r>
          </a:p>
        </p:txBody>
      </p:sp>
    </p:spTree>
    <p:extLst>
      <p:ext uri="{BB962C8B-B14F-4D97-AF65-F5344CB8AC3E}">
        <p14:creationId xmlns:p14="http://schemas.microsoft.com/office/powerpoint/2010/main" val="3988380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Shown are the front-end, the back-end, L1 instruction and data caches, the unified L2 cache, and the microoperation cache. </a:t>
            </a:r>
          </a:p>
          <a:p>
            <a:r>
              <a:rPr lang="en-US" dirty="0"/>
              <a:t>Branch prediction unit, load/store, and reorder buffers are components of the front-end. </a:t>
            </a:r>
          </a:p>
          <a:p>
            <a:r>
              <a:rPr lang="en-US" dirty="0"/>
              <a:t>The instruction scheduler manages the dynamic instruction execution. </a:t>
            </a:r>
          </a:p>
          <a:p>
            <a:r>
              <a:rPr lang="en-US" dirty="0"/>
              <a:t>The five ports of the instruction scheduler dispatch microinstructions to ALU and to load and store units. </a:t>
            </a:r>
          </a:p>
          <a:p>
            <a:r>
              <a:rPr lang="en-US" dirty="0"/>
              <a:t>Vector (V) and floating-point operations (FP) are dispatched to ALU units.</a:t>
            </a:r>
          </a:p>
          <a:p>
            <a:endParaRPr lang="en-US" dirty="0"/>
          </a:p>
          <a:p>
            <a:endParaRPr lang="en-US" dirty="0"/>
          </a:p>
          <a:p>
            <a:endParaRPr lang="en-US" dirty="0"/>
          </a:p>
          <a:p>
            <a:r>
              <a:rPr lang="en-US" dirty="0"/>
              <a:t>Fig. 4.2. The core front-end processes instructions in order, </a:t>
            </a:r>
          </a:p>
          <a:p>
            <a:r>
              <a:rPr lang="en-US" dirty="0"/>
              <a:t>while the instruction scheduler of the back-end is responsible for dynamic instruction scheduling and feeds instructions to multiple execution units including Arithmetic and Logic Units (ALU)s and Load/Store units.</a:t>
            </a:r>
          </a:p>
          <a:p>
            <a:endParaRPr lang="en-US" dirty="0"/>
          </a:p>
        </p:txBody>
      </p:sp>
    </p:spTree>
    <p:extLst>
      <p:ext uri="{BB962C8B-B14F-4D97-AF65-F5344CB8AC3E}">
        <p14:creationId xmlns:p14="http://schemas.microsoft.com/office/powerpoint/2010/main" val="35754883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5A4B9-967A-E775-76A8-697351B248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ED1D82-5F38-5DC1-0F2C-9F7C4375237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1E32AD9-8632-5AF8-509A-65CDE2AD7A9B}"/>
              </a:ext>
            </a:extLst>
          </p:cNvPr>
          <p:cNvSpPr>
            <a:spLocks noGrp="1"/>
          </p:cNvSpPr>
          <p:nvPr>
            <p:ph type="body" idx="1"/>
          </p:nvPr>
        </p:nvSpPr>
        <p:spPr/>
        <p:txBody>
          <a:bodyPr/>
          <a:lstStyle/>
          <a:p>
            <a:r>
              <a:rPr lang="en-US" dirty="0"/>
              <a:t>A monolithic scheduler using a centralized scheduling algorithm does not scale up. </a:t>
            </a:r>
          </a:p>
          <a:p>
            <a:r>
              <a:rPr lang="en-US" dirty="0"/>
              <a:t>Statically partition a cluster into sub-clusters allocated to different types of workloads. This policy is far from optimal due to fragmentation because the balance between different types of workload changes over time. </a:t>
            </a:r>
          </a:p>
          <a:p>
            <a:r>
              <a:rPr lang="en-US" dirty="0"/>
              <a:t>A two-level scheduler has its own limitations, such the collection of frameworks is not able to optimize bin packing and a centralized scheduler. The two-level scheduling model in this simulator emulates Mesos and achieves fairness by alternately offering all available cluster resources to different schedulers.</a:t>
            </a:r>
          </a:p>
          <a:p>
            <a:r>
              <a:rPr lang="en-US" dirty="0"/>
              <a:t>The simulation results show that Omega is scalable, and at realistic workloads, there is little interference among independent schedulers. The simulator was also used to investigate gang scheduling useful for MapReduce applications.</a:t>
            </a:r>
          </a:p>
          <a:p>
            <a:endParaRPr lang="en-US" dirty="0"/>
          </a:p>
        </p:txBody>
      </p:sp>
    </p:spTree>
    <p:extLst>
      <p:ext uri="{BB962C8B-B14F-4D97-AF65-F5344CB8AC3E}">
        <p14:creationId xmlns:p14="http://schemas.microsoft.com/office/powerpoint/2010/main" val="2324929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 Kubernetes, pods are groups of containers scheduled onto the same host and serve as units of scheduling, deployment, horizontal scaling, and replication. Pods share fate and share resources such as storage volumes.</a:t>
            </a:r>
          </a:p>
          <a:p>
            <a:r>
              <a:rPr lang="en-US" dirty="0"/>
              <a:t>Pods manage co-located support software including: content management systems, controllers, managers, configurators, updaters, logging and monitoring adapters, and event publishers. </a:t>
            </a:r>
          </a:p>
          <a:p>
            <a:r>
              <a:rPr lang="en-US" dirty="0"/>
              <a:t>Pods also manage file and data loaders, local cache managers, log and checkpoint backup, compression, rotation, snapshotting, data change watchers, log trailers, proxies, bridges, and adapters.</a:t>
            </a:r>
          </a:p>
          <a:p>
            <a:endParaRPr lang="en-US" dirty="0"/>
          </a:p>
        </p:txBody>
      </p:sp>
    </p:spTree>
    <p:extLst>
      <p:ext uri="{BB962C8B-B14F-4D97-AF65-F5344CB8AC3E}">
        <p14:creationId xmlns:p14="http://schemas.microsoft.com/office/powerpoint/2010/main" val="3323719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3F2DC-2B48-1B4C-4F4E-57E8247FD9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CDF2C2-6553-8694-47EA-5D441FEDBD7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13BF0A1-B98C-0256-7299-251B98FFED40}"/>
              </a:ext>
            </a:extLst>
          </p:cNvPr>
          <p:cNvSpPr>
            <a:spLocks noGrp="1"/>
          </p:cNvSpPr>
          <p:nvPr>
            <p:ph type="body" idx="1"/>
          </p:nvPr>
        </p:nvSpPr>
        <p:spPr/>
        <p:txBody>
          <a:bodyPr/>
          <a:lstStyle/>
          <a:p>
            <a:pPr marL="0" indent="0">
              <a:buNone/>
            </a:pPr>
            <a:r>
              <a:rPr lang="en-US" dirty="0"/>
              <a:t>Arguably, pods are preferable to running multiple applications in a single Docker container for several reasons: </a:t>
            </a:r>
          </a:p>
          <a:p>
            <a:pPr marL="0" indent="0">
              <a:buNone/>
            </a:pPr>
            <a:endParaRPr lang="en-US" dirty="0"/>
          </a:p>
          <a:p>
            <a:r>
              <a:rPr lang="en-US" dirty="0"/>
              <a:t>(</a:t>
            </a:r>
            <a:r>
              <a:rPr lang="en-US" dirty="0" err="1"/>
              <a:t>i</a:t>
            </a:r>
            <a:r>
              <a:rPr lang="en-US" dirty="0"/>
              <a:t>) efficiency—containers can be lightweight as the infrastructure takes on more responsibility; </a:t>
            </a:r>
          </a:p>
          <a:p>
            <a:r>
              <a:rPr lang="en-US" dirty="0"/>
              <a:t>(ii) transparency and user convenience—containers within the pod are visible to the infrastructure and allow it to provide process management, resource monitoring, and other services; </a:t>
            </a:r>
          </a:p>
          <a:p>
            <a:r>
              <a:rPr lang="en-US" dirty="0"/>
              <a:t>(iii) users do not need to run their own process managers, or deal with signal and exit-code propagation; and </a:t>
            </a:r>
          </a:p>
          <a:p>
            <a:r>
              <a:rPr lang="en-US" dirty="0"/>
              <a:t>(iv) decoupling software dependencies—individual containers may be versioned, rebuilt, and redeployed independently.</a:t>
            </a:r>
          </a:p>
        </p:txBody>
      </p:sp>
    </p:spTree>
    <p:extLst>
      <p:ext uri="{BB962C8B-B14F-4D97-AF65-F5344CB8AC3E}">
        <p14:creationId xmlns:p14="http://schemas.microsoft.com/office/powerpoint/2010/main" val="9962600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hyperlink" Target="http://technofaq.org/posts/2015/06/reasons-why-switching-to-virtualization-is-easy-and-effective/" TargetMode="External"/><Relationship Id="rId2" Type="http://schemas.openxmlformats.org/officeDocument/2006/relationships/image" Target="../media/image23.jpg"/><Relationship Id="rId1" Type="http://schemas.openxmlformats.org/officeDocument/2006/relationships/slideLayout" Target="../slideLayouts/slideLayout15.xml"/><Relationship Id="rId4" Type="http://schemas.openxmlformats.org/officeDocument/2006/relationships/hyperlink" Target="https://creativecommons.org/licenses/by-nc-sa/3.0/"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datacenter-insider.de/images-und-container-in-docker-a-759636/" TargetMode="External"/><Relationship Id="rId2" Type="http://schemas.openxmlformats.org/officeDocument/2006/relationships/image" Target="../media/image24.jp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hyperlink" Target="https://www.ochobitshacenunbyte.com/2015/01/26/introduccion-docker-para-torpes/" TargetMode="External"/><Relationship Id="rId2" Type="http://schemas.openxmlformats.org/officeDocument/2006/relationships/image" Target="../media/image33.jpg"/><Relationship Id="rId1" Type="http://schemas.openxmlformats.org/officeDocument/2006/relationships/slideLayout" Target="../slideLayouts/slideLayout15.xml"/><Relationship Id="rId4" Type="http://schemas.openxmlformats.org/officeDocument/2006/relationships/hyperlink" Target="https://creativecommons.org/licenses/by-sa/3.0/"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hyperlink" Target="https://www.datacenter-insider.de/images-und-container-in-docker-a-759636/" TargetMode="External"/><Relationship Id="rId2" Type="http://schemas.openxmlformats.org/officeDocument/2006/relationships/image" Target="../media/image24.jp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hyperlink" Target="https://www.ochobitshacenunbyte.com/2015/01/26/introduccion-docker-para-torpes/" TargetMode="External"/><Relationship Id="rId2" Type="http://schemas.openxmlformats.org/officeDocument/2006/relationships/image" Target="../media/image33.jpg"/><Relationship Id="rId1" Type="http://schemas.openxmlformats.org/officeDocument/2006/relationships/slideLayout" Target="../slideLayouts/slideLayout15.xml"/><Relationship Id="rId4" Type="http://schemas.openxmlformats.org/officeDocument/2006/relationships/hyperlink" Target="https://creativecommons.org/licenses/by-sa/3.0/"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15.xml"/><Relationship Id="rId5" Type="http://schemas.openxmlformats.org/officeDocument/2006/relationships/hyperlink" Target="https://creativecommons.org/licenses/by-sa/3.0/" TargetMode="External"/><Relationship Id="rId4" Type="http://schemas.openxmlformats.org/officeDocument/2006/relationships/hyperlink" Target="https://devopedia.org/kubernetes" TargetMode="External"/></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hyperlink" Target="https://kubernetes.io/docs/home/" TargetMode="External"/><Relationship Id="rId2" Type="http://schemas.openxmlformats.org/officeDocument/2006/relationships/hyperlink" Target="https://www.youtube.com/watch?v=AeiXe7GRGCE" TargetMode="Externa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1206498" y="6428534"/>
            <a:ext cx="21971004" cy="3917819"/>
          </a:xfrm>
        </p:spPr>
        <p:txBody>
          <a:bodyPr>
            <a:normAutofit fontScale="90000"/>
          </a:bodyPr>
          <a:lstStyle/>
          <a:p>
            <a:r>
              <a:rPr lang="en-US" dirty="0"/>
              <a:t>Cloud Hardware and Software</a:t>
            </a:r>
            <a:br>
              <a:rPr lang="en-US" dirty="0"/>
            </a:br>
            <a:br>
              <a:rPr lang="en-US" dirty="0"/>
            </a:br>
            <a:r>
              <a:rPr lang="en-US" sz="6000" dirty="0"/>
              <a:t>Session 04</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D6825 - Samuel Philip</a:t>
            </a:r>
          </a:p>
        </p:txBody>
      </p:sp>
      <p:sp>
        <p:nvSpPr>
          <p:cNvPr id="5" name="Rectangle 7">
            <a:extLst>
              <a:ext uri="{FF2B5EF4-FFF2-40B4-BE49-F238E27FC236}">
                <a16:creationId xmlns:a16="http://schemas.microsoft.com/office/drawing/2014/main" id="{D93D5A33-4AE1-DFDD-5778-A52549DBFAFF}"/>
              </a:ext>
            </a:extLst>
          </p:cNvPr>
          <p:cNvSpPr>
            <a:spLocks noChangeArrowheads="1"/>
          </p:cNvSpPr>
          <p:nvPr/>
        </p:nvSpPr>
        <p:spPr bwMode="auto">
          <a:xfrm>
            <a:off x="1850571" y="3352800"/>
            <a:ext cx="20748172" cy="1870076"/>
          </a:xfrm>
          <a:prstGeom prst="rect">
            <a:avLst/>
          </a:prstGeom>
          <a:noFill/>
          <a:ln w="9525">
            <a:noFill/>
            <a:miter lim="800000"/>
            <a:headEnd/>
            <a:tailEnd/>
          </a:ln>
        </p:spPr>
        <p:txBody>
          <a:bodyPr/>
          <a:lstStyle/>
          <a:p>
            <a:pPr>
              <a:spcBef>
                <a:spcPct val="20000"/>
              </a:spcBef>
              <a:tabLst>
                <a:tab pos="2641600" algn="l"/>
                <a:tab pos="4108450" algn="l"/>
              </a:tabLst>
            </a:pPr>
            <a:r>
              <a:rPr lang="en-US" sz="4000" dirty="0">
                <a:solidFill>
                  <a:schemeClr val="bg1"/>
                </a:solidFill>
                <a:latin typeface="Tahoma" panose="020B0604030504040204" pitchFamily="34" charset="0"/>
                <a:ea typeface="Tahoma" panose="020B0604030504040204" pitchFamily="34" charset="0"/>
                <a:cs typeface="Tahoma" panose="020B0604030504040204" pitchFamily="34" charset="0"/>
              </a:rPr>
              <a:t>Course		: COSC6100001 - Cloud Infrastructure</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3F1C-0D61-4D2A-AE66-A44AB8F933D7}"/>
              </a:ext>
            </a:extLst>
          </p:cNvPr>
          <p:cNvSpPr>
            <a:spLocks noGrp="1"/>
          </p:cNvSpPr>
          <p:nvPr>
            <p:ph type="title"/>
          </p:nvPr>
        </p:nvSpPr>
        <p:spPr/>
        <p:txBody>
          <a:bodyPr>
            <a:normAutofit fontScale="90000"/>
          </a:bodyPr>
          <a:lstStyle/>
          <a:p>
            <a:r>
              <a:rPr lang="en-ID" dirty="0"/>
              <a:t>Learning Objectives</a:t>
            </a:r>
          </a:p>
        </p:txBody>
      </p:sp>
      <p:sp>
        <p:nvSpPr>
          <p:cNvPr id="4" name="Text Placeholder 3">
            <a:extLst>
              <a:ext uri="{FF2B5EF4-FFF2-40B4-BE49-F238E27FC236}">
                <a16:creationId xmlns:a16="http://schemas.microsoft.com/office/drawing/2014/main" id="{19B515F5-D54A-2C91-194C-DEE35FCDBF1E}"/>
              </a:ext>
            </a:extLst>
          </p:cNvPr>
          <p:cNvSpPr>
            <a:spLocks noGrp="1"/>
          </p:cNvSpPr>
          <p:nvPr>
            <p:ph type="body" sz="quarter" idx="10"/>
          </p:nvPr>
        </p:nvSpPr>
        <p:spPr/>
        <p:txBody>
          <a:bodyPr/>
          <a:lstStyle/>
          <a:p>
            <a:endParaRPr lang="en-US"/>
          </a:p>
        </p:txBody>
      </p:sp>
      <p:sp>
        <p:nvSpPr>
          <p:cNvPr id="3" name="Content Placeholder 2">
            <a:extLst>
              <a:ext uri="{FF2B5EF4-FFF2-40B4-BE49-F238E27FC236}">
                <a16:creationId xmlns:a16="http://schemas.microsoft.com/office/drawing/2014/main" id="{32603A01-370D-40D0-943E-E2F4C055BA40}"/>
              </a:ext>
            </a:extLst>
          </p:cNvPr>
          <p:cNvSpPr>
            <a:spLocks noGrp="1"/>
          </p:cNvSpPr>
          <p:nvPr>
            <p:ph sz="quarter" idx="11"/>
          </p:nvPr>
        </p:nvSpPr>
        <p:spPr>
          <a:xfrm>
            <a:off x="2167377" y="3260663"/>
            <a:ext cx="13714940" cy="4522264"/>
          </a:xfrm>
        </p:spPr>
        <p:txBody>
          <a:bodyPr>
            <a:normAutofit/>
          </a:bodyPr>
          <a:lstStyle/>
          <a:p>
            <a:br>
              <a:rPr lang="en-US" dirty="0"/>
            </a:br>
            <a:r>
              <a:rPr lang="en-US" dirty="0"/>
              <a:t>(C4) Analysis : identify problems that can be solved using cloud global infrastructure</a:t>
            </a:r>
          </a:p>
          <a:p>
            <a:r>
              <a:rPr lang="en-US" dirty="0"/>
              <a:t>(C2) Comprehension : group Classify real-worlds problems in accordance with cloud computing infrastructure</a:t>
            </a:r>
          </a:p>
        </p:txBody>
      </p:sp>
    </p:spTree>
    <p:extLst>
      <p:ext uri="{BB962C8B-B14F-4D97-AF65-F5344CB8AC3E}">
        <p14:creationId xmlns:p14="http://schemas.microsoft.com/office/powerpoint/2010/main" val="109501583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EE7E-7D6D-1075-C43E-31110FFB87EF}"/>
              </a:ext>
            </a:extLst>
          </p:cNvPr>
          <p:cNvSpPr>
            <a:spLocks noGrp="1"/>
          </p:cNvSpPr>
          <p:nvPr>
            <p:ph type="title"/>
          </p:nvPr>
        </p:nvSpPr>
        <p:spPr/>
        <p:txBody>
          <a:bodyPr>
            <a:normAutofit fontScale="90000"/>
          </a:bodyPr>
          <a:lstStyle/>
          <a:p>
            <a:r>
              <a:rPr lang="en-US" dirty="0"/>
              <a:t>Outline</a:t>
            </a:r>
          </a:p>
        </p:txBody>
      </p:sp>
      <p:sp>
        <p:nvSpPr>
          <p:cNvPr id="5" name="Text Placeholder 4">
            <a:extLst>
              <a:ext uri="{FF2B5EF4-FFF2-40B4-BE49-F238E27FC236}">
                <a16:creationId xmlns:a16="http://schemas.microsoft.com/office/drawing/2014/main" id="{45F26CDD-3EFB-2B8E-0F76-60A23F660E6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20D9012-F4DE-DB8A-ABB7-846D54F87075}"/>
              </a:ext>
            </a:extLst>
          </p:cNvPr>
          <p:cNvSpPr>
            <a:spLocks noGrp="1"/>
          </p:cNvSpPr>
          <p:nvPr>
            <p:ph sz="quarter" idx="11"/>
          </p:nvPr>
        </p:nvSpPr>
        <p:spPr>
          <a:xfrm>
            <a:off x="2167377" y="3260663"/>
            <a:ext cx="13714940" cy="4522264"/>
          </a:xfrm>
        </p:spPr>
        <p:txBody>
          <a:bodyPr>
            <a:noAutofit/>
          </a:bodyPr>
          <a:lstStyle/>
          <a:p>
            <a:pPr marL="0" indent="0">
              <a:buNone/>
            </a:pPr>
            <a:r>
              <a:rPr lang="en-US" sz="3200" dirty="0"/>
              <a:t>Cloud Infrastructure Challenges</a:t>
            </a:r>
          </a:p>
          <a:p>
            <a:pPr marL="0" indent="0">
              <a:buNone/>
            </a:pPr>
            <a:r>
              <a:rPr lang="en-US" sz="3200" dirty="0"/>
              <a:t>Cloud Hardware; Warehouse-scale Computer (WSC)</a:t>
            </a:r>
          </a:p>
          <a:p>
            <a:pPr marL="0" indent="0">
              <a:buNone/>
            </a:pPr>
            <a:r>
              <a:rPr lang="en-US" sz="3200" dirty="0"/>
              <a:t>Cluster Management System</a:t>
            </a:r>
          </a:p>
          <a:p>
            <a:pPr marL="0" indent="0">
              <a:buNone/>
            </a:pPr>
            <a:r>
              <a:rPr lang="en-US" sz="3200" dirty="0"/>
              <a:t>Containers</a:t>
            </a:r>
          </a:p>
          <a:p>
            <a:pPr marL="0" indent="0">
              <a:buNone/>
            </a:pPr>
            <a:r>
              <a:rPr lang="en-US" sz="3200" dirty="0"/>
              <a:t>Kubernets</a:t>
            </a:r>
          </a:p>
          <a:p>
            <a:pPr marL="0" indent="0">
              <a:buNone/>
            </a:pPr>
            <a:endParaRPr lang="en-US" sz="3200" dirty="0"/>
          </a:p>
        </p:txBody>
      </p:sp>
    </p:spTree>
    <p:extLst>
      <p:ext uri="{BB962C8B-B14F-4D97-AF65-F5344CB8AC3E}">
        <p14:creationId xmlns:p14="http://schemas.microsoft.com/office/powerpoint/2010/main" val="15042760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90EE6CE-77CF-BD33-296D-07E6A9E5E56A}"/>
              </a:ext>
            </a:extLst>
          </p:cNvPr>
          <p:cNvSpPr>
            <a:spLocks noGrp="1"/>
          </p:cNvSpPr>
          <p:nvPr>
            <p:ph type="title"/>
          </p:nvPr>
        </p:nvSpPr>
        <p:spPr/>
        <p:txBody>
          <a:bodyPr/>
          <a:lstStyle/>
          <a:p>
            <a:r>
              <a:rPr lang="en-US" dirty="0"/>
              <a:t>Cloud Infrastructure Challenges</a:t>
            </a:r>
          </a:p>
        </p:txBody>
      </p:sp>
    </p:spTree>
    <p:extLst>
      <p:ext uri="{BB962C8B-B14F-4D97-AF65-F5344CB8AC3E}">
        <p14:creationId xmlns:p14="http://schemas.microsoft.com/office/powerpoint/2010/main" val="65065730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16E73-A651-97FC-3DE1-CEF65AF1619A}"/>
              </a:ext>
            </a:extLst>
          </p:cNvPr>
          <p:cNvSpPr>
            <a:spLocks noGrp="1"/>
          </p:cNvSpPr>
          <p:nvPr>
            <p:ph type="title"/>
          </p:nvPr>
        </p:nvSpPr>
        <p:spPr/>
        <p:txBody>
          <a:bodyPr>
            <a:normAutofit fontScale="90000"/>
          </a:bodyPr>
          <a:lstStyle/>
          <a:p>
            <a:r>
              <a:rPr lang="en-US" dirty="0"/>
              <a:t>Cloud Infrastructure Challenges</a:t>
            </a:r>
          </a:p>
        </p:txBody>
      </p:sp>
      <p:sp>
        <p:nvSpPr>
          <p:cNvPr id="5" name="Text Placeholder 4">
            <a:extLst>
              <a:ext uri="{FF2B5EF4-FFF2-40B4-BE49-F238E27FC236}">
                <a16:creationId xmlns:a16="http://schemas.microsoft.com/office/drawing/2014/main" id="{BC01B45A-ACCF-9D25-3C48-29B6E41DC84A}"/>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D862F95-B0B7-A38E-BEF3-68DCC85BA8BE}"/>
              </a:ext>
            </a:extLst>
          </p:cNvPr>
          <p:cNvSpPr>
            <a:spLocks noGrp="1"/>
          </p:cNvSpPr>
          <p:nvPr>
            <p:ph type="body" sz="quarter" idx="16"/>
          </p:nvPr>
        </p:nvSpPr>
        <p:spPr/>
        <p:txBody>
          <a:bodyPr>
            <a:normAutofit fontScale="85000" lnSpcReduction="10000"/>
          </a:bodyPr>
          <a:lstStyle/>
          <a:p>
            <a:pPr marL="571500" indent="-571500">
              <a:buFont typeface="Arial" panose="020B0604020202020204" pitchFamily="34" charset="0"/>
              <a:buChar char="•"/>
            </a:pPr>
            <a:r>
              <a:rPr lang="en-US" sz="4000" dirty="0"/>
              <a:t>The scale of the cloud infrastructure, combined with the relatively low mean-time to failure of the off-the-shelf components.</a:t>
            </a:r>
          </a:p>
          <a:p>
            <a:pPr marL="571500" indent="-571500">
              <a:buFont typeface="Arial" panose="020B0604020202020204" pitchFamily="34" charset="0"/>
              <a:buChar char="•"/>
            </a:pPr>
            <a:r>
              <a:rPr lang="en-US" sz="4000" dirty="0"/>
              <a:t>Availability. For example, a 99% availability translates to 22 hours of downtime per quarter. </a:t>
            </a:r>
          </a:p>
          <a:p>
            <a:pPr marL="571500" indent="-571500">
              <a:buFont typeface="Arial" panose="020B0604020202020204" pitchFamily="34" charset="0"/>
              <a:buChar char="•"/>
            </a:pPr>
            <a:r>
              <a:rPr lang="en-US" sz="4000" dirty="0"/>
              <a:t>Only a fair level of hardware redundancy combined with software support for error detection and recovery can ensure such a level of availability.</a:t>
            </a:r>
          </a:p>
        </p:txBody>
      </p:sp>
      <p:pic>
        <p:nvPicPr>
          <p:cNvPr id="8" name="Picture Placeholder 7">
            <a:extLst>
              <a:ext uri="{FF2B5EF4-FFF2-40B4-BE49-F238E27FC236}">
                <a16:creationId xmlns:a16="http://schemas.microsoft.com/office/drawing/2014/main" id="{7EAC2156-D447-9681-1EF2-28993E1947D0}"/>
              </a:ext>
            </a:extLst>
          </p:cNvPr>
          <p:cNvPicPr>
            <a:picLocks noGrp="1" noChangeAspect="1"/>
          </p:cNvPicPr>
          <p:nvPr>
            <p:ph type="pic" sz="quarter" idx="13"/>
          </p:nvPr>
        </p:nvPicPr>
        <p:blipFill>
          <a:blip r:embed="rId2"/>
          <a:srcRect l="-435" r="1397" b="3632"/>
          <a:stretch>
            <a:fillRect/>
          </a:stretch>
        </p:blipFill>
        <p:spPr>
          <a:xfrm>
            <a:off x="12801600" y="6556917"/>
            <a:ext cx="10858462" cy="2167073"/>
          </a:xfrm>
          <a:prstGeom prst="rect">
            <a:avLst/>
          </a:prstGeom>
        </p:spPr>
      </p:pic>
      <p:sp>
        <p:nvSpPr>
          <p:cNvPr id="7" name="Text Placeholder 6">
            <a:extLst>
              <a:ext uri="{FF2B5EF4-FFF2-40B4-BE49-F238E27FC236}">
                <a16:creationId xmlns:a16="http://schemas.microsoft.com/office/drawing/2014/main" id="{412CE686-AEC3-7655-DFFC-844C8109D714}"/>
              </a:ext>
            </a:extLst>
          </p:cNvPr>
          <p:cNvSpPr>
            <a:spLocks noGrp="1"/>
          </p:cNvSpPr>
          <p:nvPr>
            <p:ph type="body" sz="quarter" idx="17"/>
          </p:nvPr>
        </p:nvSpPr>
        <p:spPr/>
        <p:txBody>
          <a:bodyPr>
            <a:normAutofit fontScale="92500" lnSpcReduction="20000"/>
          </a:bodyPr>
          <a:lstStyle/>
          <a:p>
            <a:r>
              <a:rPr lang="en-US" dirty="0"/>
              <a:t>Integrate a very large number of system components and contributes to the challenge of ensuring efficient and reliable operation. </a:t>
            </a:r>
          </a:p>
          <a:p>
            <a:endParaRPr lang="en-US" dirty="0"/>
          </a:p>
        </p:txBody>
      </p:sp>
    </p:spTree>
    <p:extLst>
      <p:ext uri="{BB962C8B-B14F-4D97-AF65-F5344CB8AC3E}">
        <p14:creationId xmlns:p14="http://schemas.microsoft.com/office/powerpoint/2010/main" val="76629525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CCDFF4-D7DD-FD9C-6532-89E484B4168E}"/>
              </a:ext>
            </a:extLst>
          </p:cNvPr>
          <p:cNvSpPr>
            <a:spLocks noGrp="1"/>
          </p:cNvSpPr>
          <p:nvPr>
            <p:ph type="title"/>
          </p:nvPr>
        </p:nvSpPr>
        <p:spPr>
          <a:xfrm>
            <a:off x="2167377" y="1871164"/>
            <a:ext cx="14715569" cy="511175"/>
          </a:xfrm>
        </p:spPr>
        <p:txBody>
          <a:bodyPr>
            <a:normAutofit/>
          </a:bodyPr>
          <a:lstStyle/>
          <a:p>
            <a:r>
              <a:rPr lang="en-US" sz="3200"/>
              <a:t>Virtualization</a:t>
            </a:r>
          </a:p>
        </p:txBody>
      </p:sp>
      <p:sp>
        <p:nvSpPr>
          <p:cNvPr id="7" name="Text Placeholder 6">
            <a:extLst>
              <a:ext uri="{FF2B5EF4-FFF2-40B4-BE49-F238E27FC236}">
                <a16:creationId xmlns:a16="http://schemas.microsoft.com/office/drawing/2014/main" id="{1E909420-935C-307E-8ED1-98AFB0EDCBAF}"/>
              </a:ext>
            </a:extLst>
          </p:cNvPr>
          <p:cNvSpPr>
            <a:spLocks noGrp="1"/>
          </p:cNvSpPr>
          <p:nvPr>
            <p:ph type="body" sz="quarter" idx="10"/>
          </p:nvPr>
        </p:nvSpPr>
        <p:spPr>
          <a:xfrm>
            <a:off x="2167377" y="2419728"/>
            <a:ext cx="9768875" cy="803546"/>
          </a:xfrm>
        </p:spPr>
        <p:txBody>
          <a:bodyPr>
            <a:normAutofit/>
          </a:bodyPr>
          <a:lstStyle/>
          <a:p>
            <a:r>
              <a:rPr lang="en-US" sz="2700"/>
              <a:t>Technology that allows cloud as we know it</a:t>
            </a:r>
          </a:p>
        </p:txBody>
      </p:sp>
      <p:sp>
        <p:nvSpPr>
          <p:cNvPr id="9" name="Text Placeholder 8">
            <a:extLst>
              <a:ext uri="{FF2B5EF4-FFF2-40B4-BE49-F238E27FC236}">
                <a16:creationId xmlns:a16="http://schemas.microsoft.com/office/drawing/2014/main" id="{C6CAEC1C-3E3E-4C0E-7170-4F15C61F7BDA}"/>
              </a:ext>
            </a:extLst>
          </p:cNvPr>
          <p:cNvSpPr>
            <a:spLocks noGrp="1"/>
          </p:cNvSpPr>
          <p:nvPr>
            <p:ph type="body" sz="quarter" idx="16"/>
          </p:nvPr>
        </p:nvSpPr>
        <p:spPr>
          <a:xfrm>
            <a:off x="2167377" y="6556917"/>
            <a:ext cx="9768906" cy="5575610"/>
          </a:xfrm>
        </p:spPr>
        <p:txBody>
          <a:bodyPr>
            <a:normAutofit/>
          </a:bodyPr>
          <a:lstStyle/>
          <a:p>
            <a:r>
              <a:rPr lang="en-US" dirty="0"/>
              <a:t>For example, threads are virtual processors, abstractions that allow a processor sharing among different activities thus, increase utilization and effectiveness. </a:t>
            </a:r>
            <a:endParaRPr lang="en-US"/>
          </a:p>
          <a:p>
            <a:r>
              <a:rPr lang="en-US" dirty="0"/>
              <a:t>Processor virtualization, running multiple independent instances of one or more Operating Systems (OS), pioneered by IBM in early 1970s, was revived for computer clouds. </a:t>
            </a:r>
            <a:endParaRPr lang="en-US"/>
          </a:p>
          <a:p>
            <a:r>
              <a:rPr lang="en-US" dirty="0"/>
              <a:t>Running multiple VMs on the same server enables applications to better share the server resources and lead to higher processor utilization.</a:t>
            </a:r>
            <a:endParaRPr lang="en-US"/>
          </a:p>
          <a:p>
            <a:endParaRPr lang="en-US" dirty="0"/>
          </a:p>
        </p:txBody>
      </p:sp>
      <p:pic>
        <p:nvPicPr>
          <p:cNvPr id="11" name="Picture 10" descr="Cloud shaped hard drive with cables">
            <a:extLst>
              <a:ext uri="{FF2B5EF4-FFF2-40B4-BE49-F238E27FC236}">
                <a16:creationId xmlns:a16="http://schemas.microsoft.com/office/drawing/2014/main" id="{007ECCEC-F87F-528C-5BA5-32696700FE61}"/>
              </a:ext>
            </a:extLst>
          </p:cNvPr>
          <p:cNvPicPr>
            <a:picLocks noChangeAspect="1"/>
          </p:cNvPicPr>
          <p:nvPr/>
        </p:nvPicPr>
        <p:blipFill>
          <a:blip r:embed="rId2"/>
          <a:srcRect l="10846" r="23396" b="-1"/>
          <a:stretch>
            <a:fillRect/>
          </a:stretch>
        </p:blipFill>
        <p:spPr>
          <a:xfrm>
            <a:off x="12339930" y="4210629"/>
            <a:ext cx="9099057" cy="7921898"/>
          </a:xfrm>
          <a:prstGeom prst="rect">
            <a:avLst/>
          </a:prstGeom>
          <a:noFill/>
        </p:spPr>
      </p:pic>
      <p:sp>
        <p:nvSpPr>
          <p:cNvPr id="8" name="Text Placeholder 7">
            <a:extLst>
              <a:ext uri="{FF2B5EF4-FFF2-40B4-BE49-F238E27FC236}">
                <a16:creationId xmlns:a16="http://schemas.microsoft.com/office/drawing/2014/main" id="{2DC53045-19E4-98CE-73B3-3ECB2C6F731C}"/>
              </a:ext>
            </a:extLst>
          </p:cNvPr>
          <p:cNvSpPr>
            <a:spLocks noGrp="1"/>
          </p:cNvSpPr>
          <p:nvPr>
            <p:ph type="body" sz="quarter" idx="17"/>
          </p:nvPr>
        </p:nvSpPr>
        <p:spPr>
          <a:xfrm>
            <a:off x="2166938" y="4210049"/>
            <a:ext cx="9768874" cy="2039112"/>
          </a:xfrm>
        </p:spPr>
        <p:txBody>
          <a:bodyPr>
            <a:normAutofit/>
          </a:bodyPr>
          <a:lstStyle/>
          <a:p>
            <a:r>
              <a:rPr lang="en-US" sz="3400"/>
              <a:t>The goal of virtualization is to support portability, improve efficiency, increase reliability, and shield the user from infrastructure complexity. </a:t>
            </a:r>
          </a:p>
          <a:p>
            <a:endParaRPr lang="en-US" sz="3400"/>
          </a:p>
        </p:txBody>
      </p:sp>
    </p:spTree>
    <p:extLst>
      <p:ext uri="{BB962C8B-B14F-4D97-AF65-F5344CB8AC3E}">
        <p14:creationId xmlns:p14="http://schemas.microsoft.com/office/powerpoint/2010/main" val="291228151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784A8-5557-90FC-FFF0-90A581A15A7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B441058-6E58-3522-F0B4-DBF4AB7D6B76}"/>
              </a:ext>
            </a:extLst>
          </p:cNvPr>
          <p:cNvSpPr>
            <a:spLocks noGrp="1"/>
          </p:cNvSpPr>
          <p:nvPr>
            <p:ph type="title"/>
          </p:nvPr>
        </p:nvSpPr>
        <p:spPr>
          <a:xfrm>
            <a:off x="2167377" y="1871164"/>
            <a:ext cx="14715569" cy="511175"/>
          </a:xfrm>
        </p:spPr>
        <p:txBody>
          <a:bodyPr>
            <a:normAutofit/>
          </a:bodyPr>
          <a:lstStyle/>
          <a:p>
            <a:r>
              <a:rPr lang="en-US" sz="3200"/>
              <a:t>Virtualization</a:t>
            </a:r>
          </a:p>
        </p:txBody>
      </p:sp>
      <p:sp>
        <p:nvSpPr>
          <p:cNvPr id="7" name="Text Placeholder 6">
            <a:extLst>
              <a:ext uri="{FF2B5EF4-FFF2-40B4-BE49-F238E27FC236}">
                <a16:creationId xmlns:a16="http://schemas.microsoft.com/office/drawing/2014/main" id="{E0FFCD34-8840-6A37-C228-DB239D21DC72}"/>
              </a:ext>
            </a:extLst>
          </p:cNvPr>
          <p:cNvSpPr>
            <a:spLocks noGrp="1"/>
          </p:cNvSpPr>
          <p:nvPr>
            <p:ph type="body" sz="quarter" idx="10"/>
          </p:nvPr>
        </p:nvSpPr>
        <p:spPr>
          <a:xfrm>
            <a:off x="2167377" y="2419728"/>
            <a:ext cx="9768875" cy="803546"/>
          </a:xfrm>
        </p:spPr>
        <p:txBody>
          <a:bodyPr>
            <a:normAutofit/>
          </a:bodyPr>
          <a:lstStyle/>
          <a:p>
            <a:r>
              <a:rPr lang="en-US"/>
              <a:t>Processor Virtualization Impact</a:t>
            </a:r>
          </a:p>
        </p:txBody>
      </p:sp>
      <p:sp>
        <p:nvSpPr>
          <p:cNvPr id="9" name="Text Placeholder 8">
            <a:extLst>
              <a:ext uri="{FF2B5EF4-FFF2-40B4-BE49-F238E27FC236}">
                <a16:creationId xmlns:a16="http://schemas.microsoft.com/office/drawing/2014/main" id="{3CF615AB-C908-182A-0B59-393D7CDC511B}"/>
              </a:ext>
            </a:extLst>
          </p:cNvPr>
          <p:cNvSpPr>
            <a:spLocks noGrp="1"/>
          </p:cNvSpPr>
          <p:nvPr>
            <p:ph type="body" sz="quarter" idx="16"/>
          </p:nvPr>
        </p:nvSpPr>
        <p:spPr>
          <a:xfrm>
            <a:off x="2167377" y="6556917"/>
            <a:ext cx="9768906" cy="5575610"/>
          </a:xfrm>
        </p:spPr>
        <p:txBody>
          <a:bodyPr>
            <a:normAutofit/>
          </a:bodyPr>
          <a:lstStyle/>
          <a:p>
            <a:r>
              <a:rPr lang="en-US" sz="2200"/>
              <a:t>An application developer can chose to develop the application in a familiar environment and under the OS of choice</a:t>
            </a:r>
          </a:p>
          <a:p>
            <a:r>
              <a:rPr lang="en-US" sz="2200"/>
              <a:t>Provides more freedom for the system resource management because VMs can be easily migrated.</a:t>
            </a:r>
          </a:p>
          <a:p>
            <a:r>
              <a:rPr lang="en-US" sz="2200"/>
              <a:t>Increased complexity of system software and has undesirable side effects on application performance and security. </a:t>
            </a:r>
          </a:p>
          <a:p>
            <a:r>
              <a:rPr lang="en-US" sz="2200"/>
              <a:t>Processor sharing is now controlled by a new layer of software, the hypervisor, also called a Virtual Machine Monitor. VMs are heavyweight and non-portable.</a:t>
            </a:r>
          </a:p>
          <a:p>
            <a:r>
              <a:rPr lang="en-US" sz="2200"/>
              <a:t>. </a:t>
            </a:r>
          </a:p>
        </p:txBody>
      </p:sp>
      <p:pic>
        <p:nvPicPr>
          <p:cNvPr id="11" name="Picture 10">
            <a:extLst>
              <a:ext uri="{FF2B5EF4-FFF2-40B4-BE49-F238E27FC236}">
                <a16:creationId xmlns:a16="http://schemas.microsoft.com/office/drawing/2014/main" id="{A7FEE5F9-F887-E434-66EB-D8DD4B3A831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820" t="3627" r="2499" b="-1"/>
          <a:stretch>
            <a:fillRect/>
          </a:stretch>
        </p:blipFill>
        <p:spPr>
          <a:xfrm>
            <a:off x="11935812" y="3661632"/>
            <a:ext cx="12374880" cy="7634640"/>
          </a:xfrm>
          <a:prstGeom prst="rect">
            <a:avLst/>
          </a:prstGeom>
          <a:noFill/>
        </p:spPr>
      </p:pic>
      <p:sp>
        <p:nvSpPr>
          <p:cNvPr id="8" name="Text Placeholder 7">
            <a:extLst>
              <a:ext uri="{FF2B5EF4-FFF2-40B4-BE49-F238E27FC236}">
                <a16:creationId xmlns:a16="http://schemas.microsoft.com/office/drawing/2014/main" id="{DD0001F0-1F68-D624-93F9-00382EF23FD8}"/>
              </a:ext>
            </a:extLst>
          </p:cNvPr>
          <p:cNvSpPr>
            <a:spLocks noGrp="1"/>
          </p:cNvSpPr>
          <p:nvPr>
            <p:ph type="body" sz="quarter" idx="17"/>
          </p:nvPr>
        </p:nvSpPr>
        <p:spPr>
          <a:xfrm>
            <a:off x="2166938" y="4210049"/>
            <a:ext cx="9768874" cy="2039112"/>
          </a:xfrm>
        </p:spPr>
        <p:txBody>
          <a:bodyPr>
            <a:normAutofit/>
          </a:bodyPr>
          <a:lstStyle/>
          <a:p>
            <a:r>
              <a:rPr lang="en-US"/>
              <a:t>It allows better isolation of applications from one another than the traditional process-sharing model. </a:t>
            </a:r>
          </a:p>
        </p:txBody>
      </p:sp>
      <p:sp>
        <p:nvSpPr>
          <p:cNvPr id="2" name="TextBox 1">
            <a:extLst>
              <a:ext uri="{FF2B5EF4-FFF2-40B4-BE49-F238E27FC236}">
                <a16:creationId xmlns:a16="http://schemas.microsoft.com/office/drawing/2014/main" id="{FB7573E7-CCC1-C393-5EAD-A5094D92DA1E}"/>
              </a:ext>
            </a:extLst>
          </p:cNvPr>
          <p:cNvSpPr txBox="1"/>
          <p:nvPr/>
        </p:nvSpPr>
        <p:spPr>
          <a:xfrm>
            <a:off x="16947854" y="11448859"/>
            <a:ext cx="2689839" cy="287258"/>
          </a:xfrm>
          <a:prstGeom prst="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lgn="r">
              <a:spcAft>
                <a:spcPts val="600"/>
              </a:spcAft>
            </a:pPr>
            <a:r>
              <a:rPr lang="en-US" sz="700">
                <a:solidFill>
                  <a:srgbClr val="FFFFFF"/>
                </a:solidFill>
                <a:hlinkClick r:id="rId3" tooltip="http://technofaq.org/posts/2015/06/reasons-why-switching-to-virtualization-is-easy-and-effective/">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nc-sa/3.0/">
                  <a:extLst>
                    <a:ext uri="{A12FA001-AC4F-418D-AE19-62706E023703}">
                      <ahyp:hlinkClr xmlns:ahyp="http://schemas.microsoft.com/office/drawing/2018/hyperlinkcolor" val="tx"/>
                    </a:ext>
                  </a:extLst>
                </a:hlinkClick>
              </a:rPr>
              <a:t>CC BY-SA-NC</a:t>
            </a:r>
            <a:endParaRPr lang="en-US" sz="700">
              <a:solidFill>
                <a:srgbClr val="FFFFFF"/>
              </a:solidFill>
            </a:endParaRPr>
          </a:p>
        </p:txBody>
      </p:sp>
    </p:spTree>
    <p:extLst>
      <p:ext uri="{BB962C8B-B14F-4D97-AF65-F5344CB8AC3E}">
        <p14:creationId xmlns:p14="http://schemas.microsoft.com/office/powerpoint/2010/main" val="175762171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563CBE5D-D615-2403-1C14-94DF4EC2B563}"/>
              </a:ext>
            </a:extLst>
          </p:cNvPr>
          <p:cNvSpPr>
            <a:spLocks noGrp="1"/>
          </p:cNvSpPr>
          <p:nvPr>
            <p:ph type="title"/>
          </p:nvPr>
        </p:nvSpPr>
        <p:spPr>
          <a:xfrm>
            <a:off x="2167377" y="1871164"/>
            <a:ext cx="14715569" cy="511175"/>
          </a:xfrm>
        </p:spPr>
        <p:txBody>
          <a:bodyPr>
            <a:normAutofit fontScale="90000"/>
          </a:bodyPr>
          <a:lstStyle/>
          <a:p>
            <a:r>
              <a:rPr lang="en-US" dirty="0"/>
              <a:t>Containers</a:t>
            </a:r>
          </a:p>
        </p:txBody>
      </p:sp>
      <p:sp>
        <p:nvSpPr>
          <p:cNvPr id="16" name="Text Placeholder 2">
            <a:extLst>
              <a:ext uri="{FF2B5EF4-FFF2-40B4-BE49-F238E27FC236}">
                <a16:creationId xmlns:a16="http://schemas.microsoft.com/office/drawing/2014/main" id="{29A62228-7572-ECB8-89A1-4FC318576A68}"/>
              </a:ext>
            </a:extLst>
          </p:cNvPr>
          <p:cNvSpPr>
            <a:spLocks noGrp="1"/>
          </p:cNvSpPr>
          <p:nvPr>
            <p:ph type="body" sz="quarter" idx="10"/>
          </p:nvPr>
        </p:nvSpPr>
        <p:spPr>
          <a:xfrm>
            <a:off x="2167377" y="2419728"/>
            <a:ext cx="9768875" cy="803546"/>
          </a:xfrm>
        </p:spPr>
        <p:txBody>
          <a:bodyPr/>
          <a:lstStyle/>
          <a:p>
            <a:endParaRPr lang="en-US"/>
          </a:p>
        </p:txBody>
      </p:sp>
      <p:sp>
        <p:nvSpPr>
          <p:cNvPr id="18" name="Text Placeholder 3">
            <a:extLst>
              <a:ext uri="{FF2B5EF4-FFF2-40B4-BE49-F238E27FC236}">
                <a16:creationId xmlns:a16="http://schemas.microsoft.com/office/drawing/2014/main" id="{5907B18B-B285-9589-65A2-7D1D5884CD46}"/>
              </a:ext>
            </a:extLst>
          </p:cNvPr>
          <p:cNvSpPr>
            <a:spLocks noGrp="1"/>
          </p:cNvSpPr>
          <p:nvPr>
            <p:ph type="body" sz="quarter" idx="16"/>
          </p:nvPr>
        </p:nvSpPr>
        <p:spPr>
          <a:xfrm>
            <a:off x="2167377" y="6556917"/>
            <a:ext cx="9768906" cy="5575610"/>
          </a:xfrm>
        </p:spPr>
        <p:txBody>
          <a:bodyPr/>
          <a:lstStyle/>
          <a:p>
            <a:r>
              <a:rPr lang="en-US" sz="3200" dirty="0"/>
              <a:t>they isolate an application running inside a container from another application running in a different container and isolate them both from the physical system where they run.</a:t>
            </a:r>
          </a:p>
          <a:p>
            <a:r>
              <a:rPr lang="en-US" sz="3200" dirty="0"/>
              <a:t>Moreover, containers are portable, and the resources used by a container can be limited. They are more transparent than VMs, thus easier to monitor and manage.</a:t>
            </a:r>
          </a:p>
        </p:txBody>
      </p:sp>
      <p:pic>
        <p:nvPicPr>
          <p:cNvPr id="5" name="Content Placeholder 5">
            <a:extLst>
              <a:ext uri="{FF2B5EF4-FFF2-40B4-BE49-F238E27FC236}">
                <a16:creationId xmlns:a16="http://schemas.microsoft.com/office/drawing/2014/main" id="{7D82224F-E5AD-9D38-C637-263F8BC8A40B}"/>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157" r="1208"/>
          <a:stretch>
            <a:fillRect/>
          </a:stretch>
        </p:blipFill>
        <p:spPr>
          <a:xfrm>
            <a:off x="11936282" y="4210049"/>
            <a:ext cx="12337267" cy="6762751"/>
          </a:xfrm>
          <a:prstGeom prst="rect">
            <a:avLst/>
          </a:prstGeom>
          <a:noFill/>
        </p:spPr>
      </p:pic>
      <p:sp>
        <p:nvSpPr>
          <p:cNvPr id="20" name="Text Placeholder 5">
            <a:extLst>
              <a:ext uri="{FF2B5EF4-FFF2-40B4-BE49-F238E27FC236}">
                <a16:creationId xmlns:a16="http://schemas.microsoft.com/office/drawing/2014/main" id="{82D18783-4C04-7274-EF3F-AC4893723272}"/>
              </a:ext>
            </a:extLst>
          </p:cNvPr>
          <p:cNvSpPr>
            <a:spLocks noGrp="1"/>
          </p:cNvSpPr>
          <p:nvPr>
            <p:ph type="body" sz="quarter" idx="17"/>
          </p:nvPr>
        </p:nvSpPr>
        <p:spPr>
          <a:xfrm>
            <a:off x="2166938" y="4210049"/>
            <a:ext cx="9768874" cy="2039112"/>
          </a:xfrm>
        </p:spPr>
        <p:txBody>
          <a:bodyPr/>
          <a:lstStyle/>
          <a:p>
            <a:r>
              <a:rPr lang="en-US" dirty="0"/>
              <a:t>Containers are based on operating-system-level virtualization rather than hardware virtualization; </a:t>
            </a:r>
          </a:p>
        </p:txBody>
      </p:sp>
    </p:spTree>
    <p:extLst>
      <p:ext uri="{BB962C8B-B14F-4D97-AF65-F5344CB8AC3E}">
        <p14:creationId xmlns:p14="http://schemas.microsoft.com/office/powerpoint/2010/main" val="111929767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5E289-03FF-C267-28AC-24C7332D39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473AF29-8D0A-A2A1-55EF-C0AF06DC1882}"/>
              </a:ext>
            </a:extLst>
          </p:cNvPr>
          <p:cNvSpPr>
            <a:spLocks noGrp="1"/>
          </p:cNvSpPr>
          <p:nvPr>
            <p:ph type="title"/>
          </p:nvPr>
        </p:nvSpPr>
        <p:spPr/>
        <p:txBody>
          <a:bodyPr/>
          <a:lstStyle/>
          <a:p>
            <a:r>
              <a:rPr lang="en-US" dirty="0"/>
              <a:t>Cloud Hardware</a:t>
            </a:r>
          </a:p>
        </p:txBody>
      </p:sp>
    </p:spTree>
    <p:extLst>
      <p:ext uri="{BB962C8B-B14F-4D97-AF65-F5344CB8AC3E}">
        <p14:creationId xmlns:p14="http://schemas.microsoft.com/office/powerpoint/2010/main" val="121542066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FA892-912D-4B39-5899-30D18D35D4D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698F23F-DC3E-98D5-2F62-0E03BA1D7C6D}"/>
              </a:ext>
            </a:extLst>
          </p:cNvPr>
          <p:cNvSpPr>
            <a:spLocks noGrp="1"/>
          </p:cNvSpPr>
          <p:nvPr>
            <p:ph type="title"/>
          </p:nvPr>
        </p:nvSpPr>
        <p:spPr>
          <a:xfrm>
            <a:off x="2167377" y="1871164"/>
            <a:ext cx="14715569" cy="511175"/>
          </a:xfrm>
        </p:spPr>
        <p:txBody>
          <a:bodyPr>
            <a:normAutofit/>
          </a:bodyPr>
          <a:lstStyle/>
          <a:p>
            <a:r>
              <a:rPr lang="en-US" sz="3200" dirty="0"/>
              <a:t>Warehouse-scale Computer (WSC)</a:t>
            </a:r>
          </a:p>
        </p:txBody>
      </p:sp>
      <p:sp>
        <p:nvSpPr>
          <p:cNvPr id="13" name="Text Placeholder 2">
            <a:extLst>
              <a:ext uri="{FF2B5EF4-FFF2-40B4-BE49-F238E27FC236}">
                <a16:creationId xmlns:a16="http://schemas.microsoft.com/office/drawing/2014/main" id="{FCBDDEE3-35E3-0589-CDA2-F3747AD9E7AB}"/>
              </a:ext>
            </a:extLst>
          </p:cNvPr>
          <p:cNvSpPr>
            <a:spLocks noGrp="1"/>
          </p:cNvSpPr>
          <p:nvPr>
            <p:ph type="body" sz="quarter" idx="10"/>
          </p:nvPr>
        </p:nvSpPr>
        <p:spPr>
          <a:xfrm>
            <a:off x="2167377" y="2419728"/>
            <a:ext cx="9768875" cy="803546"/>
          </a:xfrm>
        </p:spPr>
        <p:txBody>
          <a:bodyPr/>
          <a:lstStyle/>
          <a:p>
            <a:endParaRPr lang="en-US" dirty="0"/>
          </a:p>
        </p:txBody>
      </p:sp>
      <p:sp>
        <p:nvSpPr>
          <p:cNvPr id="15" name="Text Placeholder 3">
            <a:extLst>
              <a:ext uri="{FF2B5EF4-FFF2-40B4-BE49-F238E27FC236}">
                <a16:creationId xmlns:a16="http://schemas.microsoft.com/office/drawing/2014/main" id="{EAACC3D1-25B4-1E82-DF92-0B8444B5035B}"/>
              </a:ext>
            </a:extLst>
          </p:cNvPr>
          <p:cNvSpPr>
            <a:spLocks noGrp="1"/>
          </p:cNvSpPr>
          <p:nvPr>
            <p:ph type="body" sz="quarter" idx="16"/>
          </p:nvPr>
        </p:nvSpPr>
        <p:spPr>
          <a:xfrm>
            <a:off x="2167377" y="6556917"/>
            <a:ext cx="9768906" cy="5575610"/>
          </a:xfrm>
        </p:spPr>
        <p:txBody>
          <a:bodyPr/>
          <a:lstStyle/>
          <a:p>
            <a:pPr algn="just"/>
            <a:r>
              <a:rPr lang="en-US" dirty="0"/>
              <a:t>WSCs support both interactive and batch workloads.</a:t>
            </a:r>
          </a:p>
          <a:p>
            <a:pPr algn="just"/>
            <a:r>
              <a:rPr lang="en-US" dirty="0"/>
              <a:t>The communication latency and the bandwidth within a server, a rack, and a cell are different, thus, the execution time and the costs for running an application is affected by the volume of data, the placement of data, and by the proximity of instances.</a:t>
            </a:r>
          </a:p>
        </p:txBody>
      </p:sp>
      <p:pic>
        <p:nvPicPr>
          <p:cNvPr id="8" name="Picture Placeholder 7">
            <a:extLst>
              <a:ext uri="{FF2B5EF4-FFF2-40B4-BE49-F238E27FC236}">
                <a16:creationId xmlns:a16="http://schemas.microsoft.com/office/drawing/2014/main" id="{46B0B7D3-5506-E60C-B6DB-B4A033707DEC}"/>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884" r="-3857" b="392"/>
          <a:stretch>
            <a:fillRect/>
          </a:stretch>
        </p:blipFill>
        <p:spPr>
          <a:xfrm>
            <a:off x="12720054" y="3534732"/>
            <a:ext cx="10858404" cy="7944652"/>
          </a:xfrm>
          <a:prstGeom prst="rect">
            <a:avLst/>
          </a:prstGeom>
          <a:noFill/>
        </p:spPr>
      </p:pic>
      <p:sp>
        <p:nvSpPr>
          <p:cNvPr id="17" name="Text Placeholder 5">
            <a:extLst>
              <a:ext uri="{FF2B5EF4-FFF2-40B4-BE49-F238E27FC236}">
                <a16:creationId xmlns:a16="http://schemas.microsoft.com/office/drawing/2014/main" id="{29C05086-4364-581A-D476-425ECD2BE832}"/>
              </a:ext>
            </a:extLst>
          </p:cNvPr>
          <p:cNvSpPr>
            <a:spLocks noGrp="1"/>
          </p:cNvSpPr>
          <p:nvPr>
            <p:ph type="body" sz="quarter" idx="17"/>
          </p:nvPr>
        </p:nvSpPr>
        <p:spPr>
          <a:xfrm>
            <a:off x="2166938" y="4210049"/>
            <a:ext cx="9768874" cy="2039112"/>
          </a:xfrm>
        </p:spPr>
        <p:txBody>
          <a:bodyPr>
            <a:normAutofit fontScale="92500"/>
          </a:bodyPr>
          <a:lstStyle/>
          <a:p>
            <a:pPr algn="just"/>
            <a:r>
              <a:rPr lang="en-US" dirty="0"/>
              <a:t>WSC is a hierarchy of networks which connect the system components, servers, racks, and cells/arrays together.</a:t>
            </a:r>
          </a:p>
        </p:txBody>
      </p:sp>
      <p:sp>
        <p:nvSpPr>
          <p:cNvPr id="2" name="TextBox 6">
            <a:extLst>
              <a:ext uri="{FF2B5EF4-FFF2-40B4-BE49-F238E27FC236}">
                <a16:creationId xmlns:a16="http://schemas.microsoft.com/office/drawing/2014/main" id="{354EDA90-09FF-78FD-F37E-764EA6E2C8D3}"/>
              </a:ext>
            </a:extLst>
          </p:cNvPr>
          <p:cNvSpPr txBox="1"/>
          <p:nvPr/>
        </p:nvSpPr>
        <p:spPr>
          <a:xfrm>
            <a:off x="16185963" y="11567837"/>
            <a:ext cx="7392495" cy="276999"/>
          </a:xfrm>
          <a:prstGeom prst="rect">
            <a:avLst/>
          </a:prstGeom>
          <a:noFill/>
        </p:spPr>
        <p:txBody>
          <a:bodyPr wrap="square" rtlCol="0">
            <a:spAutoFit/>
          </a:bodyPr>
          <a:lstStyle>
            <a:defPPr>
              <a:defRPr lang="en-US"/>
            </a:defPPr>
            <a:lvl1pPr algn="l" rtl="0" fontAlgn="base">
              <a:spcBef>
                <a:spcPct val="0"/>
              </a:spcBef>
              <a:spcAft>
                <a:spcPct val="0"/>
              </a:spcAft>
              <a:defRPr sz="1200" kern="1200">
                <a:solidFill>
                  <a:schemeClr val="tx1"/>
                </a:solidFill>
                <a:latin typeface="Arial" pitchFamily="34" charset="0"/>
                <a:ea typeface="+mn-ea"/>
                <a:cs typeface="+mn-cs"/>
              </a:defRPr>
            </a:lvl1pPr>
            <a:lvl2pPr marL="457200" algn="l" rtl="0" fontAlgn="base">
              <a:spcBef>
                <a:spcPct val="0"/>
              </a:spcBef>
              <a:spcAft>
                <a:spcPct val="0"/>
              </a:spcAft>
              <a:defRPr sz="1200" kern="1200">
                <a:solidFill>
                  <a:schemeClr val="tx1"/>
                </a:solidFill>
                <a:latin typeface="Arial" pitchFamily="34" charset="0"/>
                <a:ea typeface="+mn-ea"/>
                <a:cs typeface="+mn-cs"/>
              </a:defRPr>
            </a:lvl2pPr>
            <a:lvl3pPr marL="914400" algn="l" rtl="0" fontAlgn="base">
              <a:spcBef>
                <a:spcPct val="0"/>
              </a:spcBef>
              <a:spcAft>
                <a:spcPct val="0"/>
              </a:spcAft>
              <a:defRPr sz="1200" kern="1200">
                <a:solidFill>
                  <a:schemeClr val="tx1"/>
                </a:solidFill>
                <a:latin typeface="Arial" pitchFamily="34" charset="0"/>
                <a:ea typeface="+mn-ea"/>
                <a:cs typeface="+mn-cs"/>
              </a:defRPr>
            </a:lvl3pPr>
            <a:lvl4pPr marL="1371600" algn="l" rtl="0" fontAlgn="base">
              <a:spcBef>
                <a:spcPct val="0"/>
              </a:spcBef>
              <a:spcAft>
                <a:spcPct val="0"/>
              </a:spcAft>
              <a:defRPr sz="1200" kern="1200">
                <a:solidFill>
                  <a:schemeClr val="tx1"/>
                </a:solidFill>
                <a:latin typeface="Arial" pitchFamily="34" charset="0"/>
                <a:ea typeface="+mn-ea"/>
                <a:cs typeface="+mn-cs"/>
              </a:defRPr>
            </a:lvl4pPr>
            <a:lvl5pPr marL="1828800" algn="l" rtl="0" fontAlgn="base">
              <a:spcBef>
                <a:spcPct val="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Arial" pitchFamily="34" charset="0"/>
                <a:ea typeface="+mn-ea"/>
                <a:cs typeface="+mn-cs"/>
              </a:defRPr>
            </a:lvl6pPr>
            <a:lvl7pPr marL="2743200" algn="l" defTabSz="914400" rtl="0" eaLnBrk="1" latinLnBrk="0" hangingPunct="1">
              <a:defRPr sz="1200" kern="1200">
                <a:solidFill>
                  <a:schemeClr val="tx1"/>
                </a:solidFill>
                <a:latin typeface="Arial" pitchFamily="34" charset="0"/>
                <a:ea typeface="+mn-ea"/>
                <a:cs typeface="+mn-cs"/>
              </a:defRPr>
            </a:lvl7pPr>
            <a:lvl8pPr marL="3200400" algn="l" defTabSz="914400" rtl="0" eaLnBrk="1" latinLnBrk="0" hangingPunct="1">
              <a:defRPr sz="1200" kern="1200">
                <a:solidFill>
                  <a:schemeClr val="tx1"/>
                </a:solidFill>
                <a:latin typeface="Arial" pitchFamily="34" charset="0"/>
                <a:ea typeface="+mn-ea"/>
                <a:cs typeface="+mn-cs"/>
              </a:defRPr>
            </a:lvl8pPr>
            <a:lvl9pPr marL="3657600" algn="l" defTabSz="914400" rtl="0" eaLnBrk="1" latinLnBrk="0" hangingPunct="1">
              <a:defRPr sz="1200" kern="1200">
                <a:solidFill>
                  <a:schemeClr val="tx1"/>
                </a:solidFill>
                <a:latin typeface="Arial" pitchFamily="34" charset="0"/>
                <a:ea typeface="+mn-ea"/>
                <a:cs typeface="+mn-cs"/>
              </a:defRPr>
            </a:lvl9pPr>
          </a:lstStyle>
          <a:p>
            <a:r>
              <a:rPr lang="en-US" dirty="0"/>
              <a:t>Organization of a WSC with N cells, R racks, and S servers per rack</a:t>
            </a:r>
          </a:p>
        </p:txBody>
      </p:sp>
    </p:spTree>
    <p:extLst>
      <p:ext uri="{BB962C8B-B14F-4D97-AF65-F5344CB8AC3E}">
        <p14:creationId xmlns:p14="http://schemas.microsoft.com/office/powerpoint/2010/main" val="414131878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4544A-B629-1973-CB3D-93F3E3B1ABB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AF9A7C7-47DC-67AE-AC68-D320C2DCA23B}"/>
              </a:ext>
            </a:extLst>
          </p:cNvPr>
          <p:cNvSpPr>
            <a:spLocks noGrp="1"/>
          </p:cNvSpPr>
          <p:nvPr>
            <p:ph type="title"/>
          </p:nvPr>
        </p:nvSpPr>
        <p:spPr>
          <a:xfrm>
            <a:off x="2167377" y="1871164"/>
            <a:ext cx="14715569" cy="511175"/>
          </a:xfrm>
        </p:spPr>
        <p:txBody>
          <a:bodyPr>
            <a:normAutofit/>
          </a:bodyPr>
          <a:lstStyle/>
          <a:p>
            <a:r>
              <a:rPr lang="en-US" sz="3200" dirty="0"/>
              <a:t>Warehouse-scale Computer (WSC)</a:t>
            </a:r>
          </a:p>
        </p:txBody>
      </p:sp>
      <p:sp>
        <p:nvSpPr>
          <p:cNvPr id="13" name="Text Placeholder 2">
            <a:extLst>
              <a:ext uri="{FF2B5EF4-FFF2-40B4-BE49-F238E27FC236}">
                <a16:creationId xmlns:a16="http://schemas.microsoft.com/office/drawing/2014/main" id="{4F8CF53D-F5CE-2A55-8C9C-54354BC97D1E}"/>
              </a:ext>
            </a:extLst>
          </p:cNvPr>
          <p:cNvSpPr>
            <a:spLocks noGrp="1"/>
          </p:cNvSpPr>
          <p:nvPr>
            <p:ph type="body" sz="quarter" idx="10"/>
          </p:nvPr>
        </p:nvSpPr>
        <p:spPr>
          <a:xfrm>
            <a:off x="2167377" y="2419728"/>
            <a:ext cx="9768875" cy="803546"/>
          </a:xfrm>
        </p:spPr>
        <p:txBody>
          <a:bodyPr/>
          <a:lstStyle/>
          <a:p>
            <a:r>
              <a:rPr lang="en-US" dirty="0"/>
              <a:t>Example</a:t>
            </a:r>
          </a:p>
        </p:txBody>
      </p:sp>
      <p:sp>
        <p:nvSpPr>
          <p:cNvPr id="15" name="Text Placeholder 3">
            <a:extLst>
              <a:ext uri="{FF2B5EF4-FFF2-40B4-BE49-F238E27FC236}">
                <a16:creationId xmlns:a16="http://schemas.microsoft.com/office/drawing/2014/main" id="{B88D661D-CF30-F4CE-B3C6-C8E4CF8B8DE6}"/>
              </a:ext>
            </a:extLst>
          </p:cNvPr>
          <p:cNvSpPr>
            <a:spLocks noGrp="1"/>
          </p:cNvSpPr>
          <p:nvPr>
            <p:ph type="body" sz="quarter" idx="16"/>
          </p:nvPr>
        </p:nvSpPr>
        <p:spPr>
          <a:xfrm>
            <a:off x="2167377" y="6556917"/>
            <a:ext cx="9768906" cy="5575610"/>
          </a:xfrm>
        </p:spPr>
        <p:txBody>
          <a:bodyPr/>
          <a:lstStyle/>
          <a:p>
            <a:pPr algn="just"/>
            <a:r>
              <a:rPr lang="en-US" dirty="0"/>
              <a:t>DRAM latency increases by more than three orders of magnitude, while the bandwidth decreases by a similar factor from server, to rack, and to cell. </a:t>
            </a:r>
          </a:p>
          <a:p>
            <a:pPr algn="just"/>
            <a:r>
              <a:rPr lang="en-US" dirty="0"/>
              <a:t>The latency and the bandwidth of the disks follow the same trend, but the variation is less dramatic. </a:t>
            </a:r>
          </a:p>
        </p:txBody>
      </p:sp>
      <p:pic>
        <p:nvPicPr>
          <p:cNvPr id="3" name="Content Placeholder 6" descr="Table&#10;&#10;Description automatically generated">
            <a:extLst>
              <a:ext uri="{FF2B5EF4-FFF2-40B4-BE49-F238E27FC236}">
                <a16:creationId xmlns:a16="http://schemas.microsoft.com/office/drawing/2014/main" id="{5CA1C424-9176-5846-3AA0-F590600FFA58}"/>
              </a:ext>
            </a:extLst>
          </p:cNvPr>
          <p:cNvPicPr>
            <a:picLocks noGrp="1" noChangeAspect="1"/>
          </p:cNvPicPr>
          <p:nvPr/>
        </p:nvPicPr>
        <p:blipFill>
          <a:blip r:embed="rId3"/>
          <a:stretch>
            <a:fillRect/>
          </a:stretch>
        </p:blipFill>
        <p:spPr>
          <a:xfrm>
            <a:off x="12447718" y="5119515"/>
            <a:ext cx="11887081" cy="3476969"/>
          </a:xfrm>
          <a:prstGeom prst="rect">
            <a:avLst/>
          </a:prstGeom>
          <a:noFill/>
        </p:spPr>
      </p:pic>
      <p:sp>
        <p:nvSpPr>
          <p:cNvPr id="9" name="Text Placeholder 8">
            <a:extLst>
              <a:ext uri="{FF2B5EF4-FFF2-40B4-BE49-F238E27FC236}">
                <a16:creationId xmlns:a16="http://schemas.microsoft.com/office/drawing/2014/main" id="{A2D433CE-6A0C-47EC-BC36-BC7775236F74}"/>
              </a:ext>
            </a:extLst>
          </p:cNvPr>
          <p:cNvSpPr>
            <a:spLocks noGrp="1"/>
          </p:cNvSpPr>
          <p:nvPr>
            <p:ph type="body" sz="quarter" idx="17"/>
          </p:nvPr>
        </p:nvSpPr>
        <p:spPr>
          <a:xfrm>
            <a:off x="2166938" y="4211120"/>
            <a:ext cx="9768874" cy="2039112"/>
          </a:xfrm>
        </p:spPr>
        <p:txBody>
          <a:bodyPr>
            <a:normAutofit fontScale="92500" lnSpcReduction="20000"/>
          </a:bodyPr>
          <a:lstStyle/>
          <a:p>
            <a:r>
              <a:rPr lang="en-US" dirty="0"/>
              <a:t>For example, the latency, the bandwidth, and the capacity of the memory hierarchy of a WSC with 80 servers/rack and 30 racks/cell</a:t>
            </a:r>
          </a:p>
        </p:txBody>
      </p:sp>
    </p:spTree>
    <p:extLst>
      <p:ext uri="{BB962C8B-B14F-4D97-AF65-F5344CB8AC3E}">
        <p14:creationId xmlns:p14="http://schemas.microsoft.com/office/powerpoint/2010/main" val="175882299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77D3E-27B5-FEC8-B70A-348669D35007}"/>
              </a:ext>
            </a:extLst>
          </p:cNvPr>
          <p:cNvSpPr>
            <a:spLocks noGrp="1"/>
          </p:cNvSpPr>
          <p:nvPr>
            <p:ph type="title"/>
          </p:nvPr>
        </p:nvSpPr>
        <p:spPr/>
        <p:txBody>
          <a:bodyPr>
            <a:normAutofit fontScale="90000"/>
          </a:bodyPr>
          <a:lstStyle/>
          <a:p>
            <a:r>
              <a:rPr lang="en-US" dirty="0"/>
              <a:t>WSC Performance</a:t>
            </a:r>
          </a:p>
        </p:txBody>
      </p:sp>
      <p:sp>
        <p:nvSpPr>
          <p:cNvPr id="3" name="Text Placeholder 2">
            <a:extLst>
              <a:ext uri="{FF2B5EF4-FFF2-40B4-BE49-F238E27FC236}">
                <a16:creationId xmlns:a16="http://schemas.microsoft.com/office/drawing/2014/main" id="{91292EEC-A3B9-7F47-D16F-CF4AECCBDCD9}"/>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E05818F9-8848-792B-681A-0D94CB7E5DFD}"/>
              </a:ext>
            </a:extLst>
          </p:cNvPr>
          <p:cNvSpPr>
            <a:spLocks noGrp="1"/>
          </p:cNvSpPr>
          <p:nvPr>
            <p:ph sz="quarter" idx="11"/>
          </p:nvPr>
        </p:nvSpPr>
        <p:spPr/>
        <p:txBody>
          <a:bodyPr>
            <a:normAutofit lnSpcReduction="10000"/>
          </a:bodyPr>
          <a:lstStyle/>
          <a:p>
            <a:r>
              <a:rPr lang="en-US" sz="3200" dirty="0"/>
              <a:t>Even slight WSC performance improvements translate into large cost savings for the CSPs and noticeably better service for cloud users.</a:t>
            </a:r>
          </a:p>
          <a:p>
            <a:r>
              <a:rPr lang="en-US" sz="3200" dirty="0"/>
              <a:t>WSCs workload is very diverse; there are no typical, or “killer,” applications that would drive the design decisions and, at the same time, guarantee optimal performance for such workloads. To profile realistic workloads and analyze carefully the data collected during production runs, WSC need low-overhead monitoring tools that minimize intrusion on the workloads</a:t>
            </a:r>
          </a:p>
        </p:txBody>
      </p:sp>
    </p:spTree>
    <p:extLst>
      <p:ext uri="{BB962C8B-B14F-4D97-AF65-F5344CB8AC3E}">
        <p14:creationId xmlns:p14="http://schemas.microsoft.com/office/powerpoint/2010/main" val="223171280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ED185-4C0C-52F1-06DE-26F0A366A6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98FF04-8091-19FA-EDB7-83CB52F2935F}"/>
              </a:ext>
            </a:extLst>
          </p:cNvPr>
          <p:cNvSpPr>
            <a:spLocks noGrp="1"/>
          </p:cNvSpPr>
          <p:nvPr>
            <p:ph type="title"/>
          </p:nvPr>
        </p:nvSpPr>
        <p:spPr/>
        <p:txBody>
          <a:bodyPr>
            <a:normAutofit fontScale="90000"/>
          </a:bodyPr>
          <a:lstStyle/>
          <a:p>
            <a:r>
              <a:rPr lang="en-US" dirty="0"/>
              <a:t>Schematic illustration of a modern processors core microarchitecture</a:t>
            </a:r>
          </a:p>
        </p:txBody>
      </p:sp>
      <p:sp>
        <p:nvSpPr>
          <p:cNvPr id="3" name="Text Placeholder 2">
            <a:extLst>
              <a:ext uri="{FF2B5EF4-FFF2-40B4-BE49-F238E27FC236}">
                <a16:creationId xmlns:a16="http://schemas.microsoft.com/office/drawing/2014/main" id="{0350BAAA-4DD9-2F29-2072-93470EBEE67D}"/>
              </a:ext>
            </a:extLst>
          </p:cNvPr>
          <p:cNvSpPr>
            <a:spLocks noGrp="1"/>
          </p:cNvSpPr>
          <p:nvPr>
            <p:ph type="body" sz="quarter" idx="10"/>
          </p:nvPr>
        </p:nvSpPr>
        <p:spPr/>
        <p:txBody>
          <a:bodyPr/>
          <a:lstStyle/>
          <a:p>
            <a:endParaRPr lang="en-US" dirty="0"/>
          </a:p>
        </p:txBody>
      </p:sp>
      <p:pic>
        <p:nvPicPr>
          <p:cNvPr id="5" name="Content Placeholder 4">
            <a:extLst>
              <a:ext uri="{FF2B5EF4-FFF2-40B4-BE49-F238E27FC236}">
                <a16:creationId xmlns:a16="http://schemas.microsoft.com/office/drawing/2014/main" id="{FC418CEE-41C2-B1A9-AE5A-4C56FEB203C6}"/>
              </a:ext>
            </a:extLst>
          </p:cNvPr>
          <p:cNvPicPr>
            <a:picLocks noGrp="1" noChangeAspect="1"/>
          </p:cNvPicPr>
          <p:nvPr>
            <p:ph sz="quarter" idx="11"/>
          </p:nvPr>
        </p:nvPicPr>
        <p:blipFill>
          <a:blip r:embed="rId3"/>
          <a:stretch>
            <a:fillRect/>
          </a:stretch>
        </p:blipFill>
        <p:spPr>
          <a:xfrm>
            <a:off x="6821610" y="3562271"/>
            <a:ext cx="11923591" cy="9233204"/>
          </a:xfrm>
          <a:prstGeom prst="rect">
            <a:avLst/>
          </a:prstGeom>
        </p:spPr>
      </p:pic>
    </p:spTree>
    <p:extLst>
      <p:ext uri="{BB962C8B-B14F-4D97-AF65-F5344CB8AC3E}">
        <p14:creationId xmlns:p14="http://schemas.microsoft.com/office/powerpoint/2010/main" val="290250194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E871A-C1C5-9C79-D26A-69C12AB4FB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71279C-50C1-36DE-AFCD-CEC7B971227E}"/>
              </a:ext>
            </a:extLst>
          </p:cNvPr>
          <p:cNvSpPr>
            <a:spLocks noGrp="1"/>
          </p:cNvSpPr>
          <p:nvPr>
            <p:ph type="title"/>
          </p:nvPr>
        </p:nvSpPr>
        <p:spPr/>
        <p:txBody>
          <a:bodyPr>
            <a:normAutofit fontScale="90000"/>
          </a:bodyPr>
          <a:lstStyle/>
          <a:p>
            <a:r>
              <a:rPr lang="en-US" dirty="0"/>
              <a:t>Schematic illustration of a modern processors core microarchitecture</a:t>
            </a:r>
          </a:p>
        </p:txBody>
      </p:sp>
      <p:sp>
        <p:nvSpPr>
          <p:cNvPr id="3" name="Text Placeholder 2">
            <a:extLst>
              <a:ext uri="{FF2B5EF4-FFF2-40B4-BE49-F238E27FC236}">
                <a16:creationId xmlns:a16="http://schemas.microsoft.com/office/drawing/2014/main" id="{03C87752-801E-D074-2C3A-D7740489801C}"/>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30C52733-B2C0-6E24-9E91-C35885D6BDD8}"/>
              </a:ext>
            </a:extLst>
          </p:cNvPr>
          <p:cNvSpPr>
            <a:spLocks noGrp="1"/>
          </p:cNvSpPr>
          <p:nvPr>
            <p:ph sz="quarter" idx="11"/>
          </p:nvPr>
        </p:nvSpPr>
        <p:spPr/>
        <p:txBody>
          <a:bodyPr>
            <a:normAutofit fontScale="77500" lnSpcReduction="20000"/>
          </a:bodyPr>
          <a:lstStyle/>
          <a:p>
            <a:r>
              <a:rPr lang="en-US" sz="3200" dirty="0"/>
              <a:t>The microarchitecture-level analysis is based on a top-down methodology</a:t>
            </a:r>
          </a:p>
          <a:p>
            <a:r>
              <a:rPr lang="en-US" sz="3200" dirty="0"/>
              <a:t>This methodology identifies the micro-op (</a:t>
            </a:r>
            <a:r>
              <a:rPr lang="en-US" sz="3200" dirty="0" err="1"/>
              <a:t>μop</a:t>
            </a:r>
            <a:r>
              <a:rPr lang="en-US" sz="3200" dirty="0"/>
              <a:t>) queue as the separator between the front-end and the back-end components of a microprocessor core.</a:t>
            </a:r>
          </a:p>
          <a:p>
            <a:r>
              <a:rPr lang="en-US" sz="3200" dirty="0"/>
              <a:t>The </a:t>
            </a:r>
            <a:r>
              <a:rPr lang="en-US" sz="3200" dirty="0" err="1"/>
              <a:t>μop</a:t>
            </a:r>
            <a:r>
              <a:rPr lang="en-US" sz="3200" dirty="0"/>
              <a:t> pipeline slots are then classified as Retiring, Front-end bound, Bad speculation, or Back-end bound, with only the first one doing useful work. </a:t>
            </a:r>
          </a:p>
          <a:p>
            <a:r>
              <a:rPr lang="en-US" sz="3200" dirty="0"/>
              <a:t>Front-end bound includes overheads associated with fetching, instruction caches, decoding, and some other shorter-penalties and Back-end bound includes overheads due to the data-cache hierarchy and the lack of ILP; Bad speculation is self-explanatory.</a:t>
            </a:r>
          </a:p>
        </p:txBody>
      </p:sp>
    </p:spTree>
    <p:extLst>
      <p:ext uri="{BB962C8B-B14F-4D97-AF65-F5344CB8AC3E}">
        <p14:creationId xmlns:p14="http://schemas.microsoft.com/office/powerpoint/2010/main" val="43771269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6B4C3-B758-F37F-891D-C99B68B411B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EE852F-8F01-D0AF-CB6A-8AEBC0A0A1E3}"/>
              </a:ext>
            </a:extLst>
          </p:cNvPr>
          <p:cNvSpPr>
            <a:spLocks noGrp="1"/>
          </p:cNvSpPr>
          <p:nvPr>
            <p:ph type="title"/>
          </p:nvPr>
        </p:nvSpPr>
        <p:spPr/>
        <p:txBody>
          <a:bodyPr/>
          <a:lstStyle/>
          <a:p>
            <a:r>
              <a:rPr lang="en-US" dirty="0"/>
              <a:t>Cluster Management System</a:t>
            </a:r>
          </a:p>
        </p:txBody>
      </p:sp>
    </p:spTree>
    <p:extLst>
      <p:ext uri="{BB962C8B-B14F-4D97-AF65-F5344CB8AC3E}">
        <p14:creationId xmlns:p14="http://schemas.microsoft.com/office/powerpoint/2010/main" val="48882962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603D6-8C78-2917-4BA3-7ADCBDC7D222}"/>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CBAF4EF6-EB47-CE4F-387E-072E38EAD2D9}"/>
              </a:ext>
            </a:extLst>
          </p:cNvPr>
          <p:cNvSpPr>
            <a:spLocks noGrp="1"/>
          </p:cNvSpPr>
          <p:nvPr>
            <p:ph type="title"/>
          </p:nvPr>
        </p:nvSpPr>
        <p:spPr>
          <a:xfrm>
            <a:off x="2167377" y="1871164"/>
            <a:ext cx="14715569" cy="511175"/>
          </a:xfrm>
        </p:spPr>
        <p:txBody>
          <a:bodyPr>
            <a:normAutofit fontScale="90000"/>
          </a:bodyPr>
          <a:lstStyle/>
          <a:p>
            <a:r>
              <a:rPr lang="en-US" dirty="0"/>
              <a:t>Evolution of a cluster management system</a:t>
            </a:r>
          </a:p>
        </p:txBody>
      </p:sp>
      <p:sp>
        <p:nvSpPr>
          <p:cNvPr id="16" name="Text Placeholder 2">
            <a:extLst>
              <a:ext uri="{FF2B5EF4-FFF2-40B4-BE49-F238E27FC236}">
                <a16:creationId xmlns:a16="http://schemas.microsoft.com/office/drawing/2014/main" id="{22A3FAB5-6F9B-6D39-5B77-F40A4DFDC0AD}"/>
              </a:ext>
            </a:extLst>
          </p:cNvPr>
          <p:cNvSpPr>
            <a:spLocks noGrp="1"/>
          </p:cNvSpPr>
          <p:nvPr>
            <p:ph type="body" sz="quarter" idx="10"/>
          </p:nvPr>
        </p:nvSpPr>
        <p:spPr>
          <a:xfrm>
            <a:off x="2167377" y="2419728"/>
            <a:ext cx="9768875" cy="803546"/>
          </a:xfrm>
        </p:spPr>
        <p:txBody>
          <a:bodyPr/>
          <a:lstStyle/>
          <a:p>
            <a:r>
              <a:rPr lang="en-US" dirty="0"/>
              <a:t>Study case from google</a:t>
            </a:r>
          </a:p>
        </p:txBody>
      </p:sp>
      <p:sp>
        <p:nvSpPr>
          <p:cNvPr id="18" name="Text Placeholder 3">
            <a:extLst>
              <a:ext uri="{FF2B5EF4-FFF2-40B4-BE49-F238E27FC236}">
                <a16:creationId xmlns:a16="http://schemas.microsoft.com/office/drawing/2014/main" id="{6289E3AC-8645-ABA7-CE81-6F126EC554D9}"/>
              </a:ext>
            </a:extLst>
          </p:cNvPr>
          <p:cNvSpPr>
            <a:spLocks noGrp="1"/>
          </p:cNvSpPr>
          <p:nvPr>
            <p:ph type="body" sz="quarter" idx="16"/>
          </p:nvPr>
        </p:nvSpPr>
        <p:spPr>
          <a:xfrm>
            <a:off x="2167377" y="6556917"/>
            <a:ext cx="9768906" cy="5575610"/>
          </a:xfrm>
        </p:spPr>
        <p:txBody>
          <a:bodyPr/>
          <a:lstStyle/>
          <a:p>
            <a:r>
              <a:rPr lang="en-US" dirty="0"/>
              <a:t>The comparison analysis of hardware used by the two traces, 2019 versus 2011: </a:t>
            </a:r>
          </a:p>
          <a:p>
            <a:pPr lvl="1">
              <a:buFontTx/>
              <a:buChar char="-"/>
            </a:pPr>
            <a:r>
              <a:rPr lang="en-US" dirty="0"/>
              <a:t>eight versus one cell, </a:t>
            </a:r>
          </a:p>
          <a:p>
            <a:pPr lvl="1">
              <a:buFontTx/>
              <a:buChar char="-"/>
            </a:pPr>
            <a:r>
              <a:rPr lang="en-US" dirty="0"/>
              <a:t>96400 servers versus 12600, </a:t>
            </a:r>
          </a:p>
          <a:p>
            <a:pPr lvl="1">
              <a:buFontTx/>
              <a:buChar char="-"/>
            </a:pPr>
            <a:r>
              <a:rPr lang="en-US" dirty="0"/>
              <a:t>7 versus 3 hardware platforms, </a:t>
            </a:r>
          </a:p>
          <a:p>
            <a:pPr lvl="1">
              <a:buFontTx/>
              <a:buChar char="-"/>
            </a:pPr>
            <a:r>
              <a:rPr lang="en-US" dirty="0"/>
              <a:t>21 versus 10 server configurations, </a:t>
            </a:r>
          </a:p>
          <a:p>
            <a:pPr lvl="1">
              <a:buFontTx/>
              <a:buChar char="-"/>
            </a:pPr>
            <a:r>
              <a:rPr lang="en-US" dirty="0"/>
              <a:t>and about the same number of servers per cell, 12000 versus 12000. </a:t>
            </a:r>
          </a:p>
          <a:p>
            <a:pPr lvl="1"/>
            <a:r>
              <a:rPr lang="en-US" dirty="0"/>
              <a:t>https://research.google/pubs/large-scale-cluster-management-at-google-with-borg/</a:t>
            </a:r>
          </a:p>
        </p:txBody>
      </p:sp>
      <p:pic>
        <p:nvPicPr>
          <p:cNvPr id="5" name="Content Placeholder 5">
            <a:extLst>
              <a:ext uri="{FF2B5EF4-FFF2-40B4-BE49-F238E27FC236}">
                <a16:creationId xmlns:a16="http://schemas.microsoft.com/office/drawing/2014/main" id="{66C5D403-BBB5-602A-5C43-6790BBAD9ECC}"/>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4" t="-1" r="-4" b="-301"/>
          <a:stretch>
            <a:fillRect/>
          </a:stretch>
        </p:blipFill>
        <p:spPr>
          <a:xfrm>
            <a:off x="12876180" y="3542665"/>
            <a:ext cx="10982527" cy="9248972"/>
          </a:xfrm>
          <a:prstGeom prst="rect">
            <a:avLst/>
          </a:prstGeom>
          <a:noFill/>
        </p:spPr>
      </p:pic>
      <p:sp>
        <p:nvSpPr>
          <p:cNvPr id="20" name="Text Placeholder 5">
            <a:extLst>
              <a:ext uri="{FF2B5EF4-FFF2-40B4-BE49-F238E27FC236}">
                <a16:creationId xmlns:a16="http://schemas.microsoft.com/office/drawing/2014/main" id="{9A5DEF63-FA58-AB6A-6952-8BFA1CD652E2}"/>
              </a:ext>
            </a:extLst>
          </p:cNvPr>
          <p:cNvSpPr>
            <a:spLocks noGrp="1"/>
          </p:cNvSpPr>
          <p:nvPr>
            <p:ph type="body" sz="quarter" idx="17"/>
          </p:nvPr>
        </p:nvSpPr>
        <p:spPr>
          <a:xfrm>
            <a:off x="2166938" y="4210049"/>
            <a:ext cx="9768874" cy="2039112"/>
          </a:xfrm>
        </p:spPr>
        <p:txBody>
          <a:bodyPr>
            <a:normAutofit fontScale="70000" lnSpcReduction="20000"/>
          </a:bodyPr>
          <a:lstStyle/>
          <a:p>
            <a:r>
              <a:rPr lang="en-US" dirty="0"/>
              <a:t>In 2011, Google published a one-month trace from a cluster managed with Borg.</a:t>
            </a:r>
          </a:p>
          <a:p>
            <a:r>
              <a:rPr lang="en-US" dirty="0"/>
              <a:t>In 2019, Google published again detailed job scheduling information from eight Borg cells</a:t>
            </a:r>
          </a:p>
        </p:txBody>
      </p:sp>
    </p:spTree>
    <p:extLst>
      <p:ext uri="{BB962C8B-B14F-4D97-AF65-F5344CB8AC3E}">
        <p14:creationId xmlns:p14="http://schemas.microsoft.com/office/powerpoint/2010/main" val="2498477572"/>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254AF-8B2D-30B1-3B0B-40EF72CD6B07}"/>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372E4012-450F-FB44-3559-097E7AD7A5A7}"/>
              </a:ext>
            </a:extLst>
          </p:cNvPr>
          <p:cNvSpPr>
            <a:spLocks noGrp="1"/>
          </p:cNvSpPr>
          <p:nvPr>
            <p:ph type="title"/>
          </p:nvPr>
        </p:nvSpPr>
        <p:spPr>
          <a:xfrm>
            <a:off x="2167377" y="1871164"/>
            <a:ext cx="14715569" cy="511175"/>
          </a:xfrm>
        </p:spPr>
        <p:txBody>
          <a:bodyPr>
            <a:normAutofit fontScale="90000"/>
          </a:bodyPr>
          <a:lstStyle/>
          <a:p>
            <a:r>
              <a:rPr lang="en-US" dirty="0"/>
              <a:t>Evolution of a cluster management system</a:t>
            </a:r>
          </a:p>
        </p:txBody>
      </p:sp>
      <p:sp>
        <p:nvSpPr>
          <p:cNvPr id="16" name="Text Placeholder 2">
            <a:extLst>
              <a:ext uri="{FF2B5EF4-FFF2-40B4-BE49-F238E27FC236}">
                <a16:creationId xmlns:a16="http://schemas.microsoft.com/office/drawing/2014/main" id="{1B2F4148-56DC-833E-3AFF-1A8FA4800BF9}"/>
              </a:ext>
            </a:extLst>
          </p:cNvPr>
          <p:cNvSpPr>
            <a:spLocks noGrp="1"/>
          </p:cNvSpPr>
          <p:nvPr>
            <p:ph type="body" sz="quarter" idx="10"/>
          </p:nvPr>
        </p:nvSpPr>
        <p:spPr>
          <a:xfrm>
            <a:off x="2167377" y="2419728"/>
            <a:ext cx="9768875" cy="803546"/>
          </a:xfrm>
        </p:spPr>
        <p:txBody>
          <a:bodyPr/>
          <a:lstStyle/>
          <a:p>
            <a:r>
              <a:rPr lang="en-US" dirty="0"/>
              <a:t>Study case from google</a:t>
            </a:r>
          </a:p>
          <a:p>
            <a:endParaRPr lang="en-US" dirty="0"/>
          </a:p>
        </p:txBody>
      </p:sp>
      <p:sp>
        <p:nvSpPr>
          <p:cNvPr id="18" name="Text Placeholder 3">
            <a:extLst>
              <a:ext uri="{FF2B5EF4-FFF2-40B4-BE49-F238E27FC236}">
                <a16:creationId xmlns:a16="http://schemas.microsoft.com/office/drawing/2014/main" id="{4AE237D6-FB17-0278-65E3-8488DF269029}"/>
              </a:ext>
            </a:extLst>
          </p:cNvPr>
          <p:cNvSpPr>
            <a:spLocks noGrp="1"/>
          </p:cNvSpPr>
          <p:nvPr>
            <p:ph type="body" sz="quarter" idx="16"/>
          </p:nvPr>
        </p:nvSpPr>
        <p:spPr>
          <a:xfrm>
            <a:off x="2167377" y="6556917"/>
            <a:ext cx="9768906" cy="5575610"/>
          </a:xfrm>
        </p:spPr>
        <p:txBody>
          <a:bodyPr/>
          <a:lstStyle/>
          <a:p>
            <a:r>
              <a:rPr lang="en-US" dirty="0"/>
              <a:t>The heavy-tailed distribution of job sizes and the power law Pareto distribution with heavy tail of computing cycles and memory add to the scheduling challenges of 2019 Borg. </a:t>
            </a:r>
          </a:p>
          <a:p>
            <a:r>
              <a:rPr lang="en-US" dirty="0"/>
              <a:t>Significantly improved scheduling decisions led to an increase of both average CPU and memory utilization: 20–40% for CPU and 3–30% for memory. </a:t>
            </a:r>
          </a:p>
          <a:p>
            <a:r>
              <a:rPr lang="en-US" dirty="0"/>
              <a:t>The utilization variance is lower, and there were fewer servers with utilization larger than 80%. Median scheduling delays decreased, but the tail is longer for the last 28% of jobs.</a:t>
            </a:r>
          </a:p>
        </p:txBody>
      </p:sp>
      <p:pic>
        <p:nvPicPr>
          <p:cNvPr id="5" name="Content Placeholder 5">
            <a:extLst>
              <a:ext uri="{FF2B5EF4-FFF2-40B4-BE49-F238E27FC236}">
                <a16:creationId xmlns:a16="http://schemas.microsoft.com/office/drawing/2014/main" id="{AF105630-C700-3FB5-6260-44901A89673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4" t="-1" r="-4" b="-301"/>
          <a:stretch>
            <a:fillRect/>
          </a:stretch>
        </p:blipFill>
        <p:spPr>
          <a:xfrm>
            <a:off x="12876180" y="3542665"/>
            <a:ext cx="10982527" cy="9248972"/>
          </a:xfrm>
          <a:prstGeom prst="rect">
            <a:avLst/>
          </a:prstGeom>
          <a:noFill/>
        </p:spPr>
      </p:pic>
      <p:sp>
        <p:nvSpPr>
          <p:cNvPr id="20" name="Text Placeholder 5">
            <a:extLst>
              <a:ext uri="{FF2B5EF4-FFF2-40B4-BE49-F238E27FC236}">
                <a16:creationId xmlns:a16="http://schemas.microsoft.com/office/drawing/2014/main" id="{64B10EC7-EC7D-FF75-17D0-120A0C8845D7}"/>
              </a:ext>
            </a:extLst>
          </p:cNvPr>
          <p:cNvSpPr>
            <a:spLocks noGrp="1"/>
          </p:cNvSpPr>
          <p:nvPr>
            <p:ph type="body" sz="quarter" idx="17"/>
          </p:nvPr>
        </p:nvSpPr>
        <p:spPr>
          <a:xfrm>
            <a:off x="2166938" y="4210049"/>
            <a:ext cx="9768874" cy="2039112"/>
          </a:xfrm>
        </p:spPr>
        <p:txBody>
          <a:bodyPr>
            <a:normAutofit fontScale="77500" lnSpcReduction="20000"/>
          </a:bodyPr>
          <a:lstStyle/>
          <a:p>
            <a:r>
              <a:rPr lang="en-US" dirty="0"/>
              <a:t>The 2019 scheduler is more agile and has to work harder, the number of jobs to be scheduled is seven times higher, and most of the workload has moved into the high-priority best-effort batch tier. </a:t>
            </a:r>
          </a:p>
        </p:txBody>
      </p:sp>
    </p:spTree>
    <p:extLst>
      <p:ext uri="{BB962C8B-B14F-4D97-AF65-F5344CB8AC3E}">
        <p14:creationId xmlns:p14="http://schemas.microsoft.com/office/powerpoint/2010/main" val="3700917775"/>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613FA-3F41-1D8A-E48A-AC323AE99986}"/>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DC44C4BC-0EC4-48B7-E8E7-658F6F346DAB}"/>
              </a:ext>
            </a:extLst>
          </p:cNvPr>
          <p:cNvSpPr>
            <a:spLocks noGrp="1"/>
          </p:cNvSpPr>
          <p:nvPr>
            <p:ph type="title"/>
          </p:nvPr>
        </p:nvSpPr>
        <p:spPr>
          <a:xfrm>
            <a:off x="2167377" y="1871164"/>
            <a:ext cx="14715569" cy="511175"/>
          </a:xfrm>
        </p:spPr>
        <p:txBody>
          <a:bodyPr>
            <a:normAutofit/>
          </a:bodyPr>
          <a:lstStyle/>
          <a:p>
            <a:r>
              <a:rPr lang="en-US" sz="3200" dirty="0"/>
              <a:t>Evolution of a cluster management system</a:t>
            </a:r>
          </a:p>
        </p:txBody>
      </p:sp>
      <p:sp>
        <p:nvSpPr>
          <p:cNvPr id="16" name="Text Placeholder 2">
            <a:extLst>
              <a:ext uri="{FF2B5EF4-FFF2-40B4-BE49-F238E27FC236}">
                <a16:creationId xmlns:a16="http://schemas.microsoft.com/office/drawing/2014/main" id="{D9E5F1E1-D42B-C5F5-4E6E-5B185C32A308}"/>
              </a:ext>
            </a:extLst>
          </p:cNvPr>
          <p:cNvSpPr>
            <a:spLocks noGrp="1"/>
          </p:cNvSpPr>
          <p:nvPr>
            <p:ph type="body" sz="quarter" idx="10"/>
          </p:nvPr>
        </p:nvSpPr>
        <p:spPr>
          <a:xfrm>
            <a:off x="2167377" y="2419728"/>
            <a:ext cx="9768875" cy="803546"/>
          </a:xfrm>
        </p:spPr>
        <p:txBody>
          <a:bodyPr>
            <a:normAutofit/>
          </a:bodyPr>
          <a:lstStyle/>
          <a:p>
            <a:r>
              <a:rPr lang="en-US" dirty="0"/>
              <a:t>Shared State Cluster Management</a:t>
            </a:r>
          </a:p>
        </p:txBody>
      </p:sp>
      <p:sp>
        <p:nvSpPr>
          <p:cNvPr id="18" name="Text Placeholder 3">
            <a:extLst>
              <a:ext uri="{FF2B5EF4-FFF2-40B4-BE49-F238E27FC236}">
                <a16:creationId xmlns:a16="http://schemas.microsoft.com/office/drawing/2014/main" id="{E296E941-93CD-444B-DA3B-DFEA17B837E3}"/>
              </a:ext>
            </a:extLst>
          </p:cNvPr>
          <p:cNvSpPr>
            <a:spLocks noGrp="1"/>
          </p:cNvSpPr>
          <p:nvPr>
            <p:ph type="body" sz="quarter" idx="16"/>
          </p:nvPr>
        </p:nvSpPr>
        <p:spPr>
          <a:xfrm>
            <a:off x="2167377" y="6556917"/>
            <a:ext cx="9768906" cy="5575610"/>
          </a:xfrm>
        </p:spPr>
        <p:txBody>
          <a:bodyPr>
            <a:normAutofit/>
          </a:bodyPr>
          <a:lstStyle/>
          <a:p>
            <a:r>
              <a:rPr lang="en-US" dirty="0"/>
              <a:t>The finer the task granularity, the more scheduler decisions have to be made; thus the likelihood of spatial and temporal resource fragmentation and lower resource utilization is higher. </a:t>
            </a:r>
          </a:p>
          <a:p>
            <a:r>
              <a:rPr lang="en-US" dirty="0"/>
              <a:t>The solution adopted in Omega's design is to allow multiple independent schedulers to access a shared cluster state protected with a lock-free optimistic concurrency control algorithm. </a:t>
            </a:r>
          </a:p>
        </p:txBody>
      </p:sp>
      <p:pic>
        <p:nvPicPr>
          <p:cNvPr id="22" name="Picture 21" descr="Top view of cubes connected with black lines">
            <a:extLst>
              <a:ext uri="{FF2B5EF4-FFF2-40B4-BE49-F238E27FC236}">
                <a16:creationId xmlns:a16="http://schemas.microsoft.com/office/drawing/2014/main" id="{1479BE69-1579-321A-7E70-EF66693C4C55}"/>
              </a:ext>
            </a:extLst>
          </p:cNvPr>
          <p:cNvPicPr>
            <a:picLocks noChangeAspect="1"/>
          </p:cNvPicPr>
          <p:nvPr/>
        </p:nvPicPr>
        <p:blipFill>
          <a:blip r:embed="rId2"/>
          <a:srcRect l="11889" r="1965" b="-1"/>
          <a:stretch>
            <a:fillRect/>
          </a:stretch>
        </p:blipFill>
        <p:spPr>
          <a:xfrm>
            <a:off x="12339930" y="4210629"/>
            <a:ext cx="9099057" cy="7921898"/>
          </a:xfrm>
          <a:prstGeom prst="rect">
            <a:avLst/>
          </a:prstGeom>
          <a:noFill/>
        </p:spPr>
      </p:pic>
      <p:sp>
        <p:nvSpPr>
          <p:cNvPr id="20" name="Text Placeholder 5">
            <a:extLst>
              <a:ext uri="{FF2B5EF4-FFF2-40B4-BE49-F238E27FC236}">
                <a16:creationId xmlns:a16="http://schemas.microsoft.com/office/drawing/2014/main" id="{1CAFDA1E-E1A8-DA6E-A5A7-92FA08C83C1B}"/>
              </a:ext>
            </a:extLst>
          </p:cNvPr>
          <p:cNvSpPr>
            <a:spLocks noGrp="1"/>
          </p:cNvSpPr>
          <p:nvPr>
            <p:ph type="body" sz="quarter" idx="17"/>
          </p:nvPr>
        </p:nvSpPr>
        <p:spPr>
          <a:xfrm>
            <a:off x="2166938" y="4210049"/>
            <a:ext cx="9768874" cy="2039112"/>
          </a:xfrm>
        </p:spPr>
        <p:txBody>
          <a:bodyPr>
            <a:normAutofit/>
          </a:bodyPr>
          <a:lstStyle/>
          <a:p>
            <a:r>
              <a:rPr lang="en-US" sz="4100"/>
              <a:t>The scheduler workload increases with cluster size and with the granularity of the tasks to be scheduled. </a:t>
            </a:r>
          </a:p>
        </p:txBody>
      </p:sp>
    </p:spTree>
    <p:extLst>
      <p:ext uri="{BB962C8B-B14F-4D97-AF65-F5344CB8AC3E}">
        <p14:creationId xmlns:p14="http://schemas.microsoft.com/office/powerpoint/2010/main" val="1225942633"/>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4A266-0D9B-2DE2-4819-073682D810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B9C13F-1ADB-3923-9502-ECB14C6719A9}"/>
              </a:ext>
            </a:extLst>
          </p:cNvPr>
          <p:cNvSpPr>
            <a:spLocks noGrp="1"/>
          </p:cNvSpPr>
          <p:nvPr>
            <p:ph type="title"/>
          </p:nvPr>
        </p:nvSpPr>
        <p:spPr>
          <a:xfrm>
            <a:off x="2167377" y="1872058"/>
            <a:ext cx="14715569" cy="510281"/>
          </a:xfrm>
        </p:spPr>
        <p:txBody>
          <a:bodyPr>
            <a:normAutofit/>
          </a:bodyPr>
          <a:lstStyle/>
          <a:p>
            <a:r>
              <a:rPr lang="en-US" sz="2800" dirty="0"/>
              <a:t>Evolution of a cluster management system</a:t>
            </a:r>
            <a:endParaRPr lang="en-US" sz="2700" dirty="0"/>
          </a:p>
        </p:txBody>
      </p:sp>
      <p:sp>
        <p:nvSpPr>
          <p:cNvPr id="12" name="Text Placeholder 2">
            <a:extLst>
              <a:ext uri="{FF2B5EF4-FFF2-40B4-BE49-F238E27FC236}">
                <a16:creationId xmlns:a16="http://schemas.microsoft.com/office/drawing/2014/main" id="{ECA1415B-1586-67D9-4CA7-EB30ABA91469}"/>
              </a:ext>
            </a:extLst>
          </p:cNvPr>
          <p:cNvSpPr>
            <a:spLocks noGrp="1"/>
          </p:cNvSpPr>
          <p:nvPr>
            <p:ph type="body" sz="quarter" idx="10"/>
          </p:nvPr>
        </p:nvSpPr>
        <p:spPr>
          <a:xfrm>
            <a:off x="2167377" y="2419728"/>
            <a:ext cx="9768875" cy="803546"/>
          </a:xfrm>
        </p:spPr>
        <p:txBody>
          <a:bodyPr/>
          <a:lstStyle/>
          <a:p>
            <a:r>
              <a:rPr lang="en-US" dirty="0"/>
              <a:t>Schedulers comparison</a:t>
            </a:r>
          </a:p>
        </p:txBody>
      </p:sp>
      <p:pic>
        <p:nvPicPr>
          <p:cNvPr id="7" name="Content Placeholder 5" descr="Table&#10;&#10;Description automatically generated">
            <a:extLst>
              <a:ext uri="{FF2B5EF4-FFF2-40B4-BE49-F238E27FC236}">
                <a16:creationId xmlns:a16="http://schemas.microsoft.com/office/drawing/2014/main" id="{A809A186-C405-3148-BE4C-D79A4F1AFDD2}"/>
              </a:ext>
            </a:extLst>
          </p:cNvPr>
          <p:cNvPicPr>
            <a:picLocks noChangeAspect="1"/>
          </p:cNvPicPr>
          <p:nvPr/>
        </p:nvPicPr>
        <p:blipFill>
          <a:blip r:embed="rId3"/>
          <a:stretch>
            <a:fillRect/>
          </a:stretch>
        </p:blipFill>
        <p:spPr>
          <a:xfrm>
            <a:off x="3565413" y="3648686"/>
            <a:ext cx="17253173" cy="8195256"/>
          </a:xfrm>
          <a:prstGeom prst="rect">
            <a:avLst/>
          </a:prstGeom>
          <a:noFill/>
        </p:spPr>
      </p:pic>
    </p:spTree>
    <p:extLst>
      <p:ext uri="{BB962C8B-B14F-4D97-AF65-F5344CB8AC3E}">
        <p14:creationId xmlns:p14="http://schemas.microsoft.com/office/powerpoint/2010/main" val="1666939528"/>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CE067-F355-A481-E645-E22373B93735}"/>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4CA26B3B-EE5A-EFBD-D796-1E401F9ED537}"/>
              </a:ext>
            </a:extLst>
          </p:cNvPr>
          <p:cNvSpPr>
            <a:spLocks noGrp="1"/>
          </p:cNvSpPr>
          <p:nvPr>
            <p:ph type="title"/>
          </p:nvPr>
        </p:nvSpPr>
        <p:spPr/>
        <p:txBody>
          <a:bodyPr>
            <a:normAutofit/>
          </a:bodyPr>
          <a:lstStyle/>
          <a:p>
            <a:r>
              <a:rPr lang="en-US" sz="3200" dirty="0"/>
              <a:t>QoS-aware Cluster Management</a:t>
            </a:r>
          </a:p>
        </p:txBody>
      </p:sp>
      <p:sp>
        <p:nvSpPr>
          <p:cNvPr id="16" name="Text Placeholder 2">
            <a:extLst>
              <a:ext uri="{FF2B5EF4-FFF2-40B4-BE49-F238E27FC236}">
                <a16:creationId xmlns:a16="http://schemas.microsoft.com/office/drawing/2014/main" id="{0E72252F-DFB9-BE2A-8AE4-4202AA4BD5D8}"/>
              </a:ext>
            </a:extLst>
          </p:cNvPr>
          <p:cNvSpPr>
            <a:spLocks noGrp="1"/>
          </p:cNvSpPr>
          <p:nvPr>
            <p:ph type="body" sz="quarter" idx="10"/>
          </p:nvPr>
        </p:nvSpPr>
        <p:spPr/>
        <p:txBody>
          <a:bodyPr>
            <a:normAutofit/>
          </a:bodyPr>
          <a:lstStyle/>
          <a:p>
            <a:r>
              <a:rPr lang="en-US" dirty="0"/>
              <a:t>You know what else is important?</a:t>
            </a:r>
          </a:p>
        </p:txBody>
      </p:sp>
      <p:sp>
        <p:nvSpPr>
          <p:cNvPr id="18" name="Text Placeholder 3">
            <a:extLst>
              <a:ext uri="{FF2B5EF4-FFF2-40B4-BE49-F238E27FC236}">
                <a16:creationId xmlns:a16="http://schemas.microsoft.com/office/drawing/2014/main" id="{45B0670A-E53A-2EDD-3960-5A997A62241B}"/>
              </a:ext>
            </a:extLst>
          </p:cNvPr>
          <p:cNvSpPr>
            <a:spLocks noGrp="1"/>
          </p:cNvSpPr>
          <p:nvPr>
            <p:ph type="body" sz="quarter" idx="16"/>
          </p:nvPr>
        </p:nvSpPr>
        <p:spPr/>
        <p:txBody>
          <a:bodyPr>
            <a:normAutofit/>
          </a:bodyPr>
          <a:lstStyle/>
          <a:p>
            <a:r>
              <a:rPr lang="en-US" dirty="0"/>
              <a:t>Two aspects of cluster management, resource allocation and resource assignment, play a key role for supporting QoS guarantees. </a:t>
            </a:r>
          </a:p>
          <a:p>
            <a:r>
              <a:rPr lang="en-US" dirty="0"/>
              <a:t>Resource allocation is the process of determining the amount of resources needed by a workload, while resource assignment means identifying the location of resources that satisfy an allocation. </a:t>
            </a:r>
          </a:p>
        </p:txBody>
      </p:sp>
      <p:sp>
        <p:nvSpPr>
          <p:cNvPr id="2" name="Picture Placeholder 1">
            <a:extLst>
              <a:ext uri="{FF2B5EF4-FFF2-40B4-BE49-F238E27FC236}">
                <a16:creationId xmlns:a16="http://schemas.microsoft.com/office/drawing/2014/main" id="{A2816126-19D4-5385-ED39-7B980B9DE4F0}"/>
              </a:ext>
            </a:extLst>
          </p:cNvPr>
          <p:cNvSpPr>
            <a:spLocks noGrp="1"/>
          </p:cNvSpPr>
          <p:nvPr>
            <p:ph type="pic" sz="quarter" idx="13"/>
          </p:nvPr>
        </p:nvSpPr>
        <p:spPr/>
        <p:txBody>
          <a:bodyPr/>
          <a:lstStyle/>
          <a:p>
            <a:endParaRPr lang="en-US"/>
          </a:p>
        </p:txBody>
      </p:sp>
      <p:sp>
        <p:nvSpPr>
          <p:cNvPr id="20" name="Text Placeholder 5">
            <a:extLst>
              <a:ext uri="{FF2B5EF4-FFF2-40B4-BE49-F238E27FC236}">
                <a16:creationId xmlns:a16="http://schemas.microsoft.com/office/drawing/2014/main" id="{5C45D36D-F428-5DA8-EFB4-234ED6DAC1FC}"/>
              </a:ext>
            </a:extLst>
          </p:cNvPr>
          <p:cNvSpPr>
            <a:spLocks noGrp="1"/>
          </p:cNvSpPr>
          <p:nvPr>
            <p:ph type="body" sz="quarter" idx="17"/>
          </p:nvPr>
        </p:nvSpPr>
        <p:spPr/>
        <p:txBody>
          <a:bodyPr>
            <a:normAutofit/>
          </a:bodyPr>
          <a:lstStyle/>
          <a:p>
            <a:r>
              <a:rPr lang="en-US" sz="2400" dirty="0"/>
              <a:t>Quality of Service (QoS) guarantees are important for the designers of cloud applications and for the users of computer clouds who wish to enforce a well-defined range of response time, execution time, or other significant performance metrics for their cloud workloads.</a:t>
            </a:r>
          </a:p>
          <a:p>
            <a:endParaRPr lang="en-US" sz="2400" dirty="0"/>
          </a:p>
        </p:txBody>
      </p:sp>
      <p:pic>
        <p:nvPicPr>
          <p:cNvPr id="1026" name="Picture 2" descr="Streamline change processes and improve governance with AWS  Well-Architected | AWS Cloud Operations Blog">
            <a:extLst>
              <a:ext uri="{FF2B5EF4-FFF2-40B4-BE49-F238E27FC236}">
                <a16:creationId xmlns:a16="http://schemas.microsoft.com/office/drawing/2014/main" id="{2133F057-1D8E-7B01-4F31-27A104F2470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936283" y="4084616"/>
            <a:ext cx="11676604" cy="6626471"/>
          </a:xfrm>
          <a:prstGeom prst="rect">
            <a:avLst/>
          </a:prstGeom>
          <a:solidFill>
            <a:srgbClr val="FFFFFF"/>
          </a:solidFill>
        </p:spPr>
      </p:pic>
    </p:spTree>
    <p:extLst>
      <p:ext uri="{BB962C8B-B14F-4D97-AF65-F5344CB8AC3E}">
        <p14:creationId xmlns:p14="http://schemas.microsoft.com/office/powerpoint/2010/main" val="388255872"/>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5EE8F-0A29-48FF-F5FB-A1149F2DE860}"/>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0D0DF878-5D6A-C1C9-10F8-CAB88AFCD5B8}"/>
              </a:ext>
            </a:extLst>
          </p:cNvPr>
          <p:cNvSpPr>
            <a:spLocks noGrp="1"/>
          </p:cNvSpPr>
          <p:nvPr>
            <p:ph type="title"/>
          </p:nvPr>
        </p:nvSpPr>
        <p:spPr>
          <a:xfrm>
            <a:off x="2167377" y="1871164"/>
            <a:ext cx="14715569" cy="511175"/>
          </a:xfrm>
        </p:spPr>
        <p:txBody>
          <a:bodyPr>
            <a:normAutofit/>
          </a:bodyPr>
          <a:lstStyle/>
          <a:p>
            <a:r>
              <a:rPr lang="en-US" sz="3200" dirty="0"/>
              <a:t>Quasar</a:t>
            </a:r>
          </a:p>
        </p:txBody>
      </p:sp>
      <p:sp>
        <p:nvSpPr>
          <p:cNvPr id="16" name="Text Placeholder 2">
            <a:extLst>
              <a:ext uri="{FF2B5EF4-FFF2-40B4-BE49-F238E27FC236}">
                <a16:creationId xmlns:a16="http://schemas.microsoft.com/office/drawing/2014/main" id="{01C712BD-A45E-BBF4-6711-6159CC926625}"/>
              </a:ext>
            </a:extLst>
          </p:cNvPr>
          <p:cNvSpPr>
            <a:spLocks noGrp="1"/>
          </p:cNvSpPr>
          <p:nvPr>
            <p:ph type="body" sz="quarter" idx="10"/>
          </p:nvPr>
        </p:nvSpPr>
        <p:spPr>
          <a:xfrm>
            <a:off x="2167377" y="2419728"/>
            <a:ext cx="9768875" cy="803546"/>
          </a:xfrm>
        </p:spPr>
        <p:txBody>
          <a:bodyPr>
            <a:normAutofit/>
          </a:bodyPr>
          <a:lstStyle/>
          <a:p>
            <a:r>
              <a:rPr lang="en-US" dirty="0"/>
              <a:t>You know what else is important?</a:t>
            </a:r>
          </a:p>
        </p:txBody>
      </p:sp>
      <p:sp>
        <p:nvSpPr>
          <p:cNvPr id="18" name="Text Placeholder 3">
            <a:extLst>
              <a:ext uri="{FF2B5EF4-FFF2-40B4-BE49-F238E27FC236}">
                <a16:creationId xmlns:a16="http://schemas.microsoft.com/office/drawing/2014/main" id="{7EB853A5-81BE-CA8D-B1CE-E2E47CCEFBA3}"/>
              </a:ext>
            </a:extLst>
          </p:cNvPr>
          <p:cNvSpPr>
            <a:spLocks noGrp="1"/>
          </p:cNvSpPr>
          <p:nvPr>
            <p:ph type="body" sz="quarter" idx="16"/>
          </p:nvPr>
        </p:nvSpPr>
        <p:spPr>
          <a:xfrm>
            <a:off x="2167377" y="6556917"/>
            <a:ext cx="9768906" cy="5575610"/>
          </a:xfrm>
        </p:spPr>
        <p:txBody>
          <a:bodyPr>
            <a:normAutofit/>
          </a:bodyPr>
          <a:lstStyle/>
          <a:p>
            <a:r>
              <a:rPr lang="en-US" dirty="0"/>
              <a:t>Quasar provides QoS guarantees and, at the same time, increases resource utilization. The process starts with an initial profiling of an application with short runs. The information from the initial profiling is expanded with information regarding four factors that can affect performance, scale up, scale out, heterogeneity, and interference. Then, the greedy scheduler uses the classification output to allocate resources that enable SLO compliance and maximize resource utilization.</a:t>
            </a:r>
          </a:p>
          <a:p>
            <a:endParaRPr lang="en-US" dirty="0"/>
          </a:p>
          <a:p>
            <a:r>
              <a:rPr lang="en-US" dirty="0"/>
              <a:t>https://mast.stanford.edu/pubs/quasar_resource_efficient_and_qos_aware_cluster_management/</a:t>
            </a:r>
          </a:p>
        </p:txBody>
      </p:sp>
      <p:pic>
        <p:nvPicPr>
          <p:cNvPr id="2050" name="Picture 2" descr="AWS Marketplace: Quasar Automated QC - Contract with pay-as-you-go">
            <a:extLst>
              <a:ext uri="{FF2B5EF4-FFF2-40B4-BE49-F238E27FC236}">
                <a16:creationId xmlns:a16="http://schemas.microsoft.com/office/drawing/2014/main" id="{1744E4F9-BF71-53ED-8897-AD8DFEAF95B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2339930" y="4759432"/>
            <a:ext cx="9099057" cy="6824292"/>
          </a:xfrm>
          <a:prstGeom prst="rect">
            <a:avLst/>
          </a:prstGeom>
          <a:solidFill>
            <a:srgbClr val="FFFFFF"/>
          </a:solidFill>
        </p:spPr>
      </p:pic>
      <p:sp>
        <p:nvSpPr>
          <p:cNvPr id="20" name="Text Placeholder 5">
            <a:extLst>
              <a:ext uri="{FF2B5EF4-FFF2-40B4-BE49-F238E27FC236}">
                <a16:creationId xmlns:a16="http://schemas.microsoft.com/office/drawing/2014/main" id="{CD859EDE-2119-E50E-02BD-2CC105A01F4F}"/>
              </a:ext>
            </a:extLst>
          </p:cNvPr>
          <p:cNvSpPr>
            <a:spLocks noGrp="1"/>
          </p:cNvSpPr>
          <p:nvPr>
            <p:ph type="body" sz="quarter" idx="17"/>
          </p:nvPr>
        </p:nvSpPr>
        <p:spPr>
          <a:xfrm>
            <a:off x="2166938" y="4210049"/>
            <a:ext cx="9768874" cy="2039112"/>
          </a:xfrm>
        </p:spPr>
        <p:txBody>
          <a:bodyPr>
            <a:normAutofit/>
          </a:bodyPr>
          <a:lstStyle/>
          <a:p>
            <a:r>
              <a:rPr lang="en-US" sz="3400"/>
              <a:t>A performance-centric approach for cluster management is implemented by two systems developed at Stanford University, Quasar and its predecessor Paragon</a:t>
            </a:r>
          </a:p>
        </p:txBody>
      </p:sp>
    </p:spTree>
    <p:extLst>
      <p:ext uri="{BB962C8B-B14F-4D97-AF65-F5344CB8AC3E}">
        <p14:creationId xmlns:p14="http://schemas.microsoft.com/office/powerpoint/2010/main" val="3564985730"/>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8B7BB-26BA-CA24-B035-709FF09059B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61F93C0-9E23-576A-A7B3-427CD034842A}"/>
              </a:ext>
            </a:extLst>
          </p:cNvPr>
          <p:cNvSpPr>
            <a:spLocks noGrp="1"/>
          </p:cNvSpPr>
          <p:nvPr>
            <p:ph type="title"/>
          </p:nvPr>
        </p:nvSpPr>
        <p:spPr/>
        <p:txBody>
          <a:bodyPr/>
          <a:lstStyle/>
          <a:p>
            <a:r>
              <a:rPr lang="en-US" dirty="0"/>
              <a:t>Docker Containers</a:t>
            </a:r>
          </a:p>
        </p:txBody>
      </p:sp>
    </p:spTree>
    <p:extLst>
      <p:ext uri="{BB962C8B-B14F-4D97-AF65-F5344CB8AC3E}">
        <p14:creationId xmlns:p14="http://schemas.microsoft.com/office/powerpoint/2010/main" val="1211442167"/>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3CC6636-B3ED-A8F5-8CCD-92A7CD86DF91}"/>
              </a:ext>
            </a:extLst>
          </p:cNvPr>
          <p:cNvSpPr>
            <a:spLocks noGrp="1"/>
          </p:cNvSpPr>
          <p:nvPr>
            <p:ph type="title"/>
          </p:nvPr>
        </p:nvSpPr>
        <p:spPr>
          <a:xfrm>
            <a:off x="2167377" y="1871164"/>
            <a:ext cx="14715569" cy="511175"/>
          </a:xfrm>
        </p:spPr>
        <p:txBody>
          <a:bodyPr>
            <a:normAutofit/>
          </a:bodyPr>
          <a:lstStyle/>
          <a:p>
            <a:r>
              <a:rPr lang="en-US" sz="3200" dirty="0"/>
              <a:t>Docker container</a:t>
            </a:r>
          </a:p>
        </p:txBody>
      </p:sp>
      <p:sp>
        <p:nvSpPr>
          <p:cNvPr id="26" name="Text Placeholder 2">
            <a:extLst>
              <a:ext uri="{FF2B5EF4-FFF2-40B4-BE49-F238E27FC236}">
                <a16:creationId xmlns:a16="http://schemas.microsoft.com/office/drawing/2014/main" id="{132C6CB2-DD89-1051-3B55-D41269FC8E3E}"/>
              </a:ext>
            </a:extLst>
          </p:cNvPr>
          <p:cNvSpPr>
            <a:spLocks noGrp="1"/>
          </p:cNvSpPr>
          <p:nvPr>
            <p:ph type="body" sz="quarter" idx="10"/>
          </p:nvPr>
        </p:nvSpPr>
        <p:spPr>
          <a:xfrm>
            <a:off x="2167377" y="2419728"/>
            <a:ext cx="9768875" cy="803546"/>
          </a:xfrm>
        </p:spPr>
        <p:txBody>
          <a:bodyPr/>
          <a:lstStyle/>
          <a:p>
            <a:endParaRPr lang="en-US"/>
          </a:p>
        </p:txBody>
      </p:sp>
      <p:sp>
        <p:nvSpPr>
          <p:cNvPr id="12" name="Text Placeholder 11">
            <a:extLst>
              <a:ext uri="{FF2B5EF4-FFF2-40B4-BE49-F238E27FC236}">
                <a16:creationId xmlns:a16="http://schemas.microsoft.com/office/drawing/2014/main" id="{21E24542-8940-3717-4CB7-29C332A9F69C}"/>
              </a:ext>
            </a:extLst>
          </p:cNvPr>
          <p:cNvSpPr>
            <a:spLocks noGrp="1"/>
          </p:cNvSpPr>
          <p:nvPr>
            <p:ph type="body" sz="quarter" idx="16"/>
          </p:nvPr>
        </p:nvSpPr>
        <p:spPr>
          <a:xfrm>
            <a:off x="2167377" y="6556917"/>
            <a:ext cx="9768906" cy="5575610"/>
          </a:xfrm>
        </p:spPr>
        <p:txBody>
          <a:bodyPr>
            <a:normAutofit/>
          </a:bodyPr>
          <a:lstStyle/>
          <a:p>
            <a:r>
              <a:rPr lang="en-US" dirty="0"/>
              <a:t>Docker containers wrap a piece of software in a complete filesystem that contains everything needed to run: code, runtime, system tools, system libraries—anything that can be installed on a server. This guarantees that the software will always run the same, regardless of its environment.</a:t>
            </a:r>
            <a:endParaRPr lang="en-US"/>
          </a:p>
        </p:txBody>
      </p:sp>
      <p:pic>
        <p:nvPicPr>
          <p:cNvPr id="14" name="Picture Placeholder 13">
            <a:extLst>
              <a:ext uri="{FF2B5EF4-FFF2-40B4-BE49-F238E27FC236}">
                <a16:creationId xmlns:a16="http://schemas.microsoft.com/office/drawing/2014/main" id="{037400A5-507B-A670-733A-D0D9663EF072}"/>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3770" r="7215" b="2"/>
          <a:stretch>
            <a:fillRect/>
          </a:stretch>
        </p:blipFill>
        <p:spPr>
          <a:xfrm>
            <a:off x="12339930" y="4210629"/>
            <a:ext cx="9099057" cy="7921898"/>
          </a:xfrm>
          <a:prstGeom prst="rect">
            <a:avLst/>
          </a:prstGeom>
          <a:noFill/>
        </p:spPr>
      </p:pic>
      <p:sp>
        <p:nvSpPr>
          <p:cNvPr id="13" name="Text Placeholder 12">
            <a:extLst>
              <a:ext uri="{FF2B5EF4-FFF2-40B4-BE49-F238E27FC236}">
                <a16:creationId xmlns:a16="http://schemas.microsoft.com/office/drawing/2014/main" id="{FFB73AA5-EFC8-51CB-7551-A6A8A0417CAA}"/>
              </a:ext>
            </a:extLst>
          </p:cNvPr>
          <p:cNvSpPr>
            <a:spLocks noGrp="1"/>
          </p:cNvSpPr>
          <p:nvPr>
            <p:ph type="body" sz="quarter" idx="17"/>
          </p:nvPr>
        </p:nvSpPr>
        <p:spPr>
          <a:xfrm>
            <a:off x="2166938" y="4210049"/>
            <a:ext cx="9768874" cy="2039112"/>
          </a:xfrm>
        </p:spPr>
        <p:txBody>
          <a:bodyPr>
            <a:normAutofit/>
          </a:bodyPr>
          <a:lstStyle/>
          <a:p>
            <a:r>
              <a:rPr lang="en-US" sz="3400"/>
              <a:t>Docker created containers along with a set of tools with standard APIs; it also made the same container portable across all environments. </a:t>
            </a:r>
          </a:p>
        </p:txBody>
      </p:sp>
      <p:sp>
        <p:nvSpPr>
          <p:cNvPr id="2" name="TextBox 1">
            <a:extLst>
              <a:ext uri="{FF2B5EF4-FFF2-40B4-BE49-F238E27FC236}">
                <a16:creationId xmlns:a16="http://schemas.microsoft.com/office/drawing/2014/main" id="{7A82DF01-99BA-EFC9-29E8-260262D4143D}"/>
              </a:ext>
            </a:extLst>
          </p:cNvPr>
          <p:cNvSpPr txBox="1"/>
          <p:nvPr/>
        </p:nvSpPr>
        <p:spPr>
          <a:xfrm>
            <a:off x="18901434" y="11883741"/>
            <a:ext cx="2537553" cy="287258"/>
          </a:xfrm>
          <a:prstGeom prst="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lgn="r">
              <a:spcAft>
                <a:spcPts val="600"/>
              </a:spcAft>
            </a:pPr>
            <a:r>
              <a:rPr lang="en-US" sz="700">
                <a:solidFill>
                  <a:srgbClr val="FFFFFF"/>
                </a:solidFill>
                <a:hlinkClick r:id="rId3" tooltip="https://www.ochobitshacenunbyte.com/2015/01/26/introduccion-docker-para-torpes/">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US" sz="700">
              <a:solidFill>
                <a:srgbClr val="FFFFFF"/>
              </a:solidFill>
            </a:endParaRPr>
          </a:p>
        </p:txBody>
      </p:sp>
    </p:spTree>
    <p:extLst>
      <p:ext uri="{BB962C8B-B14F-4D97-AF65-F5344CB8AC3E}">
        <p14:creationId xmlns:p14="http://schemas.microsoft.com/office/powerpoint/2010/main" val="2822759292"/>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6D1E6-923A-F488-F98A-C8C28BB0C98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E133F4C-8DD1-B130-AAFC-CC674B390B3D}"/>
              </a:ext>
            </a:extLst>
          </p:cNvPr>
          <p:cNvSpPr>
            <a:spLocks noGrp="1"/>
          </p:cNvSpPr>
          <p:nvPr>
            <p:ph type="title"/>
          </p:nvPr>
        </p:nvSpPr>
        <p:spPr>
          <a:xfrm>
            <a:off x="2167377" y="1871164"/>
            <a:ext cx="14715569" cy="511175"/>
          </a:xfrm>
        </p:spPr>
        <p:txBody>
          <a:bodyPr>
            <a:normAutofit fontScale="90000"/>
          </a:bodyPr>
          <a:lstStyle/>
          <a:p>
            <a:r>
              <a:rPr lang="en-US" sz="3200" dirty="0"/>
              <a:t>System organization for Virtual Machines and Docker containers</a:t>
            </a:r>
          </a:p>
        </p:txBody>
      </p:sp>
      <p:sp>
        <p:nvSpPr>
          <p:cNvPr id="21" name="Text Placeholder 2">
            <a:extLst>
              <a:ext uri="{FF2B5EF4-FFF2-40B4-BE49-F238E27FC236}">
                <a16:creationId xmlns:a16="http://schemas.microsoft.com/office/drawing/2014/main" id="{34DEA982-DD80-81EC-006F-33A85704CA6E}"/>
              </a:ext>
            </a:extLst>
          </p:cNvPr>
          <p:cNvSpPr>
            <a:spLocks noGrp="1"/>
          </p:cNvSpPr>
          <p:nvPr>
            <p:ph type="body" sz="quarter" idx="10"/>
          </p:nvPr>
        </p:nvSpPr>
        <p:spPr>
          <a:xfrm>
            <a:off x="2167377" y="2419728"/>
            <a:ext cx="9768875" cy="803546"/>
          </a:xfrm>
        </p:spPr>
        <p:txBody>
          <a:bodyPr/>
          <a:lstStyle/>
          <a:p>
            <a:endParaRPr lang="en-US" dirty="0"/>
          </a:p>
        </p:txBody>
      </p:sp>
      <p:sp>
        <p:nvSpPr>
          <p:cNvPr id="4" name="AutoShape 2" descr="Internet reacts with memes after global AWS outage disrupts major apps and  services worldwide">
            <a:extLst>
              <a:ext uri="{FF2B5EF4-FFF2-40B4-BE49-F238E27FC236}">
                <a16:creationId xmlns:a16="http://schemas.microsoft.com/office/drawing/2014/main" id="{7A5480F3-8D7A-6DB1-4E4F-9E76DEA2E3C6}"/>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Internet reacts with memes after global AWS outage disrupts major apps and  services worldwide">
            <a:extLst>
              <a:ext uri="{FF2B5EF4-FFF2-40B4-BE49-F238E27FC236}">
                <a16:creationId xmlns:a16="http://schemas.microsoft.com/office/drawing/2014/main" id="{6F2C86A8-F4D2-EDED-3DFF-38937DBF3DF3}"/>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4" name="Picture 13" descr="Graphical user interface, application&#10;&#10;Description automatically generated">
            <a:extLst>
              <a:ext uri="{FF2B5EF4-FFF2-40B4-BE49-F238E27FC236}">
                <a16:creationId xmlns:a16="http://schemas.microsoft.com/office/drawing/2014/main" id="{59EC1B63-D0A6-0DF2-D932-97CDE7051C76}"/>
              </a:ext>
            </a:extLst>
          </p:cNvPr>
          <p:cNvPicPr>
            <a:picLocks noChangeAspect="1"/>
          </p:cNvPicPr>
          <p:nvPr/>
        </p:nvPicPr>
        <p:blipFill>
          <a:blip r:embed="rId2"/>
          <a:stretch>
            <a:fillRect/>
          </a:stretch>
        </p:blipFill>
        <p:spPr>
          <a:xfrm>
            <a:off x="4540695" y="3877390"/>
            <a:ext cx="15302610" cy="8760744"/>
          </a:xfrm>
          <a:prstGeom prst="rect">
            <a:avLst/>
          </a:prstGeom>
          <a:noFill/>
        </p:spPr>
      </p:pic>
    </p:spTree>
    <p:extLst>
      <p:ext uri="{BB962C8B-B14F-4D97-AF65-F5344CB8AC3E}">
        <p14:creationId xmlns:p14="http://schemas.microsoft.com/office/powerpoint/2010/main" val="1469248394"/>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27516-A94B-6FC0-7A44-8C2037DFAC92}"/>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FC4779B9-E696-DF23-2EA9-DCD5F259B0CC}"/>
              </a:ext>
            </a:extLst>
          </p:cNvPr>
          <p:cNvSpPr>
            <a:spLocks noGrp="1"/>
          </p:cNvSpPr>
          <p:nvPr>
            <p:ph type="title"/>
          </p:nvPr>
        </p:nvSpPr>
        <p:spPr>
          <a:xfrm>
            <a:off x="2167377" y="1871164"/>
            <a:ext cx="14715569" cy="511175"/>
          </a:xfrm>
        </p:spPr>
        <p:txBody>
          <a:bodyPr>
            <a:normAutofit fontScale="90000"/>
          </a:bodyPr>
          <a:lstStyle/>
          <a:p>
            <a:r>
              <a:rPr lang="en-US" dirty="0"/>
              <a:t>Containers</a:t>
            </a:r>
          </a:p>
        </p:txBody>
      </p:sp>
      <p:sp>
        <p:nvSpPr>
          <p:cNvPr id="16" name="Text Placeholder 2">
            <a:extLst>
              <a:ext uri="{FF2B5EF4-FFF2-40B4-BE49-F238E27FC236}">
                <a16:creationId xmlns:a16="http://schemas.microsoft.com/office/drawing/2014/main" id="{894819CA-88AB-677F-11C7-6472C1861837}"/>
              </a:ext>
            </a:extLst>
          </p:cNvPr>
          <p:cNvSpPr>
            <a:spLocks noGrp="1"/>
          </p:cNvSpPr>
          <p:nvPr>
            <p:ph type="body" sz="quarter" idx="10"/>
          </p:nvPr>
        </p:nvSpPr>
        <p:spPr>
          <a:xfrm>
            <a:off x="2167377" y="2419728"/>
            <a:ext cx="9768875" cy="803546"/>
          </a:xfrm>
        </p:spPr>
        <p:txBody>
          <a:bodyPr/>
          <a:lstStyle/>
          <a:p>
            <a:r>
              <a:rPr lang="en-US" dirty="0"/>
              <a:t>Benefits</a:t>
            </a:r>
          </a:p>
        </p:txBody>
      </p:sp>
      <p:sp>
        <p:nvSpPr>
          <p:cNvPr id="18" name="Text Placeholder 3">
            <a:extLst>
              <a:ext uri="{FF2B5EF4-FFF2-40B4-BE49-F238E27FC236}">
                <a16:creationId xmlns:a16="http://schemas.microsoft.com/office/drawing/2014/main" id="{5319E978-5DE5-931E-DD8E-4502D8F9D19A}"/>
              </a:ext>
            </a:extLst>
          </p:cNvPr>
          <p:cNvSpPr>
            <a:spLocks noGrp="1"/>
          </p:cNvSpPr>
          <p:nvPr>
            <p:ph type="body" sz="quarter" idx="16"/>
          </p:nvPr>
        </p:nvSpPr>
        <p:spPr>
          <a:xfrm>
            <a:off x="2167377" y="6556917"/>
            <a:ext cx="9768906" cy="5575610"/>
          </a:xfrm>
        </p:spPr>
        <p:txBody>
          <a:bodyPr/>
          <a:lstStyle/>
          <a:p>
            <a:r>
              <a:rPr lang="en-US" sz="3200" dirty="0"/>
              <a:t>Ease creation and deployment of applications.</a:t>
            </a:r>
          </a:p>
          <a:p>
            <a:r>
              <a:rPr lang="en-US" sz="3200" dirty="0"/>
              <a:t>Support portability; containers run independently of the environment.</a:t>
            </a:r>
          </a:p>
          <a:p>
            <a:r>
              <a:rPr lang="en-US" sz="3200" dirty="0"/>
              <a:t>Benefit from an application-centric management.</a:t>
            </a:r>
          </a:p>
          <a:p>
            <a:r>
              <a:rPr lang="en-US" sz="3200" dirty="0"/>
              <a:t>Have an optimal philosophy for application deployment; applications are broken into smaller, independent pieces and can be managed dynamically.</a:t>
            </a:r>
          </a:p>
          <a:p>
            <a:r>
              <a:rPr lang="en-US" sz="3200" dirty="0"/>
              <a:t>Support higher resource utilization.</a:t>
            </a:r>
          </a:p>
        </p:txBody>
      </p:sp>
      <p:pic>
        <p:nvPicPr>
          <p:cNvPr id="5" name="Content Placeholder 5">
            <a:extLst>
              <a:ext uri="{FF2B5EF4-FFF2-40B4-BE49-F238E27FC236}">
                <a16:creationId xmlns:a16="http://schemas.microsoft.com/office/drawing/2014/main" id="{252E71CC-4709-39DC-B396-D23504D1E120}"/>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157" r="1208"/>
          <a:stretch>
            <a:fillRect/>
          </a:stretch>
        </p:blipFill>
        <p:spPr>
          <a:xfrm>
            <a:off x="11936282" y="4210049"/>
            <a:ext cx="12337267" cy="6762751"/>
          </a:xfrm>
          <a:prstGeom prst="rect">
            <a:avLst/>
          </a:prstGeom>
          <a:noFill/>
        </p:spPr>
      </p:pic>
      <p:sp>
        <p:nvSpPr>
          <p:cNvPr id="20" name="Text Placeholder 5">
            <a:extLst>
              <a:ext uri="{FF2B5EF4-FFF2-40B4-BE49-F238E27FC236}">
                <a16:creationId xmlns:a16="http://schemas.microsoft.com/office/drawing/2014/main" id="{28C5A809-4E13-9C18-C4DD-A40F2EAAA5F4}"/>
              </a:ext>
            </a:extLst>
          </p:cNvPr>
          <p:cNvSpPr>
            <a:spLocks noGrp="1"/>
          </p:cNvSpPr>
          <p:nvPr>
            <p:ph type="body" sz="quarter" idx="17"/>
          </p:nvPr>
        </p:nvSpPr>
        <p:spPr>
          <a:xfrm>
            <a:off x="2166938" y="4210049"/>
            <a:ext cx="9768874" cy="2039112"/>
          </a:xfrm>
        </p:spPr>
        <p:txBody>
          <a:bodyPr>
            <a:normAutofit fontScale="92500"/>
          </a:bodyPr>
          <a:lstStyle/>
          <a:p>
            <a:r>
              <a:rPr lang="en-US" dirty="0"/>
              <a:t>One of the main benefit of container is that Applications are decoupled from the infrastructure; buy it also allows:</a:t>
            </a:r>
          </a:p>
        </p:txBody>
      </p:sp>
    </p:spTree>
    <p:extLst>
      <p:ext uri="{BB962C8B-B14F-4D97-AF65-F5344CB8AC3E}">
        <p14:creationId xmlns:p14="http://schemas.microsoft.com/office/powerpoint/2010/main" val="2933250350"/>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CF734-91BB-CDAC-D4D6-217C43427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E82748F-2F2C-A8F7-4C70-839C612DFD68}"/>
              </a:ext>
            </a:extLst>
          </p:cNvPr>
          <p:cNvSpPr>
            <a:spLocks noGrp="1"/>
          </p:cNvSpPr>
          <p:nvPr>
            <p:ph type="title"/>
          </p:nvPr>
        </p:nvSpPr>
        <p:spPr>
          <a:xfrm>
            <a:off x="2167377" y="1871164"/>
            <a:ext cx="14715569" cy="511175"/>
          </a:xfrm>
        </p:spPr>
        <p:txBody>
          <a:bodyPr>
            <a:normAutofit/>
          </a:bodyPr>
          <a:lstStyle/>
          <a:p>
            <a:r>
              <a:rPr lang="en-US" sz="3200" dirty="0"/>
              <a:t>Docker container</a:t>
            </a:r>
          </a:p>
        </p:txBody>
      </p:sp>
      <p:sp>
        <p:nvSpPr>
          <p:cNvPr id="26" name="Text Placeholder 2">
            <a:extLst>
              <a:ext uri="{FF2B5EF4-FFF2-40B4-BE49-F238E27FC236}">
                <a16:creationId xmlns:a16="http://schemas.microsoft.com/office/drawing/2014/main" id="{FC5310E5-B7FA-90A3-D47E-2530D210A08B}"/>
              </a:ext>
            </a:extLst>
          </p:cNvPr>
          <p:cNvSpPr>
            <a:spLocks noGrp="1"/>
          </p:cNvSpPr>
          <p:nvPr>
            <p:ph type="body" sz="quarter" idx="10"/>
          </p:nvPr>
        </p:nvSpPr>
        <p:spPr>
          <a:xfrm>
            <a:off x="2167377" y="2419728"/>
            <a:ext cx="9768875" cy="803546"/>
          </a:xfrm>
        </p:spPr>
        <p:txBody>
          <a:bodyPr/>
          <a:lstStyle/>
          <a:p>
            <a:r>
              <a:rPr lang="en-US" dirty="0"/>
              <a:t>Advantages</a:t>
            </a:r>
          </a:p>
        </p:txBody>
      </p:sp>
      <p:sp>
        <p:nvSpPr>
          <p:cNvPr id="12" name="Text Placeholder 11">
            <a:extLst>
              <a:ext uri="{FF2B5EF4-FFF2-40B4-BE49-F238E27FC236}">
                <a16:creationId xmlns:a16="http://schemas.microsoft.com/office/drawing/2014/main" id="{47FBC6FA-6F2C-65FE-AD95-9883420CD287}"/>
              </a:ext>
            </a:extLst>
          </p:cNvPr>
          <p:cNvSpPr>
            <a:spLocks noGrp="1"/>
          </p:cNvSpPr>
          <p:nvPr>
            <p:ph type="body" sz="quarter" idx="16"/>
          </p:nvPr>
        </p:nvSpPr>
        <p:spPr>
          <a:xfrm>
            <a:off x="2167377" y="6556917"/>
            <a:ext cx="9768906" cy="5575610"/>
          </a:xfrm>
        </p:spPr>
        <p:txBody>
          <a:bodyPr>
            <a:normAutofit lnSpcReduction="10000"/>
          </a:bodyPr>
          <a:lstStyle/>
          <a:p>
            <a:pPr algn="just"/>
            <a:r>
              <a:rPr lang="en-US" dirty="0"/>
              <a:t>Containers isolate an application from the underlying infrastructure </a:t>
            </a:r>
          </a:p>
          <a:p>
            <a:pPr algn="just"/>
            <a:r>
              <a:rPr lang="en-US" dirty="0"/>
              <a:t>Multiple containers running on the same machine share the OS kernel, have a smaller memory footprint, and a shorter start-up time than VMs.</a:t>
            </a:r>
          </a:p>
          <a:p>
            <a:pPr algn="just"/>
            <a:r>
              <a:rPr lang="en-US" dirty="0"/>
              <a:t>Docker containers is increased productivity. Containerization allows developers to choose the most suitable programming languages and software systems and eliminates the need to make copies of production code and install the same configuration in different environments. </a:t>
            </a:r>
          </a:p>
          <a:p>
            <a:pPr algn="just"/>
            <a:r>
              <a:rPr lang="en-US" dirty="0"/>
              <a:t>It also supports efficient up and down scaling of an application</a:t>
            </a:r>
          </a:p>
        </p:txBody>
      </p:sp>
      <p:pic>
        <p:nvPicPr>
          <p:cNvPr id="14" name="Picture Placeholder 13">
            <a:extLst>
              <a:ext uri="{FF2B5EF4-FFF2-40B4-BE49-F238E27FC236}">
                <a16:creationId xmlns:a16="http://schemas.microsoft.com/office/drawing/2014/main" id="{2EE0F00A-DD4B-7E1F-A819-B641DEBE101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3770" r="7215" b="2"/>
          <a:stretch>
            <a:fillRect/>
          </a:stretch>
        </p:blipFill>
        <p:spPr>
          <a:xfrm>
            <a:off x="12339930" y="4210629"/>
            <a:ext cx="9099057" cy="7921898"/>
          </a:xfrm>
          <a:prstGeom prst="rect">
            <a:avLst/>
          </a:prstGeom>
          <a:noFill/>
        </p:spPr>
      </p:pic>
      <p:sp>
        <p:nvSpPr>
          <p:cNvPr id="13" name="Text Placeholder 12">
            <a:extLst>
              <a:ext uri="{FF2B5EF4-FFF2-40B4-BE49-F238E27FC236}">
                <a16:creationId xmlns:a16="http://schemas.microsoft.com/office/drawing/2014/main" id="{7913F2AD-76CA-86CB-DF9E-73A23B481DBE}"/>
              </a:ext>
            </a:extLst>
          </p:cNvPr>
          <p:cNvSpPr>
            <a:spLocks noGrp="1"/>
          </p:cNvSpPr>
          <p:nvPr>
            <p:ph type="body" sz="quarter" idx="17"/>
          </p:nvPr>
        </p:nvSpPr>
        <p:spPr>
          <a:xfrm>
            <a:off x="2166938" y="4210049"/>
            <a:ext cx="9768874" cy="2039112"/>
          </a:xfrm>
        </p:spPr>
        <p:txBody>
          <a:bodyPr>
            <a:normAutofit lnSpcReduction="10000"/>
          </a:bodyPr>
          <a:lstStyle/>
          <a:p>
            <a:pPr algn="just"/>
            <a:r>
              <a:rPr lang="en-US" sz="3600" dirty="0"/>
              <a:t>Containers are light weight, cost-effective in a public cloud environment, provide better performance, and require fewer hardware resources for a private cloud.</a:t>
            </a:r>
          </a:p>
        </p:txBody>
      </p:sp>
      <p:sp>
        <p:nvSpPr>
          <p:cNvPr id="2" name="TextBox 1">
            <a:extLst>
              <a:ext uri="{FF2B5EF4-FFF2-40B4-BE49-F238E27FC236}">
                <a16:creationId xmlns:a16="http://schemas.microsoft.com/office/drawing/2014/main" id="{6A43DEAD-D0C4-E19C-DBFD-05950A792600}"/>
              </a:ext>
            </a:extLst>
          </p:cNvPr>
          <p:cNvSpPr txBox="1"/>
          <p:nvPr/>
        </p:nvSpPr>
        <p:spPr>
          <a:xfrm>
            <a:off x="18901434" y="11883741"/>
            <a:ext cx="2537553" cy="287258"/>
          </a:xfrm>
          <a:prstGeom prst="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lgn="r">
              <a:spcAft>
                <a:spcPts val="600"/>
              </a:spcAft>
            </a:pPr>
            <a:r>
              <a:rPr lang="en-US" sz="700">
                <a:solidFill>
                  <a:srgbClr val="FFFFFF"/>
                </a:solidFill>
                <a:hlinkClick r:id="rId3" tooltip="https://www.ochobitshacenunbyte.com/2015/01/26/introduccion-docker-para-torpes/">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US" sz="700">
              <a:solidFill>
                <a:srgbClr val="FFFFFF"/>
              </a:solidFill>
            </a:endParaRPr>
          </a:p>
        </p:txBody>
      </p:sp>
    </p:spTree>
    <p:extLst>
      <p:ext uri="{BB962C8B-B14F-4D97-AF65-F5344CB8AC3E}">
        <p14:creationId xmlns:p14="http://schemas.microsoft.com/office/powerpoint/2010/main" val="3301642319"/>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16748-C779-8338-C656-DA34A50C48F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368F5ED-4677-13A0-C239-1D68A079F35D}"/>
              </a:ext>
            </a:extLst>
          </p:cNvPr>
          <p:cNvSpPr>
            <a:spLocks noGrp="1"/>
          </p:cNvSpPr>
          <p:nvPr>
            <p:ph type="title"/>
          </p:nvPr>
        </p:nvSpPr>
        <p:spPr/>
        <p:txBody>
          <a:bodyPr/>
          <a:lstStyle/>
          <a:p>
            <a:r>
              <a:rPr lang="en-US" dirty="0" err="1"/>
              <a:t>kubernetes</a:t>
            </a:r>
            <a:endParaRPr lang="en-US" dirty="0"/>
          </a:p>
        </p:txBody>
      </p:sp>
    </p:spTree>
    <p:extLst>
      <p:ext uri="{BB962C8B-B14F-4D97-AF65-F5344CB8AC3E}">
        <p14:creationId xmlns:p14="http://schemas.microsoft.com/office/powerpoint/2010/main" val="55556983"/>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E4BC8-5A1D-B6D6-5CE8-EE86E18CBCA1}"/>
              </a:ext>
            </a:extLst>
          </p:cNvPr>
          <p:cNvSpPr>
            <a:spLocks noGrp="1"/>
          </p:cNvSpPr>
          <p:nvPr>
            <p:ph type="title"/>
          </p:nvPr>
        </p:nvSpPr>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r>
              <a:rPr kumimoji="0" lang="en-US" sz="3200" b="1" i="0" u="none" strike="noStrike" kern="0" cap="all" spc="0" normalizeH="0" baseline="0" noProof="0" dirty="0">
                <a:ln>
                  <a:noFill/>
                </a:ln>
                <a:solidFill>
                  <a:srgbClr val="128CCD"/>
                </a:solidFill>
                <a:effectLst/>
                <a:uLnTx/>
                <a:uFill>
                  <a:solidFill>
                    <a:srgbClr val="143E56"/>
                  </a:solidFill>
                </a:uFill>
                <a:latin typeface="Open Sans ExtraBold" pitchFamily="2" charset="0"/>
                <a:ea typeface="Open Sans ExtraBold" pitchFamily="2" charset="0"/>
                <a:cs typeface="Open Sans ExtraBold" pitchFamily="2" charset="0"/>
                <a:sym typeface="Helvetica Neue"/>
              </a:rPr>
              <a:t>Kubernetes</a:t>
            </a:r>
            <a:endParaRPr lang="en-US" dirty="0"/>
          </a:p>
        </p:txBody>
      </p:sp>
      <p:sp>
        <p:nvSpPr>
          <p:cNvPr id="5" name="Content Placeholder 4">
            <a:extLst>
              <a:ext uri="{FF2B5EF4-FFF2-40B4-BE49-F238E27FC236}">
                <a16:creationId xmlns:a16="http://schemas.microsoft.com/office/drawing/2014/main" id="{5AB8E8FD-EB30-A621-B2C3-E9587004E175}"/>
              </a:ext>
            </a:extLst>
          </p:cNvPr>
          <p:cNvSpPr>
            <a:spLocks noGrp="1"/>
          </p:cNvSpPr>
          <p:nvPr>
            <p:ph type="body" sz="quarter" idx="10"/>
          </p:nvPr>
        </p:nvSpPr>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endParaRPr lang="en-US" dirty="0"/>
          </a:p>
        </p:txBody>
      </p:sp>
      <p:sp>
        <p:nvSpPr>
          <p:cNvPr id="11" name="Text Placeholder 10">
            <a:extLst>
              <a:ext uri="{FF2B5EF4-FFF2-40B4-BE49-F238E27FC236}">
                <a16:creationId xmlns:a16="http://schemas.microsoft.com/office/drawing/2014/main" id="{238E68CA-DF94-9DC8-9A19-692DE47785D1}"/>
              </a:ext>
            </a:extLst>
          </p:cNvPr>
          <p:cNvSpPr>
            <a:spLocks noGrp="1"/>
          </p:cNvSpPr>
          <p:nvPr>
            <p:ph type="body" sz="quarter" idx="16"/>
          </p:nvPr>
        </p:nvSpPr>
        <p:spPr/>
        <p:txBody>
          <a:bodyPr/>
          <a:lstStyle/>
          <a:p>
            <a:r>
              <a:rPr lang="en-US" dirty="0"/>
              <a:t>The origin of the word Kubernetes is in ancient Greek language: “</a:t>
            </a:r>
            <a:r>
              <a:rPr lang="en-US" dirty="0" err="1"/>
              <a:t>kubernan</a:t>
            </a:r>
            <a:r>
              <a:rPr lang="en-US" dirty="0"/>
              <a:t>” means to steer and “</a:t>
            </a:r>
            <a:r>
              <a:rPr lang="en-US" dirty="0" err="1"/>
              <a:t>kubernetes</a:t>
            </a:r>
            <a:r>
              <a:rPr lang="en-US" dirty="0"/>
              <a:t>” is helmsman. </a:t>
            </a:r>
          </a:p>
          <a:p>
            <a:r>
              <a:rPr lang="en-US" dirty="0"/>
              <a:t>Kubernetes is an open source software system developed and used at Google for managing containerized applications in a clustered environment.</a:t>
            </a:r>
          </a:p>
        </p:txBody>
      </p:sp>
      <p:pic>
        <p:nvPicPr>
          <p:cNvPr id="6" name="Picture Placeholder 5">
            <a:extLst>
              <a:ext uri="{FF2B5EF4-FFF2-40B4-BE49-F238E27FC236}">
                <a16:creationId xmlns:a16="http://schemas.microsoft.com/office/drawing/2014/main" id="{F9151ADA-2EBB-5E09-D27A-227B9890C68D}"/>
              </a:ext>
            </a:extLst>
          </p:cNvPr>
          <p:cNvPicPr>
            <a:picLocks noGrp="1" noChangeAspect="1"/>
          </p:cNvPicPr>
          <p:nvPr>
            <p:ph type="pic" sz="quarter" idx="13"/>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rcRect t="5161" b="5161"/>
          <a:stretch>
            <a:fillRect/>
          </a:stretch>
        </p:blipFill>
        <p:spPr/>
      </p:pic>
      <p:sp>
        <p:nvSpPr>
          <p:cNvPr id="12" name="Text Placeholder 11">
            <a:extLst>
              <a:ext uri="{FF2B5EF4-FFF2-40B4-BE49-F238E27FC236}">
                <a16:creationId xmlns:a16="http://schemas.microsoft.com/office/drawing/2014/main" id="{99F50CA2-024D-C4CC-0034-3918D7288028}"/>
              </a:ext>
            </a:extLst>
          </p:cNvPr>
          <p:cNvSpPr>
            <a:spLocks noGrp="1"/>
          </p:cNvSpPr>
          <p:nvPr>
            <p:ph type="body" sz="quarter" idx="17"/>
          </p:nvPr>
        </p:nvSpPr>
        <p:spPr/>
        <p:txBody>
          <a:bodyPr/>
          <a:lstStyle/>
          <a:p>
            <a:r>
              <a:rPr lang="en-US" dirty="0"/>
              <a:t>Kubernetes is a cluster manager for containers. </a:t>
            </a:r>
          </a:p>
        </p:txBody>
      </p:sp>
      <p:sp>
        <p:nvSpPr>
          <p:cNvPr id="4" name="Slide Number Placeholder 3">
            <a:extLst>
              <a:ext uri="{FF2B5EF4-FFF2-40B4-BE49-F238E27FC236}">
                <a16:creationId xmlns:a16="http://schemas.microsoft.com/office/drawing/2014/main" id="{909D443F-BC1E-137A-AA40-579503284020}"/>
              </a:ext>
            </a:extLst>
          </p:cNvPr>
          <p:cNvSpPr>
            <a:spLocks noGrp="1"/>
          </p:cNvSpPr>
          <p:nvPr>
            <p:ph type="sldNum" sz="quarter" idx="4294967295"/>
          </p:nvPr>
        </p:nvSpPr>
        <p:spPr>
          <a:xfrm>
            <a:off x="18694400" y="12906375"/>
            <a:ext cx="5689600" cy="730250"/>
          </a:xfrm>
        </p:spPr>
        <p:txBody>
          <a:bodyPr/>
          <a:lstStyle>
            <a:defPPr>
              <a:defRPr lang="en-US"/>
            </a:defPPr>
            <a:lvl1pPr algn="l" rtl="0" fontAlgn="base">
              <a:spcBef>
                <a:spcPct val="0"/>
              </a:spcBef>
              <a:spcAft>
                <a:spcPct val="0"/>
              </a:spcAft>
              <a:defRPr sz="5714" kern="1200">
                <a:solidFill>
                  <a:schemeClr val="tx1"/>
                </a:solidFill>
                <a:latin typeface="Arial" pitchFamily="34" charset="0"/>
                <a:ea typeface="+mn-ea"/>
                <a:cs typeface="+mn-cs"/>
              </a:defRPr>
            </a:lvl1pPr>
            <a:lvl2pPr marL="2177094" algn="l" rtl="0" fontAlgn="base">
              <a:spcBef>
                <a:spcPct val="0"/>
              </a:spcBef>
              <a:spcAft>
                <a:spcPct val="0"/>
              </a:spcAft>
              <a:defRPr sz="5714" kern="1200">
                <a:solidFill>
                  <a:schemeClr val="tx1"/>
                </a:solidFill>
                <a:latin typeface="Arial" pitchFamily="34" charset="0"/>
                <a:ea typeface="+mn-ea"/>
                <a:cs typeface="+mn-cs"/>
              </a:defRPr>
            </a:lvl2pPr>
            <a:lvl3pPr marL="4354190" algn="l" rtl="0" fontAlgn="base">
              <a:spcBef>
                <a:spcPct val="0"/>
              </a:spcBef>
              <a:spcAft>
                <a:spcPct val="0"/>
              </a:spcAft>
              <a:defRPr sz="5714" kern="1200">
                <a:solidFill>
                  <a:schemeClr val="tx1"/>
                </a:solidFill>
                <a:latin typeface="Arial" pitchFamily="34" charset="0"/>
                <a:ea typeface="+mn-ea"/>
                <a:cs typeface="+mn-cs"/>
              </a:defRPr>
            </a:lvl3pPr>
            <a:lvl4pPr marL="6531284" algn="l" rtl="0" fontAlgn="base">
              <a:spcBef>
                <a:spcPct val="0"/>
              </a:spcBef>
              <a:spcAft>
                <a:spcPct val="0"/>
              </a:spcAft>
              <a:defRPr sz="5714" kern="1200">
                <a:solidFill>
                  <a:schemeClr val="tx1"/>
                </a:solidFill>
                <a:latin typeface="Arial" pitchFamily="34" charset="0"/>
                <a:ea typeface="+mn-ea"/>
                <a:cs typeface="+mn-cs"/>
              </a:defRPr>
            </a:lvl4pPr>
            <a:lvl5pPr marL="8708380" algn="l" rtl="0" fontAlgn="base">
              <a:spcBef>
                <a:spcPct val="0"/>
              </a:spcBef>
              <a:spcAft>
                <a:spcPct val="0"/>
              </a:spcAft>
              <a:defRPr sz="5714" kern="1200">
                <a:solidFill>
                  <a:schemeClr val="tx1"/>
                </a:solidFill>
                <a:latin typeface="Arial" pitchFamily="34" charset="0"/>
                <a:ea typeface="+mn-ea"/>
                <a:cs typeface="+mn-cs"/>
              </a:defRPr>
            </a:lvl5pPr>
            <a:lvl6pPr marL="10885474" algn="l" defTabSz="4354190" rtl="0" eaLnBrk="1" latinLnBrk="0" hangingPunct="1">
              <a:defRPr sz="5714" kern="1200">
                <a:solidFill>
                  <a:schemeClr val="tx1"/>
                </a:solidFill>
                <a:latin typeface="Arial" pitchFamily="34" charset="0"/>
                <a:ea typeface="+mn-ea"/>
                <a:cs typeface="+mn-cs"/>
              </a:defRPr>
            </a:lvl6pPr>
            <a:lvl7pPr marL="13062570" algn="l" defTabSz="4354190" rtl="0" eaLnBrk="1" latinLnBrk="0" hangingPunct="1">
              <a:defRPr sz="5714" kern="1200">
                <a:solidFill>
                  <a:schemeClr val="tx1"/>
                </a:solidFill>
                <a:latin typeface="Arial" pitchFamily="34" charset="0"/>
                <a:ea typeface="+mn-ea"/>
                <a:cs typeface="+mn-cs"/>
              </a:defRPr>
            </a:lvl7pPr>
            <a:lvl8pPr marL="15239664" algn="l" defTabSz="4354190" rtl="0" eaLnBrk="1" latinLnBrk="0" hangingPunct="1">
              <a:defRPr sz="5714" kern="1200">
                <a:solidFill>
                  <a:schemeClr val="tx1"/>
                </a:solidFill>
                <a:latin typeface="Arial" pitchFamily="34" charset="0"/>
                <a:ea typeface="+mn-ea"/>
                <a:cs typeface="+mn-cs"/>
              </a:defRPr>
            </a:lvl8pPr>
            <a:lvl9pPr marL="17416760" algn="l" defTabSz="4354190" rtl="0" eaLnBrk="1" latinLnBrk="0" hangingPunct="1">
              <a:defRPr sz="5714" kern="1200">
                <a:solidFill>
                  <a:schemeClr val="tx1"/>
                </a:solidFill>
                <a:latin typeface="Arial" pitchFamily="34" charset="0"/>
                <a:ea typeface="+mn-ea"/>
                <a:cs typeface="+mn-cs"/>
              </a:defRPr>
            </a:lvl9pPr>
          </a:lstStyle>
          <a:p>
            <a:fld id="{F173735F-2667-4028-B606-D96AABD86FDB}" type="slidenum">
              <a:rPr lang="id-ID" smtClean="0"/>
              <a:pPr/>
              <a:t>28</a:t>
            </a:fld>
            <a:endParaRPr lang="id-ID"/>
          </a:p>
        </p:txBody>
      </p:sp>
      <p:sp>
        <p:nvSpPr>
          <p:cNvPr id="7" name="TextBox 6">
            <a:extLst>
              <a:ext uri="{FF2B5EF4-FFF2-40B4-BE49-F238E27FC236}">
                <a16:creationId xmlns:a16="http://schemas.microsoft.com/office/drawing/2014/main" id="{AC4B2365-7ACF-5BD7-8E34-2F251BF82354}"/>
              </a:ext>
            </a:extLst>
          </p:cNvPr>
          <p:cNvSpPr txBox="1"/>
          <p:nvPr/>
        </p:nvSpPr>
        <p:spPr>
          <a:xfrm>
            <a:off x="12339930" y="12247943"/>
            <a:ext cx="9099057"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900">
                <a:hlinkClick r:id="rId4" tooltip="https://devopedia.org/kubernetes"/>
              </a:rPr>
              <a:t>This Photo</a:t>
            </a:r>
            <a:r>
              <a:rPr lang="en-US" sz="900"/>
              <a:t> by Unknown Author is licensed under </a:t>
            </a:r>
            <a:r>
              <a:rPr lang="en-US" sz="900">
                <a:hlinkClick r:id="rId5" tooltip="https://creativecommons.org/licenses/by-sa/3.0/"/>
              </a:rPr>
              <a:t>CC BY-SA</a:t>
            </a:r>
            <a:endParaRPr lang="en-US" sz="900"/>
          </a:p>
        </p:txBody>
      </p:sp>
    </p:spTree>
    <p:extLst>
      <p:ext uri="{BB962C8B-B14F-4D97-AF65-F5344CB8AC3E}">
        <p14:creationId xmlns:p14="http://schemas.microsoft.com/office/powerpoint/2010/main" val="63202965"/>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E9416-24C5-8B63-2F28-C95DA44C5E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5EF3AA-7985-30A9-0C1F-597727E3285E}"/>
              </a:ext>
            </a:extLst>
          </p:cNvPr>
          <p:cNvSpPr>
            <a:spLocks noGrp="1"/>
          </p:cNvSpPr>
          <p:nvPr>
            <p:ph type="title"/>
          </p:nvPr>
        </p:nvSpPr>
        <p:spPr>
          <a:xfrm>
            <a:off x="2167377" y="1871164"/>
            <a:ext cx="14715569" cy="511175"/>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r>
              <a:rPr kumimoji="0" lang="en-US" sz="3200" b="1" i="0" u="none" strike="noStrike" kern="0" cap="all" spc="0" normalizeH="0" baseline="0" noProof="0">
                <a:ln>
                  <a:noFill/>
                </a:ln>
                <a:solidFill>
                  <a:srgbClr val="128CCD"/>
                </a:solidFill>
                <a:effectLst/>
                <a:uLnTx/>
                <a:uFill>
                  <a:solidFill>
                    <a:srgbClr val="143E56"/>
                  </a:solidFill>
                </a:uFill>
              </a:rPr>
              <a:t>Kubernetes</a:t>
            </a:r>
            <a:endParaRPr lang="en-US" sz="3200">
              <a:solidFill>
                <a:srgbClr val="128CCD"/>
              </a:solidFill>
            </a:endParaRPr>
          </a:p>
        </p:txBody>
      </p:sp>
      <p:sp>
        <p:nvSpPr>
          <p:cNvPr id="19" name="Text Placeholder 2">
            <a:extLst>
              <a:ext uri="{FF2B5EF4-FFF2-40B4-BE49-F238E27FC236}">
                <a16:creationId xmlns:a16="http://schemas.microsoft.com/office/drawing/2014/main" id="{355703B3-0464-7092-65E7-FB70347C12B2}"/>
              </a:ext>
            </a:extLst>
          </p:cNvPr>
          <p:cNvSpPr>
            <a:spLocks noGrp="1"/>
          </p:cNvSpPr>
          <p:nvPr>
            <p:ph type="body" sz="quarter" idx="10"/>
          </p:nvPr>
        </p:nvSpPr>
        <p:spPr>
          <a:xfrm>
            <a:off x="2167377" y="2419728"/>
            <a:ext cx="9768875" cy="803546"/>
          </a:xfrm>
        </p:spPr>
        <p:txBody>
          <a:bodyPr/>
          <a:lstStyle/>
          <a:p>
            <a:endParaRPr lang="en-US"/>
          </a:p>
        </p:txBody>
      </p:sp>
      <p:sp>
        <p:nvSpPr>
          <p:cNvPr id="11" name="Text Placeholder 10">
            <a:extLst>
              <a:ext uri="{FF2B5EF4-FFF2-40B4-BE49-F238E27FC236}">
                <a16:creationId xmlns:a16="http://schemas.microsoft.com/office/drawing/2014/main" id="{B18E6099-D6D8-CC86-AD89-EDD8FD7EF0D9}"/>
              </a:ext>
            </a:extLst>
          </p:cNvPr>
          <p:cNvSpPr>
            <a:spLocks noGrp="1"/>
          </p:cNvSpPr>
          <p:nvPr>
            <p:ph type="body" sz="quarter" idx="16"/>
          </p:nvPr>
        </p:nvSpPr>
        <p:spPr>
          <a:xfrm>
            <a:off x="2443078" y="10928195"/>
            <a:ext cx="19497842" cy="5575610"/>
          </a:xfrm>
        </p:spPr>
        <p:txBody>
          <a:bodyPr>
            <a:normAutofit/>
          </a:bodyPr>
          <a:lstStyle/>
          <a:p>
            <a:pPr algn="ctr"/>
            <a:r>
              <a:rPr lang="en-US" dirty="0"/>
              <a:t>Kubernets does not provide built-in services including message buses, data-processing frameworks, databases, or cluster storage systems and does not require a comprehensive application configuration language. </a:t>
            </a:r>
          </a:p>
          <a:p>
            <a:pPr algn="ctr"/>
            <a:r>
              <a:rPr lang="en-US" dirty="0"/>
              <a:t>Kubernets provides deployment, scaling, load balancing, logging, and monitoring. </a:t>
            </a:r>
          </a:p>
          <a:p>
            <a:pPr algn="ctr"/>
            <a:r>
              <a:rPr lang="en-US" dirty="0"/>
              <a:t>Kubernetes is not monolithic, and default solutions are optional and pluggable.</a:t>
            </a:r>
          </a:p>
        </p:txBody>
      </p:sp>
      <p:pic>
        <p:nvPicPr>
          <p:cNvPr id="14" name="Picture Placeholder 13">
            <a:extLst>
              <a:ext uri="{FF2B5EF4-FFF2-40B4-BE49-F238E27FC236}">
                <a16:creationId xmlns:a16="http://schemas.microsoft.com/office/drawing/2014/main" id="{3CACF587-C694-A0B0-FA06-73F1449BB80A}"/>
              </a:ext>
            </a:extLst>
          </p:cNvPr>
          <p:cNvPicPr>
            <a:picLocks noGrp="1" noChangeAspect="1"/>
          </p:cNvPicPr>
          <p:nvPr>
            <p:ph type="pic" sz="quarter" idx="13"/>
          </p:nvPr>
        </p:nvPicPr>
        <p:blipFill>
          <a:blip r:embed="rId2"/>
          <a:srcRect l="1581" t="2036" r="1900" b="1587"/>
          <a:stretch>
            <a:fillRect/>
          </a:stretch>
        </p:blipFill>
        <p:spPr>
          <a:xfrm>
            <a:off x="4221480" y="4959449"/>
            <a:ext cx="15941039" cy="5889371"/>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
        <p:nvSpPr>
          <p:cNvPr id="12" name="Text Placeholder 11">
            <a:extLst>
              <a:ext uri="{FF2B5EF4-FFF2-40B4-BE49-F238E27FC236}">
                <a16:creationId xmlns:a16="http://schemas.microsoft.com/office/drawing/2014/main" id="{7589941C-0317-89AD-A23F-1423572C9280}"/>
              </a:ext>
            </a:extLst>
          </p:cNvPr>
          <p:cNvSpPr>
            <a:spLocks noGrp="1"/>
          </p:cNvSpPr>
          <p:nvPr>
            <p:ph type="body" sz="quarter" idx="17"/>
          </p:nvPr>
        </p:nvSpPr>
        <p:spPr>
          <a:xfrm>
            <a:off x="5003610" y="3696356"/>
            <a:ext cx="14376780" cy="2039112"/>
          </a:xfrm>
        </p:spPr>
        <p:txBody>
          <a:bodyPr>
            <a:normAutofit/>
          </a:bodyPr>
          <a:lstStyle/>
          <a:p>
            <a:pPr algn="ctr"/>
            <a:r>
              <a:rPr lang="en-US" sz="4100" dirty="0"/>
              <a:t>Kubernetes is an open-ended system and its design allowed a number of other systems to be build atop Kubernetes.</a:t>
            </a:r>
          </a:p>
        </p:txBody>
      </p:sp>
      <p:sp>
        <p:nvSpPr>
          <p:cNvPr id="4" name="Slide Number Placeholder 3" hidden="1">
            <a:extLst>
              <a:ext uri="{FF2B5EF4-FFF2-40B4-BE49-F238E27FC236}">
                <a16:creationId xmlns:a16="http://schemas.microsoft.com/office/drawing/2014/main" id="{BD6A4529-6CD1-1E3B-4808-ECFAFCC7010D}"/>
              </a:ext>
            </a:extLst>
          </p:cNvPr>
          <p:cNvSpPr>
            <a:spLocks noGrp="1"/>
          </p:cNvSpPr>
          <p:nvPr>
            <p:ph type="sldNum" sz="quarter" idx="4294967295"/>
          </p:nvPr>
        </p:nvSpPr>
        <p:spPr>
          <a:xfrm>
            <a:off x="18694400" y="12906375"/>
            <a:ext cx="5689600" cy="730250"/>
          </a:xfrm>
        </p:spPr>
        <p:txBody>
          <a:bodyPr/>
          <a:lstStyle>
            <a:defPPr>
              <a:defRPr lang="en-US"/>
            </a:defPPr>
            <a:lvl1pPr algn="l" rtl="0" fontAlgn="base">
              <a:spcBef>
                <a:spcPct val="0"/>
              </a:spcBef>
              <a:spcAft>
                <a:spcPct val="0"/>
              </a:spcAft>
              <a:defRPr sz="5714" kern="1200">
                <a:solidFill>
                  <a:schemeClr val="tx1"/>
                </a:solidFill>
                <a:latin typeface="Arial" pitchFamily="34" charset="0"/>
                <a:ea typeface="+mn-ea"/>
                <a:cs typeface="+mn-cs"/>
              </a:defRPr>
            </a:lvl1pPr>
            <a:lvl2pPr marL="2177094" algn="l" rtl="0" fontAlgn="base">
              <a:spcBef>
                <a:spcPct val="0"/>
              </a:spcBef>
              <a:spcAft>
                <a:spcPct val="0"/>
              </a:spcAft>
              <a:defRPr sz="5714" kern="1200">
                <a:solidFill>
                  <a:schemeClr val="tx1"/>
                </a:solidFill>
                <a:latin typeface="Arial" pitchFamily="34" charset="0"/>
                <a:ea typeface="+mn-ea"/>
                <a:cs typeface="+mn-cs"/>
              </a:defRPr>
            </a:lvl2pPr>
            <a:lvl3pPr marL="4354190" algn="l" rtl="0" fontAlgn="base">
              <a:spcBef>
                <a:spcPct val="0"/>
              </a:spcBef>
              <a:spcAft>
                <a:spcPct val="0"/>
              </a:spcAft>
              <a:defRPr sz="5714" kern="1200">
                <a:solidFill>
                  <a:schemeClr val="tx1"/>
                </a:solidFill>
                <a:latin typeface="Arial" pitchFamily="34" charset="0"/>
                <a:ea typeface="+mn-ea"/>
                <a:cs typeface="+mn-cs"/>
              </a:defRPr>
            </a:lvl3pPr>
            <a:lvl4pPr marL="6531284" algn="l" rtl="0" fontAlgn="base">
              <a:spcBef>
                <a:spcPct val="0"/>
              </a:spcBef>
              <a:spcAft>
                <a:spcPct val="0"/>
              </a:spcAft>
              <a:defRPr sz="5714" kern="1200">
                <a:solidFill>
                  <a:schemeClr val="tx1"/>
                </a:solidFill>
                <a:latin typeface="Arial" pitchFamily="34" charset="0"/>
                <a:ea typeface="+mn-ea"/>
                <a:cs typeface="+mn-cs"/>
              </a:defRPr>
            </a:lvl4pPr>
            <a:lvl5pPr marL="8708380" algn="l" rtl="0" fontAlgn="base">
              <a:spcBef>
                <a:spcPct val="0"/>
              </a:spcBef>
              <a:spcAft>
                <a:spcPct val="0"/>
              </a:spcAft>
              <a:defRPr sz="5714" kern="1200">
                <a:solidFill>
                  <a:schemeClr val="tx1"/>
                </a:solidFill>
                <a:latin typeface="Arial" pitchFamily="34" charset="0"/>
                <a:ea typeface="+mn-ea"/>
                <a:cs typeface="+mn-cs"/>
              </a:defRPr>
            </a:lvl5pPr>
            <a:lvl6pPr marL="10885474" algn="l" defTabSz="4354190" rtl="0" eaLnBrk="1" latinLnBrk="0" hangingPunct="1">
              <a:defRPr sz="5714" kern="1200">
                <a:solidFill>
                  <a:schemeClr val="tx1"/>
                </a:solidFill>
                <a:latin typeface="Arial" pitchFamily="34" charset="0"/>
                <a:ea typeface="+mn-ea"/>
                <a:cs typeface="+mn-cs"/>
              </a:defRPr>
            </a:lvl6pPr>
            <a:lvl7pPr marL="13062570" algn="l" defTabSz="4354190" rtl="0" eaLnBrk="1" latinLnBrk="0" hangingPunct="1">
              <a:defRPr sz="5714" kern="1200">
                <a:solidFill>
                  <a:schemeClr val="tx1"/>
                </a:solidFill>
                <a:latin typeface="Arial" pitchFamily="34" charset="0"/>
                <a:ea typeface="+mn-ea"/>
                <a:cs typeface="+mn-cs"/>
              </a:defRPr>
            </a:lvl7pPr>
            <a:lvl8pPr marL="15239664" algn="l" defTabSz="4354190" rtl="0" eaLnBrk="1" latinLnBrk="0" hangingPunct="1">
              <a:defRPr sz="5714" kern="1200">
                <a:solidFill>
                  <a:schemeClr val="tx1"/>
                </a:solidFill>
                <a:latin typeface="Arial" pitchFamily="34" charset="0"/>
                <a:ea typeface="+mn-ea"/>
                <a:cs typeface="+mn-cs"/>
              </a:defRPr>
            </a:lvl8pPr>
            <a:lvl9pPr marL="17416760" algn="l" defTabSz="4354190" rtl="0" eaLnBrk="1" latinLnBrk="0" hangingPunct="1">
              <a:defRPr sz="5714" kern="1200">
                <a:solidFill>
                  <a:schemeClr val="tx1"/>
                </a:solidFill>
                <a:latin typeface="Arial" pitchFamily="34" charset="0"/>
                <a:ea typeface="+mn-ea"/>
                <a:cs typeface="+mn-cs"/>
              </a:defRPr>
            </a:lvl9pPr>
          </a:lstStyle>
          <a:p>
            <a:pPr>
              <a:spcAft>
                <a:spcPts val="600"/>
              </a:spcAft>
            </a:pPr>
            <a:fld id="{F173735F-2667-4028-B606-D96AABD86FDB}" type="slidenum">
              <a:rPr lang="id-ID" smtClean="0"/>
              <a:pPr>
                <a:spcAft>
                  <a:spcPts val="600"/>
                </a:spcAft>
              </a:pPr>
              <a:t>29</a:t>
            </a:fld>
            <a:endParaRPr lang="id-ID"/>
          </a:p>
        </p:txBody>
      </p:sp>
    </p:spTree>
    <p:extLst>
      <p:ext uri="{BB962C8B-B14F-4D97-AF65-F5344CB8AC3E}">
        <p14:creationId xmlns:p14="http://schemas.microsoft.com/office/powerpoint/2010/main" val="3126076701"/>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D56C4-D97F-C159-CD1B-02E0F3C0D65A}"/>
              </a:ext>
            </a:extLst>
          </p:cNvPr>
          <p:cNvSpPr>
            <a:spLocks noGrp="1"/>
          </p:cNvSpPr>
          <p:nvPr>
            <p:ph type="title"/>
          </p:nvPr>
        </p:nvSpPr>
        <p:spPr/>
        <p:txBody>
          <a:bodyPr>
            <a:normAutofit fontScale="90000"/>
          </a:bodyPr>
          <a:lstStyle/>
          <a:p>
            <a:r>
              <a:rPr lang="en-US" dirty="0"/>
              <a:t>Kubernetes organization</a:t>
            </a:r>
          </a:p>
        </p:txBody>
      </p:sp>
      <p:sp>
        <p:nvSpPr>
          <p:cNvPr id="5" name="Content Placeholder 4">
            <a:extLst>
              <a:ext uri="{FF2B5EF4-FFF2-40B4-BE49-F238E27FC236}">
                <a16:creationId xmlns:a16="http://schemas.microsoft.com/office/drawing/2014/main" id="{B12551AD-64D8-4F38-6EB8-60BF29F5DA9E}"/>
              </a:ext>
            </a:extLst>
          </p:cNvPr>
          <p:cNvSpPr>
            <a:spLocks noGrp="1"/>
          </p:cNvSpPr>
          <p:nvPr>
            <p:ph type="body" sz="quarter" idx="10"/>
          </p:nvPr>
        </p:nvSpPr>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pPr marL="0" marR="0" lvl="0" indent="0" algn="l" defTabSz="2438338" rtl="0" eaLnBrk="1" fontAlgn="auto" latinLnBrk="0" hangingPunct="1">
              <a:lnSpc>
                <a:spcPct val="90000"/>
              </a:lnSpc>
              <a:spcBef>
                <a:spcPts val="4500"/>
              </a:spcBef>
              <a:spcAft>
                <a:spcPts val="0"/>
              </a:spcAft>
              <a:buClrTx/>
              <a:buSzPct val="123000"/>
              <a:buFontTx/>
              <a:buNone/>
              <a:tabLst/>
              <a:defRPr/>
            </a:pPr>
            <a:endParaRPr kumimoji="0" lang="en-US" sz="3200" b="1" i="0" u="none" strike="noStrike" kern="0" cap="all" spc="0" normalizeH="0" baseline="0" noProof="0" dirty="0">
              <a:ln>
                <a:noFill/>
              </a:ln>
              <a:solidFill>
                <a:srgbClr val="FFFFFF"/>
              </a:solidFill>
              <a:effectLst/>
              <a:uLnTx/>
              <a:uFill>
                <a:solidFill>
                  <a:srgbClr val="143E56"/>
                </a:solidFill>
              </a:uFill>
              <a:latin typeface="Open Sans ExtraBold" pitchFamily="2" charset="0"/>
              <a:ea typeface="Open Sans ExtraBold" pitchFamily="2" charset="0"/>
              <a:cs typeface="Open Sans ExtraBold" pitchFamily="2" charset="0"/>
              <a:sym typeface="Helvetica Neue"/>
            </a:endParaRPr>
          </a:p>
        </p:txBody>
      </p:sp>
      <p:sp>
        <p:nvSpPr>
          <p:cNvPr id="6" name="Text Placeholder 5">
            <a:extLst>
              <a:ext uri="{FF2B5EF4-FFF2-40B4-BE49-F238E27FC236}">
                <a16:creationId xmlns:a16="http://schemas.microsoft.com/office/drawing/2014/main" id="{0298FE01-1853-E913-939C-585F82A5C4AA}"/>
              </a:ext>
            </a:extLst>
          </p:cNvPr>
          <p:cNvSpPr>
            <a:spLocks noGrp="1"/>
          </p:cNvSpPr>
          <p:nvPr>
            <p:ph type="body" sz="quarter" idx="11"/>
          </p:nvPr>
        </p:nvSpPr>
        <p:spPr/>
        <p:txBody>
          <a:bodyPr>
            <a:noAutofit/>
          </a:bodyPr>
          <a:lstStyle/>
          <a:p>
            <a:r>
              <a:rPr lang="en-US" dirty="0"/>
              <a:t>A master server manages a Kubernetes cluster and provides services to manage the workload and to support communication for a large number of relatively unsophisticated minions servers that do the actual work.</a:t>
            </a:r>
          </a:p>
        </p:txBody>
      </p:sp>
      <p:sp>
        <p:nvSpPr>
          <p:cNvPr id="7" name="Text Placeholder 6">
            <a:extLst>
              <a:ext uri="{FF2B5EF4-FFF2-40B4-BE49-F238E27FC236}">
                <a16:creationId xmlns:a16="http://schemas.microsoft.com/office/drawing/2014/main" id="{0762B56B-5F28-0869-94FB-06C4B0C4BC1C}"/>
              </a:ext>
            </a:extLst>
          </p:cNvPr>
          <p:cNvSpPr>
            <a:spLocks noGrp="1"/>
          </p:cNvSpPr>
          <p:nvPr>
            <p:ph type="body" sz="quarter" idx="16"/>
          </p:nvPr>
        </p:nvSpPr>
        <p:spPr/>
        <p:txBody>
          <a:bodyPr/>
          <a:lstStyle/>
          <a:p>
            <a:r>
              <a:rPr lang="en-US" dirty="0" err="1"/>
              <a:t>Etcd</a:t>
            </a:r>
            <a:r>
              <a:rPr lang="en-US" dirty="0"/>
              <a:t> is a lightweight, distributed key-value store to share configuration data with the cluster nodes.</a:t>
            </a:r>
          </a:p>
          <a:p>
            <a:r>
              <a:rPr lang="en-US" dirty="0"/>
              <a:t>Minions use a docker service to run encapsulated application containers. A </a:t>
            </a:r>
            <a:r>
              <a:rPr lang="en-US" dirty="0" err="1"/>
              <a:t>kubernet</a:t>
            </a:r>
            <a:r>
              <a:rPr lang="en-US" dirty="0"/>
              <a:t> service allows minions to communicate with the master server and with the </a:t>
            </a:r>
            <a:r>
              <a:rPr lang="en-US" dirty="0" err="1"/>
              <a:t>etcd</a:t>
            </a:r>
            <a:r>
              <a:rPr lang="en-US" dirty="0"/>
              <a:t> store to get configuration details and update the state. A proxy service of the minions interacts with the containers and provides a primitive load balance.</a:t>
            </a:r>
          </a:p>
        </p:txBody>
      </p:sp>
    </p:spTree>
    <p:extLst>
      <p:ext uri="{BB962C8B-B14F-4D97-AF65-F5344CB8AC3E}">
        <p14:creationId xmlns:p14="http://schemas.microsoft.com/office/powerpoint/2010/main" val="440099310"/>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F26A7-DD9F-6132-8BB9-31EAEBC4C6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21468D-F815-9AEA-18F8-148B09497CE2}"/>
              </a:ext>
            </a:extLst>
          </p:cNvPr>
          <p:cNvSpPr>
            <a:spLocks noGrp="1"/>
          </p:cNvSpPr>
          <p:nvPr>
            <p:ph type="title"/>
          </p:nvPr>
        </p:nvSpPr>
        <p:spPr>
          <a:xfrm>
            <a:off x="2167377" y="1871164"/>
            <a:ext cx="14715569" cy="511175"/>
          </a:xfrm>
        </p:spPr>
        <p:txBody>
          <a:bodyPr>
            <a:normAutofit/>
          </a:bodyPr>
          <a:lstStyle/>
          <a:p>
            <a:r>
              <a:rPr lang="en-US" sz="3200"/>
              <a:t>Kubernetes organization</a:t>
            </a:r>
          </a:p>
        </p:txBody>
      </p:sp>
      <p:sp>
        <p:nvSpPr>
          <p:cNvPr id="14" name="Text Placeholder 2">
            <a:extLst>
              <a:ext uri="{FF2B5EF4-FFF2-40B4-BE49-F238E27FC236}">
                <a16:creationId xmlns:a16="http://schemas.microsoft.com/office/drawing/2014/main" id="{A08455C5-8C01-C476-6041-798FAAC4E224}"/>
              </a:ext>
            </a:extLst>
          </p:cNvPr>
          <p:cNvSpPr>
            <a:spLocks noGrp="1"/>
          </p:cNvSpPr>
          <p:nvPr>
            <p:ph type="body" sz="quarter" idx="10"/>
          </p:nvPr>
        </p:nvSpPr>
        <p:spPr>
          <a:xfrm>
            <a:off x="2167377" y="2419728"/>
            <a:ext cx="9768875" cy="803546"/>
          </a:xfrm>
        </p:spPr>
        <p:txBody>
          <a:bodyPr/>
          <a:lstStyle/>
          <a:p>
            <a:endParaRPr lang="en-US" dirty="0"/>
          </a:p>
        </p:txBody>
      </p:sp>
      <p:sp>
        <p:nvSpPr>
          <p:cNvPr id="6" name="Text Placeholder 5">
            <a:extLst>
              <a:ext uri="{FF2B5EF4-FFF2-40B4-BE49-F238E27FC236}">
                <a16:creationId xmlns:a16="http://schemas.microsoft.com/office/drawing/2014/main" id="{DFEF1B5A-38B7-906C-07BE-1F0A142E631E}"/>
              </a:ext>
            </a:extLst>
          </p:cNvPr>
          <p:cNvSpPr>
            <a:spLocks noGrp="1"/>
          </p:cNvSpPr>
          <p:nvPr>
            <p:ph type="body" sz="quarter" idx="16"/>
          </p:nvPr>
        </p:nvSpPr>
        <p:spPr>
          <a:xfrm>
            <a:off x="2167377" y="6556917"/>
            <a:ext cx="9768906" cy="5575610"/>
          </a:xfrm>
        </p:spPr>
        <p:txBody>
          <a:bodyPr>
            <a:normAutofit/>
          </a:bodyPr>
          <a:lstStyle/>
          <a:p>
            <a:r>
              <a:rPr lang="en-US" dirty="0"/>
              <a:t>Pods share fate and share resources such as storage volumes.</a:t>
            </a:r>
          </a:p>
          <a:p>
            <a:r>
              <a:rPr lang="en-US" dirty="0"/>
              <a:t>Pods manage co-located support software including: content management systems, controllers, managers, configurators, updaters, logging and monitoring adapters, and event publishers. </a:t>
            </a:r>
          </a:p>
          <a:p>
            <a:r>
              <a:rPr lang="en-US" dirty="0"/>
              <a:t>Pods also manage file and data loaders, local cache managers, log and checkpoint backup, compression, rotation, snapshotting, data change watchers, log trailers, proxies, bridges, and adapters.</a:t>
            </a:r>
          </a:p>
        </p:txBody>
      </p:sp>
      <p:pic>
        <p:nvPicPr>
          <p:cNvPr id="9" name="Picture Placeholder 8">
            <a:extLst>
              <a:ext uri="{FF2B5EF4-FFF2-40B4-BE49-F238E27FC236}">
                <a16:creationId xmlns:a16="http://schemas.microsoft.com/office/drawing/2014/main" id="{E90DB0F4-7623-9450-FC46-248CC4A131DB}"/>
              </a:ext>
            </a:extLst>
          </p:cNvPr>
          <p:cNvPicPr>
            <a:picLocks noGrp="1" noChangeAspect="1"/>
          </p:cNvPicPr>
          <p:nvPr>
            <p:ph type="pic" sz="quarter" idx="13"/>
          </p:nvPr>
        </p:nvPicPr>
        <p:blipFill>
          <a:blip r:embed="rId3"/>
          <a:srcRect l="5447" t="-8" r="3052"/>
          <a:stretch>
            <a:fillRect/>
          </a:stretch>
        </p:blipFill>
        <p:spPr>
          <a:xfrm>
            <a:off x="13340069" y="3223274"/>
            <a:ext cx="10173515" cy="7922478"/>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
        <p:nvSpPr>
          <p:cNvPr id="10" name="Text Placeholder 11">
            <a:extLst>
              <a:ext uri="{FF2B5EF4-FFF2-40B4-BE49-F238E27FC236}">
                <a16:creationId xmlns:a16="http://schemas.microsoft.com/office/drawing/2014/main" id="{403DAE8E-D70B-FABD-0AFE-948B7642801B}"/>
              </a:ext>
            </a:extLst>
          </p:cNvPr>
          <p:cNvSpPr>
            <a:spLocks noGrp="1"/>
          </p:cNvSpPr>
          <p:nvPr>
            <p:ph type="body" sz="quarter" idx="17"/>
          </p:nvPr>
        </p:nvSpPr>
        <p:spPr>
          <a:xfrm>
            <a:off x="2166938" y="4210049"/>
            <a:ext cx="9768874" cy="2039112"/>
          </a:xfrm>
        </p:spPr>
        <p:txBody>
          <a:bodyPr>
            <a:normAutofit fontScale="85000" lnSpcReduction="10000"/>
          </a:bodyPr>
          <a:lstStyle/>
          <a:p>
            <a:r>
              <a:rPr lang="en-US" dirty="0"/>
              <a:t>In Kubernetes, pods are groups of containers scheduled onto the same host and serve as units of scheduling, deployment, horizontal scaling, and replication. </a:t>
            </a:r>
          </a:p>
        </p:txBody>
      </p:sp>
    </p:spTree>
    <p:extLst>
      <p:ext uri="{BB962C8B-B14F-4D97-AF65-F5344CB8AC3E}">
        <p14:creationId xmlns:p14="http://schemas.microsoft.com/office/powerpoint/2010/main" val="2851302362"/>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E3802-7A6B-045C-EDB6-44994979DE93}"/>
              </a:ext>
            </a:extLst>
          </p:cNvPr>
          <p:cNvSpPr>
            <a:spLocks noGrp="1"/>
          </p:cNvSpPr>
          <p:nvPr>
            <p:ph type="title"/>
          </p:nvPr>
        </p:nvSpPr>
        <p:spPr/>
        <p:txBody>
          <a:bodyPr>
            <a:normAutofit fontScale="90000"/>
          </a:bodyPr>
          <a:lstStyle/>
          <a:p>
            <a:r>
              <a:rPr lang="en-US" dirty="0"/>
              <a:t>Exercise</a:t>
            </a:r>
          </a:p>
        </p:txBody>
      </p:sp>
      <p:sp>
        <p:nvSpPr>
          <p:cNvPr id="6" name="Text Placeholder 5">
            <a:extLst>
              <a:ext uri="{FF2B5EF4-FFF2-40B4-BE49-F238E27FC236}">
                <a16:creationId xmlns:a16="http://schemas.microsoft.com/office/drawing/2014/main" id="{B96B59B6-648E-8EB4-6907-07002D2ECFF4}"/>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1B73F1C5-C00D-0663-602C-B03399D4648E}"/>
              </a:ext>
            </a:extLst>
          </p:cNvPr>
          <p:cNvSpPr>
            <a:spLocks noGrp="1"/>
          </p:cNvSpPr>
          <p:nvPr>
            <p:ph sz="quarter" idx="11"/>
          </p:nvPr>
        </p:nvSpPr>
        <p:spPr/>
        <p:txBody>
          <a:bodyPr/>
          <a:lstStyle/>
          <a:p>
            <a:pPr marL="571500" indent="-571500">
              <a:buFont typeface="Arial" panose="020B0604020202020204" pitchFamily="34" charset="0"/>
              <a:buChar char="•"/>
            </a:pPr>
            <a:r>
              <a:rPr lang="en-US" dirty="0"/>
              <a:t>Present a case where using a VM is superior compared to container vice versa</a:t>
            </a:r>
          </a:p>
        </p:txBody>
      </p:sp>
    </p:spTree>
    <p:extLst>
      <p:ext uri="{BB962C8B-B14F-4D97-AF65-F5344CB8AC3E}">
        <p14:creationId xmlns:p14="http://schemas.microsoft.com/office/powerpoint/2010/main" val="2873593984"/>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532BAF-F517-BE43-A4AD-CC09CFE100BF}"/>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References</a:t>
            </a:r>
            <a:endParaRPr lang="en-US" dirty="0"/>
          </a:p>
        </p:txBody>
      </p:sp>
      <p:sp>
        <p:nvSpPr>
          <p:cNvPr id="4" name="Text Placeholder 3">
            <a:extLst>
              <a:ext uri="{FF2B5EF4-FFF2-40B4-BE49-F238E27FC236}">
                <a16:creationId xmlns:a16="http://schemas.microsoft.com/office/drawing/2014/main" id="{4C5FD19C-A63E-2EAD-8D32-134F78AD48CF}"/>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9902DD5D-7D42-CDFC-EC63-F37424D818B8}"/>
              </a:ext>
            </a:extLst>
          </p:cNvPr>
          <p:cNvSpPr>
            <a:spLocks noGrp="1"/>
          </p:cNvSpPr>
          <p:nvPr>
            <p:ph sz="quarter" idx="11"/>
          </p:nvPr>
        </p:nvSpPr>
        <p:spPr/>
        <p:txBody>
          <a:bodyPr/>
          <a:lstStyle/>
          <a:p>
            <a:r>
              <a:rPr lang="en-US" dirty="0"/>
              <a:t>Marinescu, Dan C. (2022). Cloud Computing Theory and Practice: 3rd Edition. Morgan Kaufmann Publishers. ISBN: 978-0-323-85277-7</a:t>
            </a:r>
          </a:p>
          <a:p>
            <a:pPr algn="just"/>
            <a:r>
              <a:rPr lang="en-ID" dirty="0">
                <a:ea typeface="Open Sans"/>
                <a:cs typeface="Open Sans"/>
                <a:hlinkClick r:id="rId2"/>
              </a:rPr>
              <a:t>https://www.youtube.com/watch?v=AeiXe7GRGCE</a:t>
            </a:r>
            <a:endParaRPr lang="en-ID" dirty="0">
              <a:ea typeface="Open Sans"/>
              <a:cs typeface="Open Sans"/>
            </a:endParaRPr>
          </a:p>
          <a:p>
            <a:pPr algn="just"/>
            <a:r>
              <a:rPr lang="en-ID" dirty="0">
                <a:latin typeface="Tahoma" panose="020B0604030504040204" pitchFamily="34" charset="0"/>
                <a:ea typeface="Tahoma" panose="020B0604030504040204" pitchFamily="34" charset="0"/>
                <a:cs typeface="Tahoma" panose="020B0604030504040204" pitchFamily="34" charset="0"/>
                <a:hlinkClick r:id="rId3"/>
              </a:rPr>
              <a:t>https://kubernetes.io/docs/home/</a:t>
            </a:r>
            <a:endParaRPr lang="en-ID" dirty="0">
              <a:latin typeface="Tahoma" panose="020B0604030504040204" pitchFamily="34" charset="0"/>
              <a:ea typeface="Tahoma" panose="020B0604030504040204" pitchFamily="34" charset="0"/>
              <a:cs typeface="Tahoma" panose="020B0604030504040204" pitchFamily="34" charset="0"/>
            </a:endParaRPr>
          </a:p>
          <a:p>
            <a:pPr algn="just"/>
            <a:endParaRPr lang="en-ID" dirty="0">
              <a:latin typeface="Tahoma" panose="020B0604030504040204" pitchFamily="34" charset="0"/>
              <a:ea typeface="Tahoma" panose="020B0604030504040204" pitchFamily="34" charset="0"/>
              <a:cs typeface="Tahoma" panose="020B0604030504040204" pitchFamily="34" charset="0"/>
            </a:endParaRPr>
          </a:p>
          <a:p>
            <a:endParaRPr lang="en-US" dirty="0"/>
          </a:p>
          <a:p>
            <a:endParaRPr lang="en-US" dirty="0"/>
          </a:p>
        </p:txBody>
      </p:sp>
    </p:spTree>
    <p:extLst>
      <p:ext uri="{BB962C8B-B14F-4D97-AF65-F5344CB8AC3E}">
        <p14:creationId xmlns:p14="http://schemas.microsoft.com/office/powerpoint/2010/main" val="1730510924"/>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B9CA93-CCBC-0E81-9FD6-1A448158A5B2}"/>
              </a:ext>
            </a:extLst>
          </p:cNvPr>
          <p:cNvSpPr>
            <a:spLocks noGrp="1"/>
          </p:cNvSpPr>
          <p:nvPr>
            <p:ph type="title"/>
          </p:nvPr>
        </p:nvSpPr>
        <p:spPr>
          <a:xfrm>
            <a:off x="1206498" y="4535865"/>
            <a:ext cx="21971004" cy="3746281"/>
          </a:xfrm>
        </p:spPr>
        <p:txBody>
          <a:bodyPr/>
          <a:lstStyle/>
          <a:p>
            <a:r>
              <a:rPr lang="en-US" dirty="0"/>
              <a:t>Thankyou</a:t>
            </a:r>
          </a:p>
        </p:txBody>
      </p:sp>
    </p:spTree>
    <p:extLst>
      <p:ext uri="{BB962C8B-B14F-4D97-AF65-F5344CB8AC3E}">
        <p14:creationId xmlns:p14="http://schemas.microsoft.com/office/powerpoint/2010/main" val="6792659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OR 10</Template>
  <TotalTime>951</TotalTime>
  <Words>2851</Words>
  <Application>Microsoft Office PowerPoint</Application>
  <PresentationFormat>Custom</PresentationFormat>
  <Paragraphs>177</Paragraphs>
  <Slides>34</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Open Sans Light</vt:lpstr>
      <vt:lpstr>Open Sans ExtraBold</vt:lpstr>
      <vt:lpstr>Tahoma</vt:lpstr>
      <vt:lpstr>Open Sans</vt:lpstr>
      <vt:lpstr>Open Sans Semibold</vt:lpstr>
      <vt:lpstr>OCRB</vt:lpstr>
      <vt:lpstr>Arial</vt:lpstr>
      <vt:lpstr>21_BasicWhite</vt:lpstr>
      <vt:lpstr>Cloud Hardware and Software  Session 04</vt:lpstr>
      <vt:lpstr>Learning Objectives</vt:lpstr>
      <vt:lpstr>Outline</vt:lpstr>
      <vt:lpstr>Cloud Infrastructure Challenges</vt:lpstr>
      <vt:lpstr>Cloud Infrastructure Challenges</vt:lpstr>
      <vt:lpstr>Virtualization</vt:lpstr>
      <vt:lpstr>Virtualization</vt:lpstr>
      <vt:lpstr>Containers</vt:lpstr>
      <vt:lpstr>Cloud Hardware</vt:lpstr>
      <vt:lpstr>Warehouse-scale Computer (WSC)</vt:lpstr>
      <vt:lpstr>Warehouse-scale Computer (WSC)</vt:lpstr>
      <vt:lpstr>WSC Performance</vt:lpstr>
      <vt:lpstr>Schematic illustration of a modern processors core microarchitecture</vt:lpstr>
      <vt:lpstr>Schematic illustration of a modern processors core microarchitecture</vt:lpstr>
      <vt:lpstr>Cluster Management System</vt:lpstr>
      <vt:lpstr>Evolution of a cluster management system</vt:lpstr>
      <vt:lpstr>Evolution of a cluster management system</vt:lpstr>
      <vt:lpstr>Evolution of a cluster management system</vt:lpstr>
      <vt:lpstr>Evolution of a cluster management system</vt:lpstr>
      <vt:lpstr>QoS-aware Cluster Management</vt:lpstr>
      <vt:lpstr>Quasar</vt:lpstr>
      <vt:lpstr>Docker Containers</vt:lpstr>
      <vt:lpstr>Docker container</vt:lpstr>
      <vt:lpstr>System organization for Virtual Machines and Docker containers</vt:lpstr>
      <vt:lpstr>Containers</vt:lpstr>
      <vt:lpstr>Docker container</vt:lpstr>
      <vt:lpstr>kubernetes</vt:lpstr>
      <vt:lpstr>Kubernetes</vt:lpstr>
      <vt:lpstr>Kubernetes</vt:lpstr>
      <vt:lpstr>Kubernetes organization</vt:lpstr>
      <vt:lpstr>Kubernetes organization</vt:lpstr>
      <vt:lpstr>Exercise</vt:lpstr>
      <vt:lpstr>References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Kali Linux</dc:title>
  <dc:creator>NICHOLAUS HENDRIK JEREMY</dc:creator>
  <cp:lastModifiedBy>Samuel Philip</cp:lastModifiedBy>
  <cp:revision>18</cp:revision>
  <dcterms:created xsi:type="dcterms:W3CDTF">2023-06-28T08:14:57Z</dcterms:created>
  <dcterms:modified xsi:type="dcterms:W3CDTF">2026-01-09T07:56:24Z</dcterms:modified>
</cp:coreProperties>
</file>