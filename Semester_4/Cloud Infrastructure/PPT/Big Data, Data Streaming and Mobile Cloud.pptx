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1"/>
  </p:notesMasterIdLst>
  <p:sldIdLst>
    <p:sldId id="256" r:id="rId2"/>
    <p:sldId id="278" r:id="rId3"/>
    <p:sldId id="257" r:id="rId4"/>
    <p:sldId id="264" r:id="rId5"/>
    <p:sldId id="297" r:id="rId6"/>
    <p:sldId id="340" r:id="rId7"/>
    <p:sldId id="341" r:id="rId8"/>
    <p:sldId id="303" r:id="rId9"/>
    <p:sldId id="301" r:id="rId10"/>
    <p:sldId id="339" r:id="rId11"/>
    <p:sldId id="342" r:id="rId12"/>
    <p:sldId id="343" r:id="rId13"/>
    <p:sldId id="344" r:id="rId14"/>
    <p:sldId id="345" r:id="rId15"/>
    <p:sldId id="346" r:id="rId16"/>
    <p:sldId id="337" r:id="rId17"/>
    <p:sldId id="321" r:id="rId18"/>
    <p:sldId id="322" r:id="rId19"/>
    <p:sldId id="347" r:id="rId20"/>
    <p:sldId id="348" r:id="rId21"/>
    <p:sldId id="323" r:id="rId22"/>
    <p:sldId id="304" r:id="rId23"/>
    <p:sldId id="324" r:id="rId24"/>
    <p:sldId id="349" r:id="rId25"/>
    <p:sldId id="350" r:id="rId26"/>
    <p:sldId id="351" r:id="rId27"/>
    <p:sldId id="315" r:id="rId28"/>
    <p:sldId id="317" r:id="rId29"/>
    <p:sldId id="296" r:id="rId30"/>
  </p:sldIdLst>
  <p:sldSz cx="24384000" cy="13716000"/>
  <p:notesSz cx="6858000" cy="9144000"/>
  <p:embeddedFontLst>
    <p:embeddedFont>
      <p:font typeface="OCRB" panose="020B0609020202020204" pitchFamily="49" charset="0"/>
      <p:regular r:id="rId32"/>
    </p:embeddedFont>
    <p:embeddedFont>
      <p:font typeface="Open Sans" panose="020B0606030504020204" pitchFamily="34" charset="0"/>
      <p:regular r:id="rId33"/>
      <p:bold r:id="rId34"/>
      <p:italic r:id="rId35"/>
      <p:boldItalic r:id="rId36"/>
    </p:embeddedFont>
    <p:embeddedFont>
      <p:font typeface="Open Sans ExtraBold" panose="020B0906030804020204" pitchFamily="34" charset="0"/>
      <p:bold r:id="rId37"/>
      <p:italic r:id="rId38"/>
      <p:boldItalic r:id="rId39"/>
    </p:embeddedFont>
    <p:embeddedFont>
      <p:font typeface="Open Sans Light" panose="020B0306030504020204" pitchFamily="34" charset="0"/>
      <p:regular r:id="rId40"/>
      <p:italic r:id="rId41"/>
    </p:embeddedFont>
    <p:embeddedFont>
      <p:font typeface="Open Sans Semibold" panose="020B0706030804020204" pitchFamily="34" charset="0"/>
      <p:regular r:id="rId42"/>
      <p:bold r:id="rId43"/>
      <p:italic r:id="rId44"/>
      <p:boldItalic r:id="rId45"/>
    </p:embeddedFont>
    <p:embeddedFont>
      <p:font typeface="Tahoma" panose="020B0604030504040204" pitchFamily="34" charset="0"/>
      <p:regular r:id="rId46"/>
      <p:bold r:id="rId47"/>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55" autoAdjust="0"/>
    <p:restoredTop sz="96197"/>
  </p:normalViewPr>
  <p:slideViewPr>
    <p:cSldViewPr snapToGrid="0" snapToObjects="1">
      <p:cViewPr>
        <p:scale>
          <a:sx n="33" d="100"/>
          <a:sy n="33" d="100"/>
        </p:scale>
        <p:origin x="643" y="341"/>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37298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F918C-94BA-768D-0DAB-4F7B7EB26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1B7B2-98E1-973B-DB1A-E34DFC03EC0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5864438-4B75-9973-2FD3-870FD207506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90927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3CDFB-DF28-24F0-FFFE-BF92D9306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0B08C0-1A11-C043-0EC9-CB3FEBC9D7F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EE43F96-52CD-7EFF-AF05-5DE1A99EC0A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77257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lgn="just">
              <a:buFontTx/>
              <a:buChar char="-"/>
            </a:pPr>
            <a:r>
              <a:rPr lang="en-US" dirty="0"/>
              <a:t>A read–write transaction implements a standalone write, and the concurrency control is pessimistic. </a:t>
            </a:r>
          </a:p>
          <a:p>
            <a:pPr lvl="1" algn="just">
              <a:buFontTx/>
              <a:buChar char="-"/>
            </a:pPr>
            <a:r>
              <a:rPr lang="en-US" dirty="0"/>
              <a:t>A read-only transaction benefits from snapshot isolation. </a:t>
            </a:r>
          </a:p>
          <a:p>
            <a:pPr lvl="1" algn="just">
              <a:buFontTx/>
              <a:buChar char="-"/>
            </a:pPr>
            <a:r>
              <a:rPr lang="en-US" dirty="0"/>
              <a:t>A snapshot read is a lock-free read in the past, at a time stamp specified by the client or at a time stamp chosen by the system before a time stamp upper bound specified by the client.</a:t>
            </a:r>
          </a:p>
          <a:p>
            <a:endParaRPr lang="en-US" dirty="0"/>
          </a:p>
        </p:txBody>
      </p:sp>
    </p:spTree>
    <p:extLst>
      <p:ext uri="{BB962C8B-B14F-4D97-AF65-F5344CB8AC3E}">
        <p14:creationId xmlns:p14="http://schemas.microsoft.com/office/powerpoint/2010/main" val="1426939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2E374-55BB-9A94-99B6-3E2C79D6E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BCA0F-6DD3-91EA-AD8C-215918B10D7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BDA8B8C-54ED-192B-CD02-EED4D035842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86099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75488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2C918-A824-C84A-B6A4-68D0C715D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3BEE5-F1A3-2B08-81CF-2D5D3E012D0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21C3646-A5C7-EB21-D581-2803EE6C47F5}"/>
              </a:ext>
            </a:extLst>
          </p:cNvPr>
          <p:cNvSpPr>
            <a:spLocks noGrp="1"/>
          </p:cNvSpPr>
          <p:nvPr>
            <p:ph type="body" idx="1"/>
          </p:nvPr>
        </p:nvSpPr>
        <p:spPr/>
        <p:txBody>
          <a:bodyPr/>
          <a:lstStyle/>
          <a:p>
            <a:pPr algn="just"/>
            <a:r>
              <a:rPr lang="en-US" dirty="0"/>
              <a:t>Spark Streaming system along with a data streaming model, called D-Streams. D-Streams model offers a high-level functional programming API, strong consistency, and efficient fault recovery. This model, prototyped as Spark Streaming, achieves fault tolerance by replication; there are two processing nodes, the upstream backup and a downstream node.</a:t>
            </a:r>
          </a:p>
          <a:p>
            <a:pPr algn="just"/>
            <a:r>
              <a:rPr lang="en-US" dirty="0"/>
              <a:t>To address the latency concerns, the Spark Streaming system relies on a storage abstraction, Resilient Distributed Dataset (RDD), to rebuild lost data without replication. A parallel recovery mechanism involve all cluster nodes working in concert to reconstruct lost data.</a:t>
            </a:r>
          </a:p>
          <a:p>
            <a:pPr algn="just"/>
            <a:r>
              <a:rPr lang="en-US" dirty="0"/>
              <a:t>Spark Streaming provides an API similar to </a:t>
            </a:r>
            <a:r>
              <a:rPr lang="en-US" dirty="0" err="1"/>
              <a:t>DryadLINQ</a:t>
            </a:r>
            <a:r>
              <a:rPr lang="en-US" dirty="0"/>
              <a:t> in the Scala language and supports stateless operations acting independently in each time interval, as well as aggregation over time window. </a:t>
            </a:r>
          </a:p>
          <a:p>
            <a:pPr algn="just"/>
            <a:r>
              <a:rPr lang="en-US" dirty="0"/>
              <a:t>To recover in the case of node failures, D-Streams and RDDs track their lineage using a dependency graph.</a:t>
            </a:r>
          </a:p>
          <a:p>
            <a:endParaRPr lang="en-US" dirty="0"/>
          </a:p>
        </p:txBody>
      </p:sp>
    </p:spTree>
    <p:extLst>
      <p:ext uri="{BB962C8B-B14F-4D97-AF65-F5344CB8AC3E}">
        <p14:creationId xmlns:p14="http://schemas.microsoft.com/office/powerpoint/2010/main" val="2000262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B99FF-3F1E-5F0A-4774-50CC7117D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3501B-72B0-0A16-07E8-6CD9C013157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C1F5527-CCA3-3BE7-AA8C-EE1F32CC8D26}"/>
              </a:ext>
            </a:extLst>
          </p:cNvPr>
          <p:cNvSpPr>
            <a:spLocks noGrp="1"/>
          </p:cNvSpPr>
          <p:nvPr>
            <p:ph type="body" idx="1"/>
          </p:nvPr>
        </p:nvSpPr>
        <p:spPr/>
        <p:txBody>
          <a:bodyPr/>
          <a:lstStyle/>
          <a:p>
            <a:pPr algn="just"/>
            <a:r>
              <a:rPr lang="en-US" dirty="0"/>
              <a:t>Spark Streaming system along with a data streaming model, called D-Streams. D-Streams model offers a high-level functional programming API, strong consistency, and efficient fault recovery. This model, prototyped as Spark Streaming, achieves fault tolerance by replication; there are two processing nodes, the upstream backup and a downstream node.</a:t>
            </a:r>
          </a:p>
          <a:p>
            <a:pPr algn="just"/>
            <a:r>
              <a:rPr lang="en-US" dirty="0"/>
              <a:t>To address the latency concerns, the Spark Streaming system relies on a storage abstraction, Resilient Distributed Dataset (RDD), to rebuild lost data without replication. A parallel recovery mechanism involve all cluster nodes working in concert to reconstruct lost data.</a:t>
            </a:r>
          </a:p>
          <a:p>
            <a:pPr algn="just"/>
            <a:r>
              <a:rPr lang="en-US" dirty="0"/>
              <a:t>Spark Streaming provides an API similar to </a:t>
            </a:r>
            <a:r>
              <a:rPr lang="en-US" dirty="0" err="1"/>
              <a:t>DryadLINQ</a:t>
            </a:r>
            <a:r>
              <a:rPr lang="en-US" dirty="0"/>
              <a:t> in the Scala language and supports stateless operations acting independently in each time interval, as well as aggregation over time window. </a:t>
            </a:r>
          </a:p>
          <a:p>
            <a:pPr algn="just"/>
            <a:r>
              <a:rPr lang="en-US" dirty="0"/>
              <a:t>To recover in the case of node failures, D-Streams and RDDs track their lineage using a dependency graph.</a:t>
            </a:r>
          </a:p>
          <a:p>
            <a:endParaRPr lang="en-US" dirty="0"/>
          </a:p>
        </p:txBody>
      </p:sp>
    </p:spTree>
    <p:extLst>
      <p:ext uri="{BB962C8B-B14F-4D97-AF65-F5344CB8AC3E}">
        <p14:creationId xmlns:p14="http://schemas.microsoft.com/office/powerpoint/2010/main" val="42739739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4319125" y="5273825"/>
            <a:ext cx="9217024"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13728171" y="5273825"/>
            <a:ext cx="9436629"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pPr>
              <a:defRPr/>
            </a:pPr>
            <a:fld id="{CD7BD76F-6914-4CF6-838D-B2233DFD55E0}" type="datetime1">
              <a:rPr lang="en-US" smtClean="0"/>
              <a:pPr>
                <a:defRPr/>
              </a:pPr>
              <a:t>1/8/2026</a:t>
            </a:fld>
            <a:r>
              <a:rPr lang="en-US"/>
              <a:t>Bina Nusantara University</a:t>
            </a: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267CA0D-3B9F-49E7-A5DF-A0D1B5CFE3C6}" type="slidenum">
              <a:rPr lang="en-US" smtClean="0"/>
              <a:pPr>
                <a:defRPr/>
              </a:pPr>
              <a:t>‹#›</a:t>
            </a:fld>
            <a:endParaRPr lang="en-US"/>
          </a:p>
        </p:txBody>
      </p:sp>
    </p:spTree>
    <p:extLst>
      <p:ext uri="{BB962C8B-B14F-4D97-AF65-F5344CB8AC3E}">
        <p14:creationId xmlns:p14="http://schemas.microsoft.com/office/powerpoint/2010/main" val="3223950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NewBM">
    <p:spTree>
      <p:nvGrpSpPr>
        <p:cNvPr id="1" name=""/>
        <p:cNvGrpSpPr/>
        <p:nvPr/>
      </p:nvGrpSpPr>
      <p:grpSpPr>
        <a:xfrm>
          <a:off x="0" y="0"/>
          <a:ext cx="0" cy="0"/>
          <a:chOff x="0" y="0"/>
          <a:chExt cx="0" cy="0"/>
        </a:xfrm>
      </p:grpSpPr>
      <p:pic>
        <p:nvPicPr>
          <p:cNvPr id="7" name="Picture 1" descr="Background 02.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 y="-27874"/>
            <a:ext cx="24383997" cy="1292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0" y="10314384"/>
            <a:ext cx="24383995" cy="340161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2" name="Title 1"/>
          <p:cNvSpPr>
            <a:spLocks noGrp="1"/>
          </p:cNvSpPr>
          <p:nvPr>
            <p:ph type="title"/>
          </p:nvPr>
        </p:nvSpPr>
        <p:spPr>
          <a:xfrm>
            <a:off x="4673600" y="2743200"/>
            <a:ext cx="18232304" cy="1584176"/>
          </a:xfrm>
        </p:spPr>
        <p:txBody>
          <a:bodyPr>
            <a:normAutofit/>
          </a:bodyPr>
          <a:lstStyle>
            <a:lvl1pPr algn="ctr">
              <a:defRPr sz="6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1219200" y="12906673"/>
            <a:ext cx="5689600" cy="730250"/>
          </a:xfrm>
        </p:spPr>
        <p:txBody>
          <a:bodyPr/>
          <a:lstStyle/>
          <a:p>
            <a:pPr>
              <a:defRPr/>
            </a:pPr>
            <a:fld id="{D613A7DE-4529-4078-B095-609A054D8419}" type="datetime1">
              <a:rPr lang="en-US" smtClean="0"/>
              <a:pPr>
                <a:defRPr/>
              </a:pPr>
              <a:t>1/8/2026</a:t>
            </a:fld>
            <a:r>
              <a:rPr lang="en-US"/>
              <a:t>Bina Nusantara University</a:t>
            </a:r>
          </a:p>
        </p:txBody>
      </p:sp>
      <p:sp>
        <p:nvSpPr>
          <p:cNvPr id="9" name="Footer Placeholder 4"/>
          <p:cNvSpPr>
            <a:spLocks noGrp="1"/>
          </p:cNvSpPr>
          <p:nvPr>
            <p:ph type="ftr" sz="quarter" idx="11"/>
          </p:nvPr>
        </p:nvSpPr>
        <p:spPr>
          <a:xfrm>
            <a:off x="8331200" y="12906673"/>
            <a:ext cx="7721600" cy="730250"/>
          </a:xfrm>
        </p:spPr>
        <p:txBody>
          <a:bodyPr/>
          <a:lstStyle/>
          <a:p>
            <a:pPr>
              <a:defRPr/>
            </a:pPr>
            <a:endParaRPr lang="en-US"/>
          </a:p>
        </p:txBody>
      </p:sp>
      <p:sp>
        <p:nvSpPr>
          <p:cNvPr id="10" name="Slide Number Placeholder 5"/>
          <p:cNvSpPr>
            <a:spLocks noGrp="1"/>
          </p:cNvSpPr>
          <p:nvPr>
            <p:ph type="sldNum" sz="quarter" idx="12"/>
          </p:nvPr>
        </p:nvSpPr>
        <p:spPr>
          <a:xfrm>
            <a:off x="17475200" y="12906673"/>
            <a:ext cx="5689600" cy="730250"/>
          </a:xfrm>
        </p:spPr>
        <p:txBody>
          <a:bodyPr/>
          <a:lstStyle/>
          <a:p>
            <a:pPr>
              <a:defRPr/>
            </a:pPr>
            <a:fld id="{21EF0E02-90DE-4DDF-8E9F-438205EAE6E1}" type="slidenum">
              <a:rPr lang="en-US" smtClean="0"/>
              <a:pPr>
                <a:defRPr/>
              </a:pPr>
              <a:t>‹#›</a:t>
            </a:fld>
            <a:endParaRPr lang="en-US"/>
          </a:p>
        </p:txBody>
      </p:sp>
      <p:sp>
        <p:nvSpPr>
          <p:cNvPr id="14" name="Content Placeholder 2"/>
          <p:cNvSpPr>
            <a:spLocks noGrp="1"/>
          </p:cNvSpPr>
          <p:nvPr>
            <p:ph idx="1"/>
          </p:nvPr>
        </p:nvSpPr>
        <p:spPr>
          <a:xfrm>
            <a:off x="2438400" y="4572000"/>
            <a:ext cx="20929600" cy="744319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Tree>
    <p:extLst>
      <p:ext uri="{BB962C8B-B14F-4D97-AF65-F5344CB8AC3E}">
        <p14:creationId xmlns:p14="http://schemas.microsoft.com/office/powerpoint/2010/main" val="2352864156"/>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 id="2147483689" r:id="rId24"/>
    <p:sldLayoutId id="2147483690" r:id="rId25"/>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hyperlink" Target="https://static.googleusercontent.com/media/research.google.com/en/pubs/archive/42851.pdf" TargetMode="External"/><Relationship Id="rId2" Type="http://schemas.openxmlformats.org/officeDocument/2006/relationships/hyperlink" Target="https://docs.cloud.google.com/spanner/docs/whitepapers/life-of-reads-and-writes#:~:text=This%20allows%20different%20Spanner%20machines,order%20to%20make%20TrueTime%20work" TargetMode="Externa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fontScale="90000"/>
          </a:bodyPr>
          <a:lstStyle/>
          <a:p>
            <a:r>
              <a:rPr lang="en-US" dirty="0"/>
              <a:t>Big Data, Data Streaming and Mobile Cloud</a:t>
            </a:r>
            <a:br>
              <a:rPr lang="en-US" dirty="0"/>
            </a:br>
            <a:br>
              <a:rPr lang="en-US" dirty="0"/>
            </a:br>
            <a:r>
              <a:rPr lang="en-US" sz="6000" dirty="0"/>
              <a:t>Session 12</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D6825 - Samuel Philip</a:t>
            </a:r>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COSC6100001 - Cloud Infrastructure</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outcomes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rmAutofit lnSpcReduction="10000"/>
          </a:bodyPr>
          <a:lstStyle/>
          <a:p>
            <a:r>
              <a:rPr lang="en-US" dirty="0"/>
              <a:t>(C4) Analysis : identify problems that can be solved using cloud global infrastructure</a:t>
            </a:r>
          </a:p>
          <a:p>
            <a:r>
              <a:rPr lang="en-US" dirty="0"/>
              <a:t>(C2) Comprehension : group Classify real-worlds problems in accordance with cloud computing infrastructure</a:t>
            </a:r>
          </a:p>
          <a:p>
            <a:r>
              <a:rPr lang="en-US" dirty="0"/>
              <a:t>(C4) Analysis : analyze identifying problems and choose proper Cloud Services and Cloud Infrastructure</a:t>
            </a:r>
          </a:p>
          <a:p>
            <a:r>
              <a:rPr lang="en-US" dirty="0"/>
              <a:t>(C5) Synthesis : design Cloud computing architecture and infrastructure and implementation on </a:t>
            </a:r>
            <a:r>
              <a:rPr lang="en-US" dirty="0" err="1"/>
              <a:t>applciations</a:t>
            </a:r>
            <a:endParaRPr lang="en-US" dirty="0"/>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Big Data</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Data Warehouse</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Data Streaming</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Mobile Computing and Applications</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Big Data</a:t>
            </a:r>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6E73-A651-97FC-3DE1-CEF65AF1619A}"/>
              </a:ext>
            </a:extLst>
          </p:cNvPr>
          <p:cNvSpPr>
            <a:spLocks noGrp="1"/>
          </p:cNvSpPr>
          <p:nvPr>
            <p:ph type="title"/>
          </p:nvPr>
        </p:nvSpPr>
        <p:spPr>
          <a:xfrm>
            <a:off x="2167377" y="1871164"/>
            <a:ext cx="14715569" cy="511175"/>
          </a:xfrm>
        </p:spPr>
        <p:txBody>
          <a:bodyPr>
            <a:normAutofit/>
          </a:bodyPr>
          <a:lstStyle/>
          <a:p>
            <a:r>
              <a:rPr lang="en-US" sz="3200" dirty="0"/>
              <a:t>Big data</a:t>
            </a:r>
          </a:p>
        </p:txBody>
      </p:sp>
      <p:sp>
        <p:nvSpPr>
          <p:cNvPr id="13" name="Text Placeholder 2">
            <a:extLst>
              <a:ext uri="{FF2B5EF4-FFF2-40B4-BE49-F238E27FC236}">
                <a16:creationId xmlns:a16="http://schemas.microsoft.com/office/drawing/2014/main" id="{F5E5306D-1B4E-9948-9FDA-EB0FC630EBED}"/>
              </a:ext>
            </a:extLst>
          </p:cNvPr>
          <p:cNvSpPr>
            <a:spLocks noGrp="1"/>
          </p:cNvSpPr>
          <p:nvPr>
            <p:ph type="body" sz="quarter" idx="10"/>
          </p:nvPr>
        </p:nvSpPr>
        <p:spPr>
          <a:xfrm>
            <a:off x="2167377" y="2419728"/>
            <a:ext cx="9768875" cy="803546"/>
          </a:xfrm>
        </p:spPr>
        <p:txBody>
          <a:bodyPr/>
          <a:lstStyle/>
          <a:p>
            <a:endParaRPr lang="en-US"/>
          </a:p>
        </p:txBody>
      </p:sp>
      <p:sp>
        <p:nvSpPr>
          <p:cNvPr id="4" name="Content Placeholder 3">
            <a:extLst>
              <a:ext uri="{FF2B5EF4-FFF2-40B4-BE49-F238E27FC236}">
                <a16:creationId xmlns:a16="http://schemas.microsoft.com/office/drawing/2014/main" id="{8D862F95-B0B7-A38E-BEF3-68DCC85BA8BE}"/>
              </a:ext>
            </a:extLst>
          </p:cNvPr>
          <p:cNvSpPr>
            <a:spLocks noGrp="1"/>
          </p:cNvSpPr>
          <p:nvPr>
            <p:ph type="body" sz="quarter" idx="16"/>
          </p:nvPr>
        </p:nvSpPr>
        <p:spPr>
          <a:xfrm>
            <a:off x="2167377" y="6556917"/>
            <a:ext cx="9768906" cy="5575610"/>
          </a:xfrm>
        </p:spPr>
        <p:txBody>
          <a:bodyPr>
            <a:normAutofit/>
          </a:bodyPr>
          <a:lstStyle/>
          <a:p>
            <a:pPr algn="just"/>
            <a:r>
              <a:rPr lang="en-US" b="1" dirty="0"/>
              <a:t>Volume</a:t>
            </a:r>
            <a:r>
              <a:rPr lang="en-US" dirty="0"/>
              <a:t> is self-explanatory, and </a:t>
            </a:r>
            <a:r>
              <a:rPr lang="en-US" b="1" dirty="0"/>
              <a:t>velocity</a:t>
            </a:r>
            <a:r>
              <a:rPr lang="en-US" dirty="0"/>
              <a:t> means that responses to queries and data analysis requests have to be provided very fast. </a:t>
            </a:r>
            <a:r>
              <a:rPr lang="en-US" b="1" dirty="0"/>
              <a:t>Variety</a:t>
            </a:r>
            <a:r>
              <a:rPr lang="en-US" dirty="0"/>
              <a:t> recognizes the wide range of data sources and data formats. Persistency means that data has a lasting value; it is not ephemeral.</a:t>
            </a:r>
          </a:p>
          <a:p>
            <a:pPr algn="just"/>
            <a:r>
              <a:rPr lang="en-US" dirty="0"/>
              <a:t>Big Data covers a wide spectrum of data including user-generated content and machine-generated data. </a:t>
            </a:r>
          </a:p>
          <a:p>
            <a:pPr algn="just"/>
            <a:r>
              <a:rPr lang="en-US" dirty="0"/>
              <a:t>It’s hit or miss in terms of quality and/or structure, some are structured, some raw data</a:t>
            </a:r>
          </a:p>
        </p:txBody>
      </p:sp>
      <p:sp>
        <p:nvSpPr>
          <p:cNvPr id="7" name="Text Placeholder 6">
            <a:extLst>
              <a:ext uri="{FF2B5EF4-FFF2-40B4-BE49-F238E27FC236}">
                <a16:creationId xmlns:a16="http://schemas.microsoft.com/office/drawing/2014/main" id="{412CE686-AEC3-7655-DFFC-844C8109D714}"/>
              </a:ext>
            </a:extLst>
          </p:cNvPr>
          <p:cNvSpPr>
            <a:spLocks noGrp="1"/>
          </p:cNvSpPr>
          <p:nvPr>
            <p:ph type="body" sz="quarter" idx="17"/>
          </p:nvPr>
        </p:nvSpPr>
        <p:spPr>
          <a:xfrm>
            <a:off x="2166938" y="4210049"/>
            <a:ext cx="9768874" cy="2039112"/>
          </a:xfrm>
        </p:spPr>
        <p:txBody>
          <a:bodyPr>
            <a:normAutofit/>
          </a:bodyPr>
          <a:lstStyle/>
          <a:p>
            <a:pPr algn="just"/>
            <a:r>
              <a:rPr lang="en-US" sz="2800" dirty="0"/>
              <a:t>There are three characteristics of Big Data called “Vs”: volume, velocity, and variety, along with persistency. </a:t>
            </a:r>
          </a:p>
        </p:txBody>
      </p:sp>
      <p:pic>
        <p:nvPicPr>
          <p:cNvPr id="9" name="Picture Placeholder 8">
            <a:extLst>
              <a:ext uri="{FF2B5EF4-FFF2-40B4-BE49-F238E27FC236}">
                <a16:creationId xmlns:a16="http://schemas.microsoft.com/office/drawing/2014/main" id="{99A08213-B5EA-4531-E116-79F113F86EA6}"/>
              </a:ext>
            </a:extLst>
          </p:cNvPr>
          <p:cNvPicPr>
            <a:picLocks noGrp="1" noChangeAspect="1"/>
          </p:cNvPicPr>
          <p:nvPr>
            <p:ph type="pic" sz="quarter" idx="13"/>
          </p:nvPr>
        </p:nvPicPr>
        <p:blipFill>
          <a:blip r:embed="rId2"/>
          <a:srcRect l="-919" r="354"/>
          <a:stretch>
            <a:fillRect/>
          </a:stretch>
        </p:blipFill>
        <p:spPr>
          <a:xfrm>
            <a:off x="12192000" y="5229605"/>
            <a:ext cx="11538384" cy="5575610"/>
          </a:xfrm>
          <a:prstGeom prst="rect">
            <a:avLst/>
          </a:prstGeom>
        </p:spPr>
      </p:pic>
    </p:spTree>
    <p:extLst>
      <p:ext uri="{BB962C8B-B14F-4D97-AF65-F5344CB8AC3E}">
        <p14:creationId xmlns:p14="http://schemas.microsoft.com/office/powerpoint/2010/main" val="7662952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15D91-4498-41E3-689B-4592E57E72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966ED-E208-E5CA-1A44-9278982F4094}"/>
              </a:ext>
            </a:extLst>
          </p:cNvPr>
          <p:cNvSpPr>
            <a:spLocks noGrp="1"/>
          </p:cNvSpPr>
          <p:nvPr>
            <p:ph type="title"/>
          </p:nvPr>
        </p:nvSpPr>
        <p:spPr>
          <a:xfrm>
            <a:off x="2167377" y="1871164"/>
            <a:ext cx="14715569" cy="511175"/>
          </a:xfrm>
        </p:spPr>
        <p:txBody>
          <a:bodyPr>
            <a:normAutofit/>
          </a:bodyPr>
          <a:lstStyle/>
          <a:p>
            <a:r>
              <a:rPr lang="en-US" sz="3200" dirty="0"/>
              <a:t>Big data</a:t>
            </a:r>
          </a:p>
        </p:txBody>
      </p:sp>
      <p:sp>
        <p:nvSpPr>
          <p:cNvPr id="13" name="Text Placeholder 2">
            <a:extLst>
              <a:ext uri="{FF2B5EF4-FFF2-40B4-BE49-F238E27FC236}">
                <a16:creationId xmlns:a16="http://schemas.microsoft.com/office/drawing/2014/main" id="{444BC5B1-7C02-70B3-9E27-C62D35893492}"/>
              </a:ext>
            </a:extLst>
          </p:cNvPr>
          <p:cNvSpPr>
            <a:spLocks noGrp="1"/>
          </p:cNvSpPr>
          <p:nvPr>
            <p:ph type="body" sz="quarter" idx="10"/>
          </p:nvPr>
        </p:nvSpPr>
        <p:spPr>
          <a:xfrm>
            <a:off x="2167377" y="2419728"/>
            <a:ext cx="9768875" cy="803546"/>
          </a:xfrm>
        </p:spPr>
        <p:txBody>
          <a:bodyPr>
            <a:normAutofit/>
          </a:bodyPr>
          <a:lstStyle/>
          <a:p>
            <a:r>
              <a:rPr lang="en-US" dirty="0"/>
              <a:t>Common traits</a:t>
            </a:r>
          </a:p>
        </p:txBody>
      </p:sp>
      <p:sp>
        <p:nvSpPr>
          <p:cNvPr id="4" name="Content Placeholder 3">
            <a:extLst>
              <a:ext uri="{FF2B5EF4-FFF2-40B4-BE49-F238E27FC236}">
                <a16:creationId xmlns:a16="http://schemas.microsoft.com/office/drawing/2014/main" id="{6EA7B550-45FE-6581-9034-2E873D36165F}"/>
              </a:ext>
            </a:extLst>
          </p:cNvPr>
          <p:cNvSpPr>
            <a:spLocks noGrp="1"/>
          </p:cNvSpPr>
          <p:nvPr>
            <p:ph type="body" sz="quarter" idx="16"/>
          </p:nvPr>
        </p:nvSpPr>
        <p:spPr>
          <a:xfrm>
            <a:off x="2167377" y="6556917"/>
            <a:ext cx="9768906" cy="5575610"/>
          </a:xfrm>
        </p:spPr>
        <p:txBody>
          <a:bodyPr>
            <a:normAutofit fontScale="92500" lnSpcReduction="20000"/>
          </a:bodyPr>
          <a:lstStyle/>
          <a:p>
            <a:pPr algn="just"/>
            <a:r>
              <a:rPr lang="en-US" dirty="0"/>
              <a:t>Jobs such as MapReduce are deterministic; therefore fault tolerance can be ensured by </a:t>
            </a:r>
            <a:r>
              <a:rPr lang="en-US" dirty="0" err="1"/>
              <a:t>recomputations</a:t>
            </a:r>
            <a:r>
              <a:rPr lang="en-US" dirty="0"/>
              <a:t>.</a:t>
            </a:r>
          </a:p>
          <a:p>
            <a:pPr algn="just"/>
            <a:r>
              <a:rPr lang="en-US" dirty="0"/>
              <a:t>The same operations are carried out on different segments of data on different servers; replicating programs is less expensive than replicating data.</a:t>
            </a:r>
          </a:p>
          <a:p>
            <a:pPr algn="just"/>
            <a:r>
              <a:rPr lang="en-US" dirty="0"/>
              <a:t>It is feasible to identify a working set, a subset of data frequently used within a time window and keep this working set in the memory of the servers of a large cluster. Systems such as Spark and Tachyon exploit this idea to dramatically improve performance.</a:t>
            </a:r>
          </a:p>
          <a:p>
            <a:pPr algn="just"/>
            <a:r>
              <a:rPr lang="en-US" dirty="0"/>
              <a:t>Locality, the proximity of the data to the location where it is processed is critical for the performance. Supporting data locality is a main objective of scheduling algorithms, including delay scheduling and data-aware scheduling.</a:t>
            </a:r>
          </a:p>
        </p:txBody>
      </p:sp>
      <p:sp>
        <p:nvSpPr>
          <p:cNvPr id="7" name="Text Placeholder 6">
            <a:extLst>
              <a:ext uri="{FF2B5EF4-FFF2-40B4-BE49-F238E27FC236}">
                <a16:creationId xmlns:a16="http://schemas.microsoft.com/office/drawing/2014/main" id="{CADAF7FE-7BDE-6200-7BBE-1EA887F32B7D}"/>
              </a:ext>
            </a:extLst>
          </p:cNvPr>
          <p:cNvSpPr>
            <a:spLocks noGrp="1"/>
          </p:cNvSpPr>
          <p:nvPr>
            <p:ph type="body" sz="quarter" idx="17"/>
          </p:nvPr>
        </p:nvSpPr>
        <p:spPr>
          <a:xfrm>
            <a:off x="2166938" y="4210049"/>
            <a:ext cx="9768874" cy="2039112"/>
          </a:xfrm>
        </p:spPr>
        <p:txBody>
          <a:bodyPr>
            <a:normAutofit/>
          </a:bodyPr>
          <a:lstStyle/>
          <a:p>
            <a:r>
              <a:rPr lang="en-US" sz="2800" dirty="0"/>
              <a:t>Data is immutable; consequently, widely used storage systems for Big Data such as HDFS only allow append operations</a:t>
            </a:r>
          </a:p>
        </p:txBody>
      </p:sp>
      <p:pic>
        <p:nvPicPr>
          <p:cNvPr id="12" name="Picture Placeholder 11">
            <a:extLst>
              <a:ext uri="{FF2B5EF4-FFF2-40B4-BE49-F238E27FC236}">
                <a16:creationId xmlns:a16="http://schemas.microsoft.com/office/drawing/2014/main" id="{2695648C-4CC7-5BC5-0B7F-B59DE5E3B8AB}"/>
              </a:ext>
            </a:extLst>
          </p:cNvPr>
          <p:cNvPicPr>
            <a:picLocks noGrp="1" noChangeAspect="1"/>
          </p:cNvPicPr>
          <p:nvPr>
            <p:ph type="pic" sz="quarter" idx="13"/>
          </p:nvPr>
        </p:nvPicPr>
        <p:blipFill>
          <a:blip r:embed="rId2"/>
          <a:srcRect l="101" r="-85"/>
          <a:stretch>
            <a:fillRect/>
          </a:stretch>
        </p:blipFill>
        <p:spPr>
          <a:xfrm>
            <a:off x="12447719" y="3590143"/>
            <a:ext cx="11462656" cy="7921898"/>
          </a:xfrm>
          <a:prstGeom prst="rect">
            <a:avLst/>
          </a:prstGeom>
        </p:spPr>
      </p:pic>
    </p:spTree>
    <p:extLst>
      <p:ext uri="{BB962C8B-B14F-4D97-AF65-F5344CB8AC3E}">
        <p14:creationId xmlns:p14="http://schemas.microsoft.com/office/powerpoint/2010/main" val="165635698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3FCC1-16F4-F392-8367-4333250E0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F84F1-C98B-36F0-152B-0172B9A54108}"/>
              </a:ext>
            </a:extLst>
          </p:cNvPr>
          <p:cNvSpPr>
            <a:spLocks noGrp="1"/>
          </p:cNvSpPr>
          <p:nvPr>
            <p:ph type="title"/>
          </p:nvPr>
        </p:nvSpPr>
        <p:spPr/>
        <p:txBody>
          <a:bodyPr>
            <a:normAutofit/>
          </a:bodyPr>
          <a:lstStyle/>
          <a:p>
            <a:r>
              <a:rPr lang="en-US" sz="3200" dirty="0"/>
              <a:t>Big data</a:t>
            </a:r>
          </a:p>
        </p:txBody>
      </p:sp>
      <p:sp>
        <p:nvSpPr>
          <p:cNvPr id="13" name="Text Placeholder 2">
            <a:extLst>
              <a:ext uri="{FF2B5EF4-FFF2-40B4-BE49-F238E27FC236}">
                <a16:creationId xmlns:a16="http://schemas.microsoft.com/office/drawing/2014/main" id="{FC419E0A-D732-D969-D65E-CC368348D29F}"/>
              </a:ext>
            </a:extLst>
          </p:cNvPr>
          <p:cNvSpPr>
            <a:spLocks noGrp="1"/>
          </p:cNvSpPr>
          <p:nvPr>
            <p:ph type="body" sz="quarter" idx="10"/>
          </p:nvPr>
        </p:nvSpPr>
        <p:spPr/>
        <p:txBody>
          <a:bodyPr>
            <a:normAutofit/>
          </a:bodyPr>
          <a:lstStyle/>
          <a:p>
            <a:r>
              <a:rPr lang="en-US" dirty="0"/>
              <a:t>challenges</a:t>
            </a:r>
          </a:p>
        </p:txBody>
      </p:sp>
      <p:sp>
        <p:nvSpPr>
          <p:cNvPr id="4" name="Content Placeholder 3">
            <a:extLst>
              <a:ext uri="{FF2B5EF4-FFF2-40B4-BE49-F238E27FC236}">
                <a16:creationId xmlns:a16="http://schemas.microsoft.com/office/drawing/2014/main" id="{CDC0FB16-20B7-181E-C057-5D682BA45EFC}"/>
              </a:ext>
            </a:extLst>
          </p:cNvPr>
          <p:cNvSpPr>
            <a:spLocks noGrp="1"/>
          </p:cNvSpPr>
          <p:nvPr>
            <p:ph sz="quarter" idx="11"/>
          </p:nvPr>
        </p:nvSpPr>
        <p:spPr/>
        <p:txBody>
          <a:bodyPr>
            <a:normAutofit/>
          </a:bodyPr>
          <a:lstStyle/>
          <a:p>
            <a:pPr marL="457200" indent="-457200" algn="just">
              <a:buAutoNum type="arabicPeriod"/>
            </a:pPr>
            <a:r>
              <a:rPr lang="en-US" dirty="0"/>
              <a:t>Develop a scalable data infrastructures capable to respond promptly to the timing constraints of an application.</a:t>
            </a:r>
          </a:p>
          <a:p>
            <a:pPr marL="457200" indent="-457200" algn="just">
              <a:buAutoNum type="arabicPeriod"/>
            </a:pPr>
            <a:r>
              <a:rPr lang="en-US" dirty="0"/>
              <a:t>Develop effective means to accommodate diversity in data management systems.</a:t>
            </a:r>
          </a:p>
          <a:p>
            <a:pPr marL="457200" indent="-457200" algn="just">
              <a:buAutoNum type="arabicPeriod"/>
            </a:pPr>
            <a:r>
              <a:rPr lang="en-US" dirty="0"/>
              <a:t>Support comprehensive end-to-end processing and knowledge extraction from data.</a:t>
            </a:r>
          </a:p>
          <a:p>
            <a:pPr marL="457200" indent="-457200" algn="just">
              <a:buAutoNum type="arabicPeriod"/>
            </a:pPr>
            <a:r>
              <a:rPr lang="en-US" dirty="0"/>
              <a:t>Develop convenient interfaces for a layman involved in data collection and data analysis.</a:t>
            </a:r>
          </a:p>
        </p:txBody>
      </p:sp>
    </p:spTree>
    <p:extLst>
      <p:ext uri="{BB962C8B-B14F-4D97-AF65-F5344CB8AC3E}">
        <p14:creationId xmlns:p14="http://schemas.microsoft.com/office/powerpoint/2010/main" val="226773819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289-03FF-C267-28AC-24C7332D39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73AF29-8D0A-A2A1-55EF-C0AF06DC1882}"/>
              </a:ext>
            </a:extLst>
          </p:cNvPr>
          <p:cNvSpPr>
            <a:spLocks noGrp="1"/>
          </p:cNvSpPr>
          <p:nvPr>
            <p:ph type="title"/>
          </p:nvPr>
        </p:nvSpPr>
        <p:spPr/>
        <p:txBody>
          <a:bodyPr/>
          <a:lstStyle/>
          <a:p>
            <a:r>
              <a:rPr lang="en-US" dirty="0"/>
              <a:t>Data Warehouse</a:t>
            </a:r>
          </a:p>
        </p:txBody>
      </p:sp>
    </p:spTree>
    <p:extLst>
      <p:ext uri="{BB962C8B-B14F-4D97-AF65-F5344CB8AC3E}">
        <p14:creationId xmlns:p14="http://schemas.microsoft.com/office/powerpoint/2010/main" val="121542066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A892-912D-4B39-5899-30D18D35D4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98F23F-DC3E-98D5-2F62-0E03BA1D7C6D}"/>
              </a:ext>
            </a:extLst>
          </p:cNvPr>
          <p:cNvSpPr>
            <a:spLocks noGrp="1"/>
          </p:cNvSpPr>
          <p:nvPr>
            <p:ph type="title"/>
          </p:nvPr>
        </p:nvSpPr>
        <p:spPr>
          <a:xfrm>
            <a:off x="2167377" y="1871164"/>
            <a:ext cx="14715569" cy="511175"/>
          </a:xfrm>
        </p:spPr>
        <p:txBody>
          <a:bodyPr>
            <a:normAutofit/>
          </a:bodyPr>
          <a:lstStyle/>
          <a:p>
            <a:r>
              <a:rPr lang="en-US" sz="3200" dirty="0"/>
              <a:t>Data Warehouse</a:t>
            </a:r>
          </a:p>
        </p:txBody>
      </p:sp>
      <p:sp>
        <p:nvSpPr>
          <p:cNvPr id="13" name="Text Placeholder 2">
            <a:extLst>
              <a:ext uri="{FF2B5EF4-FFF2-40B4-BE49-F238E27FC236}">
                <a16:creationId xmlns:a16="http://schemas.microsoft.com/office/drawing/2014/main" id="{FCBDDEE3-35E3-0589-CDA2-F3747AD9E7AB}"/>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EAACC3D1-25B4-1E82-DF92-0B8444B5035B}"/>
              </a:ext>
            </a:extLst>
          </p:cNvPr>
          <p:cNvSpPr>
            <a:spLocks noGrp="1"/>
          </p:cNvSpPr>
          <p:nvPr>
            <p:ph type="body" sz="quarter" idx="16"/>
          </p:nvPr>
        </p:nvSpPr>
        <p:spPr>
          <a:xfrm>
            <a:off x="2167377" y="6556917"/>
            <a:ext cx="9768906" cy="5575610"/>
          </a:xfrm>
        </p:spPr>
        <p:txBody>
          <a:bodyPr/>
          <a:lstStyle/>
          <a:p>
            <a:pPr algn="just"/>
            <a:r>
              <a:rPr lang="en-US" dirty="0"/>
              <a:t>a core enterprise software component required by a range of applications related to so-called business intelligence. </a:t>
            </a:r>
          </a:p>
          <a:p>
            <a:pPr algn="just"/>
            <a:r>
              <a:rPr lang="en-US" dirty="0"/>
              <a:t>Data from multiple operational systems are uploaded and used for predictive analysis and for the detection of hidden patterns in the data. </a:t>
            </a:r>
          </a:p>
          <a:p>
            <a:pPr algn="just"/>
            <a:r>
              <a:rPr lang="en-US" dirty="0"/>
              <a:t>Data models developed using Statistical Learning Theory allow enterprises to optimize their operations and maximize their profits.</a:t>
            </a:r>
          </a:p>
        </p:txBody>
      </p:sp>
      <p:sp>
        <p:nvSpPr>
          <p:cNvPr id="17" name="Text Placeholder 5">
            <a:extLst>
              <a:ext uri="{FF2B5EF4-FFF2-40B4-BE49-F238E27FC236}">
                <a16:creationId xmlns:a16="http://schemas.microsoft.com/office/drawing/2014/main" id="{29C05086-4364-581A-D476-425ECD2BE832}"/>
              </a:ext>
            </a:extLst>
          </p:cNvPr>
          <p:cNvSpPr>
            <a:spLocks noGrp="1"/>
          </p:cNvSpPr>
          <p:nvPr>
            <p:ph type="body" sz="quarter" idx="17"/>
          </p:nvPr>
        </p:nvSpPr>
        <p:spPr>
          <a:xfrm>
            <a:off x="2166938" y="4210049"/>
            <a:ext cx="9768874" cy="2039112"/>
          </a:xfrm>
        </p:spPr>
        <p:txBody>
          <a:bodyPr>
            <a:normAutofit/>
          </a:bodyPr>
          <a:lstStyle/>
          <a:p>
            <a:r>
              <a:rPr lang="en-US" dirty="0"/>
              <a:t>A data warehouse is a central repository for the important data of an enterprise</a:t>
            </a:r>
          </a:p>
        </p:txBody>
      </p:sp>
      <p:pic>
        <p:nvPicPr>
          <p:cNvPr id="6" name="Picture Placeholder 5">
            <a:extLst>
              <a:ext uri="{FF2B5EF4-FFF2-40B4-BE49-F238E27FC236}">
                <a16:creationId xmlns:a16="http://schemas.microsoft.com/office/drawing/2014/main" id="{4A4A1688-CE6A-D369-6BC5-CC4FEEEEE50D}"/>
              </a:ext>
            </a:extLst>
          </p:cNvPr>
          <p:cNvPicPr>
            <a:picLocks noGrp="1" noChangeAspect="1"/>
          </p:cNvPicPr>
          <p:nvPr>
            <p:ph type="pic" sz="quarter" idx="13"/>
          </p:nvPr>
        </p:nvPicPr>
        <p:blipFill>
          <a:blip r:embed="rId3"/>
          <a:srcRect l="2887" r="1914" b="3631"/>
          <a:stretch>
            <a:fillRect/>
          </a:stretch>
        </p:blipFill>
        <p:spPr>
          <a:xfrm>
            <a:off x="12797841" y="3570549"/>
            <a:ext cx="10546541" cy="7634207"/>
          </a:xfrm>
          <a:prstGeom prst="rect">
            <a:avLst/>
          </a:prstGeom>
        </p:spPr>
      </p:pic>
    </p:spTree>
    <p:extLst>
      <p:ext uri="{BB962C8B-B14F-4D97-AF65-F5344CB8AC3E}">
        <p14:creationId xmlns:p14="http://schemas.microsoft.com/office/powerpoint/2010/main" val="414131878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7BBBC-CF0A-A2C8-D8A2-3EE83FB6A16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685A79D-1E81-2B27-70ED-37043133D869}"/>
              </a:ext>
            </a:extLst>
          </p:cNvPr>
          <p:cNvSpPr>
            <a:spLocks noGrp="1"/>
          </p:cNvSpPr>
          <p:nvPr>
            <p:ph type="title"/>
          </p:nvPr>
        </p:nvSpPr>
        <p:spPr>
          <a:xfrm>
            <a:off x="2167377" y="1871164"/>
            <a:ext cx="14715569" cy="511175"/>
          </a:xfrm>
        </p:spPr>
        <p:txBody>
          <a:bodyPr>
            <a:normAutofit/>
          </a:bodyPr>
          <a:lstStyle/>
          <a:p>
            <a:r>
              <a:rPr lang="en-US" sz="3200" dirty="0"/>
              <a:t>Data warehouse</a:t>
            </a:r>
          </a:p>
        </p:txBody>
      </p:sp>
      <p:sp>
        <p:nvSpPr>
          <p:cNvPr id="13" name="Text Placeholder 2">
            <a:extLst>
              <a:ext uri="{FF2B5EF4-FFF2-40B4-BE49-F238E27FC236}">
                <a16:creationId xmlns:a16="http://schemas.microsoft.com/office/drawing/2014/main" id="{4C92EDDB-A317-AB15-D667-3127E99D2FBD}"/>
              </a:ext>
            </a:extLst>
          </p:cNvPr>
          <p:cNvSpPr>
            <a:spLocks noGrp="1"/>
          </p:cNvSpPr>
          <p:nvPr>
            <p:ph type="body" sz="quarter" idx="10"/>
          </p:nvPr>
        </p:nvSpPr>
        <p:spPr>
          <a:xfrm>
            <a:off x="2167377" y="2419728"/>
            <a:ext cx="9768875" cy="803546"/>
          </a:xfrm>
        </p:spPr>
        <p:txBody>
          <a:bodyPr/>
          <a:lstStyle/>
          <a:p>
            <a:r>
              <a:rPr lang="en-US" dirty="0"/>
              <a:t>mesa</a:t>
            </a:r>
          </a:p>
        </p:txBody>
      </p:sp>
      <p:sp>
        <p:nvSpPr>
          <p:cNvPr id="15" name="Text Placeholder 3">
            <a:extLst>
              <a:ext uri="{FF2B5EF4-FFF2-40B4-BE49-F238E27FC236}">
                <a16:creationId xmlns:a16="http://schemas.microsoft.com/office/drawing/2014/main" id="{C4BFBDE3-737F-FD43-A2DB-A5F8B60FE0A9}"/>
              </a:ext>
            </a:extLst>
          </p:cNvPr>
          <p:cNvSpPr>
            <a:spLocks noGrp="1"/>
          </p:cNvSpPr>
          <p:nvPr>
            <p:ph type="body" sz="quarter" idx="16"/>
          </p:nvPr>
        </p:nvSpPr>
        <p:spPr>
          <a:xfrm>
            <a:off x="2167377" y="6556917"/>
            <a:ext cx="9768906" cy="5575610"/>
          </a:xfrm>
        </p:spPr>
        <p:txBody>
          <a:bodyPr/>
          <a:lstStyle/>
          <a:p>
            <a:pPr algn="just"/>
            <a:r>
              <a:rPr lang="en-US" dirty="0"/>
              <a:t>it designed to support measurement data for the multibillion-dollar advertising business of the organization. </a:t>
            </a:r>
          </a:p>
          <a:p>
            <a:pPr algn="just"/>
            <a:r>
              <a:rPr lang="en-US" dirty="0"/>
              <a:t>The system is expected to support near-real-time data processing and be highly available and scalable. The extremely high availability is ensured by geo-replication. </a:t>
            </a:r>
          </a:p>
          <a:p>
            <a:pPr algn="just"/>
            <a:r>
              <a:rPr lang="en-US" dirty="0"/>
              <a:t>Mesa is able to handle petabytes of data, respond to billions of queries accessing trillions of rows of data per day, and update millions of rows per second.</a:t>
            </a:r>
          </a:p>
        </p:txBody>
      </p:sp>
      <p:sp>
        <p:nvSpPr>
          <p:cNvPr id="17" name="Text Placeholder 5">
            <a:extLst>
              <a:ext uri="{FF2B5EF4-FFF2-40B4-BE49-F238E27FC236}">
                <a16:creationId xmlns:a16="http://schemas.microsoft.com/office/drawing/2014/main" id="{668B5F5B-8EC1-24B8-AFE1-D3DBC4AAF954}"/>
              </a:ext>
            </a:extLst>
          </p:cNvPr>
          <p:cNvSpPr>
            <a:spLocks noGrp="1"/>
          </p:cNvSpPr>
          <p:nvPr>
            <p:ph type="body" sz="quarter" idx="17"/>
          </p:nvPr>
        </p:nvSpPr>
        <p:spPr>
          <a:xfrm>
            <a:off x="2166938" y="4210049"/>
            <a:ext cx="9768874" cy="2039112"/>
          </a:xfrm>
        </p:spPr>
        <p:txBody>
          <a:bodyPr>
            <a:normAutofit/>
          </a:bodyPr>
          <a:lstStyle/>
          <a:p>
            <a:r>
              <a:rPr lang="en-US" dirty="0"/>
              <a:t>Mesa is a scalable data warehouse that developed at Google</a:t>
            </a:r>
          </a:p>
        </p:txBody>
      </p:sp>
      <p:pic>
        <p:nvPicPr>
          <p:cNvPr id="9" name="Picture Placeholder 8">
            <a:extLst>
              <a:ext uri="{FF2B5EF4-FFF2-40B4-BE49-F238E27FC236}">
                <a16:creationId xmlns:a16="http://schemas.microsoft.com/office/drawing/2014/main" id="{A7EC9592-CCF1-292A-60E8-A218F4CD8486}"/>
              </a:ext>
            </a:extLst>
          </p:cNvPr>
          <p:cNvPicPr>
            <a:picLocks noGrp="1" noChangeAspect="1"/>
          </p:cNvPicPr>
          <p:nvPr>
            <p:ph type="pic" sz="quarter" idx="13"/>
          </p:nvPr>
        </p:nvPicPr>
        <p:blipFill>
          <a:blip r:embed="rId3"/>
          <a:srcRect l="2737" t="3022" r="-495"/>
          <a:stretch>
            <a:fillRect/>
          </a:stretch>
        </p:blipFill>
        <p:spPr>
          <a:xfrm>
            <a:off x="12447718" y="4663440"/>
            <a:ext cx="11724259" cy="58285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pic>
    </p:spTree>
    <p:extLst>
      <p:ext uri="{BB962C8B-B14F-4D97-AF65-F5344CB8AC3E}">
        <p14:creationId xmlns:p14="http://schemas.microsoft.com/office/powerpoint/2010/main" val="2172847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99B22-35BE-CF99-9E4D-02F3A5567F79}"/>
              </a:ext>
            </a:extLst>
          </p:cNvPr>
          <p:cNvSpPr>
            <a:spLocks noGrp="1"/>
          </p:cNvSpPr>
          <p:nvPr>
            <p:ph type="title"/>
          </p:nvPr>
        </p:nvSpPr>
        <p:spPr/>
        <p:txBody>
          <a:bodyPr>
            <a:normAutofit fontScale="90000"/>
          </a:bodyPr>
          <a:lstStyle/>
          <a:p>
            <a:r>
              <a:rPr lang="en-US" sz="4000" dirty="0"/>
              <a:t>Data warehouse</a:t>
            </a:r>
            <a:endParaRPr lang="en-US" dirty="0"/>
          </a:p>
        </p:txBody>
      </p:sp>
      <p:sp>
        <p:nvSpPr>
          <p:cNvPr id="3" name="Text Placeholder 2">
            <a:extLst>
              <a:ext uri="{FF2B5EF4-FFF2-40B4-BE49-F238E27FC236}">
                <a16:creationId xmlns:a16="http://schemas.microsoft.com/office/drawing/2014/main" id="{5BFDD2E5-8D2F-A48B-3862-6A1D745D2C39}"/>
              </a:ext>
            </a:extLst>
          </p:cNvPr>
          <p:cNvSpPr>
            <a:spLocks noGrp="1"/>
          </p:cNvSpPr>
          <p:nvPr>
            <p:ph type="body" sz="quarter" idx="10"/>
          </p:nvPr>
        </p:nvSpPr>
        <p:spPr/>
        <p:txBody>
          <a:bodyPr/>
          <a:lstStyle/>
          <a:p>
            <a:r>
              <a:rPr lang="en-US" dirty="0"/>
              <a:t>Mesa instance</a:t>
            </a:r>
          </a:p>
        </p:txBody>
      </p:sp>
      <p:sp>
        <p:nvSpPr>
          <p:cNvPr id="4" name="Content Placeholder 3">
            <a:extLst>
              <a:ext uri="{FF2B5EF4-FFF2-40B4-BE49-F238E27FC236}">
                <a16:creationId xmlns:a16="http://schemas.microsoft.com/office/drawing/2014/main" id="{F2634384-6B1A-D8AA-88E4-0109F3955723}"/>
              </a:ext>
            </a:extLst>
          </p:cNvPr>
          <p:cNvSpPr>
            <a:spLocks noGrp="1"/>
          </p:cNvSpPr>
          <p:nvPr>
            <p:ph sz="quarter" idx="11"/>
          </p:nvPr>
        </p:nvSpPr>
        <p:spPr>
          <a:xfrm>
            <a:off x="187569" y="9050215"/>
            <a:ext cx="23235139" cy="4065972"/>
          </a:xfrm>
        </p:spPr>
        <p:txBody>
          <a:bodyPr>
            <a:normAutofit/>
          </a:bodyPr>
          <a:lstStyle/>
          <a:p>
            <a:pPr marL="228600" indent="-228600">
              <a:buAutoNum type="alphaLcParenBoth"/>
            </a:pPr>
            <a:r>
              <a:rPr lang="en-US" dirty="0"/>
              <a:t>The controller/worker subsystem. Controllers interact with four types of workers: update, compaction, schema change, and checksum. The data and metadata are stored on Colossus and </a:t>
            </a:r>
            <a:r>
              <a:rPr lang="en-US" dirty="0" err="1"/>
              <a:t>BigTable</a:t>
            </a:r>
            <a:r>
              <a:rPr lang="en-US" dirty="0"/>
              <a:t>, respectively. </a:t>
            </a:r>
          </a:p>
          <a:p>
            <a:pPr marL="228600" indent="-228600">
              <a:buAutoNum type="alphaLcParenBoth"/>
            </a:pPr>
            <a:r>
              <a:rPr lang="en-US" dirty="0"/>
              <a:t>The query subsystem of a Mesa instance interacts with the clients and with the Global Location Service.</a:t>
            </a:r>
          </a:p>
          <a:p>
            <a:pPr marL="0" indent="0">
              <a:buNone/>
            </a:pPr>
            <a:r>
              <a:rPr lang="en-US" dirty="0"/>
              <a:t>One Mesa instance runs at every site and consists of two subsystems, the update/maintenance and the query subsystem. The pool of workers of the first subsystem operate on data stored in Colossus. Workers load updates, carry out table compaction, apply schema changes, and run table checksums under supervision of controllers that determine the work to be done and manage metadata stored on </a:t>
            </a:r>
            <a:r>
              <a:rPr lang="en-US" dirty="0" err="1"/>
              <a:t>BigTable</a:t>
            </a:r>
            <a:r>
              <a:rPr lang="en-US" dirty="0"/>
              <a:t>.</a:t>
            </a:r>
          </a:p>
          <a:p>
            <a:pPr marL="0" indent="0">
              <a:buNone/>
            </a:pPr>
            <a:endParaRPr lang="en-US" dirty="0"/>
          </a:p>
          <a:p>
            <a:pPr marL="0" indent="0">
              <a:buNone/>
            </a:pPr>
            <a:endParaRPr lang="en-US" dirty="0"/>
          </a:p>
          <a:p>
            <a:endParaRPr lang="en-US" dirty="0"/>
          </a:p>
        </p:txBody>
      </p:sp>
      <p:pic>
        <p:nvPicPr>
          <p:cNvPr id="5" name="Content Placeholder 5">
            <a:extLst>
              <a:ext uri="{FF2B5EF4-FFF2-40B4-BE49-F238E27FC236}">
                <a16:creationId xmlns:a16="http://schemas.microsoft.com/office/drawing/2014/main" id="{BDAFAE44-801D-E969-218B-7206FC0686C8}"/>
              </a:ext>
            </a:extLst>
          </p:cNvPr>
          <p:cNvPicPr>
            <a:picLocks noChangeAspect="1"/>
          </p:cNvPicPr>
          <p:nvPr/>
        </p:nvPicPr>
        <p:blipFill>
          <a:blip r:embed="rId2"/>
          <a:stretch>
            <a:fillRect/>
          </a:stretch>
        </p:blipFill>
        <p:spPr>
          <a:xfrm>
            <a:off x="4188620" y="3360385"/>
            <a:ext cx="16194328" cy="5552719"/>
          </a:xfrm>
          <a:prstGeom prst="rect">
            <a:avLst/>
          </a:prstGeom>
        </p:spPr>
      </p:pic>
    </p:spTree>
    <p:extLst>
      <p:ext uri="{BB962C8B-B14F-4D97-AF65-F5344CB8AC3E}">
        <p14:creationId xmlns:p14="http://schemas.microsoft.com/office/powerpoint/2010/main" val="279197198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1C42D-07D9-486C-0F61-20667F83B5E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F9994BD-A3E4-D6C7-53D4-91DE022D56EE}"/>
              </a:ext>
            </a:extLst>
          </p:cNvPr>
          <p:cNvSpPr>
            <a:spLocks noGrp="1"/>
          </p:cNvSpPr>
          <p:nvPr>
            <p:ph type="title"/>
          </p:nvPr>
        </p:nvSpPr>
        <p:spPr>
          <a:xfrm>
            <a:off x="2167377" y="1871164"/>
            <a:ext cx="14715569" cy="511175"/>
          </a:xfrm>
        </p:spPr>
        <p:txBody>
          <a:bodyPr>
            <a:normAutofit/>
          </a:bodyPr>
          <a:lstStyle/>
          <a:p>
            <a:r>
              <a:rPr lang="en-US" sz="3200" dirty="0"/>
              <a:t>Spanner</a:t>
            </a:r>
          </a:p>
        </p:txBody>
      </p:sp>
      <p:sp>
        <p:nvSpPr>
          <p:cNvPr id="13" name="Text Placeholder 2">
            <a:extLst>
              <a:ext uri="{FF2B5EF4-FFF2-40B4-BE49-F238E27FC236}">
                <a16:creationId xmlns:a16="http://schemas.microsoft.com/office/drawing/2014/main" id="{4C07CA40-8478-E030-0897-06A350CE02CB}"/>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9CB62865-3B61-C7BC-2F26-104D892F1E43}"/>
              </a:ext>
            </a:extLst>
          </p:cNvPr>
          <p:cNvSpPr>
            <a:spLocks noGrp="1"/>
          </p:cNvSpPr>
          <p:nvPr>
            <p:ph type="body" sz="quarter" idx="16"/>
          </p:nvPr>
        </p:nvSpPr>
        <p:spPr>
          <a:xfrm>
            <a:off x="2167377" y="6556917"/>
            <a:ext cx="9768906" cy="5575610"/>
          </a:xfrm>
        </p:spPr>
        <p:txBody>
          <a:bodyPr/>
          <a:lstStyle/>
          <a:p>
            <a:pPr algn="just"/>
            <a:r>
              <a:rPr lang="en-US" dirty="0"/>
              <a:t>Some applications replicate their data across three to five data centers running Spanner in one geographic area. Other applications spread their data over a much larger area</a:t>
            </a:r>
          </a:p>
          <a:p>
            <a:pPr algn="just"/>
            <a:r>
              <a:rPr lang="en-US" dirty="0"/>
              <a:t>The data model of each application using Spanner is layered on top of the directory-bucketed key-value mappings supported by the distributed database. </a:t>
            </a:r>
          </a:p>
          <a:p>
            <a:pPr algn="just"/>
            <a:r>
              <a:rPr lang="en-US" dirty="0"/>
              <a:t>Spanner supports consistent backups, atomic schema updates, and consistent MapReduce execution and provides externally consistent reads and writes and globally consistent reads across the database at a time stamp.</a:t>
            </a:r>
          </a:p>
          <a:p>
            <a:pPr algn="just"/>
            <a:endParaRPr lang="en-US" dirty="0"/>
          </a:p>
        </p:txBody>
      </p:sp>
      <p:sp>
        <p:nvSpPr>
          <p:cNvPr id="17" name="Text Placeholder 5">
            <a:extLst>
              <a:ext uri="{FF2B5EF4-FFF2-40B4-BE49-F238E27FC236}">
                <a16:creationId xmlns:a16="http://schemas.microsoft.com/office/drawing/2014/main" id="{F43F9571-5E2D-6FA7-BA1E-1759E5DCD2AF}"/>
              </a:ext>
            </a:extLst>
          </p:cNvPr>
          <p:cNvSpPr>
            <a:spLocks noGrp="1"/>
          </p:cNvSpPr>
          <p:nvPr>
            <p:ph type="body" sz="quarter" idx="17"/>
          </p:nvPr>
        </p:nvSpPr>
        <p:spPr>
          <a:xfrm>
            <a:off x="2166938" y="4210049"/>
            <a:ext cx="9768874" cy="2039112"/>
          </a:xfrm>
        </p:spPr>
        <p:txBody>
          <a:bodyPr>
            <a:normAutofit/>
          </a:bodyPr>
          <a:lstStyle/>
          <a:p>
            <a:pPr algn="just"/>
            <a:r>
              <a:rPr lang="en-US" dirty="0"/>
              <a:t>Spanner is a distributed database replicating data on many sites across the globe. </a:t>
            </a:r>
          </a:p>
        </p:txBody>
      </p:sp>
      <p:pic>
        <p:nvPicPr>
          <p:cNvPr id="4" name="Picture Placeholder 3">
            <a:extLst>
              <a:ext uri="{FF2B5EF4-FFF2-40B4-BE49-F238E27FC236}">
                <a16:creationId xmlns:a16="http://schemas.microsoft.com/office/drawing/2014/main" id="{61A8378D-55C8-4EF1-0625-EFDF18097699}"/>
              </a:ext>
            </a:extLst>
          </p:cNvPr>
          <p:cNvPicPr>
            <a:picLocks noGrp="1" noChangeAspect="1"/>
          </p:cNvPicPr>
          <p:nvPr>
            <p:ph type="pic" sz="quarter" idx="13"/>
          </p:nvPr>
        </p:nvPicPr>
        <p:blipFill>
          <a:blip r:embed="rId3"/>
          <a:srcRect t="6464" b="6464"/>
          <a:stretch>
            <a:fillRect/>
          </a:stretch>
        </p:blipFill>
        <p:spPr>
          <a:xfrm>
            <a:off x="12447719" y="4210049"/>
            <a:ext cx="9099057" cy="7921898"/>
          </a:xfrm>
          <a:prstGeom prst="rect">
            <a:avLst/>
          </a:prstGeom>
        </p:spPr>
      </p:pic>
    </p:spTree>
    <p:extLst>
      <p:ext uri="{BB962C8B-B14F-4D97-AF65-F5344CB8AC3E}">
        <p14:creationId xmlns:p14="http://schemas.microsoft.com/office/powerpoint/2010/main" val="136282227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0B237-5492-455B-84CE-B57BD6B99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48CA09-903E-12C3-89EC-20F42058A303}"/>
              </a:ext>
            </a:extLst>
          </p:cNvPr>
          <p:cNvSpPr>
            <a:spLocks noGrp="1"/>
          </p:cNvSpPr>
          <p:nvPr>
            <p:ph type="title"/>
          </p:nvPr>
        </p:nvSpPr>
        <p:spPr/>
        <p:txBody>
          <a:bodyPr>
            <a:normAutofit fontScale="90000"/>
          </a:bodyPr>
          <a:lstStyle/>
          <a:p>
            <a:r>
              <a:rPr lang="en-US" sz="4000" dirty="0"/>
              <a:t>spanner</a:t>
            </a:r>
          </a:p>
        </p:txBody>
      </p:sp>
      <p:sp>
        <p:nvSpPr>
          <p:cNvPr id="3" name="Text Placeholder 2">
            <a:extLst>
              <a:ext uri="{FF2B5EF4-FFF2-40B4-BE49-F238E27FC236}">
                <a16:creationId xmlns:a16="http://schemas.microsoft.com/office/drawing/2014/main" id="{D1F2C4CE-5B1A-372A-AB5F-7DC8BA7A73C5}"/>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06419F7E-CA68-8AC2-BE7E-4A393BCC461E}"/>
              </a:ext>
            </a:extLst>
          </p:cNvPr>
          <p:cNvSpPr>
            <a:spLocks noGrp="1"/>
          </p:cNvSpPr>
          <p:nvPr>
            <p:ph sz="quarter" idx="11"/>
          </p:nvPr>
        </p:nvSpPr>
        <p:spPr>
          <a:xfrm>
            <a:off x="574430" y="10370115"/>
            <a:ext cx="23235139" cy="2949442"/>
          </a:xfrm>
        </p:spPr>
        <p:txBody>
          <a:bodyPr>
            <a:normAutofit/>
          </a:bodyPr>
          <a:lstStyle/>
          <a:p>
            <a:pPr algn="just"/>
            <a:r>
              <a:rPr lang="en-US" dirty="0"/>
              <a:t>Spanner applications can control the number and the location of data centers where the replicas reside, as well as read and write latency. The read and write latencies are determined by how far data is from its users and, respectively, how far are the replicas from one another. The system is organized in zones, units of administrative deployment and of physical isolation similar with AWS zones.</a:t>
            </a:r>
          </a:p>
          <a:p>
            <a:pPr algn="just"/>
            <a:r>
              <a:rPr lang="en-US" dirty="0"/>
              <a:t>The database supports read-write transactions, read-only transactions, and snapshot reads. </a:t>
            </a:r>
          </a:p>
          <a:p>
            <a:pPr algn="just"/>
            <a:endParaRPr lang="en-US" dirty="0"/>
          </a:p>
        </p:txBody>
      </p:sp>
      <p:pic>
        <p:nvPicPr>
          <p:cNvPr id="2050" name="Picture 2">
            <a:extLst>
              <a:ext uri="{FF2B5EF4-FFF2-40B4-BE49-F238E27FC236}">
                <a16:creationId xmlns:a16="http://schemas.microsoft.com/office/drawing/2014/main" id="{8FC47C9D-256F-CC50-4A5C-59FCCE7140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7135" y="2930769"/>
            <a:ext cx="12689730" cy="7104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50032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D75FD-14D8-6C65-CAD9-AEFE23EABA6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B88A863-D343-BCB3-61E5-DA1904522020}"/>
              </a:ext>
            </a:extLst>
          </p:cNvPr>
          <p:cNvSpPr>
            <a:spLocks noGrp="1"/>
          </p:cNvSpPr>
          <p:nvPr>
            <p:ph type="title"/>
          </p:nvPr>
        </p:nvSpPr>
        <p:spPr>
          <a:xfrm>
            <a:off x="2167377" y="1871164"/>
            <a:ext cx="14715569" cy="511175"/>
          </a:xfrm>
        </p:spPr>
        <p:txBody>
          <a:bodyPr>
            <a:normAutofit/>
          </a:bodyPr>
          <a:lstStyle/>
          <a:p>
            <a:r>
              <a:rPr lang="en-US" sz="3200" dirty="0"/>
              <a:t>F1-scaling</a:t>
            </a:r>
          </a:p>
        </p:txBody>
      </p:sp>
      <p:sp>
        <p:nvSpPr>
          <p:cNvPr id="22" name="Text Placeholder 2">
            <a:extLst>
              <a:ext uri="{FF2B5EF4-FFF2-40B4-BE49-F238E27FC236}">
                <a16:creationId xmlns:a16="http://schemas.microsoft.com/office/drawing/2014/main" id="{AA058FB8-BA80-7F4C-79FC-280C3B503193}"/>
              </a:ext>
            </a:extLst>
          </p:cNvPr>
          <p:cNvSpPr>
            <a:spLocks noGrp="1"/>
          </p:cNvSpPr>
          <p:nvPr>
            <p:ph type="body" sz="quarter" idx="10"/>
          </p:nvPr>
        </p:nvSpPr>
        <p:spPr>
          <a:xfrm>
            <a:off x="2167377" y="2419728"/>
            <a:ext cx="9768875" cy="803546"/>
          </a:xfrm>
        </p:spPr>
        <p:txBody>
          <a:bodyPr/>
          <a:lstStyle/>
          <a:p>
            <a:endParaRPr lang="en-US"/>
          </a:p>
        </p:txBody>
      </p:sp>
      <p:sp>
        <p:nvSpPr>
          <p:cNvPr id="15" name="Text Placeholder 3">
            <a:extLst>
              <a:ext uri="{FF2B5EF4-FFF2-40B4-BE49-F238E27FC236}">
                <a16:creationId xmlns:a16="http://schemas.microsoft.com/office/drawing/2014/main" id="{97D4758F-3320-F4D3-91AB-ECCC7016157E}"/>
              </a:ext>
            </a:extLst>
          </p:cNvPr>
          <p:cNvSpPr>
            <a:spLocks noGrp="1"/>
          </p:cNvSpPr>
          <p:nvPr>
            <p:ph type="body" sz="quarter" idx="16"/>
          </p:nvPr>
        </p:nvSpPr>
        <p:spPr>
          <a:xfrm>
            <a:off x="2167377" y="6556917"/>
            <a:ext cx="9768906" cy="5575610"/>
          </a:xfrm>
        </p:spPr>
        <p:txBody>
          <a:bodyPr>
            <a:normAutofit/>
          </a:bodyPr>
          <a:lstStyle/>
          <a:p>
            <a:r>
              <a:rPr lang="en-US" dirty="0"/>
              <a:t>F1 has a logical Relational Database Management System schema with some extensions, including explicit table hierarchy and columns with Protocol Buffer data types. </a:t>
            </a:r>
            <a:endParaRPr lang="en-US"/>
          </a:p>
          <a:p>
            <a:r>
              <a:rPr lang="en-US" dirty="0"/>
              <a:t>F1 stores each child table clustered with, and interleaved within, the rows from its parent table. Table columns contain structured data types based on the schema and binary encoding format of Google's open-source Protocol Buffer library.</a:t>
            </a:r>
            <a:endParaRPr lang="en-US"/>
          </a:p>
        </p:txBody>
      </p:sp>
      <p:pic>
        <p:nvPicPr>
          <p:cNvPr id="6" name="Picture Placeholder 5">
            <a:extLst>
              <a:ext uri="{FF2B5EF4-FFF2-40B4-BE49-F238E27FC236}">
                <a16:creationId xmlns:a16="http://schemas.microsoft.com/office/drawing/2014/main" id="{F9E1533E-444E-A4C1-AB2C-EDB3FC7F5AB2}"/>
              </a:ext>
            </a:extLst>
          </p:cNvPr>
          <p:cNvPicPr>
            <a:picLocks noGrp="1" noChangeAspect="1"/>
          </p:cNvPicPr>
          <p:nvPr>
            <p:ph type="pic" sz="quarter" idx="13"/>
          </p:nvPr>
        </p:nvPicPr>
        <p:blipFill>
          <a:blip r:embed="rId3"/>
          <a:srcRect t="1760" b="1760"/>
          <a:stretch/>
        </p:blipFill>
        <p:spPr>
          <a:xfrm>
            <a:off x="12340474" y="3626450"/>
            <a:ext cx="9768874" cy="8506077"/>
          </a:xfrm>
          <a:prstGeom prst="rect">
            <a:avLst/>
          </a:prstGeom>
          <a:noFill/>
        </p:spPr>
      </p:pic>
      <p:sp>
        <p:nvSpPr>
          <p:cNvPr id="17" name="Text Placeholder 5">
            <a:extLst>
              <a:ext uri="{FF2B5EF4-FFF2-40B4-BE49-F238E27FC236}">
                <a16:creationId xmlns:a16="http://schemas.microsoft.com/office/drawing/2014/main" id="{2C60FB14-0BC5-4E86-C6E6-A1F57B8EC841}"/>
              </a:ext>
            </a:extLst>
          </p:cNvPr>
          <p:cNvSpPr>
            <a:spLocks noGrp="1"/>
          </p:cNvSpPr>
          <p:nvPr>
            <p:ph type="body" sz="quarter" idx="17"/>
          </p:nvPr>
        </p:nvSpPr>
        <p:spPr>
          <a:xfrm>
            <a:off x="2166938" y="4210049"/>
            <a:ext cx="9768874" cy="2039112"/>
          </a:xfrm>
        </p:spPr>
        <p:txBody>
          <a:bodyPr>
            <a:normAutofit/>
          </a:bodyPr>
          <a:lstStyle/>
          <a:p>
            <a:r>
              <a:rPr lang="en-US" dirty="0"/>
              <a:t>F1-scaling is a traditional database design shares the goals with the design of data warehouses,</a:t>
            </a:r>
            <a:endParaRPr lang="en-US"/>
          </a:p>
        </p:txBody>
      </p:sp>
    </p:spTree>
    <p:extLst>
      <p:ext uri="{BB962C8B-B14F-4D97-AF65-F5344CB8AC3E}">
        <p14:creationId xmlns:p14="http://schemas.microsoft.com/office/powerpoint/2010/main" val="48903983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569FE-8C54-A544-6B2C-4CFF2BFE6A43}"/>
              </a:ext>
            </a:extLst>
          </p:cNvPr>
          <p:cNvSpPr>
            <a:spLocks noGrp="1"/>
          </p:cNvSpPr>
          <p:nvPr>
            <p:ph type="title"/>
          </p:nvPr>
        </p:nvSpPr>
        <p:spPr/>
        <p:txBody>
          <a:bodyPr>
            <a:normAutofit fontScale="90000"/>
          </a:bodyPr>
          <a:lstStyle/>
          <a:p>
            <a:r>
              <a:rPr lang="en-US" dirty="0"/>
              <a:t>Mesa-spanner-F1 scaling</a:t>
            </a:r>
          </a:p>
        </p:txBody>
      </p:sp>
      <p:sp>
        <p:nvSpPr>
          <p:cNvPr id="3" name="Text Placeholder 2">
            <a:extLst>
              <a:ext uri="{FF2B5EF4-FFF2-40B4-BE49-F238E27FC236}">
                <a16:creationId xmlns:a16="http://schemas.microsoft.com/office/drawing/2014/main" id="{916CFAFE-E3FB-2F3E-D618-78AEA5B96408}"/>
              </a:ext>
            </a:extLst>
          </p:cNvPr>
          <p:cNvSpPr>
            <a:spLocks noGrp="1"/>
          </p:cNvSpPr>
          <p:nvPr>
            <p:ph type="body" sz="quarter" idx="10"/>
          </p:nvPr>
        </p:nvSpPr>
        <p:spPr/>
        <p:txBody>
          <a:bodyPr>
            <a:normAutofit/>
          </a:bodyPr>
          <a:lstStyle/>
          <a:p>
            <a:r>
              <a:rPr lang="en-US" dirty="0"/>
              <a:t>How it works, google Ads example</a:t>
            </a:r>
          </a:p>
        </p:txBody>
      </p:sp>
      <p:sp>
        <p:nvSpPr>
          <p:cNvPr id="4" name="Content Placeholder 3">
            <a:extLst>
              <a:ext uri="{FF2B5EF4-FFF2-40B4-BE49-F238E27FC236}">
                <a16:creationId xmlns:a16="http://schemas.microsoft.com/office/drawing/2014/main" id="{03EFE650-12BC-FDD0-57AD-9B8B86437EBA}"/>
              </a:ext>
            </a:extLst>
          </p:cNvPr>
          <p:cNvSpPr>
            <a:spLocks noGrp="1"/>
          </p:cNvSpPr>
          <p:nvPr>
            <p:ph sz="quarter" idx="11"/>
          </p:nvPr>
        </p:nvSpPr>
        <p:spPr/>
        <p:txBody>
          <a:bodyPr/>
          <a:lstStyle/>
          <a:p>
            <a:r>
              <a:rPr lang="en-US" dirty="0"/>
              <a:t>F1 Query: It can run a single SQL query that joins data living in Spanner (like customer names) with data living in Mesa (like their click performance).</a:t>
            </a:r>
          </a:p>
          <a:p>
            <a:r>
              <a:rPr lang="en-US" dirty="0"/>
              <a:t>Continuous Updates: As transactions happen in F1/Spanner, they are often exported or streamed into Mesa so the "analytical" side of the house stays in sync with the "transactional" side.</a:t>
            </a:r>
          </a:p>
          <a:p>
            <a:r>
              <a:rPr lang="en-US" dirty="0"/>
              <a:t>Data Consistency: Mesa uses a versioning system. When you query Mesa, it gives you a "consistent snapshot" of the data at a specific point in time, matching the state of the business logic in F1.</a:t>
            </a:r>
          </a:p>
        </p:txBody>
      </p:sp>
    </p:spTree>
    <p:extLst>
      <p:ext uri="{BB962C8B-B14F-4D97-AF65-F5344CB8AC3E}">
        <p14:creationId xmlns:p14="http://schemas.microsoft.com/office/powerpoint/2010/main" val="53208458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B5B3-5AED-66FE-8690-3B31799878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F49CB6-597B-D399-C88B-8D3527EEA8BD}"/>
              </a:ext>
            </a:extLst>
          </p:cNvPr>
          <p:cNvSpPr>
            <a:spLocks noGrp="1"/>
          </p:cNvSpPr>
          <p:nvPr>
            <p:ph type="title"/>
          </p:nvPr>
        </p:nvSpPr>
        <p:spPr/>
        <p:txBody>
          <a:bodyPr/>
          <a:lstStyle/>
          <a:p>
            <a:r>
              <a:rPr lang="en-US" dirty="0"/>
              <a:t>Data Streaming</a:t>
            </a:r>
          </a:p>
        </p:txBody>
      </p:sp>
    </p:spTree>
    <p:extLst>
      <p:ext uri="{BB962C8B-B14F-4D97-AF65-F5344CB8AC3E}">
        <p14:creationId xmlns:p14="http://schemas.microsoft.com/office/powerpoint/2010/main" val="275335500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7D3E-27B5-FEC8-B70A-348669D35007}"/>
              </a:ext>
            </a:extLst>
          </p:cNvPr>
          <p:cNvSpPr>
            <a:spLocks noGrp="1"/>
          </p:cNvSpPr>
          <p:nvPr>
            <p:ph type="title"/>
          </p:nvPr>
        </p:nvSpPr>
        <p:spPr/>
        <p:txBody>
          <a:bodyPr>
            <a:normAutofit fontScale="90000"/>
          </a:bodyPr>
          <a:lstStyle/>
          <a:p>
            <a:r>
              <a:rPr lang="en-US" dirty="0"/>
              <a:t>Data streaming</a:t>
            </a:r>
          </a:p>
        </p:txBody>
      </p:sp>
      <p:sp>
        <p:nvSpPr>
          <p:cNvPr id="3" name="Text Placeholder 2">
            <a:extLst>
              <a:ext uri="{FF2B5EF4-FFF2-40B4-BE49-F238E27FC236}">
                <a16:creationId xmlns:a16="http://schemas.microsoft.com/office/drawing/2014/main" id="{91292EEC-A3B9-7F47-D16F-CF4AECCBDCD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05818F9-8848-792B-681A-0D94CB7E5DFD}"/>
              </a:ext>
            </a:extLst>
          </p:cNvPr>
          <p:cNvSpPr>
            <a:spLocks noGrp="1"/>
          </p:cNvSpPr>
          <p:nvPr>
            <p:ph sz="quarter" idx="11"/>
          </p:nvPr>
        </p:nvSpPr>
        <p:spPr>
          <a:xfrm>
            <a:off x="4361249" y="5310986"/>
            <a:ext cx="15661501" cy="5685260"/>
          </a:xfrm>
        </p:spPr>
        <p:txBody>
          <a:bodyPr>
            <a:normAutofit lnSpcReduction="10000"/>
          </a:bodyPr>
          <a:lstStyle/>
          <a:p>
            <a:pPr algn="just"/>
            <a:r>
              <a:rPr lang="en-US" sz="3200" dirty="0"/>
              <a:t>Data streaming is the transfer of data at a steady high-speed rate, with low and well-controlled latency. The data volume in data streaming is high and decisions have to be made in real-time. High-definition television (HDTV) is a ubiquitous application of data streaming.</a:t>
            </a:r>
          </a:p>
          <a:p>
            <a:pPr algn="just"/>
            <a:r>
              <a:rPr lang="en-US" sz="3200" dirty="0"/>
              <a:t>Cloud data streaming services support content distribution from many organizations, e.g., AWS hosts Netflix and Google cloud hosts YouTube. </a:t>
            </a:r>
          </a:p>
          <a:p>
            <a:pPr algn="just"/>
            <a:r>
              <a:rPr lang="en-US" sz="3200" dirty="0"/>
              <a:t>Clouds support a variety of other data streaming applications in addition to hosting content providers. For example, AWS supports several streaming data platforms, including Apache Kafka, Apache Flume, Apache Spark Streaming, and Apache Storm.</a:t>
            </a:r>
          </a:p>
        </p:txBody>
      </p:sp>
    </p:spTree>
    <p:extLst>
      <p:ext uri="{BB962C8B-B14F-4D97-AF65-F5344CB8AC3E}">
        <p14:creationId xmlns:p14="http://schemas.microsoft.com/office/powerpoint/2010/main" val="223171280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ED185-4C0C-52F1-06DE-26F0A366A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8FF04-8091-19FA-EDB7-83CB52F2935F}"/>
              </a:ext>
            </a:extLst>
          </p:cNvPr>
          <p:cNvSpPr>
            <a:spLocks noGrp="1"/>
          </p:cNvSpPr>
          <p:nvPr>
            <p:ph type="title"/>
          </p:nvPr>
        </p:nvSpPr>
        <p:spPr/>
        <p:txBody>
          <a:bodyPr>
            <a:normAutofit fontScale="90000"/>
          </a:bodyPr>
          <a:lstStyle/>
          <a:p>
            <a:r>
              <a:rPr lang="en-US" dirty="0"/>
              <a:t>Data Streaming versus Batch Processing</a:t>
            </a:r>
          </a:p>
        </p:txBody>
      </p:sp>
      <p:sp>
        <p:nvSpPr>
          <p:cNvPr id="3" name="Text Placeholder 2">
            <a:extLst>
              <a:ext uri="{FF2B5EF4-FFF2-40B4-BE49-F238E27FC236}">
                <a16:creationId xmlns:a16="http://schemas.microsoft.com/office/drawing/2014/main" id="{0350BAAA-4DD9-2F29-2072-93470EBEE67D}"/>
              </a:ext>
            </a:extLst>
          </p:cNvPr>
          <p:cNvSpPr>
            <a:spLocks noGrp="1"/>
          </p:cNvSpPr>
          <p:nvPr>
            <p:ph type="body" sz="quarter" idx="10"/>
          </p:nvPr>
        </p:nvSpPr>
        <p:spPr/>
        <p:txBody>
          <a:bodyPr/>
          <a:lstStyle/>
          <a:p>
            <a:endParaRPr lang="en-US" dirty="0"/>
          </a:p>
        </p:txBody>
      </p:sp>
      <p:sp>
        <p:nvSpPr>
          <p:cNvPr id="6" name="Content Placeholder 5">
            <a:extLst>
              <a:ext uri="{FF2B5EF4-FFF2-40B4-BE49-F238E27FC236}">
                <a16:creationId xmlns:a16="http://schemas.microsoft.com/office/drawing/2014/main" id="{9CBA5F0E-E5A3-6A47-2D55-4E69DD90F526}"/>
              </a:ext>
            </a:extLst>
          </p:cNvPr>
          <p:cNvSpPr>
            <a:spLocks noGrp="1"/>
          </p:cNvSpPr>
          <p:nvPr>
            <p:ph sz="quarter" idx="11"/>
          </p:nvPr>
        </p:nvSpPr>
        <p:spPr>
          <a:xfrm>
            <a:off x="3610972" y="5291174"/>
            <a:ext cx="17162055" cy="6509510"/>
          </a:xfrm>
        </p:spPr>
        <p:txBody>
          <a:bodyPr>
            <a:normAutofit/>
          </a:bodyPr>
          <a:lstStyle/>
          <a:p>
            <a:pPr marL="457200" indent="-457200" algn="just">
              <a:buAutoNum type="arabicPeriod"/>
            </a:pPr>
            <a:r>
              <a:rPr lang="en-US" dirty="0"/>
              <a:t> Streaming processes individual records or </a:t>
            </a:r>
            <a:r>
              <a:rPr lang="en-US" dirty="0" err="1"/>
              <a:t>microbatches</a:t>
            </a:r>
            <a:r>
              <a:rPr lang="en-US" dirty="0"/>
              <a:t>, rather than large batches.</a:t>
            </a:r>
          </a:p>
          <a:p>
            <a:pPr marL="457200" indent="-457200" algn="just">
              <a:buAutoNum type="arabicPeriod"/>
            </a:pPr>
            <a:r>
              <a:rPr lang="en-US" dirty="0"/>
              <a:t>Streaming processes only the most recent data or data over a rolling time window, rather than the entire, or a large segment of a, data set.</a:t>
            </a:r>
          </a:p>
          <a:p>
            <a:pPr marL="457200" indent="-457200" algn="just">
              <a:buAutoNum type="arabicPeriod"/>
            </a:pPr>
            <a:r>
              <a:rPr lang="en-US" dirty="0"/>
              <a:t>Streaming requires latency of milliseconds, rather than minutes or hours.</a:t>
            </a:r>
          </a:p>
          <a:p>
            <a:pPr marL="457200" indent="-457200" algn="just">
              <a:buAutoNum type="arabicPeriod"/>
            </a:pPr>
            <a:r>
              <a:rPr lang="en-US" dirty="0"/>
              <a:t>Streaming provides simple response functions, aggregates, and rolling metrics, rather than carrying out complex analytics.</a:t>
            </a:r>
          </a:p>
          <a:p>
            <a:pPr marL="457200" indent="-457200" algn="just">
              <a:buAutoNum type="arabicPeriod"/>
            </a:pPr>
            <a:r>
              <a:rPr lang="en-US" dirty="0"/>
              <a:t>It can be hard to reason about the global state in data streaming because different nodes may be processing data that arrived at different times, while in batch processing the system state is well defined and can be used to checkpoint and later restart the computation.</a:t>
            </a:r>
          </a:p>
          <a:p>
            <a:endParaRPr lang="en-US" dirty="0"/>
          </a:p>
        </p:txBody>
      </p:sp>
    </p:spTree>
    <p:extLst>
      <p:ext uri="{BB962C8B-B14F-4D97-AF65-F5344CB8AC3E}">
        <p14:creationId xmlns:p14="http://schemas.microsoft.com/office/powerpoint/2010/main" val="290250194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9C5FB-1F09-33CE-741C-8434F3BF9B7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6D0D950-1A15-B3F6-003A-1E800E9F0C2D}"/>
              </a:ext>
            </a:extLst>
          </p:cNvPr>
          <p:cNvSpPr>
            <a:spLocks noGrp="1"/>
          </p:cNvSpPr>
          <p:nvPr>
            <p:ph type="title"/>
          </p:nvPr>
        </p:nvSpPr>
        <p:spPr>
          <a:xfrm>
            <a:off x="2167377" y="1871164"/>
            <a:ext cx="14715569" cy="511175"/>
          </a:xfrm>
        </p:spPr>
        <p:txBody>
          <a:bodyPr>
            <a:normAutofit/>
          </a:bodyPr>
          <a:lstStyle/>
          <a:p>
            <a:r>
              <a:rPr lang="en-US" sz="3200" dirty="0"/>
              <a:t>Spark streaming</a:t>
            </a:r>
          </a:p>
        </p:txBody>
      </p:sp>
      <p:sp>
        <p:nvSpPr>
          <p:cNvPr id="22" name="Text Placeholder 2">
            <a:extLst>
              <a:ext uri="{FF2B5EF4-FFF2-40B4-BE49-F238E27FC236}">
                <a16:creationId xmlns:a16="http://schemas.microsoft.com/office/drawing/2014/main" id="{253E13C4-6992-FE5E-369B-81B6D326C6C8}"/>
              </a:ext>
            </a:extLst>
          </p:cNvPr>
          <p:cNvSpPr>
            <a:spLocks noGrp="1"/>
          </p:cNvSpPr>
          <p:nvPr>
            <p:ph type="body" sz="quarter" idx="10"/>
          </p:nvPr>
        </p:nvSpPr>
        <p:spPr>
          <a:xfrm>
            <a:off x="2167377" y="2419728"/>
            <a:ext cx="9768875" cy="803546"/>
          </a:xfrm>
        </p:spPr>
        <p:txBody>
          <a:bodyPr/>
          <a:lstStyle/>
          <a:p>
            <a:endParaRPr lang="en-US"/>
          </a:p>
        </p:txBody>
      </p:sp>
      <p:sp>
        <p:nvSpPr>
          <p:cNvPr id="15" name="Text Placeholder 3">
            <a:extLst>
              <a:ext uri="{FF2B5EF4-FFF2-40B4-BE49-F238E27FC236}">
                <a16:creationId xmlns:a16="http://schemas.microsoft.com/office/drawing/2014/main" id="{46C0E531-00A4-A027-620D-601694FB14C7}"/>
              </a:ext>
            </a:extLst>
          </p:cNvPr>
          <p:cNvSpPr>
            <a:spLocks noGrp="1"/>
          </p:cNvSpPr>
          <p:nvPr>
            <p:ph type="body" sz="quarter" idx="16"/>
          </p:nvPr>
        </p:nvSpPr>
        <p:spPr>
          <a:xfrm>
            <a:off x="2167377" y="6556917"/>
            <a:ext cx="9768906" cy="5575610"/>
          </a:xfrm>
        </p:spPr>
        <p:txBody>
          <a:bodyPr>
            <a:normAutofit/>
          </a:bodyPr>
          <a:lstStyle/>
          <a:p>
            <a:pPr algn="just"/>
            <a:r>
              <a:rPr lang="en-US" dirty="0"/>
              <a:t>D-Streams model offers a high-level functional programming API, strong consistency, and efficient fault recovery. This model, prototyped as Spark Streaming, achieves fault tolerance by replication; there are two processing nodes, the upstream backup and a downstream node.</a:t>
            </a:r>
          </a:p>
          <a:p>
            <a:pPr algn="just"/>
            <a:r>
              <a:rPr lang="en-US" dirty="0"/>
              <a:t>To address the latency concerns, the Spark Streaming system relies on a storage abstraction, Resilient Distributed Dataset (RDD), to rebuild lost data without replication</a:t>
            </a:r>
          </a:p>
        </p:txBody>
      </p:sp>
      <p:sp>
        <p:nvSpPr>
          <p:cNvPr id="17" name="Text Placeholder 5">
            <a:extLst>
              <a:ext uri="{FF2B5EF4-FFF2-40B4-BE49-F238E27FC236}">
                <a16:creationId xmlns:a16="http://schemas.microsoft.com/office/drawing/2014/main" id="{C1A27DE7-EF23-3622-67EC-7AB7B84BBE2A}"/>
              </a:ext>
            </a:extLst>
          </p:cNvPr>
          <p:cNvSpPr>
            <a:spLocks noGrp="1"/>
          </p:cNvSpPr>
          <p:nvPr>
            <p:ph type="body" sz="quarter" idx="17"/>
          </p:nvPr>
        </p:nvSpPr>
        <p:spPr>
          <a:xfrm>
            <a:off x="2166938" y="4210049"/>
            <a:ext cx="9768874" cy="2039112"/>
          </a:xfrm>
        </p:spPr>
        <p:txBody>
          <a:bodyPr>
            <a:normAutofit/>
          </a:bodyPr>
          <a:lstStyle/>
          <a:p>
            <a:r>
              <a:rPr lang="en-US" dirty="0"/>
              <a:t>Spark Streaming system along with a data streaming model, called D-Streams.</a:t>
            </a:r>
          </a:p>
        </p:txBody>
      </p:sp>
      <p:pic>
        <p:nvPicPr>
          <p:cNvPr id="4" name="Picture Placeholder 3">
            <a:extLst>
              <a:ext uri="{FF2B5EF4-FFF2-40B4-BE49-F238E27FC236}">
                <a16:creationId xmlns:a16="http://schemas.microsoft.com/office/drawing/2014/main" id="{3548E0D0-7B64-7C17-EB18-AE24B1EAAAD2}"/>
              </a:ext>
            </a:extLst>
          </p:cNvPr>
          <p:cNvPicPr>
            <a:picLocks noGrp="1" noChangeAspect="1"/>
          </p:cNvPicPr>
          <p:nvPr>
            <p:ph type="pic" sz="quarter" idx="13"/>
          </p:nvPr>
        </p:nvPicPr>
        <p:blipFill>
          <a:blip r:embed="rId3"/>
          <a:srcRect l="686" r="3318" b="3631"/>
          <a:stretch>
            <a:fillRect/>
          </a:stretch>
        </p:blipFill>
        <p:spPr>
          <a:xfrm>
            <a:off x="11935812" y="5050984"/>
            <a:ext cx="11746523" cy="4406380"/>
          </a:xfrm>
          <a:prstGeom prst="rect">
            <a:avLst/>
          </a:prstGeom>
        </p:spPr>
      </p:pic>
    </p:spTree>
    <p:extLst>
      <p:ext uri="{BB962C8B-B14F-4D97-AF65-F5344CB8AC3E}">
        <p14:creationId xmlns:p14="http://schemas.microsoft.com/office/powerpoint/2010/main" val="7728647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8C773-8F5A-F829-00DF-306A80D07A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FC0066D-099A-0578-027C-63FD66543D57}"/>
              </a:ext>
            </a:extLst>
          </p:cNvPr>
          <p:cNvSpPr>
            <a:spLocks noGrp="1"/>
          </p:cNvSpPr>
          <p:nvPr>
            <p:ph type="title"/>
          </p:nvPr>
        </p:nvSpPr>
        <p:spPr/>
        <p:txBody>
          <a:bodyPr>
            <a:normAutofit/>
          </a:bodyPr>
          <a:lstStyle/>
          <a:p>
            <a:r>
              <a:rPr lang="en-US" sz="3200" dirty="0"/>
              <a:t>Spark streaming</a:t>
            </a:r>
          </a:p>
        </p:txBody>
      </p:sp>
      <p:sp>
        <p:nvSpPr>
          <p:cNvPr id="22" name="Text Placeholder 2">
            <a:extLst>
              <a:ext uri="{FF2B5EF4-FFF2-40B4-BE49-F238E27FC236}">
                <a16:creationId xmlns:a16="http://schemas.microsoft.com/office/drawing/2014/main" id="{9984891A-3DFC-F304-13CB-E19753448E1A}"/>
              </a:ext>
            </a:extLst>
          </p:cNvPr>
          <p:cNvSpPr>
            <a:spLocks noGrp="1"/>
          </p:cNvSpPr>
          <p:nvPr>
            <p:ph type="body" sz="quarter" idx="10"/>
          </p:nvPr>
        </p:nvSpPr>
        <p:spPr/>
        <p:txBody>
          <a:bodyPr/>
          <a:lstStyle/>
          <a:p>
            <a:r>
              <a:rPr lang="en-US" dirty="0"/>
              <a:t>System support</a:t>
            </a:r>
          </a:p>
        </p:txBody>
      </p:sp>
      <p:sp>
        <p:nvSpPr>
          <p:cNvPr id="15" name="Text Placeholder 3">
            <a:extLst>
              <a:ext uri="{FF2B5EF4-FFF2-40B4-BE49-F238E27FC236}">
                <a16:creationId xmlns:a16="http://schemas.microsoft.com/office/drawing/2014/main" id="{36383C1E-6F13-5E8E-418D-AEA61290D2D7}"/>
              </a:ext>
            </a:extLst>
          </p:cNvPr>
          <p:cNvSpPr>
            <a:spLocks noGrp="1"/>
          </p:cNvSpPr>
          <p:nvPr>
            <p:ph sz="quarter" idx="11"/>
          </p:nvPr>
        </p:nvSpPr>
        <p:spPr/>
        <p:txBody>
          <a:bodyPr>
            <a:normAutofit/>
          </a:bodyPr>
          <a:lstStyle/>
          <a:p>
            <a:pPr marL="457200" indent="-457200" algn="just">
              <a:buAutoNum type="arabicPeriod"/>
            </a:pPr>
            <a:r>
              <a:rPr lang="en-US" dirty="0"/>
              <a:t> Stateless transformations available in batch frameworks, such as map, reduce, </a:t>
            </a:r>
            <a:r>
              <a:rPr lang="en-US" dirty="0" err="1"/>
              <a:t>groupBy</a:t>
            </a:r>
            <a:r>
              <a:rPr lang="en-US" dirty="0"/>
              <a:t>, and join, and provides two types of operators: (</a:t>
            </a:r>
            <a:r>
              <a:rPr lang="en-US" dirty="0" err="1"/>
              <a:t>i</a:t>
            </a:r>
            <a:r>
              <a:rPr lang="en-US" dirty="0"/>
              <a:t>) stateless and </a:t>
            </a:r>
            <a:r>
              <a:rPr lang="en-US" dirty="0" err="1"/>
              <a:t>statefull</a:t>
            </a:r>
            <a:r>
              <a:rPr lang="en-US" dirty="0"/>
              <a:t> transform operators, the first act independently on each time interval and the second share data among intervals; and (ii) output operators that save data, e.g., store RDDs on HDFS.</a:t>
            </a:r>
          </a:p>
          <a:p>
            <a:pPr marL="457200" indent="-457200" algn="just">
              <a:buAutoNum type="arabicPeriod"/>
            </a:pPr>
            <a:r>
              <a:rPr lang="en-US" dirty="0"/>
              <a:t>New </a:t>
            </a:r>
            <a:r>
              <a:rPr lang="en-US" dirty="0" err="1"/>
              <a:t>statefull</a:t>
            </a:r>
            <a:r>
              <a:rPr lang="en-US" dirty="0"/>
              <a:t> operations: (</a:t>
            </a:r>
            <a:r>
              <a:rPr lang="en-US" dirty="0" err="1"/>
              <a:t>i</a:t>
            </a:r>
            <a:r>
              <a:rPr lang="en-US" dirty="0"/>
              <a:t>) windowing - a window groups records from a range of past intervals into one RDD; (ii) incremental aggregation over a window; and (iii) time-skewed joins when a stream is combined with RDDs.</a:t>
            </a:r>
          </a:p>
        </p:txBody>
      </p:sp>
    </p:spTree>
    <p:extLst>
      <p:ext uri="{BB962C8B-B14F-4D97-AF65-F5344CB8AC3E}">
        <p14:creationId xmlns:p14="http://schemas.microsoft.com/office/powerpoint/2010/main" val="48428549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E871A-C1C5-9C79-D26A-69C12AB4F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1279C-50C1-36DE-AFCD-CEC7B971227E}"/>
              </a:ext>
            </a:extLst>
          </p:cNvPr>
          <p:cNvSpPr>
            <a:spLocks noGrp="1"/>
          </p:cNvSpPr>
          <p:nvPr>
            <p:ph type="title"/>
          </p:nvPr>
        </p:nvSpPr>
        <p:spPr/>
        <p:txBody>
          <a:bodyPr>
            <a:normAutofit fontScale="90000"/>
          </a:bodyPr>
          <a:lstStyle/>
          <a:p>
            <a:r>
              <a:rPr lang="en-US" dirty="0"/>
              <a:t>Caching Strategies for Data Streaming</a:t>
            </a:r>
          </a:p>
        </p:txBody>
      </p:sp>
      <p:sp>
        <p:nvSpPr>
          <p:cNvPr id="3" name="Text Placeholder 2">
            <a:extLst>
              <a:ext uri="{FF2B5EF4-FFF2-40B4-BE49-F238E27FC236}">
                <a16:creationId xmlns:a16="http://schemas.microsoft.com/office/drawing/2014/main" id="{03C87752-801E-D074-2C3A-D7740489801C}"/>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30C52733-B2C0-6E24-9E91-C35885D6BDD8}"/>
              </a:ext>
            </a:extLst>
          </p:cNvPr>
          <p:cNvSpPr>
            <a:spLocks noGrp="1"/>
          </p:cNvSpPr>
          <p:nvPr>
            <p:ph sz="quarter" idx="11"/>
          </p:nvPr>
        </p:nvSpPr>
        <p:spPr>
          <a:xfrm>
            <a:off x="4208849" y="5961942"/>
            <a:ext cx="15966301" cy="5732153"/>
          </a:xfrm>
        </p:spPr>
        <p:txBody>
          <a:bodyPr>
            <a:normAutofit/>
          </a:bodyPr>
          <a:lstStyle/>
          <a:p>
            <a:pPr algn="just"/>
            <a:r>
              <a:rPr lang="en-US" sz="3200" dirty="0"/>
              <a:t>Routers of a Content-Centric Network (CCN)—use several replacement policies,</a:t>
            </a:r>
          </a:p>
          <a:p>
            <a:pPr algn="just"/>
            <a:r>
              <a:rPr lang="en-US" sz="3200" dirty="0"/>
              <a:t>LRU (Least Recently Used) keeps in cache the most recently used content, </a:t>
            </a:r>
          </a:p>
          <a:p>
            <a:pPr algn="just"/>
            <a:r>
              <a:rPr lang="en-US" sz="3200" dirty="0"/>
              <a:t>LFU (Least Frequently Used) uses cache request history to keep in cache highly used content,</a:t>
            </a:r>
          </a:p>
          <a:p>
            <a:pPr algn="just"/>
            <a:r>
              <a:rPr lang="en-US" sz="3200" dirty="0" err="1"/>
              <a:t>sLRFU</a:t>
            </a:r>
            <a:r>
              <a:rPr lang="en-US" sz="3200" dirty="0"/>
              <a:t> (streaming Least Recently/Frequently Used) aims to maximize cache and support tradeoffs by specifying a weight for each request that decays exponentially over time.</a:t>
            </a:r>
          </a:p>
        </p:txBody>
      </p:sp>
    </p:spTree>
    <p:extLst>
      <p:ext uri="{BB962C8B-B14F-4D97-AF65-F5344CB8AC3E}">
        <p14:creationId xmlns:p14="http://schemas.microsoft.com/office/powerpoint/2010/main" val="43771269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B4C3-B758-F37F-891D-C99B68B411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EE852F-8F01-D0AF-CB6A-8AEBC0A0A1E3}"/>
              </a:ext>
            </a:extLst>
          </p:cNvPr>
          <p:cNvSpPr>
            <a:spLocks noGrp="1"/>
          </p:cNvSpPr>
          <p:nvPr>
            <p:ph type="title"/>
          </p:nvPr>
        </p:nvSpPr>
        <p:spPr/>
        <p:txBody>
          <a:bodyPr/>
          <a:lstStyle/>
          <a:p>
            <a:r>
              <a:rPr lang="en-US" dirty="0"/>
              <a:t>Mobile Computing and Applications</a:t>
            </a:r>
          </a:p>
        </p:txBody>
      </p:sp>
    </p:spTree>
    <p:extLst>
      <p:ext uri="{BB962C8B-B14F-4D97-AF65-F5344CB8AC3E}">
        <p14:creationId xmlns:p14="http://schemas.microsoft.com/office/powerpoint/2010/main" val="48882962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603D6-8C78-2917-4BA3-7ADCBDC7D22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CBAF4EF6-EB47-CE4F-387E-072E38EAD2D9}"/>
              </a:ext>
            </a:extLst>
          </p:cNvPr>
          <p:cNvSpPr>
            <a:spLocks noGrp="1"/>
          </p:cNvSpPr>
          <p:nvPr>
            <p:ph type="title"/>
          </p:nvPr>
        </p:nvSpPr>
        <p:spPr>
          <a:xfrm>
            <a:off x="2167377" y="1871164"/>
            <a:ext cx="14715569" cy="511175"/>
          </a:xfrm>
        </p:spPr>
        <p:txBody>
          <a:bodyPr>
            <a:normAutofit fontScale="90000"/>
          </a:bodyPr>
          <a:lstStyle/>
          <a:p>
            <a:r>
              <a:rPr lang="en-US" dirty="0"/>
              <a:t>Mobile Devices in The Cloud Ecosystem</a:t>
            </a:r>
          </a:p>
        </p:txBody>
      </p:sp>
      <p:sp>
        <p:nvSpPr>
          <p:cNvPr id="16" name="Text Placeholder 2">
            <a:extLst>
              <a:ext uri="{FF2B5EF4-FFF2-40B4-BE49-F238E27FC236}">
                <a16:creationId xmlns:a16="http://schemas.microsoft.com/office/drawing/2014/main" id="{22A3FAB5-6F9B-6D39-5B77-F40A4DFDC0AD}"/>
              </a:ext>
            </a:extLst>
          </p:cNvPr>
          <p:cNvSpPr>
            <a:spLocks noGrp="1"/>
          </p:cNvSpPr>
          <p:nvPr>
            <p:ph type="body" sz="quarter" idx="10"/>
          </p:nvPr>
        </p:nvSpPr>
        <p:spPr>
          <a:xfrm>
            <a:off x="2167377" y="2419728"/>
            <a:ext cx="9768875" cy="803546"/>
          </a:xfrm>
        </p:spPr>
        <p:txBody>
          <a:bodyPr/>
          <a:lstStyle/>
          <a:p>
            <a:endParaRPr lang="en-US" dirty="0"/>
          </a:p>
        </p:txBody>
      </p:sp>
      <p:sp>
        <p:nvSpPr>
          <p:cNvPr id="18" name="Text Placeholder 3">
            <a:extLst>
              <a:ext uri="{FF2B5EF4-FFF2-40B4-BE49-F238E27FC236}">
                <a16:creationId xmlns:a16="http://schemas.microsoft.com/office/drawing/2014/main" id="{6289E3AC-8645-ABA7-CE81-6F126EC554D9}"/>
              </a:ext>
            </a:extLst>
          </p:cNvPr>
          <p:cNvSpPr>
            <a:spLocks noGrp="1"/>
          </p:cNvSpPr>
          <p:nvPr>
            <p:ph type="body" sz="quarter" idx="16"/>
          </p:nvPr>
        </p:nvSpPr>
        <p:spPr>
          <a:xfrm>
            <a:off x="2167377" y="6556917"/>
            <a:ext cx="9768906" cy="5575610"/>
          </a:xfrm>
        </p:spPr>
        <p:txBody>
          <a:bodyPr/>
          <a:lstStyle/>
          <a:p>
            <a:pPr algn="just"/>
            <a:r>
              <a:rPr lang="en-US" dirty="0"/>
              <a:t>Mobile devices capture images and videos rich in content, rather than simple scalar data such as temperatures.</a:t>
            </a:r>
          </a:p>
          <a:p>
            <a:pPr algn="just"/>
            <a:r>
              <a:rPr lang="en-US" dirty="0"/>
              <a:t>There is power in numbers—cloud sourcing amplifies the power of sensing and can be used for applications related to security, rapid service discovery, etc.</a:t>
            </a:r>
          </a:p>
        </p:txBody>
      </p:sp>
      <p:sp>
        <p:nvSpPr>
          <p:cNvPr id="20" name="Text Placeholder 5">
            <a:extLst>
              <a:ext uri="{FF2B5EF4-FFF2-40B4-BE49-F238E27FC236}">
                <a16:creationId xmlns:a16="http://schemas.microsoft.com/office/drawing/2014/main" id="{9A5DEF63-FA58-AB6A-6952-8BFA1CD652E2}"/>
              </a:ext>
            </a:extLst>
          </p:cNvPr>
          <p:cNvSpPr>
            <a:spLocks noGrp="1"/>
          </p:cNvSpPr>
          <p:nvPr>
            <p:ph type="body" sz="quarter" idx="17"/>
          </p:nvPr>
        </p:nvSpPr>
        <p:spPr>
          <a:xfrm>
            <a:off x="2166938" y="4210049"/>
            <a:ext cx="9768874" cy="2039112"/>
          </a:xfrm>
        </p:spPr>
        <p:txBody>
          <a:bodyPr>
            <a:normAutofit/>
          </a:bodyPr>
          <a:lstStyle/>
          <a:p>
            <a:pPr algn="just"/>
            <a:r>
              <a:rPr lang="en-US" dirty="0"/>
              <a:t>Mobile cloud computing (MCC) is the method of using cloud technology to deliver mobile apps. </a:t>
            </a:r>
          </a:p>
        </p:txBody>
      </p:sp>
      <p:sp>
        <p:nvSpPr>
          <p:cNvPr id="3" name="Picture Placeholder 2">
            <a:extLst>
              <a:ext uri="{FF2B5EF4-FFF2-40B4-BE49-F238E27FC236}">
                <a16:creationId xmlns:a16="http://schemas.microsoft.com/office/drawing/2014/main" id="{8DB29597-4C55-2664-5414-5065F0F2AF30}"/>
              </a:ext>
            </a:extLst>
          </p:cNvPr>
          <p:cNvSpPr>
            <a:spLocks noGrp="1"/>
          </p:cNvSpPr>
          <p:nvPr>
            <p:ph type="pic" sz="quarter" idx="13"/>
          </p:nvPr>
        </p:nvSpPr>
        <p:spPr/>
        <p:txBody>
          <a:bodyPr/>
          <a:lstStyle/>
          <a:p>
            <a:endParaRPr lang="en-US"/>
          </a:p>
        </p:txBody>
      </p:sp>
    </p:spTree>
    <p:extLst>
      <p:ext uri="{BB962C8B-B14F-4D97-AF65-F5344CB8AC3E}">
        <p14:creationId xmlns:p14="http://schemas.microsoft.com/office/powerpoint/2010/main" val="249847757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FA651-5E0E-0B2E-CFC2-3F0435097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50294-FB3D-3CB4-C828-A0207984E037}"/>
              </a:ext>
            </a:extLst>
          </p:cNvPr>
          <p:cNvSpPr>
            <a:spLocks noGrp="1"/>
          </p:cNvSpPr>
          <p:nvPr>
            <p:ph type="title"/>
          </p:nvPr>
        </p:nvSpPr>
        <p:spPr/>
        <p:txBody>
          <a:bodyPr>
            <a:normAutofit fontScale="90000"/>
          </a:bodyPr>
          <a:lstStyle/>
          <a:p>
            <a:r>
              <a:rPr lang="en-US" dirty="0"/>
              <a:t>Application of mobile computing</a:t>
            </a:r>
          </a:p>
        </p:txBody>
      </p:sp>
      <p:sp>
        <p:nvSpPr>
          <p:cNvPr id="3" name="Text Placeholder 2">
            <a:extLst>
              <a:ext uri="{FF2B5EF4-FFF2-40B4-BE49-F238E27FC236}">
                <a16:creationId xmlns:a16="http://schemas.microsoft.com/office/drawing/2014/main" id="{4B717173-D5E5-A921-F778-E7498F2B5E25}"/>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5E684AC3-D315-4AC7-05C7-A7626AF28561}"/>
              </a:ext>
            </a:extLst>
          </p:cNvPr>
          <p:cNvSpPr>
            <a:spLocks noGrp="1"/>
          </p:cNvSpPr>
          <p:nvPr>
            <p:ph sz="quarter" idx="11"/>
          </p:nvPr>
        </p:nvSpPr>
        <p:spPr>
          <a:xfrm>
            <a:off x="4208849" y="5961942"/>
            <a:ext cx="15966301" cy="5732153"/>
          </a:xfrm>
        </p:spPr>
        <p:txBody>
          <a:bodyPr>
            <a:normAutofit/>
          </a:bodyPr>
          <a:lstStyle/>
          <a:p>
            <a:pPr algn="just"/>
            <a:r>
              <a:rPr lang="en-US" dirty="0"/>
              <a:t>There are countless examples of such ubiquitous applications of mobile cloud computing in areas as diverse as health care, learning, electronic commerce, mobile gaming, mobile location services, and search.</a:t>
            </a:r>
          </a:p>
          <a:p>
            <a:pPr lvl="1" algn="just">
              <a:buFontTx/>
              <a:buChar char="-"/>
            </a:pPr>
            <a:r>
              <a:rPr lang="en-US" dirty="0"/>
              <a:t>An important application of mobile healthcare is patient record storage and retrieval and medical image sharing using computer clouds and mobile devices.</a:t>
            </a:r>
          </a:p>
          <a:p>
            <a:pPr lvl="1" algn="just">
              <a:buFontTx/>
              <a:buChar char="-"/>
            </a:pPr>
            <a:r>
              <a:rPr lang="en-US" dirty="0"/>
              <a:t>There are many education tools helping students learn and understand subjects as diverse as anatomy, computer science, or engineering, or the arts.</a:t>
            </a:r>
          </a:p>
          <a:p>
            <a:pPr lvl="1" algn="just">
              <a:buFontTx/>
              <a:buChar char="-"/>
            </a:pPr>
            <a:r>
              <a:rPr lang="en-US" dirty="0"/>
              <a:t>Mobile gaming has the potential of generating large earnings for cloud service providers.</a:t>
            </a:r>
          </a:p>
        </p:txBody>
      </p:sp>
    </p:spTree>
    <p:extLst>
      <p:ext uri="{BB962C8B-B14F-4D97-AF65-F5344CB8AC3E}">
        <p14:creationId xmlns:p14="http://schemas.microsoft.com/office/powerpoint/2010/main" val="2314489791"/>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105F6-7F6E-3314-C9E2-249AC8EE6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D03FE0-8900-E901-C703-4CDA6648DA9C}"/>
              </a:ext>
            </a:extLst>
          </p:cNvPr>
          <p:cNvSpPr>
            <a:spLocks noGrp="1"/>
          </p:cNvSpPr>
          <p:nvPr>
            <p:ph type="title"/>
          </p:nvPr>
        </p:nvSpPr>
        <p:spPr/>
        <p:txBody>
          <a:bodyPr>
            <a:normAutofit fontScale="90000"/>
          </a:bodyPr>
          <a:lstStyle/>
          <a:p>
            <a:r>
              <a:rPr lang="en-US" dirty="0"/>
              <a:t>The Future of Mobile Cloud Computing</a:t>
            </a:r>
          </a:p>
        </p:txBody>
      </p:sp>
      <p:sp>
        <p:nvSpPr>
          <p:cNvPr id="3" name="Text Placeholder 2">
            <a:extLst>
              <a:ext uri="{FF2B5EF4-FFF2-40B4-BE49-F238E27FC236}">
                <a16:creationId xmlns:a16="http://schemas.microsoft.com/office/drawing/2014/main" id="{2CDE2934-C169-E31B-F01A-9D86D70490AF}"/>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901B1542-065F-3005-254C-58EDEED6D5F7}"/>
              </a:ext>
            </a:extLst>
          </p:cNvPr>
          <p:cNvSpPr>
            <a:spLocks noGrp="1"/>
          </p:cNvSpPr>
          <p:nvPr>
            <p:ph sz="quarter" idx="11"/>
          </p:nvPr>
        </p:nvSpPr>
        <p:spPr>
          <a:xfrm>
            <a:off x="4208849" y="5961942"/>
            <a:ext cx="15966301" cy="5732153"/>
          </a:xfrm>
        </p:spPr>
        <p:txBody>
          <a:bodyPr>
            <a:normAutofit/>
          </a:bodyPr>
          <a:lstStyle/>
          <a:p>
            <a:pPr algn="just"/>
            <a:r>
              <a:rPr lang="en-US" dirty="0"/>
              <a:t>As the technology advances, mobile devices will be equipped with more advanced functional units, including high-resolution cameras, barometers, light sensors, etc. </a:t>
            </a:r>
          </a:p>
          <a:p>
            <a:pPr algn="just"/>
            <a:r>
              <a:rPr lang="en-US" dirty="0"/>
              <a:t>Augmented reality and mobile gaming are emerging as important mobile cloud computing applications. </a:t>
            </a:r>
          </a:p>
          <a:p>
            <a:pPr algn="just"/>
            <a:r>
              <a:rPr lang="en-US" dirty="0"/>
              <a:t>Augmented reality could become a reality with new mobile devices and fast access to computer clouds. </a:t>
            </a:r>
          </a:p>
          <a:p>
            <a:pPr algn="just"/>
            <a:r>
              <a:rPr lang="en-US" dirty="0"/>
              <a:t>Composition of real-time traffic maps from collective traffic data sensing, monitoring environmental pollution, and traffic and pollution management in smart cities are only a few of the potential future applications of mobile cloud computing.</a:t>
            </a:r>
          </a:p>
        </p:txBody>
      </p:sp>
    </p:spTree>
    <p:extLst>
      <p:ext uri="{BB962C8B-B14F-4D97-AF65-F5344CB8AC3E}">
        <p14:creationId xmlns:p14="http://schemas.microsoft.com/office/powerpoint/2010/main" val="466746386"/>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1D657-D7B6-264E-091B-48F0530B58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3804DA-1D14-43D5-8705-17C583C770DF}"/>
              </a:ext>
            </a:extLst>
          </p:cNvPr>
          <p:cNvSpPr>
            <a:spLocks noGrp="1"/>
          </p:cNvSpPr>
          <p:nvPr>
            <p:ph type="title"/>
          </p:nvPr>
        </p:nvSpPr>
        <p:spPr/>
        <p:txBody>
          <a:bodyPr>
            <a:normAutofit fontScale="90000"/>
          </a:bodyPr>
          <a:lstStyle/>
          <a:p>
            <a:r>
              <a:rPr lang="en-US" dirty="0"/>
              <a:t>Mobile Cloud Computing Future Solutions</a:t>
            </a:r>
          </a:p>
        </p:txBody>
      </p:sp>
      <p:sp>
        <p:nvSpPr>
          <p:cNvPr id="3" name="Text Placeholder 2">
            <a:extLst>
              <a:ext uri="{FF2B5EF4-FFF2-40B4-BE49-F238E27FC236}">
                <a16:creationId xmlns:a16="http://schemas.microsoft.com/office/drawing/2014/main" id="{0BF1DC6E-A9E5-7116-9D84-90714C41DBB7}"/>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FC214C04-ADA1-57DC-32BC-285666EFCB40}"/>
              </a:ext>
            </a:extLst>
          </p:cNvPr>
          <p:cNvSpPr>
            <a:spLocks noGrp="1"/>
          </p:cNvSpPr>
          <p:nvPr>
            <p:ph sz="quarter" idx="11"/>
          </p:nvPr>
        </p:nvSpPr>
        <p:spPr>
          <a:xfrm>
            <a:off x="4208849" y="5961942"/>
            <a:ext cx="15966301" cy="5732153"/>
          </a:xfrm>
        </p:spPr>
        <p:txBody>
          <a:bodyPr>
            <a:normAutofit/>
          </a:bodyPr>
          <a:lstStyle/>
          <a:p>
            <a:pPr algn="just"/>
            <a:r>
              <a:rPr lang="en-US" dirty="0"/>
              <a:t>Code and computation offloading—currently based on static partitioning and dynamic profiling is expected to be automated in the future.</a:t>
            </a:r>
          </a:p>
          <a:p>
            <a:pPr algn="just"/>
            <a:r>
              <a:rPr lang="en-US" dirty="0"/>
              <a:t>Task-oriented mobile services—currently provided by Mobile-Data-as-a-Service, Mobile- Computing-as-a-Service, Mobile-Multimedia-as-a-Service, and Location-based Services—are expected to be replaced by human-centric mobile services.</a:t>
            </a:r>
          </a:p>
          <a:p>
            <a:pPr algn="just"/>
            <a:r>
              <a:rPr lang="en-US" dirty="0"/>
              <a:t>Elasticity and scalability—components of the resource allocation and scheduling are expected to be validated by algorithms using valid traffic VM migration models.</a:t>
            </a:r>
          </a:p>
          <a:p>
            <a:pPr algn="just"/>
            <a:r>
              <a:rPr lang="en-US" dirty="0"/>
              <a:t>Cloud service pricing—currently based on auctions, and bidding is expected to be replaced by empirical validation and optimization algorithms.</a:t>
            </a:r>
          </a:p>
        </p:txBody>
      </p:sp>
    </p:spTree>
    <p:extLst>
      <p:ext uri="{BB962C8B-B14F-4D97-AF65-F5344CB8AC3E}">
        <p14:creationId xmlns:p14="http://schemas.microsoft.com/office/powerpoint/2010/main" val="211782374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3802-7A6B-045C-EDB6-44994979DE93}"/>
              </a:ext>
            </a:extLst>
          </p:cNvPr>
          <p:cNvSpPr>
            <a:spLocks noGrp="1"/>
          </p:cNvSpPr>
          <p:nvPr>
            <p:ph type="title"/>
          </p:nvPr>
        </p:nvSpPr>
        <p:spPr/>
        <p:txBody>
          <a:bodyPr>
            <a:normAutofit fontScale="90000"/>
          </a:bodyPr>
          <a:lstStyle/>
          <a:p>
            <a:r>
              <a:rPr lang="en-US" dirty="0"/>
              <a:t>Exercise</a:t>
            </a:r>
          </a:p>
        </p:txBody>
      </p:sp>
      <p:sp>
        <p:nvSpPr>
          <p:cNvPr id="6" name="Text Placeholder 5">
            <a:extLst>
              <a:ext uri="{FF2B5EF4-FFF2-40B4-BE49-F238E27FC236}">
                <a16:creationId xmlns:a16="http://schemas.microsoft.com/office/drawing/2014/main" id="{B96B59B6-648E-8EB4-6907-07002D2ECFF4}"/>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B73F1C5-C00D-0663-602C-B03399D4648E}"/>
              </a:ext>
            </a:extLst>
          </p:cNvPr>
          <p:cNvSpPr>
            <a:spLocks noGrp="1"/>
          </p:cNvSpPr>
          <p:nvPr>
            <p:ph sz="quarter" idx="11"/>
          </p:nvPr>
        </p:nvSpPr>
        <p:spPr/>
        <p:txBody>
          <a:bodyPr/>
          <a:lstStyle/>
          <a:p>
            <a:pPr marL="571500" indent="-571500">
              <a:buFont typeface="Arial" panose="020B0604020202020204" pitchFamily="34" charset="0"/>
              <a:buChar char="•"/>
            </a:pPr>
            <a:r>
              <a:rPr lang="en-US" dirty="0"/>
              <a:t>Find example of data warehouse implementation case other than the google </a:t>
            </a:r>
            <a:r>
              <a:rPr lang="en-US" dirty="0" err="1"/>
              <a:t>adwords</a:t>
            </a:r>
            <a:r>
              <a:rPr lang="en-US" dirty="0"/>
              <a:t>, find and explain why it works, why, what is the benefits of using it</a:t>
            </a:r>
          </a:p>
        </p:txBody>
      </p:sp>
    </p:spTree>
    <p:extLst>
      <p:ext uri="{BB962C8B-B14F-4D97-AF65-F5344CB8AC3E}">
        <p14:creationId xmlns:p14="http://schemas.microsoft.com/office/powerpoint/2010/main" val="2873593984"/>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32BAF-F517-BE43-A4AD-CC09CFE100BF}"/>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References</a:t>
            </a:r>
            <a:endParaRPr lang="en-US" dirty="0"/>
          </a:p>
        </p:txBody>
      </p:sp>
      <p:sp>
        <p:nvSpPr>
          <p:cNvPr id="4" name="Text Placeholder 3">
            <a:extLst>
              <a:ext uri="{FF2B5EF4-FFF2-40B4-BE49-F238E27FC236}">
                <a16:creationId xmlns:a16="http://schemas.microsoft.com/office/drawing/2014/main" id="{4C5FD19C-A63E-2EAD-8D32-134F78AD48C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902DD5D-7D42-CDFC-EC63-F37424D818B8}"/>
              </a:ext>
            </a:extLst>
          </p:cNvPr>
          <p:cNvSpPr>
            <a:spLocks noGrp="1"/>
          </p:cNvSpPr>
          <p:nvPr>
            <p:ph sz="quarter" idx="11"/>
          </p:nvPr>
        </p:nvSpPr>
        <p:spPr/>
        <p:txBody>
          <a:bodyPr>
            <a:normAutofit fontScale="92500"/>
          </a:bodyPr>
          <a:lstStyle/>
          <a:p>
            <a:r>
              <a:rPr lang="en-US" dirty="0"/>
              <a:t>Marinescu, Dan C. (2022). Cloud Computing Theory and Practice: 3rd Edition. Morgan Kaufmann Publishers. ISBN: 978-0-323-85277-7</a:t>
            </a:r>
          </a:p>
          <a:p>
            <a:r>
              <a:rPr lang="en-US" dirty="0">
                <a:hlinkClick r:id="rId2"/>
              </a:rPr>
              <a:t>https://docs.cloud.google.com/spanner/docs/whitepapers/life-of-reads-and-writes#:~:text=This%20allows%20different%20Spanner%20machines,order%20to%20make%20TrueTime%20work</a:t>
            </a:r>
            <a:r>
              <a:rPr lang="en-US" dirty="0"/>
              <a:t>.</a:t>
            </a:r>
          </a:p>
          <a:p>
            <a:r>
              <a:rPr lang="en-US" dirty="0">
                <a:hlinkClick r:id="rId3"/>
              </a:rPr>
              <a:t>https://static.googleusercontent.com/media/research.google.com/en//pubs/archive/42851.pdf</a:t>
            </a:r>
            <a:endParaRPr lang="en-US" dirty="0"/>
          </a:p>
          <a:p>
            <a:r>
              <a:rPr lang="en-US" dirty="0"/>
              <a:t>https://spark.apache.org/docs/latest/streaming-programming-guide.html</a:t>
            </a:r>
          </a:p>
        </p:txBody>
      </p:sp>
    </p:spTree>
    <p:extLst>
      <p:ext uri="{BB962C8B-B14F-4D97-AF65-F5344CB8AC3E}">
        <p14:creationId xmlns:p14="http://schemas.microsoft.com/office/powerpoint/2010/main" val="1730510924"/>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2181</TotalTime>
  <Words>2515</Words>
  <Application>Microsoft Office PowerPoint</Application>
  <PresentationFormat>Custom</PresentationFormat>
  <Paragraphs>130</Paragraphs>
  <Slides>29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OCRB</vt:lpstr>
      <vt:lpstr>Open Sans ExtraBold</vt:lpstr>
      <vt:lpstr>Tahoma</vt:lpstr>
      <vt:lpstr>Open Sans Semibold</vt:lpstr>
      <vt:lpstr>Open Sans Light</vt:lpstr>
      <vt:lpstr>Open Sans</vt:lpstr>
      <vt:lpstr>21_BasicWhite</vt:lpstr>
      <vt:lpstr>Big Data, Data Streaming and Mobile Cloud  Session 12</vt:lpstr>
      <vt:lpstr>Learning outcomes</vt:lpstr>
      <vt:lpstr>Outline</vt:lpstr>
      <vt:lpstr>Big Data</vt:lpstr>
      <vt:lpstr>Big data</vt:lpstr>
      <vt:lpstr>Big data</vt:lpstr>
      <vt:lpstr>Big data</vt:lpstr>
      <vt:lpstr>Data Warehouse</vt:lpstr>
      <vt:lpstr>Data Warehouse</vt:lpstr>
      <vt:lpstr>Data warehouse</vt:lpstr>
      <vt:lpstr>Data warehouse</vt:lpstr>
      <vt:lpstr>Spanner</vt:lpstr>
      <vt:lpstr>spanner</vt:lpstr>
      <vt:lpstr>F1-scaling</vt:lpstr>
      <vt:lpstr>Mesa-spanner-F1 scaling</vt:lpstr>
      <vt:lpstr>Data Streaming</vt:lpstr>
      <vt:lpstr>Data streaming</vt:lpstr>
      <vt:lpstr>Data Streaming versus Batch Processing</vt:lpstr>
      <vt:lpstr>Spark streaming</vt:lpstr>
      <vt:lpstr>Spark streaming</vt:lpstr>
      <vt:lpstr>Caching Strategies for Data Streaming</vt:lpstr>
      <vt:lpstr>Mobile Computing and Applications</vt:lpstr>
      <vt:lpstr>Mobile Devices in The Cloud Ecosystem</vt:lpstr>
      <vt:lpstr>Application of mobile computing</vt:lpstr>
      <vt:lpstr>The Future of Mobile Cloud Computing</vt:lpstr>
      <vt:lpstr>Mobile Cloud Computing Future Solutions</vt:lpstr>
      <vt:lpstr>Exercise</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Samuel Philip</cp:lastModifiedBy>
  <cp:revision>23</cp:revision>
  <dcterms:created xsi:type="dcterms:W3CDTF">2023-06-28T08:14:57Z</dcterms:created>
  <dcterms:modified xsi:type="dcterms:W3CDTF">2026-01-09T04:27:28Z</dcterms:modified>
</cp:coreProperties>
</file>