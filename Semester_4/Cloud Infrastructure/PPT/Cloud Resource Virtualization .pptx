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32"/>
  </p:notesMasterIdLst>
  <p:sldIdLst>
    <p:sldId id="256" r:id="rId2"/>
    <p:sldId id="278" r:id="rId3"/>
    <p:sldId id="257" r:id="rId4"/>
    <p:sldId id="264" r:id="rId5"/>
    <p:sldId id="297" r:id="rId6"/>
    <p:sldId id="330" r:id="rId7"/>
    <p:sldId id="298" r:id="rId8"/>
    <p:sldId id="318" r:id="rId9"/>
    <p:sldId id="300" r:id="rId10"/>
    <p:sldId id="319" r:id="rId11"/>
    <p:sldId id="331" r:id="rId12"/>
    <p:sldId id="322" r:id="rId13"/>
    <p:sldId id="332" r:id="rId14"/>
    <p:sldId id="333" r:id="rId15"/>
    <p:sldId id="303" r:id="rId16"/>
    <p:sldId id="301" r:id="rId17"/>
    <p:sldId id="334" r:id="rId18"/>
    <p:sldId id="304" r:id="rId19"/>
    <p:sldId id="324" r:id="rId20"/>
    <p:sldId id="335" r:id="rId21"/>
    <p:sldId id="325" r:id="rId22"/>
    <p:sldId id="326" r:id="rId23"/>
    <p:sldId id="306" r:id="rId24"/>
    <p:sldId id="329" r:id="rId25"/>
    <p:sldId id="328" r:id="rId26"/>
    <p:sldId id="307" r:id="rId27"/>
    <p:sldId id="336" r:id="rId28"/>
    <p:sldId id="315" r:id="rId29"/>
    <p:sldId id="317" r:id="rId30"/>
    <p:sldId id="296" r:id="rId31"/>
  </p:sldIdLst>
  <p:sldSz cx="24384000" cy="13716000"/>
  <p:notesSz cx="6858000" cy="9144000"/>
  <p:embeddedFontLst>
    <p:embeddedFont>
      <p:font typeface="OCRB" panose="020B0609020202020204" pitchFamily="49" charset="0"/>
      <p:regular r:id="rId33"/>
    </p:embeddedFont>
    <p:embeddedFont>
      <p:font typeface="Open Sans" panose="020B0606030504020204" pitchFamily="34" charset="0"/>
      <p:regular r:id="rId34"/>
      <p:bold r:id="rId35"/>
      <p:italic r:id="rId36"/>
      <p:boldItalic r:id="rId37"/>
    </p:embeddedFont>
    <p:embeddedFont>
      <p:font typeface="Open Sans ExtraBold" panose="020B0906030804020204" pitchFamily="34" charset="0"/>
      <p:bold r:id="rId38"/>
      <p:italic r:id="rId39"/>
      <p:boldItalic r:id="rId40"/>
    </p:embeddedFont>
    <p:embeddedFont>
      <p:font typeface="Open Sans Light" panose="020B0306030504020204" pitchFamily="34" charset="0"/>
      <p:regular r:id="rId41"/>
      <p:italic r:id="rId42"/>
    </p:embeddedFont>
    <p:embeddedFont>
      <p:font typeface="Open Sans Semibold" panose="020B0706030804020204" pitchFamily="34" charset="0"/>
      <p:regular r:id="rId43"/>
      <p:bold r:id="rId44"/>
      <p:italic r:id="rId45"/>
      <p:boldItalic r:id="rId46"/>
    </p:embeddedFont>
    <p:embeddedFont>
      <p:font typeface="Tahoma" panose="020B0604030504040204" pitchFamily="34" charset="0"/>
      <p:regular r:id="rId47"/>
      <p:bold r:id="rId48"/>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FAE995-0F9C-D74A-95D1-DD92ECB55CB7}" v="77" dt="2023-12-07T07:14:46.024"/>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55" autoAdjust="0"/>
    <p:restoredTop sz="96197"/>
  </p:normalViewPr>
  <p:slideViewPr>
    <p:cSldViewPr snapToGrid="0" snapToObjects="1">
      <p:cViewPr>
        <p:scale>
          <a:sx n="33" d="100"/>
          <a:sy n="33" d="100"/>
        </p:scale>
        <p:origin x="-197" y="288"/>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font" Target="fonts/font15.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font" Target="fonts/font13.fntdata"/><Relationship Id="rId53"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2.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font" Target="fonts/font16.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font" Target="fonts/font14.fntdata"/><Relationship Id="rId20" Type="http://schemas.openxmlformats.org/officeDocument/2006/relationships/slide" Target="slides/slide19.xml"/><Relationship Id="rId41"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4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017588374"/>
      </p:ext>
    </p:extLst>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Hypervisor's role in traditional, hybrid, and hosted VM architectures. </a:t>
            </a:r>
          </a:p>
          <a:p>
            <a:r>
              <a:rPr lang="en-US" dirty="0"/>
              <a:t>(Left) Traditional VMs; hypervisor supports multiple VMs and runs directly on the hardware. </a:t>
            </a:r>
          </a:p>
          <a:p>
            <a:r>
              <a:rPr lang="en-US" dirty="0"/>
              <a:t>(Center) Hybrid VM; hypervisor shares the hardware with a host OS and supports multiple VMs. </a:t>
            </a:r>
          </a:p>
          <a:p>
            <a:r>
              <a:rPr lang="en-US" dirty="0"/>
              <a:t>(Right) Hosted VM; hypervisor runs under a host OS.</a:t>
            </a:r>
          </a:p>
        </p:txBody>
      </p:sp>
    </p:spTree>
    <p:extLst>
      <p:ext uri="{BB962C8B-B14F-4D97-AF65-F5344CB8AC3E}">
        <p14:creationId xmlns:p14="http://schemas.microsoft.com/office/powerpoint/2010/main" val="35754883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372987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51F3B-B09D-6170-CD3D-F11EBADB0A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0AF28E-2F6E-8AD4-0BF6-FA47F58AA22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749BF5B-ED9B-8B66-CAC5-FA77AFD0B29A}"/>
              </a:ext>
            </a:extLst>
          </p:cNvPr>
          <p:cNvSpPr>
            <a:spLocks noGrp="1"/>
          </p:cNvSpPr>
          <p:nvPr>
            <p:ph type="body" idx="1"/>
          </p:nvPr>
        </p:nvSpPr>
        <p:spPr/>
        <p:txBody>
          <a:bodyPr/>
          <a:lstStyle/>
          <a:p>
            <a:r>
              <a:rPr lang="en-US" dirty="0"/>
              <a:t>Nested virtualization is limited by the hardware support. When the hardware supports multilevel nested virtualization, each hypervisor handles all traps caused by sensitive instructions of guest hypervisors running directly above of it. </a:t>
            </a:r>
          </a:p>
          <a:p>
            <a:r>
              <a:rPr lang="en-US" dirty="0"/>
              <a:t>Multilevel nested virtualization is supported by the IBM System Z architecture. Intel and AMD processors support only single-level nested virtualization.</a:t>
            </a:r>
          </a:p>
        </p:txBody>
      </p:sp>
    </p:spTree>
    <p:extLst>
      <p:ext uri="{BB962C8B-B14F-4D97-AF65-F5344CB8AC3E}">
        <p14:creationId xmlns:p14="http://schemas.microsoft.com/office/powerpoint/2010/main" val="13599910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914400" lvl="1" indent="-514350">
              <a:buAutoNum type="romanLcParenBoth"/>
            </a:pPr>
            <a:r>
              <a:rPr lang="en-US" dirty="0"/>
              <a:t>The euca2ools front-end is used to request a VM.</a:t>
            </a:r>
          </a:p>
          <a:p>
            <a:pPr marL="914400" lvl="1" indent="-514350">
              <a:buAutoNum type="romanLcParenBoth"/>
            </a:pPr>
            <a:r>
              <a:rPr lang="en-US" dirty="0"/>
              <a:t>The VM disk image is transferred to a compute node.</a:t>
            </a:r>
          </a:p>
          <a:p>
            <a:pPr marL="914400" lvl="1" indent="-514350">
              <a:buAutoNum type="romanLcParenBoth"/>
            </a:pPr>
            <a:r>
              <a:rPr lang="en-US" dirty="0"/>
              <a:t>The disk image is modified for use by the hypervisor on the compute node.</a:t>
            </a:r>
          </a:p>
          <a:p>
            <a:pPr marL="914400" lvl="1" indent="-514350">
              <a:buAutoNum type="romanLcParenBoth"/>
            </a:pPr>
            <a:r>
              <a:rPr lang="en-US" dirty="0"/>
              <a:t>The compute node sets up network bridging to provide a virtual NIC with a virtual MAC address.</a:t>
            </a:r>
          </a:p>
          <a:p>
            <a:pPr marL="914400" lvl="1" indent="-514350">
              <a:buAutoNum type="romanLcParenBoth"/>
            </a:pPr>
            <a:r>
              <a:rPr lang="en-US" dirty="0"/>
              <a:t>The head node the DHCP is set up with the MAC/IP pair.</a:t>
            </a:r>
          </a:p>
          <a:p>
            <a:pPr marL="914400" lvl="1" indent="-514350">
              <a:buAutoNum type="romanLcParenBoth"/>
            </a:pPr>
            <a:r>
              <a:rPr lang="en-US" dirty="0"/>
              <a:t>The hypervisor activates the VM.(</a:t>
            </a:r>
          </a:p>
          <a:p>
            <a:pPr marL="914400" lvl="1" indent="-514350">
              <a:buAutoNum type="romanLcParenBoth"/>
            </a:pPr>
            <a:r>
              <a:rPr lang="en-US" dirty="0"/>
              <a:t>The user can now ssh directly into the VM.</a:t>
            </a:r>
          </a:p>
        </p:txBody>
      </p:sp>
    </p:spTree>
    <p:extLst>
      <p:ext uri="{BB962C8B-B14F-4D97-AF65-F5344CB8AC3E}">
        <p14:creationId xmlns:p14="http://schemas.microsoft.com/office/powerpoint/2010/main" val="41314807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Several virtualization software packages, including hypervisors, OS-level virtualization software, and desktop virtualization software, are available. </a:t>
            </a:r>
          </a:p>
          <a:p>
            <a:r>
              <a:rPr lang="en-US" dirty="0"/>
              <a:t>There are two types of hypervisors, native and hosted.</a:t>
            </a:r>
          </a:p>
          <a:p>
            <a:endParaRPr lang="en-US" dirty="0"/>
          </a:p>
        </p:txBody>
      </p:sp>
    </p:spTree>
    <p:extLst>
      <p:ext uri="{BB962C8B-B14F-4D97-AF65-F5344CB8AC3E}">
        <p14:creationId xmlns:p14="http://schemas.microsoft.com/office/powerpoint/2010/main" val="281284181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10"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image" Target="../media/image11.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17.svg"/><Relationship Id="rId4" Type="http://schemas.openxmlformats.org/officeDocument/2006/relationships/image" Target="../media/image1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9412486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9024523"/>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50031857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8262084"/>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2" name="Picture 1">
            <a:extLst>
              <a:ext uri="{FF2B5EF4-FFF2-40B4-BE49-F238E27FC236}">
                <a16:creationId xmlns:a16="http://schemas.microsoft.com/office/drawing/2014/main" id="{79C614F1-89F8-B808-9DD9-229AAF4CE53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82120862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29905156"/>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48888290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4F98E9C-690F-D5B2-6A0E-CA43C8C26AB9}"/>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20730222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EEBA59A-5DC7-987B-985C-E7F05D80D3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51268309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40722D20-F203-A321-C13A-3A85A24C3C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357946358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2" name="Picture 1">
            <a:extLst>
              <a:ext uri="{FF2B5EF4-FFF2-40B4-BE49-F238E27FC236}">
                <a16:creationId xmlns:a16="http://schemas.microsoft.com/office/drawing/2014/main" id="{A7BDDA7B-8679-2A96-DA58-9B50735EAFF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998102712"/>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F2C79DE9-4AFD-C17C-6D01-10CB5913C73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4134051035"/>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07CBA874-2A87-342A-D528-C2660A034B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50518920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6" name="Picture 5">
            <a:extLst>
              <a:ext uri="{FF2B5EF4-FFF2-40B4-BE49-F238E27FC236}">
                <a16:creationId xmlns:a16="http://schemas.microsoft.com/office/drawing/2014/main" id="{9A703794-B39A-7A69-54AC-AFD888C8CB4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809284995"/>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64D25C93-1B77-566C-CD32-E4AC841F19C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085329813"/>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837038" y="9711819"/>
            <a:ext cx="1700105" cy="1700105"/>
          </a:xfrm>
          <a:prstGeom prst="rect">
            <a:avLst/>
          </a:prstGeom>
        </p:spPr>
      </p:pic>
      <p:pic>
        <p:nvPicPr>
          <p:cNvPr id="7" name="Picture 6">
            <a:extLst>
              <a:ext uri="{FF2B5EF4-FFF2-40B4-BE49-F238E27FC236}">
                <a16:creationId xmlns:a16="http://schemas.microsoft.com/office/drawing/2014/main" id="{08A923CA-0AF7-7160-B581-2CACED786620}"/>
              </a:ext>
              <a:ext uri="{C183D7F6-B498-43B3-948B-1728B52AA6E4}">
                <adec:decorative xmlns:adec="http://schemas.microsoft.com/office/drawing/2017/decorative" val="1"/>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70102926"/>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0" y="4320116"/>
            <a:ext cx="3535680" cy="3535680"/>
          </a:xfrm>
          <a:prstGeom prst="rect">
            <a:avLst/>
          </a:prstGeom>
        </p:spPr>
      </p:pic>
      <p:pic>
        <p:nvPicPr>
          <p:cNvPr id="4" name="Picture 3">
            <a:extLst>
              <a:ext uri="{FF2B5EF4-FFF2-40B4-BE49-F238E27FC236}">
                <a16:creationId xmlns:a16="http://schemas.microsoft.com/office/drawing/2014/main" id="{CE62FAA5-6C99-7043-5D20-4F0B7F8633F3}"/>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227040866"/>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7BD28E23-B05B-27F7-5B39-9129277EE1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779245570"/>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7110" y="8648744"/>
            <a:ext cx="1403521" cy="1403521"/>
          </a:xfrm>
          <a:prstGeom prst="rect">
            <a:avLst/>
          </a:prstGeom>
        </p:spPr>
      </p:pic>
      <p:pic>
        <p:nvPicPr>
          <p:cNvPr id="5" name="Picture 4">
            <a:extLst>
              <a:ext uri="{FF2B5EF4-FFF2-40B4-BE49-F238E27FC236}">
                <a16:creationId xmlns:a16="http://schemas.microsoft.com/office/drawing/2014/main" id="{39A795C1-A678-59F7-F2CE-A32633731DCB}"/>
              </a:ext>
              <a:ext uri="{C183D7F6-B498-43B3-948B-1728B52AA6E4}">
                <adec:decorative xmlns:adec="http://schemas.microsoft.com/office/drawing/2017/decorative" val="1"/>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811012248"/>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7" name="Image" descr="Image">
            <a:extLst>
              <a:ext uri="{FF2B5EF4-FFF2-40B4-BE49-F238E27FC236}">
                <a16:creationId xmlns:a16="http://schemas.microsoft.com/office/drawing/2014/main" id="{13156DDE-55E0-C14A-879A-962B00D82A08}"/>
              </a:ext>
            </a:extLst>
          </p:cNvPr>
          <p:cNvPicPr>
            <a:picLocks noChangeAspect="1"/>
          </p:cNvPicPr>
          <p:nvPr userDrawn="1"/>
        </p:nvPicPr>
        <p:blipFill>
          <a:blip r:embed="rId2"/>
          <a:stretch>
            <a:fillRect/>
          </a:stretch>
        </p:blipFill>
        <p:spPr>
          <a:xfrm>
            <a:off x="21016357" y="354127"/>
            <a:ext cx="2563550" cy="1083872"/>
          </a:xfrm>
          <a:prstGeom prst="rect">
            <a:avLst/>
          </a:prstGeom>
          <a:ln w="12700">
            <a:miter lim="400000"/>
          </a:ln>
        </p:spPr>
      </p:pic>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3F4008AF-17B2-1560-3039-4C723BA0CB2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34045232"/>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5" name="Picture 4">
            <a:extLst>
              <a:ext uri="{FF2B5EF4-FFF2-40B4-BE49-F238E27FC236}">
                <a16:creationId xmlns:a16="http://schemas.microsoft.com/office/drawing/2014/main" id="{A5BF6EF1-CFA9-A58C-D0E2-EFC77F0A6544}"/>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51361529"/>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C4995F2D-6472-91D6-94D4-E6E20D96968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273209878"/>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453551FA-97E6-2245-9BD6-C384100F7F4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10994172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hyperlink" Target="https://itpoonamsharma.wordpress.com/2016/12/" TargetMode="External"/><Relationship Id="rId2" Type="http://schemas.openxmlformats.org/officeDocument/2006/relationships/image" Target="../media/image21.jp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hyperlink" Target="https://itpoonamsharma.wordpress.com/2016/12/" TargetMode="External"/><Relationship Id="rId2" Type="http://schemas.openxmlformats.org/officeDocument/2006/relationships/image" Target="../media/image21.jp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hyperlink" Target="https://diversistemas.com/2020/04/30/nueva-red-hat-disponible/" TargetMode="External"/><Relationship Id="rId2" Type="http://schemas.openxmlformats.org/officeDocument/2006/relationships/image" Target="../media/image32.png"/><Relationship Id="rId1" Type="http://schemas.openxmlformats.org/officeDocument/2006/relationships/slideLayout" Target="../slideLayouts/slideLayout15.xml"/><Relationship Id="rId4" Type="http://schemas.openxmlformats.org/officeDocument/2006/relationships/hyperlink" Target="https://creativecommons.org/licenses/by-nc-sa/3.0/"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s://freepngimg.com/png/76636-icons-boxing-virtual-machine-computer-operating-systems" TargetMode="External"/><Relationship Id="rId2" Type="http://schemas.openxmlformats.org/officeDocument/2006/relationships/image" Target="../media/image33.png"/><Relationship Id="rId1" Type="http://schemas.openxmlformats.org/officeDocument/2006/relationships/slideLayout" Target="../slideLayouts/slideLayout15.xml"/><Relationship Id="rId4" Type="http://schemas.openxmlformats.org/officeDocument/2006/relationships/hyperlink" Target="https://creativecommons.org/licenses/by-nc/3.0/"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s://www.ochobitshacenunbyte.com/2014/08/08/probamos-freebsd-10/" TargetMode="External"/><Relationship Id="rId2" Type="http://schemas.openxmlformats.org/officeDocument/2006/relationships/image" Target="../media/image34.jpg"/><Relationship Id="rId1" Type="http://schemas.openxmlformats.org/officeDocument/2006/relationships/slideLayout" Target="../slideLayouts/slideLayout15.xml"/><Relationship Id="rId4" Type="http://schemas.openxmlformats.org/officeDocument/2006/relationships/hyperlink" Target="https://creativecommons.org/licenses/by-sa/3.0/"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5.xml"/><Relationship Id="rId4" Type="http://schemas.openxmlformats.org/officeDocument/2006/relationships/image" Target="../media/image3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hyperlink" Target="https://www.linux-kvm.org/page/Main_Page" TargetMode="Externa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a:xfrm>
            <a:off x="1206498" y="6428534"/>
            <a:ext cx="21971004" cy="3917819"/>
          </a:xfrm>
        </p:spPr>
        <p:txBody>
          <a:bodyPr>
            <a:normAutofit/>
          </a:bodyPr>
          <a:lstStyle/>
          <a:p>
            <a:r>
              <a:rPr lang="en-AU" sz="9600" dirty="0">
                <a:solidFill>
                  <a:schemeClr val="bg1"/>
                </a:solidFill>
                <a:latin typeface="Tahoma" panose="020B0604030504040204" pitchFamily="34" charset="0"/>
                <a:ea typeface="Tahoma" panose="020B0604030504040204" pitchFamily="34" charset="0"/>
                <a:cs typeface="Tahoma" panose="020B0604030504040204" pitchFamily="34" charset="0"/>
              </a:rPr>
              <a:t>Cloud Resource Virtualization</a:t>
            </a:r>
            <a:br>
              <a:rPr lang="en-US" dirty="0"/>
            </a:br>
            <a:br>
              <a:rPr lang="en-US" dirty="0"/>
            </a:br>
            <a:r>
              <a:rPr lang="en-US" sz="6000" dirty="0"/>
              <a:t>Session 05</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D6825 - Samuel Philip</a:t>
            </a:r>
          </a:p>
        </p:txBody>
      </p:sp>
      <p:sp>
        <p:nvSpPr>
          <p:cNvPr id="5" name="Rectangle 7">
            <a:extLst>
              <a:ext uri="{FF2B5EF4-FFF2-40B4-BE49-F238E27FC236}">
                <a16:creationId xmlns:a16="http://schemas.microsoft.com/office/drawing/2014/main" id="{D93D5A33-4AE1-DFDD-5778-A52549DBFAFF}"/>
              </a:ext>
            </a:extLst>
          </p:cNvPr>
          <p:cNvSpPr>
            <a:spLocks noChangeArrowheads="1"/>
          </p:cNvSpPr>
          <p:nvPr/>
        </p:nvSpPr>
        <p:spPr bwMode="auto">
          <a:xfrm>
            <a:off x="1850571" y="3352800"/>
            <a:ext cx="20748172" cy="1870076"/>
          </a:xfrm>
          <a:prstGeom prst="rect">
            <a:avLst/>
          </a:prstGeom>
          <a:noFill/>
          <a:ln w="9525">
            <a:noFill/>
            <a:miter lim="800000"/>
            <a:headEnd/>
            <a:tailEnd/>
          </a:ln>
        </p:spPr>
        <p:txBody>
          <a:bodyPr/>
          <a:lstStyle/>
          <a:p>
            <a:pPr>
              <a:spcBef>
                <a:spcPct val="20000"/>
              </a:spcBef>
              <a:tabLst>
                <a:tab pos="2641600" algn="l"/>
                <a:tab pos="4108450" algn="l"/>
              </a:tabLst>
            </a:pPr>
            <a:r>
              <a:rPr lang="en-US" sz="4000" dirty="0">
                <a:solidFill>
                  <a:schemeClr val="bg1"/>
                </a:solidFill>
                <a:latin typeface="Tahoma" panose="020B0604030504040204" pitchFamily="34" charset="0"/>
                <a:ea typeface="Tahoma" panose="020B0604030504040204" pitchFamily="34" charset="0"/>
                <a:cs typeface="Tahoma" panose="020B0604030504040204" pitchFamily="34" charset="0"/>
              </a:rPr>
              <a:t>Course		: COSC6100001 - Cloud Infrastructure</a:t>
            </a: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03F1C-0D61-4D2A-AE66-A44AB8F933D7}"/>
              </a:ext>
            </a:extLst>
          </p:cNvPr>
          <p:cNvSpPr>
            <a:spLocks noGrp="1"/>
          </p:cNvSpPr>
          <p:nvPr>
            <p:ph type="title"/>
          </p:nvPr>
        </p:nvSpPr>
        <p:spPr/>
        <p:txBody>
          <a:bodyPr>
            <a:normAutofit fontScale="90000"/>
          </a:bodyPr>
          <a:lstStyle/>
          <a:p>
            <a:r>
              <a:rPr lang="en-ID" dirty="0"/>
              <a:t>Learning Objectives</a:t>
            </a:r>
          </a:p>
        </p:txBody>
      </p:sp>
      <p:sp>
        <p:nvSpPr>
          <p:cNvPr id="4" name="Text Placeholder 3">
            <a:extLst>
              <a:ext uri="{FF2B5EF4-FFF2-40B4-BE49-F238E27FC236}">
                <a16:creationId xmlns:a16="http://schemas.microsoft.com/office/drawing/2014/main" id="{19B515F5-D54A-2C91-194C-DEE35FCDBF1E}"/>
              </a:ext>
            </a:extLst>
          </p:cNvPr>
          <p:cNvSpPr>
            <a:spLocks noGrp="1"/>
          </p:cNvSpPr>
          <p:nvPr>
            <p:ph type="body" sz="quarter" idx="10"/>
          </p:nvPr>
        </p:nvSpPr>
        <p:spPr/>
        <p:txBody>
          <a:bodyPr/>
          <a:lstStyle/>
          <a:p>
            <a:endParaRPr lang="en-US"/>
          </a:p>
        </p:txBody>
      </p:sp>
      <p:sp>
        <p:nvSpPr>
          <p:cNvPr id="3" name="Content Placeholder 2">
            <a:extLst>
              <a:ext uri="{FF2B5EF4-FFF2-40B4-BE49-F238E27FC236}">
                <a16:creationId xmlns:a16="http://schemas.microsoft.com/office/drawing/2014/main" id="{32603A01-370D-40D0-943E-E2F4C055BA40}"/>
              </a:ext>
            </a:extLst>
          </p:cNvPr>
          <p:cNvSpPr>
            <a:spLocks noGrp="1"/>
          </p:cNvSpPr>
          <p:nvPr>
            <p:ph sz="quarter" idx="11"/>
          </p:nvPr>
        </p:nvSpPr>
        <p:spPr>
          <a:xfrm>
            <a:off x="2167377" y="3260663"/>
            <a:ext cx="13714940" cy="4522264"/>
          </a:xfrm>
        </p:spPr>
        <p:txBody>
          <a:bodyPr>
            <a:normAutofit/>
          </a:bodyPr>
          <a:lstStyle/>
          <a:p>
            <a:pPr marL="0" indent="0">
              <a:buNone/>
            </a:pPr>
            <a:r>
              <a:rPr lang="en-US" sz="3200" dirty="0"/>
              <a:t>LO1: (C4) Analysis : identify problems that can be solved using cloud global infrastructure</a:t>
            </a:r>
          </a:p>
          <a:p>
            <a:pPr marL="0" indent="0">
              <a:buNone/>
            </a:pPr>
            <a:r>
              <a:rPr lang="en-US" sz="3200" dirty="0"/>
              <a:t>LO2: (C2) Comprehension : group Classify real-worlds problems in accordance with cloud computing infrastructure</a:t>
            </a:r>
          </a:p>
          <a:p>
            <a:pPr marL="0" indent="0">
              <a:buNone/>
            </a:pPr>
            <a:r>
              <a:rPr lang="en-US" sz="3200" dirty="0"/>
              <a:t>LO3: (C4) Analysis : analyze identifying problems and choose proper Cloud Services and Cloud Infrastructure</a:t>
            </a:r>
          </a:p>
        </p:txBody>
      </p:sp>
    </p:spTree>
    <p:extLst>
      <p:ext uri="{BB962C8B-B14F-4D97-AF65-F5344CB8AC3E}">
        <p14:creationId xmlns:p14="http://schemas.microsoft.com/office/powerpoint/2010/main" val="1095015831"/>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8EE7E-7D6D-1075-C43E-31110FFB87EF}"/>
              </a:ext>
            </a:extLst>
          </p:cNvPr>
          <p:cNvSpPr>
            <a:spLocks noGrp="1"/>
          </p:cNvSpPr>
          <p:nvPr>
            <p:ph type="title"/>
          </p:nvPr>
        </p:nvSpPr>
        <p:spPr/>
        <p:txBody>
          <a:bodyPr>
            <a:normAutofit fontScale="90000"/>
          </a:bodyPr>
          <a:lstStyle/>
          <a:p>
            <a:r>
              <a:rPr lang="en-US" dirty="0"/>
              <a:t>Outline</a:t>
            </a:r>
          </a:p>
        </p:txBody>
      </p:sp>
      <p:sp>
        <p:nvSpPr>
          <p:cNvPr id="5" name="Text Placeholder 4">
            <a:extLst>
              <a:ext uri="{FF2B5EF4-FFF2-40B4-BE49-F238E27FC236}">
                <a16:creationId xmlns:a16="http://schemas.microsoft.com/office/drawing/2014/main" id="{45F26CDD-3EFB-2B8E-0F76-60A23F660E6B}"/>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820D9012-F4DE-DB8A-ABB7-846D54F87075}"/>
              </a:ext>
            </a:extLst>
          </p:cNvPr>
          <p:cNvSpPr>
            <a:spLocks noGrp="1"/>
          </p:cNvSpPr>
          <p:nvPr>
            <p:ph sz="quarter" idx="11"/>
          </p:nvPr>
        </p:nvSpPr>
        <p:spPr>
          <a:xfrm>
            <a:off x="2167377" y="3260663"/>
            <a:ext cx="13714940" cy="4522264"/>
          </a:xfrm>
        </p:spPr>
        <p:txBody>
          <a:bodyPr>
            <a:noAutofit/>
          </a:bodyPr>
          <a:lstStyle/>
          <a:p>
            <a:pPr marL="0" indent="0">
              <a:buNone/>
            </a:pPr>
            <a:r>
              <a:rPr lang="en-US" sz="3200" dirty="0"/>
              <a:t>Virtualization Principles</a:t>
            </a:r>
          </a:p>
          <a:p>
            <a:pPr marL="0" indent="0">
              <a:buNone/>
            </a:pPr>
            <a:r>
              <a:rPr lang="en-US" sz="3200" dirty="0"/>
              <a:t>Performance and Security Isolation</a:t>
            </a:r>
          </a:p>
          <a:p>
            <a:pPr marL="0" indent="0">
              <a:buNone/>
            </a:pPr>
            <a:r>
              <a:rPr lang="en-US" sz="3200" dirty="0"/>
              <a:t>Nested Virtualization</a:t>
            </a:r>
          </a:p>
          <a:p>
            <a:pPr marL="0" indent="0">
              <a:buNone/>
            </a:pPr>
            <a:r>
              <a:rPr lang="en-US" sz="3200" dirty="0"/>
              <a:t>Open-source Software Platforms for Private Clouds</a:t>
            </a:r>
          </a:p>
          <a:p>
            <a:pPr marL="0" indent="0">
              <a:buNone/>
            </a:pPr>
            <a:r>
              <a:rPr lang="en-US" sz="3200" dirty="0"/>
              <a:t>The Implementation of Virtualization</a:t>
            </a:r>
          </a:p>
        </p:txBody>
      </p:sp>
    </p:spTree>
    <p:extLst>
      <p:ext uri="{BB962C8B-B14F-4D97-AF65-F5344CB8AC3E}">
        <p14:creationId xmlns:p14="http://schemas.microsoft.com/office/powerpoint/2010/main" val="150427607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90EE6CE-77CF-BD33-296D-07E6A9E5E56A}"/>
              </a:ext>
            </a:extLst>
          </p:cNvPr>
          <p:cNvSpPr>
            <a:spLocks noGrp="1"/>
          </p:cNvSpPr>
          <p:nvPr>
            <p:ph type="title"/>
          </p:nvPr>
        </p:nvSpPr>
        <p:spPr/>
        <p:txBody>
          <a:bodyPr/>
          <a:lstStyle/>
          <a:p>
            <a:r>
              <a:rPr lang="en-US" dirty="0"/>
              <a:t>Virtualization principles</a:t>
            </a:r>
          </a:p>
        </p:txBody>
      </p:sp>
    </p:spTree>
    <p:extLst>
      <p:ext uri="{BB962C8B-B14F-4D97-AF65-F5344CB8AC3E}">
        <p14:creationId xmlns:p14="http://schemas.microsoft.com/office/powerpoint/2010/main" val="650657303"/>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16E73-A651-97FC-3DE1-CEF65AF1619A}"/>
              </a:ext>
            </a:extLst>
          </p:cNvPr>
          <p:cNvSpPr>
            <a:spLocks noGrp="1"/>
          </p:cNvSpPr>
          <p:nvPr>
            <p:ph type="title"/>
          </p:nvPr>
        </p:nvSpPr>
        <p:spPr/>
        <p:txBody>
          <a:bodyPr>
            <a:normAutofit fontScale="90000"/>
          </a:bodyPr>
          <a:lstStyle/>
          <a:p>
            <a:r>
              <a:rPr lang="en-US" dirty="0"/>
              <a:t>Virtualization principles</a:t>
            </a:r>
          </a:p>
        </p:txBody>
      </p:sp>
      <p:sp>
        <p:nvSpPr>
          <p:cNvPr id="5" name="Text Placeholder 4">
            <a:extLst>
              <a:ext uri="{FF2B5EF4-FFF2-40B4-BE49-F238E27FC236}">
                <a16:creationId xmlns:a16="http://schemas.microsoft.com/office/drawing/2014/main" id="{BC01B45A-ACCF-9D25-3C48-29B6E41DC84A}"/>
              </a:ext>
            </a:extLst>
          </p:cNvPr>
          <p:cNvSpPr>
            <a:spLocks noGrp="1"/>
          </p:cNvSpPr>
          <p:nvPr>
            <p:ph type="body" sz="quarter" idx="10"/>
          </p:nvPr>
        </p:nvSpPr>
        <p:spPr/>
        <p:txBody>
          <a:bodyPr/>
          <a:lstStyle/>
          <a:p>
            <a:endParaRPr lang="en-US" dirty="0"/>
          </a:p>
        </p:txBody>
      </p:sp>
      <p:sp>
        <p:nvSpPr>
          <p:cNvPr id="4" name="Content Placeholder 3">
            <a:extLst>
              <a:ext uri="{FF2B5EF4-FFF2-40B4-BE49-F238E27FC236}">
                <a16:creationId xmlns:a16="http://schemas.microsoft.com/office/drawing/2014/main" id="{8D862F95-B0B7-A38E-BEF3-68DCC85BA8BE}"/>
              </a:ext>
            </a:extLst>
          </p:cNvPr>
          <p:cNvSpPr>
            <a:spLocks noGrp="1"/>
          </p:cNvSpPr>
          <p:nvPr>
            <p:ph type="body" sz="quarter" idx="16"/>
          </p:nvPr>
        </p:nvSpPr>
        <p:spPr/>
        <p:txBody>
          <a:bodyPr>
            <a:normAutofit fontScale="85000" lnSpcReduction="20000"/>
          </a:bodyPr>
          <a:lstStyle/>
          <a:p>
            <a:pPr marL="571500" indent="-571500">
              <a:buFont typeface="Arial" panose="020B0604020202020204" pitchFamily="34" charset="0"/>
              <a:buChar char="•"/>
            </a:pPr>
            <a:endParaRPr lang="en-US" sz="4000" dirty="0"/>
          </a:p>
          <a:p>
            <a:pPr marL="571500" indent="-571500">
              <a:buFont typeface="Arial" panose="020B0604020202020204" pitchFamily="34" charset="0"/>
              <a:buChar char="•"/>
            </a:pPr>
            <a:r>
              <a:rPr lang="en-US" sz="4000" dirty="0"/>
              <a:t>Multiplexing: create multiple virtual objects from one instance of a physical object. For example, a processor is multiplexed among a number of processes or threads.</a:t>
            </a:r>
          </a:p>
          <a:p>
            <a:pPr marL="571500" indent="-571500">
              <a:buFont typeface="Arial" panose="020B0604020202020204" pitchFamily="34" charset="0"/>
              <a:buChar char="•"/>
            </a:pPr>
            <a:endParaRPr lang="en-US" sz="4000" dirty="0"/>
          </a:p>
          <a:p>
            <a:pPr marL="571500" indent="-571500">
              <a:buFont typeface="Arial" panose="020B0604020202020204" pitchFamily="34" charset="0"/>
              <a:buChar char="•"/>
            </a:pPr>
            <a:r>
              <a:rPr lang="en-US" sz="4000" dirty="0"/>
              <a:t>Aggregation: Create one virtual object from multiple physical objects. For example, a number of physical disks are aggregated into a RAID disk.</a:t>
            </a:r>
          </a:p>
        </p:txBody>
      </p:sp>
      <p:pic>
        <p:nvPicPr>
          <p:cNvPr id="8" name="Picture Placeholder 7">
            <a:extLst>
              <a:ext uri="{FF2B5EF4-FFF2-40B4-BE49-F238E27FC236}">
                <a16:creationId xmlns:a16="http://schemas.microsoft.com/office/drawing/2014/main" id="{7EAC2156-D447-9681-1EF2-28993E1947D0}"/>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3480" b="6872"/>
          <a:stretch>
            <a:fillRect/>
          </a:stretch>
        </p:blipFill>
        <p:spPr>
          <a:xfrm>
            <a:off x="12801600" y="5229605"/>
            <a:ext cx="10858462" cy="5976257"/>
          </a:xfrm>
          <a:prstGeom prst="rect">
            <a:avLst/>
          </a:prstGeom>
        </p:spPr>
      </p:pic>
      <p:sp>
        <p:nvSpPr>
          <p:cNvPr id="7" name="Text Placeholder 6">
            <a:extLst>
              <a:ext uri="{FF2B5EF4-FFF2-40B4-BE49-F238E27FC236}">
                <a16:creationId xmlns:a16="http://schemas.microsoft.com/office/drawing/2014/main" id="{412CE686-AEC3-7655-DFFC-844C8109D714}"/>
              </a:ext>
            </a:extLst>
          </p:cNvPr>
          <p:cNvSpPr>
            <a:spLocks noGrp="1"/>
          </p:cNvSpPr>
          <p:nvPr>
            <p:ph type="body" sz="quarter" idx="17"/>
          </p:nvPr>
        </p:nvSpPr>
        <p:spPr/>
        <p:txBody>
          <a:bodyPr>
            <a:normAutofit/>
          </a:bodyPr>
          <a:lstStyle/>
          <a:p>
            <a:pPr algn="just">
              <a:spcBef>
                <a:spcPts val="0"/>
              </a:spcBef>
            </a:pPr>
            <a:r>
              <a:rPr lang="en-US" dirty="0"/>
              <a:t>Virtualization simulates the interface with a physical object by any one of four means :</a:t>
            </a:r>
          </a:p>
          <a:p>
            <a:endParaRPr lang="en-US" dirty="0"/>
          </a:p>
        </p:txBody>
      </p:sp>
    </p:spTree>
    <p:extLst>
      <p:ext uri="{BB962C8B-B14F-4D97-AF65-F5344CB8AC3E}">
        <p14:creationId xmlns:p14="http://schemas.microsoft.com/office/powerpoint/2010/main" val="766295252"/>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738E5-E335-2F8F-1BE6-FBBFAD5215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D14876-0697-37FA-5D1F-57DAC2D3B4A0}"/>
              </a:ext>
            </a:extLst>
          </p:cNvPr>
          <p:cNvSpPr>
            <a:spLocks noGrp="1"/>
          </p:cNvSpPr>
          <p:nvPr>
            <p:ph type="title"/>
          </p:nvPr>
        </p:nvSpPr>
        <p:spPr/>
        <p:txBody>
          <a:bodyPr>
            <a:normAutofit fontScale="90000"/>
          </a:bodyPr>
          <a:lstStyle/>
          <a:p>
            <a:r>
              <a:rPr lang="en-US" dirty="0"/>
              <a:t>Virtualization principles</a:t>
            </a:r>
          </a:p>
        </p:txBody>
      </p:sp>
      <p:sp>
        <p:nvSpPr>
          <p:cNvPr id="5" name="Text Placeholder 4">
            <a:extLst>
              <a:ext uri="{FF2B5EF4-FFF2-40B4-BE49-F238E27FC236}">
                <a16:creationId xmlns:a16="http://schemas.microsoft.com/office/drawing/2014/main" id="{C557A065-2040-4C30-A1B9-9F70F2EF5813}"/>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44B9794E-3F6B-D54C-9710-96728A25E7B3}"/>
              </a:ext>
            </a:extLst>
          </p:cNvPr>
          <p:cNvSpPr>
            <a:spLocks noGrp="1"/>
          </p:cNvSpPr>
          <p:nvPr>
            <p:ph type="body" sz="quarter" idx="16"/>
          </p:nvPr>
        </p:nvSpPr>
        <p:spPr/>
        <p:txBody>
          <a:bodyPr>
            <a:normAutofit fontScale="77500" lnSpcReduction="20000"/>
          </a:bodyPr>
          <a:lstStyle/>
          <a:p>
            <a:pPr marL="571500" indent="-571500">
              <a:buFont typeface="Arial" panose="020B0604020202020204" pitchFamily="34" charset="0"/>
              <a:buChar char="•"/>
            </a:pPr>
            <a:r>
              <a:rPr lang="en-US" sz="4000" dirty="0"/>
              <a:t>Emulation: Construct a virtual object from a different type of a physical object. For example, a physical disk emulates a Random Access Memory.</a:t>
            </a:r>
          </a:p>
          <a:p>
            <a:pPr marL="571500" indent="-571500">
              <a:buFont typeface="Arial" panose="020B0604020202020204" pitchFamily="34" charset="0"/>
              <a:buChar char="•"/>
            </a:pPr>
            <a:endParaRPr lang="en-US" sz="4000" dirty="0"/>
          </a:p>
          <a:p>
            <a:pPr marL="571500" indent="-571500">
              <a:buFont typeface="Arial" panose="020B0604020202020204" pitchFamily="34" charset="0"/>
              <a:buChar char="•"/>
            </a:pPr>
            <a:r>
              <a:rPr lang="en-US" sz="4000" dirty="0"/>
              <a:t>Multiplexing and emulation. Examples are: virtual memory with paging multiplexes main memory and secondary storage; a virtual address emulates a real address; the TCP protocol emulates a reliable bit pipe and multiplexes a physical communication channel and a processor.</a:t>
            </a:r>
          </a:p>
        </p:txBody>
      </p:sp>
      <p:sp>
        <p:nvSpPr>
          <p:cNvPr id="7" name="Text Placeholder 6">
            <a:extLst>
              <a:ext uri="{FF2B5EF4-FFF2-40B4-BE49-F238E27FC236}">
                <a16:creationId xmlns:a16="http://schemas.microsoft.com/office/drawing/2014/main" id="{B18C2EC4-304C-2D08-C5FB-75CC09C3730E}"/>
              </a:ext>
            </a:extLst>
          </p:cNvPr>
          <p:cNvSpPr>
            <a:spLocks noGrp="1"/>
          </p:cNvSpPr>
          <p:nvPr>
            <p:ph type="body" sz="quarter" idx="17"/>
          </p:nvPr>
        </p:nvSpPr>
        <p:spPr/>
        <p:txBody>
          <a:bodyPr>
            <a:normAutofit/>
          </a:bodyPr>
          <a:lstStyle/>
          <a:p>
            <a:pPr algn="just">
              <a:spcBef>
                <a:spcPts val="0"/>
              </a:spcBef>
            </a:pPr>
            <a:r>
              <a:rPr lang="en-US" dirty="0"/>
              <a:t>Virtualization simulates the interface with a physical object by any one of four means :</a:t>
            </a:r>
          </a:p>
          <a:p>
            <a:endParaRPr lang="en-US" dirty="0"/>
          </a:p>
        </p:txBody>
      </p:sp>
      <p:sp>
        <p:nvSpPr>
          <p:cNvPr id="6" name="Picture Placeholder 5">
            <a:extLst>
              <a:ext uri="{FF2B5EF4-FFF2-40B4-BE49-F238E27FC236}">
                <a16:creationId xmlns:a16="http://schemas.microsoft.com/office/drawing/2014/main" id="{F7D4AF91-2B41-F63B-8D4B-B8B4AD145218}"/>
              </a:ext>
            </a:extLst>
          </p:cNvPr>
          <p:cNvSpPr>
            <a:spLocks noGrp="1"/>
          </p:cNvSpPr>
          <p:nvPr>
            <p:ph type="pic" sz="quarter" idx="13"/>
          </p:nvPr>
        </p:nvSpPr>
        <p:spPr/>
        <p:txBody>
          <a:bodyPr/>
          <a:lstStyle/>
          <a:p>
            <a:endParaRPr lang="en-US"/>
          </a:p>
        </p:txBody>
      </p:sp>
      <p:pic>
        <p:nvPicPr>
          <p:cNvPr id="11" name="Picture 10">
            <a:extLst>
              <a:ext uri="{FF2B5EF4-FFF2-40B4-BE49-F238E27FC236}">
                <a16:creationId xmlns:a16="http://schemas.microsoft.com/office/drawing/2014/main" id="{25D66981-057A-9BB3-07E3-F4F8A83530FB}"/>
              </a:ext>
            </a:extLst>
          </p:cNvPr>
          <p:cNvPicPr>
            <a:picLocks noChangeAspect="1"/>
          </p:cNvPicPr>
          <p:nvPr/>
        </p:nvPicPr>
        <p:blipFill>
          <a:blip r:embed="rId2">
            <a:extLst>
              <a:ext uri="{28A0092B-C50C-407E-A947-70E740481C1C}">
                <a14:useLocalDpi xmlns:a14="http://schemas.microsoft.com/office/drawing/2010/main" val="0"/>
              </a:ext>
            </a:extLst>
          </a:blip>
          <a:srcRect l="9478" r="9478"/>
          <a:stretch/>
        </p:blipFill>
        <p:spPr>
          <a:xfrm>
            <a:off x="12339930" y="3649692"/>
            <a:ext cx="11970762" cy="7385321"/>
          </a:xfrm>
          <a:prstGeom prst="rect">
            <a:avLst/>
          </a:prstGeom>
          <a:noFill/>
        </p:spPr>
      </p:pic>
    </p:spTree>
    <p:extLst>
      <p:ext uri="{BB962C8B-B14F-4D97-AF65-F5344CB8AC3E}">
        <p14:creationId xmlns:p14="http://schemas.microsoft.com/office/powerpoint/2010/main" val="771173008"/>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DCCDFF4-D7DD-FD9C-6532-89E484B4168E}"/>
              </a:ext>
            </a:extLst>
          </p:cNvPr>
          <p:cNvSpPr>
            <a:spLocks noGrp="1"/>
          </p:cNvSpPr>
          <p:nvPr>
            <p:ph type="title"/>
          </p:nvPr>
        </p:nvSpPr>
        <p:spPr>
          <a:xfrm>
            <a:off x="2167377" y="1871164"/>
            <a:ext cx="14715569" cy="511175"/>
          </a:xfrm>
        </p:spPr>
        <p:txBody>
          <a:bodyPr>
            <a:normAutofit/>
          </a:bodyPr>
          <a:lstStyle/>
          <a:p>
            <a:r>
              <a:rPr lang="en-US" sz="3200" dirty="0"/>
              <a:t>Virtualization principles</a:t>
            </a:r>
          </a:p>
        </p:txBody>
      </p:sp>
      <p:sp>
        <p:nvSpPr>
          <p:cNvPr id="7" name="Text Placeholder 6">
            <a:extLst>
              <a:ext uri="{FF2B5EF4-FFF2-40B4-BE49-F238E27FC236}">
                <a16:creationId xmlns:a16="http://schemas.microsoft.com/office/drawing/2014/main" id="{1E909420-935C-307E-8ED1-98AFB0EDCBAF}"/>
              </a:ext>
            </a:extLst>
          </p:cNvPr>
          <p:cNvSpPr>
            <a:spLocks noGrp="1"/>
          </p:cNvSpPr>
          <p:nvPr>
            <p:ph type="body" sz="quarter" idx="10"/>
          </p:nvPr>
        </p:nvSpPr>
        <p:spPr>
          <a:xfrm>
            <a:off x="2167377" y="2419728"/>
            <a:ext cx="9768875" cy="803546"/>
          </a:xfrm>
        </p:spPr>
        <p:txBody>
          <a:bodyPr>
            <a:normAutofit/>
          </a:bodyPr>
          <a:lstStyle/>
          <a:p>
            <a:r>
              <a:rPr lang="en-US" sz="2700" dirty="0"/>
              <a:t>advantages</a:t>
            </a:r>
          </a:p>
        </p:txBody>
      </p:sp>
      <p:sp>
        <p:nvSpPr>
          <p:cNvPr id="9" name="Text Placeholder 8">
            <a:extLst>
              <a:ext uri="{FF2B5EF4-FFF2-40B4-BE49-F238E27FC236}">
                <a16:creationId xmlns:a16="http://schemas.microsoft.com/office/drawing/2014/main" id="{C6CAEC1C-3E3E-4C0E-7170-4F15C61F7BDA}"/>
              </a:ext>
            </a:extLst>
          </p:cNvPr>
          <p:cNvSpPr>
            <a:spLocks noGrp="1"/>
          </p:cNvSpPr>
          <p:nvPr>
            <p:ph type="body" sz="quarter" idx="16"/>
          </p:nvPr>
        </p:nvSpPr>
        <p:spPr>
          <a:xfrm>
            <a:off x="2167377" y="6556917"/>
            <a:ext cx="9768906" cy="5575610"/>
          </a:xfrm>
        </p:spPr>
        <p:txBody>
          <a:bodyPr>
            <a:normAutofit/>
          </a:bodyPr>
          <a:lstStyle/>
          <a:p>
            <a:r>
              <a:rPr lang="en-US" dirty="0"/>
              <a:t>system security because it enables isolation of services running on the same hardware; </a:t>
            </a:r>
          </a:p>
          <a:p>
            <a:r>
              <a:rPr lang="en-US" dirty="0"/>
              <a:t>performance and reliability because it enables applications to migrate from one platform to another;</a:t>
            </a:r>
          </a:p>
          <a:p>
            <a:r>
              <a:rPr lang="en-US" dirty="0"/>
              <a:t>the development and management of services offered by a provider; and </a:t>
            </a:r>
          </a:p>
          <a:p>
            <a:r>
              <a:rPr lang="en-US" dirty="0"/>
              <a:t> performance isolation.</a:t>
            </a:r>
          </a:p>
        </p:txBody>
      </p:sp>
      <p:pic>
        <p:nvPicPr>
          <p:cNvPr id="11" name="Picture 10" descr="Cloud shaped hard drive with cables">
            <a:extLst>
              <a:ext uri="{FF2B5EF4-FFF2-40B4-BE49-F238E27FC236}">
                <a16:creationId xmlns:a16="http://schemas.microsoft.com/office/drawing/2014/main" id="{007ECCEC-F87F-528C-5BA5-32696700FE61}"/>
              </a:ext>
            </a:extLst>
          </p:cNvPr>
          <p:cNvPicPr>
            <a:picLocks noChangeAspect="1"/>
          </p:cNvPicPr>
          <p:nvPr/>
        </p:nvPicPr>
        <p:blipFill>
          <a:blip r:embed="rId2"/>
          <a:srcRect l="10846" r="23396" b="-1"/>
          <a:stretch>
            <a:fillRect/>
          </a:stretch>
        </p:blipFill>
        <p:spPr>
          <a:xfrm>
            <a:off x="12339930" y="4210629"/>
            <a:ext cx="9099057" cy="7921898"/>
          </a:xfrm>
          <a:prstGeom prst="rect">
            <a:avLst/>
          </a:prstGeom>
          <a:noFill/>
        </p:spPr>
      </p:pic>
      <p:sp>
        <p:nvSpPr>
          <p:cNvPr id="8" name="Text Placeholder 7">
            <a:extLst>
              <a:ext uri="{FF2B5EF4-FFF2-40B4-BE49-F238E27FC236}">
                <a16:creationId xmlns:a16="http://schemas.microsoft.com/office/drawing/2014/main" id="{2DC53045-19E4-98CE-73B3-3ECB2C6F731C}"/>
              </a:ext>
            </a:extLst>
          </p:cNvPr>
          <p:cNvSpPr>
            <a:spLocks noGrp="1"/>
          </p:cNvSpPr>
          <p:nvPr>
            <p:ph type="body" sz="quarter" idx="17"/>
          </p:nvPr>
        </p:nvSpPr>
        <p:spPr>
          <a:xfrm>
            <a:off x="2166938" y="4210049"/>
            <a:ext cx="9768874" cy="2039112"/>
          </a:xfrm>
        </p:spPr>
        <p:txBody>
          <a:bodyPr>
            <a:normAutofit/>
          </a:bodyPr>
          <a:lstStyle/>
          <a:p>
            <a:r>
              <a:rPr lang="en-US" sz="3400" dirty="0"/>
              <a:t>Virtualization is a critical aspect of cloud computing, equally important for the providers and the consumers of cloud services, and plays an important role for: </a:t>
            </a:r>
          </a:p>
        </p:txBody>
      </p:sp>
    </p:spTree>
    <p:extLst>
      <p:ext uri="{BB962C8B-B14F-4D97-AF65-F5344CB8AC3E}">
        <p14:creationId xmlns:p14="http://schemas.microsoft.com/office/powerpoint/2010/main" val="2912281512"/>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784A8-5557-90FC-FFF0-90A581A15A7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B441058-6E58-3522-F0B4-DBF4AB7D6B76}"/>
              </a:ext>
            </a:extLst>
          </p:cNvPr>
          <p:cNvSpPr>
            <a:spLocks noGrp="1"/>
          </p:cNvSpPr>
          <p:nvPr>
            <p:ph type="title"/>
          </p:nvPr>
        </p:nvSpPr>
        <p:spPr>
          <a:xfrm>
            <a:off x="2167377" y="1871164"/>
            <a:ext cx="14715569" cy="511175"/>
          </a:xfrm>
        </p:spPr>
        <p:txBody>
          <a:bodyPr>
            <a:normAutofit/>
          </a:bodyPr>
          <a:lstStyle/>
          <a:p>
            <a:r>
              <a:rPr lang="en-US" sz="3200" dirty="0"/>
              <a:t>Virtualization principles</a:t>
            </a:r>
          </a:p>
        </p:txBody>
      </p:sp>
      <p:sp>
        <p:nvSpPr>
          <p:cNvPr id="7" name="Text Placeholder 6">
            <a:extLst>
              <a:ext uri="{FF2B5EF4-FFF2-40B4-BE49-F238E27FC236}">
                <a16:creationId xmlns:a16="http://schemas.microsoft.com/office/drawing/2014/main" id="{E0FFCD34-8840-6A37-C228-DB239D21DC72}"/>
              </a:ext>
            </a:extLst>
          </p:cNvPr>
          <p:cNvSpPr>
            <a:spLocks noGrp="1"/>
          </p:cNvSpPr>
          <p:nvPr>
            <p:ph type="body" sz="quarter" idx="10"/>
          </p:nvPr>
        </p:nvSpPr>
        <p:spPr>
          <a:xfrm>
            <a:off x="2167377" y="2419728"/>
            <a:ext cx="9768875" cy="803546"/>
          </a:xfrm>
        </p:spPr>
        <p:txBody>
          <a:bodyPr>
            <a:normAutofit/>
          </a:bodyPr>
          <a:lstStyle/>
          <a:p>
            <a:r>
              <a:rPr lang="en-US" dirty="0"/>
              <a:t>Side effects</a:t>
            </a:r>
          </a:p>
        </p:txBody>
      </p:sp>
      <p:sp>
        <p:nvSpPr>
          <p:cNvPr id="9" name="Text Placeholder 8">
            <a:extLst>
              <a:ext uri="{FF2B5EF4-FFF2-40B4-BE49-F238E27FC236}">
                <a16:creationId xmlns:a16="http://schemas.microsoft.com/office/drawing/2014/main" id="{3CF615AB-C908-182A-0B59-393D7CDC511B}"/>
              </a:ext>
            </a:extLst>
          </p:cNvPr>
          <p:cNvSpPr>
            <a:spLocks noGrp="1"/>
          </p:cNvSpPr>
          <p:nvPr>
            <p:ph type="body" sz="quarter" idx="16"/>
          </p:nvPr>
        </p:nvSpPr>
        <p:spPr>
          <a:xfrm>
            <a:off x="2167377" y="6556917"/>
            <a:ext cx="9768906" cy="5575610"/>
          </a:xfrm>
        </p:spPr>
        <p:txBody>
          <a:bodyPr>
            <a:normAutofit/>
          </a:bodyPr>
          <a:lstStyle/>
          <a:p>
            <a:r>
              <a:rPr lang="en-US" sz="2400" dirty="0"/>
              <a:t>Performance penalty : All privileged operations of a VM must be trapped and validated by the hypervisor, which ultimately controls the system behavior. The increased overhead introduced by the hypervisor has a negative impact on the performance.</a:t>
            </a:r>
          </a:p>
          <a:p>
            <a:r>
              <a:rPr lang="en-US" sz="2400" dirty="0"/>
              <a:t>Hardware costs  : The cost of a system running multiple VMs is higher than the cost of a system running a traditional OS.</a:t>
            </a:r>
          </a:p>
        </p:txBody>
      </p:sp>
      <p:pic>
        <p:nvPicPr>
          <p:cNvPr id="11" name="Picture 10">
            <a:extLst>
              <a:ext uri="{FF2B5EF4-FFF2-40B4-BE49-F238E27FC236}">
                <a16:creationId xmlns:a16="http://schemas.microsoft.com/office/drawing/2014/main" id="{A7FEE5F9-F887-E434-66EB-D8DD4B3A8314}"/>
              </a:ext>
            </a:extLst>
          </p:cNvPr>
          <p:cNvPicPr>
            <a:picLocks noChangeAspect="1"/>
          </p:cNvPicPr>
          <p:nvPr/>
        </p:nvPicPr>
        <p:blipFill>
          <a:blip r:embed="rId2">
            <a:extLst>
              <a:ext uri="{28A0092B-C50C-407E-A947-70E740481C1C}">
                <a14:useLocalDpi xmlns:a14="http://schemas.microsoft.com/office/drawing/2010/main" val="0"/>
              </a:ext>
            </a:extLst>
          </a:blip>
          <a:srcRect l="9478" r="9478"/>
          <a:stretch/>
        </p:blipFill>
        <p:spPr>
          <a:xfrm>
            <a:off x="11935812" y="3661632"/>
            <a:ext cx="12374880" cy="7634640"/>
          </a:xfrm>
          <a:prstGeom prst="rect">
            <a:avLst/>
          </a:prstGeom>
          <a:noFill/>
        </p:spPr>
      </p:pic>
      <p:sp>
        <p:nvSpPr>
          <p:cNvPr id="8" name="Text Placeholder 7">
            <a:extLst>
              <a:ext uri="{FF2B5EF4-FFF2-40B4-BE49-F238E27FC236}">
                <a16:creationId xmlns:a16="http://schemas.microsoft.com/office/drawing/2014/main" id="{DD0001F0-1F68-D624-93F9-00382EF23FD8}"/>
              </a:ext>
            </a:extLst>
          </p:cNvPr>
          <p:cNvSpPr>
            <a:spLocks noGrp="1"/>
          </p:cNvSpPr>
          <p:nvPr>
            <p:ph type="body" sz="quarter" idx="17"/>
          </p:nvPr>
        </p:nvSpPr>
        <p:spPr>
          <a:xfrm>
            <a:off x="2166938" y="4210049"/>
            <a:ext cx="9768874" cy="2039112"/>
          </a:xfrm>
        </p:spPr>
        <p:txBody>
          <a:bodyPr>
            <a:normAutofit/>
          </a:bodyPr>
          <a:lstStyle/>
          <a:p>
            <a:r>
              <a:rPr lang="en-US" dirty="0"/>
              <a:t>Slicing up hardware isn’t a free real estate*</a:t>
            </a:r>
          </a:p>
        </p:txBody>
      </p:sp>
    </p:spTree>
    <p:extLst>
      <p:ext uri="{BB962C8B-B14F-4D97-AF65-F5344CB8AC3E}">
        <p14:creationId xmlns:p14="http://schemas.microsoft.com/office/powerpoint/2010/main" val="1757621715"/>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563CBE5D-D615-2403-1C14-94DF4EC2B563}"/>
              </a:ext>
            </a:extLst>
          </p:cNvPr>
          <p:cNvSpPr>
            <a:spLocks noGrp="1"/>
          </p:cNvSpPr>
          <p:nvPr>
            <p:ph type="title"/>
          </p:nvPr>
        </p:nvSpPr>
        <p:spPr>
          <a:xfrm>
            <a:off x="2167377" y="1871164"/>
            <a:ext cx="14715569" cy="511175"/>
          </a:xfrm>
        </p:spPr>
        <p:txBody>
          <a:bodyPr>
            <a:normAutofit fontScale="90000"/>
          </a:bodyPr>
          <a:lstStyle/>
          <a:p>
            <a:r>
              <a:rPr lang="en-US" dirty="0"/>
              <a:t>Virtual Machines</a:t>
            </a:r>
          </a:p>
        </p:txBody>
      </p:sp>
      <p:sp>
        <p:nvSpPr>
          <p:cNvPr id="16" name="Text Placeholder 2">
            <a:extLst>
              <a:ext uri="{FF2B5EF4-FFF2-40B4-BE49-F238E27FC236}">
                <a16:creationId xmlns:a16="http://schemas.microsoft.com/office/drawing/2014/main" id="{29A62228-7572-ECB8-89A1-4FC318576A68}"/>
              </a:ext>
            </a:extLst>
          </p:cNvPr>
          <p:cNvSpPr>
            <a:spLocks noGrp="1"/>
          </p:cNvSpPr>
          <p:nvPr>
            <p:ph type="body" sz="quarter" idx="10"/>
          </p:nvPr>
        </p:nvSpPr>
        <p:spPr>
          <a:xfrm>
            <a:off x="2167377" y="2419728"/>
            <a:ext cx="9768875" cy="803546"/>
          </a:xfrm>
        </p:spPr>
        <p:txBody>
          <a:bodyPr/>
          <a:lstStyle/>
          <a:p>
            <a:endParaRPr lang="en-US"/>
          </a:p>
        </p:txBody>
      </p:sp>
      <p:sp>
        <p:nvSpPr>
          <p:cNvPr id="18" name="Text Placeholder 3">
            <a:extLst>
              <a:ext uri="{FF2B5EF4-FFF2-40B4-BE49-F238E27FC236}">
                <a16:creationId xmlns:a16="http://schemas.microsoft.com/office/drawing/2014/main" id="{5907B18B-B285-9589-65A2-7D1D5884CD46}"/>
              </a:ext>
            </a:extLst>
          </p:cNvPr>
          <p:cNvSpPr>
            <a:spLocks noGrp="1"/>
          </p:cNvSpPr>
          <p:nvPr>
            <p:ph type="body" sz="quarter" idx="16"/>
          </p:nvPr>
        </p:nvSpPr>
        <p:spPr>
          <a:xfrm>
            <a:off x="2167377" y="6556917"/>
            <a:ext cx="9768906" cy="5575610"/>
          </a:xfrm>
        </p:spPr>
        <p:txBody>
          <a:bodyPr/>
          <a:lstStyle/>
          <a:p>
            <a:r>
              <a:rPr lang="en-US" sz="3200" dirty="0"/>
              <a:t>Each VM appears to be running on the bare hardware, giving the appearance of multiple instances of the same computer, though all are supported by a single physical system.</a:t>
            </a:r>
          </a:p>
          <a:p>
            <a:r>
              <a:rPr lang="en-US" sz="3200" dirty="0"/>
              <a:t>There are two types of VMs, process and system.</a:t>
            </a:r>
          </a:p>
        </p:txBody>
      </p:sp>
      <p:sp>
        <p:nvSpPr>
          <p:cNvPr id="20" name="Text Placeholder 5">
            <a:extLst>
              <a:ext uri="{FF2B5EF4-FFF2-40B4-BE49-F238E27FC236}">
                <a16:creationId xmlns:a16="http://schemas.microsoft.com/office/drawing/2014/main" id="{82D18783-4C04-7274-EF3F-AC4893723272}"/>
              </a:ext>
            </a:extLst>
          </p:cNvPr>
          <p:cNvSpPr>
            <a:spLocks noGrp="1"/>
          </p:cNvSpPr>
          <p:nvPr>
            <p:ph type="body" sz="quarter" idx="17"/>
          </p:nvPr>
        </p:nvSpPr>
        <p:spPr>
          <a:xfrm>
            <a:off x="2166938" y="4210049"/>
            <a:ext cx="9768874" cy="2039112"/>
          </a:xfrm>
        </p:spPr>
        <p:txBody>
          <a:bodyPr/>
          <a:lstStyle/>
          <a:p>
            <a:r>
              <a:rPr lang="en-US" dirty="0"/>
              <a:t>A VM is an isolated environment with access to a subset of the physical resources of a computer system. </a:t>
            </a:r>
          </a:p>
        </p:txBody>
      </p:sp>
      <p:pic>
        <p:nvPicPr>
          <p:cNvPr id="10" name="Picture Placeholder 7">
            <a:extLst>
              <a:ext uri="{FF2B5EF4-FFF2-40B4-BE49-F238E27FC236}">
                <a16:creationId xmlns:a16="http://schemas.microsoft.com/office/drawing/2014/main" id="{753911E3-62A9-E438-05B3-7344E53820C3}"/>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3480" b="6872"/>
          <a:stretch>
            <a:fillRect/>
          </a:stretch>
        </p:blipFill>
        <p:spPr>
          <a:xfrm>
            <a:off x="12447719" y="4210049"/>
            <a:ext cx="11637936" cy="64052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pic>
    </p:spTree>
    <p:extLst>
      <p:ext uri="{BB962C8B-B14F-4D97-AF65-F5344CB8AC3E}">
        <p14:creationId xmlns:p14="http://schemas.microsoft.com/office/powerpoint/2010/main" val="1119297674"/>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27516-A94B-6FC0-7A44-8C2037DFAC92}"/>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FC4779B9-E696-DF23-2EA9-DCD5F259B0CC}"/>
              </a:ext>
            </a:extLst>
          </p:cNvPr>
          <p:cNvSpPr>
            <a:spLocks noGrp="1"/>
          </p:cNvSpPr>
          <p:nvPr>
            <p:ph type="title"/>
          </p:nvPr>
        </p:nvSpPr>
        <p:spPr>
          <a:xfrm>
            <a:off x="2167377" y="1871164"/>
            <a:ext cx="14715569" cy="511175"/>
          </a:xfrm>
        </p:spPr>
        <p:txBody>
          <a:bodyPr>
            <a:normAutofit/>
          </a:bodyPr>
          <a:lstStyle/>
          <a:p>
            <a:r>
              <a:rPr lang="en-US" sz="3200"/>
              <a:t>Virtual machine</a:t>
            </a:r>
          </a:p>
        </p:txBody>
      </p:sp>
      <p:sp>
        <p:nvSpPr>
          <p:cNvPr id="16" name="Text Placeholder 2">
            <a:extLst>
              <a:ext uri="{FF2B5EF4-FFF2-40B4-BE49-F238E27FC236}">
                <a16:creationId xmlns:a16="http://schemas.microsoft.com/office/drawing/2014/main" id="{894819CA-88AB-677F-11C7-6472C1861837}"/>
              </a:ext>
            </a:extLst>
          </p:cNvPr>
          <p:cNvSpPr>
            <a:spLocks noGrp="1"/>
          </p:cNvSpPr>
          <p:nvPr>
            <p:ph type="body" sz="quarter" idx="10"/>
          </p:nvPr>
        </p:nvSpPr>
        <p:spPr>
          <a:xfrm>
            <a:off x="2167377" y="2419728"/>
            <a:ext cx="9768875" cy="803546"/>
          </a:xfrm>
        </p:spPr>
        <p:txBody>
          <a:bodyPr>
            <a:normAutofit/>
          </a:bodyPr>
          <a:lstStyle/>
          <a:p>
            <a:r>
              <a:rPr lang="en-US" dirty="0"/>
              <a:t>Process </a:t>
            </a:r>
            <a:r>
              <a:rPr lang="en-US" dirty="0" err="1"/>
              <a:t>vm</a:t>
            </a:r>
            <a:endParaRPr lang="en-US" dirty="0"/>
          </a:p>
        </p:txBody>
      </p:sp>
      <p:sp>
        <p:nvSpPr>
          <p:cNvPr id="18" name="Text Placeholder 3">
            <a:extLst>
              <a:ext uri="{FF2B5EF4-FFF2-40B4-BE49-F238E27FC236}">
                <a16:creationId xmlns:a16="http://schemas.microsoft.com/office/drawing/2014/main" id="{5319E978-5DE5-931E-DD8E-4502D8F9D19A}"/>
              </a:ext>
            </a:extLst>
          </p:cNvPr>
          <p:cNvSpPr>
            <a:spLocks noGrp="1"/>
          </p:cNvSpPr>
          <p:nvPr>
            <p:ph type="body" sz="quarter" idx="16"/>
          </p:nvPr>
        </p:nvSpPr>
        <p:spPr>
          <a:xfrm>
            <a:off x="2167377" y="6556917"/>
            <a:ext cx="9768906" cy="5575610"/>
          </a:xfrm>
        </p:spPr>
        <p:txBody>
          <a:bodyPr>
            <a:normAutofit/>
          </a:bodyPr>
          <a:lstStyle/>
          <a:p>
            <a:r>
              <a:rPr lang="en-US"/>
              <a:t>It will be destroyed once the process terminates. Virtually all operating systems provide a process VM for each one of the applications running, but the more interesting process VMs are those that support binaries compiled on a different instruction set.</a:t>
            </a:r>
          </a:p>
        </p:txBody>
      </p:sp>
      <p:pic>
        <p:nvPicPr>
          <p:cNvPr id="6" name="Picture Placeholder 5">
            <a:extLst>
              <a:ext uri="{FF2B5EF4-FFF2-40B4-BE49-F238E27FC236}">
                <a16:creationId xmlns:a16="http://schemas.microsoft.com/office/drawing/2014/main" id="{2D1478F4-4FE1-B7E3-B36F-0AB5C919587A}"/>
              </a:ext>
            </a:extLst>
          </p:cNvPr>
          <p:cNvPicPr>
            <a:picLocks noGrp="1" noChangeAspect="1"/>
          </p:cNvPicPr>
          <p:nvPr>
            <p:ph type="pic" sz="quarter" idx="13"/>
          </p:nvPr>
        </p:nvPicPr>
        <p:blipFill>
          <a:blip r:embed="rId2"/>
          <a:srcRect l="1047" r="1047"/>
          <a:stretch/>
        </p:blipFill>
        <p:spPr>
          <a:xfrm>
            <a:off x="12340477" y="4210629"/>
            <a:ext cx="9097963" cy="7921898"/>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pic>
      <p:sp>
        <p:nvSpPr>
          <p:cNvPr id="20" name="Text Placeholder 5">
            <a:extLst>
              <a:ext uri="{FF2B5EF4-FFF2-40B4-BE49-F238E27FC236}">
                <a16:creationId xmlns:a16="http://schemas.microsoft.com/office/drawing/2014/main" id="{28C5A809-4E13-9C18-C4DD-A40F2EAAA5F4}"/>
              </a:ext>
            </a:extLst>
          </p:cNvPr>
          <p:cNvSpPr>
            <a:spLocks noGrp="1"/>
          </p:cNvSpPr>
          <p:nvPr>
            <p:ph type="body" sz="quarter" idx="17"/>
          </p:nvPr>
        </p:nvSpPr>
        <p:spPr>
          <a:xfrm>
            <a:off x="2166938" y="4210049"/>
            <a:ext cx="9768874" cy="2039112"/>
          </a:xfrm>
        </p:spPr>
        <p:txBody>
          <a:bodyPr>
            <a:normAutofit/>
          </a:bodyPr>
          <a:lstStyle/>
          <a:p>
            <a:r>
              <a:rPr lang="en-US" dirty="0"/>
              <a:t>A process VM is a virtual platform created for an individual process </a:t>
            </a:r>
          </a:p>
        </p:txBody>
      </p:sp>
    </p:spTree>
    <p:extLst>
      <p:ext uri="{BB962C8B-B14F-4D97-AF65-F5344CB8AC3E}">
        <p14:creationId xmlns:p14="http://schemas.microsoft.com/office/powerpoint/2010/main" val="2933250350"/>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DAC26-49A7-B339-EDA7-5A28273070BC}"/>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1DD5B9DC-90E2-BDCC-CAFA-00C9881D9DDF}"/>
              </a:ext>
            </a:extLst>
          </p:cNvPr>
          <p:cNvSpPr>
            <a:spLocks noGrp="1"/>
          </p:cNvSpPr>
          <p:nvPr>
            <p:ph type="title"/>
          </p:nvPr>
        </p:nvSpPr>
        <p:spPr>
          <a:xfrm>
            <a:off x="2167377" y="1871164"/>
            <a:ext cx="14715569" cy="511175"/>
          </a:xfrm>
        </p:spPr>
        <p:txBody>
          <a:bodyPr>
            <a:normAutofit/>
          </a:bodyPr>
          <a:lstStyle/>
          <a:p>
            <a:r>
              <a:rPr lang="en-US" sz="3200"/>
              <a:t>Virtual machine</a:t>
            </a:r>
          </a:p>
        </p:txBody>
      </p:sp>
      <p:sp>
        <p:nvSpPr>
          <p:cNvPr id="16" name="Text Placeholder 2">
            <a:extLst>
              <a:ext uri="{FF2B5EF4-FFF2-40B4-BE49-F238E27FC236}">
                <a16:creationId xmlns:a16="http://schemas.microsoft.com/office/drawing/2014/main" id="{B1AA7CDF-7C1F-0326-28C0-392D632A4076}"/>
              </a:ext>
            </a:extLst>
          </p:cNvPr>
          <p:cNvSpPr>
            <a:spLocks noGrp="1"/>
          </p:cNvSpPr>
          <p:nvPr>
            <p:ph type="body" sz="quarter" idx="10"/>
          </p:nvPr>
        </p:nvSpPr>
        <p:spPr>
          <a:xfrm>
            <a:off x="2167377" y="2419728"/>
            <a:ext cx="9768875" cy="803546"/>
          </a:xfrm>
        </p:spPr>
        <p:txBody>
          <a:bodyPr>
            <a:normAutofit/>
          </a:bodyPr>
          <a:lstStyle/>
          <a:p>
            <a:r>
              <a:rPr lang="en-US" dirty="0"/>
              <a:t>System  </a:t>
            </a:r>
            <a:r>
              <a:rPr lang="en-US" dirty="0" err="1"/>
              <a:t>vm</a:t>
            </a:r>
            <a:endParaRPr lang="en-US" dirty="0"/>
          </a:p>
        </p:txBody>
      </p:sp>
      <p:sp>
        <p:nvSpPr>
          <p:cNvPr id="18" name="Text Placeholder 3">
            <a:extLst>
              <a:ext uri="{FF2B5EF4-FFF2-40B4-BE49-F238E27FC236}">
                <a16:creationId xmlns:a16="http://schemas.microsoft.com/office/drawing/2014/main" id="{78632158-2462-A6BE-058F-5B0A62FAA846}"/>
              </a:ext>
            </a:extLst>
          </p:cNvPr>
          <p:cNvSpPr>
            <a:spLocks noGrp="1"/>
          </p:cNvSpPr>
          <p:nvPr>
            <p:ph type="body" sz="quarter" idx="16"/>
          </p:nvPr>
        </p:nvSpPr>
        <p:spPr>
          <a:xfrm>
            <a:off x="2167377" y="6556917"/>
            <a:ext cx="9768906" cy="5575610"/>
          </a:xfrm>
        </p:spPr>
        <p:txBody>
          <a:bodyPr>
            <a:normAutofit/>
          </a:bodyPr>
          <a:lstStyle/>
          <a:p>
            <a:r>
              <a:rPr lang="en-US" dirty="0"/>
              <a:t>When the VM runs under the control of a normal OS and provides a platform-independent host for a single application, we have an application VM, e.g., Java Virtual Machine (JVM).</a:t>
            </a:r>
          </a:p>
          <a:p>
            <a:r>
              <a:rPr lang="en-US" dirty="0"/>
              <a:t>A system VM provides a complete system: Each VM can run its own OS, which in turn can run multiple applications. Systems such as Linux </a:t>
            </a:r>
            <a:r>
              <a:rPr lang="en-US" dirty="0" err="1"/>
              <a:t>Vserver</a:t>
            </a:r>
            <a:r>
              <a:rPr lang="en-US" dirty="0"/>
              <a:t> http://linux-vserver.org, </a:t>
            </a:r>
            <a:r>
              <a:rPr lang="en-US" dirty="0" err="1"/>
              <a:t>OpenVZ</a:t>
            </a:r>
            <a:r>
              <a:rPr lang="en-US" dirty="0"/>
              <a:t> (Open </a:t>
            </a:r>
            <a:r>
              <a:rPr lang="en-US" dirty="0" err="1"/>
              <a:t>VirtualiZation</a:t>
            </a:r>
            <a:r>
              <a:rPr lang="en-US" dirty="0"/>
              <a:t>), FreeBSD Jails, and Solaris Zones based on Linux, FreeBSD, and Solaris, respectively, implement OS-level virtualization technologies.</a:t>
            </a:r>
          </a:p>
          <a:p>
            <a:endParaRPr lang="en-US" dirty="0"/>
          </a:p>
        </p:txBody>
      </p:sp>
      <p:pic>
        <p:nvPicPr>
          <p:cNvPr id="6" name="Picture Placeholder 5">
            <a:extLst>
              <a:ext uri="{FF2B5EF4-FFF2-40B4-BE49-F238E27FC236}">
                <a16:creationId xmlns:a16="http://schemas.microsoft.com/office/drawing/2014/main" id="{454357E4-AB6C-C3B0-208A-27B896701C55}"/>
              </a:ext>
            </a:extLst>
          </p:cNvPr>
          <p:cNvPicPr>
            <a:picLocks noGrp="1" noChangeAspect="1"/>
          </p:cNvPicPr>
          <p:nvPr>
            <p:ph type="pic" sz="quarter" idx="13"/>
          </p:nvPr>
        </p:nvPicPr>
        <p:blipFill>
          <a:blip r:embed="rId2"/>
          <a:srcRect l="1047" r="1047"/>
          <a:stretch/>
        </p:blipFill>
        <p:spPr>
          <a:xfrm>
            <a:off x="12340477" y="4210629"/>
            <a:ext cx="9097963" cy="7921898"/>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pic>
      <p:sp>
        <p:nvSpPr>
          <p:cNvPr id="20" name="Text Placeholder 5">
            <a:extLst>
              <a:ext uri="{FF2B5EF4-FFF2-40B4-BE49-F238E27FC236}">
                <a16:creationId xmlns:a16="http://schemas.microsoft.com/office/drawing/2014/main" id="{A1B84F6B-8A0C-42ED-4E5C-5A84990E647A}"/>
              </a:ext>
            </a:extLst>
          </p:cNvPr>
          <p:cNvSpPr>
            <a:spLocks noGrp="1"/>
          </p:cNvSpPr>
          <p:nvPr>
            <p:ph type="body" sz="quarter" idx="17"/>
          </p:nvPr>
        </p:nvSpPr>
        <p:spPr>
          <a:xfrm>
            <a:off x="2166938" y="4210049"/>
            <a:ext cx="9768874" cy="2039112"/>
          </a:xfrm>
        </p:spPr>
        <p:txBody>
          <a:bodyPr>
            <a:normAutofit/>
          </a:bodyPr>
          <a:lstStyle/>
          <a:p>
            <a:r>
              <a:rPr lang="en-US" dirty="0"/>
              <a:t>A system VM supports an OS together with many user processes</a:t>
            </a:r>
          </a:p>
        </p:txBody>
      </p:sp>
    </p:spTree>
    <p:extLst>
      <p:ext uri="{BB962C8B-B14F-4D97-AF65-F5344CB8AC3E}">
        <p14:creationId xmlns:p14="http://schemas.microsoft.com/office/powerpoint/2010/main" val="4074156956"/>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ED185-4C0C-52F1-06DE-26F0A366A6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98FF04-8091-19FA-EDB7-83CB52F2935F}"/>
              </a:ext>
            </a:extLst>
          </p:cNvPr>
          <p:cNvSpPr>
            <a:spLocks noGrp="1"/>
          </p:cNvSpPr>
          <p:nvPr>
            <p:ph type="title"/>
          </p:nvPr>
        </p:nvSpPr>
        <p:spPr>
          <a:xfrm>
            <a:off x="2167377" y="1871164"/>
            <a:ext cx="14715569" cy="511175"/>
          </a:xfrm>
        </p:spPr>
        <p:txBody>
          <a:bodyPr>
            <a:normAutofit/>
          </a:bodyPr>
          <a:lstStyle/>
          <a:p>
            <a:r>
              <a:rPr lang="en-US" sz="2700" dirty="0"/>
              <a:t>Virtual machine</a:t>
            </a:r>
          </a:p>
        </p:txBody>
      </p:sp>
      <p:sp>
        <p:nvSpPr>
          <p:cNvPr id="12" name="Text Placeholder 2">
            <a:extLst>
              <a:ext uri="{FF2B5EF4-FFF2-40B4-BE49-F238E27FC236}">
                <a16:creationId xmlns:a16="http://schemas.microsoft.com/office/drawing/2014/main" id="{16EA4B9D-7E3C-F4CE-73C8-1AFD025E2056}"/>
              </a:ext>
            </a:extLst>
          </p:cNvPr>
          <p:cNvSpPr>
            <a:spLocks noGrp="1"/>
          </p:cNvSpPr>
          <p:nvPr>
            <p:ph type="body" sz="quarter" idx="10"/>
          </p:nvPr>
        </p:nvSpPr>
        <p:spPr>
          <a:xfrm>
            <a:off x="2167377" y="2419728"/>
            <a:ext cx="9768875" cy="803546"/>
          </a:xfrm>
        </p:spPr>
        <p:txBody>
          <a:bodyPr/>
          <a:lstStyle/>
          <a:p>
            <a:r>
              <a:rPr lang="en-US" dirty="0"/>
              <a:t>architectures</a:t>
            </a:r>
          </a:p>
        </p:txBody>
      </p:sp>
      <p:pic>
        <p:nvPicPr>
          <p:cNvPr id="4" name="Content Placeholder 5" descr="Graphical user interface, application&#10;&#10;Description automatically generated">
            <a:extLst>
              <a:ext uri="{FF2B5EF4-FFF2-40B4-BE49-F238E27FC236}">
                <a16:creationId xmlns:a16="http://schemas.microsoft.com/office/drawing/2014/main" id="{9B7640A8-E740-71A1-B839-C99038317AED}"/>
              </a:ext>
            </a:extLst>
          </p:cNvPr>
          <p:cNvPicPr>
            <a:picLocks noGrp="1" noChangeAspect="1"/>
          </p:cNvPicPr>
          <p:nvPr/>
        </p:nvPicPr>
        <p:blipFill>
          <a:blip r:embed="rId3"/>
          <a:stretch>
            <a:fillRect/>
          </a:stretch>
        </p:blipFill>
        <p:spPr>
          <a:xfrm>
            <a:off x="3292711" y="4420032"/>
            <a:ext cx="17287081" cy="6266564"/>
          </a:xfrm>
          <a:prstGeom prst="rect">
            <a:avLst/>
          </a:prstGeom>
          <a:noFill/>
        </p:spPr>
      </p:pic>
      <p:sp>
        <p:nvSpPr>
          <p:cNvPr id="11" name="TextBox 10">
            <a:extLst>
              <a:ext uri="{FF2B5EF4-FFF2-40B4-BE49-F238E27FC236}">
                <a16:creationId xmlns:a16="http://schemas.microsoft.com/office/drawing/2014/main" id="{F40BE0CC-0664-B478-0306-39B4135D1C71}"/>
              </a:ext>
            </a:extLst>
          </p:cNvPr>
          <p:cNvSpPr txBox="1"/>
          <p:nvPr/>
        </p:nvSpPr>
        <p:spPr>
          <a:xfrm>
            <a:off x="6339840" y="10834607"/>
            <a:ext cx="12192000"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dirty="0"/>
              <a:t>Hypervisor’s Role in VM Architectures</a:t>
            </a:r>
          </a:p>
        </p:txBody>
      </p:sp>
    </p:spTree>
    <p:extLst>
      <p:ext uri="{BB962C8B-B14F-4D97-AF65-F5344CB8AC3E}">
        <p14:creationId xmlns:p14="http://schemas.microsoft.com/office/powerpoint/2010/main" val="2902501946"/>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E9B1B-9C7E-4554-D90D-32A3C1091BDD}"/>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06F7F8D2-7687-72AE-E5AC-789B8C99C245}"/>
              </a:ext>
            </a:extLst>
          </p:cNvPr>
          <p:cNvSpPr>
            <a:spLocks noGrp="1"/>
          </p:cNvSpPr>
          <p:nvPr>
            <p:ph type="title"/>
          </p:nvPr>
        </p:nvSpPr>
        <p:spPr>
          <a:xfrm>
            <a:off x="2167377" y="1871164"/>
            <a:ext cx="14715569" cy="511175"/>
          </a:xfrm>
        </p:spPr>
        <p:txBody>
          <a:bodyPr>
            <a:normAutofit/>
          </a:bodyPr>
          <a:lstStyle/>
          <a:p>
            <a:r>
              <a:rPr lang="en-US" sz="3200"/>
              <a:t>Virtual machine</a:t>
            </a:r>
          </a:p>
        </p:txBody>
      </p:sp>
      <p:sp>
        <p:nvSpPr>
          <p:cNvPr id="16" name="Text Placeholder 2">
            <a:extLst>
              <a:ext uri="{FF2B5EF4-FFF2-40B4-BE49-F238E27FC236}">
                <a16:creationId xmlns:a16="http://schemas.microsoft.com/office/drawing/2014/main" id="{4188945D-D38C-465D-C9F4-5683781D2BD9}"/>
              </a:ext>
            </a:extLst>
          </p:cNvPr>
          <p:cNvSpPr>
            <a:spLocks noGrp="1"/>
          </p:cNvSpPr>
          <p:nvPr>
            <p:ph type="body" sz="quarter" idx="10"/>
          </p:nvPr>
        </p:nvSpPr>
        <p:spPr>
          <a:xfrm>
            <a:off x="2167377" y="2419728"/>
            <a:ext cx="9768875" cy="803546"/>
          </a:xfrm>
        </p:spPr>
        <p:txBody>
          <a:bodyPr>
            <a:normAutofit/>
          </a:bodyPr>
          <a:lstStyle/>
          <a:p>
            <a:r>
              <a:rPr lang="en-US" dirty="0"/>
              <a:t>Full and paravirtualization</a:t>
            </a:r>
          </a:p>
        </p:txBody>
      </p:sp>
      <p:sp>
        <p:nvSpPr>
          <p:cNvPr id="18" name="Text Placeholder 3">
            <a:extLst>
              <a:ext uri="{FF2B5EF4-FFF2-40B4-BE49-F238E27FC236}">
                <a16:creationId xmlns:a16="http://schemas.microsoft.com/office/drawing/2014/main" id="{34A35064-5116-6B84-1D8D-AAB1D1351595}"/>
              </a:ext>
            </a:extLst>
          </p:cNvPr>
          <p:cNvSpPr>
            <a:spLocks noGrp="1"/>
          </p:cNvSpPr>
          <p:nvPr>
            <p:ph type="body" sz="quarter" idx="16"/>
          </p:nvPr>
        </p:nvSpPr>
        <p:spPr>
          <a:xfrm>
            <a:off x="2167377" y="6556917"/>
            <a:ext cx="9768906" cy="5575610"/>
          </a:xfrm>
        </p:spPr>
        <p:txBody>
          <a:bodyPr>
            <a:normAutofit/>
          </a:bodyPr>
          <a:lstStyle/>
          <a:p>
            <a:pPr algn="just"/>
            <a:r>
              <a:rPr lang="en-US" dirty="0"/>
              <a:t>of the guest OS to have some knowledge about the processor architecture. The guest OS runs unchanged, thus, this virtualization mode is more efficient than paravirtualization. </a:t>
            </a:r>
          </a:p>
        </p:txBody>
      </p:sp>
      <p:pic>
        <p:nvPicPr>
          <p:cNvPr id="6" name="Picture Placeholder 5">
            <a:extLst>
              <a:ext uri="{FF2B5EF4-FFF2-40B4-BE49-F238E27FC236}">
                <a16:creationId xmlns:a16="http://schemas.microsoft.com/office/drawing/2014/main" id="{30882931-02F0-7683-9F90-59CF7B8E4057}"/>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1808" t="-8" r="1170"/>
          <a:stretch>
            <a:fillRect/>
          </a:stretch>
        </p:blipFill>
        <p:spPr>
          <a:xfrm>
            <a:off x="12801600" y="4210049"/>
            <a:ext cx="10392912" cy="6416545"/>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pic>
      <p:sp>
        <p:nvSpPr>
          <p:cNvPr id="20" name="Text Placeholder 5">
            <a:extLst>
              <a:ext uri="{FF2B5EF4-FFF2-40B4-BE49-F238E27FC236}">
                <a16:creationId xmlns:a16="http://schemas.microsoft.com/office/drawing/2014/main" id="{6CB721C4-AF9B-47E6-3E8A-E8231D8870DE}"/>
              </a:ext>
            </a:extLst>
          </p:cNvPr>
          <p:cNvSpPr>
            <a:spLocks noGrp="1"/>
          </p:cNvSpPr>
          <p:nvPr>
            <p:ph type="body" sz="quarter" idx="17"/>
          </p:nvPr>
        </p:nvSpPr>
        <p:spPr>
          <a:xfrm>
            <a:off x="2166938" y="4210049"/>
            <a:ext cx="9768874" cy="2039112"/>
          </a:xfrm>
        </p:spPr>
        <p:txBody>
          <a:bodyPr>
            <a:normAutofit/>
          </a:bodyPr>
          <a:lstStyle/>
          <a:p>
            <a:r>
              <a:rPr lang="en-US" dirty="0"/>
              <a:t>Full virtualization requires the hardware abstraction layer</a:t>
            </a:r>
          </a:p>
        </p:txBody>
      </p:sp>
    </p:spTree>
    <p:extLst>
      <p:ext uri="{BB962C8B-B14F-4D97-AF65-F5344CB8AC3E}">
        <p14:creationId xmlns:p14="http://schemas.microsoft.com/office/powerpoint/2010/main" val="3395509027"/>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40525-23DC-7901-52D8-20ACB33166AB}"/>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1A6EE0D0-8588-A375-D83D-B7FDE0E6DBC6}"/>
              </a:ext>
            </a:extLst>
          </p:cNvPr>
          <p:cNvSpPr>
            <a:spLocks noGrp="1"/>
          </p:cNvSpPr>
          <p:nvPr>
            <p:ph type="title"/>
          </p:nvPr>
        </p:nvSpPr>
        <p:spPr>
          <a:xfrm>
            <a:off x="2167377" y="1871164"/>
            <a:ext cx="14715569" cy="511175"/>
          </a:xfrm>
        </p:spPr>
        <p:txBody>
          <a:bodyPr>
            <a:normAutofit/>
          </a:bodyPr>
          <a:lstStyle/>
          <a:p>
            <a:r>
              <a:rPr lang="en-US" sz="3200"/>
              <a:t>Virtual machine</a:t>
            </a:r>
          </a:p>
        </p:txBody>
      </p:sp>
      <p:sp>
        <p:nvSpPr>
          <p:cNvPr id="16" name="Text Placeholder 2">
            <a:extLst>
              <a:ext uri="{FF2B5EF4-FFF2-40B4-BE49-F238E27FC236}">
                <a16:creationId xmlns:a16="http://schemas.microsoft.com/office/drawing/2014/main" id="{17947416-7F91-5DFF-B972-FEDFA95847E2}"/>
              </a:ext>
            </a:extLst>
          </p:cNvPr>
          <p:cNvSpPr>
            <a:spLocks noGrp="1"/>
          </p:cNvSpPr>
          <p:nvPr>
            <p:ph type="body" sz="quarter" idx="10"/>
          </p:nvPr>
        </p:nvSpPr>
        <p:spPr>
          <a:xfrm>
            <a:off x="2167377" y="2419728"/>
            <a:ext cx="9768875" cy="803546"/>
          </a:xfrm>
        </p:spPr>
        <p:txBody>
          <a:bodyPr>
            <a:normAutofit/>
          </a:bodyPr>
          <a:lstStyle/>
          <a:p>
            <a:r>
              <a:rPr lang="en-US" dirty="0"/>
              <a:t>Full and paravirtualization</a:t>
            </a:r>
          </a:p>
        </p:txBody>
      </p:sp>
      <p:sp>
        <p:nvSpPr>
          <p:cNvPr id="18" name="Text Placeholder 3">
            <a:extLst>
              <a:ext uri="{FF2B5EF4-FFF2-40B4-BE49-F238E27FC236}">
                <a16:creationId xmlns:a16="http://schemas.microsoft.com/office/drawing/2014/main" id="{3DA755F2-F100-BC7C-6E63-EC905FA3F24E}"/>
              </a:ext>
            </a:extLst>
          </p:cNvPr>
          <p:cNvSpPr>
            <a:spLocks noGrp="1"/>
          </p:cNvSpPr>
          <p:nvPr>
            <p:ph type="body" sz="quarter" idx="16"/>
          </p:nvPr>
        </p:nvSpPr>
        <p:spPr>
          <a:xfrm>
            <a:off x="2167377" y="6556917"/>
            <a:ext cx="9768906" cy="5575610"/>
          </a:xfrm>
        </p:spPr>
        <p:txBody>
          <a:bodyPr>
            <a:normAutofit/>
          </a:bodyPr>
          <a:lstStyle/>
          <a:p>
            <a:r>
              <a:rPr lang="en-US" dirty="0"/>
              <a:t>Paravirtualization is often adopted for several reasons:</a:t>
            </a:r>
          </a:p>
          <a:p>
            <a:r>
              <a:rPr lang="en-US" dirty="0"/>
              <a:t> (1) some aspects of the hardware cannot be virtualized; </a:t>
            </a:r>
          </a:p>
          <a:p>
            <a:r>
              <a:rPr lang="en-US" dirty="0"/>
              <a:t>(2) has better performance; and</a:t>
            </a:r>
          </a:p>
          <a:p>
            <a:r>
              <a:rPr lang="en-US" dirty="0"/>
              <a:t> (3) presents a simpler interface.</a:t>
            </a:r>
          </a:p>
        </p:txBody>
      </p:sp>
      <p:pic>
        <p:nvPicPr>
          <p:cNvPr id="6" name="Picture Placeholder 5">
            <a:extLst>
              <a:ext uri="{FF2B5EF4-FFF2-40B4-BE49-F238E27FC236}">
                <a16:creationId xmlns:a16="http://schemas.microsoft.com/office/drawing/2014/main" id="{170E3DBC-20CE-0B87-10EB-FA6CFAE47279}"/>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1808" t="-8" r="1170"/>
          <a:stretch>
            <a:fillRect/>
          </a:stretch>
        </p:blipFill>
        <p:spPr>
          <a:xfrm>
            <a:off x="12801600" y="4210049"/>
            <a:ext cx="10392912" cy="6416545"/>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pic>
      <p:sp>
        <p:nvSpPr>
          <p:cNvPr id="20" name="Text Placeholder 5">
            <a:extLst>
              <a:ext uri="{FF2B5EF4-FFF2-40B4-BE49-F238E27FC236}">
                <a16:creationId xmlns:a16="http://schemas.microsoft.com/office/drawing/2014/main" id="{D51914A0-6D33-B401-6B8E-ABF4F05B422C}"/>
              </a:ext>
            </a:extLst>
          </p:cNvPr>
          <p:cNvSpPr>
            <a:spLocks noGrp="1"/>
          </p:cNvSpPr>
          <p:nvPr>
            <p:ph type="body" sz="quarter" idx="17"/>
          </p:nvPr>
        </p:nvSpPr>
        <p:spPr>
          <a:xfrm>
            <a:off x="2166938" y="4210049"/>
            <a:ext cx="9768874" cy="2039112"/>
          </a:xfrm>
        </p:spPr>
        <p:txBody>
          <a:bodyPr>
            <a:normAutofit/>
          </a:bodyPr>
          <a:lstStyle/>
          <a:p>
            <a:r>
              <a:rPr lang="en-US" dirty="0"/>
              <a:t>paravirtualization when each VM runs on a slightly modified copy of the actual hardware. </a:t>
            </a:r>
          </a:p>
        </p:txBody>
      </p:sp>
    </p:spTree>
    <p:extLst>
      <p:ext uri="{BB962C8B-B14F-4D97-AF65-F5344CB8AC3E}">
        <p14:creationId xmlns:p14="http://schemas.microsoft.com/office/powerpoint/2010/main" val="510901032"/>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5E289-03FF-C267-28AC-24C7332D393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473AF29-8D0A-A2A1-55EF-C0AF06DC1882}"/>
              </a:ext>
            </a:extLst>
          </p:cNvPr>
          <p:cNvSpPr>
            <a:spLocks noGrp="1"/>
          </p:cNvSpPr>
          <p:nvPr>
            <p:ph type="title"/>
          </p:nvPr>
        </p:nvSpPr>
        <p:spPr/>
        <p:txBody>
          <a:bodyPr/>
          <a:lstStyle/>
          <a:p>
            <a:r>
              <a:rPr lang="en-US" dirty="0"/>
              <a:t>Nested virtualization</a:t>
            </a:r>
          </a:p>
        </p:txBody>
      </p:sp>
    </p:spTree>
    <p:extLst>
      <p:ext uri="{BB962C8B-B14F-4D97-AF65-F5344CB8AC3E}">
        <p14:creationId xmlns:p14="http://schemas.microsoft.com/office/powerpoint/2010/main" val="1215420662"/>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FA892-912D-4B39-5899-30D18D35D4D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698F23F-DC3E-98D5-2F62-0E03BA1D7C6D}"/>
              </a:ext>
            </a:extLst>
          </p:cNvPr>
          <p:cNvSpPr>
            <a:spLocks noGrp="1"/>
          </p:cNvSpPr>
          <p:nvPr>
            <p:ph type="title"/>
          </p:nvPr>
        </p:nvSpPr>
        <p:spPr>
          <a:xfrm>
            <a:off x="2167377" y="1871164"/>
            <a:ext cx="14715569" cy="511175"/>
          </a:xfrm>
        </p:spPr>
        <p:txBody>
          <a:bodyPr>
            <a:normAutofit/>
          </a:bodyPr>
          <a:lstStyle/>
          <a:p>
            <a:r>
              <a:rPr lang="en-US" sz="3200" dirty="0"/>
              <a:t>Nested </a:t>
            </a:r>
            <a:r>
              <a:rPr lang="en-US" sz="3200" dirty="0" err="1"/>
              <a:t>virtualizatoin</a:t>
            </a:r>
            <a:endParaRPr lang="en-US" sz="3200" dirty="0"/>
          </a:p>
        </p:txBody>
      </p:sp>
      <p:sp>
        <p:nvSpPr>
          <p:cNvPr id="22" name="Text Placeholder 2">
            <a:extLst>
              <a:ext uri="{FF2B5EF4-FFF2-40B4-BE49-F238E27FC236}">
                <a16:creationId xmlns:a16="http://schemas.microsoft.com/office/drawing/2014/main" id="{6845BB11-F7DA-73ED-9BF4-5CE8E3680E30}"/>
              </a:ext>
            </a:extLst>
          </p:cNvPr>
          <p:cNvSpPr>
            <a:spLocks noGrp="1"/>
          </p:cNvSpPr>
          <p:nvPr>
            <p:ph type="body" sz="quarter" idx="10"/>
          </p:nvPr>
        </p:nvSpPr>
        <p:spPr>
          <a:xfrm>
            <a:off x="2167377" y="2419728"/>
            <a:ext cx="9768875" cy="803546"/>
          </a:xfrm>
        </p:spPr>
        <p:txBody>
          <a:bodyPr/>
          <a:lstStyle/>
          <a:p>
            <a:endParaRPr lang="en-US"/>
          </a:p>
        </p:txBody>
      </p:sp>
      <p:sp>
        <p:nvSpPr>
          <p:cNvPr id="15" name="Text Placeholder 3">
            <a:extLst>
              <a:ext uri="{FF2B5EF4-FFF2-40B4-BE49-F238E27FC236}">
                <a16:creationId xmlns:a16="http://schemas.microsoft.com/office/drawing/2014/main" id="{EAACC3D1-25B4-1E82-DF92-0B8444B5035B}"/>
              </a:ext>
            </a:extLst>
          </p:cNvPr>
          <p:cNvSpPr>
            <a:spLocks noGrp="1"/>
          </p:cNvSpPr>
          <p:nvPr>
            <p:ph type="body" sz="quarter" idx="16"/>
          </p:nvPr>
        </p:nvSpPr>
        <p:spPr>
          <a:xfrm>
            <a:off x="2167377" y="6556917"/>
            <a:ext cx="9768906" cy="5575610"/>
          </a:xfrm>
        </p:spPr>
        <p:txBody>
          <a:bodyPr>
            <a:normAutofit/>
          </a:bodyPr>
          <a:lstStyle/>
          <a:p>
            <a:r>
              <a:rPr lang="en-US" dirty="0"/>
              <a:t>KVM allows three VM to run concurrently. Two VMs run hypervisors Xen and </a:t>
            </a:r>
            <a:r>
              <a:rPr lang="en-US" dirty="0" err="1"/>
              <a:t>ESXi</a:t>
            </a:r>
            <a:r>
              <a:rPr lang="en-US" dirty="0"/>
              <a:t>, and the third runs Windows. A VM runs Linux under Xen, and another VM runs Windows under </a:t>
            </a:r>
            <a:r>
              <a:rPr lang="en-US" dirty="0" err="1"/>
              <a:t>ESXi</a:t>
            </a:r>
            <a:r>
              <a:rPr lang="en-US" dirty="0"/>
              <a:t>.</a:t>
            </a:r>
          </a:p>
          <a:p>
            <a:r>
              <a:rPr lang="en-US" dirty="0"/>
              <a:t>Intel-supported nested virtualization. KVM runs at level L0, Xen runs at level L1, and KVM uses VMCS01 for the VM running Xen.</a:t>
            </a:r>
          </a:p>
        </p:txBody>
      </p:sp>
      <p:pic>
        <p:nvPicPr>
          <p:cNvPr id="6" name="Picture Placeholder 5">
            <a:extLst>
              <a:ext uri="{FF2B5EF4-FFF2-40B4-BE49-F238E27FC236}">
                <a16:creationId xmlns:a16="http://schemas.microsoft.com/office/drawing/2014/main" id="{E46568E6-32FA-9F4C-C8DF-CE185FB5418D}"/>
              </a:ext>
            </a:extLst>
          </p:cNvPr>
          <p:cNvPicPr>
            <a:picLocks noGrp="1" noChangeAspect="1"/>
          </p:cNvPicPr>
          <p:nvPr>
            <p:ph type="pic" sz="quarter" idx="13"/>
          </p:nvPr>
        </p:nvPicPr>
        <p:blipFill>
          <a:blip r:embed="rId3"/>
          <a:srcRect l="-1457" t="-8" r="743"/>
          <a:stretch>
            <a:fillRect/>
          </a:stretch>
        </p:blipFill>
        <p:spPr>
          <a:xfrm>
            <a:off x="12447719" y="3922358"/>
            <a:ext cx="10892131" cy="7922478"/>
          </a:xfrm>
          <a:prstGeom prst="rect">
            <a:avLst/>
          </a:prstGeom>
          <a:noFill/>
        </p:spPr>
      </p:pic>
      <p:sp>
        <p:nvSpPr>
          <p:cNvPr id="17" name="Text Placeholder 5">
            <a:extLst>
              <a:ext uri="{FF2B5EF4-FFF2-40B4-BE49-F238E27FC236}">
                <a16:creationId xmlns:a16="http://schemas.microsoft.com/office/drawing/2014/main" id="{29C05086-4364-581A-D476-425ECD2BE832}"/>
              </a:ext>
            </a:extLst>
          </p:cNvPr>
          <p:cNvSpPr>
            <a:spLocks noGrp="1"/>
          </p:cNvSpPr>
          <p:nvPr>
            <p:ph type="body" sz="quarter" idx="17"/>
          </p:nvPr>
        </p:nvSpPr>
        <p:spPr>
          <a:xfrm>
            <a:off x="2166938" y="4210049"/>
            <a:ext cx="9768874" cy="2039112"/>
          </a:xfrm>
        </p:spPr>
        <p:txBody>
          <a:bodyPr>
            <a:normAutofit fontScale="92500" lnSpcReduction="10000"/>
          </a:bodyPr>
          <a:lstStyle/>
          <a:p>
            <a:r>
              <a:rPr lang="en-US" sz="4000" dirty="0"/>
              <a:t>Nested virtualization describes a system organization when a guest hypervisor runs inside a VM, which is itself running under a host hypervisor.</a:t>
            </a:r>
          </a:p>
        </p:txBody>
      </p:sp>
    </p:spTree>
    <p:extLst>
      <p:ext uri="{BB962C8B-B14F-4D97-AF65-F5344CB8AC3E}">
        <p14:creationId xmlns:p14="http://schemas.microsoft.com/office/powerpoint/2010/main" val="4141318786"/>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A54F8-EDD2-0B0D-CC6B-343C5039494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32B9CBE-C9B7-39FB-5219-CB7C6C12E644}"/>
              </a:ext>
            </a:extLst>
          </p:cNvPr>
          <p:cNvSpPr>
            <a:spLocks noGrp="1"/>
          </p:cNvSpPr>
          <p:nvPr>
            <p:ph type="title"/>
          </p:nvPr>
        </p:nvSpPr>
        <p:spPr>
          <a:xfrm>
            <a:off x="2167377" y="1871164"/>
            <a:ext cx="14715569" cy="511175"/>
          </a:xfrm>
        </p:spPr>
        <p:txBody>
          <a:bodyPr>
            <a:normAutofit/>
          </a:bodyPr>
          <a:lstStyle/>
          <a:p>
            <a:r>
              <a:rPr lang="en-US" sz="3200" dirty="0"/>
              <a:t>Nested </a:t>
            </a:r>
            <a:r>
              <a:rPr lang="en-US" sz="3200" dirty="0" err="1"/>
              <a:t>virtualizatoin</a:t>
            </a:r>
            <a:endParaRPr lang="en-US" sz="3200" dirty="0"/>
          </a:p>
        </p:txBody>
      </p:sp>
      <p:sp>
        <p:nvSpPr>
          <p:cNvPr id="22" name="Text Placeholder 2">
            <a:extLst>
              <a:ext uri="{FF2B5EF4-FFF2-40B4-BE49-F238E27FC236}">
                <a16:creationId xmlns:a16="http://schemas.microsoft.com/office/drawing/2014/main" id="{450BA19E-6415-CDDA-FF3F-63405376E633}"/>
              </a:ext>
            </a:extLst>
          </p:cNvPr>
          <p:cNvSpPr>
            <a:spLocks noGrp="1"/>
          </p:cNvSpPr>
          <p:nvPr>
            <p:ph type="body" sz="quarter" idx="10"/>
          </p:nvPr>
        </p:nvSpPr>
        <p:spPr>
          <a:xfrm>
            <a:off x="2167377" y="2419728"/>
            <a:ext cx="9768875" cy="803546"/>
          </a:xfrm>
        </p:spPr>
        <p:txBody>
          <a:bodyPr/>
          <a:lstStyle/>
          <a:p>
            <a:r>
              <a:rPr lang="en-US" dirty="0"/>
              <a:t>Cases to use it</a:t>
            </a:r>
          </a:p>
        </p:txBody>
      </p:sp>
      <p:sp>
        <p:nvSpPr>
          <p:cNvPr id="15" name="Text Placeholder 3">
            <a:extLst>
              <a:ext uri="{FF2B5EF4-FFF2-40B4-BE49-F238E27FC236}">
                <a16:creationId xmlns:a16="http://schemas.microsoft.com/office/drawing/2014/main" id="{1A9ABEFC-7919-7685-9B01-BF81DF998966}"/>
              </a:ext>
            </a:extLst>
          </p:cNvPr>
          <p:cNvSpPr>
            <a:spLocks noGrp="1"/>
          </p:cNvSpPr>
          <p:nvPr>
            <p:ph type="body" sz="quarter" idx="16"/>
          </p:nvPr>
        </p:nvSpPr>
        <p:spPr>
          <a:xfrm>
            <a:off x="2167377" y="6556917"/>
            <a:ext cx="9768906" cy="5575610"/>
          </a:xfrm>
        </p:spPr>
        <p:txBody>
          <a:bodyPr>
            <a:normAutofit/>
          </a:bodyPr>
          <a:lstStyle/>
          <a:p>
            <a:r>
              <a:rPr lang="en-US" dirty="0"/>
              <a:t>KVM allows three VM to run concurrently. Two VMs run hypervisors Xen and </a:t>
            </a:r>
            <a:r>
              <a:rPr lang="en-US" dirty="0" err="1"/>
              <a:t>ESXi</a:t>
            </a:r>
            <a:r>
              <a:rPr lang="en-US" dirty="0"/>
              <a:t>, and the third runs Windows. A VM runs Linux under Xen, and another VM runs Windows under </a:t>
            </a:r>
            <a:r>
              <a:rPr lang="en-US" dirty="0" err="1"/>
              <a:t>ESXi</a:t>
            </a:r>
            <a:r>
              <a:rPr lang="en-US" dirty="0"/>
              <a:t>.</a:t>
            </a:r>
          </a:p>
          <a:p>
            <a:r>
              <a:rPr lang="en-US" dirty="0"/>
              <a:t>Intel-supported nested virtualization. KVM runs at level L0, Xen runs at level L1, and KVM uses VMCS01 for the VM running Xen.</a:t>
            </a:r>
          </a:p>
        </p:txBody>
      </p:sp>
      <p:pic>
        <p:nvPicPr>
          <p:cNvPr id="6" name="Picture Placeholder 5">
            <a:extLst>
              <a:ext uri="{FF2B5EF4-FFF2-40B4-BE49-F238E27FC236}">
                <a16:creationId xmlns:a16="http://schemas.microsoft.com/office/drawing/2014/main" id="{0E1F408A-5606-B9AA-E280-73263C8829B9}"/>
              </a:ext>
            </a:extLst>
          </p:cNvPr>
          <p:cNvPicPr>
            <a:picLocks noGrp="1" noChangeAspect="1"/>
          </p:cNvPicPr>
          <p:nvPr>
            <p:ph type="pic" sz="quarter" idx="13"/>
          </p:nvPr>
        </p:nvPicPr>
        <p:blipFill>
          <a:blip r:embed="rId3"/>
          <a:srcRect l="-1457" t="-8" r="743"/>
          <a:stretch>
            <a:fillRect/>
          </a:stretch>
        </p:blipFill>
        <p:spPr>
          <a:xfrm>
            <a:off x="12447719" y="3922358"/>
            <a:ext cx="10892131" cy="7922478"/>
          </a:xfrm>
          <a:prstGeom prst="rect">
            <a:avLst/>
          </a:prstGeom>
          <a:noFill/>
        </p:spPr>
      </p:pic>
      <p:sp>
        <p:nvSpPr>
          <p:cNvPr id="17" name="Text Placeholder 5">
            <a:extLst>
              <a:ext uri="{FF2B5EF4-FFF2-40B4-BE49-F238E27FC236}">
                <a16:creationId xmlns:a16="http://schemas.microsoft.com/office/drawing/2014/main" id="{F1773DF9-7BEA-73DE-2F1E-104516E59DF9}"/>
              </a:ext>
            </a:extLst>
          </p:cNvPr>
          <p:cNvSpPr>
            <a:spLocks noGrp="1"/>
          </p:cNvSpPr>
          <p:nvPr>
            <p:ph type="body" sz="quarter" idx="17"/>
          </p:nvPr>
        </p:nvSpPr>
        <p:spPr>
          <a:xfrm>
            <a:off x="2166938" y="4210049"/>
            <a:ext cx="9768874" cy="2039112"/>
          </a:xfrm>
        </p:spPr>
        <p:txBody>
          <a:bodyPr>
            <a:normAutofit fontScale="92500" lnSpcReduction="10000"/>
          </a:bodyPr>
          <a:lstStyle/>
          <a:p>
            <a:r>
              <a:rPr lang="en-US" sz="4000"/>
              <a:t>Nested virtualization describes a system organization when a guest hypervisor runs inside a VM, which is itself running under a host hypervisor.</a:t>
            </a:r>
            <a:endParaRPr lang="en-US" sz="4000" dirty="0"/>
          </a:p>
        </p:txBody>
      </p:sp>
    </p:spTree>
    <p:extLst>
      <p:ext uri="{BB962C8B-B14F-4D97-AF65-F5344CB8AC3E}">
        <p14:creationId xmlns:p14="http://schemas.microsoft.com/office/powerpoint/2010/main" val="983603812"/>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6B4C3-B758-F37F-891D-C99B68B411B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AEE852F-8F01-D0AF-CB6A-8AEBC0A0A1E3}"/>
              </a:ext>
            </a:extLst>
          </p:cNvPr>
          <p:cNvSpPr>
            <a:spLocks noGrp="1"/>
          </p:cNvSpPr>
          <p:nvPr>
            <p:ph type="title"/>
          </p:nvPr>
        </p:nvSpPr>
        <p:spPr/>
        <p:txBody>
          <a:bodyPr/>
          <a:lstStyle/>
          <a:p>
            <a:r>
              <a:rPr lang="en-US" dirty="0"/>
              <a:t>Open-source Software Platforms for Private Clouds</a:t>
            </a:r>
          </a:p>
        </p:txBody>
      </p:sp>
    </p:spTree>
    <p:extLst>
      <p:ext uri="{BB962C8B-B14F-4D97-AF65-F5344CB8AC3E}">
        <p14:creationId xmlns:p14="http://schemas.microsoft.com/office/powerpoint/2010/main" val="488829627"/>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603D6-8C78-2917-4BA3-7ADCBDC7D222}"/>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CBAF4EF6-EB47-CE4F-387E-072E38EAD2D9}"/>
              </a:ext>
            </a:extLst>
          </p:cNvPr>
          <p:cNvSpPr>
            <a:spLocks noGrp="1"/>
          </p:cNvSpPr>
          <p:nvPr>
            <p:ph type="title"/>
          </p:nvPr>
        </p:nvSpPr>
        <p:spPr>
          <a:xfrm>
            <a:off x="2167377" y="1871164"/>
            <a:ext cx="14715569" cy="511175"/>
          </a:xfrm>
        </p:spPr>
        <p:txBody>
          <a:bodyPr>
            <a:normAutofit fontScale="90000"/>
          </a:bodyPr>
          <a:lstStyle/>
          <a:p>
            <a:r>
              <a:rPr lang="en-US" dirty="0"/>
              <a:t>Eucalyptus</a:t>
            </a:r>
          </a:p>
        </p:txBody>
      </p:sp>
      <p:sp>
        <p:nvSpPr>
          <p:cNvPr id="16" name="Text Placeholder 2">
            <a:extLst>
              <a:ext uri="{FF2B5EF4-FFF2-40B4-BE49-F238E27FC236}">
                <a16:creationId xmlns:a16="http://schemas.microsoft.com/office/drawing/2014/main" id="{22A3FAB5-6F9B-6D39-5B77-F40A4DFDC0AD}"/>
              </a:ext>
            </a:extLst>
          </p:cNvPr>
          <p:cNvSpPr>
            <a:spLocks noGrp="1"/>
          </p:cNvSpPr>
          <p:nvPr>
            <p:ph type="body" sz="quarter" idx="10"/>
          </p:nvPr>
        </p:nvSpPr>
        <p:spPr>
          <a:xfrm>
            <a:off x="2167377" y="2419728"/>
            <a:ext cx="9768875" cy="803546"/>
          </a:xfrm>
        </p:spPr>
        <p:txBody>
          <a:bodyPr/>
          <a:lstStyle/>
          <a:p>
            <a:endParaRPr lang="en-US" dirty="0"/>
          </a:p>
        </p:txBody>
      </p:sp>
      <p:sp>
        <p:nvSpPr>
          <p:cNvPr id="18" name="Text Placeholder 3">
            <a:extLst>
              <a:ext uri="{FF2B5EF4-FFF2-40B4-BE49-F238E27FC236}">
                <a16:creationId xmlns:a16="http://schemas.microsoft.com/office/drawing/2014/main" id="{6289E3AC-8645-ABA7-CE81-6F126EC554D9}"/>
              </a:ext>
            </a:extLst>
          </p:cNvPr>
          <p:cNvSpPr>
            <a:spLocks noGrp="1"/>
          </p:cNvSpPr>
          <p:nvPr>
            <p:ph type="body" sz="quarter" idx="16"/>
          </p:nvPr>
        </p:nvSpPr>
        <p:spPr>
          <a:xfrm>
            <a:off x="2167377" y="6556917"/>
            <a:ext cx="9768906" cy="5575610"/>
          </a:xfrm>
        </p:spPr>
        <p:txBody>
          <a:bodyPr/>
          <a:lstStyle/>
          <a:p>
            <a:r>
              <a:rPr lang="en-US" dirty="0"/>
              <a:t>The system supports several operating systems, including: CentOS 5 and 6, RHEL 5 and 6, Ubuntu 10.04 LTS, and 12.04 LTS</a:t>
            </a:r>
          </a:p>
          <a:p>
            <a:r>
              <a:rPr lang="en-US" dirty="0" err="1"/>
              <a:t>inux</a:t>
            </a:r>
            <a:r>
              <a:rPr lang="en-US" dirty="0"/>
              <a:t>-based open-source software architecture for cloud computing and also a storage platform that implements Infrastructure a Service (IaaS). It provides quick and efficient computing services. Eucalyptus was designed to provide services compatible with Amazon's EC2 cloud and Simple Storage Service(S3)..</a:t>
            </a:r>
          </a:p>
        </p:txBody>
      </p:sp>
      <p:pic>
        <p:nvPicPr>
          <p:cNvPr id="5" name="Content Placeholder 5">
            <a:extLst>
              <a:ext uri="{FF2B5EF4-FFF2-40B4-BE49-F238E27FC236}">
                <a16:creationId xmlns:a16="http://schemas.microsoft.com/office/drawing/2014/main" id="{66C5D403-BBB5-602A-5C43-6790BBAD9ECC}"/>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4066" t="3715" r="5246"/>
          <a:stretch>
            <a:fillRect/>
          </a:stretch>
        </p:blipFill>
        <p:spPr>
          <a:xfrm>
            <a:off x="12192000" y="3886199"/>
            <a:ext cx="12192000" cy="8905437"/>
          </a:xfrm>
          <a:prstGeom prst="rect">
            <a:avLst/>
          </a:prstGeom>
          <a:noFill/>
        </p:spPr>
      </p:pic>
      <p:sp>
        <p:nvSpPr>
          <p:cNvPr id="20" name="Text Placeholder 5">
            <a:extLst>
              <a:ext uri="{FF2B5EF4-FFF2-40B4-BE49-F238E27FC236}">
                <a16:creationId xmlns:a16="http://schemas.microsoft.com/office/drawing/2014/main" id="{9A5DEF63-FA58-AB6A-6952-8BFA1CD652E2}"/>
              </a:ext>
            </a:extLst>
          </p:cNvPr>
          <p:cNvSpPr>
            <a:spLocks noGrp="1"/>
          </p:cNvSpPr>
          <p:nvPr>
            <p:ph type="body" sz="quarter" idx="17"/>
          </p:nvPr>
        </p:nvSpPr>
        <p:spPr>
          <a:xfrm>
            <a:off x="2166938" y="4210049"/>
            <a:ext cx="9768874" cy="2039112"/>
          </a:xfrm>
        </p:spPr>
        <p:txBody>
          <a:bodyPr>
            <a:normAutofit fontScale="92500"/>
          </a:bodyPr>
          <a:lstStyle/>
          <a:p>
            <a:r>
              <a:rPr lang="en-US" dirty="0"/>
              <a:t>Eucalyptus (http://www.eucalyptus.com/) can be regarded as an open-source counterpart of Amazon's EC2</a:t>
            </a:r>
          </a:p>
        </p:txBody>
      </p:sp>
    </p:spTree>
    <p:extLst>
      <p:ext uri="{BB962C8B-B14F-4D97-AF65-F5344CB8AC3E}">
        <p14:creationId xmlns:p14="http://schemas.microsoft.com/office/powerpoint/2010/main" val="2498477572"/>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9751D-4C21-E7DA-2C03-470D7F682C73}"/>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1200CCE1-B350-7FCE-375E-A921FBC5998B}"/>
              </a:ext>
            </a:extLst>
          </p:cNvPr>
          <p:cNvSpPr>
            <a:spLocks noGrp="1"/>
          </p:cNvSpPr>
          <p:nvPr>
            <p:ph type="title"/>
          </p:nvPr>
        </p:nvSpPr>
        <p:spPr>
          <a:xfrm>
            <a:off x="2167377" y="1871164"/>
            <a:ext cx="14715569" cy="511175"/>
          </a:xfrm>
        </p:spPr>
        <p:txBody>
          <a:bodyPr>
            <a:normAutofit fontScale="90000"/>
          </a:bodyPr>
          <a:lstStyle/>
          <a:p>
            <a:r>
              <a:rPr lang="en-US" dirty="0"/>
              <a:t>Open-nebula</a:t>
            </a:r>
          </a:p>
        </p:txBody>
      </p:sp>
      <p:sp>
        <p:nvSpPr>
          <p:cNvPr id="16" name="Text Placeholder 2">
            <a:extLst>
              <a:ext uri="{FF2B5EF4-FFF2-40B4-BE49-F238E27FC236}">
                <a16:creationId xmlns:a16="http://schemas.microsoft.com/office/drawing/2014/main" id="{AE96DFB5-11DF-C28F-146D-0E9B889E81BE}"/>
              </a:ext>
            </a:extLst>
          </p:cNvPr>
          <p:cNvSpPr>
            <a:spLocks noGrp="1"/>
          </p:cNvSpPr>
          <p:nvPr>
            <p:ph type="body" sz="quarter" idx="10"/>
          </p:nvPr>
        </p:nvSpPr>
        <p:spPr>
          <a:xfrm>
            <a:off x="2167377" y="2419728"/>
            <a:ext cx="9768875" cy="803546"/>
          </a:xfrm>
        </p:spPr>
        <p:txBody>
          <a:bodyPr/>
          <a:lstStyle/>
          <a:p>
            <a:endParaRPr lang="en-US" dirty="0"/>
          </a:p>
        </p:txBody>
      </p:sp>
      <p:sp>
        <p:nvSpPr>
          <p:cNvPr id="18" name="Text Placeholder 3">
            <a:extLst>
              <a:ext uri="{FF2B5EF4-FFF2-40B4-BE49-F238E27FC236}">
                <a16:creationId xmlns:a16="http://schemas.microsoft.com/office/drawing/2014/main" id="{2F0C0EEA-9E28-C845-F9F9-E4F6FFAC6B8C}"/>
              </a:ext>
            </a:extLst>
          </p:cNvPr>
          <p:cNvSpPr>
            <a:spLocks noGrp="1"/>
          </p:cNvSpPr>
          <p:nvPr>
            <p:ph type="body" sz="quarter" idx="16"/>
          </p:nvPr>
        </p:nvSpPr>
        <p:spPr>
          <a:xfrm>
            <a:off x="2167377" y="6556917"/>
            <a:ext cx="9768906" cy="5575610"/>
          </a:xfrm>
        </p:spPr>
        <p:txBody>
          <a:bodyPr/>
          <a:lstStyle/>
          <a:p>
            <a:r>
              <a:rPr lang="en-US" dirty="0"/>
              <a:t>is a private cloud with users actually logging into the head node to access cloud functions. The system is centralized, and its default configuration uses the NFS filesystem.</a:t>
            </a:r>
          </a:p>
          <a:p>
            <a:r>
              <a:rPr lang="en-US" dirty="0" err="1"/>
              <a:t>OpenNebula</a:t>
            </a:r>
            <a:r>
              <a:rPr lang="en-US" dirty="0"/>
              <a:t> platform delivers end-to-end coverage, vendor neutrality, and comprehensive support across cloud and virtualization management, hypervisor operations, and Kubernetes orchestration</a:t>
            </a:r>
          </a:p>
        </p:txBody>
      </p:sp>
      <p:pic>
        <p:nvPicPr>
          <p:cNvPr id="5" name="Content Placeholder 5">
            <a:extLst>
              <a:ext uri="{FF2B5EF4-FFF2-40B4-BE49-F238E27FC236}">
                <a16:creationId xmlns:a16="http://schemas.microsoft.com/office/drawing/2014/main" id="{2CF1990C-9FAB-8069-686C-AC8B59DB4A53}"/>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6659" r="6659"/>
          <a:stretch/>
        </p:blipFill>
        <p:spPr>
          <a:xfrm>
            <a:off x="12876180" y="3542665"/>
            <a:ext cx="10982527" cy="9248972"/>
          </a:xfrm>
          <a:prstGeom prst="rect">
            <a:avLst/>
          </a:prstGeom>
          <a:noFill/>
        </p:spPr>
      </p:pic>
      <p:sp>
        <p:nvSpPr>
          <p:cNvPr id="20" name="Text Placeholder 5">
            <a:extLst>
              <a:ext uri="{FF2B5EF4-FFF2-40B4-BE49-F238E27FC236}">
                <a16:creationId xmlns:a16="http://schemas.microsoft.com/office/drawing/2014/main" id="{770EDF93-3549-7B9C-480A-425FECA0B160}"/>
              </a:ext>
            </a:extLst>
          </p:cNvPr>
          <p:cNvSpPr>
            <a:spLocks noGrp="1"/>
          </p:cNvSpPr>
          <p:nvPr>
            <p:ph type="body" sz="quarter" idx="17"/>
          </p:nvPr>
        </p:nvSpPr>
        <p:spPr>
          <a:xfrm>
            <a:off x="2166938" y="4210049"/>
            <a:ext cx="9768874" cy="2039112"/>
          </a:xfrm>
        </p:spPr>
        <p:txBody>
          <a:bodyPr>
            <a:normAutofit fontScale="77500" lnSpcReduction="20000"/>
          </a:bodyPr>
          <a:lstStyle/>
          <a:p>
            <a:r>
              <a:rPr lang="en-US" dirty="0"/>
              <a:t>Open-Nebula (http://www.opennebula.org/) is a private cloud with users actually logging into the head node to access cloud functions. The system is centralized, and its default configuration uses the NFS filesystem.</a:t>
            </a:r>
          </a:p>
        </p:txBody>
      </p:sp>
    </p:spTree>
    <p:extLst>
      <p:ext uri="{BB962C8B-B14F-4D97-AF65-F5344CB8AC3E}">
        <p14:creationId xmlns:p14="http://schemas.microsoft.com/office/powerpoint/2010/main" val="2273059915"/>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254AF-8B2D-30B1-3B0B-40EF72CD6B07}"/>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372E4012-450F-FB44-3559-097E7AD7A5A7}"/>
              </a:ext>
            </a:extLst>
          </p:cNvPr>
          <p:cNvSpPr>
            <a:spLocks noGrp="1"/>
          </p:cNvSpPr>
          <p:nvPr>
            <p:ph type="title"/>
          </p:nvPr>
        </p:nvSpPr>
        <p:spPr>
          <a:xfrm>
            <a:off x="2167377" y="1871164"/>
            <a:ext cx="14715569" cy="511175"/>
          </a:xfrm>
        </p:spPr>
        <p:txBody>
          <a:bodyPr>
            <a:normAutofit/>
          </a:bodyPr>
          <a:lstStyle/>
          <a:p>
            <a:r>
              <a:rPr lang="en-US" sz="3200"/>
              <a:t>Open-nebula vs eucalyptus</a:t>
            </a:r>
          </a:p>
        </p:txBody>
      </p:sp>
      <p:sp>
        <p:nvSpPr>
          <p:cNvPr id="25" name="Text Placeholder 2">
            <a:extLst>
              <a:ext uri="{FF2B5EF4-FFF2-40B4-BE49-F238E27FC236}">
                <a16:creationId xmlns:a16="http://schemas.microsoft.com/office/drawing/2014/main" id="{9DDA4874-690C-E2B3-50BC-CAEFA64DAB0A}"/>
              </a:ext>
            </a:extLst>
          </p:cNvPr>
          <p:cNvSpPr>
            <a:spLocks noGrp="1"/>
          </p:cNvSpPr>
          <p:nvPr>
            <p:ph type="body" sz="quarter" idx="10"/>
          </p:nvPr>
        </p:nvSpPr>
        <p:spPr>
          <a:xfrm>
            <a:off x="2167377" y="2419728"/>
            <a:ext cx="9768875" cy="803546"/>
          </a:xfrm>
        </p:spPr>
        <p:txBody>
          <a:bodyPr/>
          <a:lstStyle/>
          <a:p>
            <a:endParaRPr lang="en-US"/>
          </a:p>
        </p:txBody>
      </p:sp>
      <p:sp>
        <p:nvSpPr>
          <p:cNvPr id="27" name="Text Placeholder 3">
            <a:extLst>
              <a:ext uri="{FF2B5EF4-FFF2-40B4-BE49-F238E27FC236}">
                <a16:creationId xmlns:a16="http://schemas.microsoft.com/office/drawing/2014/main" id="{F030356A-EAFC-D15F-1913-3362BC1F586A}"/>
              </a:ext>
            </a:extLst>
          </p:cNvPr>
          <p:cNvSpPr>
            <a:spLocks noGrp="1"/>
          </p:cNvSpPr>
          <p:nvPr>
            <p:ph type="body" sz="quarter" idx="16"/>
          </p:nvPr>
        </p:nvSpPr>
        <p:spPr>
          <a:xfrm>
            <a:off x="2167377" y="6556917"/>
            <a:ext cx="9768906" cy="5575610"/>
          </a:xfrm>
        </p:spPr>
        <p:txBody>
          <a:bodyPr/>
          <a:lstStyle/>
          <a:p>
            <a:r>
              <a:rPr lang="en-US" dirty="0"/>
              <a:t>Eucalyptus is best suited for a large corporation with its own private cloud because it ensures a degree of protection from user malice and mistakes; </a:t>
            </a:r>
          </a:p>
          <a:p>
            <a:r>
              <a:rPr lang="en-US" dirty="0" err="1"/>
              <a:t>OpenNebula</a:t>
            </a:r>
            <a:r>
              <a:rPr lang="en-US" dirty="0"/>
              <a:t> is best suited for a testing environment with a few servers.</a:t>
            </a:r>
          </a:p>
          <a:p>
            <a:endParaRPr lang="en-US" dirty="0"/>
          </a:p>
        </p:txBody>
      </p:sp>
      <p:pic>
        <p:nvPicPr>
          <p:cNvPr id="4" name="Content Placeholder 5" descr="Table&#10;&#10;Description automatically generated">
            <a:extLst>
              <a:ext uri="{FF2B5EF4-FFF2-40B4-BE49-F238E27FC236}">
                <a16:creationId xmlns:a16="http://schemas.microsoft.com/office/drawing/2014/main" id="{11A16599-64F0-0F8E-ABD4-76A72417CF4F}"/>
              </a:ext>
            </a:extLst>
          </p:cNvPr>
          <p:cNvPicPr>
            <a:picLocks noGrp="1" noChangeAspect="1"/>
          </p:cNvPicPr>
          <p:nvPr/>
        </p:nvPicPr>
        <p:blipFill rotWithShape="1">
          <a:blip r:embed="rId2"/>
          <a:srcRect t="11958"/>
          <a:stretch/>
        </p:blipFill>
        <p:spPr>
          <a:xfrm>
            <a:off x="12339930" y="4426440"/>
            <a:ext cx="9099057" cy="7490276"/>
          </a:xfrm>
          <a:prstGeom prst="rect">
            <a:avLst/>
          </a:prstGeom>
          <a:noFill/>
        </p:spPr>
      </p:pic>
      <p:sp>
        <p:nvSpPr>
          <p:cNvPr id="29" name="Text Placeholder 5">
            <a:extLst>
              <a:ext uri="{FF2B5EF4-FFF2-40B4-BE49-F238E27FC236}">
                <a16:creationId xmlns:a16="http://schemas.microsoft.com/office/drawing/2014/main" id="{F9A6E0DE-ECE9-2686-9DF3-DCCDBEDEE769}"/>
              </a:ext>
            </a:extLst>
          </p:cNvPr>
          <p:cNvSpPr>
            <a:spLocks noGrp="1"/>
          </p:cNvSpPr>
          <p:nvPr>
            <p:ph type="body" sz="quarter" idx="17"/>
          </p:nvPr>
        </p:nvSpPr>
        <p:spPr>
          <a:xfrm>
            <a:off x="2166938" y="4210049"/>
            <a:ext cx="9768874" cy="2039112"/>
          </a:xfrm>
        </p:spPr>
        <p:txBody>
          <a:bodyPr>
            <a:normAutofit fontScale="77500" lnSpcReduction="20000"/>
          </a:bodyPr>
          <a:lstStyle/>
          <a:p>
            <a:r>
              <a:rPr lang="en-US" dirty="0"/>
              <a:t>The system is best suited for an operation involving a small-to-medium sized group of trusted and knowledgeable users who are able to configure this versatile system based on their needs.</a:t>
            </a:r>
          </a:p>
          <a:p>
            <a:endParaRPr lang="en-US" dirty="0"/>
          </a:p>
        </p:txBody>
      </p:sp>
    </p:spTree>
    <p:extLst>
      <p:ext uri="{BB962C8B-B14F-4D97-AF65-F5344CB8AC3E}">
        <p14:creationId xmlns:p14="http://schemas.microsoft.com/office/powerpoint/2010/main" val="3700917775"/>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613FA-3F41-1D8A-E48A-AC323AE99986}"/>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DC44C4BC-0EC4-48B7-E8E7-658F6F346DAB}"/>
              </a:ext>
            </a:extLst>
          </p:cNvPr>
          <p:cNvSpPr>
            <a:spLocks noGrp="1"/>
          </p:cNvSpPr>
          <p:nvPr>
            <p:ph type="title"/>
          </p:nvPr>
        </p:nvSpPr>
        <p:spPr>
          <a:xfrm>
            <a:off x="2167377" y="1871164"/>
            <a:ext cx="14715569" cy="511175"/>
          </a:xfrm>
        </p:spPr>
        <p:txBody>
          <a:bodyPr>
            <a:normAutofit/>
          </a:bodyPr>
          <a:lstStyle/>
          <a:p>
            <a:r>
              <a:rPr lang="en-US" sz="3200" dirty="0"/>
              <a:t>OpenStack</a:t>
            </a:r>
          </a:p>
        </p:txBody>
      </p:sp>
      <p:sp>
        <p:nvSpPr>
          <p:cNvPr id="16" name="Text Placeholder 2">
            <a:extLst>
              <a:ext uri="{FF2B5EF4-FFF2-40B4-BE49-F238E27FC236}">
                <a16:creationId xmlns:a16="http://schemas.microsoft.com/office/drawing/2014/main" id="{D9E5F1E1-D42B-C5F5-4E6E-5B185C32A308}"/>
              </a:ext>
            </a:extLst>
          </p:cNvPr>
          <p:cNvSpPr>
            <a:spLocks noGrp="1"/>
          </p:cNvSpPr>
          <p:nvPr>
            <p:ph type="body" sz="quarter" idx="10"/>
          </p:nvPr>
        </p:nvSpPr>
        <p:spPr>
          <a:xfrm>
            <a:off x="2167377" y="2419728"/>
            <a:ext cx="9768875" cy="803546"/>
          </a:xfrm>
        </p:spPr>
        <p:txBody>
          <a:bodyPr>
            <a:normAutofit/>
          </a:bodyPr>
          <a:lstStyle/>
          <a:p>
            <a:endParaRPr lang="en-US" dirty="0"/>
          </a:p>
        </p:txBody>
      </p:sp>
      <p:sp>
        <p:nvSpPr>
          <p:cNvPr id="18" name="Text Placeholder 3">
            <a:extLst>
              <a:ext uri="{FF2B5EF4-FFF2-40B4-BE49-F238E27FC236}">
                <a16:creationId xmlns:a16="http://schemas.microsoft.com/office/drawing/2014/main" id="{E296E941-93CD-444B-DA3B-DFEA17B837E3}"/>
              </a:ext>
            </a:extLst>
          </p:cNvPr>
          <p:cNvSpPr>
            <a:spLocks noGrp="1"/>
          </p:cNvSpPr>
          <p:nvPr>
            <p:ph type="body" sz="quarter" idx="16"/>
          </p:nvPr>
        </p:nvSpPr>
        <p:spPr>
          <a:xfrm>
            <a:off x="2167377" y="6556917"/>
            <a:ext cx="9768906" cy="5575610"/>
          </a:xfrm>
        </p:spPr>
        <p:txBody>
          <a:bodyPr>
            <a:normAutofit/>
          </a:bodyPr>
          <a:lstStyle/>
          <a:p>
            <a:r>
              <a:rPr lang="en-US" dirty="0"/>
              <a:t>Though recently NASA has moved its cloud infrastructure to AWS, in addition to Rackspace, several other companies including HP, Cisco, IBM, and Red Hat have an interest in OpenStack. </a:t>
            </a:r>
          </a:p>
          <a:p>
            <a:r>
              <a:rPr lang="en-US" dirty="0"/>
              <a:t>The current version of the system supports a wide range of features such as: APIs with rate limiting and authentication, live VM management to run, reboot, suspend, and terminate instances, role-based access control, and the ability to allocate, track, and limit resource utilization. </a:t>
            </a:r>
          </a:p>
          <a:p>
            <a:r>
              <a:rPr lang="en-US" dirty="0"/>
              <a:t>The administrators and the users control their resources using an extensible web application called the Dashboard</a:t>
            </a:r>
          </a:p>
        </p:txBody>
      </p:sp>
      <p:pic>
        <p:nvPicPr>
          <p:cNvPr id="22" name="Picture 21">
            <a:extLst>
              <a:ext uri="{FF2B5EF4-FFF2-40B4-BE49-F238E27FC236}">
                <a16:creationId xmlns:a16="http://schemas.microsoft.com/office/drawing/2014/main" id="{1479BE69-1579-321A-7E70-EF66693C4C55}"/>
              </a:ext>
            </a:extLst>
          </p:cNvPr>
          <p:cNvPicPr>
            <a:picLocks noChangeAspect="1"/>
          </p:cNvPicPr>
          <p:nvPr/>
        </p:nvPicPr>
        <p:blipFill>
          <a:blip r:embed="rId2">
            <a:extLst>
              <a:ext uri="{28A0092B-C50C-407E-A947-70E740481C1C}">
                <a14:useLocalDpi xmlns:a14="http://schemas.microsoft.com/office/drawing/2010/main" val="0"/>
              </a:ext>
            </a:extLst>
          </a:blip>
          <a:srcRect l="1976" t="4974" r="-600"/>
          <a:stretch>
            <a:fillRect/>
          </a:stretch>
        </p:blipFill>
        <p:spPr>
          <a:xfrm>
            <a:off x="12192000" y="3106315"/>
            <a:ext cx="12197817" cy="9026212"/>
          </a:xfrm>
          <a:prstGeom prst="rect">
            <a:avLst/>
          </a:prstGeom>
          <a:noFill/>
        </p:spPr>
      </p:pic>
      <p:sp>
        <p:nvSpPr>
          <p:cNvPr id="20" name="Text Placeholder 5">
            <a:extLst>
              <a:ext uri="{FF2B5EF4-FFF2-40B4-BE49-F238E27FC236}">
                <a16:creationId xmlns:a16="http://schemas.microsoft.com/office/drawing/2014/main" id="{1CAFDA1E-E1A8-DA6E-A5A7-92FA08C83C1B}"/>
              </a:ext>
            </a:extLst>
          </p:cNvPr>
          <p:cNvSpPr>
            <a:spLocks noGrp="1"/>
          </p:cNvSpPr>
          <p:nvPr>
            <p:ph type="body" sz="quarter" idx="17"/>
          </p:nvPr>
        </p:nvSpPr>
        <p:spPr>
          <a:xfrm>
            <a:off x="2166938" y="4210049"/>
            <a:ext cx="9768874" cy="2039112"/>
          </a:xfrm>
        </p:spPr>
        <p:txBody>
          <a:bodyPr>
            <a:normAutofit fontScale="92500"/>
          </a:bodyPr>
          <a:lstStyle/>
          <a:p>
            <a:r>
              <a:rPr lang="en-US" sz="4000" dirty="0"/>
              <a:t>OpenStack is an open source project started in 2009 at NASA in collaboration with Rackspace (http://www.rackspace.com)</a:t>
            </a:r>
            <a:endParaRPr lang="en-US" sz="4100" dirty="0"/>
          </a:p>
        </p:txBody>
      </p:sp>
    </p:spTree>
    <p:extLst>
      <p:ext uri="{BB962C8B-B14F-4D97-AF65-F5344CB8AC3E}">
        <p14:creationId xmlns:p14="http://schemas.microsoft.com/office/powerpoint/2010/main" val="1225942633"/>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8B7BB-26BA-CA24-B035-709FF09059B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61F93C0-9E23-576A-A7B3-427CD034842A}"/>
              </a:ext>
            </a:extLst>
          </p:cNvPr>
          <p:cNvSpPr>
            <a:spLocks noGrp="1"/>
          </p:cNvSpPr>
          <p:nvPr>
            <p:ph type="title"/>
          </p:nvPr>
        </p:nvSpPr>
        <p:spPr/>
        <p:txBody>
          <a:bodyPr/>
          <a:lstStyle/>
          <a:p>
            <a:r>
              <a:rPr lang="en-US" dirty="0"/>
              <a:t>Virtualization software</a:t>
            </a:r>
          </a:p>
        </p:txBody>
      </p:sp>
    </p:spTree>
    <p:extLst>
      <p:ext uri="{BB962C8B-B14F-4D97-AF65-F5344CB8AC3E}">
        <p14:creationId xmlns:p14="http://schemas.microsoft.com/office/powerpoint/2010/main" val="1211442167"/>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5EE8F-0A29-48FF-F5FB-A1149F2DE860}"/>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0D0DF878-5D6A-C1C9-10F8-CAB88AFCD5B8}"/>
              </a:ext>
            </a:extLst>
          </p:cNvPr>
          <p:cNvSpPr>
            <a:spLocks noGrp="1"/>
          </p:cNvSpPr>
          <p:nvPr>
            <p:ph type="title"/>
          </p:nvPr>
        </p:nvSpPr>
        <p:spPr>
          <a:xfrm>
            <a:off x="2167377" y="1871164"/>
            <a:ext cx="14715569" cy="511175"/>
          </a:xfrm>
        </p:spPr>
        <p:txBody>
          <a:bodyPr>
            <a:normAutofit/>
          </a:bodyPr>
          <a:lstStyle/>
          <a:p>
            <a:r>
              <a:rPr lang="en-US" sz="3200" dirty="0"/>
              <a:t>Native Hypervisors</a:t>
            </a:r>
          </a:p>
        </p:txBody>
      </p:sp>
      <p:sp>
        <p:nvSpPr>
          <p:cNvPr id="16" name="Text Placeholder 2">
            <a:extLst>
              <a:ext uri="{FF2B5EF4-FFF2-40B4-BE49-F238E27FC236}">
                <a16:creationId xmlns:a16="http://schemas.microsoft.com/office/drawing/2014/main" id="{01C712BD-A45E-BBF4-6711-6159CC926625}"/>
              </a:ext>
            </a:extLst>
          </p:cNvPr>
          <p:cNvSpPr>
            <a:spLocks noGrp="1"/>
          </p:cNvSpPr>
          <p:nvPr>
            <p:ph type="body" sz="quarter" idx="10"/>
          </p:nvPr>
        </p:nvSpPr>
        <p:spPr>
          <a:xfrm>
            <a:off x="2167377" y="2419728"/>
            <a:ext cx="9768875" cy="803546"/>
          </a:xfrm>
        </p:spPr>
        <p:txBody>
          <a:bodyPr>
            <a:normAutofit/>
          </a:bodyPr>
          <a:lstStyle/>
          <a:p>
            <a:r>
              <a:rPr lang="en-US" dirty="0"/>
              <a:t>You know what else is important?</a:t>
            </a:r>
          </a:p>
        </p:txBody>
      </p:sp>
      <p:sp>
        <p:nvSpPr>
          <p:cNvPr id="18" name="Text Placeholder 3">
            <a:extLst>
              <a:ext uri="{FF2B5EF4-FFF2-40B4-BE49-F238E27FC236}">
                <a16:creationId xmlns:a16="http://schemas.microsoft.com/office/drawing/2014/main" id="{7EB853A5-81BE-CA8D-B1CE-E2E47CCEFBA3}"/>
              </a:ext>
            </a:extLst>
          </p:cNvPr>
          <p:cNvSpPr>
            <a:spLocks noGrp="1"/>
          </p:cNvSpPr>
          <p:nvPr>
            <p:ph type="body" sz="quarter" idx="16"/>
          </p:nvPr>
        </p:nvSpPr>
        <p:spPr>
          <a:xfrm>
            <a:off x="2167377" y="6556917"/>
            <a:ext cx="9768906" cy="5575610"/>
          </a:xfrm>
        </p:spPr>
        <p:txBody>
          <a:bodyPr>
            <a:normAutofit/>
          </a:bodyPr>
          <a:lstStyle/>
          <a:p>
            <a:r>
              <a:rPr lang="en-US" sz="1600"/>
              <a:t>Red Hat Virtualization (RHV)—enterprise virtualization based on KVM hypervisor.</a:t>
            </a:r>
          </a:p>
          <a:p>
            <a:r>
              <a:rPr lang="en-US" sz="1600"/>
              <a:t>Hyper—creates VMs on x86-64 systems running Windows.</a:t>
            </a:r>
          </a:p>
          <a:p>
            <a:r>
              <a:rPr lang="en-US" sz="1600"/>
              <a:t>z/VM—current version of IBM's VM operating systems.</a:t>
            </a:r>
          </a:p>
          <a:p>
            <a:r>
              <a:rPr lang="en-US" sz="1600"/>
              <a:t>VMware </a:t>
            </a:r>
            <a:r>
              <a:rPr lang="en-US" sz="1600" err="1"/>
              <a:t>ESXi</a:t>
            </a:r>
            <a:r>
              <a:rPr lang="en-US" sz="1600"/>
              <a:t>—enterprise-class, type-1 hypervisor from VMware.</a:t>
            </a:r>
          </a:p>
          <a:p>
            <a:r>
              <a:rPr lang="en-US" sz="1600"/>
              <a:t>Oracle VM Server for x86—server virtualization from Oracle Corporation. Incorporates the free, open-source Xen. Supports Windows, Linux, and Solaris guests.</a:t>
            </a:r>
          </a:p>
          <a:p>
            <a:r>
              <a:rPr lang="en-US" sz="1600" err="1"/>
              <a:t>Adeos</a:t>
            </a:r>
            <a:r>
              <a:rPr lang="en-US" sz="1600"/>
              <a:t>—Adaptive Domain Environment for Operating Systems is a nanokernel hardware abstraction layer.</a:t>
            </a:r>
          </a:p>
          <a:p>
            <a:r>
              <a:rPr lang="en-US" sz="1600" err="1"/>
              <a:t>XtratuM</a:t>
            </a:r>
            <a:r>
              <a:rPr lang="en-US" sz="1600"/>
              <a:t>—bare-metal hypervisor for embedded real-time systems. Available for the instruction sets x86, ARM Cortex-R4F processors, and others.</a:t>
            </a:r>
          </a:p>
        </p:txBody>
      </p:sp>
      <p:pic>
        <p:nvPicPr>
          <p:cNvPr id="5" name="Picture 4">
            <a:extLst>
              <a:ext uri="{FF2B5EF4-FFF2-40B4-BE49-F238E27FC236}">
                <a16:creationId xmlns:a16="http://schemas.microsoft.com/office/drawing/2014/main" id="{B308BF25-2A72-BCC7-49C3-5183A36F0AAD}"/>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p:blipFill>
        <p:spPr>
          <a:xfrm>
            <a:off x="13852648" y="5134768"/>
            <a:ext cx="6073620" cy="6073620"/>
          </a:xfrm>
          <a:prstGeom prst="rect">
            <a:avLst/>
          </a:prstGeom>
          <a:noFill/>
        </p:spPr>
      </p:pic>
      <p:sp>
        <p:nvSpPr>
          <p:cNvPr id="20" name="Text Placeholder 5">
            <a:extLst>
              <a:ext uri="{FF2B5EF4-FFF2-40B4-BE49-F238E27FC236}">
                <a16:creationId xmlns:a16="http://schemas.microsoft.com/office/drawing/2014/main" id="{CD859EDE-2119-E50E-02BD-2CC105A01F4F}"/>
              </a:ext>
            </a:extLst>
          </p:cNvPr>
          <p:cNvSpPr>
            <a:spLocks noGrp="1"/>
          </p:cNvSpPr>
          <p:nvPr>
            <p:ph type="body" sz="quarter" idx="17"/>
          </p:nvPr>
        </p:nvSpPr>
        <p:spPr>
          <a:xfrm>
            <a:off x="2166938" y="4210049"/>
            <a:ext cx="9768874" cy="2039112"/>
          </a:xfrm>
        </p:spPr>
        <p:txBody>
          <a:bodyPr>
            <a:normAutofit/>
          </a:bodyPr>
          <a:lstStyle/>
          <a:p>
            <a:r>
              <a:rPr lang="en-US" sz="3400"/>
              <a:t>A type 1 hypervisor, also referred to as a native or bare metal hypervisor, runs directly on the host's hardware to manage guest operating systems</a:t>
            </a:r>
          </a:p>
        </p:txBody>
      </p:sp>
      <p:sp>
        <p:nvSpPr>
          <p:cNvPr id="6" name="TextBox 5">
            <a:extLst>
              <a:ext uri="{FF2B5EF4-FFF2-40B4-BE49-F238E27FC236}">
                <a16:creationId xmlns:a16="http://schemas.microsoft.com/office/drawing/2014/main" id="{4D4F07FA-F73B-30F2-2208-EDAE5E789FCF}"/>
              </a:ext>
            </a:extLst>
          </p:cNvPr>
          <p:cNvSpPr txBox="1"/>
          <p:nvPr/>
        </p:nvSpPr>
        <p:spPr>
          <a:xfrm>
            <a:off x="13852648" y="11323804"/>
            <a:ext cx="6073620" cy="2410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US" sz="900">
                <a:hlinkClick r:id="rId3" tooltip="https://diversistemas.com/2020/04/30/nueva-red-hat-disponible/"/>
              </a:rPr>
              <a:t>This Photo</a:t>
            </a:r>
            <a:r>
              <a:rPr lang="en-US" sz="900"/>
              <a:t> by Unknown Author is licensed under </a:t>
            </a:r>
            <a:r>
              <a:rPr lang="en-US" sz="900">
                <a:hlinkClick r:id="rId4" tooltip="https://creativecommons.org/licenses/by-nc-sa/3.0/"/>
              </a:rPr>
              <a:t>CC BY-SA-NC</a:t>
            </a:r>
            <a:endParaRPr lang="en-US" sz="900"/>
          </a:p>
        </p:txBody>
      </p:sp>
    </p:spTree>
    <p:extLst>
      <p:ext uri="{BB962C8B-B14F-4D97-AF65-F5344CB8AC3E}">
        <p14:creationId xmlns:p14="http://schemas.microsoft.com/office/powerpoint/2010/main" val="3564985730"/>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CE067-F355-A481-E645-E22373B93735}"/>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4CA26B3B-EE5A-EFBD-D796-1E401F9ED537}"/>
              </a:ext>
            </a:extLst>
          </p:cNvPr>
          <p:cNvSpPr>
            <a:spLocks noGrp="1"/>
          </p:cNvSpPr>
          <p:nvPr>
            <p:ph type="title"/>
          </p:nvPr>
        </p:nvSpPr>
        <p:spPr>
          <a:xfrm>
            <a:off x="2167377" y="1871164"/>
            <a:ext cx="14715569" cy="511175"/>
          </a:xfrm>
        </p:spPr>
        <p:txBody>
          <a:bodyPr>
            <a:normAutofit/>
          </a:bodyPr>
          <a:lstStyle/>
          <a:p>
            <a:r>
              <a:rPr lang="en-US" sz="3200" dirty="0"/>
              <a:t>Hosted Independent Hypervisors</a:t>
            </a:r>
          </a:p>
        </p:txBody>
      </p:sp>
      <p:sp>
        <p:nvSpPr>
          <p:cNvPr id="1031" name="Text Placeholder 2">
            <a:extLst>
              <a:ext uri="{FF2B5EF4-FFF2-40B4-BE49-F238E27FC236}">
                <a16:creationId xmlns:a16="http://schemas.microsoft.com/office/drawing/2014/main" id="{0C6EC12B-8AFC-D563-1227-79C4E051B71D}"/>
              </a:ext>
            </a:extLst>
          </p:cNvPr>
          <p:cNvSpPr>
            <a:spLocks noGrp="1"/>
          </p:cNvSpPr>
          <p:nvPr>
            <p:ph type="body" sz="quarter" idx="10"/>
          </p:nvPr>
        </p:nvSpPr>
        <p:spPr>
          <a:xfrm>
            <a:off x="2167377" y="2419728"/>
            <a:ext cx="9768875" cy="803546"/>
          </a:xfrm>
        </p:spPr>
        <p:txBody>
          <a:bodyPr/>
          <a:lstStyle/>
          <a:p>
            <a:endParaRPr lang="en-US"/>
          </a:p>
        </p:txBody>
      </p:sp>
      <p:sp>
        <p:nvSpPr>
          <p:cNvPr id="18" name="Text Placeholder 3">
            <a:extLst>
              <a:ext uri="{FF2B5EF4-FFF2-40B4-BE49-F238E27FC236}">
                <a16:creationId xmlns:a16="http://schemas.microsoft.com/office/drawing/2014/main" id="{45B0670A-E53A-2EDD-3960-5A997A62241B}"/>
              </a:ext>
            </a:extLst>
          </p:cNvPr>
          <p:cNvSpPr>
            <a:spLocks noGrp="1"/>
          </p:cNvSpPr>
          <p:nvPr>
            <p:ph type="body" sz="quarter" idx="16"/>
          </p:nvPr>
        </p:nvSpPr>
        <p:spPr>
          <a:xfrm>
            <a:off x="2167377" y="6556917"/>
            <a:ext cx="9768906" cy="5575610"/>
          </a:xfrm>
        </p:spPr>
        <p:txBody>
          <a:bodyPr>
            <a:normAutofit/>
          </a:bodyPr>
          <a:lstStyle/>
          <a:p>
            <a:r>
              <a:rPr lang="en-US" sz="2400"/>
              <a:t>VMware Fusion—software hypervisor developed for “Intel-based Macs to run Microsoft Windows, Linux, NetWare, or Solaris on VMs, along with the OS X OS, based on paravirtualization, hardware virtualization, and dynamic recompilation; </a:t>
            </a:r>
          </a:p>
          <a:p>
            <a:r>
              <a:rPr lang="en-US" sz="2400" err="1"/>
              <a:t>PearPC</a:t>
            </a:r>
            <a:r>
              <a:rPr lang="en-US" sz="2400"/>
              <a:t>—architecture-independent PowerPC platform emulator for PowerPC operating systems, including pre-Intel versions of OS X, Darwin, and Linux; </a:t>
            </a:r>
          </a:p>
          <a:p>
            <a:r>
              <a:rPr lang="en-US" sz="2400"/>
              <a:t>Oracle VM VirtualBox—free and open-source hypervisor for x86 computers; and </a:t>
            </a:r>
          </a:p>
          <a:p>
            <a:r>
              <a:rPr lang="en-US" sz="2400"/>
              <a:t>QEMU (Quick Emulator)—free and open-source hosted hypervisor.</a:t>
            </a:r>
          </a:p>
        </p:txBody>
      </p:sp>
      <p:pic>
        <p:nvPicPr>
          <p:cNvPr id="1026" name="Picture 2">
            <a:extLst>
              <a:ext uri="{FF2B5EF4-FFF2-40B4-BE49-F238E27FC236}">
                <a16:creationId xmlns:a16="http://schemas.microsoft.com/office/drawing/2014/main" id="{2133F057-1D8E-7B01-4F31-27A104F24704}"/>
              </a:ext>
            </a:extLst>
          </p:cNvPr>
          <p:cNvPicPr>
            <a:picLocks noChangeAspect="1" noChangeArrowheads="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p:blipFill>
        <p:spPr bwMode="auto">
          <a:xfrm>
            <a:off x="12928509" y="4210629"/>
            <a:ext cx="7921898" cy="7921898"/>
          </a:xfrm>
          <a:prstGeom prst="rect">
            <a:avLst/>
          </a:prstGeom>
          <a:noFill/>
        </p:spPr>
      </p:pic>
      <p:sp>
        <p:nvSpPr>
          <p:cNvPr id="20" name="Text Placeholder 5">
            <a:extLst>
              <a:ext uri="{FF2B5EF4-FFF2-40B4-BE49-F238E27FC236}">
                <a16:creationId xmlns:a16="http://schemas.microsoft.com/office/drawing/2014/main" id="{5C45D36D-F428-5DA8-EFB4-234ED6DAC1FC}"/>
              </a:ext>
            </a:extLst>
          </p:cNvPr>
          <p:cNvSpPr>
            <a:spLocks noGrp="1"/>
          </p:cNvSpPr>
          <p:nvPr>
            <p:ph type="body" sz="quarter" idx="17"/>
          </p:nvPr>
        </p:nvSpPr>
        <p:spPr>
          <a:xfrm>
            <a:off x="2166938" y="4210049"/>
            <a:ext cx="9768874" cy="2039112"/>
          </a:xfrm>
        </p:spPr>
        <p:txBody>
          <a:bodyPr>
            <a:normAutofit/>
          </a:bodyPr>
          <a:lstStyle/>
          <a:p>
            <a:r>
              <a:rPr lang="en-US" sz="3400"/>
              <a:t>While bare-metal hypervisors run directly on the computing hardware, hosted hypervisors run on top of the operating system (OS) of the host machine.</a:t>
            </a:r>
          </a:p>
        </p:txBody>
      </p:sp>
      <p:sp>
        <p:nvSpPr>
          <p:cNvPr id="3" name="TextBox 2">
            <a:extLst>
              <a:ext uri="{FF2B5EF4-FFF2-40B4-BE49-F238E27FC236}">
                <a16:creationId xmlns:a16="http://schemas.microsoft.com/office/drawing/2014/main" id="{AE1D3EEE-77A8-9EA3-20DC-DFE85EF7F4A7}"/>
              </a:ext>
            </a:extLst>
          </p:cNvPr>
          <p:cNvSpPr txBox="1"/>
          <p:nvPr/>
        </p:nvSpPr>
        <p:spPr>
          <a:xfrm>
            <a:off x="18295220" y="11883741"/>
            <a:ext cx="2555187" cy="287258"/>
          </a:xfrm>
          <a:prstGeom prst="rect">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lgn="r">
              <a:spcAft>
                <a:spcPts val="600"/>
              </a:spcAft>
            </a:pPr>
            <a:r>
              <a:rPr lang="en-US" sz="700">
                <a:solidFill>
                  <a:srgbClr val="FFFFFF"/>
                </a:solidFill>
                <a:hlinkClick r:id="rId3" tooltip="https://freepngimg.com/png/76636-icons-boxing-virtual-machine-computer-operating-systems">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4" tooltip="https://creativecommons.org/licenses/by-nc/3.0/">
                  <a:extLst>
                    <a:ext uri="{A12FA001-AC4F-418D-AE19-62706E023703}">
                      <ahyp:hlinkClr xmlns:ahyp="http://schemas.microsoft.com/office/drawing/2018/hyperlinkcolor" val="tx"/>
                    </a:ext>
                  </a:extLst>
                </a:hlinkClick>
              </a:rPr>
              <a:t>CC BY-NC</a:t>
            </a:r>
            <a:endParaRPr lang="en-US" sz="700">
              <a:solidFill>
                <a:srgbClr val="FFFFFF"/>
              </a:solidFill>
            </a:endParaRPr>
          </a:p>
        </p:txBody>
      </p:sp>
    </p:spTree>
    <p:extLst>
      <p:ext uri="{BB962C8B-B14F-4D97-AF65-F5344CB8AC3E}">
        <p14:creationId xmlns:p14="http://schemas.microsoft.com/office/powerpoint/2010/main" val="388255872"/>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3CC6636-B3ED-A8F5-8CCD-92A7CD86DF91}"/>
              </a:ext>
            </a:extLst>
          </p:cNvPr>
          <p:cNvSpPr>
            <a:spLocks noGrp="1"/>
          </p:cNvSpPr>
          <p:nvPr>
            <p:ph type="title"/>
          </p:nvPr>
        </p:nvSpPr>
        <p:spPr>
          <a:xfrm>
            <a:off x="2167377" y="1871164"/>
            <a:ext cx="14715569" cy="511175"/>
          </a:xfrm>
        </p:spPr>
        <p:txBody>
          <a:bodyPr>
            <a:normAutofit/>
          </a:bodyPr>
          <a:lstStyle/>
          <a:p>
            <a:r>
              <a:rPr lang="en-US" sz="3200" dirty="0"/>
              <a:t>Hosted Specialized Hypervisors</a:t>
            </a:r>
          </a:p>
        </p:txBody>
      </p:sp>
      <p:sp>
        <p:nvSpPr>
          <p:cNvPr id="21" name="Text Placeholder 2">
            <a:extLst>
              <a:ext uri="{FF2B5EF4-FFF2-40B4-BE49-F238E27FC236}">
                <a16:creationId xmlns:a16="http://schemas.microsoft.com/office/drawing/2014/main" id="{3EF66953-F2D1-FBD1-0F34-B4B7B0897882}"/>
              </a:ext>
            </a:extLst>
          </p:cNvPr>
          <p:cNvSpPr>
            <a:spLocks noGrp="1"/>
          </p:cNvSpPr>
          <p:nvPr>
            <p:ph type="body" sz="quarter" idx="10"/>
          </p:nvPr>
        </p:nvSpPr>
        <p:spPr>
          <a:xfrm>
            <a:off x="2167377" y="2419728"/>
            <a:ext cx="9768875" cy="803546"/>
          </a:xfrm>
        </p:spPr>
        <p:txBody>
          <a:bodyPr/>
          <a:lstStyle/>
          <a:p>
            <a:endParaRPr lang="en-US"/>
          </a:p>
        </p:txBody>
      </p:sp>
      <p:sp>
        <p:nvSpPr>
          <p:cNvPr id="12" name="Text Placeholder 11">
            <a:extLst>
              <a:ext uri="{FF2B5EF4-FFF2-40B4-BE49-F238E27FC236}">
                <a16:creationId xmlns:a16="http://schemas.microsoft.com/office/drawing/2014/main" id="{21E24542-8940-3717-4CB7-29C332A9F69C}"/>
              </a:ext>
            </a:extLst>
          </p:cNvPr>
          <p:cNvSpPr>
            <a:spLocks noGrp="1"/>
          </p:cNvSpPr>
          <p:nvPr>
            <p:ph type="body" sz="quarter" idx="16"/>
          </p:nvPr>
        </p:nvSpPr>
        <p:spPr>
          <a:xfrm>
            <a:off x="2167377" y="6556917"/>
            <a:ext cx="9768906" cy="5575610"/>
          </a:xfrm>
        </p:spPr>
        <p:txBody>
          <a:bodyPr>
            <a:normAutofit lnSpcReduction="10000"/>
          </a:bodyPr>
          <a:lstStyle/>
          <a:p>
            <a:r>
              <a:rPr lang="en-US"/>
              <a:t>coLinux—Cooperative Linux allows Microsoft Windows and the Linux kernel to run simultaneously; </a:t>
            </a:r>
          </a:p>
          <a:p>
            <a:r>
              <a:rPr lang="en-US"/>
              <a:t>MoM—Mac-on-Mac is a port of Mac-on-Linux for Mac OS X; </a:t>
            </a:r>
          </a:p>
          <a:p>
            <a:r>
              <a:rPr lang="en-US"/>
              <a:t>Mac-on-Linux—open-source VM for running the classic Mac OS or OS X on PowerPC computers running Linux; </a:t>
            </a:r>
          </a:p>
          <a:p>
            <a:r>
              <a:rPr lang="en-US"/>
              <a:t>bhyve—a type-1 hypervisor included in FreeBSD running FreeBSD 9+, OpenBSD, NetBSD, Linux and Windows desktop, and Windows Server; and </a:t>
            </a:r>
          </a:p>
          <a:p>
            <a:r>
              <a:rPr lang="en-US"/>
              <a:t>L4Linux—a variant of Linux kernel running virtualized on L4 microkernel; L4Linux kernel runs a service on L4</a:t>
            </a:r>
            <a:endParaRPr lang="en-US" dirty="0"/>
          </a:p>
        </p:txBody>
      </p:sp>
      <p:pic>
        <p:nvPicPr>
          <p:cNvPr id="14" name="Picture Placeholder 13">
            <a:extLst>
              <a:ext uri="{FF2B5EF4-FFF2-40B4-BE49-F238E27FC236}">
                <a16:creationId xmlns:a16="http://schemas.microsoft.com/office/drawing/2014/main" id="{037400A5-507B-A670-733A-D0D9663EF072}"/>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 t="-2498" r="4318" b="-9942"/>
          <a:stretch>
            <a:fillRect/>
          </a:stretch>
        </p:blipFill>
        <p:spPr>
          <a:xfrm>
            <a:off x="12192000" y="4210049"/>
            <a:ext cx="11658600" cy="7598564"/>
          </a:xfrm>
          <a:prstGeom prst="rect">
            <a:avLst/>
          </a:prstGeom>
          <a:noFill/>
        </p:spPr>
      </p:pic>
      <p:sp>
        <p:nvSpPr>
          <p:cNvPr id="13" name="Text Placeholder 12">
            <a:extLst>
              <a:ext uri="{FF2B5EF4-FFF2-40B4-BE49-F238E27FC236}">
                <a16:creationId xmlns:a16="http://schemas.microsoft.com/office/drawing/2014/main" id="{FFB73AA5-EFC8-51CB-7551-A6A8A0417CAA}"/>
              </a:ext>
            </a:extLst>
          </p:cNvPr>
          <p:cNvSpPr>
            <a:spLocks noGrp="1"/>
          </p:cNvSpPr>
          <p:nvPr>
            <p:ph type="body" sz="quarter" idx="17"/>
          </p:nvPr>
        </p:nvSpPr>
        <p:spPr>
          <a:xfrm>
            <a:off x="2166938" y="4210049"/>
            <a:ext cx="9768874" cy="2039112"/>
          </a:xfrm>
        </p:spPr>
        <p:txBody>
          <a:bodyPr>
            <a:normAutofit/>
          </a:bodyPr>
          <a:lstStyle/>
          <a:p>
            <a:r>
              <a:rPr lang="en-US" dirty="0"/>
              <a:t>There are factors that affects cloud availability, small mistakes could halt the entire operation.</a:t>
            </a:r>
          </a:p>
        </p:txBody>
      </p:sp>
      <p:sp>
        <p:nvSpPr>
          <p:cNvPr id="2" name="TextBox 1">
            <a:extLst>
              <a:ext uri="{FF2B5EF4-FFF2-40B4-BE49-F238E27FC236}">
                <a16:creationId xmlns:a16="http://schemas.microsoft.com/office/drawing/2014/main" id="{442D7D7A-7478-C45C-9EEF-84BFBDDAE497}"/>
              </a:ext>
            </a:extLst>
          </p:cNvPr>
          <p:cNvSpPr txBox="1"/>
          <p:nvPr/>
        </p:nvSpPr>
        <p:spPr>
          <a:xfrm>
            <a:off x="14518025" y="11251959"/>
            <a:ext cx="7698598" cy="2410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US" sz="900" dirty="0">
                <a:hlinkClick r:id="rId3" tooltip="https://www.ochobitshacenunbyte.com/2014/08/08/probamos-freebsd-10/"/>
              </a:rPr>
              <a:t>This Photo</a:t>
            </a:r>
            <a:r>
              <a:rPr lang="en-US" sz="900" dirty="0"/>
              <a:t> by Unknown Author is licensed under </a:t>
            </a:r>
            <a:r>
              <a:rPr lang="en-US" sz="900" dirty="0">
                <a:hlinkClick r:id="rId4" tooltip="https://creativecommons.org/licenses/by-sa/3.0/"/>
              </a:rPr>
              <a:t>CC BY-SA</a:t>
            </a:r>
            <a:endParaRPr lang="en-US" sz="900" dirty="0"/>
          </a:p>
        </p:txBody>
      </p:sp>
    </p:spTree>
    <p:extLst>
      <p:ext uri="{BB962C8B-B14F-4D97-AF65-F5344CB8AC3E}">
        <p14:creationId xmlns:p14="http://schemas.microsoft.com/office/powerpoint/2010/main" val="2822759292"/>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60C10-1214-010B-6EF2-0FFDAE0F38D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8949336-3E9C-D60A-B6FC-C4C2535BFCA2}"/>
              </a:ext>
            </a:extLst>
          </p:cNvPr>
          <p:cNvSpPr>
            <a:spLocks noGrp="1"/>
          </p:cNvSpPr>
          <p:nvPr>
            <p:ph type="title"/>
          </p:nvPr>
        </p:nvSpPr>
        <p:spPr>
          <a:xfrm>
            <a:off x="2167377" y="1871164"/>
            <a:ext cx="14715569" cy="511175"/>
          </a:xfrm>
        </p:spPr>
        <p:txBody>
          <a:bodyPr>
            <a:normAutofit/>
          </a:bodyPr>
          <a:lstStyle/>
          <a:p>
            <a:r>
              <a:rPr lang="en-US" sz="3200" dirty="0"/>
              <a:t>Virtualization implementation</a:t>
            </a:r>
          </a:p>
        </p:txBody>
      </p:sp>
      <p:sp>
        <p:nvSpPr>
          <p:cNvPr id="21" name="Text Placeholder 2">
            <a:extLst>
              <a:ext uri="{FF2B5EF4-FFF2-40B4-BE49-F238E27FC236}">
                <a16:creationId xmlns:a16="http://schemas.microsoft.com/office/drawing/2014/main" id="{92D70C8A-8880-9241-46A1-CE917F8C3B15}"/>
              </a:ext>
            </a:extLst>
          </p:cNvPr>
          <p:cNvSpPr>
            <a:spLocks noGrp="1"/>
          </p:cNvSpPr>
          <p:nvPr>
            <p:ph type="body" sz="quarter" idx="10"/>
          </p:nvPr>
        </p:nvSpPr>
        <p:spPr>
          <a:xfrm>
            <a:off x="2167377" y="2419728"/>
            <a:ext cx="9768875" cy="803546"/>
          </a:xfrm>
        </p:spPr>
        <p:txBody>
          <a:bodyPr/>
          <a:lstStyle/>
          <a:p>
            <a:endParaRPr lang="en-US"/>
          </a:p>
        </p:txBody>
      </p:sp>
      <p:sp>
        <p:nvSpPr>
          <p:cNvPr id="12" name="Text Placeholder 11">
            <a:extLst>
              <a:ext uri="{FF2B5EF4-FFF2-40B4-BE49-F238E27FC236}">
                <a16:creationId xmlns:a16="http://schemas.microsoft.com/office/drawing/2014/main" id="{81172DFD-8405-FB17-D21C-582417A3D7DA}"/>
              </a:ext>
            </a:extLst>
          </p:cNvPr>
          <p:cNvSpPr>
            <a:spLocks noGrp="1"/>
          </p:cNvSpPr>
          <p:nvPr>
            <p:ph type="body" sz="quarter" idx="16"/>
          </p:nvPr>
        </p:nvSpPr>
        <p:spPr>
          <a:xfrm>
            <a:off x="2167377" y="6556917"/>
            <a:ext cx="9768906" cy="5575610"/>
          </a:xfrm>
        </p:spPr>
        <p:txBody>
          <a:bodyPr>
            <a:normAutofit/>
          </a:bodyPr>
          <a:lstStyle/>
          <a:p>
            <a:r>
              <a:rPr lang="en-US" dirty="0"/>
              <a:t>QEMU = Emulation + device virtualization (often paired with KVM).</a:t>
            </a:r>
          </a:p>
          <a:p>
            <a:r>
              <a:rPr lang="en-US" dirty="0"/>
              <a:t>KVM = Hardware-assisted virtualization integrated into Linux kernel.</a:t>
            </a:r>
          </a:p>
          <a:p>
            <a:r>
              <a:rPr lang="en-US" dirty="0"/>
              <a:t>Xen = Bare-metal hypervisor offering flexibility with full and paravirtualization.</a:t>
            </a:r>
          </a:p>
        </p:txBody>
      </p:sp>
      <p:sp>
        <p:nvSpPr>
          <p:cNvPr id="13" name="Text Placeholder 12">
            <a:extLst>
              <a:ext uri="{FF2B5EF4-FFF2-40B4-BE49-F238E27FC236}">
                <a16:creationId xmlns:a16="http://schemas.microsoft.com/office/drawing/2014/main" id="{E3A7CDAD-2254-BD6F-7A92-72DA32213824}"/>
              </a:ext>
            </a:extLst>
          </p:cNvPr>
          <p:cNvSpPr>
            <a:spLocks noGrp="1"/>
          </p:cNvSpPr>
          <p:nvPr>
            <p:ph type="body" sz="quarter" idx="17"/>
          </p:nvPr>
        </p:nvSpPr>
        <p:spPr>
          <a:xfrm>
            <a:off x="2166938" y="4210049"/>
            <a:ext cx="9768874" cy="2039112"/>
          </a:xfrm>
        </p:spPr>
        <p:txBody>
          <a:bodyPr>
            <a:normAutofit/>
          </a:bodyPr>
          <a:lstStyle/>
          <a:p>
            <a:r>
              <a:rPr lang="en-US" dirty="0"/>
              <a:t>Some implementation example</a:t>
            </a:r>
          </a:p>
        </p:txBody>
      </p:sp>
      <p:sp>
        <p:nvSpPr>
          <p:cNvPr id="4" name="Picture Placeholder 3">
            <a:extLst>
              <a:ext uri="{FF2B5EF4-FFF2-40B4-BE49-F238E27FC236}">
                <a16:creationId xmlns:a16="http://schemas.microsoft.com/office/drawing/2014/main" id="{A6C7719D-CE97-84B3-A11D-678B312936B6}"/>
              </a:ext>
            </a:extLst>
          </p:cNvPr>
          <p:cNvSpPr>
            <a:spLocks noGrp="1"/>
          </p:cNvSpPr>
          <p:nvPr>
            <p:ph type="pic" sz="quarter" idx="13"/>
          </p:nvPr>
        </p:nvSpPr>
        <p:spPr/>
        <p:txBody>
          <a:bodyPr/>
          <a:lstStyle/>
          <a:p>
            <a:endParaRPr lang="en-US"/>
          </a:p>
        </p:txBody>
      </p:sp>
      <p:pic>
        <p:nvPicPr>
          <p:cNvPr id="5" name="Content Placeholder 5">
            <a:extLst>
              <a:ext uri="{FF2B5EF4-FFF2-40B4-BE49-F238E27FC236}">
                <a16:creationId xmlns:a16="http://schemas.microsoft.com/office/drawing/2014/main" id="{FB7AC2A2-4E00-A0CB-8757-95D4815CB475}"/>
              </a:ext>
            </a:extLst>
          </p:cNvPr>
          <p:cNvPicPr>
            <a:picLocks noGrp="1" noChangeAspect="1"/>
          </p:cNvPicPr>
          <p:nvPr/>
        </p:nvPicPr>
        <p:blipFill>
          <a:blip r:embed="rId2"/>
          <a:stretch>
            <a:fillRect/>
          </a:stretch>
        </p:blipFill>
        <p:spPr>
          <a:xfrm>
            <a:off x="13088823" y="6046159"/>
            <a:ext cx="2895601" cy="981560"/>
          </a:xfrm>
          <a:prstGeom prst="rect">
            <a:avLst/>
          </a:prstGeom>
        </p:spPr>
      </p:pic>
      <p:pic>
        <p:nvPicPr>
          <p:cNvPr id="6" name="Picture 5">
            <a:extLst>
              <a:ext uri="{FF2B5EF4-FFF2-40B4-BE49-F238E27FC236}">
                <a16:creationId xmlns:a16="http://schemas.microsoft.com/office/drawing/2014/main" id="{A1CD056C-5E8C-FFE3-DBFC-CC6520E86722}"/>
              </a:ext>
            </a:extLst>
          </p:cNvPr>
          <p:cNvPicPr>
            <a:picLocks noChangeAspect="1"/>
          </p:cNvPicPr>
          <p:nvPr/>
        </p:nvPicPr>
        <p:blipFill>
          <a:blip r:embed="rId3"/>
          <a:stretch>
            <a:fillRect/>
          </a:stretch>
        </p:blipFill>
        <p:spPr>
          <a:xfrm>
            <a:off x="16820126" y="5931087"/>
            <a:ext cx="3357794" cy="1195023"/>
          </a:xfrm>
          <a:prstGeom prst="rect">
            <a:avLst/>
          </a:prstGeom>
        </p:spPr>
      </p:pic>
      <p:pic>
        <p:nvPicPr>
          <p:cNvPr id="7" name="Picture 6">
            <a:extLst>
              <a:ext uri="{FF2B5EF4-FFF2-40B4-BE49-F238E27FC236}">
                <a16:creationId xmlns:a16="http://schemas.microsoft.com/office/drawing/2014/main" id="{7EECC705-4B6A-C849-4A97-FD68F6883C26}"/>
              </a:ext>
            </a:extLst>
          </p:cNvPr>
          <p:cNvPicPr>
            <a:picLocks noChangeAspect="1"/>
          </p:cNvPicPr>
          <p:nvPr/>
        </p:nvPicPr>
        <p:blipFill>
          <a:blip r:embed="rId4"/>
          <a:stretch>
            <a:fillRect/>
          </a:stretch>
        </p:blipFill>
        <p:spPr>
          <a:xfrm>
            <a:off x="15070023" y="7784911"/>
            <a:ext cx="2711827" cy="1283015"/>
          </a:xfrm>
          <a:prstGeom prst="rect">
            <a:avLst/>
          </a:prstGeom>
        </p:spPr>
      </p:pic>
    </p:spTree>
    <p:extLst>
      <p:ext uri="{BB962C8B-B14F-4D97-AF65-F5344CB8AC3E}">
        <p14:creationId xmlns:p14="http://schemas.microsoft.com/office/powerpoint/2010/main" val="1739435838"/>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E3802-7A6B-045C-EDB6-44994979DE93}"/>
              </a:ext>
            </a:extLst>
          </p:cNvPr>
          <p:cNvSpPr>
            <a:spLocks noGrp="1"/>
          </p:cNvSpPr>
          <p:nvPr>
            <p:ph type="title"/>
          </p:nvPr>
        </p:nvSpPr>
        <p:spPr/>
        <p:txBody>
          <a:bodyPr>
            <a:normAutofit fontScale="90000"/>
          </a:bodyPr>
          <a:lstStyle/>
          <a:p>
            <a:r>
              <a:rPr lang="en-US" dirty="0"/>
              <a:t>Exercise</a:t>
            </a:r>
          </a:p>
        </p:txBody>
      </p:sp>
      <p:sp>
        <p:nvSpPr>
          <p:cNvPr id="6" name="Text Placeholder 5">
            <a:extLst>
              <a:ext uri="{FF2B5EF4-FFF2-40B4-BE49-F238E27FC236}">
                <a16:creationId xmlns:a16="http://schemas.microsoft.com/office/drawing/2014/main" id="{B96B59B6-648E-8EB4-6907-07002D2ECFF4}"/>
              </a:ext>
            </a:extLst>
          </p:cNvPr>
          <p:cNvSpPr>
            <a:spLocks noGrp="1"/>
          </p:cNvSpPr>
          <p:nvPr>
            <p:ph type="body" sz="quarter" idx="10"/>
          </p:nvPr>
        </p:nvSpPr>
        <p:spPr/>
        <p:txBody>
          <a:bodyPr/>
          <a:lstStyle/>
          <a:p>
            <a:endParaRPr lang="en-US"/>
          </a:p>
        </p:txBody>
      </p:sp>
      <p:sp>
        <p:nvSpPr>
          <p:cNvPr id="4" name="Text Placeholder 3">
            <a:extLst>
              <a:ext uri="{FF2B5EF4-FFF2-40B4-BE49-F238E27FC236}">
                <a16:creationId xmlns:a16="http://schemas.microsoft.com/office/drawing/2014/main" id="{1B73F1C5-C00D-0663-602C-B03399D4648E}"/>
              </a:ext>
            </a:extLst>
          </p:cNvPr>
          <p:cNvSpPr>
            <a:spLocks noGrp="1"/>
          </p:cNvSpPr>
          <p:nvPr>
            <p:ph sz="quarter" idx="11"/>
          </p:nvPr>
        </p:nvSpPr>
        <p:spPr/>
        <p:txBody>
          <a:bodyPr/>
          <a:lstStyle/>
          <a:p>
            <a:r>
              <a:rPr lang="en-US" dirty="0"/>
              <a:t>Students in the class make </a:t>
            </a:r>
            <a:r>
              <a:rPr lang="en-US" b="1" dirty="0"/>
              <a:t>Groups</a:t>
            </a:r>
          </a:p>
          <a:p>
            <a:r>
              <a:rPr lang="en-US" dirty="0"/>
              <a:t>Each group pick one of virtualization implementation</a:t>
            </a:r>
          </a:p>
          <a:p>
            <a:r>
              <a:rPr lang="en-US" dirty="0"/>
              <a:t>In 30 minutes (estimate), each group present their discuss about cloud service provider (estimate each group have 5-10 minutes to presentation)</a:t>
            </a:r>
          </a:p>
          <a:p>
            <a:r>
              <a:rPr lang="en-US" dirty="0"/>
              <a:t>(Minimal content must included in discussion : Architecture, operating mode, components, performance)?</a:t>
            </a:r>
          </a:p>
        </p:txBody>
      </p:sp>
    </p:spTree>
    <p:extLst>
      <p:ext uri="{BB962C8B-B14F-4D97-AF65-F5344CB8AC3E}">
        <p14:creationId xmlns:p14="http://schemas.microsoft.com/office/powerpoint/2010/main" val="2873593984"/>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532BAF-F517-BE43-A4AD-CC09CFE100BF}"/>
              </a:ext>
            </a:extLst>
          </p:cNvPr>
          <p:cNvSpPr>
            <a:spLocks noGrp="1"/>
          </p:cNvSpPr>
          <p:nvPr>
            <p:ph type="title"/>
          </p:nvPr>
        </p:nvSpPr>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References</a:t>
            </a:r>
            <a:endParaRPr lang="en-US" dirty="0"/>
          </a:p>
        </p:txBody>
      </p:sp>
      <p:sp>
        <p:nvSpPr>
          <p:cNvPr id="4" name="Text Placeholder 3">
            <a:extLst>
              <a:ext uri="{FF2B5EF4-FFF2-40B4-BE49-F238E27FC236}">
                <a16:creationId xmlns:a16="http://schemas.microsoft.com/office/drawing/2014/main" id="{4C5FD19C-A63E-2EAD-8D32-134F78AD48CF}"/>
              </a:ext>
            </a:extLst>
          </p:cNvPr>
          <p:cNvSpPr>
            <a:spLocks noGrp="1"/>
          </p:cNvSpPr>
          <p:nvPr>
            <p:ph type="body" sz="quarter" idx="10"/>
          </p:nvPr>
        </p:nvSpPr>
        <p:spPr/>
        <p:txBody>
          <a:bodyPr/>
          <a:lstStyle/>
          <a:p>
            <a:endParaRPr lang="en-US"/>
          </a:p>
        </p:txBody>
      </p:sp>
      <p:sp>
        <p:nvSpPr>
          <p:cNvPr id="5" name="Content Placeholder 4">
            <a:extLst>
              <a:ext uri="{FF2B5EF4-FFF2-40B4-BE49-F238E27FC236}">
                <a16:creationId xmlns:a16="http://schemas.microsoft.com/office/drawing/2014/main" id="{9902DD5D-7D42-CDFC-EC63-F37424D818B8}"/>
              </a:ext>
            </a:extLst>
          </p:cNvPr>
          <p:cNvSpPr>
            <a:spLocks noGrp="1"/>
          </p:cNvSpPr>
          <p:nvPr>
            <p:ph sz="quarter" idx="11"/>
          </p:nvPr>
        </p:nvSpPr>
        <p:spPr/>
        <p:txBody>
          <a:bodyPr/>
          <a:lstStyle/>
          <a:p>
            <a:pPr lvl="0" algn="just"/>
            <a:r>
              <a:rPr lang="en-ID" dirty="0">
                <a:latin typeface="Tahoma" panose="020B0604030504040204" pitchFamily="34" charset="0"/>
                <a:ea typeface="Tahoma" panose="020B0604030504040204" pitchFamily="34" charset="0"/>
                <a:cs typeface="Tahoma" panose="020B0604030504040204" pitchFamily="34" charset="0"/>
              </a:rPr>
              <a:t>Marinescu, Dan C. (2022). Cloud Computing Theory and Practice: 3</a:t>
            </a:r>
            <a:r>
              <a:rPr lang="en-ID" baseline="30000" dirty="0">
                <a:latin typeface="Tahoma" panose="020B0604030504040204" pitchFamily="34" charset="0"/>
                <a:ea typeface="Tahoma" panose="020B0604030504040204" pitchFamily="34" charset="0"/>
                <a:cs typeface="Tahoma" panose="020B0604030504040204" pitchFamily="34" charset="0"/>
              </a:rPr>
              <a:t>rd</a:t>
            </a:r>
            <a:r>
              <a:rPr lang="en-ID" dirty="0">
                <a:latin typeface="Tahoma" panose="020B0604030504040204" pitchFamily="34" charset="0"/>
                <a:ea typeface="Tahoma" panose="020B0604030504040204" pitchFamily="34" charset="0"/>
                <a:cs typeface="Tahoma" panose="020B0604030504040204" pitchFamily="34" charset="0"/>
              </a:rPr>
              <a:t> Edition. Morgan Kaufmann Publishers. ISBN: 978-0-323-85277-7</a:t>
            </a:r>
            <a:endParaRPr lang="en-US" dirty="0">
              <a:latin typeface="Tahoma" panose="020B0604030504040204" pitchFamily="34" charset="0"/>
              <a:ea typeface="Tahoma" panose="020B0604030504040204" pitchFamily="34" charset="0"/>
              <a:cs typeface="Tahoma" panose="020B0604030504040204" pitchFamily="34" charset="0"/>
            </a:endParaRPr>
          </a:p>
          <a:p>
            <a:pPr algn="just"/>
            <a:r>
              <a:rPr lang="en-ID" dirty="0">
                <a:latin typeface="Tahoma"/>
                <a:ea typeface="Tahoma"/>
                <a:cs typeface="Tahoma"/>
              </a:rPr>
              <a:t>KVM - </a:t>
            </a:r>
            <a:r>
              <a:rPr lang="en-ID" dirty="0">
                <a:ea typeface="Open Sans"/>
                <a:cs typeface="Open Sans"/>
                <a:hlinkClick r:id="rId2"/>
              </a:rPr>
              <a:t>https://www.linux-kvm.org/page/Main_Page</a:t>
            </a:r>
            <a:endParaRPr lang="en-ID" dirty="0">
              <a:latin typeface="Tahoma"/>
              <a:ea typeface="Tahoma"/>
              <a:cs typeface="Tahoma"/>
            </a:endParaRPr>
          </a:p>
          <a:p>
            <a:pPr marL="0" indent="0" algn="just">
              <a:buNone/>
            </a:pPr>
            <a:endParaRPr lang="en-ID" dirty="0">
              <a:ea typeface="Open Sans"/>
              <a:cs typeface="Open Sans"/>
            </a:endParaRPr>
          </a:p>
          <a:p>
            <a:pPr marL="340995" indent="-340995" algn="just">
              <a:lnSpc>
                <a:spcPct val="90000"/>
              </a:lnSpc>
              <a:spcAft>
                <a:spcPts val="600"/>
              </a:spcAft>
            </a:pPr>
            <a:endParaRPr lang="id-ID"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730510924"/>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6B9CA93-CCBC-0E81-9FD6-1A448158A5B2}"/>
              </a:ext>
            </a:extLst>
          </p:cNvPr>
          <p:cNvSpPr>
            <a:spLocks noGrp="1"/>
          </p:cNvSpPr>
          <p:nvPr>
            <p:ph type="title"/>
          </p:nvPr>
        </p:nvSpPr>
        <p:spPr>
          <a:xfrm>
            <a:off x="1206498" y="4535865"/>
            <a:ext cx="21971004" cy="3746281"/>
          </a:xfrm>
        </p:spPr>
        <p:txBody>
          <a:bodyPr/>
          <a:lstStyle/>
          <a:p>
            <a:r>
              <a:rPr lang="en-US" dirty="0"/>
              <a:t>Thankyou</a:t>
            </a:r>
          </a:p>
        </p:txBody>
      </p:sp>
    </p:spTree>
    <p:extLst>
      <p:ext uri="{BB962C8B-B14F-4D97-AF65-F5344CB8AC3E}">
        <p14:creationId xmlns:p14="http://schemas.microsoft.com/office/powerpoint/2010/main" val="679265943"/>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1" id="{FEBCA056-F2A5-496F-A830-7BAED988D208}" vid="{3C0D7A97-88A3-424B-BF48-73EB1D05E1BE}"/>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3485b963-82ba-4a6f-810f-b5cc226ff898}" enabled="0" method="" siteId="{3485b963-82ba-4a6f-810f-b5cc226ff898}" removed="1"/>
</clbl:labelList>
</file>

<file path=docProps/app.xml><?xml version="1.0" encoding="utf-8"?>
<Properties xmlns="http://schemas.openxmlformats.org/officeDocument/2006/extended-properties" xmlns:vt="http://schemas.openxmlformats.org/officeDocument/2006/docPropsVTypes">
  <Template>OR 10</Template>
  <TotalTime>991</TotalTime>
  <Words>2113</Words>
  <Application>Microsoft Office PowerPoint</Application>
  <PresentationFormat>Custom</PresentationFormat>
  <Paragraphs>148</Paragraphs>
  <Slides>30</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OCRB</vt:lpstr>
      <vt:lpstr>Open Sans Light</vt:lpstr>
      <vt:lpstr>Tahoma</vt:lpstr>
      <vt:lpstr>Open Sans Semibold</vt:lpstr>
      <vt:lpstr>Open Sans</vt:lpstr>
      <vt:lpstr>Arial</vt:lpstr>
      <vt:lpstr>Open Sans ExtraBold</vt:lpstr>
      <vt:lpstr>21_BasicWhite</vt:lpstr>
      <vt:lpstr>Cloud Resource Virtualization  Session 05</vt:lpstr>
      <vt:lpstr>Learning Objectives</vt:lpstr>
      <vt:lpstr>Outline</vt:lpstr>
      <vt:lpstr>Virtualization principles</vt:lpstr>
      <vt:lpstr>Virtualization principles</vt:lpstr>
      <vt:lpstr>Virtualization principles</vt:lpstr>
      <vt:lpstr>Virtualization principles</vt:lpstr>
      <vt:lpstr>Virtualization principles</vt:lpstr>
      <vt:lpstr>Virtual Machines</vt:lpstr>
      <vt:lpstr>Virtual machine</vt:lpstr>
      <vt:lpstr>Virtual machine</vt:lpstr>
      <vt:lpstr>Virtual machine</vt:lpstr>
      <vt:lpstr>Virtual machine</vt:lpstr>
      <vt:lpstr>Virtual machine</vt:lpstr>
      <vt:lpstr>Nested virtualization</vt:lpstr>
      <vt:lpstr>Nested virtualizatoin</vt:lpstr>
      <vt:lpstr>Nested virtualizatoin</vt:lpstr>
      <vt:lpstr>Open-source Software Platforms for Private Clouds</vt:lpstr>
      <vt:lpstr>Eucalyptus</vt:lpstr>
      <vt:lpstr>Open-nebula</vt:lpstr>
      <vt:lpstr>Open-nebula vs eucalyptus</vt:lpstr>
      <vt:lpstr>OpenStack</vt:lpstr>
      <vt:lpstr>Virtualization software</vt:lpstr>
      <vt:lpstr>Native Hypervisors</vt:lpstr>
      <vt:lpstr>Hosted Independent Hypervisors</vt:lpstr>
      <vt:lpstr>Hosted Specialized Hypervisors</vt:lpstr>
      <vt:lpstr>Virtualization implementation</vt:lpstr>
      <vt:lpstr>Exercise</vt:lpstr>
      <vt:lpstr>References</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Kali Linux</dc:title>
  <dc:creator>NICHOLAUS HENDRIK JEREMY</dc:creator>
  <cp:lastModifiedBy>Samuel Philip</cp:lastModifiedBy>
  <cp:revision>17</cp:revision>
  <dcterms:created xsi:type="dcterms:W3CDTF">2023-06-28T08:14:57Z</dcterms:created>
  <dcterms:modified xsi:type="dcterms:W3CDTF">2025-12-24T11:12:48Z</dcterms:modified>
</cp:coreProperties>
</file>