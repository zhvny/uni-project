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8"/>
  </p:notesMasterIdLst>
  <p:sldIdLst>
    <p:sldId id="256" r:id="rId2"/>
    <p:sldId id="278" r:id="rId3"/>
    <p:sldId id="257" r:id="rId4"/>
    <p:sldId id="264" r:id="rId5"/>
    <p:sldId id="297" r:id="rId6"/>
    <p:sldId id="341" r:id="rId7"/>
    <p:sldId id="342" r:id="rId8"/>
    <p:sldId id="303" r:id="rId9"/>
    <p:sldId id="301" r:id="rId10"/>
    <p:sldId id="337" r:id="rId11"/>
    <p:sldId id="321" r:id="rId12"/>
    <p:sldId id="323" r:id="rId13"/>
    <p:sldId id="343" r:id="rId14"/>
    <p:sldId id="345" r:id="rId15"/>
    <p:sldId id="344" r:id="rId16"/>
    <p:sldId id="346" r:id="rId17"/>
    <p:sldId id="347" r:id="rId18"/>
    <p:sldId id="348" r:id="rId19"/>
    <p:sldId id="349" r:id="rId20"/>
    <p:sldId id="304" r:id="rId21"/>
    <p:sldId id="324" r:id="rId22"/>
    <p:sldId id="350" r:id="rId23"/>
    <p:sldId id="351" r:id="rId24"/>
    <p:sldId id="315" r:id="rId25"/>
    <p:sldId id="317" r:id="rId26"/>
    <p:sldId id="296" r:id="rId27"/>
  </p:sldIdLst>
  <p:sldSz cx="24384000" cy="13716000"/>
  <p:notesSz cx="6858000" cy="9144000"/>
  <p:embeddedFontLst>
    <p:embeddedFont>
      <p:font typeface="OCRB" panose="020B0609020202020204" pitchFamily="49" charset="0"/>
      <p:regular r:id="rId29"/>
    </p:embeddedFont>
    <p:embeddedFont>
      <p:font typeface="Open Sans" panose="020B0606030504020204" pitchFamily="34" charset="0"/>
      <p:regular r:id="rId30"/>
      <p:bold r:id="rId31"/>
      <p:italic r:id="rId32"/>
      <p:boldItalic r:id="rId33"/>
    </p:embeddedFont>
    <p:embeddedFont>
      <p:font typeface="Open Sans ExtraBold" panose="020B0906030804020204" pitchFamily="34" charset="0"/>
      <p:bold r:id="rId34"/>
      <p:italic r:id="rId35"/>
      <p:boldItalic r:id="rId36"/>
    </p:embeddedFont>
    <p:embeddedFont>
      <p:font typeface="Open Sans Light" panose="020B0306030504020204" pitchFamily="34" charset="0"/>
      <p:regular r:id="rId37"/>
      <p:italic r:id="rId38"/>
    </p:embeddedFont>
    <p:embeddedFont>
      <p:font typeface="Open Sans Semibold" panose="020B0706030804020204" pitchFamily="34" charset="0"/>
      <p:regular r:id="rId39"/>
      <p:bold r:id="rId40"/>
      <p:italic r:id="rId41"/>
      <p:boldItalic r:id="rId42"/>
    </p:embeddedFont>
    <p:embeddedFont>
      <p:font typeface="Tahoma" panose="020B0604030504040204" pitchFamily="34" charset="0"/>
      <p:regular r:id="rId43"/>
      <p:bold r:id="rId44"/>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FAE995-0F9C-D74A-95D1-DD92ECB55CB7}" v="77" dt="2023-12-07T07:14:46.024"/>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55" autoAdjust="0"/>
    <p:restoredTop sz="96197"/>
  </p:normalViewPr>
  <p:slideViewPr>
    <p:cSldViewPr snapToGrid="0" snapToObjects="1">
      <p:cViewPr varScale="1">
        <p:scale>
          <a:sx n="39" d="100"/>
          <a:sy n="39" d="100"/>
        </p:scale>
        <p:origin x="888" y="91"/>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017588374"/>
      </p:ext>
    </p:extLst>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37298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641483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10"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2" name="Picture 1">
            <a:extLst>
              <a:ext uri="{FF2B5EF4-FFF2-40B4-BE49-F238E27FC236}">
                <a16:creationId xmlns:a16="http://schemas.microsoft.com/office/drawing/2014/main" id="{79C614F1-89F8-B808-9DD9-229AAF4CE53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EEBA59A-5DC7-987B-985C-E7F05D80D3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40722D20-F203-A321-C13A-3A85A24C3C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2" name="Picture 1">
            <a:extLst>
              <a:ext uri="{FF2B5EF4-FFF2-40B4-BE49-F238E27FC236}">
                <a16:creationId xmlns:a16="http://schemas.microsoft.com/office/drawing/2014/main" id="{A7BDDA7B-8679-2A96-DA58-9B50735EAF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2C79DE9-4AFD-C17C-6D01-10CB5913C7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07CBA874-2A87-342A-D528-C2660A034B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6" name="Picture 5">
            <a:extLst>
              <a:ext uri="{FF2B5EF4-FFF2-40B4-BE49-F238E27FC236}">
                <a16:creationId xmlns:a16="http://schemas.microsoft.com/office/drawing/2014/main" id="{9A703794-B39A-7A69-54AC-AFD888C8CB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64D25C93-1B77-566C-CD32-E4AC841F19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7" name="Picture 6">
            <a:extLst>
              <a:ext uri="{FF2B5EF4-FFF2-40B4-BE49-F238E27FC236}">
                <a16:creationId xmlns:a16="http://schemas.microsoft.com/office/drawing/2014/main" id="{08A923CA-0AF7-7160-B581-2CACED786620}"/>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4" name="Picture 3">
            <a:extLst>
              <a:ext uri="{FF2B5EF4-FFF2-40B4-BE49-F238E27FC236}">
                <a16:creationId xmlns:a16="http://schemas.microsoft.com/office/drawing/2014/main" id="{CE62FAA5-6C99-7043-5D20-4F0B7F8633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7BD28E23-B05B-27F7-5B39-9129277EE1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5" name="Picture 4">
            <a:extLst>
              <a:ext uri="{FF2B5EF4-FFF2-40B4-BE49-F238E27FC236}">
                <a16:creationId xmlns:a16="http://schemas.microsoft.com/office/drawing/2014/main" id="{39A795C1-A678-59F7-F2CE-A32633731DCB}"/>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2"/>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3F4008AF-17B2-1560-3039-4C723BA0CB2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5" name="Picture 4">
            <a:extLst>
              <a:ext uri="{FF2B5EF4-FFF2-40B4-BE49-F238E27FC236}">
                <a16:creationId xmlns:a16="http://schemas.microsoft.com/office/drawing/2014/main" id="{A5BF6EF1-CFA9-A58C-D0E2-EFC77F0A654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C4995F2D-6472-91D6-94D4-E6E20D969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109941728"/>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4319125" y="5273825"/>
            <a:ext cx="9217024" cy="6978502"/>
          </a:xfrm>
        </p:spPr>
        <p:txBody>
          <a:bodyPr>
            <a:normAutofit/>
          </a:bodyPr>
          <a:lstStyle>
            <a:lvl1pPr>
              <a:defRPr sz="4000"/>
            </a:lvl1pPr>
            <a:lvl2pPr>
              <a:defRPr sz="4000"/>
            </a:lvl2pPr>
            <a:lvl3pPr>
              <a:defRPr sz="4000"/>
            </a:lvl3pPr>
            <a:lvl4pPr>
              <a:defRPr sz="4000"/>
            </a:lvl4pPr>
            <a:lvl5pPr>
              <a:defRPr sz="40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p:cNvSpPr>
            <a:spLocks noGrp="1"/>
          </p:cNvSpPr>
          <p:nvPr>
            <p:ph sz="half" idx="2"/>
          </p:nvPr>
        </p:nvSpPr>
        <p:spPr>
          <a:xfrm>
            <a:off x="13728171" y="5273825"/>
            <a:ext cx="9436629" cy="6978502"/>
          </a:xfrm>
        </p:spPr>
        <p:txBody>
          <a:bodyPr>
            <a:normAutofit/>
          </a:bodyPr>
          <a:lstStyle>
            <a:lvl1pPr>
              <a:defRPr sz="4000"/>
            </a:lvl1pPr>
            <a:lvl2pPr>
              <a:defRPr sz="4000"/>
            </a:lvl2pPr>
            <a:lvl3pPr>
              <a:defRPr sz="4000"/>
            </a:lvl3pPr>
            <a:lvl4pPr>
              <a:defRPr sz="4000"/>
            </a:lvl4pPr>
            <a:lvl5pPr>
              <a:defRPr sz="40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p:cNvSpPr>
            <a:spLocks noGrp="1"/>
          </p:cNvSpPr>
          <p:nvPr>
            <p:ph type="dt" sz="half" idx="10"/>
          </p:nvPr>
        </p:nvSpPr>
        <p:spPr/>
        <p:txBody>
          <a:bodyPr/>
          <a:lstStyle/>
          <a:p>
            <a:pPr>
              <a:defRPr/>
            </a:pPr>
            <a:fld id="{CD7BD76F-6914-4CF6-838D-B2233DFD55E0}" type="datetime1">
              <a:rPr lang="en-US" smtClean="0"/>
              <a:pPr>
                <a:defRPr/>
              </a:pPr>
              <a:t>1/9/2026</a:t>
            </a:fld>
            <a:r>
              <a:rPr lang="en-US"/>
              <a:t>Bina Nusantara University</a:t>
            </a:r>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6267CA0D-3B9F-49E7-A5DF-A0D1B5CFE3C6}" type="slidenum">
              <a:rPr lang="en-US" smtClean="0"/>
              <a:pPr>
                <a:defRPr/>
              </a:pPr>
              <a:t>‹#›</a:t>
            </a:fld>
            <a:endParaRPr lang="en-US"/>
          </a:p>
        </p:txBody>
      </p:sp>
    </p:spTree>
    <p:extLst>
      <p:ext uri="{BB962C8B-B14F-4D97-AF65-F5344CB8AC3E}">
        <p14:creationId xmlns:p14="http://schemas.microsoft.com/office/powerpoint/2010/main" val="32239508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NewBM">
    <p:spTree>
      <p:nvGrpSpPr>
        <p:cNvPr id="1" name=""/>
        <p:cNvGrpSpPr/>
        <p:nvPr/>
      </p:nvGrpSpPr>
      <p:grpSpPr>
        <a:xfrm>
          <a:off x="0" y="0"/>
          <a:ext cx="0" cy="0"/>
          <a:chOff x="0" y="0"/>
          <a:chExt cx="0" cy="0"/>
        </a:xfrm>
      </p:grpSpPr>
      <p:pic>
        <p:nvPicPr>
          <p:cNvPr id="7" name="Picture 1" descr="Background 02.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 y="-27874"/>
            <a:ext cx="24383997" cy="12929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p:nvSpPr>
        <p:spPr>
          <a:xfrm>
            <a:off x="0" y="10314384"/>
            <a:ext cx="24383995" cy="3401616"/>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a:p>
        </p:txBody>
      </p:sp>
      <p:sp>
        <p:nvSpPr>
          <p:cNvPr id="2" name="Title 1"/>
          <p:cNvSpPr>
            <a:spLocks noGrp="1"/>
          </p:cNvSpPr>
          <p:nvPr>
            <p:ph type="title"/>
          </p:nvPr>
        </p:nvSpPr>
        <p:spPr>
          <a:xfrm>
            <a:off x="4673600" y="2743200"/>
            <a:ext cx="18232304" cy="1584176"/>
          </a:xfrm>
        </p:spPr>
        <p:txBody>
          <a:bodyPr>
            <a:normAutofit/>
          </a:bodyPr>
          <a:lstStyle>
            <a:lvl1pPr algn="ctr">
              <a:defRPr sz="6000" b="1">
                <a:solidFill>
                  <a:srgbClr val="0079B8"/>
                </a:solidFill>
                <a:latin typeface="Open Sans"/>
              </a:defRPr>
            </a:lvl1pPr>
          </a:lstStyle>
          <a:p>
            <a:r>
              <a:rPr lang="en-US"/>
              <a:t>Click to edit Master title style</a:t>
            </a:r>
            <a:endParaRPr lang="id-ID"/>
          </a:p>
        </p:txBody>
      </p:sp>
      <p:sp>
        <p:nvSpPr>
          <p:cNvPr id="8" name="Date Placeholder 3"/>
          <p:cNvSpPr>
            <a:spLocks noGrp="1"/>
          </p:cNvSpPr>
          <p:nvPr>
            <p:ph type="dt" sz="half" idx="10"/>
          </p:nvPr>
        </p:nvSpPr>
        <p:spPr>
          <a:xfrm>
            <a:off x="1219200" y="12906673"/>
            <a:ext cx="5689600" cy="730250"/>
          </a:xfrm>
        </p:spPr>
        <p:txBody>
          <a:bodyPr/>
          <a:lstStyle/>
          <a:p>
            <a:pPr>
              <a:defRPr/>
            </a:pPr>
            <a:fld id="{D613A7DE-4529-4078-B095-609A054D8419}" type="datetime1">
              <a:rPr lang="en-US" smtClean="0"/>
              <a:pPr>
                <a:defRPr/>
              </a:pPr>
              <a:t>1/9/2026</a:t>
            </a:fld>
            <a:r>
              <a:rPr lang="en-US"/>
              <a:t>Bina Nusantara University</a:t>
            </a:r>
          </a:p>
        </p:txBody>
      </p:sp>
      <p:sp>
        <p:nvSpPr>
          <p:cNvPr id="9" name="Footer Placeholder 4"/>
          <p:cNvSpPr>
            <a:spLocks noGrp="1"/>
          </p:cNvSpPr>
          <p:nvPr>
            <p:ph type="ftr" sz="quarter" idx="11"/>
          </p:nvPr>
        </p:nvSpPr>
        <p:spPr>
          <a:xfrm>
            <a:off x="8331200" y="12906673"/>
            <a:ext cx="7721600" cy="730250"/>
          </a:xfrm>
        </p:spPr>
        <p:txBody>
          <a:bodyPr/>
          <a:lstStyle/>
          <a:p>
            <a:pPr>
              <a:defRPr/>
            </a:pPr>
            <a:endParaRPr lang="en-US"/>
          </a:p>
        </p:txBody>
      </p:sp>
      <p:sp>
        <p:nvSpPr>
          <p:cNvPr id="10" name="Slide Number Placeholder 5"/>
          <p:cNvSpPr>
            <a:spLocks noGrp="1"/>
          </p:cNvSpPr>
          <p:nvPr>
            <p:ph type="sldNum" sz="quarter" idx="12"/>
          </p:nvPr>
        </p:nvSpPr>
        <p:spPr>
          <a:xfrm>
            <a:off x="17475200" y="12906673"/>
            <a:ext cx="5689600" cy="730250"/>
          </a:xfrm>
        </p:spPr>
        <p:txBody>
          <a:bodyPr/>
          <a:lstStyle/>
          <a:p>
            <a:pPr>
              <a:defRPr/>
            </a:pPr>
            <a:fld id="{21EF0E02-90DE-4DDF-8E9F-438205EAE6E1}" type="slidenum">
              <a:rPr lang="en-US" smtClean="0"/>
              <a:pPr>
                <a:defRPr/>
              </a:pPr>
              <a:t>‹#›</a:t>
            </a:fld>
            <a:endParaRPr lang="en-US"/>
          </a:p>
        </p:txBody>
      </p:sp>
      <p:sp>
        <p:nvSpPr>
          <p:cNvPr id="14" name="Content Placeholder 2"/>
          <p:cNvSpPr>
            <a:spLocks noGrp="1"/>
          </p:cNvSpPr>
          <p:nvPr>
            <p:ph idx="1"/>
          </p:nvPr>
        </p:nvSpPr>
        <p:spPr>
          <a:xfrm>
            <a:off x="2438400" y="4572000"/>
            <a:ext cx="20929600" cy="7443192"/>
          </a:xfrm>
        </p:spPr>
        <p:txBody>
          <a:bodyPr/>
          <a:lstStyle>
            <a:lvl1pPr>
              <a:defRPr>
                <a:latin typeface="Open Sans"/>
              </a:defRPr>
            </a:lvl1pPr>
            <a:lvl2pPr>
              <a:defRPr>
                <a:latin typeface="Open Sans"/>
              </a:defRPr>
            </a:lvl2pPr>
            <a:lvl3pPr>
              <a:defRPr>
                <a:latin typeface="Open Sans"/>
              </a:defRPr>
            </a:lvl3pPr>
            <a:lvl4pPr>
              <a:defRPr>
                <a:latin typeface="Open Sans"/>
              </a:defRPr>
            </a:lvl4pPr>
            <a:lvl5pPr>
              <a:defRPr>
                <a:latin typeface="Open San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Tree>
    <p:extLst>
      <p:ext uri="{BB962C8B-B14F-4D97-AF65-F5344CB8AC3E}">
        <p14:creationId xmlns:p14="http://schemas.microsoft.com/office/powerpoint/2010/main" val="2352864156"/>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 id="2147483689" r:id="rId24"/>
    <p:sldLayoutId id="2147483690" r:id="rId25"/>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hyperlink" Target="https://geobrava.wordpress.com/2014/11/page/4/" TargetMode="External"/><Relationship Id="rId2" Type="http://schemas.openxmlformats.org/officeDocument/2006/relationships/image" Target="../media/image22.jpg"/><Relationship Id="rId1" Type="http://schemas.openxmlformats.org/officeDocument/2006/relationships/slideLayout" Target="../slideLayouts/slideLayout15.xml"/><Relationship Id="rId4" Type="http://schemas.openxmlformats.org/officeDocument/2006/relationships/hyperlink" Target="https://creativecommons.org/licenses/by-sa/3.0/"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geobrava.wordpress.com/2014/11/page/4/" TargetMode="External"/><Relationship Id="rId2" Type="http://schemas.openxmlformats.org/officeDocument/2006/relationships/image" Target="../media/image22.jpg"/><Relationship Id="rId1" Type="http://schemas.openxmlformats.org/officeDocument/2006/relationships/slideLayout" Target="../slideLayouts/slideLayout15.xml"/><Relationship Id="rId4" Type="http://schemas.openxmlformats.org/officeDocument/2006/relationships/hyperlink" Target="https://creativecommons.org/licenses/by-sa/3.0/"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ibm.com/quantum-computing/"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microsoft.com/en-us/quantum/development-kit"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hyperlink" Target="https://aws.amazon.com/ai/machine-learning/"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a:xfrm>
            <a:off x="1206498" y="6428534"/>
            <a:ext cx="21971004" cy="3917819"/>
          </a:xfrm>
        </p:spPr>
        <p:txBody>
          <a:bodyPr>
            <a:normAutofit/>
          </a:bodyPr>
          <a:lstStyle/>
          <a:p>
            <a:r>
              <a:rPr lang="en-US" dirty="0"/>
              <a:t>Emerging Clouds</a:t>
            </a:r>
            <a:br>
              <a:rPr lang="en-US" dirty="0"/>
            </a:br>
            <a:br>
              <a:rPr lang="en-US" dirty="0"/>
            </a:br>
            <a:r>
              <a:rPr lang="en-US" sz="6000" dirty="0"/>
              <a:t>Session 13</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D6825 - Samuel Philip</a:t>
            </a:r>
          </a:p>
        </p:txBody>
      </p:sp>
      <p:sp>
        <p:nvSpPr>
          <p:cNvPr id="5" name="Rectangle 7">
            <a:extLst>
              <a:ext uri="{FF2B5EF4-FFF2-40B4-BE49-F238E27FC236}">
                <a16:creationId xmlns:a16="http://schemas.microsoft.com/office/drawing/2014/main" id="{D93D5A33-4AE1-DFDD-5778-A52549DBFAFF}"/>
              </a:ext>
            </a:extLst>
          </p:cNvPr>
          <p:cNvSpPr>
            <a:spLocks noChangeArrowheads="1"/>
          </p:cNvSpPr>
          <p:nvPr/>
        </p:nvSpPr>
        <p:spPr bwMode="auto">
          <a:xfrm>
            <a:off x="1850571" y="3352800"/>
            <a:ext cx="20748172" cy="1870076"/>
          </a:xfrm>
          <a:prstGeom prst="rect">
            <a:avLst/>
          </a:prstGeom>
          <a:noFill/>
          <a:ln w="9525">
            <a:noFill/>
            <a:miter lim="800000"/>
            <a:headEnd/>
            <a:tailEnd/>
          </a:ln>
        </p:spPr>
        <p:txBody>
          <a:bodyPr/>
          <a:lstStyle/>
          <a:p>
            <a:pPr>
              <a:spcBef>
                <a:spcPct val="20000"/>
              </a:spcBef>
              <a:tabLst>
                <a:tab pos="2641600" algn="l"/>
                <a:tab pos="4108450" algn="l"/>
              </a:tabLst>
            </a:pPr>
            <a:r>
              <a:rPr lang="en-US" sz="4000" dirty="0">
                <a:solidFill>
                  <a:schemeClr val="bg1"/>
                </a:solidFill>
                <a:latin typeface="Tahoma" panose="020B0604030504040204" pitchFamily="34" charset="0"/>
                <a:ea typeface="Tahoma" panose="020B0604030504040204" pitchFamily="34" charset="0"/>
                <a:cs typeface="Tahoma" panose="020B0604030504040204" pitchFamily="34" charset="0"/>
              </a:rPr>
              <a:t>Course		: COSC6100001 - Cloud Infrastructure</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3F1C-0D61-4D2A-AE66-A44AB8F933D7}"/>
              </a:ext>
            </a:extLst>
          </p:cNvPr>
          <p:cNvSpPr>
            <a:spLocks noGrp="1"/>
          </p:cNvSpPr>
          <p:nvPr>
            <p:ph type="title"/>
          </p:nvPr>
        </p:nvSpPr>
        <p:spPr/>
        <p:txBody>
          <a:bodyPr>
            <a:normAutofit fontScale="90000"/>
          </a:bodyPr>
          <a:lstStyle/>
          <a:p>
            <a:r>
              <a:rPr lang="en-ID" dirty="0"/>
              <a:t>Learning outcomes</a:t>
            </a:r>
          </a:p>
        </p:txBody>
      </p:sp>
      <p:sp>
        <p:nvSpPr>
          <p:cNvPr id="4" name="Text Placeholder 3">
            <a:extLst>
              <a:ext uri="{FF2B5EF4-FFF2-40B4-BE49-F238E27FC236}">
                <a16:creationId xmlns:a16="http://schemas.microsoft.com/office/drawing/2014/main" id="{19B515F5-D54A-2C91-194C-DEE35FCDBF1E}"/>
              </a:ext>
            </a:extLst>
          </p:cNvPr>
          <p:cNvSpPr>
            <a:spLocks noGrp="1"/>
          </p:cNvSpPr>
          <p:nvPr>
            <p:ph type="body" sz="quarter" idx="10"/>
          </p:nvPr>
        </p:nvSpPr>
        <p:spPr/>
        <p:txBody>
          <a:bodyPr/>
          <a:lstStyle/>
          <a:p>
            <a:endParaRPr lang="en-US"/>
          </a:p>
        </p:txBody>
      </p:sp>
      <p:sp>
        <p:nvSpPr>
          <p:cNvPr id="3" name="Content Placeholder 2">
            <a:extLst>
              <a:ext uri="{FF2B5EF4-FFF2-40B4-BE49-F238E27FC236}">
                <a16:creationId xmlns:a16="http://schemas.microsoft.com/office/drawing/2014/main" id="{32603A01-370D-40D0-943E-E2F4C055BA40}"/>
              </a:ext>
            </a:extLst>
          </p:cNvPr>
          <p:cNvSpPr>
            <a:spLocks noGrp="1"/>
          </p:cNvSpPr>
          <p:nvPr>
            <p:ph sz="quarter" idx="11"/>
          </p:nvPr>
        </p:nvSpPr>
        <p:spPr>
          <a:xfrm>
            <a:off x="2167377" y="3260663"/>
            <a:ext cx="13714940" cy="4522264"/>
          </a:xfrm>
        </p:spPr>
        <p:txBody>
          <a:bodyPr>
            <a:normAutofit fontScale="85000" lnSpcReduction="10000"/>
          </a:bodyPr>
          <a:lstStyle/>
          <a:p>
            <a:endParaRPr lang="en-US" dirty="0"/>
          </a:p>
          <a:p>
            <a:r>
              <a:rPr lang="en-US" dirty="0"/>
              <a:t>(C4) Analysis : identify problems that can be solved using cloud global infrastructure</a:t>
            </a:r>
          </a:p>
          <a:p>
            <a:r>
              <a:rPr lang="en-US" dirty="0"/>
              <a:t>(C2) Comprehension : group Classify real-worlds problems in accordance with cloud computing infrastructure</a:t>
            </a:r>
          </a:p>
          <a:p>
            <a:r>
              <a:rPr lang="en-US" dirty="0"/>
              <a:t>(C4) Analysis : analyze identifying problems and choose proper Cloud Services and Cloud Infrastructure</a:t>
            </a:r>
          </a:p>
          <a:p>
            <a:r>
              <a:rPr lang="en-US" dirty="0"/>
              <a:t>(C5) Synthesis : design Cloud computing architecture and infrastructure and implementation on applications</a:t>
            </a:r>
          </a:p>
        </p:txBody>
      </p:sp>
    </p:spTree>
    <p:extLst>
      <p:ext uri="{BB962C8B-B14F-4D97-AF65-F5344CB8AC3E}">
        <p14:creationId xmlns:p14="http://schemas.microsoft.com/office/powerpoint/2010/main" val="109501583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EE7E-7D6D-1075-C43E-31110FFB87EF}"/>
              </a:ext>
            </a:extLst>
          </p:cNvPr>
          <p:cNvSpPr>
            <a:spLocks noGrp="1"/>
          </p:cNvSpPr>
          <p:nvPr>
            <p:ph type="title"/>
          </p:nvPr>
        </p:nvSpPr>
        <p:spPr/>
        <p:txBody>
          <a:bodyPr>
            <a:normAutofit fontScale="90000"/>
          </a:bodyPr>
          <a:lstStyle/>
          <a:p>
            <a:r>
              <a:rPr lang="en-US" dirty="0"/>
              <a:t>Outline</a:t>
            </a:r>
          </a:p>
        </p:txBody>
      </p:sp>
      <p:sp>
        <p:nvSpPr>
          <p:cNvPr id="5" name="Text Placeholder 4">
            <a:extLst>
              <a:ext uri="{FF2B5EF4-FFF2-40B4-BE49-F238E27FC236}">
                <a16:creationId xmlns:a16="http://schemas.microsoft.com/office/drawing/2014/main" id="{45F26CDD-3EFB-2B8E-0F76-60A23F660E6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820D9012-F4DE-DB8A-ABB7-846D54F87075}"/>
              </a:ext>
            </a:extLst>
          </p:cNvPr>
          <p:cNvSpPr>
            <a:spLocks noGrp="1"/>
          </p:cNvSpPr>
          <p:nvPr>
            <p:ph sz="quarter" idx="11"/>
          </p:nvPr>
        </p:nvSpPr>
        <p:spPr>
          <a:xfrm>
            <a:off x="2167377" y="3260663"/>
            <a:ext cx="13714940" cy="4522264"/>
          </a:xfrm>
        </p:spPr>
        <p:txBody>
          <a:bodyPr>
            <a:noAutofit/>
          </a:bodyPr>
          <a:lstStyle/>
          <a:p>
            <a:pPr marL="457200" indent="-457200" algn="just">
              <a:lnSpc>
                <a:spcPct val="150000"/>
              </a:lnSpc>
              <a:buFont typeface="+mj-lt"/>
              <a:buAutoNum type="arabicPeriod"/>
              <a:defRPr/>
            </a:pPr>
            <a:r>
              <a:rPr lang="en-US" sz="3200" dirty="0">
                <a:latin typeface="Tahoma" panose="020B0604030504040204" pitchFamily="34" charset="0"/>
                <a:ea typeface="Tahoma" panose="020B0604030504040204" pitchFamily="34" charset="0"/>
                <a:cs typeface="Tahoma" panose="020B0604030504040204" pitchFamily="34" charset="0"/>
              </a:rPr>
              <a:t>A Short-term Forecast</a:t>
            </a:r>
          </a:p>
          <a:p>
            <a:pPr marL="457200" indent="-457200" algn="just">
              <a:lnSpc>
                <a:spcPct val="150000"/>
              </a:lnSpc>
              <a:buFont typeface="+mj-lt"/>
              <a:buAutoNum type="arabicPeriod"/>
              <a:defRPr/>
            </a:pPr>
            <a:r>
              <a:rPr lang="en-US" sz="3200" dirty="0">
                <a:latin typeface="Tahoma" panose="020B0604030504040204" pitchFamily="34" charset="0"/>
                <a:ea typeface="Tahoma" panose="020B0604030504040204" pitchFamily="34" charset="0"/>
                <a:cs typeface="Tahoma" panose="020B0604030504040204" pitchFamily="34" charset="0"/>
              </a:rPr>
              <a:t>Machine Learning on Clouds</a:t>
            </a:r>
          </a:p>
          <a:p>
            <a:pPr marL="457200" indent="-457200" algn="just">
              <a:lnSpc>
                <a:spcPct val="150000"/>
              </a:lnSpc>
              <a:buFont typeface="+mj-lt"/>
              <a:buAutoNum type="arabicPeriod"/>
              <a:defRPr/>
            </a:pPr>
            <a:r>
              <a:rPr lang="en-US" sz="3200" dirty="0">
                <a:latin typeface="Tahoma" panose="020B0604030504040204" pitchFamily="34" charset="0"/>
                <a:ea typeface="Tahoma" panose="020B0604030504040204" pitchFamily="34" charset="0"/>
                <a:cs typeface="Tahoma" panose="020B0604030504040204" pitchFamily="34" charset="0"/>
              </a:rPr>
              <a:t>Quantum Computing on Clouds</a:t>
            </a:r>
          </a:p>
          <a:p>
            <a:pPr marL="457200" indent="-457200" algn="just">
              <a:lnSpc>
                <a:spcPct val="150000"/>
              </a:lnSpc>
              <a:buFont typeface="+mj-lt"/>
              <a:buAutoNum type="arabicPeriod"/>
              <a:defRPr/>
            </a:pPr>
            <a:r>
              <a:rPr lang="en-US" sz="3200" dirty="0">
                <a:latin typeface="Tahoma" panose="020B0604030504040204" pitchFamily="34" charset="0"/>
                <a:ea typeface="Tahoma" panose="020B0604030504040204" pitchFamily="34" charset="0"/>
                <a:cs typeface="Tahoma" panose="020B0604030504040204" pitchFamily="34" charset="0"/>
              </a:rPr>
              <a:t>Vehicular Clouds</a:t>
            </a:r>
          </a:p>
        </p:txBody>
      </p:sp>
    </p:spTree>
    <p:extLst>
      <p:ext uri="{BB962C8B-B14F-4D97-AF65-F5344CB8AC3E}">
        <p14:creationId xmlns:p14="http://schemas.microsoft.com/office/powerpoint/2010/main" val="15042760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90EE6CE-77CF-BD33-296D-07E6A9E5E56A}"/>
              </a:ext>
            </a:extLst>
          </p:cNvPr>
          <p:cNvSpPr>
            <a:spLocks noGrp="1"/>
          </p:cNvSpPr>
          <p:nvPr>
            <p:ph type="title"/>
          </p:nvPr>
        </p:nvSpPr>
        <p:spPr/>
        <p:txBody>
          <a:bodyPr/>
          <a:lstStyle/>
          <a:p>
            <a:r>
              <a:rPr lang="en-US" dirty="0"/>
              <a:t>A Short-term Forecast</a:t>
            </a:r>
          </a:p>
        </p:txBody>
      </p:sp>
    </p:spTree>
    <p:extLst>
      <p:ext uri="{BB962C8B-B14F-4D97-AF65-F5344CB8AC3E}">
        <p14:creationId xmlns:p14="http://schemas.microsoft.com/office/powerpoint/2010/main" val="65065730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16E73-A651-97FC-3DE1-CEF65AF1619A}"/>
              </a:ext>
            </a:extLst>
          </p:cNvPr>
          <p:cNvSpPr>
            <a:spLocks noGrp="1"/>
          </p:cNvSpPr>
          <p:nvPr>
            <p:ph type="title"/>
          </p:nvPr>
        </p:nvSpPr>
        <p:spPr>
          <a:xfrm>
            <a:off x="2167377" y="1871164"/>
            <a:ext cx="14715569" cy="511175"/>
          </a:xfrm>
        </p:spPr>
        <p:txBody>
          <a:bodyPr>
            <a:normAutofit/>
          </a:bodyPr>
          <a:lstStyle/>
          <a:p>
            <a:r>
              <a:rPr lang="en-US" sz="3200" dirty="0"/>
              <a:t>A Short-time Forecast</a:t>
            </a:r>
          </a:p>
        </p:txBody>
      </p:sp>
      <p:sp>
        <p:nvSpPr>
          <p:cNvPr id="13" name="Text Placeholder 2">
            <a:extLst>
              <a:ext uri="{FF2B5EF4-FFF2-40B4-BE49-F238E27FC236}">
                <a16:creationId xmlns:a16="http://schemas.microsoft.com/office/drawing/2014/main" id="{F5E5306D-1B4E-9948-9FDA-EB0FC630EBED}"/>
              </a:ext>
            </a:extLst>
          </p:cNvPr>
          <p:cNvSpPr>
            <a:spLocks noGrp="1"/>
          </p:cNvSpPr>
          <p:nvPr>
            <p:ph type="body" sz="quarter" idx="10"/>
          </p:nvPr>
        </p:nvSpPr>
        <p:spPr>
          <a:xfrm>
            <a:off x="2167377" y="2419728"/>
            <a:ext cx="9768875" cy="803546"/>
          </a:xfrm>
        </p:spPr>
        <p:txBody>
          <a:bodyPr/>
          <a:lstStyle/>
          <a:p>
            <a:endParaRPr lang="en-US"/>
          </a:p>
        </p:txBody>
      </p:sp>
      <p:sp>
        <p:nvSpPr>
          <p:cNvPr id="4" name="Content Placeholder 3">
            <a:extLst>
              <a:ext uri="{FF2B5EF4-FFF2-40B4-BE49-F238E27FC236}">
                <a16:creationId xmlns:a16="http://schemas.microsoft.com/office/drawing/2014/main" id="{8D862F95-B0B7-A38E-BEF3-68DCC85BA8BE}"/>
              </a:ext>
            </a:extLst>
          </p:cNvPr>
          <p:cNvSpPr>
            <a:spLocks noGrp="1"/>
          </p:cNvSpPr>
          <p:nvPr>
            <p:ph type="body" sz="quarter" idx="16"/>
          </p:nvPr>
        </p:nvSpPr>
        <p:spPr>
          <a:xfrm>
            <a:off x="2167377" y="6556917"/>
            <a:ext cx="9768906" cy="5575610"/>
          </a:xfrm>
        </p:spPr>
        <p:txBody>
          <a:bodyPr>
            <a:normAutofit/>
          </a:bodyPr>
          <a:lstStyle/>
          <a:p>
            <a:pPr algn="just"/>
            <a:r>
              <a:rPr lang="en-US" dirty="0"/>
              <a:t>The physical infrastructure consisting of servers with different architecture and performance is constantly updated as solid-state technologies and processor architecture evolve. </a:t>
            </a:r>
          </a:p>
          <a:p>
            <a:pPr algn="just"/>
            <a:r>
              <a:rPr lang="en-US" dirty="0"/>
              <a:t>New software orchestrating a coherent system view is developed every month, and the depth of the software stack is continually increasing. If cloud computing is to continue to be successful, it is very likely that new applications will emerge. </a:t>
            </a:r>
          </a:p>
        </p:txBody>
      </p:sp>
      <p:pic>
        <p:nvPicPr>
          <p:cNvPr id="8" name="Picture Placeholder 7">
            <a:extLst>
              <a:ext uri="{FF2B5EF4-FFF2-40B4-BE49-F238E27FC236}">
                <a16:creationId xmlns:a16="http://schemas.microsoft.com/office/drawing/2014/main" id="{7EAC2156-D447-9681-1EF2-28993E1947D0}"/>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6952" r="6952"/>
          <a:stretch/>
        </p:blipFill>
        <p:spPr>
          <a:xfrm>
            <a:off x="12339930" y="4210629"/>
            <a:ext cx="9099057" cy="7921898"/>
          </a:xfrm>
          <a:prstGeom prst="rect">
            <a:avLst/>
          </a:prstGeom>
          <a:noFill/>
        </p:spPr>
      </p:pic>
      <p:sp>
        <p:nvSpPr>
          <p:cNvPr id="7" name="Text Placeholder 6">
            <a:extLst>
              <a:ext uri="{FF2B5EF4-FFF2-40B4-BE49-F238E27FC236}">
                <a16:creationId xmlns:a16="http://schemas.microsoft.com/office/drawing/2014/main" id="{412CE686-AEC3-7655-DFFC-844C8109D714}"/>
              </a:ext>
            </a:extLst>
          </p:cNvPr>
          <p:cNvSpPr>
            <a:spLocks noGrp="1"/>
          </p:cNvSpPr>
          <p:nvPr>
            <p:ph type="body" sz="quarter" idx="17"/>
          </p:nvPr>
        </p:nvSpPr>
        <p:spPr>
          <a:xfrm>
            <a:off x="2166938" y="4210049"/>
            <a:ext cx="9768874" cy="2039112"/>
          </a:xfrm>
        </p:spPr>
        <p:txBody>
          <a:bodyPr>
            <a:normAutofit/>
          </a:bodyPr>
          <a:lstStyle/>
          <a:p>
            <a:pPr algn="just"/>
            <a:r>
              <a:rPr lang="en-US" sz="2800" dirty="0"/>
              <a:t>Variability and conflicting requirements are disruptive qualities of cloud computing demanding new thinking in system design. </a:t>
            </a:r>
          </a:p>
        </p:txBody>
      </p:sp>
      <p:sp>
        <p:nvSpPr>
          <p:cNvPr id="3" name="TextBox 2">
            <a:extLst>
              <a:ext uri="{FF2B5EF4-FFF2-40B4-BE49-F238E27FC236}">
                <a16:creationId xmlns:a16="http://schemas.microsoft.com/office/drawing/2014/main" id="{6A8E33A6-C993-24D7-337F-D5B372997D70}"/>
              </a:ext>
            </a:extLst>
          </p:cNvPr>
          <p:cNvSpPr txBox="1"/>
          <p:nvPr/>
        </p:nvSpPr>
        <p:spPr>
          <a:xfrm>
            <a:off x="12339930" y="12132527"/>
            <a:ext cx="9099057"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900">
                <a:hlinkClick r:id="rId3" tooltip="https://geobrava.wordpress.com/2014/11/page/4/"/>
              </a:rPr>
              <a:t>This Photo</a:t>
            </a:r>
            <a:r>
              <a:rPr lang="en-US" sz="900"/>
              <a:t> by Unknown Author is licensed under </a:t>
            </a:r>
            <a:r>
              <a:rPr lang="en-US" sz="900">
                <a:hlinkClick r:id="rId4" tooltip="https://creativecommons.org/licenses/by-sa/3.0/"/>
              </a:rPr>
              <a:t>CC BY-SA</a:t>
            </a:r>
            <a:endParaRPr lang="en-US" sz="900"/>
          </a:p>
        </p:txBody>
      </p:sp>
    </p:spTree>
    <p:extLst>
      <p:ext uri="{BB962C8B-B14F-4D97-AF65-F5344CB8AC3E}">
        <p14:creationId xmlns:p14="http://schemas.microsoft.com/office/powerpoint/2010/main" val="76629525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2636-4235-B2B9-8718-BF0478ACF4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35C2B9-50EE-C13B-6D85-2AB5F95F4806}"/>
              </a:ext>
            </a:extLst>
          </p:cNvPr>
          <p:cNvSpPr>
            <a:spLocks noGrp="1"/>
          </p:cNvSpPr>
          <p:nvPr>
            <p:ph type="title"/>
          </p:nvPr>
        </p:nvSpPr>
        <p:spPr>
          <a:xfrm>
            <a:off x="2167377" y="1871164"/>
            <a:ext cx="14715569" cy="511175"/>
          </a:xfrm>
        </p:spPr>
        <p:txBody>
          <a:bodyPr>
            <a:normAutofit/>
          </a:bodyPr>
          <a:lstStyle/>
          <a:p>
            <a:r>
              <a:rPr lang="en-US" sz="3200" dirty="0"/>
              <a:t>A Short-time Forecast</a:t>
            </a:r>
          </a:p>
        </p:txBody>
      </p:sp>
      <p:sp>
        <p:nvSpPr>
          <p:cNvPr id="13" name="Text Placeholder 2">
            <a:extLst>
              <a:ext uri="{FF2B5EF4-FFF2-40B4-BE49-F238E27FC236}">
                <a16:creationId xmlns:a16="http://schemas.microsoft.com/office/drawing/2014/main" id="{29D09570-B7A1-7B41-2992-56B9F4301937}"/>
              </a:ext>
            </a:extLst>
          </p:cNvPr>
          <p:cNvSpPr>
            <a:spLocks noGrp="1"/>
          </p:cNvSpPr>
          <p:nvPr>
            <p:ph type="body" sz="quarter" idx="10"/>
          </p:nvPr>
        </p:nvSpPr>
        <p:spPr>
          <a:xfrm>
            <a:off x="2167377" y="2419728"/>
            <a:ext cx="9768875" cy="803546"/>
          </a:xfrm>
        </p:spPr>
        <p:txBody>
          <a:bodyPr/>
          <a:lstStyle/>
          <a:p>
            <a:endParaRPr lang="en-US"/>
          </a:p>
        </p:txBody>
      </p:sp>
      <p:sp>
        <p:nvSpPr>
          <p:cNvPr id="4" name="Content Placeholder 3">
            <a:extLst>
              <a:ext uri="{FF2B5EF4-FFF2-40B4-BE49-F238E27FC236}">
                <a16:creationId xmlns:a16="http://schemas.microsoft.com/office/drawing/2014/main" id="{F10CBD41-5612-F4F7-50FF-44883084FD14}"/>
              </a:ext>
            </a:extLst>
          </p:cNvPr>
          <p:cNvSpPr>
            <a:spLocks noGrp="1"/>
          </p:cNvSpPr>
          <p:nvPr>
            <p:ph type="body" sz="quarter" idx="16"/>
          </p:nvPr>
        </p:nvSpPr>
        <p:spPr>
          <a:xfrm>
            <a:off x="2167377" y="6556917"/>
            <a:ext cx="9768906" cy="5575610"/>
          </a:xfrm>
        </p:spPr>
        <p:txBody>
          <a:bodyPr>
            <a:normAutofit fontScale="92500" lnSpcReduction="10000"/>
          </a:bodyPr>
          <a:lstStyle/>
          <a:p>
            <a:pPr algn="just"/>
            <a:r>
              <a:rPr lang="en-US" dirty="0"/>
              <a:t>For example, resource sharing is a basic design principle, yet strict performance and security isolation of cloud application are also critical. </a:t>
            </a:r>
          </a:p>
          <a:p>
            <a:pPr algn="just"/>
            <a:r>
              <a:rPr lang="en-US" dirty="0"/>
              <a:t>To deliver cheap computing cycles, the cloud infrastructure should maximize resource utilization, while sufficient resources should be kept in reserve to respond to large workload spikes. </a:t>
            </a:r>
          </a:p>
          <a:p>
            <a:pPr algn="just"/>
            <a:r>
              <a:rPr lang="en-US" dirty="0"/>
              <a:t>The system as a whole should present itself as flawless and extremely reliable though the failure rate of cheap, off-the-shelf hardware components can be fairly high. </a:t>
            </a:r>
          </a:p>
          <a:p>
            <a:pPr algn="just"/>
            <a:r>
              <a:rPr lang="en-US" dirty="0"/>
              <a:t>Performance guarantees should be provided, while a mix of workloads with very different requirements will continue to dynamically share system resources.</a:t>
            </a:r>
          </a:p>
        </p:txBody>
      </p:sp>
      <p:pic>
        <p:nvPicPr>
          <p:cNvPr id="8" name="Picture Placeholder 7">
            <a:extLst>
              <a:ext uri="{FF2B5EF4-FFF2-40B4-BE49-F238E27FC236}">
                <a16:creationId xmlns:a16="http://schemas.microsoft.com/office/drawing/2014/main" id="{4AD0A534-3F1F-C6BA-8C08-155898A8D00E}"/>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6952" r="6952"/>
          <a:stretch/>
        </p:blipFill>
        <p:spPr>
          <a:xfrm>
            <a:off x="12339930" y="4210629"/>
            <a:ext cx="9099057" cy="7921898"/>
          </a:xfrm>
          <a:prstGeom prst="rect">
            <a:avLst/>
          </a:prstGeom>
          <a:noFill/>
        </p:spPr>
      </p:pic>
      <p:sp>
        <p:nvSpPr>
          <p:cNvPr id="7" name="Text Placeholder 6">
            <a:extLst>
              <a:ext uri="{FF2B5EF4-FFF2-40B4-BE49-F238E27FC236}">
                <a16:creationId xmlns:a16="http://schemas.microsoft.com/office/drawing/2014/main" id="{4A5073F4-E5EA-785D-7116-7FBC016FF5B2}"/>
              </a:ext>
            </a:extLst>
          </p:cNvPr>
          <p:cNvSpPr>
            <a:spLocks noGrp="1"/>
          </p:cNvSpPr>
          <p:nvPr>
            <p:ph type="body" sz="quarter" idx="17"/>
          </p:nvPr>
        </p:nvSpPr>
        <p:spPr>
          <a:xfrm>
            <a:off x="2166938" y="4210049"/>
            <a:ext cx="9768874" cy="2039112"/>
          </a:xfrm>
        </p:spPr>
        <p:txBody>
          <a:bodyPr>
            <a:normAutofit/>
          </a:bodyPr>
          <a:lstStyle/>
          <a:p>
            <a:pPr algn="just"/>
            <a:r>
              <a:rPr lang="en-US" sz="2800" dirty="0"/>
              <a:t>Many contradictory requirements in the design of computer clouds have to be carefully balanced. </a:t>
            </a:r>
          </a:p>
        </p:txBody>
      </p:sp>
      <p:sp>
        <p:nvSpPr>
          <p:cNvPr id="3" name="TextBox 2">
            <a:extLst>
              <a:ext uri="{FF2B5EF4-FFF2-40B4-BE49-F238E27FC236}">
                <a16:creationId xmlns:a16="http://schemas.microsoft.com/office/drawing/2014/main" id="{A6263B9C-B139-9FC3-5E92-19C9176FA6CF}"/>
              </a:ext>
            </a:extLst>
          </p:cNvPr>
          <p:cNvSpPr txBox="1"/>
          <p:nvPr/>
        </p:nvSpPr>
        <p:spPr>
          <a:xfrm>
            <a:off x="12339930" y="12132527"/>
            <a:ext cx="9099057"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900">
                <a:hlinkClick r:id="rId3" tooltip="https://geobrava.wordpress.com/2014/11/page/4/"/>
              </a:rPr>
              <a:t>This Photo</a:t>
            </a:r>
            <a:r>
              <a:rPr lang="en-US" sz="900"/>
              <a:t> by Unknown Author is licensed under </a:t>
            </a:r>
            <a:r>
              <a:rPr lang="en-US" sz="900">
                <a:hlinkClick r:id="rId4" tooltip="https://creativecommons.org/licenses/by-sa/3.0/"/>
              </a:rPr>
              <a:t>CC BY-SA</a:t>
            </a:r>
            <a:endParaRPr lang="en-US" sz="900"/>
          </a:p>
        </p:txBody>
      </p:sp>
    </p:spTree>
    <p:extLst>
      <p:ext uri="{BB962C8B-B14F-4D97-AF65-F5344CB8AC3E}">
        <p14:creationId xmlns:p14="http://schemas.microsoft.com/office/powerpoint/2010/main" val="37778404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1BB32-2D41-33DA-9CF9-CDF088EEBA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B2D9E4-AE2D-166D-1797-EA658886593A}"/>
              </a:ext>
            </a:extLst>
          </p:cNvPr>
          <p:cNvSpPr>
            <a:spLocks noGrp="1"/>
          </p:cNvSpPr>
          <p:nvPr>
            <p:ph type="title"/>
          </p:nvPr>
        </p:nvSpPr>
        <p:spPr/>
        <p:txBody>
          <a:bodyPr>
            <a:normAutofit/>
          </a:bodyPr>
          <a:lstStyle/>
          <a:p>
            <a:r>
              <a:rPr lang="en-US" sz="3200" dirty="0"/>
              <a:t>A Short-time Forecast</a:t>
            </a:r>
          </a:p>
        </p:txBody>
      </p:sp>
      <p:sp>
        <p:nvSpPr>
          <p:cNvPr id="4" name="Content Placeholder 3">
            <a:extLst>
              <a:ext uri="{FF2B5EF4-FFF2-40B4-BE49-F238E27FC236}">
                <a16:creationId xmlns:a16="http://schemas.microsoft.com/office/drawing/2014/main" id="{54822C98-C862-1317-637B-37AECE1799D8}"/>
              </a:ext>
            </a:extLst>
          </p:cNvPr>
          <p:cNvSpPr>
            <a:spLocks noGrp="1"/>
          </p:cNvSpPr>
          <p:nvPr>
            <p:ph type="body" sz="quarter" idx="10"/>
          </p:nvPr>
        </p:nvSpPr>
        <p:spPr/>
        <p:txBody>
          <a:bodyPr>
            <a:normAutofit/>
          </a:bodyPr>
          <a:lstStyle/>
          <a:p>
            <a:pPr algn="just"/>
            <a:endParaRPr lang="en-US" dirty="0"/>
          </a:p>
        </p:txBody>
      </p:sp>
      <p:sp>
        <p:nvSpPr>
          <p:cNvPr id="9" name="Content Placeholder 8">
            <a:extLst>
              <a:ext uri="{FF2B5EF4-FFF2-40B4-BE49-F238E27FC236}">
                <a16:creationId xmlns:a16="http://schemas.microsoft.com/office/drawing/2014/main" id="{88C1C264-4693-4E43-BCEA-752661EE2F1D}"/>
              </a:ext>
            </a:extLst>
          </p:cNvPr>
          <p:cNvSpPr>
            <a:spLocks noGrp="1"/>
          </p:cNvSpPr>
          <p:nvPr>
            <p:ph sz="quarter" idx="11"/>
          </p:nvPr>
        </p:nvSpPr>
        <p:spPr/>
        <p:txBody>
          <a:bodyPr/>
          <a:lstStyle/>
          <a:p>
            <a:pPr algn="just"/>
            <a:r>
              <a:rPr lang="en-US" dirty="0"/>
              <a:t>In the last few years CSPs realized why cloud users are clamoring for heterogeneity. As a result, today's clouds have multiple types of processors and co-processors, e.g., GPUs and TPUs and clouds use solid-state disks for real-time applications.</a:t>
            </a:r>
          </a:p>
          <a:p>
            <a:pPr algn="just"/>
            <a:r>
              <a:rPr lang="en-US" dirty="0"/>
              <a:t>Cloud computing will continue to have a profound influence on the very large number of individuals and institutions who are now empowered to process huge amounts of data.</a:t>
            </a:r>
          </a:p>
          <a:p>
            <a:endParaRPr lang="en-US" dirty="0"/>
          </a:p>
        </p:txBody>
      </p:sp>
    </p:spTree>
    <p:extLst>
      <p:ext uri="{BB962C8B-B14F-4D97-AF65-F5344CB8AC3E}">
        <p14:creationId xmlns:p14="http://schemas.microsoft.com/office/powerpoint/2010/main" val="201270511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5E289-03FF-C267-28AC-24C7332D39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473AF29-8D0A-A2A1-55EF-C0AF06DC1882}"/>
              </a:ext>
            </a:extLst>
          </p:cNvPr>
          <p:cNvSpPr>
            <a:spLocks noGrp="1"/>
          </p:cNvSpPr>
          <p:nvPr>
            <p:ph type="title"/>
          </p:nvPr>
        </p:nvSpPr>
        <p:spPr/>
        <p:txBody>
          <a:bodyPr/>
          <a:lstStyle/>
          <a:p>
            <a:r>
              <a:rPr lang="en-US" dirty="0"/>
              <a:t>Machine Learning on Clouds</a:t>
            </a:r>
          </a:p>
        </p:txBody>
      </p:sp>
    </p:spTree>
    <p:extLst>
      <p:ext uri="{BB962C8B-B14F-4D97-AF65-F5344CB8AC3E}">
        <p14:creationId xmlns:p14="http://schemas.microsoft.com/office/powerpoint/2010/main" val="121542066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FA892-912D-4B39-5899-30D18D35D4D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698F23F-DC3E-98D5-2F62-0E03BA1D7C6D}"/>
              </a:ext>
            </a:extLst>
          </p:cNvPr>
          <p:cNvSpPr>
            <a:spLocks noGrp="1"/>
          </p:cNvSpPr>
          <p:nvPr>
            <p:ph type="title"/>
          </p:nvPr>
        </p:nvSpPr>
        <p:spPr>
          <a:xfrm>
            <a:off x="2167377" y="1871164"/>
            <a:ext cx="14715569" cy="511175"/>
          </a:xfrm>
        </p:spPr>
        <p:txBody>
          <a:bodyPr>
            <a:normAutofit/>
          </a:bodyPr>
          <a:lstStyle/>
          <a:p>
            <a:r>
              <a:rPr lang="en-US" sz="3200" dirty="0" err="1"/>
              <a:t>Ml</a:t>
            </a:r>
            <a:r>
              <a:rPr lang="en-US" sz="3200" dirty="0"/>
              <a:t> on cloud</a:t>
            </a:r>
          </a:p>
        </p:txBody>
      </p:sp>
      <p:sp>
        <p:nvSpPr>
          <p:cNvPr id="13" name="Text Placeholder 2">
            <a:extLst>
              <a:ext uri="{FF2B5EF4-FFF2-40B4-BE49-F238E27FC236}">
                <a16:creationId xmlns:a16="http://schemas.microsoft.com/office/drawing/2014/main" id="{FCBDDEE3-35E3-0589-CDA2-F3747AD9E7AB}"/>
              </a:ext>
            </a:extLst>
          </p:cNvPr>
          <p:cNvSpPr>
            <a:spLocks noGrp="1"/>
          </p:cNvSpPr>
          <p:nvPr>
            <p:ph type="body" sz="quarter" idx="10"/>
          </p:nvPr>
        </p:nvSpPr>
        <p:spPr>
          <a:xfrm>
            <a:off x="2167377" y="2419728"/>
            <a:ext cx="9768875" cy="803546"/>
          </a:xfrm>
        </p:spPr>
        <p:txBody>
          <a:bodyPr/>
          <a:lstStyle/>
          <a:p>
            <a:r>
              <a:rPr lang="en-US" dirty="0"/>
              <a:t>AWS Clouds ML Services</a:t>
            </a:r>
          </a:p>
        </p:txBody>
      </p:sp>
      <p:sp>
        <p:nvSpPr>
          <p:cNvPr id="15" name="Text Placeholder 3">
            <a:extLst>
              <a:ext uri="{FF2B5EF4-FFF2-40B4-BE49-F238E27FC236}">
                <a16:creationId xmlns:a16="http://schemas.microsoft.com/office/drawing/2014/main" id="{EAACC3D1-25B4-1E82-DF92-0B8444B5035B}"/>
              </a:ext>
            </a:extLst>
          </p:cNvPr>
          <p:cNvSpPr>
            <a:spLocks noGrp="1"/>
          </p:cNvSpPr>
          <p:nvPr>
            <p:ph type="body" sz="quarter" idx="16"/>
          </p:nvPr>
        </p:nvSpPr>
        <p:spPr>
          <a:xfrm>
            <a:off x="2167377" y="6556917"/>
            <a:ext cx="9768906" cy="5575610"/>
          </a:xfrm>
        </p:spPr>
        <p:txBody>
          <a:bodyPr/>
          <a:lstStyle/>
          <a:p>
            <a:r>
              <a:rPr lang="en-US" dirty="0"/>
              <a:t>Cloud provider like AWS offers some ML as their services, e.g.</a:t>
            </a:r>
          </a:p>
          <a:p>
            <a:pPr algn="just"/>
            <a:r>
              <a:rPr lang="en-US" b="1" dirty="0"/>
              <a:t>SageMaker</a:t>
            </a:r>
            <a:r>
              <a:rPr lang="en-US" dirty="0"/>
              <a:t> is a fully managed service that facilitates building, training, and deploying machine learning (ML) models. </a:t>
            </a:r>
          </a:p>
          <a:p>
            <a:pPr algn="just"/>
            <a:r>
              <a:rPr lang="en-US" b="1" dirty="0"/>
              <a:t>SageMaker Ground Truth </a:t>
            </a:r>
            <a:r>
              <a:rPr lang="en-US" dirty="0"/>
              <a:t>helps improve the quality of labels through annotation consolidation and audit workflows. </a:t>
            </a:r>
          </a:p>
          <a:p>
            <a:pPr algn="just"/>
            <a:r>
              <a:rPr lang="en-US" b="1" dirty="0"/>
              <a:t>Kendra</a:t>
            </a:r>
            <a:r>
              <a:rPr lang="en-US" dirty="0"/>
              <a:t> is an enterprise search service powered by machine learning. </a:t>
            </a:r>
          </a:p>
          <a:p>
            <a:pPr algn="just"/>
            <a:r>
              <a:rPr lang="en-US" b="1" dirty="0"/>
              <a:t>Forecast</a:t>
            </a:r>
            <a:r>
              <a:rPr lang="en-US" dirty="0"/>
              <a:t> uses machine learning to automatically discover how time series data and variables, such as product features and store locations, affect each other. </a:t>
            </a:r>
          </a:p>
          <a:p>
            <a:endParaRPr lang="en-US" dirty="0"/>
          </a:p>
        </p:txBody>
      </p:sp>
      <p:sp>
        <p:nvSpPr>
          <p:cNvPr id="17" name="Text Placeholder 5">
            <a:extLst>
              <a:ext uri="{FF2B5EF4-FFF2-40B4-BE49-F238E27FC236}">
                <a16:creationId xmlns:a16="http://schemas.microsoft.com/office/drawing/2014/main" id="{29C05086-4364-581A-D476-425ECD2BE832}"/>
              </a:ext>
            </a:extLst>
          </p:cNvPr>
          <p:cNvSpPr>
            <a:spLocks noGrp="1"/>
          </p:cNvSpPr>
          <p:nvPr>
            <p:ph type="body" sz="quarter" idx="17"/>
          </p:nvPr>
        </p:nvSpPr>
        <p:spPr>
          <a:xfrm>
            <a:off x="2166938" y="4210049"/>
            <a:ext cx="9768874" cy="2039112"/>
          </a:xfrm>
        </p:spPr>
        <p:txBody>
          <a:bodyPr>
            <a:normAutofit fontScale="92500" lnSpcReduction="20000"/>
          </a:bodyPr>
          <a:lstStyle/>
          <a:p>
            <a:r>
              <a:rPr lang="en-US" dirty="0"/>
              <a:t>Machine learning (ML) uses algorithms that learn to discover how to perform a specific task without being explicitly programmed to do so.</a:t>
            </a:r>
          </a:p>
        </p:txBody>
      </p:sp>
      <p:pic>
        <p:nvPicPr>
          <p:cNvPr id="4" name="Picture Placeholder 3">
            <a:extLst>
              <a:ext uri="{FF2B5EF4-FFF2-40B4-BE49-F238E27FC236}">
                <a16:creationId xmlns:a16="http://schemas.microsoft.com/office/drawing/2014/main" id="{6F1DE555-8B6A-E086-C23B-9BBF26AEC3A7}"/>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9295" b="9295"/>
          <a:stretch/>
        </p:blipFill>
        <p:spPr>
          <a:xfrm>
            <a:off x="13227899" y="4210049"/>
            <a:ext cx="9731492" cy="7922478"/>
          </a:xfrm>
          <a:prstGeom prst="rect">
            <a:avLst/>
          </a:prstGeom>
        </p:spPr>
      </p:pic>
    </p:spTree>
    <p:extLst>
      <p:ext uri="{BB962C8B-B14F-4D97-AF65-F5344CB8AC3E}">
        <p14:creationId xmlns:p14="http://schemas.microsoft.com/office/powerpoint/2010/main" val="414131878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0B5B3-5AED-66FE-8690-3B317998788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FF49CB6-597B-D399-C88B-8D3527EEA8BD}"/>
              </a:ext>
            </a:extLst>
          </p:cNvPr>
          <p:cNvSpPr>
            <a:spLocks noGrp="1"/>
          </p:cNvSpPr>
          <p:nvPr>
            <p:ph type="title"/>
          </p:nvPr>
        </p:nvSpPr>
        <p:spPr/>
        <p:txBody>
          <a:bodyPr/>
          <a:lstStyle/>
          <a:p>
            <a:r>
              <a:rPr lang="en-US" dirty="0"/>
              <a:t>Quantum Computing on Clouds</a:t>
            </a:r>
          </a:p>
        </p:txBody>
      </p:sp>
    </p:spTree>
    <p:extLst>
      <p:ext uri="{BB962C8B-B14F-4D97-AF65-F5344CB8AC3E}">
        <p14:creationId xmlns:p14="http://schemas.microsoft.com/office/powerpoint/2010/main" val="275335500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77D3E-27B5-FEC8-B70A-348669D35007}"/>
              </a:ext>
            </a:extLst>
          </p:cNvPr>
          <p:cNvSpPr>
            <a:spLocks noGrp="1"/>
          </p:cNvSpPr>
          <p:nvPr>
            <p:ph type="title"/>
          </p:nvPr>
        </p:nvSpPr>
        <p:spPr/>
        <p:txBody>
          <a:bodyPr>
            <a:normAutofit fontScale="90000"/>
          </a:bodyPr>
          <a:lstStyle/>
          <a:p>
            <a:r>
              <a:rPr lang="en-US" dirty="0"/>
              <a:t>Quantum Theory and Quantum Mechanics</a:t>
            </a:r>
          </a:p>
        </p:txBody>
      </p:sp>
      <p:sp>
        <p:nvSpPr>
          <p:cNvPr id="3" name="Text Placeholder 2">
            <a:extLst>
              <a:ext uri="{FF2B5EF4-FFF2-40B4-BE49-F238E27FC236}">
                <a16:creationId xmlns:a16="http://schemas.microsoft.com/office/drawing/2014/main" id="{91292EEC-A3B9-7F47-D16F-CF4AECCBDCD9}"/>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E05818F9-8848-792B-681A-0D94CB7E5DFD}"/>
              </a:ext>
            </a:extLst>
          </p:cNvPr>
          <p:cNvSpPr>
            <a:spLocks noGrp="1"/>
          </p:cNvSpPr>
          <p:nvPr>
            <p:ph sz="quarter" idx="11"/>
          </p:nvPr>
        </p:nvSpPr>
        <p:spPr/>
        <p:txBody>
          <a:bodyPr>
            <a:normAutofit fontScale="85000" lnSpcReduction="20000"/>
          </a:bodyPr>
          <a:lstStyle/>
          <a:p>
            <a:pPr algn="just"/>
            <a:r>
              <a:rPr lang="en-US" sz="3200" dirty="0"/>
              <a:t>It started in 1900 when Max Plank, professor at the Friedrich-Wilhelms-Universität in Berlin, postulated that electromagnetic energy could be emitted only in quantized form E=h×</a:t>
            </a:r>
            <a:r>
              <a:rPr lang="el-GR" sz="3200" dirty="0"/>
              <a:t>ν, </a:t>
            </a:r>
            <a:r>
              <a:rPr lang="en-US" sz="3200" dirty="0"/>
              <a:t>with h Planck's constant and </a:t>
            </a:r>
            <a:r>
              <a:rPr lang="el-GR" sz="3200" dirty="0"/>
              <a:t>ν </a:t>
            </a:r>
            <a:r>
              <a:rPr lang="en-US" sz="3200" dirty="0"/>
              <a:t>the frequency of the radiation.</a:t>
            </a:r>
          </a:p>
          <a:p>
            <a:pPr algn="just"/>
            <a:r>
              <a:rPr lang="en-US" sz="3200" dirty="0"/>
              <a:t>Albert Einstein's elucidation of the photoelectric effect in 1905 confirmed Plank's hypothesis, and quantum theory was universally accepted. Einstein was rewarded with the 1921 Nobel Prize in Physics. Louis de Broglie developed the theory of electron waves in 1924. </a:t>
            </a:r>
          </a:p>
          <a:p>
            <a:pPr algn="just"/>
            <a:r>
              <a:rPr lang="en-US" sz="3200" dirty="0"/>
              <a:t>The wave-particle duality principle of de Broglie was soon followed by quantum mechanics, which describes the transformation and evolution of quantum systems.</a:t>
            </a:r>
          </a:p>
        </p:txBody>
      </p:sp>
    </p:spTree>
    <p:extLst>
      <p:ext uri="{BB962C8B-B14F-4D97-AF65-F5344CB8AC3E}">
        <p14:creationId xmlns:p14="http://schemas.microsoft.com/office/powerpoint/2010/main" val="2231712805"/>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E871A-C1C5-9C79-D26A-69C12AB4FB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71279C-50C1-36DE-AFCD-CEC7B971227E}"/>
              </a:ext>
            </a:extLst>
          </p:cNvPr>
          <p:cNvSpPr>
            <a:spLocks noGrp="1"/>
          </p:cNvSpPr>
          <p:nvPr>
            <p:ph type="title"/>
          </p:nvPr>
        </p:nvSpPr>
        <p:spPr>
          <a:xfrm>
            <a:off x="2167377" y="1871164"/>
            <a:ext cx="14715569" cy="511175"/>
          </a:xfrm>
        </p:spPr>
        <p:txBody>
          <a:bodyPr>
            <a:normAutofit/>
          </a:bodyPr>
          <a:lstStyle/>
          <a:p>
            <a:r>
              <a:rPr lang="en-US" sz="3200"/>
              <a:t>Quantum information processing</a:t>
            </a:r>
          </a:p>
        </p:txBody>
      </p:sp>
      <p:sp>
        <p:nvSpPr>
          <p:cNvPr id="17" name="Text Placeholder 2">
            <a:extLst>
              <a:ext uri="{FF2B5EF4-FFF2-40B4-BE49-F238E27FC236}">
                <a16:creationId xmlns:a16="http://schemas.microsoft.com/office/drawing/2014/main" id="{06A9BEA4-BD7B-AC79-D0F4-10C34846E7B0}"/>
              </a:ext>
            </a:extLst>
          </p:cNvPr>
          <p:cNvSpPr>
            <a:spLocks noGrp="1"/>
          </p:cNvSpPr>
          <p:nvPr>
            <p:ph type="body" sz="quarter" idx="10"/>
          </p:nvPr>
        </p:nvSpPr>
        <p:spPr>
          <a:xfrm>
            <a:off x="2167377" y="2419728"/>
            <a:ext cx="9768875" cy="803546"/>
          </a:xfrm>
        </p:spPr>
        <p:txBody>
          <a:bodyPr/>
          <a:lstStyle/>
          <a:p>
            <a:endParaRPr lang="en-US"/>
          </a:p>
        </p:txBody>
      </p:sp>
      <p:sp>
        <p:nvSpPr>
          <p:cNvPr id="4" name="Content Placeholder 3">
            <a:extLst>
              <a:ext uri="{FF2B5EF4-FFF2-40B4-BE49-F238E27FC236}">
                <a16:creationId xmlns:a16="http://schemas.microsoft.com/office/drawing/2014/main" id="{30C52733-B2C0-6E24-9E91-C35885D6BDD8}"/>
              </a:ext>
            </a:extLst>
          </p:cNvPr>
          <p:cNvSpPr>
            <a:spLocks noGrp="1"/>
          </p:cNvSpPr>
          <p:nvPr>
            <p:ph type="body" sz="quarter" idx="16"/>
          </p:nvPr>
        </p:nvSpPr>
        <p:spPr>
          <a:xfrm>
            <a:off x="2167377" y="6556917"/>
            <a:ext cx="9768906" cy="5575610"/>
          </a:xfrm>
        </p:spPr>
        <p:txBody>
          <a:bodyPr>
            <a:normAutofit/>
          </a:bodyPr>
          <a:lstStyle/>
          <a:p>
            <a:r>
              <a:rPr lang="en-US"/>
              <a:t>In spite of the tremendous progress in quantum information processing during the past three decades, access to quantum computers is limited and simulation of quantum physical processes can only be done using powerful classical computers, for example simulation of quantum many-body systems on the Amazon cloud.</a:t>
            </a:r>
          </a:p>
        </p:txBody>
      </p:sp>
      <p:pic>
        <p:nvPicPr>
          <p:cNvPr id="18" name="Picture 17">
            <a:extLst>
              <a:ext uri="{FF2B5EF4-FFF2-40B4-BE49-F238E27FC236}">
                <a16:creationId xmlns:a16="http://schemas.microsoft.com/office/drawing/2014/main" id="{9A58F7D3-F796-A903-4068-829633BF72B2}"/>
              </a:ext>
            </a:extLst>
          </p:cNvPr>
          <p:cNvPicPr>
            <a:picLocks noChangeAspect="1"/>
          </p:cNvPicPr>
          <p:nvPr/>
        </p:nvPicPr>
        <p:blipFill>
          <a:blip r:embed="rId2">
            <a:extLst>
              <a:ext uri="{28A0092B-C50C-407E-A947-70E740481C1C}">
                <a14:useLocalDpi xmlns:a14="http://schemas.microsoft.com/office/drawing/2010/main" val="0"/>
              </a:ext>
            </a:extLst>
          </a:blip>
          <a:srcRect l="17696" r="17696"/>
          <a:stretch/>
        </p:blipFill>
        <p:spPr>
          <a:xfrm>
            <a:off x="12333417" y="4210629"/>
            <a:ext cx="9099057" cy="7921898"/>
          </a:xfrm>
          <a:prstGeom prst="rect">
            <a:avLst/>
          </a:prstGeom>
          <a:noFill/>
        </p:spPr>
      </p:pic>
      <p:sp>
        <p:nvSpPr>
          <p:cNvPr id="19" name="Text Placeholder 5">
            <a:extLst>
              <a:ext uri="{FF2B5EF4-FFF2-40B4-BE49-F238E27FC236}">
                <a16:creationId xmlns:a16="http://schemas.microsoft.com/office/drawing/2014/main" id="{A4F58F94-36DC-A5D4-B4E1-25053698CB06}"/>
              </a:ext>
            </a:extLst>
          </p:cNvPr>
          <p:cNvSpPr>
            <a:spLocks noGrp="1"/>
          </p:cNvSpPr>
          <p:nvPr>
            <p:ph type="body" sz="quarter" idx="17"/>
          </p:nvPr>
        </p:nvSpPr>
        <p:spPr>
          <a:xfrm>
            <a:off x="2166938" y="4210049"/>
            <a:ext cx="9768874" cy="2039112"/>
          </a:xfrm>
        </p:spPr>
        <p:txBody>
          <a:bodyPr/>
          <a:lstStyle/>
          <a:p>
            <a:endParaRPr lang="en-US"/>
          </a:p>
        </p:txBody>
      </p:sp>
    </p:spTree>
    <p:extLst>
      <p:ext uri="{BB962C8B-B14F-4D97-AF65-F5344CB8AC3E}">
        <p14:creationId xmlns:p14="http://schemas.microsoft.com/office/powerpoint/2010/main" val="437712697"/>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ED031-E002-FC7D-7C2D-1296CD24C9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D0275A-09EF-BB74-EDC3-51279CE56178}"/>
              </a:ext>
            </a:extLst>
          </p:cNvPr>
          <p:cNvSpPr>
            <a:spLocks noGrp="1"/>
          </p:cNvSpPr>
          <p:nvPr>
            <p:ph type="title"/>
          </p:nvPr>
        </p:nvSpPr>
        <p:spPr>
          <a:xfrm>
            <a:off x="2167377" y="1871164"/>
            <a:ext cx="14715569" cy="511175"/>
          </a:xfrm>
        </p:spPr>
        <p:txBody>
          <a:bodyPr>
            <a:normAutofit/>
          </a:bodyPr>
          <a:lstStyle/>
          <a:p>
            <a:r>
              <a:rPr lang="en-US" sz="3200" dirty="0"/>
              <a:t>Quantum Computing</a:t>
            </a:r>
          </a:p>
        </p:txBody>
      </p:sp>
      <p:sp>
        <p:nvSpPr>
          <p:cNvPr id="17" name="Text Placeholder 2">
            <a:extLst>
              <a:ext uri="{FF2B5EF4-FFF2-40B4-BE49-F238E27FC236}">
                <a16:creationId xmlns:a16="http://schemas.microsoft.com/office/drawing/2014/main" id="{CCCC0E6A-95E7-1366-60DA-4FD5F0239474}"/>
              </a:ext>
            </a:extLst>
          </p:cNvPr>
          <p:cNvSpPr>
            <a:spLocks noGrp="1"/>
          </p:cNvSpPr>
          <p:nvPr>
            <p:ph type="body" sz="quarter" idx="10"/>
          </p:nvPr>
        </p:nvSpPr>
        <p:spPr>
          <a:xfrm>
            <a:off x="2167377" y="2419728"/>
            <a:ext cx="9768875" cy="803546"/>
          </a:xfrm>
        </p:spPr>
        <p:txBody>
          <a:bodyPr/>
          <a:lstStyle/>
          <a:p>
            <a:endParaRPr lang="en-US"/>
          </a:p>
        </p:txBody>
      </p:sp>
      <p:sp>
        <p:nvSpPr>
          <p:cNvPr id="4" name="Content Placeholder 3">
            <a:extLst>
              <a:ext uri="{FF2B5EF4-FFF2-40B4-BE49-F238E27FC236}">
                <a16:creationId xmlns:a16="http://schemas.microsoft.com/office/drawing/2014/main" id="{143D598C-9720-F6DE-C6E8-01CF7204CDC4}"/>
              </a:ext>
            </a:extLst>
          </p:cNvPr>
          <p:cNvSpPr>
            <a:spLocks noGrp="1"/>
          </p:cNvSpPr>
          <p:nvPr>
            <p:ph type="body" sz="quarter" idx="16"/>
          </p:nvPr>
        </p:nvSpPr>
        <p:spPr>
          <a:xfrm>
            <a:off x="2167377" y="6556917"/>
            <a:ext cx="9768906" cy="5575610"/>
          </a:xfrm>
        </p:spPr>
        <p:txBody>
          <a:bodyPr>
            <a:normAutofit/>
          </a:bodyPr>
          <a:lstStyle/>
          <a:p>
            <a:pPr algn="just"/>
            <a:r>
              <a:rPr lang="en-US" dirty="0"/>
              <a:t>This process implies the ability to store information as the initial state of a physical system governed by the laws of classical physics and then to control the transformation of this information, i.e., the change of the system state, until we get the desired result in the shortest possible time and dissipating the least amount of energy.</a:t>
            </a:r>
          </a:p>
        </p:txBody>
      </p:sp>
      <p:pic>
        <p:nvPicPr>
          <p:cNvPr id="18" name="Picture 17">
            <a:extLst>
              <a:ext uri="{FF2B5EF4-FFF2-40B4-BE49-F238E27FC236}">
                <a16:creationId xmlns:a16="http://schemas.microsoft.com/office/drawing/2014/main" id="{1AFD03D3-2150-A080-43C3-3FF55BF6CCB6}"/>
              </a:ext>
            </a:extLst>
          </p:cNvPr>
          <p:cNvPicPr>
            <a:picLocks noChangeAspect="1"/>
          </p:cNvPicPr>
          <p:nvPr/>
        </p:nvPicPr>
        <p:blipFill>
          <a:blip r:embed="rId2">
            <a:extLst>
              <a:ext uri="{28A0092B-C50C-407E-A947-70E740481C1C}">
                <a14:useLocalDpi xmlns:a14="http://schemas.microsoft.com/office/drawing/2010/main" val="0"/>
              </a:ext>
            </a:extLst>
          </a:blip>
          <a:srcRect l="17696" r="17696"/>
          <a:stretch/>
        </p:blipFill>
        <p:spPr>
          <a:xfrm>
            <a:off x="12333417" y="4210629"/>
            <a:ext cx="9099057" cy="7921898"/>
          </a:xfrm>
          <a:prstGeom prst="rect">
            <a:avLst/>
          </a:prstGeom>
          <a:noFill/>
        </p:spPr>
      </p:pic>
      <p:sp>
        <p:nvSpPr>
          <p:cNvPr id="19" name="Text Placeholder 5">
            <a:extLst>
              <a:ext uri="{FF2B5EF4-FFF2-40B4-BE49-F238E27FC236}">
                <a16:creationId xmlns:a16="http://schemas.microsoft.com/office/drawing/2014/main" id="{2FCC7C5E-EC40-395C-63FA-9E02B9EE8E12}"/>
              </a:ext>
            </a:extLst>
          </p:cNvPr>
          <p:cNvSpPr>
            <a:spLocks noGrp="1"/>
          </p:cNvSpPr>
          <p:nvPr>
            <p:ph type="body" sz="quarter" idx="17"/>
          </p:nvPr>
        </p:nvSpPr>
        <p:spPr>
          <a:xfrm>
            <a:off x="2166938" y="4210049"/>
            <a:ext cx="9768874" cy="2039112"/>
          </a:xfrm>
        </p:spPr>
        <p:txBody>
          <a:bodyPr>
            <a:normAutofit fontScale="85000" lnSpcReduction="10000"/>
          </a:bodyPr>
          <a:lstStyle/>
          <a:p>
            <a:r>
              <a:rPr lang="en-US" dirty="0"/>
              <a:t>To compute in a digital world, we transform the state of solid-state devices capable to perform Boolean operations as directed by a program stored in the memory of the system. </a:t>
            </a:r>
          </a:p>
          <a:p>
            <a:endParaRPr lang="en-US" dirty="0"/>
          </a:p>
        </p:txBody>
      </p:sp>
    </p:spTree>
    <p:extLst>
      <p:ext uri="{BB962C8B-B14F-4D97-AF65-F5344CB8AC3E}">
        <p14:creationId xmlns:p14="http://schemas.microsoft.com/office/powerpoint/2010/main" val="1000322800"/>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4850B-0E05-388C-2F84-73FB413D9D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2A1DC2-6B16-6B0F-465E-5DABD60DCFFA}"/>
              </a:ext>
            </a:extLst>
          </p:cNvPr>
          <p:cNvSpPr>
            <a:spLocks noGrp="1"/>
          </p:cNvSpPr>
          <p:nvPr>
            <p:ph type="title"/>
          </p:nvPr>
        </p:nvSpPr>
        <p:spPr/>
        <p:txBody>
          <a:bodyPr>
            <a:normAutofit fontScale="90000"/>
          </a:bodyPr>
          <a:lstStyle/>
          <a:p>
            <a:r>
              <a:rPr lang="en-US" sz="4000" dirty="0"/>
              <a:t>Quantum Parallelism and Quantum Algorithms</a:t>
            </a:r>
            <a:endParaRPr lang="en-US" dirty="0"/>
          </a:p>
        </p:txBody>
      </p:sp>
      <p:sp>
        <p:nvSpPr>
          <p:cNvPr id="3" name="Text Placeholder 2">
            <a:extLst>
              <a:ext uri="{FF2B5EF4-FFF2-40B4-BE49-F238E27FC236}">
                <a16:creationId xmlns:a16="http://schemas.microsoft.com/office/drawing/2014/main" id="{5B485581-41E3-96F3-2FB4-B811880C66FC}"/>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5DBE345F-DA0F-A933-3B07-F37DBA2B4FAE}"/>
              </a:ext>
            </a:extLst>
          </p:cNvPr>
          <p:cNvSpPr>
            <a:spLocks noGrp="1"/>
          </p:cNvSpPr>
          <p:nvPr>
            <p:ph sz="quarter" idx="11"/>
          </p:nvPr>
        </p:nvSpPr>
        <p:spPr>
          <a:xfrm>
            <a:off x="3724126" y="5334432"/>
            <a:ext cx="16935748" cy="6509510"/>
          </a:xfrm>
        </p:spPr>
        <p:txBody>
          <a:bodyPr>
            <a:normAutofit fontScale="92500" lnSpcReduction="10000"/>
          </a:bodyPr>
          <a:lstStyle/>
          <a:p>
            <a:pPr algn="just"/>
            <a:r>
              <a:rPr lang="en-US" sz="3200" dirty="0"/>
              <a:t>Imagine the immensity of a 2</a:t>
            </a:r>
            <a:r>
              <a:rPr lang="en-US" sz="3200" baseline="30000" dirty="0"/>
              <a:t>n</a:t>
            </a:r>
            <a:r>
              <a:rPr lang="en-US" sz="3200" dirty="0"/>
              <a:t>-dimensional Hilbert space and its potential to host quantum state transformations for a quantum computation. </a:t>
            </a:r>
          </a:p>
          <a:p>
            <a:pPr algn="just"/>
            <a:r>
              <a:rPr lang="en-US" sz="3200" dirty="0"/>
              <a:t>The implication of using qubits to process information brings us to the concept of quantum parallelism. </a:t>
            </a:r>
          </a:p>
          <a:p>
            <a:pPr algn="just"/>
            <a:r>
              <a:rPr lang="en-US" sz="3200" dirty="0"/>
              <a:t>Given a function f(x),</a:t>
            </a:r>
            <a:r>
              <a:rPr lang="en-US" sz="3200" dirty="0" err="1"/>
              <a:t>x∈I</a:t>
            </a:r>
            <a:r>
              <a:rPr lang="en-US" sz="3200" dirty="0"/>
              <a:t>, assume there are N=</a:t>
            </a:r>
            <a:r>
              <a:rPr lang="en-US" sz="3200" dirty="0" err="1"/>
              <a:t>pq</a:t>
            </a:r>
            <a:r>
              <a:rPr lang="en-US" sz="3200" dirty="0"/>
              <a:t> elements in I, the domain of the function. A classical computer can compute a particular value of the function one at a time, i.e., f(a) for x=a. A quantum system computing f(a) will result in a superposition state including all values in the codomain of function f, i.e., f(x)∀</a:t>
            </a:r>
            <a:r>
              <a:rPr lang="en-US" sz="3200" dirty="0" err="1"/>
              <a:t>xınI</a:t>
            </a:r>
            <a:r>
              <a:rPr lang="en-US" sz="3200" dirty="0"/>
              <a:t>.</a:t>
            </a:r>
          </a:p>
          <a:p>
            <a:pPr algn="just"/>
            <a:r>
              <a:rPr lang="en-US" sz="3200" dirty="0"/>
              <a:t>Another important observation is that quantum parallelism is most useful for computations requiring the values of a function for its entire domain, as is the case of algorithms using the Fast Fourier Transform (FFT)</a:t>
            </a:r>
          </a:p>
        </p:txBody>
      </p:sp>
    </p:spTree>
    <p:extLst>
      <p:ext uri="{BB962C8B-B14F-4D97-AF65-F5344CB8AC3E}">
        <p14:creationId xmlns:p14="http://schemas.microsoft.com/office/powerpoint/2010/main" val="424683142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640B0-EC28-5797-2CE5-5ACEC2A9EA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38C82B-40B0-0771-F99B-CDAF49219145}"/>
              </a:ext>
            </a:extLst>
          </p:cNvPr>
          <p:cNvSpPr>
            <a:spLocks noGrp="1"/>
          </p:cNvSpPr>
          <p:nvPr>
            <p:ph type="title"/>
          </p:nvPr>
        </p:nvSpPr>
        <p:spPr>
          <a:xfrm>
            <a:off x="2167377" y="1871164"/>
            <a:ext cx="14715569" cy="511175"/>
          </a:xfrm>
        </p:spPr>
        <p:txBody>
          <a:bodyPr>
            <a:normAutofit/>
          </a:bodyPr>
          <a:lstStyle/>
          <a:p>
            <a:r>
              <a:rPr lang="en-US" sz="3200" dirty="0"/>
              <a:t>Quantum Computers</a:t>
            </a:r>
          </a:p>
        </p:txBody>
      </p:sp>
      <p:sp>
        <p:nvSpPr>
          <p:cNvPr id="17" name="Text Placeholder 2">
            <a:extLst>
              <a:ext uri="{FF2B5EF4-FFF2-40B4-BE49-F238E27FC236}">
                <a16:creationId xmlns:a16="http://schemas.microsoft.com/office/drawing/2014/main" id="{121EEC99-8786-D182-297B-DB96965A8EAB}"/>
              </a:ext>
            </a:extLst>
          </p:cNvPr>
          <p:cNvSpPr>
            <a:spLocks noGrp="1"/>
          </p:cNvSpPr>
          <p:nvPr>
            <p:ph type="body" sz="quarter" idx="10"/>
          </p:nvPr>
        </p:nvSpPr>
        <p:spPr>
          <a:xfrm>
            <a:off x="2167377" y="2419728"/>
            <a:ext cx="9768875" cy="803546"/>
          </a:xfrm>
        </p:spPr>
        <p:txBody>
          <a:bodyPr/>
          <a:lstStyle/>
          <a:p>
            <a:endParaRPr lang="en-US"/>
          </a:p>
        </p:txBody>
      </p:sp>
      <p:sp>
        <p:nvSpPr>
          <p:cNvPr id="4" name="Content Placeholder 3">
            <a:extLst>
              <a:ext uri="{FF2B5EF4-FFF2-40B4-BE49-F238E27FC236}">
                <a16:creationId xmlns:a16="http://schemas.microsoft.com/office/drawing/2014/main" id="{A366D05E-BB1F-F1E6-672B-2C78F09CF063}"/>
              </a:ext>
            </a:extLst>
          </p:cNvPr>
          <p:cNvSpPr>
            <a:spLocks noGrp="1"/>
          </p:cNvSpPr>
          <p:nvPr>
            <p:ph type="body" sz="quarter" idx="16"/>
          </p:nvPr>
        </p:nvSpPr>
        <p:spPr>
          <a:xfrm>
            <a:off x="2167377" y="6556917"/>
            <a:ext cx="9768906" cy="5575610"/>
          </a:xfrm>
        </p:spPr>
        <p:txBody>
          <a:bodyPr>
            <a:normAutofit/>
          </a:bodyPr>
          <a:lstStyle/>
          <a:p>
            <a:pPr algn="just"/>
            <a:r>
              <a:rPr lang="en-US" dirty="0"/>
              <a:t>David DiVincenzo, at IBM at that time, formulated five criteria for building a useful quantum computer, plus two additional ones required for transfer of information.</a:t>
            </a:r>
          </a:p>
          <a:p>
            <a:pPr algn="just"/>
            <a:r>
              <a:rPr lang="en-US" dirty="0"/>
              <a:t>Criteria on next slide</a:t>
            </a:r>
          </a:p>
        </p:txBody>
      </p:sp>
      <p:pic>
        <p:nvPicPr>
          <p:cNvPr id="18" name="Picture 17">
            <a:extLst>
              <a:ext uri="{FF2B5EF4-FFF2-40B4-BE49-F238E27FC236}">
                <a16:creationId xmlns:a16="http://schemas.microsoft.com/office/drawing/2014/main" id="{F9BA9D4D-E09D-0706-5866-7BD12E26A6CC}"/>
              </a:ext>
            </a:extLst>
          </p:cNvPr>
          <p:cNvPicPr>
            <a:picLocks noChangeAspect="1"/>
          </p:cNvPicPr>
          <p:nvPr/>
        </p:nvPicPr>
        <p:blipFill>
          <a:blip r:embed="rId2">
            <a:extLst>
              <a:ext uri="{28A0092B-C50C-407E-A947-70E740481C1C}">
                <a14:useLocalDpi xmlns:a14="http://schemas.microsoft.com/office/drawing/2010/main" val="0"/>
              </a:ext>
            </a:extLst>
          </a:blip>
          <a:srcRect l="17696" r="17696"/>
          <a:stretch/>
        </p:blipFill>
        <p:spPr>
          <a:xfrm>
            <a:off x="12333417" y="4210629"/>
            <a:ext cx="9099057" cy="7921898"/>
          </a:xfrm>
          <a:prstGeom prst="rect">
            <a:avLst/>
          </a:prstGeom>
          <a:noFill/>
        </p:spPr>
      </p:pic>
      <p:sp>
        <p:nvSpPr>
          <p:cNvPr id="19" name="Text Placeholder 5">
            <a:extLst>
              <a:ext uri="{FF2B5EF4-FFF2-40B4-BE49-F238E27FC236}">
                <a16:creationId xmlns:a16="http://schemas.microsoft.com/office/drawing/2014/main" id="{7FA25CF6-046E-FDA9-A9AE-AAB6030A9672}"/>
              </a:ext>
            </a:extLst>
          </p:cNvPr>
          <p:cNvSpPr>
            <a:spLocks noGrp="1"/>
          </p:cNvSpPr>
          <p:nvPr>
            <p:ph type="body" sz="quarter" idx="17"/>
          </p:nvPr>
        </p:nvSpPr>
        <p:spPr>
          <a:xfrm>
            <a:off x="2166938" y="4210049"/>
            <a:ext cx="9768874" cy="2039112"/>
          </a:xfrm>
        </p:spPr>
        <p:txBody>
          <a:bodyPr>
            <a:normAutofit fontScale="85000" lnSpcReduction="10000"/>
          </a:bodyPr>
          <a:lstStyle/>
          <a:p>
            <a:r>
              <a:rPr lang="en-US" dirty="0"/>
              <a:t>To compute in a digital world, we transform the state of solid-state devices capable to perform Boolean operations as directed by a program stored in the memory of the system. </a:t>
            </a:r>
          </a:p>
          <a:p>
            <a:endParaRPr lang="en-US" dirty="0"/>
          </a:p>
        </p:txBody>
      </p:sp>
    </p:spTree>
    <p:extLst>
      <p:ext uri="{BB962C8B-B14F-4D97-AF65-F5344CB8AC3E}">
        <p14:creationId xmlns:p14="http://schemas.microsoft.com/office/powerpoint/2010/main" val="2376982505"/>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E7EBA-B133-1365-2A0C-19EC11FB2D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E3B822-E444-6BC4-9990-31E78C8AA1F7}"/>
              </a:ext>
            </a:extLst>
          </p:cNvPr>
          <p:cNvSpPr>
            <a:spLocks noGrp="1"/>
          </p:cNvSpPr>
          <p:nvPr>
            <p:ph type="title"/>
          </p:nvPr>
        </p:nvSpPr>
        <p:spPr/>
        <p:txBody>
          <a:bodyPr>
            <a:normAutofit fontScale="90000"/>
          </a:bodyPr>
          <a:lstStyle/>
          <a:p>
            <a:r>
              <a:rPr lang="en-US" sz="4000" dirty="0"/>
              <a:t>Quantum computers</a:t>
            </a:r>
            <a:endParaRPr lang="en-US" dirty="0"/>
          </a:p>
        </p:txBody>
      </p:sp>
      <p:sp>
        <p:nvSpPr>
          <p:cNvPr id="3" name="Text Placeholder 2">
            <a:extLst>
              <a:ext uri="{FF2B5EF4-FFF2-40B4-BE49-F238E27FC236}">
                <a16:creationId xmlns:a16="http://schemas.microsoft.com/office/drawing/2014/main" id="{B368AF4C-1B69-23A0-DA4F-8AE3496129B3}"/>
              </a:ext>
            </a:extLst>
          </p:cNvPr>
          <p:cNvSpPr>
            <a:spLocks noGrp="1"/>
          </p:cNvSpPr>
          <p:nvPr>
            <p:ph type="body" sz="quarter" idx="10"/>
          </p:nvPr>
        </p:nvSpPr>
        <p:spPr/>
        <p:txBody>
          <a:bodyPr/>
          <a:lstStyle/>
          <a:p>
            <a:r>
              <a:rPr lang="en-US" dirty="0"/>
              <a:t>The 5 criteria of David </a:t>
            </a:r>
            <a:r>
              <a:rPr lang="en-US" dirty="0" err="1"/>
              <a:t>divicenzo</a:t>
            </a:r>
            <a:endParaRPr lang="en-US" dirty="0"/>
          </a:p>
        </p:txBody>
      </p:sp>
      <p:sp>
        <p:nvSpPr>
          <p:cNvPr id="4" name="Content Placeholder 3">
            <a:extLst>
              <a:ext uri="{FF2B5EF4-FFF2-40B4-BE49-F238E27FC236}">
                <a16:creationId xmlns:a16="http://schemas.microsoft.com/office/drawing/2014/main" id="{BA6CF833-72A8-7DFA-2B5D-1941D1CCFB38}"/>
              </a:ext>
            </a:extLst>
          </p:cNvPr>
          <p:cNvSpPr>
            <a:spLocks noGrp="1"/>
          </p:cNvSpPr>
          <p:nvPr>
            <p:ph sz="quarter" idx="11"/>
          </p:nvPr>
        </p:nvSpPr>
        <p:spPr>
          <a:xfrm>
            <a:off x="3724126" y="5334432"/>
            <a:ext cx="16935748" cy="6509510"/>
          </a:xfrm>
        </p:spPr>
        <p:txBody>
          <a:bodyPr>
            <a:normAutofit fontScale="92500" lnSpcReduction="20000"/>
          </a:bodyPr>
          <a:lstStyle/>
          <a:p>
            <a:pPr algn="just"/>
            <a:r>
              <a:rPr lang="en-US" dirty="0"/>
              <a:t>These criteria are:</a:t>
            </a:r>
          </a:p>
          <a:p>
            <a:pPr marL="857250" lvl="1" indent="-457200" algn="just">
              <a:buAutoNum type="arabicPeriod"/>
            </a:pPr>
            <a:r>
              <a:rPr lang="en-US" dirty="0"/>
              <a:t>A scalable physical system with well-characterized qubits.</a:t>
            </a:r>
          </a:p>
          <a:p>
            <a:pPr marL="857250" lvl="1" indent="-457200" algn="just">
              <a:buAutoNum type="arabicPeriod"/>
            </a:pPr>
            <a:r>
              <a:rPr lang="en-US" dirty="0"/>
              <a:t>The ability to initialize the qubits to a pure state |000......0〉.</a:t>
            </a:r>
          </a:p>
          <a:p>
            <a:pPr marL="857250" lvl="1" indent="-457200" algn="just">
              <a:buAutoNum type="arabicPeriod"/>
            </a:pPr>
            <a:r>
              <a:rPr lang="en-US" dirty="0"/>
              <a:t>Long decoherence times, much longer than the gate operation times.</a:t>
            </a:r>
          </a:p>
          <a:p>
            <a:pPr marL="857250" lvl="1" indent="-457200" algn="just">
              <a:buAutoNum type="arabicPeriod"/>
            </a:pPr>
            <a:r>
              <a:rPr lang="en-US" dirty="0"/>
              <a:t>Existence of a “universal” set of quantum gates.</a:t>
            </a:r>
          </a:p>
          <a:p>
            <a:pPr marL="857250" lvl="1" indent="-457200" algn="just">
              <a:buAutoNum type="arabicPeriod"/>
            </a:pPr>
            <a:r>
              <a:rPr lang="en-US" dirty="0"/>
              <a:t>A qubit-specific measurement capability.</a:t>
            </a:r>
          </a:p>
          <a:p>
            <a:pPr marL="857250" lvl="1" indent="-457200" algn="just">
              <a:buAutoNum type="arabicPeriod"/>
            </a:pPr>
            <a:r>
              <a:rPr lang="en-US" dirty="0"/>
              <a:t>Ability to interconvert “stationary” (memory) and “flying” (communication) qubits.</a:t>
            </a:r>
          </a:p>
          <a:p>
            <a:pPr marL="857250" lvl="1" indent="-457200" algn="just">
              <a:buAutoNum type="arabicPeriod"/>
            </a:pPr>
            <a:r>
              <a:rPr lang="en-US" dirty="0"/>
              <a:t>Ability to faithfully transmit “flying” qubits between specified locations.</a:t>
            </a:r>
          </a:p>
        </p:txBody>
      </p:sp>
    </p:spTree>
    <p:extLst>
      <p:ext uri="{BB962C8B-B14F-4D97-AF65-F5344CB8AC3E}">
        <p14:creationId xmlns:p14="http://schemas.microsoft.com/office/powerpoint/2010/main" val="307953421"/>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7D2C6-58F7-0C43-C768-AB5C4DC1F3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28B5BB-38D6-EACF-B725-1293DDF86A9D}"/>
              </a:ext>
            </a:extLst>
          </p:cNvPr>
          <p:cNvSpPr>
            <a:spLocks noGrp="1"/>
          </p:cNvSpPr>
          <p:nvPr>
            <p:ph type="title"/>
          </p:nvPr>
        </p:nvSpPr>
        <p:spPr/>
        <p:txBody>
          <a:bodyPr>
            <a:normAutofit fontScale="90000"/>
          </a:bodyPr>
          <a:lstStyle/>
          <a:p>
            <a:r>
              <a:rPr lang="en-US" sz="4000" dirty="0"/>
              <a:t>Cloud Access to Quantum Simulation Software</a:t>
            </a:r>
            <a:endParaRPr lang="en-US" dirty="0"/>
          </a:p>
        </p:txBody>
      </p:sp>
      <p:sp>
        <p:nvSpPr>
          <p:cNvPr id="3" name="Text Placeholder 2">
            <a:extLst>
              <a:ext uri="{FF2B5EF4-FFF2-40B4-BE49-F238E27FC236}">
                <a16:creationId xmlns:a16="http://schemas.microsoft.com/office/drawing/2014/main" id="{2C11497C-D39C-6588-B0B4-1FF4867CA380}"/>
              </a:ext>
            </a:extLst>
          </p:cNvPr>
          <p:cNvSpPr>
            <a:spLocks noGrp="1"/>
          </p:cNvSpPr>
          <p:nvPr>
            <p:ph type="body" sz="quarter" idx="10"/>
          </p:nvPr>
        </p:nvSpPr>
        <p:spPr/>
        <p:txBody>
          <a:bodyPr/>
          <a:lstStyle/>
          <a:p>
            <a:endParaRPr lang="en-US" dirty="0"/>
          </a:p>
        </p:txBody>
      </p:sp>
      <p:sp>
        <p:nvSpPr>
          <p:cNvPr id="4" name="Content Placeholder 3">
            <a:extLst>
              <a:ext uri="{FF2B5EF4-FFF2-40B4-BE49-F238E27FC236}">
                <a16:creationId xmlns:a16="http://schemas.microsoft.com/office/drawing/2014/main" id="{B5A9A436-CC03-5264-C0F8-6C70BF03EFE4}"/>
              </a:ext>
            </a:extLst>
          </p:cNvPr>
          <p:cNvSpPr>
            <a:spLocks noGrp="1"/>
          </p:cNvSpPr>
          <p:nvPr>
            <p:ph sz="quarter" idx="11"/>
          </p:nvPr>
        </p:nvSpPr>
        <p:spPr>
          <a:xfrm>
            <a:off x="3724126" y="5334432"/>
            <a:ext cx="16935748" cy="6509510"/>
          </a:xfrm>
        </p:spPr>
        <p:txBody>
          <a:bodyPr>
            <a:normAutofit/>
          </a:bodyPr>
          <a:lstStyle/>
          <a:p>
            <a:pPr algn="just"/>
            <a:r>
              <a:rPr lang="en-US" dirty="0"/>
              <a:t>To spark interest in quantum computing among computer programmers, venture capitalists, and students wishing to explore this fascinating field, several companies support cloud access to platforms for experimenting with quantum computing. Multiple sources for information about quantum software are also available; Quantum Open Source Foundation maintains a GitHub open-source quantum software projects repository;</a:t>
            </a:r>
          </a:p>
          <a:p>
            <a:pPr algn="just"/>
            <a:r>
              <a:rPr lang="en-US" dirty="0"/>
              <a:t>see https://github.com/qosf/awesome-quantum-software</a:t>
            </a:r>
          </a:p>
        </p:txBody>
      </p:sp>
    </p:spTree>
    <p:extLst>
      <p:ext uri="{BB962C8B-B14F-4D97-AF65-F5344CB8AC3E}">
        <p14:creationId xmlns:p14="http://schemas.microsoft.com/office/powerpoint/2010/main" val="3575314762"/>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5C537-386A-4C1C-4551-7619EFCC40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1A2D7B-17AC-B41E-3EC3-C1FD94AF3751}"/>
              </a:ext>
            </a:extLst>
          </p:cNvPr>
          <p:cNvSpPr>
            <a:spLocks noGrp="1"/>
          </p:cNvSpPr>
          <p:nvPr>
            <p:ph type="title"/>
          </p:nvPr>
        </p:nvSpPr>
        <p:spPr/>
        <p:txBody>
          <a:bodyPr>
            <a:normAutofit fontScale="90000"/>
          </a:bodyPr>
          <a:lstStyle/>
          <a:p>
            <a:r>
              <a:rPr lang="en-US" sz="4000" dirty="0"/>
              <a:t>Cloud Access to Quantum Simulation Software</a:t>
            </a:r>
            <a:endParaRPr lang="en-US" dirty="0"/>
          </a:p>
        </p:txBody>
      </p:sp>
      <p:sp>
        <p:nvSpPr>
          <p:cNvPr id="3" name="Text Placeholder 2">
            <a:extLst>
              <a:ext uri="{FF2B5EF4-FFF2-40B4-BE49-F238E27FC236}">
                <a16:creationId xmlns:a16="http://schemas.microsoft.com/office/drawing/2014/main" id="{9313E2F8-31EE-4FCD-08B0-D1D4C114EC7D}"/>
              </a:ext>
            </a:extLst>
          </p:cNvPr>
          <p:cNvSpPr>
            <a:spLocks noGrp="1"/>
          </p:cNvSpPr>
          <p:nvPr>
            <p:ph type="body" sz="quarter" idx="10"/>
          </p:nvPr>
        </p:nvSpPr>
        <p:spPr/>
        <p:txBody>
          <a:bodyPr/>
          <a:lstStyle/>
          <a:p>
            <a:endParaRPr lang="en-US" dirty="0"/>
          </a:p>
        </p:txBody>
      </p:sp>
      <p:sp>
        <p:nvSpPr>
          <p:cNvPr id="4" name="Content Placeholder 3">
            <a:extLst>
              <a:ext uri="{FF2B5EF4-FFF2-40B4-BE49-F238E27FC236}">
                <a16:creationId xmlns:a16="http://schemas.microsoft.com/office/drawing/2014/main" id="{36BC057C-48F6-5CAD-8A6F-874E47FDCC18}"/>
              </a:ext>
            </a:extLst>
          </p:cNvPr>
          <p:cNvSpPr>
            <a:spLocks noGrp="1"/>
          </p:cNvSpPr>
          <p:nvPr>
            <p:ph sz="quarter" idx="11"/>
          </p:nvPr>
        </p:nvSpPr>
        <p:spPr>
          <a:xfrm>
            <a:off x="3724126" y="5334432"/>
            <a:ext cx="16935748" cy="6509510"/>
          </a:xfrm>
        </p:spPr>
        <p:txBody>
          <a:bodyPr>
            <a:normAutofit/>
          </a:bodyPr>
          <a:lstStyle/>
          <a:p>
            <a:r>
              <a:rPr lang="en-US" dirty="0"/>
              <a:t>The most sophisticated quantum environment is IBM Q Experience, an online platform launched in 2016. Q Experience allows general public access to a set of IBM's prototype quantum computers including two 5-qubit processors and one 16-qubit processor. A quantum system with 20 qubits is also available through the IBM Q Network; </a:t>
            </a:r>
          </a:p>
          <a:p>
            <a:r>
              <a:rPr lang="en-US" dirty="0"/>
              <a:t>see </a:t>
            </a:r>
            <a:r>
              <a:rPr lang="en-US" dirty="0">
                <a:hlinkClick r:id="rId2"/>
              </a:rPr>
              <a:t>https://www.ibm.com/quantum-computing/</a:t>
            </a:r>
            <a:endParaRPr lang="en-US" dirty="0"/>
          </a:p>
          <a:p>
            <a:endParaRPr lang="en-US" dirty="0"/>
          </a:p>
        </p:txBody>
      </p:sp>
    </p:spTree>
    <p:extLst>
      <p:ext uri="{BB962C8B-B14F-4D97-AF65-F5344CB8AC3E}">
        <p14:creationId xmlns:p14="http://schemas.microsoft.com/office/powerpoint/2010/main" val="1041484086"/>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E6C1D-07BC-FC23-379F-EDC95D3343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ECF552-870B-928D-1CF7-398EAADAFCBC}"/>
              </a:ext>
            </a:extLst>
          </p:cNvPr>
          <p:cNvSpPr>
            <a:spLocks noGrp="1"/>
          </p:cNvSpPr>
          <p:nvPr>
            <p:ph type="title"/>
          </p:nvPr>
        </p:nvSpPr>
        <p:spPr/>
        <p:txBody>
          <a:bodyPr>
            <a:normAutofit fontScale="90000"/>
          </a:bodyPr>
          <a:lstStyle/>
          <a:p>
            <a:r>
              <a:rPr lang="en-US" sz="4000" dirty="0"/>
              <a:t>Cloud Access to Quantum Simulation Software</a:t>
            </a:r>
            <a:endParaRPr lang="en-US" dirty="0"/>
          </a:p>
        </p:txBody>
      </p:sp>
      <p:sp>
        <p:nvSpPr>
          <p:cNvPr id="3" name="Text Placeholder 2">
            <a:extLst>
              <a:ext uri="{FF2B5EF4-FFF2-40B4-BE49-F238E27FC236}">
                <a16:creationId xmlns:a16="http://schemas.microsoft.com/office/drawing/2014/main" id="{20D1169C-AA64-0BAB-1008-749A963B42A3}"/>
              </a:ext>
            </a:extLst>
          </p:cNvPr>
          <p:cNvSpPr>
            <a:spLocks noGrp="1"/>
          </p:cNvSpPr>
          <p:nvPr>
            <p:ph type="body" sz="quarter" idx="10"/>
          </p:nvPr>
        </p:nvSpPr>
        <p:spPr/>
        <p:txBody>
          <a:bodyPr/>
          <a:lstStyle/>
          <a:p>
            <a:endParaRPr lang="en-US" dirty="0"/>
          </a:p>
        </p:txBody>
      </p:sp>
      <p:sp>
        <p:nvSpPr>
          <p:cNvPr id="4" name="Content Placeholder 3">
            <a:extLst>
              <a:ext uri="{FF2B5EF4-FFF2-40B4-BE49-F238E27FC236}">
                <a16:creationId xmlns:a16="http://schemas.microsoft.com/office/drawing/2014/main" id="{18F03A5A-7C87-3152-B9B8-16E5E80C3FE4}"/>
              </a:ext>
            </a:extLst>
          </p:cNvPr>
          <p:cNvSpPr>
            <a:spLocks noGrp="1"/>
          </p:cNvSpPr>
          <p:nvPr>
            <p:ph sz="quarter" idx="11"/>
          </p:nvPr>
        </p:nvSpPr>
        <p:spPr>
          <a:xfrm>
            <a:off x="3724126" y="5334432"/>
            <a:ext cx="16935748" cy="6509510"/>
          </a:xfrm>
        </p:spPr>
        <p:txBody>
          <a:bodyPr>
            <a:normAutofit/>
          </a:bodyPr>
          <a:lstStyle/>
          <a:p>
            <a:pPr algn="just"/>
            <a:r>
              <a:rPr lang="en-US" dirty="0"/>
              <a:t>Microsoft released recently the Quantum Development Kit, replacing an earlier version called </a:t>
            </a:r>
            <a:r>
              <a:rPr lang="en-US" dirty="0" err="1"/>
              <a:t>LIQUi</a:t>
            </a:r>
            <a:r>
              <a:rPr lang="en-US" dirty="0"/>
              <a:t>|〉. This system includes: (</a:t>
            </a:r>
            <a:r>
              <a:rPr lang="en-US" dirty="0" err="1"/>
              <a:t>i</a:t>
            </a:r>
            <a:r>
              <a:rPr lang="en-US" dirty="0"/>
              <a:t>) a quantum programming language, Q#, integrated with Visual Studio development environment; (ii) simulators that run on a local system or on the Azure cloud platform; and (iii) libraries and code samples. </a:t>
            </a:r>
          </a:p>
          <a:p>
            <a:pPr algn="just"/>
            <a:r>
              <a:rPr lang="en-US" dirty="0"/>
              <a:t>The software can be downloaded from </a:t>
            </a:r>
            <a:r>
              <a:rPr lang="en-US" dirty="0">
                <a:hlinkClick r:id="rId2"/>
              </a:rPr>
              <a:t>https://www.microsoft.com/en-us/quantum/development-kit</a:t>
            </a:r>
            <a:r>
              <a:rPr lang="en-US" dirty="0"/>
              <a:t>.</a:t>
            </a:r>
          </a:p>
        </p:txBody>
      </p:sp>
    </p:spTree>
    <p:extLst>
      <p:ext uri="{BB962C8B-B14F-4D97-AF65-F5344CB8AC3E}">
        <p14:creationId xmlns:p14="http://schemas.microsoft.com/office/powerpoint/2010/main" val="1799792672"/>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6B4C3-B758-F37F-891D-C99B68B411B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AEE852F-8F01-D0AF-CB6A-8AEBC0A0A1E3}"/>
              </a:ext>
            </a:extLst>
          </p:cNvPr>
          <p:cNvSpPr>
            <a:spLocks noGrp="1"/>
          </p:cNvSpPr>
          <p:nvPr>
            <p:ph type="title"/>
          </p:nvPr>
        </p:nvSpPr>
        <p:spPr/>
        <p:txBody>
          <a:bodyPr/>
          <a:lstStyle/>
          <a:p>
            <a:r>
              <a:rPr lang="en-US" dirty="0"/>
              <a:t>Vehicular Clouds</a:t>
            </a:r>
          </a:p>
        </p:txBody>
      </p:sp>
    </p:spTree>
    <p:extLst>
      <p:ext uri="{BB962C8B-B14F-4D97-AF65-F5344CB8AC3E}">
        <p14:creationId xmlns:p14="http://schemas.microsoft.com/office/powerpoint/2010/main" val="488829627"/>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603D6-8C78-2917-4BA3-7ADCBDC7D222}"/>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CBAF4EF6-EB47-CE4F-387E-072E38EAD2D9}"/>
              </a:ext>
            </a:extLst>
          </p:cNvPr>
          <p:cNvSpPr>
            <a:spLocks noGrp="1"/>
          </p:cNvSpPr>
          <p:nvPr>
            <p:ph type="title"/>
          </p:nvPr>
        </p:nvSpPr>
        <p:spPr>
          <a:xfrm>
            <a:off x="2167377" y="1871164"/>
            <a:ext cx="14715569" cy="511175"/>
          </a:xfrm>
        </p:spPr>
        <p:txBody>
          <a:bodyPr>
            <a:normAutofit fontScale="90000"/>
          </a:bodyPr>
          <a:lstStyle/>
          <a:p>
            <a:r>
              <a:rPr lang="en-US" dirty="0"/>
              <a:t>Vehicular Clouds</a:t>
            </a:r>
          </a:p>
        </p:txBody>
      </p:sp>
      <p:sp>
        <p:nvSpPr>
          <p:cNvPr id="16" name="Text Placeholder 2">
            <a:extLst>
              <a:ext uri="{FF2B5EF4-FFF2-40B4-BE49-F238E27FC236}">
                <a16:creationId xmlns:a16="http://schemas.microsoft.com/office/drawing/2014/main" id="{22A3FAB5-6F9B-6D39-5B77-F40A4DFDC0AD}"/>
              </a:ext>
            </a:extLst>
          </p:cNvPr>
          <p:cNvSpPr>
            <a:spLocks noGrp="1"/>
          </p:cNvSpPr>
          <p:nvPr>
            <p:ph type="body" sz="quarter" idx="10"/>
          </p:nvPr>
        </p:nvSpPr>
        <p:spPr>
          <a:xfrm>
            <a:off x="2167377" y="2419728"/>
            <a:ext cx="9768875" cy="803546"/>
          </a:xfrm>
        </p:spPr>
        <p:txBody>
          <a:bodyPr/>
          <a:lstStyle/>
          <a:p>
            <a:endParaRPr lang="en-US" dirty="0"/>
          </a:p>
        </p:txBody>
      </p:sp>
      <p:sp>
        <p:nvSpPr>
          <p:cNvPr id="18" name="Text Placeholder 3">
            <a:extLst>
              <a:ext uri="{FF2B5EF4-FFF2-40B4-BE49-F238E27FC236}">
                <a16:creationId xmlns:a16="http://schemas.microsoft.com/office/drawing/2014/main" id="{6289E3AC-8645-ABA7-CE81-6F126EC554D9}"/>
              </a:ext>
            </a:extLst>
          </p:cNvPr>
          <p:cNvSpPr>
            <a:spLocks noGrp="1"/>
          </p:cNvSpPr>
          <p:nvPr>
            <p:ph type="body" sz="quarter" idx="16"/>
          </p:nvPr>
        </p:nvSpPr>
        <p:spPr>
          <a:xfrm>
            <a:off x="2167377" y="6556917"/>
            <a:ext cx="9768906" cy="5575610"/>
          </a:xfrm>
        </p:spPr>
        <p:txBody>
          <a:bodyPr/>
          <a:lstStyle/>
          <a:p>
            <a:r>
              <a:rPr lang="en-US" dirty="0"/>
              <a:t>These clouds can adapt dynamically according to the quality of service requirements of applications. Consequently, resource management represents a truly crucial for this particular kind of cloud. In this chapter, we discuss the relevant aspects of the major concepts of VCs, as well as the challenges in enabling resource management for building and maintaining such clouds</a:t>
            </a:r>
          </a:p>
        </p:txBody>
      </p:sp>
      <p:pic>
        <p:nvPicPr>
          <p:cNvPr id="5" name="Content Placeholder 5">
            <a:extLst>
              <a:ext uri="{FF2B5EF4-FFF2-40B4-BE49-F238E27FC236}">
                <a16:creationId xmlns:a16="http://schemas.microsoft.com/office/drawing/2014/main" id="{66C5D403-BBB5-602A-5C43-6790BBAD9ECC}"/>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141" b="-1383"/>
          <a:stretch>
            <a:fillRect/>
          </a:stretch>
        </p:blipFill>
        <p:spPr>
          <a:xfrm>
            <a:off x="14963398" y="3798338"/>
            <a:ext cx="8007260" cy="7971182"/>
          </a:xfrm>
          <a:prstGeom prst="rect">
            <a:avLst/>
          </a:prstGeom>
          <a:noFill/>
        </p:spPr>
      </p:pic>
      <p:sp>
        <p:nvSpPr>
          <p:cNvPr id="20" name="Text Placeholder 5">
            <a:extLst>
              <a:ext uri="{FF2B5EF4-FFF2-40B4-BE49-F238E27FC236}">
                <a16:creationId xmlns:a16="http://schemas.microsoft.com/office/drawing/2014/main" id="{9A5DEF63-FA58-AB6A-6952-8BFA1CD652E2}"/>
              </a:ext>
            </a:extLst>
          </p:cNvPr>
          <p:cNvSpPr>
            <a:spLocks noGrp="1"/>
          </p:cNvSpPr>
          <p:nvPr>
            <p:ph type="body" sz="quarter" idx="17"/>
          </p:nvPr>
        </p:nvSpPr>
        <p:spPr>
          <a:xfrm>
            <a:off x="2166938" y="4210049"/>
            <a:ext cx="9768874" cy="2039112"/>
          </a:xfrm>
        </p:spPr>
        <p:txBody>
          <a:bodyPr>
            <a:normAutofit fontScale="77500" lnSpcReduction="20000"/>
          </a:bodyPr>
          <a:lstStyle/>
          <a:p>
            <a:r>
              <a:rPr lang="en-US" dirty="0"/>
              <a:t>A vehicular cloud (VC) consists of a set of vehicles that share their computation resources through the cloud paradigm. Cooperation among vehicles and with roadside units allows on-demand scheduling of their resources.</a:t>
            </a:r>
          </a:p>
        </p:txBody>
      </p:sp>
    </p:spTree>
    <p:extLst>
      <p:ext uri="{BB962C8B-B14F-4D97-AF65-F5344CB8AC3E}">
        <p14:creationId xmlns:p14="http://schemas.microsoft.com/office/powerpoint/2010/main" val="2498477572"/>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31E6D-1882-45BD-3A4E-20B61EA4D126}"/>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747B3EBB-D7B4-314A-2191-0EB137E3889A}"/>
              </a:ext>
            </a:extLst>
          </p:cNvPr>
          <p:cNvSpPr>
            <a:spLocks noGrp="1"/>
          </p:cNvSpPr>
          <p:nvPr>
            <p:ph type="title"/>
          </p:nvPr>
        </p:nvSpPr>
        <p:spPr>
          <a:xfrm>
            <a:off x="2167377" y="1871164"/>
            <a:ext cx="14715569" cy="511175"/>
          </a:xfrm>
        </p:spPr>
        <p:txBody>
          <a:bodyPr>
            <a:normAutofit fontScale="90000"/>
          </a:bodyPr>
          <a:lstStyle/>
          <a:p>
            <a:r>
              <a:rPr lang="en-US" dirty="0"/>
              <a:t>VC Resource management</a:t>
            </a:r>
          </a:p>
        </p:txBody>
      </p:sp>
      <p:sp>
        <p:nvSpPr>
          <p:cNvPr id="16" name="Text Placeholder 2">
            <a:extLst>
              <a:ext uri="{FF2B5EF4-FFF2-40B4-BE49-F238E27FC236}">
                <a16:creationId xmlns:a16="http://schemas.microsoft.com/office/drawing/2014/main" id="{2B857916-BBD5-0C15-203A-2FB961C404C5}"/>
              </a:ext>
            </a:extLst>
          </p:cNvPr>
          <p:cNvSpPr>
            <a:spLocks noGrp="1"/>
          </p:cNvSpPr>
          <p:nvPr>
            <p:ph type="body" sz="quarter" idx="10"/>
          </p:nvPr>
        </p:nvSpPr>
        <p:spPr>
          <a:xfrm>
            <a:off x="2167377" y="2419728"/>
            <a:ext cx="9768875" cy="803546"/>
          </a:xfrm>
        </p:spPr>
        <p:txBody>
          <a:bodyPr/>
          <a:lstStyle/>
          <a:p>
            <a:endParaRPr lang="en-US" dirty="0"/>
          </a:p>
        </p:txBody>
      </p:sp>
      <p:sp>
        <p:nvSpPr>
          <p:cNvPr id="18" name="Text Placeholder 3">
            <a:extLst>
              <a:ext uri="{FF2B5EF4-FFF2-40B4-BE49-F238E27FC236}">
                <a16:creationId xmlns:a16="http://schemas.microsoft.com/office/drawing/2014/main" id="{C28A7D26-A1A6-3E8D-F341-C5B9E8B3CD6A}"/>
              </a:ext>
            </a:extLst>
          </p:cNvPr>
          <p:cNvSpPr>
            <a:spLocks noGrp="1"/>
          </p:cNvSpPr>
          <p:nvPr>
            <p:ph type="body" sz="quarter" idx="16"/>
          </p:nvPr>
        </p:nvSpPr>
        <p:spPr>
          <a:xfrm>
            <a:off x="2167377" y="6556917"/>
            <a:ext cx="9768906" cy="5575610"/>
          </a:xfrm>
        </p:spPr>
        <p:txBody>
          <a:bodyPr/>
          <a:lstStyle/>
          <a:p>
            <a:pPr algn="just"/>
            <a:r>
              <a:rPr lang="en-US" dirty="0"/>
              <a:t>Ways to manage resource:</a:t>
            </a:r>
          </a:p>
          <a:p>
            <a:pPr algn="just"/>
            <a:r>
              <a:rPr lang="en-US" dirty="0"/>
              <a:t>Estimating the expected number of vehicles in the VC. </a:t>
            </a:r>
          </a:p>
          <a:p>
            <a:pPr algn="just"/>
            <a:r>
              <a:rPr lang="en-US" dirty="0"/>
              <a:t>Virtual machine migration in VC.</a:t>
            </a:r>
          </a:p>
          <a:p>
            <a:pPr algn="just"/>
            <a:r>
              <a:rPr lang="en-US" dirty="0"/>
              <a:t>Estimating vehicular residency times.</a:t>
            </a:r>
          </a:p>
          <a:p>
            <a:pPr algn="just"/>
            <a:r>
              <a:rPr lang="en-US" dirty="0"/>
              <a:t>Identifying feasible VC.</a:t>
            </a:r>
          </a:p>
          <a:p>
            <a:pPr algn="just"/>
            <a:r>
              <a:rPr lang="en-US" dirty="0"/>
              <a:t>Assigning job to vehicles in VC.</a:t>
            </a:r>
          </a:p>
        </p:txBody>
      </p:sp>
      <p:pic>
        <p:nvPicPr>
          <p:cNvPr id="5" name="Content Placeholder 5">
            <a:extLst>
              <a:ext uri="{FF2B5EF4-FFF2-40B4-BE49-F238E27FC236}">
                <a16:creationId xmlns:a16="http://schemas.microsoft.com/office/drawing/2014/main" id="{3E3DB55E-6A6C-A7EA-DCBE-C8FCEC617667}"/>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141" b="-1383"/>
          <a:stretch>
            <a:fillRect/>
          </a:stretch>
        </p:blipFill>
        <p:spPr>
          <a:xfrm>
            <a:off x="14963398" y="3798338"/>
            <a:ext cx="8007260" cy="7971182"/>
          </a:xfrm>
          <a:prstGeom prst="rect">
            <a:avLst/>
          </a:prstGeom>
          <a:noFill/>
        </p:spPr>
      </p:pic>
      <p:sp>
        <p:nvSpPr>
          <p:cNvPr id="20" name="Text Placeholder 5">
            <a:extLst>
              <a:ext uri="{FF2B5EF4-FFF2-40B4-BE49-F238E27FC236}">
                <a16:creationId xmlns:a16="http://schemas.microsoft.com/office/drawing/2014/main" id="{52C784CD-4A85-D0D5-F520-E4EF3FBBB909}"/>
              </a:ext>
            </a:extLst>
          </p:cNvPr>
          <p:cNvSpPr>
            <a:spLocks noGrp="1"/>
          </p:cNvSpPr>
          <p:nvPr>
            <p:ph type="body" sz="quarter" idx="17"/>
          </p:nvPr>
        </p:nvSpPr>
        <p:spPr>
          <a:xfrm>
            <a:off x="2166938" y="4210049"/>
            <a:ext cx="9768874" cy="2039112"/>
          </a:xfrm>
        </p:spPr>
        <p:txBody>
          <a:bodyPr>
            <a:normAutofit fontScale="77500" lnSpcReduction="20000"/>
          </a:bodyPr>
          <a:lstStyle/>
          <a:p>
            <a:r>
              <a:rPr lang="en-US" dirty="0"/>
              <a:t>As vehicles enter the VC, fresh compute resources become available; when vehicles leave, often unexpectedly, their resources depart with them, creating a highly dynamic environment</a:t>
            </a:r>
          </a:p>
        </p:txBody>
      </p:sp>
    </p:spTree>
    <p:extLst>
      <p:ext uri="{BB962C8B-B14F-4D97-AF65-F5344CB8AC3E}">
        <p14:creationId xmlns:p14="http://schemas.microsoft.com/office/powerpoint/2010/main" val="482308218"/>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C62F2-6245-B043-68E9-1DB801456673}"/>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EC13A0FD-DBA0-E355-9DCE-3D099FE5F5C3}"/>
              </a:ext>
            </a:extLst>
          </p:cNvPr>
          <p:cNvSpPr>
            <a:spLocks noGrp="1"/>
          </p:cNvSpPr>
          <p:nvPr>
            <p:ph type="title"/>
          </p:nvPr>
        </p:nvSpPr>
        <p:spPr/>
        <p:txBody>
          <a:bodyPr>
            <a:normAutofit fontScale="90000"/>
          </a:bodyPr>
          <a:lstStyle/>
          <a:p>
            <a:r>
              <a:rPr lang="en-US" dirty="0"/>
              <a:t>Vehicular cloud research</a:t>
            </a:r>
          </a:p>
        </p:txBody>
      </p:sp>
      <p:sp>
        <p:nvSpPr>
          <p:cNvPr id="16" name="Text Placeholder 2">
            <a:extLst>
              <a:ext uri="{FF2B5EF4-FFF2-40B4-BE49-F238E27FC236}">
                <a16:creationId xmlns:a16="http://schemas.microsoft.com/office/drawing/2014/main" id="{C4B34656-D3B2-73BF-1100-CE7B63AC8EDD}"/>
              </a:ext>
            </a:extLst>
          </p:cNvPr>
          <p:cNvSpPr>
            <a:spLocks noGrp="1"/>
          </p:cNvSpPr>
          <p:nvPr>
            <p:ph type="body" sz="quarter" idx="10"/>
          </p:nvPr>
        </p:nvSpPr>
        <p:spPr/>
        <p:txBody>
          <a:bodyPr/>
          <a:lstStyle/>
          <a:p>
            <a:r>
              <a:rPr lang="en-US" dirty="0"/>
              <a:t>challenge</a:t>
            </a:r>
          </a:p>
        </p:txBody>
      </p:sp>
      <p:sp>
        <p:nvSpPr>
          <p:cNvPr id="18" name="Text Placeholder 3">
            <a:extLst>
              <a:ext uri="{FF2B5EF4-FFF2-40B4-BE49-F238E27FC236}">
                <a16:creationId xmlns:a16="http://schemas.microsoft.com/office/drawing/2014/main" id="{23058D4B-CDD4-C4F3-9F0E-70851A894C9F}"/>
              </a:ext>
            </a:extLst>
          </p:cNvPr>
          <p:cNvSpPr>
            <a:spLocks noGrp="1"/>
          </p:cNvSpPr>
          <p:nvPr>
            <p:ph sz="quarter" idx="11"/>
          </p:nvPr>
        </p:nvSpPr>
        <p:spPr/>
        <p:txBody>
          <a:bodyPr/>
          <a:lstStyle/>
          <a:p>
            <a:r>
              <a:rPr lang="en-US" dirty="0"/>
              <a:t>Architectural Challenges.</a:t>
            </a:r>
          </a:p>
          <a:p>
            <a:r>
              <a:rPr lang="en-US" dirty="0"/>
              <a:t>Operational and Policy Challenges.</a:t>
            </a:r>
          </a:p>
          <a:p>
            <a:r>
              <a:rPr lang="en-US" dirty="0"/>
              <a:t>VC server consolidation.</a:t>
            </a:r>
          </a:p>
          <a:p>
            <a:endParaRPr lang="en-US" dirty="0"/>
          </a:p>
        </p:txBody>
      </p:sp>
    </p:spTree>
    <p:extLst>
      <p:ext uri="{BB962C8B-B14F-4D97-AF65-F5344CB8AC3E}">
        <p14:creationId xmlns:p14="http://schemas.microsoft.com/office/powerpoint/2010/main" val="2062671988"/>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E3802-7A6B-045C-EDB6-44994979DE93}"/>
              </a:ext>
            </a:extLst>
          </p:cNvPr>
          <p:cNvSpPr>
            <a:spLocks noGrp="1"/>
          </p:cNvSpPr>
          <p:nvPr>
            <p:ph type="title"/>
          </p:nvPr>
        </p:nvSpPr>
        <p:spPr/>
        <p:txBody>
          <a:bodyPr>
            <a:normAutofit fontScale="90000"/>
          </a:bodyPr>
          <a:lstStyle/>
          <a:p>
            <a:r>
              <a:rPr lang="en-US" dirty="0"/>
              <a:t>Exercise</a:t>
            </a:r>
          </a:p>
        </p:txBody>
      </p:sp>
      <p:sp>
        <p:nvSpPr>
          <p:cNvPr id="6" name="Text Placeholder 5">
            <a:extLst>
              <a:ext uri="{FF2B5EF4-FFF2-40B4-BE49-F238E27FC236}">
                <a16:creationId xmlns:a16="http://schemas.microsoft.com/office/drawing/2014/main" id="{B96B59B6-648E-8EB4-6907-07002D2ECFF4}"/>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1B73F1C5-C00D-0663-602C-B03399D4648E}"/>
              </a:ext>
            </a:extLst>
          </p:cNvPr>
          <p:cNvSpPr>
            <a:spLocks noGrp="1"/>
          </p:cNvSpPr>
          <p:nvPr>
            <p:ph sz="quarter" idx="11"/>
          </p:nvPr>
        </p:nvSpPr>
        <p:spPr/>
        <p:txBody>
          <a:bodyPr/>
          <a:lstStyle/>
          <a:p>
            <a:pPr marL="571500" indent="-571500">
              <a:buFont typeface="Arial" panose="020B0604020202020204" pitchFamily="34" charset="0"/>
              <a:buChar char="•"/>
            </a:pPr>
            <a:r>
              <a:rPr lang="en-US" dirty="0"/>
              <a:t>The use of quantum computing will be a disruption computer and network security , discuss example of it!</a:t>
            </a:r>
          </a:p>
        </p:txBody>
      </p:sp>
    </p:spTree>
    <p:extLst>
      <p:ext uri="{BB962C8B-B14F-4D97-AF65-F5344CB8AC3E}">
        <p14:creationId xmlns:p14="http://schemas.microsoft.com/office/powerpoint/2010/main" val="2873593984"/>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532BAF-F517-BE43-A4AD-CC09CFE100BF}"/>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References</a:t>
            </a:r>
            <a:endParaRPr lang="en-US" dirty="0"/>
          </a:p>
        </p:txBody>
      </p:sp>
      <p:sp>
        <p:nvSpPr>
          <p:cNvPr id="4" name="Text Placeholder 3">
            <a:extLst>
              <a:ext uri="{FF2B5EF4-FFF2-40B4-BE49-F238E27FC236}">
                <a16:creationId xmlns:a16="http://schemas.microsoft.com/office/drawing/2014/main" id="{4C5FD19C-A63E-2EAD-8D32-134F78AD48CF}"/>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9902DD5D-7D42-CDFC-EC63-F37424D818B8}"/>
              </a:ext>
            </a:extLst>
          </p:cNvPr>
          <p:cNvSpPr>
            <a:spLocks noGrp="1"/>
          </p:cNvSpPr>
          <p:nvPr>
            <p:ph sz="quarter" idx="11"/>
          </p:nvPr>
        </p:nvSpPr>
        <p:spPr/>
        <p:txBody>
          <a:bodyPr/>
          <a:lstStyle/>
          <a:p>
            <a:r>
              <a:rPr lang="en-US" dirty="0"/>
              <a:t>Marinescu, Dan C. (2022). Cloud Computing Theory and Practice: 3rd Edition. Morgan Kaufmann Publishers. ISBN: 978-0-323-85277-7</a:t>
            </a:r>
          </a:p>
          <a:p>
            <a:r>
              <a:rPr lang="en-US" dirty="0">
                <a:hlinkClick r:id="rId3"/>
              </a:rPr>
              <a:t>https://aws.amazon.com/ai/machine-learning/</a:t>
            </a:r>
            <a:endParaRPr lang="en-US" dirty="0"/>
          </a:p>
          <a:p>
            <a:r>
              <a:rPr lang="en-US" dirty="0"/>
              <a:t>http://link.springer.com/chapter/10.1007/978-3-319-93332-0_6</a:t>
            </a:r>
          </a:p>
        </p:txBody>
      </p:sp>
    </p:spTree>
    <p:extLst>
      <p:ext uri="{BB962C8B-B14F-4D97-AF65-F5344CB8AC3E}">
        <p14:creationId xmlns:p14="http://schemas.microsoft.com/office/powerpoint/2010/main" val="1730510924"/>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B9CA93-CCBC-0E81-9FD6-1A448158A5B2}"/>
              </a:ext>
            </a:extLst>
          </p:cNvPr>
          <p:cNvSpPr>
            <a:spLocks noGrp="1"/>
          </p:cNvSpPr>
          <p:nvPr>
            <p:ph type="title"/>
          </p:nvPr>
        </p:nvSpPr>
        <p:spPr>
          <a:xfrm>
            <a:off x="1206498" y="4535865"/>
            <a:ext cx="21971004" cy="3746281"/>
          </a:xfrm>
        </p:spPr>
        <p:txBody>
          <a:bodyPr/>
          <a:lstStyle/>
          <a:p>
            <a:r>
              <a:rPr lang="en-US" dirty="0"/>
              <a:t>Thankyou</a:t>
            </a:r>
          </a:p>
        </p:txBody>
      </p:sp>
    </p:spTree>
    <p:extLst>
      <p:ext uri="{BB962C8B-B14F-4D97-AF65-F5344CB8AC3E}">
        <p14:creationId xmlns:p14="http://schemas.microsoft.com/office/powerpoint/2010/main" val="67926594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FEBCA056-F2A5-496F-A830-7BAED988D208}" vid="{3C0D7A97-88A3-424B-BF48-73EB1D05E1BE}"/>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OR 10</Template>
  <TotalTime>1093</TotalTime>
  <Words>1618</Words>
  <Application>Microsoft Office PowerPoint</Application>
  <PresentationFormat>Custom</PresentationFormat>
  <Paragraphs>101</Paragraphs>
  <Slides>26</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Open Sans Light</vt:lpstr>
      <vt:lpstr>Open Sans ExtraBold</vt:lpstr>
      <vt:lpstr>Tahoma</vt:lpstr>
      <vt:lpstr>Open Sans</vt:lpstr>
      <vt:lpstr>Open Sans Semibold</vt:lpstr>
      <vt:lpstr>OCRB</vt:lpstr>
      <vt:lpstr>Arial</vt:lpstr>
      <vt:lpstr>21_BasicWhite</vt:lpstr>
      <vt:lpstr>Emerging Clouds  Session 13</vt:lpstr>
      <vt:lpstr>Learning outcomes</vt:lpstr>
      <vt:lpstr>Outline</vt:lpstr>
      <vt:lpstr>A Short-term Forecast</vt:lpstr>
      <vt:lpstr>A Short-time Forecast</vt:lpstr>
      <vt:lpstr>A Short-time Forecast</vt:lpstr>
      <vt:lpstr>A Short-time Forecast</vt:lpstr>
      <vt:lpstr>Machine Learning on Clouds</vt:lpstr>
      <vt:lpstr>Ml on cloud</vt:lpstr>
      <vt:lpstr>Quantum Computing on Clouds</vt:lpstr>
      <vt:lpstr>Quantum Theory and Quantum Mechanics</vt:lpstr>
      <vt:lpstr>Quantum information processing</vt:lpstr>
      <vt:lpstr>Quantum Computing</vt:lpstr>
      <vt:lpstr>Quantum Parallelism and Quantum Algorithms</vt:lpstr>
      <vt:lpstr>Quantum Computers</vt:lpstr>
      <vt:lpstr>Quantum computers</vt:lpstr>
      <vt:lpstr>Cloud Access to Quantum Simulation Software</vt:lpstr>
      <vt:lpstr>Cloud Access to Quantum Simulation Software</vt:lpstr>
      <vt:lpstr>Cloud Access to Quantum Simulation Software</vt:lpstr>
      <vt:lpstr>Vehicular Clouds</vt:lpstr>
      <vt:lpstr>Vehicular Clouds</vt:lpstr>
      <vt:lpstr>VC Resource management</vt:lpstr>
      <vt:lpstr>Vehicular cloud research</vt:lpstr>
      <vt:lpstr>Exercise</vt:lpstr>
      <vt:lpstr>References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Kali Linux</dc:title>
  <dc:creator>NICHOLAUS HENDRIK JEREMY</dc:creator>
  <cp:lastModifiedBy>Samuel Philip</cp:lastModifiedBy>
  <cp:revision>22</cp:revision>
  <dcterms:created xsi:type="dcterms:W3CDTF">2023-06-28T08:14:57Z</dcterms:created>
  <dcterms:modified xsi:type="dcterms:W3CDTF">2026-01-09T07:54:25Z</dcterms:modified>
</cp:coreProperties>
</file>