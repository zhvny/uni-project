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7"/>
  </p:notesMasterIdLst>
  <p:sldIdLst>
    <p:sldId id="256" r:id="rId2"/>
    <p:sldId id="278" r:id="rId3"/>
    <p:sldId id="257" r:id="rId4"/>
    <p:sldId id="264" r:id="rId5"/>
    <p:sldId id="297" r:id="rId6"/>
    <p:sldId id="341" r:id="rId7"/>
    <p:sldId id="342" r:id="rId8"/>
    <p:sldId id="343" r:id="rId9"/>
    <p:sldId id="303" r:id="rId10"/>
    <p:sldId id="301" r:id="rId11"/>
    <p:sldId id="339" r:id="rId12"/>
    <p:sldId id="344" r:id="rId13"/>
    <p:sldId id="345" r:id="rId14"/>
    <p:sldId id="346" r:id="rId15"/>
    <p:sldId id="347" r:id="rId16"/>
    <p:sldId id="337" r:id="rId17"/>
    <p:sldId id="321" r:id="rId18"/>
    <p:sldId id="348" r:id="rId19"/>
    <p:sldId id="349" r:id="rId20"/>
    <p:sldId id="350" r:id="rId21"/>
    <p:sldId id="351" r:id="rId22"/>
    <p:sldId id="352" r:id="rId23"/>
    <p:sldId id="315" r:id="rId24"/>
    <p:sldId id="317" r:id="rId25"/>
    <p:sldId id="296" r:id="rId26"/>
  </p:sldIdLst>
  <p:sldSz cx="24384000" cy="13716000"/>
  <p:notesSz cx="6858000" cy="9144000"/>
  <p:embeddedFontLst>
    <p:embeddedFont>
      <p:font typeface="Cambria Math" panose="02040503050406030204" pitchFamily="18" charset="0"/>
      <p:regular r:id="rId28"/>
    </p:embeddedFont>
    <p:embeddedFont>
      <p:font typeface="OCRB" panose="020B0609020202020204" pitchFamily="49" charset="0"/>
      <p:regular r:id="rId29"/>
    </p:embeddedFont>
    <p:embeddedFont>
      <p:font typeface="Open Sans" panose="020B0606030504020204" pitchFamily="34" charset="0"/>
      <p:regular r:id="rId30"/>
      <p:bold r:id="rId31"/>
      <p:italic r:id="rId32"/>
      <p:boldItalic r:id="rId33"/>
    </p:embeddedFont>
    <p:embeddedFont>
      <p:font typeface="Open Sans ExtraBold" panose="020B0906030804020204" pitchFamily="34" charset="0"/>
      <p:bold r:id="rId34"/>
      <p:italic r:id="rId35"/>
      <p:boldItalic r:id="rId36"/>
    </p:embeddedFont>
    <p:embeddedFont>
      <p:font typeface="Open Sans Light" panose="020B0306030504020204" pitchFamily="34" charset="0"/>
      <p:regular r:id="rId37"/>
      <p:italic r:id="rId38"/>
    </p:embeddedFont>
    <p:embeddedFont>
      <p:font typeface="Open Sans Semibold" panose="020B0706030804020204" pitchFamily="34" charset="0"/>
      <p:regular r:id="rId39"/>
      <p:bold r:id="rId40"/>
      <p:italic r:id="rId41"/>
      <p:boldItalic r:id="rId42"/>
    </p:embeddedFont>
    <p:embeddedFont>
      <p:font typeface="Tahoma" panose="020B0604030504040204" pitchFamily="34" charset="0"/>
      <p:regular r:id="rId43"/>
      <p:bold r:id="rId4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varScale="1">
        <p:scale>
          <a:sx n="39" d="100"/>
          <a:sy n="39" d="100"/>
        </p:scale>
        <p:origin x="888" y="9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Multi-BSP model. </a:t>
            </a:r>
          </a:p>
          <a:p>
            <a:r>
              <a:rPr lang="en-US" dirty="0"/>
              <a:t>A depth-d model is a tree of depth d with caches and memory as the internal nodes of the tree and the processors at the leaves. </a:t>
            </a:r>
          </a:p>
          <a:p>
            <a:r>
              <a:rPr lang="en-US" dirty="0"/>
              <a:t>pi—the number of (</a:t>
            </a:r>
            <a:r>
              <a:rPr lang="en-US" dirty="0" err="1"/>
              <a:t>i</a:t>
            </a:r>
            <a:r>
              <a:rPr lang="en-US" dirty="0"/>
              <a:t> − 1) level components inside an </a:t>
            </a:r>
            <a:r>
              <a:rPr lang="en-US" dirty="0" err="1"/>
              <a:t>i-th</a:t>
            </a:r>
            <a:r>
              <a:rPr lang="en-US" dirty="0"/>
              <a:t> level component; </a:t>
            </a:r>
          </a:p>
          <a:p>
            <a:r>
              <a:rPr lang="en-US" dirty="0" err="1"/>
              <a:t>gi</a:t>
            </a:r>
            <a:r>
              <a:rPr lang="en-US" dirty="0"/>
              <a:t>—the communication bandwidth; </a:t>
            </a:r>
          </a:p>
          <a:p>
            <a:r>
              <a:rPr lang="en-US" dirty="0"/>
              <a:t>Li—the cost for barrier synchronization for a level-</a:t>
            </a:r>
            <a:r>
              <a:rPr lang="en-US" dirty="0" err="1"/>
              <a:t>i</a:t>
            </a:r>
            <a:r>
              <a:rPr lang="en-US" dirty="0"/>
              <a:t> </a:t>
            </a:r>
            <a:r>
              <a:rPr lang="en-US" dirty="0" err="1"/>
              <a:t>superstep</a:t>
            </a:r>
            <a:r>
              <a:rPr lang="en-US" dirty="0"/>
              <a:t>; </a:t>
            </a:r>
          </a:p>
          <a:p>
            <a:r>
              <a:rPr lang="en-US" dirty="0"/>
              <a:t>mi—the number of words of memory inside an </a:t>
            </a:r>
            <a:r>
              <a:rPr lang="en-US" dirty="0" err="1"/>
              <a:t>i-th</a:t>
            </a:r>
            <a:r>
              <a:rPr lang="en-US" dirty="0"/>
              <a:t> level component.</a:t>
            </a:r>
          </a:p>
          <a:p>
            <a:endParaRPr lang="en-US" dirty="0"/>
          </a:p>
        </p:txBody>
      </p:sp>
    </p:spTree>
    <p:extLst>
      <p:ext uri="{BB962C8B-B14F-4D97-AF65-F5344CB8AC3E}">
        <p14:creationId xmlns:p14="http://schemas.microsoft.com/office/powerpoint/2010/main" val="3829215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967C3-36D6-27C5-44C9-17B8C6047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209A2-934B-C23E-3C54-04A8D891D0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E9F2241-5970-D1D3-3294-C8F97F11BBD0}"/>
              </a:ext>
            </a:extLst>
          </p:cNvPr>
          <p:cNvSpPr>
            <a:spLocks noGrp="1"/>
          </p:cNvSpPr>
          <p:nvPr>
            <p:ph type="body" idx="1"/>
          </p:nvPr>
        </p:nvSpPr>
        <p:spPr/>
        <p:txBody>
          <a:bodyPr/>
          <a:lstStyle/>
          <a:p>
            <a:r>
              <a:rPr lang="en-US" dirty="0"/>
              <a:t>Multi-BSP model. </a:t>
            </a:r>
          </a:p>
          <a:p>
            <a:r>
              <a:rPr lang="en-US" dirty="0"/>
              <a:t>A depth-d model is a tree of depth d with caches and memory as the internal nodes of the tree and the processors at the leaves. </a:t>
            </a:r>
          </a:p>
          <a:p>
            <a:r>
              <a:rPr lang="en-US" dirty="0"/>
              <a:t>pi—the number of (</a:t>
            </a:r>
            <a:r>
              <a:rPr lang="en-US" dirty="0" err="1"/>
              <a:t>i</a:t>
            </a:r>
            <a:r>
              <a:rPr lang="en-US" dirty="0"/>
              <a:t> − 1) level components inside an </a:t>
            </a:r>
            <a:r>
              <a:rPr lang="en-US" dirty="0" err="1"/>
              <a:t>i-th</a:t>
            </a:r>
            <a:r>
              <a:rPr lang="en-US" dirty="0"/>
              <a:t> level component; </a:t>
            </a:r>
          </a:p>
          <a:p>
            <a:r>
              <a:rPr lang="en-US" dirty="0" err="1"/>
              <a:t>gi</a:t>
            </a:r>
            <a:r>
              <a:rPr lang="en-US" dirty="0"/>
              <a:t>—the communication bandwidth; </a:t>
            </a:r>
          </a:p>
          <a:p>
            <a:r>
              <a:rPr lang="en-US" dirty="0"/>
              <a:t>Li—the cost for barrier synchronization for a level-</a:t>
            </a:r>
            <a:r>
              <a:rPr lang="en-US" dirty="0" err="1"/>
              <a:t>i</a:t>
            </a:r>
            <a:r>
              <a:rPr lang="en-US" dirty="0"/>
              <a:t> </a:t>
            </a:r>
            <a:r>
              <a:rPr lang="en-US" dirty="0" err="1"/>
              <a:t>superstep</a:t>
            </a:r>
            <a:r>
              <a:rPr lang="en-US" dirty="0"/>
              <a:t>; </a:t>
            </a:r>
          </a:p>
          <a:p>
            <a:r>
              <a:rPr lang="en-US" dirty="0"/>
              <a:t>mi—the number of words of memory inside an </a:t>
            </a:r>
            <a:r>
              <a:rPr lang="en-US" dirty="0" err="1"/>
              <a:t>i-th</a:t>
            </a:r>
            <a:r>
              <a:rPr lang="en-US" dirty="0"/>
              <a:t> level component.</a:t>
            </a:r>
          </a:p>
          <a:p>
            <a:endParaRPr lang="en-US" dirty="0"/>
          </a:p>
        </p:txBody>
      </p:sp>
    </p:spTree>
    <p:extLst>
      <p:ext uri="{BB962C8B-B14F-4D97-AF65-F5344CB8AC3E}">
        <p14:creationId xmlns:p14="http://schemas.microsoft.com/office/powerpoint/2010/main" val="3058162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B42DA-8ECD-5B15-B4B5-3A40EAF75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2377E-D21C-0ADD-5D0F-B10FF9A725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118180-BDCA-1B08-4C36-7ED889A14AD6}"/>
              </a:ext>
            </a:extLst>
          </p:cNvPr>
          <p:cNvSpPr>
            <a:spLocks noGrp="1"/>
          </p:cNvSpPr>
          <p:nvPr>
            <p:ph type="body" idx="1"/>
          </p:nvPr>
        </p:nvSpPr>
        <p:spPr/>
        <p:txBody>
          <a:bodyPr/>
          <a:lstStyle/>
          <a:p>
            <a:r>
              <a:rPr lang="en-US" dirty="0"/>
              <a:t>Multi-BSP model. </a:t>
            </a:r>
          </a:p>
          <a:p>
            <a:r>
              <a:rPr lang="en-US" dirty="0"/>
              <a:t>A depth-d model is a tree of depth d with caches and memory as the internal nodes of the tree and the processors at the leaves. </a:t>
            </a:r>
          </a:p>
          <a:p>
            <a:r>
              <a:rPr lang="en-US" dirty="0"/>
              <a:t>pi—the number of (</a:t>
            </a:r>
            <a:r>
              <a:rPr lang="en-US" dirty="0" err="1"/>
              <a:t>i</a:t>
            </a:r>
            <a:r>
              <a:rPr lang="en-US" dirty="0"/>
              <a:t> − 1) level components inside an </a:t>
            </a:r>
            <a:r>
              <a:rPr lang="en-US" dirty="0" err="1"/>
              <a:t>i-th</a:t>
            </a:r>
            <a:r>
              <a:rPr lang="en-US" dirty="0"/>
              <a:t> level component; </a:t>
            </a:r>
          </a:p>
          <a:p>
            <a:r>
              <a:rPr lang="en-US" dirty="0" err="1"/>
              <a:t>gi</a:t>
            </a:r>
            <a:r>
              <a:rPr lang="en-US" dirty="0"/>
              <a:t>—the communication bandwidth; </a:t>
            </a:r>
          </a:p>
          <a:p>
            <a:r>
              <a:rPr lang="en-US" dirty="0"/>
              <a:t>Li—the cost for barrier synchronization for a level-</a:t>
            </a:r>
            <a:r>
              <a:rPr lang="en-US" dirty="0" err="1"/>
              <a:t>i</a:t>
            </a:r>
            <a:r>
              <a:rPr lang="en-US" dirty="0"/>
              <a:t> </a:t>
            </a:r>
            <a:r>
              <a:rPr lang="en-US" dirty="0" err="1"/>
              <a:t>superstep</a:t>
            </a:r>
            <a:r>
              <a:rPr lang="en-US" dirty="0"/>
              <a:t>; </a:t>
            </a:r>
          </a:p>
          <a:p>
            <a:r>
              <a:rPr lang="en-US" dirty="0"/>
              <a:t>mi—the number of words of memory inside an </a:t>
            </a:r>
            <a:r>
              <a:rPr lang="en-US" dirty="0" err="1"/>
              <a:t>i-th</a:t>
            </a:r>
            <a:r>
              <a:rPr lang="en-US" dirty="0"/>
              <a:t> level component.</a:t>
            </a:r>
          </a:p>
          <a:p>
            <a:endParaRPr lang="en-US" dirty="0"/>
          </a:p>
        </p:txBody>
      </p:sp>
    </p:spTree>
    <p:extLst>
      <p:ext uri="{BB962C8B-B14F-4D97-AF65-F5344CB8AC3E}">
        <p14:creationId xmlns:p14="http://schemas.microsoft.com/office/powerpoint/2010/main" val="3928986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918C-94BA-768D-0DAB-4F7B7EB2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1B7B2-98E1-973B-DB1A-E34DFC03EC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864438-4B75-9973-2FD3-870FD207506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927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D2078-7AE1-61A4-DFD4-745848F34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512F3-D04A-5A23-7BE3-58F50E99E3B8}"/>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7D6A4FE-9484-0614-9533-3B0B6C1B666A}"/>
                  </a:ext>
                </a:extLst>
              </p:cNvPr>
              <p:cNvSpPr>
                <a:spLocks noGrp="1"/>
              </p:cNvSpPr>
              <p:nvPr>
                <p:ph type="body" idx="1"/>
              </p:nvPr>
            </p:nvSpPr>
            <p:spPr/>
            <p:txBody>
              <a:bodyPr/>
              <a:lstStyle/>
              <a:p>
                <a:r>
                  <a:rPr lang="en-US" dirty="0"/>
                  <a:t>Three processes and their logical clocks; </a:t>
                </a:r>
              </a:p>
              <a:p>
                <a:r>
                  <a:rPr lang="en-US" dirty="0"/>
                  <a:t>The usual labeling of events as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2</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3</m:t>
                        </m:r>
                      </m:sub>
                      <m:sup>
                        <m:r>
                          <a:rPr lang="en-US" b="0" i="1" smtClean="0">
                            <a:latin typeface="Cambria Math" panose="02040503050406030204" pitchFamily="18" charset="0"/>
                          </a:rPr>
                          <m:t>1</m:t>
                        </m:r>
                      </m:sup>
                    </m:sSubSup>
                  </m:oMath>
                </a14:m>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→1,</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5</m:t>
                        </m:r>
                      </m:sub>
                      <m:sup>
                        <m:r>
                          <a:rPr lang="en-US" b="0" i="1" smtClean="0">
                            <a:latin typeface="Cambria Math" panose="02040503050406030204" pitchFamily="18" charset="0"/>
                          </a:rPr>
                          <m:t>1</m:t>
                        </m:r>
                      </m:sup>
                    </m:sSubSup>
                    <m:r>
                      <a:rPr lang="en-US" b="0" i="1" smtClean="0">
                        <a:latin typeface="Cambria Math" panose="02040503050406030204" pitchFamily="18" charset="0"/>
                      </a:rPr>
                      <m:t>→5,</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2</m:t>
                        </m:r>
                      </m:sup>
                    </m:sSubSup>
                    <m:r>
                      <a:rPr lang="en-US" b="0" i="1" smtClean="0">
                        <a:latin typeface="Cambria Math" panose="02040503050406030204" pitchFamily="18" charset="0"/>
                      </a:rPr>
                      <m:t>→7,</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3</m:t>
                        </m:r>
                      </m:sup>
                    </m:sSubSup>
                    <m:r>
                      <a:rPr lang="en-US" b="0" i="1" smtClean="0">
                        <a:latin typeface="Cambria Math" panose="02040503050406030204" pitchFamily="18" charset="0"/>
                      </a:rPr>
                      <m:t>→10,</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6</m:t>
                        </m:r>
                      </m:sub>
                      <m:sup>
                        <m:r>
                          <a:rPr lang="en-US" b="0" i="1" smtClean="0">
                            <a:latin typeface="Cambria Math" panose="02040503050406030204" pitchFamily="18" charset="0"/>
                          </a:rPr>
                          <m:t>1</m:t>
                        </m:r>
                      </m:sup>
                    </m:sSubSup>
                    <m:r>
                      <a:rPr lang="en-US" b="0" i="1" smtClean="0">
                        <a:latin typeface="Cambria Math" panose="02040503050406030204" pitchFamily="18" charset="0"/>
                      </a:rPr>
                      <m:t>→12,</m:t>
                    </m:r>
                  </m:oMath>
                </a14:m>
                <a:r>
                  <a:rPr lang="en-US" dirty="0"/>
                  <a:t> etc. </a:t>
                </a:r>
              </a:p>
              <a:p>
                <a:r>
                  <a:rPr lang="en-US" dirty="0"/>
                  <a:t>Global ordering of all events is not possible; there is no way to establish the ordering of events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dirty="0"/>
                  <a:t>.</a:t>
                </a:r>
              </a:p>
              <a:p>
                <a:endParaRPr lang="en-US" dirty="0"/>
              </a:p>
            </p:txBody>
          </p:sp>
        </mc:Choice>
        <mc:Fallback xmlns="">
          <p:sp>
            <p:nvSpPr>
              <p:cNvPr id="3" name="Notes Placeholder 2">
                <a:extLst>
                  <a:ext uri="{FF2B5EF4-FFF2-40B4-BE49-F238E27FC236}">
                    <a16:creationId xmlns:a16="http://schemas.microsoft.com/office/drawing/2014/main" id="{07D6A4FE-9484-0614-9533-3B0B6C1B666A}"/>
                  </a:ext>
                </a:extLst>
              </p:cNvPr>
              <p:cNvSpPr>
                <a:spLocks noGrp="1"/>
              </p:cNvSpPr>
              <p:nvPr>
                <p:ph type="body" idx="1"/>
              </p:nvPr>
            </p:nvSpPr>
            <p:spPr/>
            <p:txBody>
              <a:bodyPr/>
              <a:lstStyle/>
              <a:p>
                <a:r>
                  <a:rPr lang="en-US" dirty="0"/>
                  <a:t>Three processes and their logical clocks; </a:t>
                </a:r>
              </a:p>
              <a:p>
                <a:r>
                  <a:rPr lang="en-US" dirty="0"/>
                  <a:t>The usual labeling of events as </a:t>
                </a:r>
                <a:r>
                  <a:rPr lang="en-US" b="0" i="0">
                    <a:latin typeface="Cambria Math" panose="02040503050406030204" pitchFamily="18" charset="0"/>
                  </a:rPr>
                  <a:t>𝑒_1^1,𝑒_2^1</a:t>
                </a:r>
                <a:r>
                  <a:rPr lang="en-US" dirty="0"/>
                  <a:t>, </a:t>
                </a:r>
                <a:r>
                  <a:rPr lang="en-US" b="0" i="0">
                    <a:latin typeface="Cambria Math" panose="02040503050406030204" pitchFamily="18" charset="0"/>
                  </a:rPr>
                  <a:t>𝑒_3^1</a:t>
                </a:r>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𝑒_1^3→1,𝑒_5^1→5,𝑒_4^2→7,𝑒_4^3→10,𝑒_6^1→12,</a:t>
                </a:r>
                <a:r>
                  <a:rPr lang="en-US" dirty="0"/>
                  <a:t> etc. </a:t>
                </a:r>
              </a:p>
              <a:p>
                <a:r>
                  <a:rPr lang="en-US" dirty="0"/>
                  <a:t>Global ordering of all events is not possible; there is no way to establish the ordering of events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𝑎𝑛𝑑 𝑒_1^3</a:t>
                </a:r>
                <a:r>
                  <a:rPr lang="en-US" dirty="0"/>
                  <a:t>.</a:t>
                </a:r>
              </a:p>
              <a:p>
                <a:endParaRPr lang="en-US" dirty="0"/>
              </a:p>
            </p:txBody>
          </p:sp>
        </mc:Fallback>
      </mc:AlternateContent>
    </p:spTree>
    <p:extLst>
      <p:ext uri="{BB962C8B-B14F-4D97-AF65-F5344CB8AC3E}">
        <p14:creationId xmlns:p14="http://schemas.microsoft.com/office/powerpoint/2010/main" val="2403739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661AB-2B69-BD52-3E06-18D777D59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77C95-D364-400F-A5E1-78C9A2A55FDB}"/>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9F8ED82-234F-E3F3-43C3-DE3E0A87F602}"/>
                  </a:ext>
                </a:extLst>
              </p:cNvPr>
              <p:cNvSpPr>
                <a:spLocks noGrp="1"/>
              </p:cNvSpPr>
              <p:nvPr>
                <p:ph type="body" idx="1"/>
              </p:nvPr>
            </p:nvSpPr>
            <p:spPr/>
            <p:txBody>
              <a:bodyPr/>
              <a:lstStyle/>
              <a:p>
                <a:r>
                  <a:rPr lang="en-US" dirty="0"/>
                  <a:t>Three processes and their logical clocks; </a:t>
                </a:r>
              </a:p>
              <a:p>
                <a:r>
                  <a:rPr lang="en-US" dirty="0"/>
                  <a:t>The usual labeling of events as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2</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3</m:t>
                        </m:r>
                      </m:sub>
                      <m:sup>
                        <m:r>
                          <a:rPr lang="en-US" b="0" i="1" smtClean="0">
                            <a:latin typeface="Cambria Math" panose="02040503050406030204" pitchFamily="18" charset="0"/>
                          </a:rPr>
                          <m:t>1</m:t>
                        </m:r>
                      </m:sup>
                    </m:sSubSup>
                  </m:oMath>
                </a14:m>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→1,</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5</m:t>
                        </m:r>
                      </m:sub>
                      <m:sup>
                        <m:r>
                          <a:rPr lang="en-US" b="0" i="1" smtClean="0">
                            <a:latin typeface="Cambria Math" panose="02040503050406030204" pitchFamily="18" charset="0"/>
                          </a:rPr>
                          <m:t>1</m:t>
                        </m:r>
                      </m:sup>
                    </m:sSubSup>
                    <m:r>
                      <a:rPr lang="en-US" b="0" i="1" smtClean="0">
                        <a:latin typeface="Cambria Math" panose="02040503050406030204" pitchFamily="18" charset="0"/>
                      </a:rPr>
                      <m:t>→5,</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2</m:t>
                        </m:r>
                      </m:sup>
                    </m:sSubSup>
                    <m:r>
                      <a:rPr lang="en-US" b="0" i="1" smtClean="0">
                        <a:latin typeface="Cambria Math" panose="02040503050406030204" pitchFamily="18" charset="0"/>
                      </a:rPr>
                      <m:t>→7,</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3</m:t>
                        </m:r>
                      </m:sup>
                    </m:sSubSup>
                    <m:r>
                      <a:rPr lang="en-US" b="0" i="1" smtClean="0">
                        <a:latin typeface="Cambria Math" panose="02040503050406030204" pitchFamily="18" charset="0"/>
                      </a:rPr>
                      <m:t>→10,</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6</m:t>
                        </m:r>
                      </m:sub>
                      <m:sup>
                        <m:r>
                          <a:rPr lang="en-US" b="0" i="1" smtClean="0">
                            <a:latin typeface="Cambria Math" panose="02040503050406030204" pitchFamily="18" charset="0"/>
                          </a:rPr>
                          <m:t>1</m:t>
                        </m:r>
                      </m:sup>
                    </m:sSubSup>
                    <m:r>
                      <a:rPr lang="en-US" b="0" i="1" smtClean="0">
                        <a:latin typeface="Cambria Math" panose="02040503050406030204" pitchFamily="18" charset="0"/>
                      </a:rPr>
                      <m:t>→12,</m:t>
                    </m:r>
                  </m:oMath>
                </a14:m>
                <a:r>
                  <a:rPr lang="en-US" dirty="0"/>
                  <a:t> etc. </a:t>
                </a:r>
              </a:p>
              <a:p>
                <a:r>
                  <a:rPr lang="en-US" dirty="0"/>
                  <a:t>Global ordering of all events is not possible; there is no way to establish the ordering of events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dirty="0"/>
                  <a:t>.</a:t>
                </a:r>
              </a:p>
              <a:p>
                <a:endParaRPr lang="en-US" dirty="0"/>
              </a:p>
            </p:txBody>
          </p:sp>
        </mc:Choice>
        <mc:Fallback xmlns="">
          <p:sp>
            <p:nvSpPr>
              <p:cNvPr id="3" name="Notes Placeholder 2">
                <a:extLst>
                  <a:ext uri="{FF2B5EF4-FFF2-40B4-BE49-F238E27FC236}">
                    <a16:creationId xmlns:a16="http://schemas.microsoft.com/office/drawing/2014/main" id="{B9F8ED82-234F-E3F3-43C3-DE3E0A87F602}"/>
                  </a:ext>
                </a:extLst>
              </p:cNvPr>
              <p:cNvSpPr>
                <a:spLocks noGrp="1"/>
              </p:cNvSpPr>
              <p:nvPr>
                <p:ph type="body" idx="1"/>
              </p:nvPr>
            </p:nvSpPr>
            <p:spPr/>
            <p:txBody>
              <a:bodyPr/>
              <a:lstStyle/>
              <a:p>
                <a:r>
                  <a:rPr lang="en-US" dirty="0"/>
                  <a:t>Three processes and their logical clocks; </a:t>
                </a:r>
              </a:p>
              <a:p>
                <a:r>
                  <a:rPr lang="en-US" dirty="0"/>
                  <a:t>The usual labeling of events as </a:t>
                </a:r>
                <a:r>
                  <a:rPr lang="en-US" b="0" i="0">
                    <a:latin typeface="Cambria Math" panose="02040503050406030204" pitchFamily="18" charset="0"/>
                  </a:rPr>
                  <a:t>𝑒_1^1,𝑒_2^1</a:t>
                </a:r>
                <a:r>
                  <a:rPr lang="en-US" dirty="0"/>
                  <a:t>, </a:t>
                </a:r>
                <a:r>
                  <a:rPr lang="en-US" b="0" i="0">
                    <a:latin typeface="Cambria Math" panose="02040503050406030204" pitchFamily="18" charset="0"/>
                  </a:rPr>
                  <a:t>𝑒_3^1</a:t>
                </a:r>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𝑒_1^3→1,𝑒_5^1→5,𝑒_4^2→7,𝑒_4^3→10,𝑒_6^1→12,</a:t>
                </a:r>
                <a:r>
                  <a:rPr lang="en-US" dirty="0"/>
                  <a:t> etc. </a:t>
                </a:r>
              </a:p>
              <a:p>
                <a:r>
                  <a:rPr lang="en-US" dirty="0"/>
                  <a:t>Global ordering of all events is not possible; there is no way to establish the ordering of events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𝑎𝑛𝑑 𝑒_1^3</a:t>
                </a:r>
                <a:r>
                  <a:rPr lang="en-US" dirty="0"/>
                  <a:t>.</a:t>
                </a:r>
              </a:p>
              <a:p>
                <a:endParaRPr lang="en-US" dirty="0"/>
              </a:p>
            </p:txBody>
          </p:sp>
        </mc:Fallback>
      </mc:AlternateContent>
    </p:spTree>
    <p:extLst>
      <p:ext uri="{BB962C8B-B14F-4D97-AF65-F5344CB8AC3E}">
        <p14:creationId xmlns:p14="http://schemas.microsoft.com/office/powerpoint/2010/main" val="2986452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7E62-8178-8F96-2035-026FBD82C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08D49-83DB-6FFD-7149-016FA8DD18F6}"/>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C73D971-EC47-D23A-FA41-713DEBEEC376}"/>
                  </a:ext>
                </a:extLst>
              </p:cNvPr>
              <p:cNvSpPr>
                <a:spLocks noGrp="1"/>
              </p:cNvSpPr>
              <p:nvPr>
                <p:ph type="body" idx="1"/>
              </p:nvPr>
            </p:nvSpPr>
            <p:spPr/>
            <p:txBody>
              <a:bodyPr/>
              <a:lstStyle/>
              <a:p>
                <a:r>
                  <a:rPr lang="en-US" dirty="0"/>
                  <a:t>Three processes and their logical clocks; </a:t>
                </a:r>
              </a:p>
              <a:p>
                <a:r>
                  <a:rPr lang="en-US" dirty="0"/>
                  <a:t>The usual labeling of events as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2</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3</m:t>
                        </m:r>
                      </m:sub>
                      <m:sup>
                        <m:r>
                          <a:rPr lang="en-US" b="0" i="1" smtClean="0">
                            <a:latin typeface="Cambria Math" panose="02040503050406030204" pitchFamily="18" charset="0"/>
                          </a:rPr>
                          <m:t>1</m:t>
                        </m:r>
                      </m:sup>
                    </m:sSubSup>
                  </m:oMath>
                </a14:m>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→1,</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5</m:t>
                        </m:r>
                      </m:sub>
                      <m:sup>
                        <m:r>
                          <a:rPr lang="en-US" b="0" i="1" smtClean="0">
                            <a:latin typeface="Cambria Math" panose="02040503050406030204" pitchFamily="18" charset="0"/>
                          </a:rPr>
                          <m:t>1</m:t>
                        </m:r>
                      </m:sup>
                    </m:sSubSup>
                    <m:r>
                      <a:rPr lang="en-US" b="0" i="1" smtClean="0">
                        <a:latin typeface="Cambria Math" panose="02040503050406030204" pitchFamily="18" charset="0"/>
                      </a:rPr>
                      <m:t>→5,</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2</m:t>
                        </m:r>
                      </m:sup>
                    </m:sSubSup>
                    <m:r>
                      <a:rPr lang="en-US" b="0" i="1" smtClean="0">
                        <a:latin typeface="Cambria Math" panose="02040503050406030204" pitchFamily="18" charset="0"/>
                      </a:rPr>
                      <m:t>→7,</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3</m:t>
                        </m:r>
                      </m:sup>
                    </m:sSubSup>
                    <m:r>
                      <a:rPr lang="en-US" b="0" i="1" smtClean="0">
                        <a:latin typeface="Cambria Math" panose="02040503050406030204" pitchFamily="18" charset="0"/>
                      </a:rPr>
                      <m:t>→10,</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6</m:t>
                        </m:r>
                      </m:sub>
                      <m:sup>
                        <m:r>
                          <a:rPr lang="en-US" b="0" i="1" smtClean="0">
                            <a:latin typeface="Cambria Math" panose="02040503050406030204" pitchFamily="18" charset="0"/>
                          </a:rPr>
                          <m:t>1</m:t>
                        </m:r>
                      </m:sup>
                    </m:sSubSup>
                    <m:r>
                      <a:rPr lang="en-US" b="0" i="1" smtClean="0">
                        <a:latin typeface="Cambria Math" panose="02040503050406030204" pitchFamily="18" charset="0"/>
                      </a:rPr>
                      <m:t>→12,</m:t>
                    </m:r>
                  </m:oMath>
                </a14:m>
                <a:r>
                  <a:rPr lang="en-US" dirty="0"/>
                  <a:t> etc. </a:t>
                </a:r>
              </a:p>
              <a:p>
                <a:r>
                  <a:rPr lang="en-US" dirty="0"/>
                  <a:t>Global ordering of all events is not possible; there is no way to establish the ordering of events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dirty="0"/>
                  <a:t>.</a:t>
                </a:r>
              </a:p>
              <a:p>
                <a:endParaRPr lang="en-US" dirty="0"/>
              </a:p>
            </p:txBody>
          </p:sp>
        </mc:Choice>
        <mc:Fallback xmlns="">
          <p:sp>
            <p:nvSpPr>
              <p:cNvPr id="3" name="Notes Placeholder 2">
                <a:extLst>
                  <a:ext uri="{FF2B5EF4-FFF2-40B4-BE49-F238E27FC236}">
                    <a16:creationId xmlns:a16="http://schemas.microsoft.com/office/drawing/2014/main" id="{8C73D971-EC47-D23A-FA41-713DEBEEC376}"/>
                  </a:ext>
                </a:extLst>
              </p:cNvPr>
              <p:cNvSpPr>
                <a:spLocks noGrp="1"/>
              </p:cNvSpPr>
              <p:nvPr>
                <p:ph type="body" idx="1"/>
              </p:nvPr>
            </p:nvSpPr>
            <p:spPr/>
            <p:txBody>
              <a:bodyPr/>
              <a:lstStyle/>
              <a:p>
                <a:r>
                  <a:rPr lang="en-US" dirty="0"/>
                  <a:t>Three processes and their logical clocks; </a:t>
                </a:r>
              </a:p>
              <a:p>
                <a:r>
                  <a:rPr lang="en-US" dirty="0"/>
                  <a:t>The usual labeling of events as </a:t>
                </a:r>
                <a:r>
                  <a:rPr lang="en-US" b="0" i="0">
                    <a:latin typeface="Cambria Math" panose="02040503050406030204" pitchFamily="18" charset="0"/>
                  </a:rPr>
                  <a:t>𝑒_1^1,𝑒_2^1</a:t>
                </a:r>
                <a:r>
                  <a:rPr lang="en-US" dirty="0"/>
                  <a:t>, </a:t>
                </a:r>
                <a:r>
                  <a:rPr lang="en-US" b="0" i="0">
                    <a:latin typeface="Cambria Math" panose="02040503050406030204" pitchFamily="18" charset="0"/>
                  </a:rPr>
                  <a:t>𝑒_3^1</a:t>
                </a:r>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𝑒_1^3→1,𝑒_5^1→5,𝑒_4^2→7,𝑒_4^3→10,𝑒_6^1→12,</a:t>
                </a:r>
                <a:r>
                  <a:rPr lang="en-US" dirty="0"/>
                  <a:t> etc. </a:t>
                </a:r>
              </a:p>
              <a:p>
                <a:r>
                  <a:rPr lang="en-US" dirty="0"/>
                  <a:t>Global ordering of all events is not possible; there is no way to establish the ordering of events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𝑎𝑛𝑑 𝑒_1^3</a:t>
                </a:r>
                <a:r>
                  <a:rPr lang="en-US" dirty="0"/>
                  <a:t>.</a:t>
                </a:r>
              </a:p>
              <a:p>
                <a:endParaRPr lang="en-US" dirty="0"/>
              </a:p>
            </p:txBody>
          </p:sp>
        </mc:Fallback>
      </mc:AlternateContent>
    </p:spTree>
    <p:extLst>
      <p:ext uri="{BB962C8B-B14F-4D97-AF65-F5344CB8AC3E}">
        <p14:creationId xmlns:p14="http://schemas.microsoft.com/office/powerpoint/2010/main" val="3564725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78BF-9F60-4EEC-C705-57462E450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69E03-8DA9-1697-12CB-3BE7D1FE7B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597B62-7A34-8840-8DED-237AD518346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3720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7E8F-62EB-098B-D034-F2258C3B6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5F2DD-FDD6-4817-9854-3ECF56BFA26B}"/>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24B7188-93FA-136C-7727-3A155E17D4FC}"/>
                  </a:ext>
                </a:extLst>
              </p:cNvPr>
              <p:cNvSpPr>
                <a:spLocks noGrp="1"/>
              </p:cNvSpPr>
              <p:nvPr>
                <p:ph type="body" idx="1"/>
              </p:nvPr>
            </p:nvSpPr>
            <p:spPr/>
            <p:txBody>
              <a:bodyPr/>
              <a:lstStyle/>
              <a:p>
                <a:r>
                  <a:rPr lang="en-US" dirty="0"/>
                  <a:t>Three processes and their logical clocks; </a:t>
                </a:r>
              </a:p>
              <a:p>
                <a:r>
                  <a:rPr lang="en-US" dirty="0"/>
                  <a:t>The usual labeling of events as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2</m:t>
                        </m:r>
                      </m:sub>
                      <m:sup>
                        <m:r>
                          <a:rPr lang="en-US" b="0" i="1" smtClean="0">
                            <a:latin typeface="Cambria Math" panose="02040503050406030204" pitchFamily="18" charset="0"/>
                          </a:rPr>
                          <m:t>1</m:t>
                        </m:r>
                      </m:sup>
                    </m:sSubSup>
                  </m:oMath>
                </a14:m>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3</m:t>
                        </m:r>
                      </m:sub>
                      <m:sup>
                        <m:r>
                          <a:rPr lang="en-US" b="0" i="1" smtClean="0">
                            <a:latin typeface="Cambria Math" panose="02040503050406030204" pitchFamily="18" charset="0"/>
                          </a:rPr>
                          <m:t>1</m:t>
                        </m:r>
                      </m:sup>
                    </m:sSubSup>
                  </m:oMath>
                </a14:m>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r>
                      <a:rPr lang="en-US" b="0" i="1" smtClean="0">
                        <a:latin typeface="Cambria Math" panose="02040503050406030204" pitchFamily="18" charset="0"/>
                      </a:rPr>
                      <m:t>→1,</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5</m:t>
                        </m:r>
                      </m:sub>
                      <m:sup>
                        <m:r>
                          <a:rPr lang="en-US" b="0" i="1" smtClean="0">
                            <a:latin typeface="Cambria Math" panose="02040503050406030204" pitchFamily="18" charset="0"/>
                          </a:rPr>
                          <m:t>1</m:t>
                        </m:r>
                      </m:sup>
                    </m:sSubSup>
                    <m:r>
                      <a:rPr lang="en-US" b="0" i="1" smtClean="0">
                        <a:latin typeface="Cambria Math" panose="02040503050406030204" pitchFamily="18" charset="0"/>
                      </a:rPr>
                      <m:t>→5,</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2</m:t>
                        </m:r>
                      </m:sup>
                    </m:sSubSup>
                    <m:r>
                      <a:rPr lang="en-US" b="0" i="1" smtClean="0">
                        <a:latin typeface="Cambria Math" panose="02040503050406030204" pitchFamily="18" charset="0"/>
                      </a:rPr>
                      <m:t>→7,</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4</m:t>
                        </m:r>
                      </m:sub>
                      <m:sup>
                        <m:r>
                          <a:rPr lang="en-US" b="0" i="1" smtClean="0">
                            <a:latin typeface="Cambria Math" panose="02040503050406030204" pitchFamily="18" charset="0"/>
                          </a:rPr>
                          <m:t>3</m:t>
                        </m:r>
                      </m:sup>
                    </m:sSubSup>
                    <m:r>
                      <a:rPr lang="en-US" b="0" i="1" smtClean="0">
                        <a:latin typeface="Cambria Math" panose="02040503050406030204" pitchFamily="18" charset="0"/>
                      </a:rPr>
                      <m:t>→10,</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6</m:t>
                        </m:r>
                      </m:sub>
                      <m:sup>
                        <m:r>
                          <a:rPr lang="en-US" b="0" i="1" smtClean="0">
                            <a:latin typeface="Cambria Math" panose="02040503050406030204" pitchFamily="18" charset="0"/>
                          </a:rPr>
                          <m:t>1</m:t>
                        </m:r>
                      </m:sup>
                    </m:sSubSup>
                    <m:r>
                      <a:rPr lang="en-US" b="0" i="1" smtClean="0">
                        <a:latin typeface="Cambria Math" panose="02040503050406030204" pitchFamily="18" charset="0"/>
                      </a:rPr>
                      <m:t>→12,</m:t>
                    </m:r>
                  </m:oMath>
                </a14:m>
                <a:r>
                  <a:rPr lang="en-US" dirty="0"/>
                  <a:t> etc. </a:t>
                </a:r>
              </a:p>
              <a:p>
                <a:r>
                  <a:rPr lang="en-US" dirty="0"/>
                  <a:t>Global ordering of all events is not possible; there is no way to establish the ordering of events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1</m:t>
                        </m:r>
                      </m:sup>
                    </m:sSubSup>
                    <m:sSubSup>
                      <m:sSubSupPr>
                        <m:ctrlPr>
                          <a:rPr lang="en-US"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dirty="0"/>
                  <a:t>.</a:t>
                </a:r>
              </a:p>
              <a:p>
                <a:endParaRPr lang="en-US" dirty="0"/>
              </a:p>
            </p:txBody>
          </p:sp>
        </mc:Choice>
        <mc:Fallback xmlns="">
          <p:sp>
            <p:nvSpPr>
              <p:cNvPr id="3" name="Notes Placeholder 2">
                <a:extLst>
                  <a:ext uri="{FF2B5EF4-FFF2-40B4-BE49-F238E27FC236}">
                    <a16:creationId xmlns:a16="http://schemas.microsoft.com/office/drawing/2014/main" id="{A24B7188-93FA-136C-7727-3A155E17D4FC}"/>
                  </a:ext>
                </a:extLst>
              </p:cNvPr>
              <p:cNvSpPr>
                <a:spLocks noGrp="1"/>
              </p:cNvSpPr>
              <p:nvPr>
                <p:ph type="body" idx="1"/>
              </p:nvPr>
            </p:nvSpPr>
            <p:spPr/>
            <p:txBody>
              <a:bodyPr/>
              <a:lstStyle/>
              <a:p>
                <a:r>
                  <a:rPr lang="en-US" dirty="0"/>
                  <a:t>Three processes and their logical clocks; </a:t>
                </a:r>
              </a:p>
              <a:p>
                <a:r>
                  <a:rPr lang="en-US" dirty="0"/>
                  <a:t>The usual labeling of events as </a:t>
                </a:r>
                <a:r>
                  <a:rPr lang="en-US" b="0" i="0">
                    <a:latin typeface="Cambria Math" panose="02040503050406030204" pitchFamily="18" charset="0"/>
                  </a:rPr>
                  <a:t>𝑒_1^1,𝑒_2^1</a:t>
                </a:r>
                <a:r>
                  <a:rPr lang="en-US" dirty="0"/>
                  <a:t>, </a:t>
                </a:r>
                <a:r>
                  <a:rPr lang="en-US" b="0" i="0">
                    <a:latin typeface="Cambria Math" panose="02040503050406030204" pitchFamily="18" charset="0"/>
                  </a:rPr>
                  <a:t>𝑒_3^1</a:t>
                </a:r>
                <a:r>
                  <a:rPr lang="en-US" dirty="0"/>
                  <a:t>,... is omitted to avoid overloading the figure; </a:t>
                </a:r>
              </a:p>
              <a:p>
                <a:r>
                  <a:rPr lang="en-US" dirty="0"/>
                  <a:t>only the logical clock values for the local and for the communication events are marked. </a:t>
                </a:r>
              </a:p>
              <a:p>
                <a:r>
                  <a:rPr lang="en-US" dirty="0"/>
                  <a:t>The correspondence between the events and the logical clock values is obvious: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𝑒_1^3→1,𝑒_5^1→5,𝑒_4^2→7,𝑒_4^3→10,𝑒_6^1→12,</a:t>
                </a:r>
                <a:r>
                  <a:rPr lang="en-US" dirty="0"/>
                  <a:t> etc. </a:t>
                </a:r>
              </a:p>
              <a:p>
                <a:r>
                  <a:rPr lang="en-US" dirty="0"/>
                  <a:t>Global ordering of all events is not possible; there is no way to establish the ordering of events </a:t>
                </a:r>
                <a:r>
                  <a:rPr lang="en-US" b="0" i="0">
                    <a:latin typeface="Cambria Math" panose="02040503050406030204" pitchFamily="18" charset="0"/>
                  </a:rPr>
                  <a:t>𝑒_1^1 </a:t>
                </a:r>
                <a:r>
                  <a:rPr lang="en-US" i="0">
                    <a:latin typeface="Cambria Math" panose="02040503050406030204" pitchFamily="18" charset="0"/>
                  </a:rPr>
                  <a:t>〖</a:t>
                </a:r>
                <a:r>
                  <a:rPr lang="en-US" b="0" i="0">
                    <a:latin typeface="Cambria Math" panose="02040503050406030204" pitchFamily="18" charset="0"/>
                  </a:rPr>
                  <a:t>,𝑒〗_1^2  𝑎𝑛𝑑 𝑒_1^3</a:t>
                </a:r>
                <a:r>
                  <a:rPr lang="en-US" dirty="0"/>
                  <a:t>.</a:t>
                </a:r>
              </a:p>
              <a:p>
                <a:endParaRPr lang="en-US" dirty="0"/>
              </a:p>
            </p:txBody>
          </p:sp>
        </mc:Fallback>
      </mc:AlternateContent>
    </p:spTree>
    <p:extLst>
      <p:ext uri="{BB962C8B-B14F-4D97-AF65-F5344CB8AC3E}">
        <p14:creationId xmlns:p14="http://schemas.microsoft.com/office/powerpoint/2010/main" val="3260734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8232-A29E-4263-8CFD-C0C8E7976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2DF15-AF32-5D9F-722B-774CFB6186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2E049B-4D29-B28F-02BF-78D3DB215C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91034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E1D3-9E83-626F-01E3-4B7507B47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547C5-57BA-A74F-709F-6E6E400C8FF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AA68A5-E185-0A06-7285-6011959B681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46153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55F44-7275-C135-D749-FA093462C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9903B-BBE1-8698-668F-DA6B6F6C89C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779CF0-6F56-4DC7-3176-42677E14ADE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50351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1/9/2026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1/9/2026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a:t>Cloud </a:t>
            </a:r>
            <a:r>
              <a:rPr lang="en-US" dirty="0"/>
              <a:t>Computing</a:t>
            </a:r>
            <a:br>
              <a:rPr lang="en-US" dirty="0"/>
            </a:br>
            <a:br>
              <a:rPr lang="en-US" dirty="0"/>
            </a:br>
            <a:r>
              <a:rPr lang="en-US" sz="6000" dirty="0"/>
              <a:t>Session 10</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lnSpcReduction="10000"/>
          </a:bodyPr>
          <a:lstStyle/>
          <a:p>
            <a:r>
              <a:rPr lang="en-US" dirty="0"/>
              <a:t>(C4) Analysis : identify problems that can be solved using cloud global infrastructure</a:t>
            </a:r>
          </a:p>
          <a:p>
            <a:r>
              <a:rPr lang="en-US" dirty="0"/>
              <a:t>(C2) Comprehension : group Classify real-worlds problems in accordance with cloud computing infrastructure</a:t>
            </a:r>
          </a:p>
          <a:p>
            <a:r>
              <a:rPr lang="en-US" dirty="0"/>
              <a:t>(C4) Analysis : analyze identifying problems and choose proper Cloud Services and Cloud Infrastructure</a:t>
            </a:r>
          </a:p>
          <a:p>
            <a:r>
              <a:rPr lang="en-US" dirty="0"/>
              <a:t>(C5) Synthesis : design Cloud computing architecture and infrastructure and implementation on </a:t>
            </a:r>
            <a:r>
              <a:rPr lang="en-US" dirty="0" err="1"/>
              <a:t>applciations</a:t>
            </a:r>
            <a:endParaRPr lang="en-US"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A Model for Multicore Computing</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Communication, Logical Clocks, and Message Delivery Rules</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Load Balancing</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it-IT" dirty="0"/>
              <a:t>A Model for Multicore Computing</a:t>
            </a:r>
            <a:endParaRPr lang="en-US" dirty="0"/>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A Model for Multicore Computing</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r>
              <a:rPr lang="en-US" dirty="0"/>
              <a:t>Multi-BSP Model</a:t>
            </a:r>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dirty="0"/>
              <a:t>The computing substrate of the model includes multiple levels of cache, as well as the size of the memory. A depth-d model is a tree of depth d with caches and memory as the internal nodes of the tree and the processors at the leaves.</a:t>
            </a:r>
          </a:p>
        </p:txBody>
      </p:sp>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dirty="0"/>
              <a:t>A hierarchical computing model for multicore systems, represented as a tree of depth </a:t>
            </a:r>
            <a:r>
              <a:rPr lang="en-US" sz="2800" i="1" dirty="0"/>
              <a:t>d</a:t>
            </a:r>
            <a:r>
              <a:rPr lang="en-US" sz="2800" dirty="0"/>
              <a:t>.</a:t>
            </a:r>
          </a:p>
        </p:txBody>
      </p:sp>
      <p:pic>
        <p:nvPicPr>
          <p:cNvPr id="9" name="Picture Placeholder 8">
            <a:extLst>
              <a:ext uri="{FF2B5EF4-FFF2-40B4-BE49-F238E27FC236}">
                <a16:creationId xmlns:a16="http://schemas.microsoft.com/office/drawing/2014/main" id="{9EA1C1C6-A19D-503B-07FB-201C788ADE8A}"/>
              </a:ext>
            </a:extLst>
          </p:cNvPr>
          <p:cNvPicPr>
            <a:picLocks noGrp="1" noChangeAspect="1"/>
          </p:cNvPicPr>
          <p:nvPr>
            <p:ph type="pic" sz="quarter" idx="13"/>
          </p:nvPr>
        </p:nvPicPr>
        <p:blipFill>
          <a:blip r:embed="rId2"/>
          <a:srcRect l="107" t="7" r="50906" b="-7"/>
          <a:stretch>
            <a:fillRect/>
          </a:stretch>
        </p:blipFill>
        <p:spPr>
          <a:xfrm>
            <a:off x="12447719" y="3315178"/>
            <a:ext cx="11333393" cy="7085643"/>
          </a:xfrm>
          <a:prstGeom prst="rect">
            <a:avLst/>
          </a:prstGeom>
        </p:spPr>
      </p:pic>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9C018-584F-EC23-CA9F-29EB061BB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BC5A2-3BF3-DD37-83FA-4A97107A7004}"/>
              </a:ext>
            </a:extLst>
          </p:cNvPr>
          <p:cNvSpPr>
            <a:spLocks noGrp="1"/>
          </p:cNvSpPr>
          <p:nvPr>
            <p:ph type="title"/>
          </p:nvPr>
        </p:nvSpPr>
        <p:spPr>
          <a:xfrm>
            <a:off x="2167377" y="1871164"/>
            <a:ext cx="14715569" cy="511175"/>
          </a:xfrm>
        </p:spPr>
        <p:txBody>
          <a:bodyPr>
            <a:normAutofit/>
          </a:bodyPr>
          <a:lstStyle/>
          <a:p>
            <a:r>
              <a:rPr lang="en-US" sz="3200" dirty="0"/>
              <a:t>A Model for Multicore Computing</a:t>
            </a:r>
          </a:p>
        </p:txBody>
      </p:sp>
      <p:sp>
        <p:nvSpPr>
          <p:cNvPr id="13" name="Text Placeholder 2">
            <a:extLst>
              <a:ext uri="{FF2B5EF4-FFF2-40B4-BE49-F238E27FC236}">
                <a16:creationId xmlns:a16="http://schemas.microsoft.com/office/drawing/2014/main" id="{F9911BF5-CD42-2ED0-9BC9-A6758B8829B0}"/>
              </a:ext>
            </a:extLst>
          </p:cNvPr>
          <p:cNvSpPr>
            <a:spLocks noGrp="1"/>
          </p:cNvSpPr>
          <p:nvPr>
            <p:ph type="body" sz="quarter" idx="10"/>
          </p:nvPr>
        </p:nvSpPr>
        <p:spPr>
          <a:xfrm>
            <a:off x="2167377" y="2419728"/>
            <a:ext cx="9768875" cy="803546"/>
          </a:xfrm>
        </p:spPr>
        <p:txBody>
          <a:bodyPr/>
          <a:lstStyle/>
          <a:p>
            <a:r>
              <a:rPr lang="en-US" dirty="0"/>
              <a:t>Multi-BSP Model</a:t>
            </a:r>
          </a:p>
        </p:txBody>
      </p:sp>
      <p:sp>
        <p:nvSpPr>
          <p:cNvPr id="4" name="Content Placeholder 3">
            <a:extLst>
              <a:ext uri="{FF2B5EF4-FFF2-40B4-BE49-F238E27FC236}">
                <a16:creationId xmlns:a16="http://schemas.microsoft.com/office/drawing/2014/main" id="{F1CF3D9D-752F-BFC3-DD03-D20FB3321593}"/>
              </a:ext>
            </a:extLst>
          </p:cNvPr>
          <p:cNvSpPr>
            <a:spLocks noGrp="1"/>
          </p:cNvSpPr>
          <p:nvPr>
            <p:ph type="body" sz="quarter" idx="16"/>
          </p:nvPr>
        </p:nvSpPr>
        <p:spPr>
          <a:xfrm>
            <a:off x="2167377" y="6556917"/>
            <a:ext cx="9768906" cy="5575610"/>
          </a:xfrm>
        </p:spPr>
        <p:txBody>
          <a:bodyPr>
            <a:normAutofit/>
          </a:bodyPr>
          <a:lstStyle/>
          <a:p>
            <a:pPr algn="just"/>
            <a:r>
              <a:rPr lang="en-US" dirty="0"/>
              <a:t>A depth-d model requires 4d parameters. Level </a:t>
            </a:r>
            <a:r>
              <a:rPr lang="en-US" dirty="0" err="1"/>
              <a:t>i</a:t>
            </a:r>
            <a:r>
              <a:rPr lang="en-US" dirty="0"/>
              <a:t>, 1≤i≤d, has four parameters (</a:t>
            </a:r>
            <a:r>
              <a:rPr lang="en-US" dirty="0" err="1"/>
              <a:t>p</a:t>
            </a:r>
            <a:r>
              <a:rPr lang="en-US" baseline="-25000" dirty="0" err="1"/>
              <a:t>i</a:t>
            </a:r>
            <a:r>
              <a:rPr lang="en-US" dirty="0" err="1"/>
              <a:t>,g</a:t>
            </a:r>
            <a:r>
              <a:rPr lang="en-US" baseline="-25000" dirty="0" err="1"/>
              <a:t>i</a:t>
            </a:r>
            <a:r>
              <a:rPr lang="en-US" dirty="0" err="1"/>
              <a:t>,L</a:t>
            </a:r>
            <a:r>
              <a:rPr lang="en-US" baseline="-25000" dirty="0" err="1"/>
              <a:t>i</a:t>
            </a:r>
            <a:r>
              <a:rPr lang="en-US" dirty="0" err="1"/>
              <a:t>,m</a:t>
            </a:r>
            <a:r>
              <a:rPr lang="en-US" baseline="-25000" dirty="0" err="1"/>
              <a:t>i</a:t>
            </a:r>
            <a:r>
              <a:rPr lang="en-US" dirty="0"/>
              <a:t>) that quantify the number of subcomponents, the communication bandwidth, the synchronization cost, and the memory/cache size, respectively. The model captures the unavoidable communication cost due to latency Li and bandwidth </a:t>
            </a:r>
            <a:r>
              <a:rPr lang="en-US" dirty="0" err="1"/>
              <a:t>gi</a:t>
            </a:r>
            <a:r>
              <a:rPr lang="en-US" dirty="0"/>
              <a:t> as seen in Fig. 10.7.</a:t>
            </a:r>
          </a:p>
        </p:txBody>
      </p:sp>
      <p:sp>
        <p:nvSpPr>
          <p:cNvPr id="7" name="Text Placeholder 6">
            <a:extLst>
              <a:ext uri="{FF2B5EF4-FFF2-40B4-BE49-F238E27FC236}">
                <a16:creationId xmlns:a16="http://schemas.microsoft.com/office/drawing/2014/main" id="{6B43B0AD-A851-9C6B-D22E-59E4D7E73168}"/>
              </a:ext>
            </a:extLst>
          </p:cNvPr>
          <p:cNvSpPr>
            <a:spLocks noGrp="1"/>
          </p:cNvSpPr>
          <p:nvPr>
            <p:ph type="body" sz="quarter" idx="17"/>
          </p:nvPr>
        </p:nvSpPr>
        <p:spPr>
          <a:xfrm>
            <a:off x="2166938" y="4210049"/>
            <a:ext cx="9768874" cy="2039112"/>
          </a:xfrm>
        </p:spPr>
        <p:txBody>
          <a:bodyPr>
            <a:normAutofit/>
          </a:bodyPr>
          <a:lstStyle/>
          <a:p>
            <a:r>
              <a:rPr lang="en-US" sz="2800" dirty="0"/>
              <a:t>A depth-d model is a tree of depth d with caches and memory as the internal nodes of the tree and the processors at the leaves. </a:t>
            </a:r>
          </a:p>
        </p:txBody>
      </p:sp>
      <p:sp>
        <p:nvSpPr>
          <p:cNvPr id="16" name="Picture Placeholder 15">
            <a:extLst>
              <a:ext uri="{FF2B5EF4-FFF2-40B4-BE49-F238E27FC236}">
                <a16:creationId xmlns:a16="http://schemas.microsoft.com/office/drawing/2014/main" id="{A1BA6E43-FCB5-70F3-D3AD-EB01C0BFA802}"/>
              </a:ext>
            </a:extLst>
          </p:cNvPr>
          <p:cNvSpPr>
            <a:spLocks noGrp="1"/>
          </p:cNvSpPr>
          <p:nvPr>
            <p:ph type="pic" sz="quarter" idx="13"/>
          </p:nvPr>
        </p:nvSpPr>
        <p:spPr/>
        <p:txBody>
          <a:bodyPr/>
          <a:lstStyle/>
          <a:p>
            <a:endParaRPr lang="en-US"/>
          </a:p>
        </p:txBody>
      </p:sp>
      <p:pic>
        <p:nvPicPr>
          <p:cNvPr id="17" name="Picture Placeholder 8">
            <a:extLst>
              <a:ext uri="{FF2B5EF4-FFF2-40B4-BE49-F238E27FC236}">
                <a16:creationId xmlns:a16="http://schemas.microsoft.com/office/drawing/2014/main" id="{ECA33B05-6CF5-463A-EFE3-7EC8B463D84F}"/>
              </a:ext>
            </a:extLst>
          </p:cNvPr>
          <p:cNvPicPr>
            <a:picLocks noChangeAspect="1"/>
          </p:cNvPicPr>
          <p:nvPr/>
        </p:nvPicPr>
        <p:blipFill>
          <a:blip r:embed="rId3"/>
          <a:srcRect l="107" t="7" r="50906" b="-7"/>
          <a:stretch>
            <a:fillRect/>
          </a:stretch>
        </p:blipFill>
        <p:spPr>
          <a:xfrm>
            <a:off x="12447719" y="3315178"/>
            <a:ext cx="11333393" cy="70856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407063438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3369F-1DC3-09C5-484B-7DB602C16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63BAD-A280-DF79-3031-89653FD53E8D}"/>
              </a:ext>
            </a:extLst>
          </p:cNvPr>
          <p:cNvSpPr>
            <a:spLocks noGrp="1"/>
          </p:cNvSpPr>
          <p:nvPr>
            <p:ph type="title"/>
          </p:nvPr>
        </p:nvSpPr>
        <p:spPr/>
        <p:txBody>
          <a:bodyPr>
            <a:normAutofit/>
          </a:bodyPr>
          <a:lstStyle/>
          <a:p>
            <a:r>
              <a:rPr lang="en-US" sz="3200" dirty="0"/>
              <a:t>A Model for Multicore Computing</a:t>
            </a:r>
          </a:p>
        </p:txBody>
      </p:sp>
      <p:sp>
        <p:nvSpPr>
          <p:cNvPr id="13" name="Text Placeholder 2">
            <a:extLst>
              <a:ext uri="{FF2B5EF4-FFF2-40B4-BE49-F238E27FC236}">
                <a16:creationId xmlns:a16="http://schemas.microsoft.com/office/drawing/2014/main" id="{B6396C90-E53E-E5C2-AAF5-F81C62661BF3}"/>
              </a:ext>
            </a:extLst>
          </p:cNvPr>
          <p:cNvSpPr>
            <a:spLocks noGrp="1"/>
          </p:cNvSpPr>
          <p:nvPr>
            <p:ph type="body" sz="quarter" idx="10"/>
          </p:nvPr>
        </p:nvSpPr>
        <p:spPr/>
        <p:txBody>
          <a:bodyPr/>
          <a:lstStyle/>
          <a:p>
            <a:r>
              <a:rPr lang="en-US" dirty="0"/>
              <a:t>Multi-BSP Model</a:t>
            </a:r>
          </a:p>
        </p:txBody>
      </p:sp>
      <p:sp>
        <p:nvSpPr>
          <p:cNvPr id="4" name="Content Placeholder 3">
            <a:extLst>
              <a:ext uri="{FF2B5EF4-FFF2-40B4-BE49-F238E27FC236}">
                <a16:creationId xmlns:a16="http://schemas.microsoft.com/office/drawing/2014/main" id="{DE9FB546-ECC1-F4B8-8AF8-F6A3E46237C2}"/>
              </a:ext>
            </a:extLst>
          </p:cNvPr>
          <p:cNvSpPr>
            <a:spLocks noGrp="1"/>
          </p:cNvSpPr>
          <p:nvPr>
            <p:ph sz="quarter" idx="11"/>
          </p:nvPr>
        </p:nvSpPr>
        <p:spPr>
          <a:xfrm>
            <a:off x="4191265" y="4672830"/>
            <a:ext cx="16001470" cy="6879339"/>
          </a:xfrm>
        </p:spPr>
        <p:txBody>
          <a:bodyPr>
            <a:normAutofit fontScale="92500"/>
          </a:bodyPr>
          <a:lstStyle/>
          <a:p>
            <a:pPr marL="0" indent="0" algn="just">
              <a:buNone/>
            </a:pPr>
            <a:r>
              <a:rPr lang="en-US" dirty="0"/>
              <a:t>An in-depth description of level </a:t>
            </a:r>
            <a:r>
              <a:rPr lang="en-US" dirty="0" err="1"/>
              <a:t>i</a:t>
            </a:r>
            <a:r>
              <a:rPr lang="en-US" dirty="0"/>
              <a:t> parameters follows:</a:t>
            </a:r>
          </a:p>
          <a:p>
            <a:pPr algn="just">
              <a:buFontTx/>
              <a:buChar char="-"/>
            </a:pPr>
            <a:r>
              <a:rPr lang="en-US" dirty="0"/>
              <a:t>p</a:t>
            </a:r>
            <a:r>
              <a:rPr lang="en-US" baseline="-25000" dirty="0"/>
              <a:t>i</a:t>
            </a:r>
            <a:r>
              <a:rPr lang="en-US" dirty="0"/>
              <a:t>—the number of (i−1) level components inside an </a:t>
            </a:r>
            <a:r>
              <a:rPr lang="en-US" dirty="0" err="1"/>
              <a:t>i-th</a:t>
            </a:r>
            <a:r>
              <a:rPr lang="en-US" dirty="0"/>
              <a:t> level component. The 1st level components consist of p1 raw processors; a computation step on a word in level 1 memory represents one unit of time.</a:t>
            </a:r>
          </a:p>
          <a:p>
            <a:pPr algn="just">
              <a:buFontTx/>
              <a:buChar char="-"/>
            </a:pPr>
            <a:r>
              <a:rPr lang="en-US" dirty="0" err="1"/>
              <a:t>g</a:t>
            </a:r>
            <a:r>
              <a:rPr lang="en-US" baseline="-25000" dirty="0" err="1"/>
              <a:t>i</a:t>
            </a:r>
            <a:r>
              <a:rPr lang="en-US" dirty="0"/>
              <a:t>—the communication bandwidth, the ratio of the number of operations of a processor to the number of words transmitted between the memories of a component at level </a:t>
            </a:r>
            <a:r>
              <a:rPr lang="en-US" dirty="0" err="1"/>
              <a:t>i</a:t>
            </a:r>
            <a:r>
              <a:rPr lang="en-US" dirty="0"/>
              <a:t> and its parent component at level (i+1), in a unit of time. A word represents the data the processor operates on. Level 1 memories can keep up with the processors; thus their data rate, g0, is one.</a:t>
            </a:r>
          </a:p>
          <a:p>
            <a:pPr algn="just">
              <a:buFontTx/>
              <a:buChar char="-"/>
            </a:pPr>
            <a:r>
              <a:rPr lang="en-US" dirty="0"/>
              <a:t>L</a:t>
            </a:r>
            <a:r>
              <a:rPr lang="en-US" baseline="-25000" dirty="0"/>
              <a:t>i</a:t>
            </a:r>
            <a:r>
              <a:rPr lang="en-US" dirty="0"/>
              <a:t>—the cost for barrier synchronization for a level </a:t>
            </a:r>
            <a:r>
              <a:rPr lang="en-US" dirty="0" err="1"/>
              <a:t>i</a:t>
            </a:r>
            <a:r>
              <a:rPr lang="en-US" dirty="0"/>
              <a:t> </a:t>
            </a:r>
            <a:r>
              <a:rPr lang="en-US" dirty="0" err="1"/>
              <a:t>superstep</a:t>
            </a:r>
            <a:r>
              <a:rPr lang="en-US" dirty="0"/>
              <a:t>. The barrier synchronization is between the subcomponents of a component; there is no synchronization across separated branches in the component hierarchy.</a:t>
            </a:r>
          </a:p>
          <a:p>
            <a:pPr algn="just">
              <a:buFontTx/>
              <a:buChar char="-"/>
            </a:pPr>
            <a:r>
              <a:rPr lang="en-US" dirty="0"/>
              <a:t>m</a:t>
            </a:r>
            <a:r>
              <a:rPr lang="en-US" baseline="-25000" dirty="0"/>
              <a:t>i</a:t>
            </a:r>
            <a:r>
              <a:rPr lang="en-US" dirty="0"/>
              <a:t>—the number of words of memory inside an </a:t>
            </a:r>
            <a:r>
              <a:rPr lang="en-US" dirty="0" err="1"/>
              <a:t>i-th</a:t>
            </a:r>
            <a:r>
              <a:rPr lang="en-US" dirty="0"/>
              <a:t> level component that is not inside any (i−1) level component.</a:t>
            </a:r>
          </a:p>
        </p:txBody>
      </p:sp>
    </p:spTree>
    <p:extLst>
      <p:ext uri="{BB962C8B-B14F-4D97-AF65-F5344CB8AC3E}">
        <p14:creationId xmlns:p14="http://schemas.microsoft.com/office/powerpoint/2010/main" val="24505579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BBAC9-6538-0592-A516-F136B1446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B6FB2-4778-C609-3ADB-C2CB25020CA9}"/>
              </a:ext>
            </a:extLst>
          </p:cNvPr>
          <p:cNvSpPr>
            <a:spLocks noGrp="1"/>
          </p:cNvSpPr>
          <p:nvPr>
            <p:ph type="title"/>
          </p:nvPr>
        </p:nvSpPr>
        <p:spPr/>
        <p:txBody>
          <a:bodyPr>
            <a:normAutofit/>
          </a:bodyPr>
          <a:lstStyle/>
          <a:p>
            <a:r>
              <a:rPr lang="en-US" sz="3200" dirty="0"/>
              <a:t>A Model for Multicore Computing</a:t>
            </a:r>
          </a:p>
        </p:txBody>
      </p:sp>
      <p:sp>
        <p:nvSpPr>
          <p:cNvPr id="13" name="Text Placeholder 2">
            <a:extLst>
              <a:ext uri="{FF2B5EF4-FFF2-40B4-BE49-F238E27FC236}">
                <a16:creationId xmlns:a16="http://schemas.microsoft.com/office/drawing/2014/main" id="{BAB96317-BBDF-849C-70A4-619C9F603BDD}"/>
              </a:ext>
            </a:extLst>
          </p:cNvPr>
          <p:cNvSpPr>
            <a:spLocks noGrp="1"/>
          </p:cNvSpPr>
          <p:nvPr>
            <p:ph type="body" sz="quarter" idx="10"/>
          </p:nvPr>
        </p:nvSpPr>
        <p:spPr/>
        <p:txBody>
          <a:bodyPr/>
          <a:lstStyle/>
          <a:p>
            <a:r>
              <a:rPr lang="en-US" dirty="0"/>
              <a:t>Multi-BSP Model</a:t>
            </a:r>
          </a:p>
        </p:txBody>
      </p:sp>
      <p:sp>
        <p:nvSpPr>
          <p:cNvPr id="4" name="Content Placeholder 3">
            <a:extLst>
              <a:ext uri="{FF2B5EF4-FFF2-40B4-BE49-F238E27FC236}">
                <a16:creationId xmlns:a16="http://schemas.microsoft.com/office/drawing/2014/main" id="{CB4C0AB1-2507-7E98-A36D-2511DA37E4B4}"/>
              </a:ext>
            </a:extLst>
          </p:cNvPr>
          <p:cNvSpPr>
            <a:spLocks noGrp="1"/>
          </p:cNvSpPr>
          <p:nvPr>
            <p:ph sz="quarter" idx="11"/>
          </p:nvPr>
        </p:nvSpPr>
        <p:spPr>
          <a:xfrm>
            <a:off x="4191265" y="4672830"/>
            <a:ext cx="16001470" cy="6879339"/>
          </a:xfrm>
        </p:spPr>
        <p:txBody>
          <a:bodyPr>
            <a:normAutofit/>
          </a:bodyPr>
          <a:lstStyle/>
          <a:p>
            <a:pPr marL="0" indent="0" algn="just">
              <a:buNone/>
            </a:pPr>
            <a:r>
              <a:rPr lang="en-US" dirty="0"/>
              <a:t>A parameter-free version of an optimal Multi-BSP algorithm with respect to a given algorithm A means that it is optimal in:</a:t>
            </a:r>
          </a:p>
          <a:p>
            <a:pPr marL="0" indent="0" algn="just">
              <a:buNone/>
            </a:pPr>
            <a:endParaRPr lang="en-US" dirty="0"/>
          </a:p>
          <a:p>
            <a:pPr marL="457200" indent="-457200" algn="just">
              <a:buAutoNum type="arabicPeriod"/>
            </a:pPr>
            <a:r>
              <a:rPr lang="en-US" dirty="0"/>
              <a:t>Parallel computation steps to within multiplicative constant factors and in total computation steps to within additive lower order terms.</a:t>
            </a:r>
          </a:p>
          <a:p>
            <a:pPr marL="457200" indent="-457200" algn="just">
              <a:buAutoNum type="arabicPeriod"/>
            </a:pPr>
            <a:r>
              <a:rPr lang="en-US" dirty="0"/>
              <a:t>Parallel communication costs to within constant multiplicative factors among Multi-BSP algorithms.</a:t>
            </a:r>
          </a:p>
          <a:p>
            <a:pPr marL="457200" indent="-457200" algn="just">
              <a:buAutoNum type="arabicPeriod"/>
            </a:pPr>
            <a:r>
              <a:rPr lang="en-US" dirty="0"/>
              <a:t>Synchronization costs to within constant multiplicative factors among Multi-BSP algorithms.</a:t>
            </a:r>
          </a:p>
        </p:txBody>
      </p:sp>
    </p:spTree>
    <p:extLst>
      <p:ext uri="{BB962C8B-B14F-4D97-AF65-F5344CB8AC3E}">
        <p14:creationId xmlns:p14="http://schemas.microsoft.com/office/powerpoint/2010/main" val="299523345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Communication, Logical Clocks, and Message Delivery Rules</a:t>
            </a:r>
          </a:p>
        </p:txBody>
      </p:sp>
    </p:spTree>
    <p:extLst>
      <p:ext uri="{BB962C8B-B14F-4D97-AF65-F5344CB8AC3E}">
        <p14:creationId xmlns:p14="http://schemas.microsoft.com/office/powerpoint/2010/main" val="12154206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pPr algn="just"/>
            <a:r>
              <a:rPr lang="en-US" dirty="0"/>
              <a:t>Global ordering of events in communicating processes running on such systems is not feasible, and logical clocks are used instead. </a:t>
            </a:r>
          </a:p>
          <a:p>
            <a:pPr algn="just"/>
            <a:r>
              <a:rPr lang="en-US" dirty="0"/>
              <a:t>Also, messages travel through physical channels with different speeds and follow different paths. </a:t>
            </a:r>
          </a:p>
          <a:p>
            <a:pPr algn="just"/>
            <a:r>
              <a:rPr lang="en-US" dirty="0"/>
              <a:t>As a result, the order in which messages are delivered to processes may be different than the order they were sent.</a:t>
            </a:r>
          </a:p>
          <a:p>
            <a:pPr algn="just"/>
            <a:r>
              <a:rPr lang="en-US" dirty="0"/>
              <a:t>That’s why it is necessary to have Logical clocks to provide necessary abstraction</a:t>
            </a:r>
          </a:p>
        </p:txBody>
      </p:sp>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fontScale="92500" lnSpcReduction="20000"/>
          </a:bodyPr>
          <a:lstStyle/>
          <a:p>
            <a:pPr algn="just"/>
            <a:r>
              <a:rPr lang="en-US" dirty="0"/>
              <a:t>Communicating processes often run on distant systems whose physical clocks cannot be perfectly synchronized due to communication latency. </a:t>
            </a:r>
          </a:p>
        </p:txBody>
      </p:sp>
      <p:pic>
        <p:nvPicPr>
          <p:cNvPr id="4" name="Picture Placeholder 3">
            <a:extLst>
              <a:ext uri="{FF2B5EF4-FFF2-40B4-BE49-F238E27FC236}">
                <a16:creationId xmlns:a16="http://schemas.microsoft.com/office/drawing/2014/main" id="{6F1DE555-8B6A-E086-C23B-9BBF26AEC3A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533" b="-1074"/>
          <a:stretch>
            <a:fillRect/>
          </a:stretch>
        </p:blipFill>
        <p:spPr>
          <a:xfrm>
            <a:off x="13227899" y="2939143"/>
            <a:ext cx="9731492" cy="10417628"/>
          </a:xfrm>
          <a:prstGeom prst="rect">
            <a:avLst/>
          </a:prstGeom>
        </p:spPr>
      </p:pic>
    </p:spTree>
    <p:extLst>
      <p:ext uri="{BB962C8B-B14F-4D97-AF65-F5344CB8AC3E}">
        <p14:creationId xmlns:p14="http://schemas.microsoft.com/office/powerpoint/2010/main" val="414131878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BBC-CF0A-A2C8-D8A2-3EE83FB6A1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A79D-1E81-2B27-70ED-37043133D869}"/>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3" name="Text Placeholder 2">
            <a:extLst>
              <a:ext uri="{FF2B5EF4-FFF2-40B4-BE49-F238E27FC236}">
                <a16:creationId xmlns:a16="http://schemas.microsoft.com/office/drawing/2014/main" id="{4C92EDDB-A317-AB15-D667-3127E99D2FBD}"/>
              </a:ext>
            </a:extLst>
          </p:cNvPr>
          <p:cNvSpPr>
            <a:spLocks noGrp="1"/>
          </p:cNvSpPr>
          <p:nvPr>
            <p:ph type="body" sz="quarter" idx="10"/>
          </p:nvPr>
        </p:nvSpPr>
        <p:spPr>
          <a:xfrm>
            <a:off x="2167377" y="2419728"/>
            <a:ext cx="9768875" cy="803546"/>
          </a:xfrm>
        </p:spPr>
        <p:txBody>
          <a:bodyPr/>
          <a:lstStyle/>
          <a:p>
            <a:r>
              <a:rPr lang="en-US" dirty="0"/>
              <a:t>Logical clocks</a:t>
            </a:r>
          </a:p>
        </p:txBody>
      </p:sp>
      <p:sp>
        <p:nvSpPr>
          <p:cNvPr id="15" name="Text Placeholder 3">
            <a:extLst>
              <a:ext uri="{FF2B5EF4-FFF2-40B4-BE49-F238E27FC236}">
                <a16:creationId xmlns:a16="http://schemas.microsoft.com/office/drawing/2014/main" id="{C4BFBDE3-737F-FD43-A2DB-A5F8B60FE0A9}"/>
              </a:ext>
            </a:extLst>
          </p:cNvPr>
          <p:cNvSpPr>
            <a:spLocks noGrp="1"/>
          </p:cNvSpPr>
          <p:nvPr>
            <p:ph type="body" sz="quarter" idx="16"/>
          </p:nvPr>
        </p:nvSpPr>
        <p:spPr>
          <a:xfrm>
            <a:off x="2167377" y="6556917"/>
            <a:ext cx="9768906" cy="5575610"/>
          </a:xfrm>
        </p:spPr>
        <p:txBody>
          <a:bodyPr/>
          <a:lstStyle/>
          <a:p>
            <a:r>
              <a:rPr lang="en-US" dirty="0"/>
              <a:t>Each process pi maps events to positive integers. Call LC(e) the local variable associated with event e. Each process time stamps each message m sent with the value of the logical clock at the time of sending, TS(m)=LC(send(m)).</a:t>
            </a:r>
          </a:p>
        </p:txBody>
      </p:sp>
      <p:sp>
        <p:nvSpPr>
          <p:cNvPr id="17" name="Text Placeholder 5">
            <a:extLst>
              <a:ext uri="{FF2B5EF4-FFF2-40B4-BE49-F238E27FC236}">
                <a16:creationId xmlns:a16="http://schemas.microsoft.com/office/drawing/2014/main" id="{668B5F5B-8EC1-24B8-AFE1-D3DBC4AAF954}"/>
              </a:ext>
            </a:extLst>
          </p:cNvPr>
          <p:cNvSpPr>
            <a:spLocks noGrp="1"/>
          </p:cNvSpPr>
          <p:nvPr>
            <p:ph type="body" sz="quarter" idx="17"/>
          </p:nvPr>
        </p:nvSpPr>
        <p:spPr>
          <a:xfrm>
            <a:off x="2166938" y="4210049"/>
            <a:ext cx="9768874" cy="2039112"/>
          </a:xfrm>
        </p:spPr>
        <p:txBody>
          <a:bodyPr>
            <a:normAutofit fontScale="92500" lnSpcReduction="20000"/>
          </a:bodyPr>
          <a:lstStyle/>
          <a:p>
            <a:r>
              <a:rPr lang="en-US" dirty="0"/>
              <a:t>A logical clock (LC) is an abstraction necessary to ensure the clock condition given by </a:t>
            </a:r>
            <a:r>
              <a:rPr lang="en-US" dirty="0" err="1"/>
              <a:t>Eqs</a:t>
            </a:r>
            <a:r>
              <a:rPr lang="en-US" dirty="0"/>
              <a:t>. (10.24) and (10.25) in the absence of a global clock.</a:t>
            </a:r>
          </a:p>
          <a:p>
            <a:endParaRPr lang="en-US" dirty="0"/>
          </a:p>
        </p:txBody>
      </p:sp>
      <p:pic>
        <p:nvPicPr>
          <p:cNvPr id="14" name="Picture 13">
            <a:extLst>
              <a:ext uri="{FF2B5EF4-FFF2-40B4-BE49-F238E27FC236}">
                <a16:creationId xmlns:a16="http://schemas.microsoft.com/office/drawing/2014/main" id="{ED9E7C48-2955-3DC8-76E3-A9DC40878562}"/>
              </a:ext>
            </a:extLst>
          </p:cNvPr>
          <p:cNvPicPr>
            <a:picLocks noChangeAspect="1"/>
          </p:cNvPicPr>
          <p:nvPr/>
        </p:nvPicPr>
        <p:blipFill>
          <a:blip r:embed="rId3"/>
          <a:stretch>
            <a:fillRect/>
          </a:stretch>
        </p:blipFill>
        <p:spPr>
          <a:xfrm>
            <a:off x="11936283" y="5000655"/>
            <a:ext cx="12045552" cy="1066179"/>
          </a:xfrm>
          <a:prstGeom prst="rect">
            <a:avLst/>
          </a:prstGeom>
        </p:spPr>
      </p:pic>
      <p:pic>
        <p:nvPicPr>
          <p:cNvPr id="16" name="Picture 15">
            <a:extLst>
              <a:ext uri="{FF2B5EF4-FFF2-40B4-BE49-F238E27FC236}">
                <a16:creationId xmlns:a16="http://schemas.microsoft.com/office/drawing/2014/main" id="{BDFD7D23-6FC0-508F-DAEA-C4710926667E}"/>
              </a:ext>
            </a:extLst>
          </p:cNvPr>
          <p:cNvPicPr>
            <a:picLocks noChangeAspect="1"/>
          </p:cNvPicPr>
          <p:nvPr/>
        </p:nvPicPr>
        <p:blipFill>
          <a:blip r:embed="rId4"/>
          <a:stretch>
            <a:fillRect/>
          </a:stretch>
        </p:blipFill>
        <p:spPr>
          <a:xfrm>
            <a:off x="11935811" y="6857440"/>
            <a:ext cx="12045551" cy="1025618"/>
          </a:xfrm>
          <a:prstGeom prst="rect">
            <a:avLst/>
          </a:prstGeom>
        </p:spPr>
      </p:pic>
    </p:spTree>
    <p:extLst>
      <p:ext uri="{BB962C8B-B14F-4D97-AF65-F5344CB8AC3E}">
        <p14:creationId xmlns:p14="http://schemas.microsoft.com/office/powerpoint/2010/main" val="2172847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A25C9-24E4-983F-5C27-A9FE6B3E4E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D64660-C17D-172D-1FB5-224D79FA2938}"/>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3" name="Text Placeholder 2">
            <a:extLst>
              <a:ext uri="{FF2B5EF4-FFF2-40B4-BE49-F238E27FC236}">
                <a16:creationId xmlns:a16="http://schemas.microsoft.com/office/drawing/2014/main" id="{692451D6-97F1-42DE-5548-571D44DEE741}"/>
              </a:ext>
            </a:extLst>
          </p:cNvPr>
          <p:cNvSpPr>
            <a:spLocks noGrp="1"/>
          </p:cNvSpPr>
          <p:nvPr>
            <p:ph type="body" sz="quarter" idx="10"/>
          </p:nvPr>
        </p:nvSpPr>
        <p:spPr>
          <a:xfrm>
            <a:off x="2167377" y="2419728"/>
            <a:ext cx="9768875" cy="803546"/>
          </a:xfrm>
        </p:spPr>
        <p:txBody>
          <a:bodyPr/>
          <a:lstStyle/>
          <a:p>
            <a:r>
              <a:rPr lang="en-US" dirty="0"/>
              <a:t>Logical clocks</a:t>
            </a:r>
          </a:p>
        </p:txBody>
      </p:sp>
      <p:sp>
        <p:nvSpPr>
          <p:cNvPr id="15" name="Text Placeholder 3">
            <a:extLst>
              <a:ext uri="{FF2B5EF4-FFF2-40B4-BE49-F238E27FC236}">
                <a16:creationId xmlns:a16="http://schemas.microsoft.com/office/drawing/2014/main" id="{E2EF3D81-582E-F2D8-AF2E-74E7456FC336}"/>
              </a:ext>
            </a:extLst>
          </p:cNvPr>
          <p:cNvSpPr>
            <a:spLocks noGrp="1"/>
          </p:cNvSpPr>
          <p:nvPr>
            <p:ph type="body" sz="quarter" idx="16"/>
          </p:nvPr>
        </p:nvSpPr>
        <p:spPr>
          <a:xfrm>
            <a:off x="2167377" y="6556917"/>
            <a:ext cx="9768906" cy="5575610"/>
          </a:xfrm>
        </p:spPr>
        <p:txBody>
          <a:bodyPr/>
          <a:lstStyle/>
          <a:p>
            <a:pPr algn="just"/>
            <a:r>
              <a:rPr lang="en-US" dirty="0"/>
              <a:t>the events are labeled with the logical clock value. Messages exchanged between processes are shown as lines from the sender to the receiver; the communication events corresponding to sending and receiving messages are marked on these diagrams.</a:t>
            </a:r>
          </a:p>
        </p:txBody>
      </p:sp>
      <p:sp>
        <p:nvSpPr>
          <p:cNvPr id="17" name="Text Placeholder 5">
            <a:extLst>
              <a:ext uri="{FF2B5EF4-FFF2-40B4-BE49-F238E27FC236}">
                <a16:creationId xmlns:a16="http://schemas.microsoft.com/office/drawing/2014/main" id="{EF98136C-C835-8AE4-36AE-4C6B5E2066B2}"/>
              </a:ext>
            </a:extLst>
          </p:cNvPr>
          <p:cNvSpPr>
            <a:spLocks noGrp="1"/>
          </p:cNvSpPr>
          <p:nvPr>
            <p:ph type="body" sz="quarter" idx="17"/>
          </p:nvPr>
        </p:nvSpPr>
        <p:spPr>
          <a:xfrm>
            <a:off x="2166938" y="4210049"/>
            <a:ext cx="9768874" cy="2039112"/>
          </a:xfrm>
        </p:spPr>
        <p:txBody>
          <a:bodyPr>
            <a:normAutofit/>
          </a:bodyPr>
          <a:lstStyle/>
          <a:p>
            <a:r>
              <a:rPr lang="en-US" dirty="0"/>
              <a:t>The concept of logical clocks is illustrated in figure below using a modified space–time diagram</a:t>
            </a:r>
          </a:p>
        </p:txBody>
      </p:sp>
      <p:pic>
        <p:nvPicPr>
          <p:cNvPr id="2" name="Picture 1">
            <a:extLst>
              <a:ext uri="{FF2B5EF4-FFF2-40B4-BE49-F238E27FC236}">
                <a16:creationId xmlns:a16="http://schemas.microsoft.com/office/drawing/2014/main" id="{5F8C488C-E0C1-343E-F0D7-C94B04C60B6B}"/>
              </a:ext>
            </a:extLst>
          </p:cNvPr>
          <p:cNvPicPr>
            <a:picLocks noChangeAspect="1"/>
          </p:cNvPicPr>
          <p:nvPr/>
        </p:nvPicPr>
        <p:blipFill>
          <a:blip r:embed="rId3"/>
          <a:stretch>
            <a:fillRect/>
          </a:stretch>
        </p:blipFill>
        <p:spPr>
          <a:xfrm>
            <a:off x="12192000" y="4306860"/>
            <a:ext cx="10668000" cy="4866724"/>
          </a:xfrm>
          <a:prstGeom prst="rect">
            <a:avLst/>
          </a:prstGeom>
        </p:spPr>
      </p:pic>
    </p:spTree>
    <p:extLst>
      <p:ext uri="{BB962C8B-B14F-4D97-AF65-F5344CB8AC3E}">
        <p14:creationId xmlns:p14="http://schemas.microsoft.com/office/powerpoint/2010/main" val="30351427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F9831-E78A-25B6-F574-89C20427B3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98806C-43D2-2340-EC1C-3DC807DC019B}"/>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3" name="Text Placeholder 2">
            <a:extLst>
              <a:ext uri="{FF2B5EF4-FFF2-40B4-BE49-F238E27FC236}">
                <a16:creationId xmlns:a16="http://schemas.microsoft.com/office/drawing/2014/main" id="{475AD557-BF2F-13B1-49A8-C466649F5A48}"/>
              </a:ext>
            </a:extLst>
          </p:cNvPr>
          <p:cNvSpPr>
            <a:spLocks noGrp="1"/>
          </p:cNvSpPr>
          <p:nvPr>
            <p:ph type="body" sz="quarter" idx="10"/>
          </p:nvPr>
        </p:nvSpPr>
        <p:spPr>
          <a:xfrm>
            <a:off x="2167377" y="2419728"/>
            <a:ext cx="9768875" cy="803546"/>
          </a:xfrm>
        </p:spPr>
        <p:txBody>
          <a:bodyPr>
            <a:normAutofit/>
          </a:bodyPr>
          <a:lstStyle/>
          <a:p>
            <a:r>
              <a:rPr lang="en-US" dirty="0"/>
              <a:t>Message delivery</a:t>
            </a:r>
          </a:p>
        </p:txBody>
      </p:sp>
      <p:sp>
        <p:nvSpPr>
          <p:cNvPr id="15" name="Text Placeholder 3">
            <a:extLst>
              <a:ext uri="{FF2B5EF4-FFF2-40B4-BE49-F238E27FC236}">
                <a16:creationId xmlns:a16="http://schemas.microsoft.com/office/drawing/2014/main" id="{19696411-C9F7-66F9-827D-97FF665F0E64}"/>
              </a:ext>
            </a:extLst>
          </p:cNvPr>
          <p:cNvSpPr>
            <a:spLocks noGrp="1"/>
          </p:cNvSpPr>
          <p:nvPr>
            <p:ph type="body" sz="quarter" idx="16"/>
          </p:nvPr>
        </p:nvSpPr>
        <p:spPr>
          <a:xfrm>
            <a:off x="2167377" y="6556917"/>
            <a:ext cx="9768906" cy="5575610"/>
          </a:xfrm>
        </p:spPr>
        <p:txBody>
          <a:bodyPr>
            <a:normAutofit/>
          </a:bodyPr>
          <a:lstStyle/>
          <a:p>
            <a:r>
              <a:rPr lang="en-US" dirty="0"/>
              <a:t>Message receiving and message delivery are distinct operations. Since real-life networks can reorder messages, a </a:t>
            </a:r>
            <a:r>
              <a:rPr lang="en-US" b="1" dirty="0"/>
              <a:t>delivery rule</a:t>
            </a:r>
            <a:r>
              <a:rPr lang="en-US" dirty="0"/>
              <a:t> establishes when a received message is actually delivered to the destination process.</a:t>
            </a:r>
          </a:p>
        </p:txBody>
      </p:sp>
      <p:pic>
        <p:nvPicPr>
          <p:cNvPr id="3" name="Content Placeholder 5">
            <a:extLst>
              <a:ext uri="{FF2B5EF4-FFF2-40B4-BE49-F238E27FC236}">
                <a16:creationId xmlns:a16="http://schemas.microsoft.com/office/drawing/2014/main" id="{C12DC32E-DA5D-8FFD-8C78-125B6DBB0D06}"/>
              </a:ext>
            </a:extLst>
          </p:cNvPr>
          <p:cNvPicPr>
            <a:picLocks noChangeAspect="1"/>
          </p:cNvPicPr>
          <p:nvPr/>
        </p:nvPicPr>
        <p:blipFill>
          <a:blip r:embed="rId3"/>
          <a:stretch>
            <a:fillRect/>
          </a:stretch>
        </p:blipFill>
        <p:spPr>
          <a:xfrm>
            <a:off x="12339930" y="4210049"/>
            <a:ext cx="10667719" cy="6907349"/>
          </a:xfrm>
          <a:prstGeom prst="rect">
            <a:avLst/>
          </a:prstGeom>
          <a:noFill/>
        </p:spPr>
      </p:pic>
      <p:sp>
        <p:nvSpPr>
          <p:cNvPr id="17" name="Text Placeholder 5">
            <a:extLst>
              <a:ext uri="{FF2B5EF4-FFF2-40B4-BE49-F238E27FC236}">
                <a16:creationId xmlns:a16="http://schemas.microsoft.com/office/drawing/2014/main" id="{15D09248-4BF0-07A7-3F0F-F4AACD212507}"/>
              </a:ext>
            </a:extLst>
          </p:cNvPr>
          <p:cNvSpPr>
            <a:spLocks noGrp="1"/>
          </p:cNvSpPr>
          <p:nvPr>
            <p:ph type="body" sz="quarter" idx="17"/>
          </p:nvPr>
        </p:nvSpPr>
        <p:spPr>
          <a:xfrm>
            <a:off x="2166938" y="4210049"/>
            <a:ext cx="9768874" cy="2039112"/>
          </a:xfrm>
        </p:spPr>
        <p:txBody>
          <a:bodyPr>
            <a:normAutofit/>
          </a:bodyPr>
          <a:lstStyle/>
          <a:p>
            <a:r>
              <a:rPr lang="en-US" sz="3400"/>
              <a:t>The communication channel abstraction makes no assumptions about the order of messages; a real-life network might reorder messages.</a:t>
            </a:r>
          </a:p>
        </p:txBody>
      </p:sp>
    </p:spTree>
    <p:extLst>
      <p:ext uri="{BB962C8B-B14F-4D97-AF65-F5344CB8AC3E}">
        <p14:creationId xmlns:p14="http://schemas.microsoft.com/office/powerpoint/2010/main" val="149278157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AD877-2013-C9FE-BF95-6075BA01BA5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21829E-6B0C-F3A2-4882-CF8F5B67C16D}"/>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3" name="Text Placeholder 2">
            <a:extLst>
              <a:ext uri="{FF2B5EF4-FFF2-40B4-BE49-F238E27FC236}">
                <a16:creationId xmlns:a16="http://schemas.microsoft.com/office/drawing/2014/main" id="{52ECB5D5-6809-7B90-B870-8B8C37AD516F}"/>
              </a:ext>
            </a:extLst>
          </p:cNvPr>
          <p:cNvSpPr>
            <a:spLocks noGrp="1"/>
          </p:cNvSpPr>
          <p:nvPr>
            <p:ph type="body" sz="quarter" idx="10"/>
          </p:nvPr>
        </p:nvSpPr>
        <p:spPr>
          <a:xfrm>
            <a:off x="2167377" y="2419728"/>
            <a:ext cx="9768875" cy="803546"/>
          </a:xfrm>
        </p:spPr>
        <p:txBody>
          <a:bodyPr>
            <a:normAutofit/>
          </a:bodyPr>
          <a:lstStyle/>
          <a:p>
            <a:r>
              <a:rPr lang="en-US" dirty="0"/>
              <a:t>Causal Delivery</a:t>
            </a:r>
          </a:p>
        </p:txBody>
      </p:sp>
      <p:sp>
        <p:nvSpPr>
          <p:cNvPr id="15" name="Text Placeholder 3">
            <a:extLst>
              <a:ext uri="{FF2B5EF4-FFF2-40B4-BE49-F238E27FC236}">
                <a16:creationId xmlns:a16="http://schemas.microsoft.com/office/drawing/2014/main" id="{05C28C10-BE08-2595-8E38-3A817C2113FD}"/>
              </a:ext>
            </a:extLst>
          </p:cNvPr>
          <p:cNvSpPr>
            <a:spLocks noGrp="1"/>
          </p:cNvSpPr>
          <p:nvPr>
            <p:ph type="body" sz="quarter" idx="16"/>
          </p:nvPr>
        </p:nvSpPr>
        <p:spPr>
          <a:xfrm>
            <a:off x="2167377" y="6556917"/>
            <a:ext cx="9768906" cy="5575610"/>
          </a:xfrm>
        </p:spPr>
        <p:txBody>
          <a:bodyPr>
            <a:normAutofit/>
          </a:bodyPr>
          <a:lstStyle/>
          <a:p>
            <a:pPr algn="just"/>
            <a:r>
              <a:rPr lang="en-US" dirty="0"/>
              <a:t>when a process receives messages from different sources. Assume a group of three processes (</a:t>
            </a:r>
            <a:r>
              <a:rPr lang="en-US" dirty="0" err="1"/>
              <a:t>p</a:t>
            </a:r>
            <a:r>
              <a:rPr lang="en-US" baseline="-25000" dirty="0" err="1"/>
              <a:t>i</a:t>
            </a:r>
            <a:r>
              <a:rPr lang="en-US" dirty="0" err="1"/>
              <a:t>,p</a:t>
            </a:r>
            <a:r>
              <a:rPr lang="en-US" baseline="-25000" dirty="0" err="1"/>
              <a:t>j</a:t>
            </a:r>
            <a:r>
              <a:rPr lang="en-US" dirty="0" err="1"/>
              <a:t>,p</a:t>
            </a:r>
            <a:r>
              <a:rPr lang="en-US" baseline="-25000" dirty="0" err="1"/>
              <a:t>k</a:t>
            </a:r>
            <a:r>
              <a:rPr lang="en-US" dirty="0"/>
              <a:t>) and two messages m and m′. </a:t>
            </a:r>
          </a:p>
        </p:txBody>
      </p:sp>
      <p:sp>
        <p:nvSpPr>
          <p:cNvPr id="17" name="Text Placeholder 5">
            <a:extLst>
              <a:ext uri="{FF2B5EF4-FFF2-40B4-BE49-F238E27FC236}">
                <a16:creationId xmlns:a16="http://schemas.microsoft.com/office/drawing/2014/main" id="{C8DE2BD6-8593-0DB6-914C-82E36CD3422E}"/>
              </a:ext>
            </a:extLst>
          </p:cNvPr>
          <p:cNvSpPr>
            <a:spLocks noGrp="1"/>
          </p:cNvSpPr>
          <p:nvPr>
            <p:ph type="body" sz="quarter" idx="17"/>
          </p:nvPr>
        </p:nvSpPr>
        <p:spPr>
          <a:xfrm>
            <a:off x="2166938" y="4210049"/>
            <a:ext cx="9768874" cy="2039112"/>
          </a:xfrm>
        </p:spPr>
        <p:txBody>
          <a:bodyPr>
            <a:normAutofit/>
          </a:bodyPr>
          <a:lstStyle/>
          <a:p>
            <a:r>
              <a:rPr lang="en-US" sz="3600" dirty="0"/>
              <a:t>Causal delivery is an extension of the FIFO delivery that applies when a process receives messages from multiple sources.</a:t>
            </a:r>
            <a:endParaRPr lang="en-US" sz="3400" dirty="0"/>
          </a:p>
        </p:txBody>
      </p:sp>
      <p:pic>
        <p:nvPicPr>
          <p:cNvPr id="2" name="Picture 1">
            <a:extLst>
              <a:ext uri="{FF2B5EF4-FFF2-40B4-BE49-F238E27FC236}">
                <a16:creationId xmlns:a16="http://schemas.microsoft.com/office/drawing/2014/main" id="{AD9518C4-3EA6-3317-A09B-4F335757CEDC}"/>
              </a:ext>
            </a:extLst>
          </p:cNvPr>
          <p:cNvPicPr>
            <a:picLocks noChangeAspect="1"/>
          </p:cNvPicPr>
          <p:nvPr/>
        </p:nvPicPr>
        <p:blipFill>
          <a:blip r:embed="rId3"/>
          <a:stretch>
            <a:fillRect/>
          </a:stretch>
        </p:blipFill>
        <p:spPr>
          <a:xfrm>
            <a:off x="12448189" y="6496717"/>
            <a:ext cx="11691971" cy="634013"/>
          </a:xfrm>
          <a:prstGeom prst="rect">
            <a:avLst/>
          </a:prstGeom>
        </p:spPr>
      </p:pic>
    </p:spTree>
    <p:extLst>
      <p:ext uri="{BB962C8B-B14F-4D97-AF65-F5344CB8AC3E}">
        <p14:creationId xmlns:p14="http://schemas.microsoft.com/office/powerpoint/2010/main" val="8637660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9C84-A5AC-CF6F-5DD5-6437782979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FD5581-384B-D980-F315-9E0BEB688F87}"/>
              </a:ext>
            </a:extLst>
          </p:cNvPr>
          <p:cNvSpPr>
            <a:spLocks noGrp="1"/>
          </p:cNvSpPr>
          <p:nvPr>
            <p:ph type="title"/>
          </p:nvPr>
        </p:nvSpPr>
        <p:spPr>
          <a:xfrm>
            <a:off x="2167377" y="1871164"/>
            <a:ext cx="14715569" cy="511175"/>
          </a:xfrm>
        </p:spPr>
        <p:txBody>
          <a:bodyPr>
            <a:normAutofit/>
          </a:bodyPr>
          <a:lstStyle/>
          <a:p>
            <a:r>
              <a:rPr lang="en-US" sz="3200" dirty="0"/>
              <a:t>communication</a:t>
            </a:r>
          </a:p>
        </p:txBody>
      </p:sp>
      <p:sp>
        <p:nvSpPr>
          <p:cNvPr id="15" name="Text Placeholder 3">
            <a:extLst>
              <a:ext uri="{FF2B5EF4-FFF2-40B4-BE49-F238E27FC236}">
                <a16:creationId xmlns:a16="http://schemas.microsoft.com/office/drawing/2014/main" id="{749F7A73-0226-016D-BCD8-9D2A3C808085}"/>
              </a:ext>
            </a:extLst>
          </p:cNvPr>
          <p:cNvSpPr>
            <a:spLocks noGrp="1"/>
          </p:cNvSpPr>
          <p:nvPr>
            <p:ph type="body" sz="quarter" idx="16"/>
          </p:nvPr>
        </p:nvSpPr>
        <p:spPr>
          <a:xfrm>
            <a:off x="2167377" y="6556917"/>
            <a:ext cx="9768906" cy="5575610"/>
          </a:xfrm>
        </p:spPr>
        <p:txBody>
          <a:bodyPr>
            <a:normAutofit/>
          </a:bodyPr>
          <a:lstStyle/>
          <a:p>
            <a:r>
              <a:rPr lang="en-US" dirty="0"/>
              <a:t>message m</a:t>
            </a:r>
            <a:r>
              <a:rPr lang="en-US" baseline="-25000" dirty="0"/>
              <a:t>1</a:t>
            </a:r>
            <a:r>
              <a:rPr lang="en-US" dirty="0"/>
              <a:t> is delivered to process p</a:t>
            </a:r>
            <a:r>
              <a:rPr lang="en-US" baseline="-25000" dirty="0"/>
              <a:t>2</a:t>
            </a:r>
            <a:r>
              <a:rPr lang="en-US" dirty="0"/>
              <a:t> after message m</a:t>
            </a:r>
            <a:r>
              <a:rPr lang="en-US" baseline="-25000" dirty="0"/>
              <a:t>3</a:t>
            </a:r>
            <a:r>
              <a:rPr lang="en-US" dirty="0"/>
              <a:t>, though message m</a:t>
            </a:r>
            <a:r>
              <a:rPr lang="en-US" baseline="-25000" dirty="0"/>
              <a:t>1</a:t>
            </a:r>
            <a:r>
              <a:rPr lang="en-US" dirty="0"/>
              <a:t> was sent before m</a:t>
            </a:r>
            <a:r>
              <a:rPr lang="en-US" baseline="-25000" dirty="0"/>
              <a:t>3</a:t>
            </a:r>
            <a:r>
              <a:rPr lang="en-US" dirty="0"/>
              <a:t>. </a:t>
            </a:r>
          </a:p>
          <a:p>
            <a:r>
              <a:rPr lang="en-US" dirty="0"/>
              <a:t>Indeed, message m</a:t>
            </a:r>
            <a:r>
              <a:rPr lang="en-US" baseline="-25000" dirty="0"/>
              <a:t>3</a:t>
            </a:r>
            <a:r>
              <a:rPr lang="en-US" dirty="0"/>
              <a:t> was sent by process p</a:t>
            </a:r>
            <a:r>
              <a:rPr lang="en-US" baseline="-25000" dirty="0"/>
              <a:t>1</a:t>
            </a:r>
            <a:r>
              <a:rPr lang="en-US" dirty="0"/>
              <a:t> after receiving m</a:t>
            </a:r>
            <a:r>
              <a:rPr lang="en-US" baseline="-25000" dirty="0"/>
              <a:t>2</a:t>
            </a:r>
            <a:r>
              <a:rPr lang="en-US" dirty="0"/>
              <a:t>, which in turn was sent by process p</a:t>
            </a:r>
            <a:r>
              <a:rPr lang="en-US" baseline="-25000" dirty="0"/>
              <a:t>3</a:t>
            </a:r>
            <a:r>
              <a:rPr lang="en-US" dirty="0"/>
              <a:t> after sending message m</a:t>
            </a:r>
            <a:r>
              <a:rPr lang="en-US" baseline="-25000" dirty="0"/>
              <a:t>1</a:t>
            </a:r>
            <a:r>
              <a:rPr lang="en-US" dirty="0"/>
              <a:t>.</a:t>
            </a:r>
          </a:p>
        </p:txBody>
      </p:sp>
      <p:sp>
        <p:nvSpPr>
          <p:cNvPr id="17" name="Text Placeholder 5">
            <a:extLst>
              <a:ext uri="{FF2B5EF4-FFF2-40B4-BE49-F238E27FC236}">
                <a16:creationId xmlns:a16="http://schemas.microsoft.com/office/drawing/2014/main" id="{B7811FDB-7FE6-B247-273A-A2F3881132CF}"/>
              </a:ext>
            </a:extLst>
          </p:cNvPr>
          <p:cNvSpPr>
            <a:spLocks noGrp="1"/>
          </p:cNvSpPr>
          <p:nvPr>
            <p:ph type="body" sz="quarter" idx="17"/>
          </p:nvPr>
        </p:nvSpPr>
        <p:spPr>
          <a:xfrm>
            <a:off x="2166938" y="4210049"/>
            <a:ext cx="9768874" cy="2039112"/>
          </a:xfrm>
        </p:spPr>
        <p:txBody>
          <a:bodyPr>
            <a:normAutofit/>
          </a:bodyPr>
          <a:lstStyle/>
          <a:p>
            <a:r>
              <a:rPr lang="en-US" sz="3600" dirty="0"/>
              <a:t>Violation of causal delivery when more than two processes are involved; </a:t>
            </a:r>
          </a:p>
        </p:txBody>
      </p:sp>
      <p:sp>
        <p:nvSpPr>
          <p:cNvPr id="4" name="Text Placeholder 3">
            <a:extLst>
              <a:ext uri="{FF2B5EF4-FFF2-40B4-BE49-F238E27FC236}">
                <a16:creationId xmlns:a16="http://schemas.microsoft.com/office/drawing/2014/main" id="{EFF983B5-41C5-1614-5351-ADDA35E4FCFE}"/>
              </a:ext>
            </a:extLst>
          </p:cNvPr>
          <p:cNvSpPr>
            <a:spLocks noGrp="1"/>
          </p:cNvSpPr>
          <p:nvPr>
            <p:ph type="body" sz="quarter" idx="10"/>
          </p:nvPr>
        </p:nvSpPr>
        <p:spPr/>
        <p:txBody>
          <a:bodyPr/>
          <a:lstStyle/>
          <a:p>
            <a:endParaRPr lang="en-US"/>
          </a:p>
        </p:txBody>
      </p:sp>
      <p:pic>
        <p:nvPicPr>
          <p:cNvPr id="6" name="Content Placeholder 5">
            <a:extLst>
              <a:ext uri="{FF2B5EF4-FFF2-40B4-BE49-F238E27FC236}">
                <a16:creationId xmlns:a16="http://schemas.microsoft.com/office/drawing/2014/main" id="{CBD85771-AF2A-7CB3-9333-519620C43182}"/>
              </a:ext>
            </a:extLst>
          </p:cNvPr>
          <p:cNvPicPr>
            <a:picLocks noChangeAspect="1"/>
          </p:cNvPicPr>
          <p:nvPr/>
        </p:nvPicPr>
        <p:blipFill>
          <a:blip r:embed="rId3"/>
          <a:stretch>
            <a:fillRect/>
          </a:stretch>
        </p:blipFill>
        <p:spPr>
          <a:xfrm>
            <a:off x="12192000" y="5369234"/>
            <a:ext cx="11818564" cy="4446588"/>
          </a:xfrm>
          <a:prstGeom prst="rect">
            <a:avLst/>
          </a:prstGeom>
        </p:spPr>
      </p:pic>
    </p:spTree>
    <p:extLst>
      <p:ext uri="{BB962C8B-B14F-4D97-AF65-F5344CB8AC3E}">
        <p14:creationId xmlns:p14="http://schemas.microsoft.com/office/powerpoint/2010/main" val="274891300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Load Balancing</a:t>
            </a:r>
          </a:p>
        </p:txBody>
      </p:sp>
    </p:spTree>
    <p:extLst>
      <p:ext uri="{BB962C8B-B14F-4D97-AF65-F5344CB8AC3E}">
        <p14:creationId xmlns:p14="http://schemas.microsoft.com/office/powerpoint/2010/main" val="275335500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Load Balancing</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p:txBody>
          <a:bodyPr>
            <a:normAutofit lnSpcReduction="10000"/>
          </a:bodyPr>
          <a:lstStyle/>
          <a:p>
            <a:pPr algn="just"/>
            <a:r>
              <a:rPr lang="en-US" sz="3200" dirty="0"/>
              <a:t>A general formulation of the load balancing problem is to evenly distribute N objects to P places. </a:t>
            </a:r>
          </a:p>
          <a:p>
            <a:pPr algn="just"/>
            <a:r>
              <a:rPr lang="en-US" sz="3200" dirty="0"/>
              <a:t>Another formulation of the load balancing is in the context of placing m balls into n&lt;m bins, chosen independently and uniformly at random. </a:t>
            </a:r>
          </a:p>
          <a:p>
            <a:pPr algn="just"/>
            <a:r>
              <a:rPr lang="en-US" sz="3200" dirty="0"/>
              <a:t>Load balancing can also be formulated in the context of hashing as the problem of placing m items sequentially in n&lt;m bins; the task is determining the longest time for finding an item.</a:t>
            </a:r>
          </a:p>
        </p:txBody>
      </p:sp>
    </p:spTree>
    <p:extLst>
      <p:ext uri="{BB962C8B-B14F-4D97-AF65-F5344CB8AC3E}">
        <p14:creationId xmlns:p14="http://schemas.microsoft.com/office/powerpoint/2010/main" val="223171280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1B1E2-50CA-4F55-707A-C795195CA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6B42E-2909-4FCA-C1AC-9E362842EBC0}"/>
              </a:ext>
            </a:extLst>
          </p:cNvPr>
          <p:cNvSpPr>
            <a:spLocks noGrp="1"/>
          </p:cNvSpPr>
          <p:nvPr>
            <p:ph type="title"/>
          </p:nvPr>
        </p:nvSpPr>
        <p:spPr/>
        <p:txBody>
          <a:bodyPr>
            <a:normAutofit fontScale="90000"/>
          </a:bodyPr>
          <a:lstStyle/>
          <a:p>
            <a:r>
              <a:rPr lang="en-US" dirty="0"/>
              <a:t>Load Balancing</a:t>
            </a:r>
          </a:p>
        </p:txBody>
      </p:sp>
      <p:sp>
        <p:nvSpPr>
          <p:cNvPr id="3" name="Text Placeholder 2">
            <a:extLst>
              <a:ext uri="{FF2B5EF4-FFF2-40B4-BE49-F238E27FC236}">
                <a16:creationId xmlns:a16="http://schemas.microsoft.com/office/drawing/2014/main" id="{017E3F96-A9E0-A3D5-AAE1-DB07DCD672A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67DF3DEA-EFD4-E9D1-04EC-B8B7AE064E23}"/>
              </a:ext>
            </a:extLst>
          </p:cNvPr>
          <p:cNvSpPr>
            <a:spLocks noGrp="1"/>
          </p:cNvSpPr>
          <p:nvPr>
            <p:ph sz="quarter" idx="11"/>
          </p:nvPr>
        </p:nvSpPr>
        <p:spPr/>
        <p:txBody>
          <a:bodyPr>
            <a:normAutofit fontScale="77500" lnSpcReduction="20000"/>
          </a:bodyPr>
          <a:lstStyle/>
          <a:p>
            <a:pPr algn="just"/>
            <a:r>
              <a:rPr lang="en-US" sz="3200" dirty="0"/>
              <a:t>The load balancing problem in a distributed system is formulated as follows: given a set T of tasks, distribute them to a set of P processors, which compute at the same rate, such that only one task can run at any given time on one processor; there is no preemption and each task runs to completion. </a:t>
            </a:r>
          </a:p>
          <a:p>
            <a:pPr algn="just"/>
            <a:r>
              <a:rPr lang="en-US" sz="3200" dirty="0"/>
              <a:t>The importance of load balancing is undeniable, and practical solutions to overcome the algorithmic complexity are widely used. For example, randomization suggests to distribute the tasks to processors chosen independently and uniformly at random. </a:t>
            </a:r>
          </a:p>
          <a:p>
            <a:pPr algn="just"/>
            <a:r>
              <a:rPr lang="en-US" sz="3200" dirty="0"/>
              <a:t>This random distribution strategy should lead to an almost equal load of processors, provided that there are enough tasks and that the distribution of the task execution times is rather narrow. Several other heuristics are used in practice.</a:t>
            </a:r>
          </a:p>
        </p:txBody>
      </p:sp>
    </p:spTree>
    <p:extLst>
      <p:ext uri="{BB962C8B-B14F-4D97-AF65-F5344CB8AC3E}">
        <p14:creationId xmlns:p14="http://schemas.microsoft.com/office/powerpoint/2010/main" val="105579640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37377-B25B-CF06-491E-FF0260E488F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EC77185-C0B0-212F-BE1D-FF01C6A7D817}"/>
              </a:ext>
            </a:extLst>
          </p:cNvPr>
          <p:cNvSpPr>
            <a:spLocks noGrp="1"/>
          </p:cNvSpPr>
          <p:nvPr>
            <p:ph type="title"/>
          </p:nvPr>
        </p:nvSpPr>
        <p:spPr>
          <a:xfrm>
            <a:off x="2167377" y="1871164"/>
            <a:ext cx="14715569" cy="511175"/>
          </a:xfrm>
        </p:spPr>
        <p:txBody>
          <a:bodyPr>
            <a:normAutofit/>
          </a:bodyPr>
          <a:lstStyle/>
          <a:p>
            <a:r>
              <a:rPr lang="en-US" sz="3200" dirty="0"/>
              <a:t>Load balancing</a:t>
            </a:r>
          </a:p>
        </p:txBody>
      </p:sp>
      <p:sp>
        <p:nvSpPr>
          <p:cNvPr id="13" name="Text Placeholder 2">
            <a:extLst>
              <a:ext uri="{FF2B5EF4-FFF2-40B4-BE49-F238E27FC236}">
                <a16:creationId xmlns:a16="http://schemas.microsoft.com/office/drawing/2014/main" id="{BFD1A4E6-8BC0-FA84-2689-6F546E0D930A}"/>
              </a:ext>
            </a:extLst>
          </p:cNvPr>
          <p:cNvSpPr>
            <a:spLocks noGrp="1"/>
          </p:cNvSpPr>
          <p:nvPr>
            <p:ph type="body" sz="quarter" idx="10"/>
          </p:nvPr>
        </p:nvSpPr>
        <p:spPr>
          <a:xfrm>
            <a:off x="2167377" y="2419728"/>
            <a:ext cx="9768875" cy="803546"/>
          </a:xfrm>
        </p:spPr>
        <p:txBody>
          <a:bodyPr>
            <a:normAutofit/>
          </a:bodyPr>
          <a:lstStyle/>
          <a:p>
            <a:r>
              <a:rPr lang="en-US" dirty="0"/>
              <a:t>The Balls-and-Bins Model</a:t>
            </a:r>
          </a:p>
        </p:txBody>
      </p:sp>
      <p:sp>
        <p:nvSpPr>
          <p:cNvPr id="15" name="Text Placeholder 3">
            <a:extLst>
              <a:ext uri="{FF2B5EF4-FFF2-40B4-BE49-F238E27FC236}">
                <a16:creationId xmlns:a16="http://schemas.microsoft.com/office/drawing/2014/main" id="{5EF2D562-0926-A9FE-DB30-902713F4F566}"/>
              </a:ext>
            </a:extLst>
          </p:cNvPr>
          <p:cNvSpPr>
            <a:spLocks noGrp="1"/>
          </p:cNvSpPr>
          <p:nvPr>
            <p:ph type="body" sz="quarter" idx="16"/>
          </p:nvPr>
        </p:nvSpPr>
        <p:spPr>
          <a:xfrm>
            <a:off x="2167377" y="6556917"/>
            <a:ext cx="9768906" cy="5575610"/>
          </a:xfrm>
        </p:spPr>
        <p:txBody>
          <a:bodyPr>
            <a:normAutofit/>
          </a:bodyPr>
          <a:lstStyle/>
          <a:p>
            <a:r>
              <a:rPr lang="en-US" dirty="0"/>
              <a:t>In this model, we define the load of a bin as the number of balls in the bin.</a:t>
            </a:r>
          </a:p>
          <a:p>
            <a:r>
              <a:rPr lang="en-US" dirty="0"/>
              <a:t>A better load balance is achieved when the balls are placed sequentially, and for each ball, we choose two bins independently and uniformly at random, then place the ball into the less full bin. In this case, the maximal load, max⁡(Li2),1≤i≤n is</a:t>
            </a:r>
          </a:p>
        </p:txBody>
      </p:sp>
      <p:sp>
        <p:nvSpPr>
          <p:cNvPr id="17" name="Text Placeholder 5">
            <a:extLst>
              <a:ext uri="{FF2B5EF4-FFF2-40B4-BE49-F238E27FC236}">
                <a16:creationId xmlns:a16="http://schemas.microsoft.com/office/drawing/2014/main" id="{D1DDE61E-8755-7B58-2B16-D27F437CAB5F}"/>
              </a:ext>
            </a:extLst>
          </p:cNvPr>
          <p:cNvSpPr>
            <a:spLocks noGrp="1"/>
          </p:cNvSpPr>
          <p:nvPr>
            <p:ph type="body" sz="quarter" idx="17"/>
          </p:nvPr>
        </p:nvSpPr>
        <p:spPr>
          <a:xfrm>
            <a:off x="2166938" y="4210049"/>
            <a:ext cx="9768874" cy="2039112"/>
          </a:xfrm>
        </p:spPr>
        <p:txBody>
          <a:bodyPr>
            <a:normAutofit/>
          </a:bodyPr>
          <a:lstStyle/>
          <a:p>
            <a:r>
              <a:rPr lang="en-US" sz="3600" dirty="0"/>
              <a:t>The load balancing problem is often discussed using the balls-and-bins model.</a:t>
            </a:r>
            <a:endParaRPr lang="en-US" sz="3400" dirty="0"/>
          </a:p>
        </p:txBody>
      </p:sp>
      <p:pic>
        <p:nvPicPr>
          <p:cNvPr id="3" name="Picture 2">
            <a:extLst>
              <a:ext uri="{FF2B5EF4-FFF2-40B4-BE49-F238E27FC236}">
                <a16:creationId xmlns:a16="http://schemas.microsoft.com/office/drawing/2014/main" id="{CB02E4D5-E710-1730-20F6-CC412EAAD547}"/>
              </a:ext>
            </a:extLst>
          </p:cNvPr>
          <p:cNvPicPr>
            <a:picLocks noChangeAspect="1"/>
          </p:cNvPicPr>
          <p:nvPr/>
        </p:nvPicPr>
        <p:blipFill>
          <a:blip r:embed="rId3"/>
          <a:stretch>
            <a:fillRect/>
          </a:stretch>
        </p:blipFill>
        <p:spPr>
          <a:xfrm>
            <a:off x="12748198" y="6249161"/>
            <a:ext cx="11087162" cy="1205126"/>
          </a:xfrm>
          <a:prstGeom prst="rect">
            <a:avLst/>
          </a:prstGeom>
        </p:spPr>
      </p:pic>
    </p:spTree>
    <p:extLst>
      <p:ext uri="{BB962C8B-B14F-4D97-AF65-F5344CB8AC3E}">
        <p14:creationId xmlns:p14="http://schemas.microsoft.com/office/powerpoint/2010/main" val="227411493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135B-FE04-E1EC-B385-FE4293CAD32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7A383-DB34-2651-6EF1-6D70F2547CD0}"/>
              </a:ext>
            </a:extLst>
          </p:cNvPr>
          <p:cNvSpPr>
            <a:spLocks noGrp="1"/>
          </p:cNvSpPr>
          <p:nvPr>
            <p:ph type="title"/>
          </p:nvPr>
        </p:nvSpPr>
        <p:spPr/>
        <p:txBody>
          <a:bodyPr>
            <a:normAutofit/>
          </a:bodyPr>
          <a:lstStyle/>
          <a:p>
            <a:r>
              <a:rPr lang="en-US" sz="3200" dirty="0"/>
              <a:t>Load balancing</a:t>
            </a:r>
          </a:p>
        </p:txBody>
      </p:sp>
      <p:sp>
        <p:nvSpPr>
          <p:cNvPr id="13" name="Text Placeholder 2">
            <a:extLst>
              <a:ext uri="{FF2B5EF4-FFF2-40B4-BE49-F238E27FC236}">
                <a16:creationId xmlns:a16="http://schemas.microsoft.com/office/drawing/2014/main" id="{13848B13-AF9C-05C0-D657-F16A6DDE5DE8}"/>
              </a:ext>
            </a:extLst>
          </p:cNvPr>
          <p:cNvSpPr>
            <a:spLocks noGrp="1"/>
          </p:cNvSpPr>
          <p:nvPr>
            <p:ph type="body" sz="quarter" idx="10"/>
          </p:nvPr>
        </p:nvSpPr>
        <p:spPr/>
        <p:txBody>
          <a:bodyPr>
            <a:normAutofit/>
          </a:bodyPr>
          <a:lstStyle/>
          <a:p>
            <a:r>
              <a:rPr lang="en-US" dirty="0"/>
              <a:t>The Balls-and-Bins Model</a:t>
            </a:r>
          </a:p>
        </p:txBody>
      </p:sp>
      <p:sp>
        <p:nvSpPr>
          <p:cNvPr id="15" name="Text Placeholder 3">
            <a:extLst>
              <a:ext uri="{FF2B5EF4-FFF2-40B4-BE49-F238E27FC236}">
                <a16:creationId xmlns:a16="http://schemas.microsoft.com/office/drawing/2014/main" id="{CC3DD5D0-0B9C-7713-9F40-51E307B09102}"/>
              </a:ext>
            </a:extLst>
          </p:cNvPr>
          <p:cNvSpPr>
            <a:spLocks noGrp="1"/>
          </p:cNvSpPr>
          <p:nvPr>
            <p:ph sz="quarter" idx="11"/>
          </p:nvPr>
        </p:nvSpPr>
        <p:spPr/>
        <p:txBody>
          <a:bodyPr>
            <a:normAutofit fontScale="85000" lnSpcReduction="20000"/>
          </a:bodyPr>
          <a:lstStyle/>
          <a:p>
            <a:pPr algn="just"/>
            <a:r>
              <a:rPr lang="en-US" sz="2800" dirty="0"/>
              <a:t>This result called the power of two choices, shows that having two or more choices leads to an exponential improvement of the load balance. When the number of bins that contain at least j balls conditioned on the number of bins that contain at least (j−1) balls is inductively bound. </a:t>
            </a:r>
          </a:p>
          <a:p>
            <a:pPr algn="just"/>
            <a:r>
              <a:rPr lang="en-US" sz="2800" dirty="0"/>
              <a:t>If the choice for each ball is extended from 2 to d bins, then the result is further improved. </a:t>
            </a:r>
          </a:p>
          <a:p>
            <a:pPr algn="just"/>
            <a:r>
              <a:rPr lang="en-US" sz="2800" dirty="0"/>
              <a:t>The GREEDY algorithm considers an (</a:t>
            </a:r>
            <a:r>
              <a:rPr lang="en-US" sz="2800" dirty="0" err="1"/>
              <a:t>m,n,d</a:t>
            </a:r>
            <a:r>
              <a:rPr lang="en-US" sz="2800" dirty="0"/>
              <a:t>) problem: </a:t>
            </a:r>
          </a:p>
          <a:p>
            <a:pPr algn="just"/>
            <a:r>
              <a:rPr lang="en-US" sz="2800" dirty="0"/>
              <a:t>n initially empty bins, m balls to be placed sequentially in the bins, and d choices made independently and uniformly at random with replacement. Each ball is placed in the least loaded of the d bins, and ties are broken arbitrarily. Then, the maximum load, the maximum number of balls in a bin, has an upper bound of</a:t>
            </a:r>
          </a:p>
          <a:p>
            <a:pPr algn="just"/>
            <a:endParaRPr lang="en-US" sz="2800" dirty="0"/>
          </a:p>
          <a:p>
            <a:pPr algn="just"/>
            <a:endParaRPr lang="en-US" sz="2800" dirty="0"/>
          </a:p>
          <a:p>
            <a:pPr algn="just"/>
            <a:endParaRPr lang="en-US" sz="2800" dirty="0"/>
          </a:p>
          <a:p>
            <a:pPr algn="just"/>
            <a:endParaRPr lang="en-US" sz="2800" dirty="0"/>
          </a:p>
        </p:txBody>
      </p:sp>
      <p:pic>
        <p:nvPicPr>
          <p:cNvPr id="6" name="Picture 5">
            <a:extLst>
              <a:ext uri="{FF2B5EF4-FFF2-40B4-BE49-F238E27FC236}">
                <a16:creationId xmlns:a16="http://schemas.microsoft.com/office/drawing/2014/main" id="{641A8EFA-F841-9AFA-B872-DFFAAC35A152}"/>
              </a:ext>
            </a:extLst>
          </p:cNvPr>
          <p:cNvPicPr>
            <a:picLocks noChangeAspect="1"/>
          </p:cNvPicPr>
          <p:nvPr/>
        </p:nvPicPr>
        <p:blipFill>
          <a:blip r:embed="rId3"/>
          <a:stretch>
            <a:fillRect/>
          </a:stretch>
        </p:blipFill>
        <p:spPr>
          <a:xfrm>
            <a:off x="7062431" y="10985644"/>
            <a:ext cx="10259138" cy="1419716"/>
          </a:xfrm>
          <a:prstGeom prst="rect">
            <a:avLst/>
          </a:prstGeom>
        </p:spPr>
      </p:pic>
    </p:spTree>
    <p:extLst>
      <p:ext uri="{BB962C8B-B14F-4D97-AF65-F5344CB8AC3E}">
        <p14:creationId xmlns:p14="http://schemas.microsoft.com/office/powerpoint/2010/main" val="423450173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5F742-1F85-A4B8-FC80-CF40954C4B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5ED995-57BD-80CE-EE00-22F7891C2ADD}"/>
              </a:ext>
            </a:extLst>
          </p:cNvPr>
          <p:cNvSpPr>
            <a:spLocks noGrp="1"/>
          </p:cNvSpPr>
          <p:nvPr>
            <p:ph type="title"/>
          </p:nvPr>
        </p:nvSpPr>
        <p:spPr/>
        <p:txBody>
          <a:bodyPr>
            <a:normAutofit/>
          </a:bodyPr>
          <a:lstStyle/>
          <a:p>
            <a:r>
              <a:rPr lang="en-US" sz="3200" dirty="0"/>
              <a:t>Load balancing</a:t>
            </a:r>
          </a:p>
        </p:txBody>
      </p:sp>
      <p:sp>
        <p:nvSpPr>
          <p:cNvPr id="13" name="Text Placeholder 2">
            <a:extLst>
              <a:ext uri="{FF2B5EF4-FFF2-40B4-BE49-F238E27FC236}">
                <a16:creationId xmlns:a16="http://schemas.microsoft.com/office/drawing/2014/main" id="{57FDD036-8B38-5063-4C59-E7CDAE3B04F9}"/>
              </a:ext>
            </a:extLst>
          </p:cNvPr>
          <p:cNvSpPr>
            <a:spLocks noGrp="1"/>
          </p:cNvSpPr>
          <p:nvPr>
            <p:ph type="body" sz="quarter" idx="10"/>
          </p:nvPr>
        </p:nvSpPr>
        <p:spPr/>
        <p:txBody>
          <a:bodyPr>
            <a:normAutofit fontScale="92500" lnSpcReduction="20000"/>
          </a:bodyPr>
          <a:lstStyle/>
          <a:p>
            <a:r>
              <a:rPr lang="en-US" dirty="0"/>
              <a:t>Parallelization of The Randomized Load Balance</a:t>
            </a:r>
          </a:p>
        </p:txBody>
      </p:sp>
      <p:sp>
        <p:nvSpPr>
          <p:cNvPr id="15" name="Text Placeholder 3">
            <a:extLst>
              <a:ext uri="{FF2B5EF4-FFF2-40B4-BE49-F238E27FC236}">
                <a16:creationId xmlns:a16="http://schemas.microsoft.com/office/drawing/2014/main" id="{D1350258-E03C-BB3E-4585-4F261199DAFC}"/>
              </a:ext>
            </a:extLst>
          </p:cNvPr>
          <p:cNvSpPr>
            <a:spLocks noGrp="1"/>
          </p:cNvSpPr>
          <p:nvPr>
            <p:ph sz="quarter" idx="11"/>
          </p:nvPr>
        </p:nvSpPr>
        <p:spPr/>
        <p:txBody>
          <a:bodyPr>
            <a:normAutofit/>
          </a:bodyPr>
          <a:lstStyle/>
          <a:p>
            <a:pPr algn="just"/>
            <a:r>
              <a:rPr lang="en-US" sz="2800" dirty="0"/>
              <a:t>The strategies analyzed are symmetric, all balls and bins use the same algorithm, and all possible destinations are chosen independently and uniformly at random. </a:t>
            </a:r>
          </a:p>
          <a:p>
            <a:pPr algn="just"/>
            <a:r>
              <a:rPr lang="en-US" sz="2800" dirty="0"/>
              <a:t>An algorithm is asynchronous if an entity, a ball or a bin, does not have to wait for a round to complete; it only has to wait for messages addressed to it, rather than waiting for messages addressed to another entity. </a:t>
            </a:r>
          </a:p>
          <a:p>
            <a:pPr algn="just"/>
            <a:r>
              <a:rPr lang="en-US" sz="2800" dirty="0"/>
              <a:t>A round is synchronous if a barrier synchronization is required between some pairs of rounds.</a:t>
            </a:r>
          </a:p>
        </p:txBody>
      </p:sp>
    </p:spTree>
    <p:extLst>
      <p:ext uri="{BB962C8B-B14F-4D97-AF65-F5344CB8AC3E}">
        <p14:creationId xmlns:p14="http://schemas.microsoft.com/office/powerpoint/2010/main" val="249212803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48A88-010F-35AB-9071-B8F6811268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221BF3-5519-52C3-30BB-40C4A3151BB9}"/>
              </a:ext>
            </a:extLst>
          </p:cNvPr>
          <p:cNvSpPr>
            <a:spLocks noGrp="1"/>
          </p:cNvSpPr>
          <p:nvPr>
            <p:ph type="title"/>
          </p:nvPr>
        </p:nvSpPr>
        <p:spPr>
          <a:xfrm>
            <a:off x="2167377" y="1871164"/>
            <a:ext cx="14715569" cy="511175"/>
          </a:xfrm>
        </p:spPr>
        <p:txBody>
          <a:bodyPr>
            <a:normAutofit/>
          </a:bodyPr>
          <a:lstStyle/>
          <a:p>
            <a:r>
              <a:rPr lang="en-US" sz="3200" dirty="0"/>
              <a:t>Load balancing</a:t>
            </a:r>
          </a:p>
        </p:txBody>
      </p:sp>
      <p:sp>
        <p:nvSpPr>
          <p:cNvPr id="13" name="Text Placeholder 2">
            <a:extLst>
              <a:ext uri="{FF2B5EF4-FFF2-40B4-BE49-F238E27FC236}">
                <a16:creationId xmlns:a16="http://schemas.microsoft.com/office/drawing/2014/main" id="{9F1578AB-EEAD-80AB-8856-1FA31B1647BB}"/>
              </a:ext>
            </a:extLst>
          </p:cNvPr>
          <p:cNvSpPr>
            <a:spLocks noGrp="1"/>
          </p:cNvSpPr>
          <p:nvPr>
            <p:ph type="body" sz="quarter" idx="10"/>
          </p:nvPr>
        </p:nvSpPr>
        <p:spPr>
          <a:xfrm>
            <a:off x="2167377" y="2419728"/>
            <a:ext cx="9768875" cy="803546"/>
          </a:xfrm>
        </p:spPr>
        <p:txBody>
          <a:bodyPr>
            <a:normAutofit/>
          </a:bodyPr>
          <a:lstStyle/>
          <a:p>
            <a:r>
              <a:rPr lang="en-US" dirty="0"/>
              <a:t>The Balls-and-Bins Model - hashing</a:t>
            </a:r>
          </a:p>
        </p:txBody>
      </p:sp>
      <p:sp>
        <p:nvSpPr>
          <p:cNvPr id="15" name="Text Placeholder 3">
            <a:extLst>
              <a:ext uri="{FF2B5EF4-FFF2-40B4-BE49-F238E27FC236}">
                <a16:creationId xmlns:a16="http://schemas.microsoft.com/office/drawing/2014/main" id="{FB62D4FB-47FD-F76C-2EFB-2DA96AAC363F}"/>
              </a:ext>
            </a:extLst>
          </p:cNvPr>
          <p:cNvSpPr>
            <a:spLocks noGrp="1"/>
          </p:cNvSpPr>
          <p:nvPr>
            <p:ph type="body" sz="quarter" idx="16"/>
          </p:nvPr>
        </p:nvSpPr>
        <p:spPr>
          <a:xfrm>
            <a:off x="2167377" y="6556917"/>
            <a:ext cx="9768906" cy="5575610"/>
          </a:xfrm>
        </p:spPr>
        <p:txBody>
          <a:bodyPr>
            <a:normAutofit/>
          </a:bodyPr>
          <a:lstStyle/>
          <a:p>
            <a:r>
              <a:rPr lang="en-US" dirty="0"/>
              <a:t>Using two hash functions to map keys and placing the item in the shorter chain (based on the power of two choices) substantially reduces the maximum search time to O(log </a:t>
            </a:r>
            <a:r>
              <a:rPr lang="en-US" dirty="0" err="1"/>
              <a:t>log</a:t>
            </a:r>
            <a:r>
              <a:rPr lang="en-US" dirty="0"/>
              <a:t> n) with high probability.</a:t>
            </a:r>
          </a:p>
        </p:txBody>
      </p:sp>
      <p:pic>
        <p:nvPicPr>
          <p:cNvPr id="2050" name="Picture 2" descr="高级算法 (Fall 2022)/Balls into bins - TCS Wiki">
            <a:extLst>
              <a:ext uri="{FF2B5EF4-FFF2-40B4-BE49-F238E27FC236}">
                <a16:creationId xmlns:a16="http://schemas.microsoft.com/office/drawing/2014/main" id="{6952079C-9540-65FF-93CC-5A3E0B5210D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339930" y="5555600"/>
            <a:ext cx="9099057" cy="5231956"/>
          </a:xfrm>
          <a:prstGeom prst="rect">
            <a:avLst/>
          </a:prstGeom>
          <a:solidFill>
            <a:srgbClr val="FFFFFF"/>
          </a:solidFill>
        </p:spPr>
      </p:pic>
      <p:sp>
        <p:nvSpPr>
          <p:cNvPr id="17" name="Text Placeholder 5">
            <a:extLst>
              <a:ext uri="{FF2B5EF4-FFF2-40B4-BE49-F238E27FC236}">
                <a16:creationId xmlns:a16="http://schemas.microsoft.com/office/drawing/2014/main" id="{F727F41D-C125-1DD3-8085-1C910BCF57BE}"/>
              </a:ext>
            </a:extLst>
          </p:cNvPr>
          <p:cNvSpPr>
            <a:spLocks noGrp="1"/>
          </p:cNvSpPr>
          <p:nvPr>
            <p:ph type="body" sz="quarter" idx="17"/>
          </p:nvPr>
        </p:nvSpPr>
        <p:spPr>
          <a:xfrm>
            <a:off x="2166938" y="4210049"/>
            <a:ext cx="9768874" cy="2039112"/>
          </a:xfrm>
        </p:spPr>
        <p:txBody>
          <a:bodyPr>
            <a:normAutofit/>
          </a:bodyPr>
          <a:lstStyle/>
          <a:p>
            <a:r>
              <a:rPr lang="en-US"/>
              <a:t>The balls-and-bins model has applications to hashing</a:t>
            </a:r>
          </a:p>
        </p:txBody>
      </p:sp>
    </p:spTree>
    <p:extLst>
      <p:ext uri="{BB962C8B-B14F-4D97-AF65-F5344CB8AC3E}">
        <p14:creationId xmlns:p14="http://schemas.microsoft.com/office/powerpoint/2010/main" val="22416162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Discuss and find the best types of load balancing algorithms, provide </a:t>
            </a:r>
            <a:r>
              <a:rPr lang="en-US"/>
              <a:t>your reason!</a:t>
            </a:r>
            <a:endParaRPr lang="en-US" dirty="0"/>
          </a:p>
        </p:txBody>
      </p:sp>
    </p:spTree>
    <p:extLst>
      <p:ext uri="{BB962C8B-B14F-4D97-AF65-F5344CB8AC3E}">
        <p14:creationId xmlns:p14="http://schemas.microsoft.com/office/powerpoint/2010/main" val="287359398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1125</TotalTime>
  <Words>2306</Words>
  <Application>Microsoft Office PowerPoint</Application>
  <PresentationFormat>Custom</PresentationFormat>
  <Paragraphs>136</Paragraphs>
  <Slides>25</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Cambria Math</vt:lpstr>
      <vt:lpstr>Arial</vt:lpstr>
      <vt:lpstr>Open Sans Light</vt:lpstr>
      <vt:lpstr>Open Sans Semibold</vt:lpstr>
      <vt:lpstr>Open Sans</vt:lpstr>
      <vt:lpstr>Tahoma</vt:lpstr>
      <vt:lpstr>Open Sans ExtraBold</vt:lpstr>
      <vt:lpstr>OCRB</vt:lpstr>
      <vt:lpstr>21_BasicWhite</vt:lpstr>
      <vt:lpstr>Cloud Computing  Session 10</vt:lpstr>
      <vt:lpstr>Learning outcomes</vt:lpstr>
      <vt:lpstr>Outline</vt:lpstr>
      <vt:lpstr>A Model for Multicore Computing</vt:lpstr>
      <vt:lpstr>A Model for Multicore Computing</vt:lpstr>
      <vt:lpstr>A Model for Multicore Computing</vt:lpstr>
      <vt:lpstr>A Model for Multicore Computing</vt:lpstr>
      <vt:lpstr>A Model for Multicore Computing</vt:lpstr>
      <vt:lpstr>Communication, Logical Clocks, and Message Delivery Rules</vt:lpstr>
      <vt:lpstr>Communication</vt:lpstr>
      <vt:lpstr>communication</vt:lpstr>
      <vt:lpstr>communication</vt:lpstr>
      <vt:lpstr>communication</vt:lpstr>
      <vt:lpstr>communication</vt:lpstr>
      <vt:lpstr>communication</vt:lpstr>
      <vt:lpstr>Load Balancing</vt:lpstr>
      <vt:lpstr>Load Balancing</vt:lpstr>
      <vt:lpstr>Load Balancing</vt:lpstr>
      <vt:lpstr>Load balancing</vt:lpstr>
      <vt:lpstr>Load balancing</vt:lpstr>
      <vt:lpstr>Load balancing</vt:lpstr>
      <vt:lpstr>Load balancing</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23</cp:revision>
  <dcterms:created xsi:type="dcterms:W3CDTF">2023-06-28T08:14:57Z</dcterms:created>
  <dcterms:modified xsi:type="dcterms:W3CDTF">2026-01-09T08:26:09Z</dcterms:modified>
</cp:coreProperties>
</file>