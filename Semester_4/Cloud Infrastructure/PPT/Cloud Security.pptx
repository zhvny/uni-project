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3"/>
  </p:notesMasterIdLst>
  <p:sldIdLst>
    <p:sldId id="256" r:id="rId2"/>
    <p:sldId id="278" r:id="rId3"/>
    <p:sldId id="257" r:id="rId4"/>
    <p:sldId id="264" r:id="rId5"/>
    <p:sldId id="340" r:id="rId6"/>
    <p:sldId id="297" r:id="rId7"/>
    <p:sldId id="298" r:id="rId8"/>
    <p:sldId id="330" r:id="rId9"/>
    <p:sldId id="318" r:id="rId10"/>
    <p:sldId id="338" r:id="rId11"/>
    <p:sldId id="303" r:id="rId12"/>
    <p:sldId id="301" r:id="rId13"/>
    <p:sldId id="341" r:id="rId14"/>
    <p:sldId id="339" r:id="rId15"/>
    <p:sldId id="334" r:id="rId16"/>
    <p:sldId id="337" r:id="rId17"/>
    <p:sldId id="321" r:id="rId18"/>
    <p:sldId id="342" r:id="rId19"/>
    <p:sldId id="343" r:id="rId20"/>
    <p:sldId id="304" r:id="rId21"/>
    <p:sldId id="324" r:id="rId22"/>
    <p:sldId id="344" r:id="rId23"/>
    <p:sldId id="325" r:id="rId24"/>
    <p:sldId id="345" r:id="rId25"/>
    <p:sldId id="306" r:id="rId26"/>
    <p:sldId id="346" r:id="rId27"/>
    <p:sldId id="347" r:id="rId28"/>
    <p:sldId id="348" r:id="rId29"/>
    <p:sldId id="315" r:id="rId30"/>
    <p:sldId id="317" r:id="rId31"/>
    <p:sldId id="296" r:id="rId32"/>
  </p:sldIdLst>
  <p:sldSz cx="24384000" cy="13716000"/>
  <p:notesSz cx="6858000" cy="9144000"/>
  <p:embeddedFontLst>
    <p:embeddedFont>
      <p:font typeface="OCRB" panose="020B0609020202020204" pitchFamily="49" charset="0"/>
      <p:regular r:id="rId34"/>
    </p:embeddedFont>
    <p:embeddedFont>
      <p:font typeface="Open Sans" panose="020B0606030504020204" pitchFamily="34" charset="0"/>
      <p:regular r:id="rId35"/>
      <p:bold r:id="rId36"/>
      <p:italic r:id="rId37"/>
      <p:boldItalic r:id="rId38"/>
    </p:embeddedFont>
    <p:embeddedFont>
      <p:font typeface="Open Sans ExtraBold" panose="020B0906030804020204" pitchFamily="34" charset="0"/>
      <p:bold r:id="rId39"/>
      <p:italic r:id="rId40"/>
      <p:boldItalic r:id="rId41"/>
    </p:embeddedFont>
    <p:embeddedFont>
      <p:font typeface="Open Sans Light" panose="020B0306030504020204" pitchFamily="34" charset="0"/>
      <p:regular r:id="rId42"/>
      <p:italic r:id="rId43"/>
    </p:embeddedFont>
    <p:embeddedFont>
      <p:font typeface="Open Sans Semibold" panose="020B0706030804020204" pitchFamily="34" charset="0"/>
      <p:regular r:id="rId44"/>
      <p:bold r:id="rId45"/>
      <p:italic r:id="rId46"/>
      <p:boldItalic r:id="rId47"/>
    </p:embeddedFont>
    <p:embeddedFont>
      <p:font typeface="Tahoma" panose="020B0604030504040204" pitchFamily="34" charset="0"/>
      <p:regular r:id="rId48"/>
      <p:bold r:id="rId49"/>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FAE995-0F9C-D74A-95D1-DD92ECB55CB7}" v="77" dt="2023-12-07T07:14:46.02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55" autoAdjust="0"/>
    <p:restoredTop sz="96197"/>
  </p:normalViewPr>
  <p:slideViewPr>
    <p:cSldViewPr snapToGrid="0" snapToObjects="1">
      <p:cViewPr varScale="1">
        <p:scale>
          <a:sx n="39" d="100"/>
          <a:sy n="39" d="100"/>
        </p:scale>
        <p:origin x="888" y="91"/>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17588374"/>
      </p:ext>
    </p:extLst>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Misconfiguration and inadequate change control</a:t>
            </a:r>
          </a:p>
          <a:p>
            <a:r>
              <a:rPr lang="en-US" dirty="0"/>
              <a:t>Identity and Access Management</a:t>
            </a:r>
          </a:p>
          <a:p>
            <a:r>
              <a:rPr lang="en-US" dirty="0"/>
              <a:t>Insecure interfaces and APIs</a:t>
            </a:r>
          </a:p>
          <a:p>
            <a:r>
              <a:rPr lang="en-US" dirty="0"/>
              <a:t>Inadequate selection/implementation of cloud security strategy</a:t>
            </a:r>
          </a:p>
          <a:p>
            <a:r>
              <a:rPr lang="en-US" dirty="0"/>
              <a:t>Insecure third-party resources</a:t>
            </a:r>
          </a:p>
          <a:p>
            <a:r>
              <a:rPr lang="en-US" dirty="0"/>
              <a:t>Insecure software development</a:t>
            </a:r>
          </a:p>
          <a:p>
            <a:r>
              <a:rPr lang="en-US" dirty="0"/>
              <a:t>Accidental cloud disclosure</a:t>
            </a:r>
          </a:p>
          <a:p>
            <a:r>
              <a:rPr lang="en-US" dirty="0"/>
              <a:t>System vulnerabilities</a:t>
            </a:r>
          </a:p>
          <a:p>
            <a:r>
              <a:rPr lang="en-US" dirty="0"/>
              <a:t>Limited cloud visibility/observability</a:t>
            </a:r>
          </a:p>
          <a:p>
            <a:r>
              <a:rPr lang="en-US" dirty="0"/>
              <a:t>Unauthenticated resource sharing</a:t>
            </a:r>
          </a:p>
          <a:p>
            <a:r>
              <a:rPr lang="en-US" dirty="0"/>
              <a:t>Advanced Persistent Threats</a:t>
            </a:r>
          </a:p>
          <a:p>
            <a:endParaRPr lang="en-US" dirty="0"/>
          </a:p>
          <a:p>
            <a:endParaRPr lang="en-US" dirty="0"/>
          </a:p>
        </p:txBody>
      </p:sp>
    </p:spTree>
    <p:extLst>
      <p:ext uri="{BB962C8B-B14F-4D97-AF65-F5344CB8AC3E}">
        <p14:creationId xmlns:p14="http://schemas.microsoft.com/office/powerpoint/2010/main" val="2602377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37298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80E8E-95B0-4EB7-BACD-906C47A1FE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0837F3-82F3-53F3-F651-A5C937A9BB2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5C988E1-08D5-2221-9840-830FB48139AE}"/>
              </a:ext>
            </a:extLst>
          </p:cNvPr>
          <p:cNvSpPr>
            <a:spLocks noGrp="1"/>
          </p:cNvSpPr>
          <p:nvPr>
            <p:ph type="body" idx="1"/>
          </p:nvPr>
        </p:nvSpPr>
        <p:spPr/>
        <p:txBody>
          <a:bodyPr/>
          <a:lstStyle/>
          <a:p>
            <a:pPr marL="0" marR="0" lvl="0" indent="0" algn="just" defTabSz="457200" eaLnBrk="1" fontAlgn="auto" latinLnBrk="0" hangingPunct="1">
              <a:lnSpc>
                <a:spcPct val="117999"/>
              </a:lnSpc>
              <a:spcBef>
                <a:spcPts val="0"/>
              </a:spcBef>
              <a:spcAft>
                <a:spcPts val="0"/>
              </a:spcAft>
              <a:buClrTx/>
              <a:buSzTx/>
              <a:buFontTx/>
              <a:buNone/>
              <a:tabLst/>
              <a:defRPr/>
            </a:pPr>
            <a:r>
              <a:rPr lang="en-US" dirty="0"/>
              <a:t>When f(⋅) in Figure is a one-to-one mapping, the inverse of f(⋅) is f−1:A′→A and a=f−1(a′), b=f−1(b′), c=f−1(c′). In this case, we can carry out the operation ⋄ in the target domain and apply the inverse mapping to get the same result produced by the □ operation in the original domain, f−1(a)⋄f−1(b)=f(</a:t>
            </a:r>
            <a:r>
              <a:rPr lang="en-US" dirty="0" err="1"/>
              <a:t>a□b</a:t>
            </a:r>
            <a:r>
              <a:rPr lang="en-US" dirty="0"/>
              <a:t>). In the case of homomorphic encryption, the map is a one-to-one transformation, f(⋅) is the encryption procedure, its inverse, f−1(⋅), is the decryption procedure, and the composition operation can be any arithmetic and logic operation.</a:t>
            </a:r>
          </a:p>
          <a:p>
            <a:endParaRPr lang="en-US" dirty="0"/>
          </a:p>
        </p:txBody>
      </p:sp>
    </p:spTree>
    <p:extLst>
      <p:ext uri="{BB962C8B-B14F-4D97-AF65-F5344CB8AC3E}">
        <p14:creationId xmlns:p14="http://schemas.microsoft.com/office/powerpoint/2010/main" val="38724888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F918C-94BA-768D-0DAB-4F7B7EB26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1B7B2-98E1-973B-DB1A-E34DFC03EC0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5864438-4B75-9973-2FD3-870FD207506C}"/>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909272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8BAFB-5EA1-E02D-9A5E-A5AB7228E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213FA-D988-B939-B1A1-FB7BA6CA11A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5F15069-07DB-9934-63FD-6E6641E29A05}"/>
              </a:ext>
            </a:extLst>
          </p:cNvPr>
          <p:cNvSpPr>
            <a:spLocks noGrp="1"/>
          </p:cNvSpPr>
          <p:nvPr>
            <p:ph type="body" idx="1"/>
          </p:nvPr>
        </p:nvSpPr>
        <p:spPr/>
        <p:txBody>
          <a:bodyPr/>
          <a:lstStyle/>
          <a:p>
            <a:pPr algn="just"/>
            <a:r>
              <a:rPr lang="en-US" dirty="0"/>
              <a:t>An SSE protocol supporting conjunctive search and general Boolean queries on symmetrically encrypted data. This SSE protocol scales to very large databases. It can be used for arbitrarily structured data including free text search with the moderate and well-defined leakage to the outsourced server.</a:t>
            </a:r>
          </a:p>
        </p:txBody>
      </p:sp>
    </p:spTree>
    <p:extLst>
      <p:ext uri="{BB962C8B-B14F-4D97-AF65-F5344CB8AC3E}">
        <p14:creationId xmlns:p14="http://schemas.microsoft.com/office/powerpoint/2010/main" val="2999002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12671-19EA-A085-AA9F-FC0D7A3DA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7F0B2A-3BDB-015E-2BB4-DC82988D027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8D993A7-E2ED-CE44-FBDC-1FBBBA0B6BAA}"/>
              </a:ext>
            </a:extLst>
          </p:cNvPr>
          <p:cNvSpPr>
            <a:spLocks noGrp="1"/>
          </p:cNvSpPr>
          <p:nvPr>
            <p:ph type="body" idx="1"/>
          </p:nvPr>
        </p:nvSpPr>
        <p:spPr/>
        <p:txBody>
          <a:bodyPr/>
          <a:lstStyle/>
          <a:p>
            <a:pPr marL="457200" indent="-457200" algn="just">
              <a:buAutoNum type="alphaLcPeriod"/>
            </a:pPr>
            <a:r>
              <a:rPr lang="en-US" dirty="0"/>
              <a:t>Resources starvation and denial of service for some VMs. Probable causes: (1) badly configured resource limits for some VMs; (2) a rogue VM with the capability of bypassing resource limits set in hypervisor.</a:t>
            </a:r>
          </a:p>
          <a:p>
            <a:pPr marL="457200" indent="-457200" algn="just">
              <a:buAutoNum type="alphaLcPeriod"/>
            </a:pPr>
            <a:r>
              <a:rPr lang="en-US" dirty="0"/>
              <a:t>VM side-channel attacks: malicious attack on one or more VMs by a rogue VM under the same hypervisor. Probable causes: (1) lack of proper isolation of inter-VM traffic due to misconfiguration of the virtual network residing in the hypervisor; (2) limitation of packet-inspection devices to handle high-speed traffic, e.g., video traffic; (3) presence of VM instances built from insecure VM images, e.g., a VM image having a guest OS without the latest patches.</a:t>
            </a:r>
          </a:p>
          <a:p>
            <a:pPr marL="457200" indent="-457200" algn="just">
              <a:buAutoNum type="alphaLcPeriod"/>
            </a:pPr>
            <a:r>
              <a:rPr lang="en-US" dirty="0"/>
              <a:t>Buffer overflow attacks.</a:t>
            </a:r>
          </a:p>
        </p:txBody>
      </p:sp>
    </p:spTree>
    <p:extLst>
      <p:ext uri="{BB962C8B-B14F-4D97-AF65-F5344CB8AC3E}">
        <p14:creationId xmlns:p14="http://schemas.microsoft.com/office/powerpoint/2010/main" val="1739111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23E90-30E9-46C3-8461-7AEC367F3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198A05-1E54-C6D7-BE16-B8E03C1DC9E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C900226-1F1C-CE42-EDEB-6AA19B7A0412}"/>
              </a:ext>
            </a:extLst>
          </p:cNvPr>
          <p:cNvSpPr>
            <a:spLocks noGrp="1"/>
          </p:cNvSpPr>
          <p:nvPr>
            <p:ph type="body" idx="1"/>
          </p:nvPr>
        </p:nvSpPr>
        <p:spPr/>
        <p:txBody>
          <a:bodyPr/>
          <a:lstStyle/>
          <a:p>
            <a:pPr marL="457200" indent="-457200" algn="just">
              <a:buAutoNum type="arabicParenBoth"/>
            </a:pPr>
            <a:r>
              <a:rPr lang="en-US" dirty="0"/>
              <a:t>deployment of rogue or insecure VM; unauthorized users may create insecure instances from images or may perform unauthorized administrative actions on existing VMs. Probable cause: improper configuration of access controls on VM administrative tasks such as instance creation, launching, suspension, re-activation, etc.; </a:t>
            </a:r>
          </a:p>
          <a:p>
            <a:pPr marL="457200" indent="-457200" algn="just">
              <a:buAutoNum type="arabicParenBoth"/>
            </a:pPr>
            <a:r>
              <a:rPr lang="en-US" dirty="0"/>
              <a:t>Presence of insecure and tampered VM images in the VM image repository. Probable causes: (</a:t>
            </a:r>
            <a:r>
              <a:rPr lang="en-US" dirty="0" err="1"/>
              <a:t>i</a:t>
            </a:r>
            <a:r>
              <a:rPr lang="en-US" dirty="0"/>
              <a:t>) lack of access control to the VM image repository; (ii) lack of mechanisms to verify the integrity of the images, e.g., digitally signed image.</a:t>
            </a:r>
          </a:p>
        </p:txBody>
      </p:sp>
    </p:spTree>
    <p:extLst>
      <p:ext uri="{BB962C8B-B14F-4D97-AF65-F5344CB8AC3E}">
        <p14:creationId xmlns:p14="http://schemas.microsoft.com/office/powerpoint/2010/main" val="16659454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svg"/><Relationship Id="rId10" Type="http://schemas.openxmlformats.org/officeDocument/2006/relationships/image" Target="../media/image3.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2" name="Picture 1">
            <a:extLst>
              <a:ext uri="{FF2B5EF4-FFF2-40B4-BE49-F238E27FC236}">
                <a16:creationId xmlns:a16="http://schemas.microsoft.com/office/drawing/2014/main" id="{79C614F1-89F8-B808-9DD9-229AAF4CE53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4F98E9C-690F-D5B2-6A0E-CA43C8C26AB9}"/>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EEBA59A-5DC7-987B-985C-E7F05D80D3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40722D20-F203-A321-C13A-3A85A24C3C3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2" name="Picture 1">
            <a:extLst>
              <a:ext uri="{FF2B5EF4-FFF2-40B4-BE49-F238E27FC236}">
                <a16:creationId xmlns:a16="http://schemas.microsoft.com/office/drawing/2014/main" id="{A7BDDA7B-8679-2A96-DA58-9B50735EAFF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Picture 1">
            <a:extLst>
              <a:ext uri="{FF2B5EF4-FFF2-40B4-BE49-F238E27FC236}">
                <a16:creationId xmlns:a16="http://schemas.microsoft.com/office/drawing/2014/main" id="{F2C79DE9-4AFD-C17C-6D01-10CB5913C73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07CBA874-2A87-342A-D528-C2660A034B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6" name="Picture 5">
            <a:extLst>
              <a:ext uri="{FF2B5EF4-FFF2-40B4-BE49-F238E27FC236}">
                <a16:creationId xmlns:a16="http://schemas.microsoft.com/office/drawing/2014/main" id="{9A703794-B39A-7A69-54AC-AFD888C8CB4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64D25C93-1B77-566C-CD32-E4AC841F19C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837038" y="9711819"/>
            <a:ext cx="1700105" cy="1700105"/>
          </a:xfrm>
          <a:prstGeom prst="rect">
            <a:avLst/>
          </a:prstGeom>
        </p:spPr>
      </p:pic>
      <p:pic>
        <p:nvPicPr>
          <p:cNvPr id="7" name="Picture 6">
            <a:extLst>
              <a:ext uri="{FF2B5EF4-FFF2-40B4-BE49-F238E27FC236}">
                <a16:creationId xmlns:a16="http://schemas.microsoft.com/office/drawing/2014/main" id="{08A923CA-0AF7-7160-B581-2CACED786620}"/>
              </a:ext>
              <a:ext uri="{C183D7F6-B498-43B3-948B-1728B52AA6E4}">
                <adec:decorative xmlns:adec="http://schemas.microsoft.com/office/drawing/2017/decorative" val="1"/>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5240000" y="4320116"/>
            <a:ext cx="3535680" cy="3535680"/>
          </a:xfrm>
          <a:prstGeom prst="rect">
            <a:avLst/>
          </a:prstGeom>
        </p:spPr>
      </p:pic>
      <p:pic>
        <p:nvPicPr>
          <p:cNvPr id="4" name="Picture 3">
            <a:extLst>
              <a:ext uri="{FF2B5EF4-FFF2-40B4-BE49-F238E27FC236}">
                <a16:creationId xmlns:a16="http://schemas.microsoft.com/office/drawing/2014/main" id="{CE62FAA5-6C99-7043-5D20-4F0B7F8633F3}"/>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2" name="Picture 1">
            <a:extLst>
              <a:ext uri="{FF2B5EF4-FFF2-40B4-BE49-F238E27FC236}">
                <a16:creationId xmlns:a16="http://schemas.microsoft.com/office/drawing/2014/main" id="{7BD28E23-B05B-27F7-5B39-9129277EE1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87110" y="8648744"/>
            <a:ext cx="1403521" cy="1403521"/>
          </a:xfrm>
          <a:prstGeom prst="rect">
            <a:avLst/>
          </a:prstGeom>
        </p:spPr>
      </p:pic>
      <p:pic>
        <p:nvPicPr>
          <p:cNvPr id="5" name="Picture 4">
            <a:extLst>
              <a:ext uri="{FF2B5EF4-FFF2-40B4-BE49-F238E27FC236}">
                <a16:creationId xmlns:a16="http://schemas.microsoft.com/office/drawing/2014/main" id="{39A795C1-A678-59F7-F2CE-A32633731DCB}"/>
              </a:ext>
              <a:ext uri="{C183D7F6-B498-43B3-948B-1728B52AA6E4}">
                <adec:decorative xmlns:adec="http://schemas.microsoft.com/office/drawing/2017/decorative" val="1"/>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2"/>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4" name="Picture 3">
            <a:extLst>
              <a:ext uri="{FF2B5EF4-FFF2-40B4-BE49-F238E27FC236}">
                <a16:creationId xmlns:a16="http://schemas.microsoft.com/office/drawing/2014/main" id="{3F4008AF-17B2-1560-3039-4C723BA0CB2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5" name="Picture 4">
            <a:extLst>
              <a:ext uri="{FF2B5EF4-FFF2-40B4-BE49-F238E27FC236}">
                <a16:creationId xmlns:a16="http://schemas.microsoft.com/office/drawing/2014/main" id="{A5BF6EF1-CFA9-A58C-D0E2-EFC77F0A6544}"/>
              </a:ext>
              <a:ext uri="{C183D7F6-B498-43B3-948B-1728B52AA6E4}">
                <adec:decorative xmlns:adec="http://schemas.microsoft.com/office/drawing/2017/decorative" val="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39334" y="-15464"/>
            <a:ext cx="3860800" cy="1473200"/>
          </a:xfrm>
          <a:prstGeom prst="rect">
            <a:avLst/>
          </a:prstGeom>
        </p:spPr>
      </p:pic>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C4995F2D-6472-91D6-94D4-E6E20D96968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2" name="Picture 1">
            <a:extLst>
              <a:ext uri="{FF2B5EF4-FFF2-40B4-BE49-F238E27FC236}">
                <a16:creationId xmlns:a16="http://schemas.microsoft.com/office/drawing/2014/main" id="{453551FA-97E6-2245-9BD6-C384100F7F4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6722" y="758208"/>
            <a:ext cx="2698754" cy="1143002"/>
          </a:xfrm>
          <a:prstGeom prst="rect">
            <a:avLst/>
          </a:prstGeom>
        </p:spPr>
      </p:pic>
    </p:spTree>
    <p:extLst>
      <p:ext uri="{BB962C8B-B14F-4D97-AF65-F5344CB8AC3E}">
        <p14:creationId xmlns:p14="http://schemas.microsoft.com/office/powerpoint/2010/main" val="2109941728"/>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4319125" y="5273825"/>
            <a:ext cx="9217024"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Content Placeholder 3"/>
          <p:cNvSpPr>
            <a:spLocks noGrp="1"/>
          </p:cNvSpPr>
          <p:nvPr>
            <p:ph sz="half" idx="2"/>
          </p:nvPr>
        </p:nvSpPr>
        <p:spPr>
          <a:xfrm>
            <a:off x="13728171" y="5273825"/>
            <a:ext cx="9436629" cy="6978502"/>
          </a:xfrm>
        </p:spPr>
        <p:txBody>
          <a:bodyPr>
            <a:normAutofit/>
          </a:bodyPr>
          <a:lstStyle>
            <a:lvl1pPr>
              <a:defRPr sz="4000"/>
            </a:lvl1pPr>
            <a:lvl2pPr>
              <a:defRPr sz="4000"/>
            </a:lvl2pPr>
            <a:lvl3pPr>
              <a:defRPr sz="4000"/>
            </a:lvl3pPr>
            <a:lvl4pPr>
              <a:defRPr sz="4000"/>
            </a:lvl4pPr>
            <a:lvl5pPr>
              <a:defRPr sz="40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5" name="Date Placeholder 4"/>
          <p:cNvSpPr>
            <a:spLocks noGrp="1"/>
          </p:cNvSpPr>
          <p:nvPr>
            <p:ph type="dt" sz="half" idx="10"/>
          </p:nvPr>
        </p:nvSpPr>
        <p:spPr/>
        <p:txBody>
          <a:bodyPr/>
          <a:lstStyle/>
          <a:p>
            <a:pPr>
              <a:defRPr/>
            </a:pPr>
            <a:fld id="{CD7BD76F-6914-4CF6-838D-B2233DFD55E0}" type="datetime1">
              <a:rPr lang="en-US" smtClean="0"/>
              <a:pPr>
                <a:defRPr/>
              </a:pPr>
              <a:t>1/7/2026</a:t>
            </a:fld>
            <a:r>
              <a:rPr lang="en-US"/>
              <a:t>Bina Nusantara University</a:t>
            </a:r>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6267CA0D-3B9F-49E7-A5DF-A0D1B5CFE3C6}" type="slidenum">
              <a:rPr lang="en-US" smtClean="0"/>
              <a:pPr>
                <a:defRPr/>
              </a:pPr>
              <a:t>‹#›</a:t>
            </a:fld>
            <a:endParaRPr lang="en-US"/>
          </a:p>
        </p:txBody>
      </p:sp>
    </p:spTree>
    <p:extLst>
      <p:ext uri="{BB962C8B-B14F-4D97-AF65-F5344CB8AC3E}">
        <p14:creationId xmlns:p14="http://schemas.microsoft.com/office/powerpoint/2010/main" val="32239508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NewBM">
    <p:spTree>
      <p:nvGrpSpPr>
        <p:cNvPr id="1" name=""/>
        <p:cNvGrpSpPr/>
        <p:nvPr/>
      </p:nvGrpSpPr>
      <p:grpSpPr>
        <a:xfrm>
          <a:off x="0" y="0"/>
          <a:ext cx="0" cy="0"/>
          <a:chOff x="0" y="0"/>
          <a:chExt cx="0" cy="0"/>
        </a:xfrm>
      </p:grpSpPr>
      <p:pic>
        <p:nvPicPr>
          <p:cNvPr id="7" name="Picture 1" descr="Background 02.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 y="-27874"/>
            <a:ext cx="24383997" cy="12929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0" y="10314384"/>
            <a:ext cx="24383995" cy="3401616"/>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p>
        </p:txBody>
      </p:sp>
      <p:sp>
        <p:nvSpPr>
          <p:cNvPr id="2" name="Title 1"/>
          <p:cNvSpPr>
            <a:spLocks noGrp="1"/>
          </p:cNvSpPr>
          <p:nvPr>
            <p:ph type="title"/>
          </p:nvPr>
        </p:nvSpPr>
        <p:spPr>
          <a:xfrm>
            <a:off x="4673600" y="2743200"/>
            <a:ext cx="18232304" cy="1584176"/>
          </a:xfrm>
        </p:spPr>
        <p:txBody>
          <a:bodyPr>
            <a:normAutofit/>
          </a:bodyPr>
          <a:lstStyle>
            <a:lvl1pPr algn="ctr">
              <a:defRPr sz="6000" b="1">
                <a:solidFill>
                  <a:srgbClr val="0079B8"/>
                </a:solidFill>
                <a:latin typeface="Open Sans"/>
              </a:defRPr>
            </a:lvl1pPr>
          </a:lstStyle>
          <a:p>
            <a:r>
              <a:rPr lang="en-US"/>
              <a:t>Click to edit Master title style</a:t>
            </a:r>
            <a:endParaRPr lang="id-ID"/>
          </a:p>
        </p:txBody>
      </p:sp>
      <p:sp>
        <p:nvSpPr>
          <p:cNvPr id="8" name="Date Placeholder 3"/>
          <p:cNvSpPr>
            <a:spLocks noGrp="1"/>
          </p:cNvSpPr>
          <p:nvPr>
            <p:ph type="dt" sz="half" idx="10"/>
          </p:nvPr>
        </p:nvSpPr>
        <p:spPr>
          <a:xfrm>
            <a:off x="1219200" y="12906673"/>
            <a:ext cx="5689600" cy="730250"/>
          </a:xfrm>
        </p:spPr>
        <p:txBody>
          <a:bodyPr/>
          <a:lstStyle/>
          <a:p>
            <a:pPr>
              <a:defRPr/>
            </a:pPr>
            <a:fld id="{D613A7DE-4529-4078-B095-609A054D8419}" type="datetime1">
              <a:rPr lang="en-US" smtClean="0"/>
              <a:pPr>
                <a:defRPr/>
              </a:pPr>
              <a:t>1/7/2026</a:t>
            </a:fld>
            <a:r>
              <a:rPr lang="en-US"/>
              <a:t>Bina Nusantara University</a:t>
            </a:r>
          </a:p>
        </p:txBody>
      </p:sp>
      <p:sp>
        <p:nvSpPr>
          <p:cNvPr id="9" name="Footer Placeholder 4"/>
          <p:cNvSpPr>
            <a:spLocks noGrp="1"/>
          </p:cNvSpPr>
          <p:nvPr>
            <p:ph type="ftr" sz="quarter" idx="11"/>
          </p:nvPr>
        </p:nvSpPr>
        <p:spPr>
          <a:xfrm>
            <a:off x="8331200" y="12906673"/>
            <a:ext cx="7721600" cy="730250"/>
          </a:xfrm>
        </p:spPr>
        <p:txBody>
          <a:bodyPr/>
          <a:lstStyle/>
          <a:p>
            <a:pPr>
              <a:defRPr/>
            </a:pPr>
            <a:endParaRPr lang="en-US"/>
          </a:p>
        </p:txBody>
      </p:sp>
      <p:sp>
        <p:nvSpPr>
          <p:cNvPr id="10" name="Slide Number Placeholder 5"/>
          <p:cNvSpPr>
            <a:spLocks noGrp="1"/>
          </p:cNvSpPr>
          <p:nvPr>
            <p:ph type="sldNum" sz="quarter" idx="12"/>
          </p:nvPr>
        </p:nvSpPr>
        <p:spPr>
          <a:xfrm>
            <a:off x="17475200" y="12906673"/>
            <a:ext cx="5689600" cy="730250"/>
          </a:xfrm>
        </p:spPr>
        <p:txBody>
          <a:bodyPr/>
          <a:lstStyle/>
          <a:p>
            <a:pPr>
              <a:defRPr/>
            </a:pPr>
            <a:fld id="{21EF0E02-90DE-4DDF-8E9F-438205EAE6E1}" type="slidenum">
              <a:rPr lang="en-US" smtClean="0"/>
              <a:pPr>
                <a:defRPr/>
              </a:pPr>
              <a:t>‹#›</a:t>
            </a:fld>
            <a:endParaRPr lang="en-US"/>
          </a:p>
        </p:txBody>
      </p:sp>
      <p:sp>
        <p:nvSpPr>
          <p:cNvPr id="14" name="Content Placeholder 2"/>
          <p:cNvSpPr>
            <a:spLocks noGrp="1"/>
          </p:cNvSpPr>
          <p:nvPr>
            <p:ph idx="1"/>
          </p:nvPr>
        </p:nvSpPr>
        <p:spPr>
          <a:xfrm>
            <a:off x="2438400" y="4572000"/>
            <a:ext cx="20929600" cy="744319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Tree>
    <p:extLst>
      <p:ext uri="{BB962C8B-B14F-4D97-AF65-F5344CB8AC3E}">
        <p14:creationId xmlns:p14="http://schemas.microsoft.com/office/powerpoint/2010/main" val="2352864156"/>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 id="2147483689" r:id="rId24"/>
    <p:sldLayoutId id="2147483690" r:id="rId25"/>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13.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hyperlink" Target="https://positek.net/easy-backup-cloud-storage/" TargetMode="External"/><Relationship Id="rId2" Type="http://schemas.openxmlformats.org/officeDocument/2006/relationships/image" Target="../media/image28.pn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programmerhumor.io/aws-memes/the-entire-internet-runs-on-aws-us-east-1-hlh1" TargetMode="External"/><Relationship Id="rId2" Type="http://schemas.openxmlformats.org/officeDocument/2006/relationships/image" Target="../media/image29.jpe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hyperlink" Target="https://markus-gattol.name/ws/datacenter.html" TargetMode="External"/><Relationship Id="rId2" Type="http://schemas.openxmlformats.org/officeDocument/2006/relationships/image" Target="../media/image30.jpg"/><Relationship Id="rId1" Type="http://schemas.openxmlformats.org/officeDocument/2006/relationships/slideLayout" Target="../slideLayouts/slideLayout15.xml"/><Relationship Id="rId4" Type="http://schemas.openxmlformats.org/officeDocument/2006/relationships/hyperlink" Target="https://creativecommons.org/licenses/by-sa/3.0/"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hyperlink" Target="https://itpoonamsharma.wordpress.com/2016/12/" TargetMode="External"/><Relationship Id="rId2" Type="http://schemas.openxmlformats.org/officeDocument/2006/relationships/image" Target="../media/image39.jpg"/><Relationship Id="rId1" Type="http://schemas.openxmlformats.org/officeDocument/2006/relationships/slideLayout" Target="../slideLayouts/slideLayout15.xml"/><Relationship Id="rId4" Type="http://schemas.openxmlformats.org/officeDocument/2006/relationships/hyperlink" Target="https://creativecommons.org/licenses/by/3.0/"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itpoonamsharma.wordpress.com/2016/12/" TargetMode="External"/><Relationship Id="rId2" Type="http://schemas.openxmlformats.org/officeDocument/2006/relationships/image" Target="../media/image39.jpg"/><Relationship Id="rId1" Type="http://schemas.openxmlformats.org/officeDocument/2006/relationships/slideLayout" Target="../slideLayouts/slideLayout15.xml"/><Relationship Id="rId4" Type="http://schemas.openxmlformats.org/officeDocument/2006/relationships/hyperlink" Target="https://creativecommons.org/licenses/by/3.0/"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a:xfrm>
            <a:off x="1206498" y="6428534"/>
            <a:ext cx="21971004" cy="3917819"/>
          </a:xfrm>
        </p:spPr>
        <p:txBody>
          <a:bodyPr>
            <a:normAutofit/>
          </a:bodyPr>
          <a:lstStyle/>
          <a:p>
            <a:r>
              <a:rPr lang="en-US" dirty="0"/>
              <a:t>Cloud Security</a:t>
            </a:r>
            <a:br>
              <a:rPr lang="en-US" dirty="0"/>
            </a:br>
            <a:br>
              <a:rPr lang="en-US" dirty="0"/>
            </a:br>
            <a:r>
              <a:rPr lang="en-US" sz="6000" dirty="0"/>
              <a:t>Session 08</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D6825 - Samuel Philip</a:t>
            </a:r>
          </a:p>
        </p:txBody>
      </p:sp>
      <p:sp>
        <p:nvSpPr>
          <p:cNvPr id="5" name="Rectangle 7">
            <a:extLst>
              <a:ext uri="{FF2B5EF4-FFF2-40B4-BE49-F238E27FC236}">
                <a16:creationId xmlns:a16="http://schemas.microsoft.com/office/drawing/2014/main" id="{D93D5A33-4AE1-DFDD-5778-A52549DBFAFF}"/>
              </a:ext>
            </a:extLst>
          </p:cNvPr>
          <p:cNvSpPr>
            <a:spLocks noChangeArrowheads="1"/>
          </p:cNvSpPr>
          <p:nvPr/>
        </p:nvSpPr>
        <p:spPr bwMode="auto">
          <a:xfrm>
            <a:off x="1850571" y="3352800"/>
            <a:ext cx="20748172" cy="1870076"/>
          </a:xfrm>
          <a:prstGeom prst="rect">
            <a:avLst/>
          </a:prstGeom>
          <a:noFill/>
          <a:ln w="9525">
            <a:noFill/>
            <a:miter lim="800000"/>
            <a:headEnd/>
            <a:tailEnd/>
          </a:ln>
        </p:spPr>
        <p:txBody>
          <a:bodyPr/>
          <a:lstStyle/>
          <a:p>
            <a:pPr>
              <a:spcBef>
                <a:spcPct val="20000"/>
              </a:spcBef>
              <a:tabLst>
                <a:tab pos="2641600" algn="l"/>
                <a:tab pos="4108450" algn="l"/>
              </a:tabLst>
            </a:pPr>
            <a:r>
              <a:rPr lang="en-US" sz="4000" dirty="0">
                <a:solidFill>
                  <a:schemeClr val="bg1"/>
                </a:solidFill>
                <a:latin typeface="Tahoma" panose="020B0604030504040204" pitchFamily="34" charset="0"/>
                <a:ea typeface="Tahoma" panose="020B0604030504040204" pitchFamily="34" charset="0"/>
                <a:cs typeface="Tahoma" panose="020B0604030504040204" pitchFamily="34" charset="0"/>
              </a:rPr>
              <a:t>Course		: COSC6100001 - Cloud Infrastructure</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03F1C-0D61-4D2A-AE66-A44AB8F933D7}"/>
              </a:ext>
            </a:extLst>
          </p:cNvPr>
          <p:cNvSpPr>
            <a:spLocks noGrp="1"/>
          </p:cNvSpPr>
          <p:nvPr>
            <p:ph type="title"/>
          </p:nvPr>
        </p:nvSpPr>
        <p:spPr/>
        <p:txBody>
          <a:bodyPr>
            <a:normAutofit fontScale="90000"/>
          </a:bodyPr>
          <a:lstStyle/>
          <a:p>
            <a:r>
              <a:rPr lang="en-ID" dirty="0"/>
              <a:t>Learning outcomes</a:t>
            </a:r>
          </a:p>
        </p:txBody>
      </p:sp>
      <p:sp>
        <p:nvSpPr>
          <p:cNvPr id="4" name="Text Placeholder 3">
            <a:extLst>
              <a:ext uri="{FF2B5EF4-FFF2-40B4-BE49-F238E27FC236}">
                <a16:creationId xmlns:a16="http://schemas.microsoft.com/office/drawing/2014/main" id="{19B515F5-D54A-2C91-194C-DEE35FCDBF1E}"/>
              </a:ext>
            </a:extLst>
          </p:cNvPr>
          <p:cNvSpPr>
            <a:spLocks noGrp="1"/>
          </p:cNvSpPr>
          <p:nvPr>
            <p:ph type="body" sz="quarter" idx="10"/>
          </p:nvPr>
        </p:nvSpPr>
        <p:spPr/>
        <p:txBody>
          <a:bodyPr/>
          <a:lstStyle/>
          <a:p>
            <a:endParaRPr lang="en-US"/>
          </a:p>
        </p:txBody>
      </p:sp>
      <p:sp>
        <p:nvSpPr>
          <p:cNvPr id="3" name="Content Placeholder 2">
            <a:extLst>
              <a:ext uri="{FF2B5EF4-FFF2-40B4-BE49-F238E27FC236}">
                <a16:creationId xmlns:a16="http://schemas.microsoft.com/office/drawing/2014/main" id="{32603A01-370D-40D0-943E-E2F4C055BA40}"/>
              </a:ext>
            </a:extLst>
          </p:cNvPr>
          <p:cNvSpPr>
            <a:spLocks noGrp="1"/>
          </p:cNvSpPr>
          <p:nvPr>
            <p:ph sz="quarter" idx="11"/>
          </p:nvPr>
        </p:nvSpPr>
        <p:spPr>
          <a:xfrm>
            <a:off x="2167377" y="3260663"/>
            <a:ext cx="13714940" cy="4522264"/>
          </a:xfrm>
        </p:spPr>
        <p:txBody>
          <a:bodyPr>
            <a:normAutofit fontScale="92500" lnSpcReduction="20000"/>
          </a:bodyPr>
          <a:lstStyle/>
          <a:p>
            <a:pPr marL="0" indent="0">
              <a:buNone/>
            </a:pPr>
            <a:endParaRPr lang="en-US" sz="3200" dirty="0"/>
          </a:p>
          <a:p>
            <a:pPr marL="0" indent="0">
              <a:buNone/>
            </a:pPr>
            <a:r>
              <a:rPr lang="en-US" sz="3200" dirty="0"/>
              <a:t>(C4) Analysis : identify problems that can be solved using cloud global infrastructure</a:t>
            </a:r>
          </a:p>
          <a:p>
            <a:pPr marL="0" indent="0">
              <a:buNone/>
            </a:pPr>
            <a:r>
              <a:rPr lang="en-US" sz="3200" dirty="0"/>
              <a:t>(C2) Comprehension : group Classify real-worlds problems in accordance with cloud computing infrastructure</a:t>
            </a:r>
          </a:p>
          <a:p>
            <a:pPr marL="0" indent="0">
              <a:buNone/>
            </a:pPr>
            <a:r>
              <a:rPr lang="en-US" sz="3200" dirty="0"/>
              <a:t>(C4) Analysis : analyze identifying problems and choose proper Cloud Services and Cloud Infrastructure</a:t>
            </a:r>
          </a:p>
        </p:txBody>
      </p:sp>
    </p:spTree>
    <p:extLst>
      <p:ext uri="{BB962C8B-B14F-4D97-AF65-F5344CB8AC3E}">
        <p14:creationId xmlns:p14="http://schemas.microsoft.com/office/powerpoint/2010/main" val="109501583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8EE7E-7D6D-1075-C43E-31110FFB87EF}"/>
              </a:ext>
            </a:extLst>
          </p:cNvPr>
          <p:cNvSpPr>
            <a:spLocks noGrp="1"/>
          </p:cNvSpPr>
          <p:nvPr>
            <p:ph type="title"/>
          </p:nvPr>
        </p:nvSpPr>
        <p:spPr/>
        <p:txBody>
          <a:bodyPr>
            <a:normAutofit fontScale="90000"/>
          </a:bodyPr>
          <a:lstStyle/>
          <a:p>
            <a:r>
              <a:rPr lang="en-US" dirty="0"/>
              <a:t>Outline</a:t>
            </a:r>
          </a:p>
        </p:txBody>
      </p:sp>
      <p:sp>
        <p:nvSpPr>
          <p:cNvPr id="5" name="Text Placeholder 4">
            <a:extLst>
              <a:ext uri="{FF2B5EF4-FFF2-40B4-BE49-F238E27FC236}">
                <a16:creationId xmlns:a16="http://schemas.microsoft.com/office/drawing/2014/main" id="{45F26CDD-3EFB-2B8E-0F76-60A23F660E6B}"/>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820D9012-F4DE-DB8A-ABB7-846D54F87075}"/>
              </a:ext>
            </a:extLst>
          </p:cNvPr>
          <p:cNvSpPr>
            <a:spLocks noGrp="1"/>
          </p:cNvSpPr>
          <p:nvPr>
            <p:ph sz="quarter" idx="11"/>
          </p:nvPr>
        </p:nvSpPr>
        <p:spPr>
          <a:xfrm>
            <a:off x="2167377" y="3260663"/>
            <a:ext cx="13714940" cy="4522264"/>
          </a:xfrm>
        </p:spPr>
        <p:txBody>
          <a:bodyPr>
            <a:noAutofit/>
          </a:bodyPr>
          <a:lstStyle/>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Cloud Security Risk</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Cloud Data Encryption</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Virtual Machine Security</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Security of Virtualization</a:t>
            </a:r>
          </a:p>
          <a:p>
            <a:pPr marL="457200" indent="-457200" algn="just">
              <a:lnSpc>
                <a:spcPct val="150000"/>
              </a:lnSpc>
              <a:buFont typeface="+mj-lt"/>
              <a:buAutoNum type="arabicPeriod"/>
              <a:defRPr/>
            </a:pPr>
            <a:r>
              <a:rPr lang="en-US" sz="3200" dirty="0">
                <a:latin typeface="Tahoma" panose="020B0604030504040204" pitchFamily="34" charset="0"/>
                <a:ea typeface="Tahoma" panose="020B0604030504040204" pitchFamily="34" charset="0"/>
                <a:cs typeface="Tahoma" panose="020B0604030504040204" pitchFamily="34" charset="0"/>
              </a:rPr>
              <a:t>AWS Security</a:t>
            </a:r>
          </a:p>
          <a:p>
            <a:pPr marL="0" indent="0">
              <a:buNone/>
            </a:pPr>
            <a:endParaRPr lang="en-US" sz="3200" dirty="0"/>
          </a:p>
        </p:txBody>
      </p:sp>
    </p:spTree>
    <p:extLst>
      <p:ext uri="{BB962C8B-B14F-4D97-AF65-F5344CB8AC3E}">
        <p14:creationId xmlns:p14="http://schemas.microsoft.com/office/powerpoint/2010/main" val="150427607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90EE6CE-77CF-BD33-296D-07E6A9E5E56A}"/>
              </a:ext>
            </a:extLst>
          </p:cNvPr>
          <p:cNvSpPr>
            <a:spLocks noGrp="1"/>
          </p:cNvSpPr>
          <p:nvPr>
            <p:ph type="title"/>
          </p:nvPr>
        </p:nvSpPr>
        <p:spPr/>
        <p:txBody>
          <a:bodyPr/>
          <a:lstStyle/>
          <a:p>
            <a:r>
              <a:rPr lang="en-US" dirty="0"/>
              <a:t>Cloud Security Risk</a:t>
            </a:r>
          </a:p>
        </p:txBody>
      </p:sp>
    </p:spTree>
    <p:extLst>
      <p:ext uri="{BB962C8B-B14F-4D97-AF65-F5344CB8AC3E}">
        <p14:creationId xmlns:p14="http://schemas.microsoft.com/office/powerpoint/2010/main" val="6506573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083F2-75DA-9C8F-B718-DD4F3AB10CDC}"/>
              </a:ext>
            </a:extLst>
          </p:cNvPr>
          <p:cNvSpPr>
            <a:spLocks noGrp="1"/>
          </p:cNvSpPr>
          <p:nvPr>
            <p:ph type="title"/>
          </p:nvPr>
        </p:nvSpPr>
        <p:spPr/>
        <p:txBody>
          <a:bodyPr>
            <a:normAutofit fontScale="90000"/>
          </a:bodyPr>
          <a:lstStyle/>
          <a:p>
            <a:r>
              <a:rPr lang="en-US" dirty="0"/>
              <a:t>Security Risk</a:t>
            </a:r>
          </a:p>
        </p:txBody>
      </p:sp>
      <p:sp>
        <p:nvSpPr>
          <p:cNvPr id="3" name="Text Placeholder 2">
            <a:extLst>
              <a:ext uri="{FF2B5EF4-FFF2-40B4-BE49-F238E27FC236}">
                <a16:creationId xmlns:a16="http://schemas.microsoft.com/office/drawing/2014/main" id="{F73A7BD6-2FB7-E4ED-3DCF-E1CE77CEBD30}"/>
              </a:ext>
            </a:extLst>
          </p:cNvPr>
          <p:cNvSpPr>
            <a:spLocks noGrp="1"/>
          </p:cNvSpPr>
          <p:nvPr>
            <p:ph type="body" sz="quarter" idx="10"/>
          </p:nvPr>
        </p:nvSpPr>
        <p:spPr/>
        <p:txBody>
          <a:bodyPr/>
          <a:lstStyle/>
          <a:p>
            <a:r>
              <a:rPr lang="en-US" dirty="0"/>
              <a:t>for Cloud Computing</a:t>
            </a:r>
          </a:p>
        </p:txBody>
      </p:sp>
      <p:sp>
        <p:nvSpPr>
          <p:cNvPr id="4" name="Text Placeholder 3">
            <a:extLst>
              <a:ext uri="{FF2B5EF4-FFF2-40B4-BE49-F238E27FC236}">
                <a16:creationId xmlns:a16="http://schemas.microsoft.com/office/drawing/2014/main" id="{73EF6187-D349-45A3-6CCA-E317E6482995}"/>
              </a:ext>
            </a:extLst>
          </p:cNvPr>
          <p:cNvSpPr>
            <a:spLocks noGrp="1"/>
          </p:cNvSpPr>
          <p:nvPr>
            <p:ph type="body" sz="quarter" idx="14"/>
          </p:nvPr>
        </p:nvSpPr>
        <p:spPr/>
        <p:txBody>
          <a:bodyPr/>
          <a:lstStyle/>
          <a:p>
            <a:pPr algn="ctr"/>
            <a:r>
              <a:rPr lang="en-US" dirty="0"/>
              <a:t>traditional security threats, </a:t>
            </a:r>
          </a:p>
          <a:p>
            <a:pPr algn="ctr"/>
            <a:endParaRPr lang="en-US" dirty="0"/>
          </a:p>
        </p:txBody>
      </p:sp>
      <p:sp>
        <p:nvSpPr>
          <p:cNvPr id="5" name="Text Placeholder 4">
            <a:extLst>
              <a:ext uri="{FF2B5EF4-FFF2-40B4-BE49-F238E27FC236}">
                <a16:creationId xmlns:a16="http://schemas.microsoft.com/office/drawing/2014/main" id="{B8915795-AF2A-16CB-0194-36B4F9C053C2}"/>
              </a:ext>
            </a:extLst>
          </p:cNvPr>
          <p:cNvSpPr>
            <a:spLocks noGrp="1"/>
          </p:cNvSpPr>
          <p:nvPr>
            <p:ph type="body" sz="quarter" idx="15"/>
          </p:nvPr>
        </p:nvSpPr>
        <p:spPr/>
        <p:txBody>
          <a:bodyPr/>
          <a:lstStyle/>
          <a:p>
            <a:pPr algn="ctr"/>
            <a:r>
              <a:rPr lang="en-US" dirty="0"/>
              <a:t>threats related to system availability,</a:t>
            </a:r>
          </a:p>
        </p:txBody>
      </p:sp>
      <p:sp>
        <p:nvSpPr>
          <p:cNvPr id="6" name="Text Placeholder 5">
            <a:extLst>
              <a:ext uri="{FF2B5EF4-FFF2-40B4-BE49-F238E27FC236}">
                <a16:creationId xmlns:a16="http://schemas.microsoft.com/office/drawing/2014/main" id="{ECA2BFB5-BD34-CB9F-6D3A-028A1098528C}"/>
              </a:ext>
            </a:extLst>
          </p:cNvPr>
          <p:cNvSpPr>
            <a:spLocks noGrp="1"/>
          </p:cNvSpPr>
          <p:nvPr>
            <p:ph type="body" sz="quarter" idx="16"/>
          </p:nvPr>
        </p:nvSpPr>
        <p:spPr/>
        <p:txBody>
          <a:bodyPr/>
          <a:lstStyle/>
          <a:p>
            <a:pPr algn="ctr"/>
            <a:r>
              <a:rPr lang="en-US" dirty="0"/>
              <a:t>threats related to third-party data control.</a:t>
            </a:r>
          </a:p>
          <a:p>
            <a:pPr algn="ctr"/>
            <a:endParaRPr lang="en-US" dirty="0"/>
          </a:p>
        </p:txBody>
      </p:sp>
      <p:pic>
        <p:nvPicPr>
          <p:cNvPr id="11" name="Picture Placeholder 10" descr="Jail Break outline">
            <a:extLst>
              <a:ext uri="{FF2B5EF4-FFF2-40B4-BE49-F238E27FC236}">
                <a16:creationId xmlns:a16="http://schemas.microsoft.com/office/drawing/2014/main" id="{CE7217A3-0EE6-ABCB-D494-1774B4D252C0}"/>
              </a:ext>
            </a:extLst>
          </p:cNvPr>
          <p:cNvPicPr>
            <a:picLocks noGrp="1" noChangeAspect="1"/>
          </p:cNvPicPr>
          <p:nvPr>
            <p:ph type="pic" sz="quarter" idx="11"/>
          </p:nvPr>
        </p:nvPicPr>
        <p:blipFill>
          <a:blip r:embed="rId2">
            <a:extLst>
              <a:ext uri="{96DAC541-7B7A-43D3-8B79-37D633B846F1}">
                <asvg:svgBlip xmlns:asvg="http://schemas.microsoft.com/office/drawing/2016/SVG/main" r:embed="rId3"/>
              </a:ext>
            </a:extLst>
          </a:blip>
          <a:srcRect t="6171" b="6171"/>
          <a:stretch>
            <a:fillRect/>
          </a:stretch>
        </p:blipFill>
        <p:spPr/>
      </p:pic>
      <p:pic>
        <p:nvPicPr>
          <p:cNvPr id="13" name="Picture Placeholder 12" descr="Cloud Computing outline">
            <a:extLst>
              <a:ext uri="{FF2B5EF4-FFF2-40B4-BE49-F238E27FC236}">
                <a16:creationId xmlns:a16="http://schemas.microsoft.com/office/drawing/2014/main" id="{09E9FC0D-DDEC-BCB2-2A20-EC3526DE97D4}"/>
              </a:ext>
            </a:extLst>
          </p:cNvPr>
          <p:cNvPicPr>
            <a:picLocks noGrp="1" noChangeAspect="1"/>
          </p:cNvPicPr>
          <p:nvPr>
            <p:ph type="pic" sz="quarter" idx="12"/>
          </p:nvPr>
        </p:nvPicPr>
        <p:blipFill>
          <a:blip r:embed="rId4">
            <a:extLst>
              <a:ext uri="{96DAC541-7B7A-43D3-8B79-37D633B846F1}">
                <asvg:svgBlip xmlns:asvg="http://schemas.microsoft.com/office/drawing/2016/SVG/main" r:embed="rId5"/>
              </a:ext>
            </a:extLst>
          </a:blip>
          <a:srcRect t="6171" b="6171"/>
          <a:stretch>
            <a:fillRect/>
          </a:stretch>
        </p:blipFill>
        <p:spPr/>
      </p:pic>
      <p:pic>
        <p:nvPicPr>
          <p:cNvPr id="17" name="Picture Placeholder 16" descr="Server outline">
            <a:extLst>
              <a:ext uri="{FF2B5EF4-FFF2-40B4-BE49-F238E27FC236}">
                <a16:creationId xmlns:a16="http://schemas.microsoft.com/office/drawing/2014/main" id="{A9B1EC43-AC1F-9E5C-E83E-D3C19A24B791}"/>
              </a:ext>
            </a:extLst>
          </p:cNvPr>
          <p:cNvPicPr>
            <a:picLocks noGrp="1" noChangeAspect="1"/>
          </p:cNvPicPr>
          <p:nvPr>
            <p:ph type="pic" sz="quarter" idx="13"/>
          </p:nvPr>
        </p:nvPicPr>
        <p:blipFill>
          <a:blip r:embed="rId6">
            <a:extLst>
              <a:ext uri="{96DAC541-7B7A-43D3-8B79-37D633B846F1}">
                <asvg:svgBlip xmlns:asvg="http://schemas.microsoft.com/office/drawing/2016/SVG/main" r:embed="rId7"/>
              </a:ext>
            </a:extLst>
          </a:blip>
          <a:srcRect t="6171" b="6171"/>
          <a:stretch>
            <a:fillRect/>
          </a:stretch>
        </p:blipFill>
        <p:spPr/>
      </p:pic>
    </p:spTree>
    <p:extLst>
      <p:ext uri="{BB962C8B-B14F-4D97-AF65-F5344CB8AC3E}">
        <p14:creationId xmlns:p14="http://schemas.microsoft.com/office/powerpoint/2010/main" val="315526040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6E73-A651-97FC-3DE1-CEF65AF1619A}"/>
              </a:ext>
            </a:extLst>
          </p:cNvPr>
          <p:cNvSpPr>
            <a:spLocks noGrp="1"/>
          </p:cNvSpPr>
          <p:nvPr>
            <p:ph type="title"/>
          </p:nvPr>
        </p:nvSpPr>
        <p:spPr>
          <a:xfrm>
            <a:off x="2167377" y="1871164"/>
            <a:ext cx="14715569" cy="511175"/>
          </a:xfrm>
        </p:spPr>
        <p:txBody>
          <a:bodyPr>
            <a:normAutofit/>
          </a:bodyPr>
          <a:lstStyle/>
          <a:p>
            <a:r>
              <a:rPr lang="en-US" sz="3200" dirty="0"/>
              <a:t>Traditional Security Threats</a:t>
            </a:r>
          </a:p>
        </p:txBody>
      </p:sp>
      <p:sp>
        <p:nvSpPr>
          <p:cNvPr id="13" name="Text Placeholder 2">
            <a:extLst>
              <a:ext uri="{FF2B5EF4-FFF2-40B4-BE49-F238E27FC236}">
                <a16:creationId xmlns:a16="http://schemas.microsoft.com/office/drawing/2014/main" id="{F5E5306D-1B4E-9948-9FDA-EB0FC630EBED}"/>
              </a:ext>
            </a:extLst>
          </p:cNvPr>
          <p:cNvSpPr>
            <a:spLocks noGrp="1"/>
          </p:cNvSpPr>
          <p:nvPr>
            <p:ph type="body" sz="quarter" idx="10"/>
          </p:nvPr>
        </p:nvSpPr>
        <p:spPr>
          <a:xfrm>
            <a:off x="2167377" y="2419728"/>
            <a:ext cx="9768875" cy="803546"/>
          </a:xfrm>
        </p:spPr>
        <p:txBody>
          <a:bodyPr/>
          <a:lstStyle/>
          <a:p>
            <a:endParaRPr lang="en-US"/>
          </a:p>
        </p:txBody>
      </p:sp>
      <p:sp>
        <p:nvSpPr>
          <p:cNvPr id="4" name="Content Placeholder 3">
            <a:extLst>
              <a:ext uri="{FF2B5EF4-FFF2-40B4-BE49-F238E27FC236}">
                <a16:creationId xmlns:a16="http://schemas.microsoft.com/office/drawing/2014/main" id="{8D862F95-B0B7-A38E-BEF3-68DCC85BA8BE}"/>
              </a:ext>
            </a:extLst>
          </p:cNvPr>
          <p:cNvSpPr>
            <a:spLocks noGrp="1"/>
          </p:cNvSpPr>
          <p:nvPr>
            <p:ph type="body" sz="quarter" idx="16"/>
          </p:nvPr>
        </p:nvSpPr>
        <p:spPr>
          <a:xfrm>
            <a:off x="2167377" y="6556917"/>
            <a:ext cx="9768906" cy="5575610"/>
          </a:xfrm>
        </p:spPr>
        <p:txBody>
          <a:bodyPr>
            <a:normAutofit/>
          </a:bodyPr>
          <a:lstStyle/>
          <a:p>
            <a:r>
              <a:rPr lang="en-US" dirty="0"/>
              <a:t>This task is more difficult because some components of this infrastructure are outside the firewall protecting the user.</a:t>
            </a:r>
          </a:p>
          <a:p>
            <a:r>
              <a:rPr lang="en-US" dirty="0"/>
              <a:t>The next threat is related to the authentication and authorization process. The procedures in place for one individual do not extend to an enterprise.</a:t>
            </a:r>
          </a:p>
          <a:p>
            <a:r>
              <a:rPr lang="en-US" dirty="0"/>
              <a:t>The favorite means of attack are: distributed denial of service (DDoS) attacks that prevent legitimate users to access cloud services, phishing, SQL injection, or cross-site scripting.</a:t>
            </a:r>
          </a:p>
        </p:txBody>
      </p:sp>
      <p:pic>
        <p:nvPicPr>
          <p:cNvPr id="8" name="Picture Placeholder 7">
            <a:extLst>
              <a:ext uri="{FF2B5EF4-FFF2-40B4-BE49-F238E27FC236}">
                <a16:creationId xmlns:a16="http://schemas.microsoft.com/office/drawing/2014/main" id="{7EAC2156-D447-9681-1EF2-28993E1947D0}"/>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6703" r="6703"/>
          <a:stretch/>
        </p:blipFill>
        <p:spPr>
          <a:xfrm>
            <a:off x="12339930" y="4210629"/>
            <a:ext cx="9099057" cy="7921898"/>
          </a:xfrm>
          <a:prstGeom prst="rect">
            <a:avLst/>
          </a:prstGeom>
          <a:noFill/>
        </p:spPr>
      </p:pic>
      <p:sp>
        <p:nvSpPr>
          <p:cNvPr id="7" name="Text Placeholder 6">
            <a:extLst>
              <a:ext uri="{FF2B5EF4-FFF2-40B4-BE49-F238E27FC236}">
                <a16:creationId xmlns:a16="http://schemas.microsoft.com/office/drawing/2014/main" id="{412CE686-AEC3-7655-DFFC-844C8109D714}"/>
              </a:ext>
            </a:extLst>
          </p:cNvPr>
          <p:cNvSpPr>
            <a:spLocks noGrp="1"/>
          </p:cNvSpPr>
          <p:nvPr>
            <p:ph type="body" sz="quarter" idx="17"/>
          </p:nvPr>
        </p:nvSpPr>
        <p:spPr>
          <a:xfrm>
            <a:off x="2166938" y="4210049"/>
            <a:ext cx="9768874" cy="2039112"/>
          </a:xfrm>
        </p:spPr>
        <p:txBody>
          <a:bodyPr>
            <a:normAutofit/>
          </a:bodyPr>
          <a:lstStyle/>
          <a:p>
            <a:r>
              <a:rPr lang="en-US" sz="2800" dirty="0"/>
              <a:t>The traditional threats begin at the user site. The user must protect the infrastructure used to connect to the cloud and to interact with the application running on the cloud</a:t>
            </a:r>
          </a:p>
        </p:txBody>
      </p:sp>
      <p:sp>
        <p:nvSpPr>
          <p:cNvPr id="3" name="TextBox 2">
            <a:extLst>
              <a:ext uri="{FF2B5EF4-FFF2-40B4-BE49-F238E27FC236}">
                <a16:creationId xmlns:a16="http://schemas.microsoft.com/office/drawing/2014/main" id="{6A8E33A6-C993-24D7-337F-D5B372997D70}"/>
              </a:ext>
            </a:extLst>
          </p:cNvPr>
          <p:cNvSpPr txBox="1"/>
          <p:nvPr/>
        </p:nvSpPr>
        <p:spPr>
          <a:xfrm>
            <a:off x="12339930" y="12247943"/>
            <a:ext cx="9099057"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positek.net/easy-backup-cloud-storage/"/>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76629525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CCDFF4-D7DD-FD9C-6532-89E484B4168E}"/>
              </a:ext>
            </a:extLst>
          </p:cNvPr>
          <p:cNvSpPr>
            <a:spLocks noGrp="1"/>
          </p:cNvSpPr>
          <p:nvPr>
            <p:ph type="title"/>
          </p:nvPr>
        </p:nvSpPr>
        <p:spPr>
          <a:xfrm>
            <a:off x="2167377" y="1871164"/>
            <a:ext cx="14715569" cy="511175"/>
          </a:xfrm>
        </p:spPr>
        <p:txBody>
          <a:bodyPr>
            <a:normAutofit/>
          </a:bodyPr>
          <a:lstStyle/>
          <a:p>
            <a:r>
              <a:rPr lang="en-US" sz="3200" dirty="0"/>
              <a:t>Threats Related to System Availability</a:t>
            </a:r>
          </a:p>
        </p:txBody>
      </p:sp>
      <p:sp>
        <p:nvSpPr>
          <p:cNvPr id="21" name="Text Placeholder 2">
            <a:extLst>
              <a:ext uri="{FF2B5EF4-FFF2-40B4-BE49-F238E27FC236}">
                <a16:creationId xmlns:a16="http://schemas.microsoft.com/office/drawing/2014/main" id="{52E7BB38-FA6E-55D2-21FB-67496568D7CD}"/>
              </a:ext>
            </a:extLst>
          </p:cNvPr>
          <p:cNvSpPr>
            <a:spLocks noGrp="1"/>
          </p:cNvSpPr>
          <p:nvPr>
            <p:ph type="body" sz="quarter" idx="10"/>
          </p:nvPr>
        </p:nvSpPr>
        <p:spPr>
          <a:xfrm>
            <a:off x="2167377" y="2419728"/>
            <a:ext cx="9768875" cy="803546"/>
          </a:xfrm>
        </p:spPr>
        <p:txBody>
          <a:bodyPr/>
          <a:lstStyle/>
          <a:p>
            <a:endParaRPr lang="en-US"/>
          </a:p>
        </p:txBody>
      </p:sp>
      <p:sp>
        <p:nvSpPr>
          <p:cNvPr id="9" name="Text Placeholder 8">
            <a:extLst>
              <a:ext uri="{FF2B5EF4-FFF2-40B4-BE49-F238E27FC236}">
                <a16:creationId xmlns:a16="http://schemas.microsoft.com/office/drawing/2014/main" id="{C6CAEC1C-3E3E-4C0E-7170-4F15C61F7BDA}"/>
              </a:ext>
            </a:extLst>
          </p:cNvPr>
          <p:cNvSpPr>
            <a:spLocks noGrp="1"/>
          </p:cNvSpPr>
          <p:nvPr>
            <p:ph type="body" sz="quarter" idx="16"/>
          </p:nvPr>
        </p:nvSpPr>
        <p:spPr>
          <a:xfrm>
            <a:off x="2167377" y="6556917"/>
            <a:ext cx="9768906" cy="5575610"/>
          </a:xfrm>
        </p:spPr>
        <p:txBody>
          <a:bodyPr>
            <a:normAutofit/>
          </a:bodyPr>
          <a:lstStyle/>
          <a:p>
            <a:r>
              <a:rPr lang="en-US" dirty="0"/>
              <a:t>Data lock-in could prevent a large organization whose business model depends on these data to function properly, when such a rare event occurs.</a:t>
            </a:r>
          </a:p>
          <a:p>
            <a:r>
              <a:rPr lang="en-US" dirty="0"/>
              <a:t>Clouds can also be affected by phase transition phenomena and other effects specific to complex systems. </a:t>
            </a:r>
          </a:p>
          <a:p>
            <a:r>
              <a:rPr lang="en-US" dirty="0"/>
              <a:t>Another critical aspect of availability is that the users cannot be assured that an application hosted on the cloud returns correct results.</a:t>
            </a:r>
          </a:p>
        </p:txBody>
      </p:sp>
      <p:pic>
        <p:nvPicPr>
          <p:cNvPr id="2" name="Content Placeholder 5">
            <a:extLst>
              <a:ext uri="{FF2B5EF4-FFF2-40B4-BE49-F238E27FC236}">
                <a16:creationId xmlns:a16="http://schemas.microsoft.com/office/drawing/2014/main" id="{E9CEAE08-2978-5789-42DF-D660D976DAD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p:blipFill>
        <p:spPr>
          <a:xfrm>
            <a:off x="13641480" y="4210629"/>
            <a:ext cx="6495956" cy="7921898"/>
          </a:xfrm>
          <a:prstGeom prst="rect">
            <a:avLst/>
          </a:prstGeom>
          <a:noFill/>
        </p:spPr>
      </p:pic>
      <p:sp>
        <p:nvSpPr>
          <p:cNvPr id="8" name="Text Placeholder 7">
            <a:extLst>
              <a:ext uri="{FF2B5EF4-FFF2-40B4-BE49-F238E27FC236}">
                <a16:creationId xmlns:a16="http://schemas.microsoft.com/office/drawing/2014/main" id="{2DC53045-19E4-98CE-73B3-3ECB2C6F731C}"/>
              </a:ext>
            </a:extLst>
          </p:cNvPr>
          <p:cNvSpPr>
            <a:spLocks noGrp="1"/>
          </p:cNvSpPr>
          <p:nvPr>
            <p:ph type="body" sz="quarter" idx="17"/>
          </p:nvPr>
        </p:nvSpPr>
        <p:spPr>
          <a:xfrm>
            <a:off x="2166938" y="4210049"/>
            <a:ext cx="9768874" cy="2039112"/>
          </a:xfrm>
        </p:spPr>
        <p:txBody>
          <a:bodyPr>
            <a:normAutofit/>
          </a:bodyPr>
          <a:lstStyle/>
          <a:p>
            <a:r>
              <a:rPr lang="en-US" sz="3700"/>
              <a:t>System failures, power outages, and other catastrophic events could shutdown cloud services for extended periods of time. </a:t>
            </a:r>
          </a:p>
        </p:txBody>
      </p:sp>
    </p:spTree>
    <p:extLst>
      <p:ext uri="{BB962C8B-B14F-4D97-AF65-F5344CB8AC3E}">
        <p14:creationId xmlns:p14="http://schemas.microsoft.com/office/powerpoint/2010/main" val="291228151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0FCD6A-89A6-F879-CC24-253C6EFC8E6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CFE9CCC-E831-7F9C-491D-DBCE09A7B276}"/>
              </a:ext>
            </a:extLst>
          </p:cNvPr>
          <p:cNvSpPr>
            <a:spLocks noGrp="1"/>
          </p:cNvSpPr>
          <p:nvPr>
            <p:ph type="title"/>
          </p:nvPr>
        </p:nvSpPr>
        <p:spPr>
          <a:xfrm>
            <a:off x="2167377" y="1871164"/>
            <a:ext cx="14715569" cy="511175"/>
          </a:xfrm>
        </p:spPr>
        <p:txBody>
          <a:bodyPr>
            <a:normAutofit/>
          </a:bodyPr>
          <a:lstStyle/>
          <a:p>
            <a:r>
              <a:rPr lang="en-US" sz="3200" dirty="0"/>
              <a:t>Threats Related to Third-Party Data Control</a:t>
            </a:r>
          </a:p>
        </p:txBody>
      </p:sp>
      <p:sp>
        <p:nvSpPr>
          <p:cNvPr id="7" name="Text Placeholder 6">
            <a:extLst>
              <a:ext uri="{FF2B5EF4-FFF2-40B4-BE49-F238E27FC236}">
                <a16:creationId xmlns:a16="http://schemas.microsoft.com/office/drawing/2014/main" id="{A3570689-2A27-A811-82C9-E205DCF236DC}"/>
              </a:ext>
            </a:extLst>
          </p:cNvPr>
          <p:cNvSpPr>
            <a:spLocks noGrp="1"/>
          </p:cNvSpPr>
          <p:nvPr>
            <p:ph type="body" sz="quarter" idx="10"/>
          </p:nvPr>
        </p:nvSpPr>
        <p:spPr>
          <a:xfrm>
            <a:off x="2167377" y="2419728"/>
            <a:ext cx="9768875" cy="803546"/>
          </a:xfrm>
        </p:spPr>
        <p:txBody>
          <a:bodyPr>
            <a:normAutofit/>
          </a:bodyPr>
          <a:lstStyle/>
          <a:p>
            <a:endParaRPr lang="en-US" sz="2700" dirty="0"/>
          </a:p>
        </p:txBody>
      </p:sp>
      <p:sp>
        <p:nvSpPr>
          <p:cNvPr id="9" name="Text Placeholder 8">
            <a:extLst>
              <a:ext uri="{FF2B5EF4-FFF2-40B4-BE49-F238E27FC236}">
                <a16:creationId xmlns:a16="http://schemas.microsoft.com/office/drawing/2014/main" id="{DC59B809-187C-2A0A-A783-A1E2517BD2D0}"/>
              </a:ext>
            </a:extLst>
          </p:cNvPr>
          <p:cNvSpPr>
            <a:spLocks noGrp="1"/>
          </p:cNvSpPr>
          <p:nvPr>
            <p:ph type="body" sz="quarter" idx="16"/>
          </p:nvPr>
        </p:nvSpPr>
        <p:spPr>
          <a:xfrm>
            <a:off x="2167377" y="6556917"/>
            <a:ext cx="9768906" cy="5575610"/>
          </a:xfrm>
        </p:spPr>
        <p:txBody>
          <a:bodyPr>
            <a:normAutofit/>
          </a:bodyPr>
          <a:lstStyle/>
          <a:p>
            <a:r>
              <a:rPr lang="en-US" dirty="0"/>
              <a:t>For example, a cloud provider may subcontract some resources from a third party whose level of trust is questionable.</a:t>
            </a:r>
          </a:p>
          <a:p>
            <a:r>
              <a:rPr lang="en-US" dirty="0"/>
              <a:t>Storing proprietary data on the cloud is risky because cloud provider espionage poses real dangers. </a:t>
            </a:r>
          </a:p>
          <a:p>
            <a:r>
              <a:rPr lang="en-US" dirty="0"/>
              <a:t>The terms of contractual obligations usually place all responsibilities for data security with the user.</a:t>
            </a:r>
          </a:p>
        </p:txBody>
      </p:sp>
      <p:pic>
        <p:nvPicPr>
          <p:cNvPr id="11" name="Picture 10">
            <a:extLst>
              <a:ext uri="{FF2B5EF4-FFF2-40B4-BE49-F238E27FC236}">
                <a16:creationId xmlns:a16="http://schemas.microsoft.com/office/drawing/2014/main" id="{71D5176B-BBFA-CCD6-102F-B5F06AE6AAA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11463" b="11463"/>
          <a:stretch/>
        </p:blipFill>
        <p:spPr>
          <a:xfrm>
            <a:off x="12602818" y="4545893"/>
            <a:ext cx="11430000" cy="6526298"/>
          </a:xfrm>
          <a:prstGeom prst="rect">
            <a:avLst/>
          </a:prstGeom>
          <a:noFill/>
        </p:spPr>
      </p:pic>
      <p:sp>
        <p:nvSpPr>
          <p:cNvPr id="8" name="Text Placeholder 7">
            <a:extLst>
              <a:ext uri="{FF2B5EF4-FFF2-40B4-BE49-F238E27FC236}">
                <a16:creationId xmlns:a16="http://schemas.microsoft.com/office/drawing/2014/main" id="{CDC8264D-50E1-19D1-48BA-3828CD8C07BC}"/>
              </a:ext>
            </a:extLst>
          </p:cNvPr>
          <p:cNvSpPr>
            <a:spLocks noGrp="1"/>
          </p:cNvSpPr>
          <p:nvPr>
            <p:ph type="body" sz="quarter" idx="17"/>
          </p:nvPr>
        </p:nvSpPr>
        <p:spPr>
          <a:xfrm>
            <a:off x="2166938" y="4210049"/>
            <a:ext cx="9768874" cy="2039112"/>
          </a:xfrm>
        </p:spPr>
        <p:txBody>
          <a:bodyPr>
            <a:normAutofit/>
          </a:bodyPr>
          <a:lstStyle/>
          <a:p>
            <a:r>
              <a:rPr lang="en-US" sz="3600" dirty="0"/>
              <a:t>Third-party control generates a spectrum of concerns caused by a lack of transparency and limited user control. </a:t>
            </a:r>
          </a:p>
        </p:txBody>
      </p:sp>
      <p:sp>
        <p:nvSpPr>
          <p:cNvPr id="4" name="TextBox 3">
            <a:extLst>
              <a:ext uri="{FF2B5EF4-FFF2-40B4-BE49-F238E27FC236}">
                <a16:creationId xmlns:a16="http://schemas.microsoft.com/office/drawing/2014/main" id="{D55F858D-4F0A-7724-E4EA-CC891F222AEB}"/>
              </a:ext>
            </a:extLst>
          </p:cNvPr>
          <p:cNvSpPr txBox="1"/>
          <p:nvPr/>
        </p:nvSpPr>
        <p:spPr>
          <a:xfrm>
            <a:off x="12602818" y="11187607"/>
            <a:ext cx="11430000" cy="24109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900">
                <a:hlinkClick r:id="rId3" tooltip="https://markus-gattol.name/ws/datacenter.html"/>
              </a:rPr>
              <a:t>This Photo</a:t>
            </a:r>
            <a:r>
              <a:rPr lang="en-US" sz="900"/>
              <a:t> by Unknown Author is licensed under </a:t>
            </a:r>
            <a:r>
              <a:rPr lang="en-US" sz="900">
                <a:hlinkClick r:id="rId4" tooltip="https://creativecommons.org/licenses/by-sa/3.0/"/>
              </a:rPr>
              <a:t>CC BY-SA</a:t>
            </a:r>
            <a:endParaRPr lang="en-US" sz="900"/>
          </a:p>
        </p:txBody>
      </p:sp>
    </p:spTree>
    <p:extLst>
      <p:ext uri="{BB962C8B-B14F-4D97-AF65-F5344CB8AC3E}">
        <p14:creationId xmlns:p14="http://schemas.microsoft.com/office/powerpoint/2010/main" val="355550694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784A8-5557-90FC-FFF0-90A581A15A7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B441058-6E58-3522-F0B4-DBF4AB7D6B76}"/>
              </a:ext>
            </a:extLst>
          </p:cNvPr>
          <p:cNvSpPr>
            <a:spLocks noGrp="1"/>
          </p:cNvSpPr>
          <p:nvPr>
            <p:ph type="title"/>
          </p:nvPr>
        </p:nvSpPr>
        <p:spPr>
          <a:xfrm>
            <a:off x="2167377" y="1871164"/>
            <a:ext cx="14715569" cy="511175"/>
          </a:xfrm>
        </p:spPr>
        <p:txBody>
          <a:bodyPr>
            <a:normAutofit/>
          </a:bodyPr>
          <a:lstStyle/>
          <a:p>
            <a:r>
              <a:rPr lang="en-US" sz="3200" dirty="0"/>
              <a:t>Surfaces of Attacks in a Cloud Computing Environment</a:t>
            </a:r>
          </a:p>
        </p:txBody>
      </p:sp>
      <p:sp>
        <p:nvSpPr>
          <p:cNvPr id="7" name="Text Placeholder 6">
            <a:extLst>
              <a:ext uri="{FF2B5EF4-FFF2-40B4-BE49-F238E27FC236}">
                <a16:creationId xmlns:a16="http://schemas.microsoft.com/office/drawing/2014/main" id="{E0FFCD34-8840-6A37-C228-DB239D21DC72}"/>
              </a:ext>
            </a:extLst>
          </p:cNvPr>
          <p:cNvSpPr>
            <a:spLocks noGrp="1"/>
          </p:cNvSpPr>
          <p:nvPr>
            <p:ph type="body" sz="quarter" idx="10"/>
          </p:nvPr>
        </p:nvSpPr>
        <p:spPr>
          <a:xfrm>
            <a:off x="2167377" y="2419728"/>
            <a:ext cx="9768875" cy="803546"/>
          </a:xfrm>
        </p:spPr>
        <p:txBody>
          <a:bodyPr>
            <a:normAutofit/>
          </a:bodyPr>
          <a:lstStyle/>
          <a:p>
            <a:r>
              <a:rPr lang="en-US" dirty="0"/>
              <a:t>The three actors involved in the model </a:t>
            </a:r>
          </a:p>
        </p:txBody>
      </p:sp>
      <p:sp>
        <p:nvSpPr>
          <p:cNvPr id="9" name="Text Placeholder 8">
            <a:extLst>
              <a:ext uri="{FF2B5EF4-FFF2-40B4-BE49-F238E27FC236}">
                <a16:creationId xmlns:a16="http://schemas.microsoft.com/office/drawing/2014/main" id="{3CF615AB-C908-182A-0B59-393D7CDC511B}"/>
              </a:ext>
            </a:extLst>
          </p:cNvPr>
          <p:cNvSpPr>
            <a:spLocks noGrp="1"/>
          </p:cNvSpPr>
          <p:nvPr>
            <p:ph type="body" sz="quarter" idx="16"/>
          </p:nvPr>
        </p:nvSpPr>
        <p:spPr>
          <a:xfrm>
            <a:off x="2167377" y="6556917"/>
            <a:ext cx="9768906" cy="5575610"/>
          </a:xfrm>
        </p:spPr>
        <p:txBody>
          <a:bodyPr>
            <a:normAutofit/>
          </a:bodyPr>
          <a:lstStyle/>
          <a:p>
            <a:r>
              <a:rPr lang="en-US" sz="2800" dirty="0"/>
              <a:t>The user can be attacked from two directions, the service and the cloud. </a:t>
            </a:r>
          </a:p>
          <a:p>
            <a:r>
              <a:rPr lang="en-US" sz="2800" dirty="0"/>
              <a:t>Secure Sockets Layer (SSL) certificate spoofing, attacks on browser caches, or phishing attacks are example of attacks that originate at the service. </a:t>
            </a:r>
          </a:p>
          <a:p>
            <a:r>
              <a:rPr lang="en-US" sz="2800" dirty="0"/>
              <a:t>The user can also be a victim of attacks that either truly originate or that spoof origination from the cloud infrastructure.</a:t>
            </a:r>
          </a:p>
          <a:p>
            <a:endParaRPr lang="en-US" sz="2800" dirty="0"/>
          </a:p>
        </p:txBody>
      </p:sp>
      <p:pic>
        <p:nvPicPr>
          <p:cNvPr id="11" name="Picture 10">
            <a:extLst>
              <a:ext uri="{FF2B5EF4-FFF2-40B4-BE49-F238E27FC236}">
                <a16:creationId xmlns:a16="http://schemas.microsoft.com/office/drawing/2014/main" id="{A7FEE5F9-F887-E434-66EB-D8DD4B3A8314}"/>
              </a:ext>
            </a:extLst>
          </p:cNvPr>
          <p:cNvPicPr>
            <a:picLocks noChangeAspect="1"/>
          </p:cNvPicPr>
          <p:nvPr/>
        </p:nvPicPr>
        <p:blipFill>
          <a:blip r:embed="rId2">
            <a:extLst>
              <a:ext uri="{28A0092B-C50C-407E-A947-70E740481C1C}">
                <a14:useLocalDpi xmlns:a14="http://schemas.microsoft.com/office/drawing/2010/main" val="0"/>
              </a:ext>
            </a:extLst>
          </a:blip>
          <a:srcRect t="461" b="21"/>
          <a:stretch>
            <a:fillRect/>
          </a:stretch>
        </p:blipFill>
        <p:spPr>
          <a:xfrm>
            <a:off x="11756908" y="2821501"/>
            <a:ext cx="12374880" cy="10163211"/>
          </a:xfrm>
          <a:prstGeom prst="rect">
            <a:avLst/>
          </a:prstGeom>
          <a:noFill/>
        </p:spPr>
      </p:pic>
      <p:sp>
        <p:nvSpPr>
          <p:cNvPr id="8" name="Text Placeholder 7">
            <a:extLst>
              <a:ext uri="{FF2B5EF4-FFF2-40B4-BE49-F238E27FC236}">
                <a16:creationId xmlns:a16="http://schemas.microsoft.com/office/drawing/2014/main" id="{DD0001F0-1F68-D624-93F9-00382EF23FD8}"/>
              </a:ext>
            </a:extLst>
          </p:cNvPr>
          <p:cNvSpPr>
            <a:spLocks noGrp="1"/>
          </p:cNvSpPr>
          <p:nvPr>
            <p:ph type="body" sz="quarter" idx="17"/>
          </p:nvPr>
        </p:nvSpPr>
        <p:spPr>
          <a:xfrm>
            <a:off x="2166938" y="4210049"/>
            <a:ext cx="9768874" cy="2039112"/>
          </a:xfrm>
        </p:spPr>
        <p:txBody>
          <a:bodyPr>
            <a:normAutofit lnSpcReduction="10000"/>
          </a:bodyPr>
          <a:lstStyle/>
          <a:p>
            <a:pPr lvl="0" defTabSz="914400" eaLnBrk="0" fontAlgn="base" hangingPunct="0">
              <a:lnSpc>
                <a:spcPct val="100000"/>
              </a:lnSpc>
              <a:spcBef>
                <a:spcPct val="30000"/>
              </a:spcBef>
              <a:spcAft>
                <a:spcPct val="0"/>
              </a:spcAft>
              <a:buSzTx/>
              <a:defRPr/>
            </a:pPr>
            <a:r>
              <a:rPr lang="en-US" dirty="0"/>
              <a:t>the user, the service, and the cloud infrastructure, and there are six types of attacks possible</a:t>
            </a:r>
          </a:p>
        </p:txBody>
      </p:sp>
    </p:spTree>
    <p:extLst>
      <p:ext uri="{BB962C8B-B14F-4D97-AF65-F5344CB8AC3E}">
        <p14:creationId xmlns:p14="http://schemas.microsoft.com/office/powerpoint/2010/main" val="175762171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3DD70-06FD-75C6-C4B4-269CA6D9BD7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A551B6-968A-DEF5-09C6-9239B3DDE945}"/>
              </a:ext>
            </a:extLst>
          </p:cNvPr>
          <p:cNvSpPr>
            <a:spLocks noGrp="1"/>
          </p:cNvSpPr>
          <p:nvPr>
            <p:ph type="title"/>
          </p:nvPr>
        </p:nvSpPr>
        <p:spPr>
          <a:xfrm>
            <a:off x="2167377" y="1871164"/>
            <a:ext cx="14715569" cy="511175"/>
          </a:xfrm>
        </p:spPr>
        <p:txBody>
          <a:bodyPr>
            <a:normAutofit/>
          </a:bodyPr>
          <a:lstStyle/>
          <a:p>
            <a:r>
              <a:rPr lang="en-US" sz="3200" dirty="0"/>
              <a:t>Top Cloud Security Threats</a:t>
            </a:r>
          </a:p>
        </p:txBody>
      </p:sp>
      <p:sp>
        <p:nvSpPr>
          <p:cNvPr id="1031" name="Text Placeholder 2">
            <a:extLst>
              <a:ext uri="{FF2B5EF4-FFF2-40B4-BE49-F238E27FC236}">
                <a16:creationId xmlns:a16="http://schemas.microsoft.com/office/drawing/2014/main" id="{5E31C75F-E69F-8ABB-E112-302499B8C890}"/>
              </a:ext>
            </a:extLst>
          </p:cNvPr>
          <p:cNvSpPr>
            <a:spLocks noGrp="1"/>
          </p:cNvSpPr>
          <p:nvPr>
            <p:ph type="body" sz="quarter" idx="10"/>
          </p:nvPr>
        </p:nvSpPr>
        <p:spPr>
          <a:xfrm>
            <a:off x="2167377" y="2419728"/>
            <a:ext cx="9768875" cy="803546"/>
          </a:xfrm>
        </p:spPr>
        <p:txBody>
          <a:bodyPr/>
          <a:lstStyle/>
          <a:p>
            <a:endParaRPr lang="en-US"/>
          </a:p>
        </p:txBody>
      </p:sp>
      <p:sp>
        <p:nvSpPr>
          <p:cNvPr id="9" name="Text Placeholder 8">
            <a:extLst>
              <a:ext uri="{FF2B5EF4-FFF2-40B4-BE49-F238E27FC236}">
                <a16:creationId xmlns:a16="http://schemas.microsoft.com/office/drawing/2014/main" id="{D8BE81CE-3892-EA67-0246-213F814B5421}"/>
              </a:ext>
            </a:extLst>
          </p:cNvPr>
          <p:cNvSpPr>
            <a:spLocks noGrp="1"/>
          </p:cNvSpPr>
          <p:nvPr>
            <p:ph type="body" sz="quarter" idx="16"/>
          </p:nvPr>
        </p:nvSpPr>
        <p:spPr>
          <a:xfrm>
            <a:off x="2167377" y="6556917"/>
            <a:ext cx="9768906" cy="5575610"/>
          </a:xfrm>
        </p:spPr>
        <p:txBody>
          <a:bodyPr>
            <a:normAutofit/>
          </a:bodyPr>
          <a:lstStyle/>
          <a:p>
            <a:r>
              <a:rPr lang="en-US" sz="2000"/>
              <a:t>Misconfiguration and inadequate change control</a:t>
            </a:r>
          </a:p>
          <a:p>
            <a:r>
              <a:rPr lang="en-US" sz="2000"/>
              <a:t>Identity and Access Management</a:t>
            </a:r>
          </a:p>
          <a:p>
            <a:r>
              <a:rPr lang="en-US" sz="2000"/>
              <a:t>Insecure interfaces and APIs</a:t>
            </a:r>
          </a:p>
          <a:p>
            <a:r>
              <a:rPr lang="en-US" sz="2000"/>
              <a:t>Inadequate selection/implementation of cloud security strategy</a:t>
            </a:r>
          </a:p>
          <a:p>
            <a:r>
              <a:rPr lang="en-US" sz="2000"/>
              <a:t>Insecure third-party resources</a:t>
            </a:r>
          </a:p>
          <a:p>
            <a:r>
              <a:rPr lang="en-US" sz="2000"/>
              <a:t>Insecure software development</a:t>
            </a:r>
          </a:p>
          <a:p>
            <a:r>
              <a:rPr lang="en-US" sz="2000"/>
              <a:t>More on notes…</a:t>
            </a:r>
          </a:p>
        </p:txBody>
      </p:sp>
      <p:pic>
        <p:nvPicPr>
          <p:cNvPr id="1026" name="Picture 2">
            <a:extLst>
              <a:ext uri="{FF2B5EF4-FFF2-40B4-BE49-F238E27FC236}">
                <a16:creationId xmlns:a16="http://schemas.microsoft.com/office/drawing/2014/main" id="{3A87E5D8-1314-9776-9418-5784D9FEC46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3829626" y="4210629"/>
            <a:ext cx="6119664" cy="7921898"/>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8" name="Text Placeholder 7">
            <a:extLst>
              <a:ext uri="{FF2B5EF4-FFF2-40B4-BE49-F238E27FC236}">
                <a16:creationId xmlns:a16="http://schemas.microsoft.com/office/drawing/2014/main" id="{2DF58BF7-830D-3F90-E172-0A0499705947}"/>
              </a:ext>
            </a:extLst>
          </p:cNvPr>
          <p:cNvSpPr>
            <a:spLocks noGrp="1"/>
          </p:cNvSpPr>
          <p:nvPr>
            <p:ph type="body" sz="quarter" idx="17"/>
          </p:nvPr>
        </p:nvSpPr>
        <p:spPr>
          <a:xfrm>
            <a:off x="2166938" y="4210049"/>
            <a:ext cx="9768874" cy="2039112"/>
          </a:xfrm>
        </p:spPr>
        <p:txBody>
          <a:bodyPr>
            <a:normAutofit/>
          </a:bodyPr>
          <a:lstStyle/>
          <a:p>
            <a:r>
              <a:rPr lang="en-US"/>
              <a:t>Recent report by Cloud security alliance (CSA) gives 11 top threats in cloud computing</a:t>
            </a:r>
          </a:p>
        </p:txBody>
      </p:sp>
    </p:spTree>
    <p:extLst>
      <p:ext uri="{BB962C8B-B14F-4D97-AF65-F5344CB8AC3E}">
        <p14:creationId xmlns:p14="http://schemas.microsoft.com/office/powerpoint/2010/main" val="120361250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E289-03FF-C267-28AC-24C7332D39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473AF29-8D0A-A2A1-55EF-C0AF06DC1882}"/>
              </a:ext>
            </a:extLst>
          </p:cNvPr>
          <p:cNvSpPr>
            <a:spLocks noGrp="1"/>
          </p:cNvSpPr>
          <p:nvPr>
            <p:ph type="title"/>
          </p:nvPr>
        </p:nvSpPr>
        <p:spPr/>
        <p:txBody>
          <a:bodyPr/>
          <a:lstStyle/>
          <a:p>
            <a:r>
              <a:rPr lang="en-US" dirty="0"/>
              <a:t>Cloud Data Encryption</a:t>
            </a:r>
          </a:p>
        </p:txBody>
      </p:sp>
    </p:spTree>
    <p:extLst>
      <p:ext uri="{BB962C8B-B14F-4D97-AF65-F5344CB8AC3E}">
        <p14:creationId xmlns:p14="http://schemas.microsoft.com/office/powerpoint/2010/main" val="121542066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A892-912D-4B39-5899-30D18D35D4D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98F23F-DC3E-98D5-2F62-0E03BA1D7C6D}"/>
              </a:ext>
            </a:extLst>
          </p:cNvPr>
          <p:cNvSpPr>
            <a:spLocks noGrp="1"/>
          </p:cNvSpPr>
          <p:nvPr>
            <p:ph type="title"/>
          </p:nvPr>
        </p:nvSpPr>
        <p:spPr>
          <a:xfrm>
            <a:off x="2167377" y="1871164"/>
            <a:ext cx="14715569" cy="511175"/>
          </a:xfrm>
        </p:spPr>
        <p:txBody>
          <a:bodyPr>
            <a:normAutofit/>
          </a:bodyPr>
          <a:lstStyle/>
          <a:p>
            <a:r>
              <a:rPr lang="en-US" sz="3200" dirty="0"/>
              <a:t>Cloud Data Encryption</a:t>
            </a:r>
          </a:p>
        </p:txBody>
      </p:sp>
      <p:sp>
        <p:nvSpPr>
          <p:cNvPr id="13" name="Text Placeholder 2">
            <a:extLst>
              <a:ext uri="{FF2B5EF4-FFF2-40B4-BE49-F238E27FC236}">
                <a16:creationId xmlns:a16="http://schemas.microsoft.com/office/drawing/2014/main" id="{FCBDDEE3-35E3-0589-CDA2-F3747AD9E7AB}"/>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EAACC3D1-25B4-1E82-DF92-0B8444B5035B}"/>
              </a:ext>
            </a:extLst>
          </p:cNvPr>
          <p:cNvSpPr>
            <a:spLocks noGrp="1"/>
          </p:cNvSpPr>
          <p:nvPr>
            <p:ph type="body" sz="quarter" idx="16"/>
          </p:nvPr>
        </p:nvSpPr>
        <p:spPr>
          <a:xfrm>
            <a:off x="2167377" y="6556917"/>
            <a:ext cx="9768906" cy="5575610"/>
          </a:xfrm>
        </p:spPr>
        <p:txBody>
          <a:bodyPr/>
          <a:lstStyle/>
          <a:p>
            <a:r>
              <a:rPr lang="en-US" dirty="0"/>
              <a:t>Amazon offers AWS Key Management Service (KMS) to create and control the encryption keys used by clients to encrypt their data. KMS is integrated with other AWS services including EBS, S3, RDS, Redshift, Elastic Transcoder, and </a:t>
            </a:r>
            <a:r>
              <a:rPr lang="en-US" dirty="0" err="1"/>
              <a:t>WorkMail</a:t>
            </a:r>
            <a:r>
              <a:rPr lang="en-US" dirty="0"/>
              <a:t>. AWS also offers Encryption SDK for developers.</a:t>
            </a:r>
          </a:p>
          <a:p>
            <a:r>
              <a:rPr lang="en-US" dirty="0"/>
              <a:t>Sensitive data is safe while in storage, provided that it is encrypted with strong encryption. But encrypted data must be decrypted for processing, and this opens a window of vulnerability.</a:t>
            </a:r>
          </a:p>
          <a:p>
            <a:endParaRPr lang="en-US" dirty="0"/>
          </a:p>
        </p:txBody>
      </p:sp>
      <p:pic>
        <p:nvPicPr>
          <p:cNvPr id="8" name="Picture Placeholder 7">
            <a:extLst>
              <a:ext uri="{FF2B5EF4-FFF2-40B4-BE49-F238E27FC236}">
                <a16:creationId xmlns:a16="http://schemas.microsoft.com/office/drawing/2014/main" id="{46B0B7D3-5506-E60C-B6DB-B4A033707DEC}"/>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7897" b="4023"/>
          <a:stretch>
            <a:fillRect/>
          </a:stretch>
        </p:blipFill>
        <p:spPr>
          <a:xfrm>
            <a:off x="13387397" y="4210049"/>
            <a:ext cx="9525347" cy="6437949"/>
          </a:xfrm>
          <a:prstGeom prst="rect">
            <a:avLst/>
          </a:prstGeom>
          <a:noFill/>
        </p:spPr>
      </p:pic>
      <p:sp>
        <p:nvSpPr>
          <p:cNvPr id="17" name="Text Placeholder 5">
            <a:extLst>
              <a:ext uri="{FF2B5EF4-FFF2-40B4-BE49-F238E27FC236}">
                <a16:creationId xmlns:a16="http://schemas.microsoft.com/office/drawing/2014/main" id="{29C05086-4364-581A-D476-425ECD2BE832}"/>
              </a:ext>
            </a:extLst>
          </p:cNvPr>
          <p:cNvSpPr>
            <a:spLocks noGrp="1"/>
          </p:cNvSpPr>
          <p:nvPr>
            <p:ph type="body" sz="quarter" idx="17"/>
          </p:nvPr>
        </p:nvSpPr>
        <p:spPr>
          <a:xfrm>
            <a:off x="2166938" y="4210049"/>
            <a:ext cx="9768874" cy="2039112"/>
          </a:xfrm>
        </p:spPr>
        <p:txBody>
          <a:bodyPr>
            <a:normAutofit/>
          </a:bodyPr>
          <a:lstStyle/>
          <a:p>
            <a:r>
              <a:rPr lang="en-US" dirty="0"/>
              <a:t>Cloud service providers offer encryption services</a:t>
            </a:r>
          </a:p>
        </p:txBody>
      </p:sp>
    </p:spTree>
    <p:extLst>
      <p:ext uri="{BB962C8B-B14F-4D97-AF65-F5344CB8AC3E}">
        <p14:creationId xmlns:p14="http://schemas.microsoft.com/office/powerpoint/2010/main" val="414131878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2CADE-D787-9C89-7334-5029483CA90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D0DC358-E2DB-F477-3118-1130F3601885}"/>
              </a:ext>
            </a:extLst>
          </p:cNvPr>
          <p:cNvSpPr>
            <a:spLocks noGrp="1"/>
          </p:cNvSpPr>
          <p:nvPr>
            <p:ph type="title"/>
          </p:nvPr>
        </p:nvSpPr>
        <p:spPr>
          <a:xfrm>
            <a:off x="2167377" y="1871164"/>
            <a:ext cx="14715569" cy="511175"/>
          </a:xfrm>
        </p:spPr>
        <p:txBody>
          <a:bodyPr>
            <a:normAutofit/>
          </a:bodyPr>
          <a:lstStyle/>
          <a:p>
            <a:r>
              <a:rPr lang="en-US" sz="3200" dirty="0"/>
              <a:t>Cloud Data Encryption</a:t>
            </a:r>
          </a:p>
        </p:txBody>
      </p:sp>
      <p:sp>
        <p:nvSpPr>
          <p:cNvPr id="13" name="Text Placeholder 2">
            <a:extLst>
              <a:ext uri="{FF2B5EF4-FFF2-40B4-BE49-F238E27FC236}">
                <a16:creationId xmlns:a16="http://schemas.microsoft.com/office/drawing/2014/main" id="{A93403FB-C945-BF6C-5DEB-A4BF3C2E413B}"/>
              </a:ext>
            </a:extLst>
          </p:cNvPr>
          <p:cNvSpPr>
            <a:spLocks noGrp="1"/>
          </p:cNvSpPr>
          <p:nvPr>
            <p:ph type="body" sz="quarter" idx="10"/>
          </p:nvPr>
        </p:nvSpPr>
        <p:spPr>
          <a:xfrm>
            <a:off x="2167377" y="2419728"/>
            <a:ext cx="9768875" cy="803546"/>
          </a:xfrm>
        </p:spPr>
        <p:txBody>
          <a:bodyPr>
            <a:normAutofit/>
          </a:bodyPr>
          <a:lstStyle/>
          <a:p>
            <a:r>
              <a:rPr lang="en-US" dirty="0"/>
              <a:t>Homomorphic</a:t>
            </a:r>
          </a:p>
        </p:txBody>
      </p:sp>
      <p:sp>
        <p:nvSpPr>
          <p:cNvPr id="15" name="Text Placeholder 3">
            <a:extLst>
              <a:ext uri="{FF2B5EF4-FFF2-40B4-BE49-F238E27FC236}">
                <a16:creationId xmlns:a16="http://schemas.microsoft.com/office/drawing/2014/main" id="{C52DBC90-20E8-B54A-E24A-DE33B816E9AC}"/>
              </a:ext>
            </a:extLst>
          </p:cNvPr>
          <p:cNvSpPr>
            <a:spLocks noGrp="1"/>
          </p:cNvSpPr>
          <p:nvPr>
            <p:ph type="body" sz="quarter" idx="16"/>
          </p:nvPr>
        </p:nvSpPr>
        <p:spPr>
          <a:xfrm>
            <a:off x="2167377" y="6556917"/>
            <a:ext cx="9768906" cy="5575610"/>
          </a:xfrm>
        </p:spPr>
        <p:txBody>
          <a:bodyPr>
            <a:normAutofit/>
          </a:bodyPr>
          <a:lstStyle/>
          <a:p>
            <a:r>
              <a:rPr lang="en-US" dirty="0"/>
              <a:t>The homomorphism shows that we can conduct arithmetic and/or logic operations with encrypted data and the decryption of the result of these operation replicates the result of carrying out the same operations with the plaintext data. This implies that the window of vulnerability created when data is decrypted for processing disappears</a:t>
            </a:r>
          </a:p>
        </p:txBody>
      </p:sp>
      <p:pic>
        <p:nvPicPr>
          <p:cNvPr id="11" name="Content Placeholder 5">
            <a:extLst>
              <a:ext uri="{FF2B5EF4-FFF2-40B4-BE49-F238E27FC236}">
                <a16:creationId xmlns:a16="http://schemas.microsoft.com/office/drawing/2014/main" id="{D3ABF2E1-2295-9DB0-2E5A-B53C177E3B92}"/>
              </a:ext>
            </a:extLst>
          </p:cNvPr>
          <p:cNvPicPr>
            <a:picLocks noChangeAspect="1"/>
          </p:cNvPicPr>
          <p:nvPr/>
        </p:nvPicPr>
        <p:blipFill>
          <a:blip r:embed="rId3"/>
          <a:stretch>
            <a:fillRect/>
          </a:stretch>
        </p:blipFill>
        <p:spPr>
          <a:xfrm>
            <a:off x="12339930" y="5730240"/>
            <a:ext cx="11891904" cy="3954055"/>
          </a:xfrm>
          <a:prstGeom prst="rect">
            <a:avLst/>
          </a:prstGeom>
          <a:noFill/>
        </p:spPr>
      </p:pic>
      <p:sp>
        <p:nvSpPr>
          <p:cNvPr id="17" name="Text Placeholder 5">
            <a:extLst>
              <a:ext uri="{FF2B5EF4-FFF2-40B4-BE49-F238E27FC236}">
                <a16:creationId xmlns:a16="http://schemas.microsoft.com/office/drawing/2014/main" id="{50667EB3-9F97-685A-27AE-ECEA6B8A588F}"/>
              </a:ext>
            </a:extLst>
          </p:cNvPr>
          <p:cNvSpPr>
            <a:spLocks noGrp="1"/>
          </p:cNvSpPr>
          <p:nvPr>
            <p:ph type="body" sz="quarter" idx="17"/>
          </p:nvPr>
        </p:nvSpPr>
        <p:spPr>
          <a:xfrm>
            <a:off x="2166938" y="4210049"/>
            <a:ext cx="9768874" cy="2039112"/>
          </a:xfrm>
        </p:spPr>
        <p:txBody>
          <a:bodyPr>
            <a:normAutofit/>
          </a:bodyPr>
          <a:lstStyle/>
          <a:p>
            <a:r>
              <a:rPr lang="en-US" sz="3400" b="1"/>
              <a:t>Homomorphic encryption </a:t>
            </a:r>
            <a:r>
              <a:rPr lang="en-US" sz="3400"/>
              <a:t>reflects the concept of homomorphism, a structure-preserving map f(⋅) between two algebraic structures of the same type</a:t>
            </a:r>
          </a:p>
        </p:txBody>
      </p:sp>
    </p:spTree>
    <p:extLst>
      <p:ext uri="{BB962C8B-B14F-4D97-AF65-F5344CB8AC3E}">
        <p14:creationId xmlns:p14="http://schemas.microsoft.com/office/powerpoint/2010/main" val="252469807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7BBBC-CF0A-A2C8-D8A2-3EE83FB6A16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685A79D-1E81-2B27-70ED-37043133D869}"/>
              </a:ext>
            </a:extLst>
          </p:cNvPr>
          <p:cNvSpPr>
            <a:spLocks noGrp="1"/>
          </p:cNvSpPr>
          <p:nvPr>
            <p:ph type="title"/>
          </p:nvPr>
        </p:nvSpPr>
        <p:spPr>
          <a:xfrm>
            <a:off x="2167377" y="1871164"/>
            <a:ext cx="14715569" cy="511175"/>
          </a:xfrm>
        </p:spPr>
        <p:txBody>
          <a:bodyPr>
            <a:normAutofit/>
          </a:bodyPr>
          <a:lstStyle/>
          <a:p>
            <a:r>
              <a:rPr lang="en-US" sz="3200" dirty="0"/>
              <a:t>Order Preserving Encryption (OPE)</a:t>
            </a:r>
          </a:p>
        </p:txBody>
      </p:sp>
      <p:sp>
        <p:nvSpPr>
          <p:cNvPr id="13" name="Text Placeholder 2">
            <a:extLst>
              <a:ext uri="{FF2B5EF4-FFF2-40B4-BE49-F238E27FC236}">
                <a16:creationId xmlns:a16="http://schemas.microsoft.com/office/drawing/2014/main" id="{4C92EDDB-A317-AB15-D667-3127E99D2FBD}"/>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C4BFBDE3-737F-FD43-A2DB-A5F8B60FE0A9}"/>
              </a:ext>
            </a:extLst>
          </p:cNvPr>
          <p:cNvSpPr>
            <a:spLocks noGrp="1"/>
          </p:cNvSpPr>
          <p:nvPr>
            <p:ph type="body" sz="quarter" idx="16"/>
          </p:nvPr>
        </p:nvSpPr>
        <p:spPr>
          <a:xfrm>
            <a:off x="2167377" y="6556917"/>
            <a:ext cx="9768906" cy="5575610"/>
          </a:xfrm>
        </p:spPr>
        <p:txBody>
          <a:bodyPr/>
          <a:lstStyle/>
          <a:p>
            <a:r>
              <a:rPr lang="en-US" dirty="0"/>
              <a:t>To encrypt plaintext x, the OPE encryption algorithm performs a binary search down to x. </a:t>
            </a:r>
          </a:p>
          <a:p>
            <a:r>
              <a:rPr lang="en-US" dirty="0"/>
              <a:t>Given the secret key K, the algorithm first assigns Encrypt(K,M/2), then Encrypt(K,M/4) if the index m&lt;M/2 and Encrypt(K,3M/4) otherwise, and so on, until Encrypt(</a:t>
            </a:r>
            <a:r>
              <a:rPr lang="en-US" dirty="0" err="1"/>
              <a:t>K,x</a:t>
            </a:r>
            <a:r>
              <a:rPr lang="en-US" dirty="0"/>
              <a:t>) is assigned. </a:t>
            </a:r>
          </a:p>
          <a:p>
            <a:r>
              <a:rPr lang="en-US" dirty="0"/>
              <a:t>Each ciphertext assignment is made according to the output of the negative hypergeometric sampling algorithm. </a:t>
            </a:r>
          </a:p>
          <a:p>
            <a:r>
              <a:rPr lang="en-US" dirty="0"/>
              <a:t>One can prove by strong induction on the size of the plaintext space that the resulting scheme induces a random order-preserving function from the plaintext to ciphertext space.</a:t>
            </a:r>
          </a:p>
        </p:txBody>
      </p:sp>
      <p:pic>
        <p:nvPicPr>
          <p:cNvPr id="8" name="Picture Placeholder 7">
            <a:extLst>
              <a:ext uri="{FF2B5EF4-FFF2-40B4-BE49-F238E27FC236}">
                <a16:creationId xmlns:a16="http://schemas.microsoft.com/office/drawing/2014/main" id="{AA10894E-385A-07CF-2190-EB673A44C210}"/>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684" r="1693"/>
          <a:stretch>
            <a:fillRect/>
          </a:stretch>
        </p:blipFill>
        <p:spPr>
          <a:xfrm>
            <a:off x="12602817" y="6200153"/>
            <a:ext cx="11420982" cy="3500437"/>
          </a:xfrm>
          <a:prstGeom prst="rect">
            <a:avLst/>
          </a:prstGeom>
          <a:noFill/>
        </p:spPr>
      </p:pic>
      <p:sp>
        <p:nvSpPr>
          <p:cNvPr id="17" name="Text Placeholder 5">
            <a:extLst>
              <a:ext uri="{FF2B5EF4-FFF2-40B4-BE49-F238E27FC236}">
                <a16:creationId xmlns:a16="http://schemas.microsoft.com/office/drawing/2014/main" id="{668B5F5B-8EC1-24B8-AFE1-D3DBC4AAF954}"/>
              </a:ext>
            </a:extLst>
          </p:cNvPr>
          <p:cNvSpPr>
            <a:spLocks noGrp="1"/>
          </p:cNvSpPr>
          <p:nvPr>
            <p:ph type="body" sz="quarter" idx="17"/>
          </p:nvPr>
        </p:nvSpPr>
        <p:spPr>
          <a:xfrm>
            <a:off x="2166938" y="4210049"/>
            <a:ext cx="9768874" cy="2039112"/>
          </a:xfrm>
        </p:spPr>
        <p:txBody>
          <a:bodyPr>
            <a:normAutofit fontScale="85000" lnSpcReduction="10000"/>
          </a:bodyPr>
          <a:lstStyle/>
          <a:p>
            <a:r>
              <a:rPr lang="en-US" dirty="0"/>
              <a:t>Order Preserving Encryption (OPE) [66] can be used for encryption of numeric data. OPE maps a range of numerical values into a much larger and sparse range of values.</a:t>
            </a:r>
          </a:p>
        </p:txBody>
      </p:sp>
    </p:spTree>
    <p:extLst>
      <p:ext uri="{BB962C8B-B14F-4D97-AF65-F5344CB8AC3E}">
        <p14:creationId xmlns:p14="http://schemas.microsoft.com/office/powerpoint/2010/main" val="2172847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98371-30D4-6994-2A65-F7EC372696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A99804-E377-83A4-9EB4-B8786DE7324A}"/>
              </a:ext>
            </a:extLst>
          </p:cNvPr>
          <p:cNvSpPr>
            <a:spLocks noGrp="1"/>
          </p:cNvSpPr>
          <p:nvPr>
            <p:ph type="title"/>
          </p:nvPr>
        </p:nvSpPr>
        <p:spPr>
          <a:xfrm>
            <a:off x="2167377" y="1871164"/>
            <a:ext cx="14715569" cy="511175"/>
          </a:xfrm>
        </p:spPr>
        <p:txBody>
          <a:bodyPr>
            <a:normAutofit/>
          </a:bodyPr>
          <a:lstStyle/>
          <a:p>
            <a:r>
              <a:rPr lang="en-US" sz="3200" dirty="0"/>
              <a:t>Searchable Symmetric Encryption (SSE)</a:t>
            </a:r>
          </a:p>
        </p:txBody>
      </p:sp>
      <p:sp>
        <p:nvSpPr>
          <p:cNvPr id="13" name="Text Placeholder 2">
            <a:extLst>
              <a:ext uri="{FF2B5EF4-FFF2-40B4-BE49-F238E27FC236}">
                <a16:creationId xmlns:a16="http://schemas.microsoft.com/office/drawing/2014/main" id="{B5428E96-2F6A-8CE2-9210-AC8BD337ACF1}"/>
              </a:ext>
            </a:extLst>
          </p:cNvPr>
          <p:cNvSpPr>
            <a:spLocks noGrp="1"/>
          </p:cNvSpPr>
          <p:nvPr>
            <p:ph type="body" sz="quarter" idx="10"/>
          </p:nvPr>
        </p:nvSpPr>
        <p:spPr>
          <a:xfrm>
            <a:off x="2167377" y="2419728"/>
            <a:ext cx="9768875" cy="803546"/>
          </a:xfrm>
        </p:spPr>
        <p:txBody>
          <a:bodyPr/>
          <a:lstStyle/>
          <a:p>
            <a:endParaRPr lang="en-US" dirty="0"/>
          </a:p>
        </p:txBody>
      </p:sp>
      <p:sp>
        <p:nvSpPr>
          <p:cNvPr id="15" name="Text Placeholder 3">
            <a:extLst>
              <a:ext uri="{FF2B5EF4-FFF2-40B4-BE49-F238E27FC236}">
                <a16:creationId xmlns:a16="http://schemas.microsoft.com/office/drawing/2014/main" id="{67BEBF13-CD54-F863-57B7-BC829F85A3FC}"/>
              </a:ext>
            </a:extLst>
          </p:cNvPr>
          <p:cNvSpPr>
            <a:spLocks noGrp="1"/>
          </p:cNvSpPr>
          <p:nvPr>
            <p:ph type="body" sz="quarter" idx="16"/>
          </p:nvPr>
        </p:nvSpPr>
        <p:spPr>
          <a:xfrm>
            <a:off x="2167377" y="6556917"/>
            <a:ext cx="9768906" cy="5575610"/>
          </a:xfrm>
        </p:spPr>
        <p:txBody>
          <a:bodyPr/>
          <a:lstStyle/>
          <a:p>
            <a:pPr algn="just"/>
            <a:r>
              <a:rPr lang="en-US" dirty="0"/>
              <a:t>SSE hides information about the database and the queries.</a:t>
            </a:r>
          </a:p>
          <a:p>
            <a:pPr algn="just"/>
            <a:r>
              <a:rPr lang="en-US" dirty="0"/>
              <a:t>A client only stores the cryptographic key. To search a database, the client encrypts the query, sends it to the database server, receives the encrypted result of the query, and decrypts it using the cryptographic key. </a:t>
            </a:r>
          </a:p>
          <a:p>
            <a:pPr algn="just"/>
            <a:r>
              <a:rPr lang="en-US" dirty="0"/>
              <a:t>Information leakage from these searches is confined to query patterns, while disclosure of explicit data and query plaintext values is prevented.</a:t>
            </a:r>
          </a:p>
        </p:txBody>
      </p:sp>
      <p:sp>
        <p:nvSpPr>
          <p:cNvPr id="17" name="Text Placeholder 5">
            <a:extLst>
              <a:ext uri="{FF2B5EF4-FFF2-40B4-BE49-F238E27FC236}">
                <a16:creationId xmlns:a16="http://schemas.microsoft.com/office/drawing/2014/main" id="{81B2BF96-97B0-CC10-8121-514BCAD62971}"/>
              </a:ext>
            </a:extLst>
          </p:cNvPr>
          <p:cNvSpPr>
            <a:spLocks noGrp="1"/>
          </p:cNvSpPr>
          <p:nvPr>
            <p:ph type="body" sz="quarter" idx="17"/>
          </p:nvPr>
        </p:nvSpPr>
        <p:spPr>
          <a:xfrm>
            <a:off x="2166938" y="4210049"/>
            <a:ext cx="9768874" cy="2039112"/>
          </a:xfrm>
        </p:spPr>
        <p:txBody>
          <a:bodyPr>
            <a:normAutofit fontScale="92500" lnSpcReduction="20000"/>
          </a:bodyPr>
          <a:lstStyle/>
          <a:p>
            <a:pPr algn="just"/>
            <a:r>
              <a:rPr lang="en-US" dirty="0"/>
              <a:t>Searchable symmetric encryption (SSE) is used when an encrypted databases E is outsourced to a cloud or to a different organization. </a:t>
            </a:r>
          </a:p>
        </p:txBody>
      </p:sp>
      <p:pic>
        <p:nvPicPr>
          <p:cNvPr id="6" name="Picture Placeholder 5">
            <a:extLst>
              <a:ext uri="{FF2B5EF4-FFF2-40B4-BE49-F238E27FC236}">
                <a16:creationId xmlns:a16="http://schemas.microsoft.com/office/drawing/2014/main" id="{E94B3ACA-C05C-EA57-706C-DE1F0215837D}"/>
              </a:ext>
            </a:extLst>
          </p:cNvPr>
          <p:cNvPicPr>
            <a:picLocks noGrp="1" noChangeAspect="1"/>
          </p:cNvPicPr>
          <p:nvPr>
            <p:ph type="pic" sz="quarter" idx="13"/>
          </p:nvPr>
        </p:nvPicPr>
        <p:blipFill>
          <a:blip r:embed="rId3"/>
          <a:srcRect l="1572" r="1845" b="2477"/>
          <a:stretch>
            <a:fillRect/>
          </a:stretch>
        </p:blipFill>
        <p:spPr>
          <a:xfrm>
            <a:off x="13119653" y="4383398"/>
            <a:ext cx="10620142" cy="5575610"/>
          </a:xfrm>
          <a:prstGeom prst="rect">
            <a:avLst/>
          </a:prstGeom>
        </p:spPr>
      </p:pic>
    </p:spTree>
    <p:extLst>
      <p:ext uri="{BB962C8B-B14F-4D97-AF65-F5344CB8AC3E}">
        <p14:creationId xmlns:p14="http://schemas.microsoft.com/office/powerpoint/2010/main" val="61156369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0B5B3-5AED-66FE-8690-3B3179987880}"/>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FF49CB6-597B-D399-C88B-8D3527EEA8BD}"/>
              </a:ext>
            </a:extLst>
          </p:cNvPr>
          <p:cNvSpPr>
            <a:spLocks noGrp="1"/>
          </p:cNvSpPr>
          <p:nvPr>
            <p:ph type="title"/>
          </p:nvPr>
        </p:nvSpPr>
        <p:spPr/>
        <p:txBody>
          <a:bodyPr/>
          <a:lstStyle/>
          <a:p>
            <a:r>
              <a:rPr lang="en-US" dirty="0"/>
              <a:t>Virtual Machine Security</a:t>
            </a:r>
          </a:p>
        </p:txBody>
      </p:sp>
    </p:spTree>
    <p:extLst>
      <p:ext uri="{BB962C8B-B14F-4D97-AF65-F5344CB8AC3E}">
        <p14:creationId xmlns:p14="http://schemas.microsoft.com/office/powerpoint/2010/main" val="275335500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77D3E-27B5-FEC8-B70A-348669D35007}"/>
              </a:ext>
            </a:extLst>
          </p:cNvPr>
          <p:cNvSpPr>
            <a:spLocks noGrp="1"/>
          </p:cNvSpPr>
          <p:nvPr>
            <p:ph type="title"/>
          </p:nvPr>
        </p:nvSpPr>
        <p:spPr/>
        <p:txBody>
          <a:bodyPr>
            <a:normAutofit fontScale="90000"/>
          </a:bodyPr>
          <a:lstStyle/>
          <a:p>
            <a:r>
              <a:rPr lang="en-US" dirty="0"/>
              <a:t>Virtual Machine Security</a:t>
            </a:r>
          </a:p>
        </p:txBody>
      </p:sp>
      <p:sp>
        <p:nvSpPr>
          <p:cNvPr id="3" name="Text Placeholder 2">
            <a:extLst>
              <a:ext uri="{FF2B5EF4-FFF2-40B4-BE49-F238E27FC236}">
                <a16:creationId xmlns:a16="http://schemas.microsoft.com/office/drawing/2014/main" id="{91292EEC-A3B9-7F47-D16F-CF4AECCBDCD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E05818F9-8848-792B-681A-0D94CB7E5DFD}"/>
              </a:ext>
            </a:extLst>
          </p:cNvPr>
          <p:cNvSpPr>
            <a:spLocks noGrp="1"/>
          </p:cNvSpPr>
          <p:nvPr>
            <p:ph sz="quarter" idx="11"/>
          </p:nvPr>
        </p:nvSpPr>
        <p:spPr>
          <a:xfrm>
            <a:off x="1178560" y="10668000"/>
            <a:ext cx="22433280" cy="2889404"/>
          </a:xfrm>
        </p:spPr>
        <p:txBody>
          <a:bodyPr>
            <a:normAutofit fontScale="92500" lnSpcReduction="20000"/>
          </a:bodyPr>
          <a:lstStyle/>
          <a:p>
            <a:r>
              <a:rPr lang="en-US" sz="3200" dirty="0"/>
              <a:t>Virtual security services are typically provided by the hypervisor as shown in (a); </a:t>
            </a:r>
          </a:p>
          <a:p>
            <a:r>
              <a:rPr lang="en-US" sz="3200" dirty="0"/>
              <a:t>another alternative is to have a dedicated VM providing security service as in (b). </a:t>
            </a:r>
          </a:p>
          <a:p>
            <a:r>
              <a:rPr lang="en-US" sz="3200" dirty="0"/>
              <a:t>A secure TCB (Trusted Computing Base) is a necessary condition for security in a VM environment. When TCB is compromised, the security of the entire system is affected.</a:t>
            </a:r>
          </a:p>
        </p:txBody>
      </p:sp>
      <p:pic>
        <p:nvPicPr>
          <p:cNvPr id="5" name="Content Placeholder 5">
            <a:extLst>
              <a:ext uri="{FF2B5EF4-FFF2-40B4-BE49-F238E27FC236}">
                <a16:creationId xmlns:a16="http://schemas.microsoft.com/office/drawing/2014/main" id="{DC87EF01-044A-4A7A-F97B-744A87A341A3}"/>
              </a:ext>
            </a:extLst>
          </p:cNvPr>
          <p:cNvPicPr>
            <a:picLocks noChangeAspect="1"/>
          </p:cNvPicPr>
          <p:nvPr/>
        </p:nvPicPr>
        <p:blipFill>
          <a:blip r:embed="rId2"/>
          <a:stretch>
            <a:fillRect/>
          </a:stretch>
        </p:blipFill>
        <p:spPr>
          <a:xfrm>
            <a:off x="3385429" y="3413204"/>
            <a:ext cx="17613141" cy="6889592"/>
          </a:xfrm>
          <a:prstGeom prst="rect">
            <a:avLst/>
          </a:prstGeom>
        </p:spPr>
      </p:pic>
    </p:spTree>
    <p:extLst>
      <p:ext uri="{BB962C8B-B14F-4D97-AF65-F5344CB8AC3E}">
        <p14:creationId xmlns:p14="http://schemas.microsoft.com/office/powerpoint/2010/main" val="223171280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DE604-DD2B-4FC3-1334-755386B50EB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67E7E0B-DD3D-3844-D069-08796828AA31}"/>
              </a:ext>
            </a:extLst>
          </p:cNvPr>
          <p:cNvSpPr>
            <a:spLocks noGrp="1"/>
          </p:cNvSpPr>
          <p:nvPr>
            <p:ph type="title"/>
          </p:nvPr>
        </p:nvSpPr>
        <p:spPr>
          <a:xfrm>
            <a:off x="2167377" y="1871164"/>
            <a:ext cx="14715569" cy="511175"/>
          </a:xfrm>
        </p:spPr>
        <p:txBody>
          <a:bodyPr>
            <a:normAutofit/>
          </a:bodyPr>
          <a:lstStyle/>
          <a:p>
            <a:r>
              <a:rPr lang="en-US" sz="3200" dirty="0"/>
              <a:t>Virtual Machine Threats</a:t>
            </a:r>
          </a:p>
        </p:txBody>
      </p:sp>
      <p:sp>
        <p:nvSpPr>
          <p:cNvPr id="13" name="Text Placeholder 2">
            <a:extLst>
              <a:ext uri="{FF2B5EF4-FFF2-40B4-BE49-F238E27FC236}">
                <a16:creationId xmlns:a16="http://schemas.microsoft.com/office/drawing/2014/main" id="{1818BCA7-FB85-E477-FDE5-3781A9AA5415}"/>
              </a:ext>
            </a:extLst>
          </p:cNvPr>
          <p:cNvSpPr>
            <a:spLocks noGrp="1"/>
          </p:cNvSpPr>
          <p:nvPr>
            <p:ph type="body" sz="quarter" idx="10"/>
          </p:nvPr>
        </p:nvSpPr>
        <p:spPr>
          <a:xfrm>
            <a:off x="2167377" y="2419728"/>
            <a:ext cx="9768875" cy="803546"/>
          </a:xfrm>
        </p:spPr>
        <p:txBody>
          <a:bodyPr/>
          <a:lstStyle/>
          <a:p>
            <a:r>
              <a:rPr lang="en-US" dirty="0"/>
              <a:t>Hypervisor-based</a:t>
            </a:r>
          </a:p>
        </p:txBody>
      </p:sp>
      <p:sp>
        <p:nvSpPr>
          <p:cNvPr id="15" name="Text Placeholder 3">
            <a:extLst>
              <a:ext uri="{FF2B5EF4-FFF2-40B4-BE49-F238E27FC236}">
                <a16:creationId xmlns:a16="http://schemas.microsoft.com/office/drawing/2014/main" id="{761F32FF-A60C-E22B-EF19-CEF7A4E52AF2}"/>
              </a:ext>
            </a:extLst>
          </p:cNvPr>
          <p:cNvSpPr>
            <a:spLocks noGrp="1"/>
          </p:cNvSpPr>
          <p:nvPr>
            <p:ph type="body" sz="quarter" idx="16"/>
          </p:nvPr>
        </p:nvSpPr>
        <p:spPr>
          <a:xfrm>
            <a:off x="2167377" y="6556917"/>
            <a:ext cx="9768906" cy="5575610"/>
          </a:xfrm>
        </p:spPr>
        <p:txBody>
          <a:bodyPr/>
          <a:lstStyle/>
          <a:p>
            <a:pPr algn="just"/>
            <a:r>
              <a:rPr lang="en-US" dirty="0"/>
              <a:t>Resources starvation and denial of service -&gt; bad configuration</a:t>
            </a:r>
          </a:p>
          <a:p>
            <a:pPr algn="just"/>
            <a:r>
              <a:rPr lang="en-US" dirty="0"/>
              <a:t>VM side-channel attacks -&gt; lack of proper isolation</a:t>
            </a:r>
          </a:p>
          <a:p>
            <a:pPr algn="just"/>
            <a:r>
              <a:rPr lang="en-US" dirty="0"/>
              <a:t>Buffer overflow attacks</a:t>
            </a:r>
          </a:p>
        </p:txBody>
      </p:sp>
      <p:sp>
        <p:nvSpPr>
          <p:cNvPr id="17" name="Text Placeholder 5">
            <a:extLst>
              <a:ext uri="{FF2B5EF4-FFF2-40B4-BE49-F238E27FC236}">
                <a16:creationId xmlns:a16="http://schemas.microsoft.com/office/drawing/2014/main" id="{977AD323-D572-F4BD-D617-14ED4FE7F340}"/>
              </a:ext>
            </a:extLst>
          </p:cNvPr>
          <p:cNvSpPr>
            <a:spLocks noGrp="1"/>
          </p:cNvSpPr>
          <p:nvPr>
            <p:ph type="body" sz="quarter" idx="17"/>
          </p:nvPr>
        </p:nvSpPr>
        <p:spPr>
          <a:xfrm>
            <a:off x="2166938" y="4210049"/>
            <a:ext cx="9768874" cy="2039112"/>
          </a:xfrm>
        </p:spPr>
        <p:txBody>
          <a:bodyPr>
            <a:normAutofit/>
          </a:bodyPr>
          <a:lstStyle/>
          <a:p>
            <a:pPr algn="just"/>
            <a:r>
              <a:rPr lang="en-US" dirty="0"/>
              <a:t>4 most common attack on hypervisor-based Threats:</a:t>
            </a:r>
          </a:p>
        </p:txBody>
      </p:sp>
      <p:pic>
        <p:nvPicPr>
          <p:cNvPr id="6" name="Picture Placeholder 5">
            <a:extLst>
              <a:ext uri="{FF2B5EF4-FFF2-40B4-BE49-F238E27FC236}">
                <a16:creationId xmlns:a16="http://schemas.microsoft.com/office/drawing/2014/main" id="{1511CDDA-6801-B23F-EB84-E242CAA8E22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497" t="1886" r="1546" b="4704"/>
          <a:stretch>
            <a:fillRect/>
          </a:stretch>
        </p:blipFill>
        <p:spPr>
          <a:xfrm>
            <a:off x="13278677" y="4210049"/>
            <a:ext cx="10296939" cy="5748959"/>
          </a:xfrm>
          <a:prstGeom prst="rect">
            <a:avLst/>
          </a:prstGeom>
        </p:spPr>
      </p:pic>
    </p:spTree>
    <p:extLst>
      <p:ext uri="{BB962C8B-B14F-4D97-AF65-F5344CB8AC3E}">
        <p14:creationId xmlns:p14="http://schemas.microsoft.com/office/powerpoint/2010/main" val="392755703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C9350-202F-87E9-5C3B-F30307354C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0EE22A3-B72F-A3C9-13C7-DA0727EA0519}"/>
              </a:ext>
            </a:extLst>
          </p:cNvPr>
          <p:cNvSpPr>
            <a:spLocks noGrp="1"/>
          </p:cNvSpPr>
          <p:nvPr>
            <p:ph type="title"/>
          </p:nvPr>
        </p:nvSpPr>
        <p:spPr>
          <a:xfrm>
            <a:off x="2167377" y="1871164"/>
            <a:ext cx="14715569" cy="511175"/>
          </a:xfrm>
        </p:spPr>
        <p:txBody>
          <a:bodyPr>
            <a:normAutofit/>
          </a:bodyPr>
          <a:lstStyle/>
          <a:p>
            <a:r>
              <a:rPr lang="en-US" sz="3200" dirty="0"/>
              <a:t>Virtual Machine Threats</a:t>
            </a:r>
          </a:p>
        </p:txBody>
      </p:sp>
      <p:sp>
        <p:nvSpPr>
          <p:cNvPr id="13" name="Text Placeholder 2">
            <a:extLst>
              <a:ext uri="{FF2B5EF4-FFF2-40B4-BE49-F238E27FC236}">
                <a16:creationId xmlns:a16="http://schemas.microsoft.com/office/drawing/2014/main" id="{B862D411-09BB-1C1F-9317-68379CD82780}"/>
              </a:ext>
            </a:extLst>
          </p:cNvPr>
          <p:cNvSpPr>
            <a:spLocks noGrp="1"/>
          </p:cNvSpPr>
          <p:nvPr>
            <p:ph type="body" sz="quarter" idx="10"/>
          </p:nvPr>
        </p:nvSpPr>
        <p:spPr>
          <a:xfrm>
            <a:off x="2167377" y="2419728"/>
            <a:ext cx="9768875" cy="803546"/>
          </a:xfrm>
        </p:spPr>
        <p:txBody>
          <a:bodyPr/>
          <a:lstStyle/>
          <a:p>
            <a:r>
              <a:rPr lang="en-US" dirty="0"/>
              <a:t>VM-based</a:t>
            </a:r>
          </a:p>
        </p:txBody>
      </p:sp>
      <p:sp>
        <p:nvSpPr>
          <p:cNvPr id="15" name="Text Placeholder 3">
            <a:extLst>
              <a:ext uri="{FF2B5EF4-FFF2-40B4-BE49-F238E27FC236}">
                <a16:creationId xmlns:a16="http://schemas.microsoft.com/office/drawing/2014/main" id="{A3F85396-9291-4A8C-BC56-0BA567D929C4}"/>
              </a:ext>
            </a:extLst>
          </p:cNvPr>
          <p:cNvSpPr>
            <a:spLocks noGrp="1"/>
          </p:cNvSpPr>
          <p:nvPr>
            <p:ph type="body" sz="quarter" idx="16"/>
          </p:nvPr>
        </p:nvSpPr>
        <p:spPr>
          <a:xfrm>
            <a:off x="2167377" y="6556917"/>
            <a:ext cx="9768906" cy="5575610"/>
          </a:xfrm>
        </p:spPr>
        <p:txBody>
          <a:bodyPr/>
          <a:lstStyle/>
          <a:p>
            <a:pPr algn="just"/>
            <a:r>
              <a:rPr lang="en-US" dirty="0"/>
              <a:t>Deployment of rogue or insecure VM -&gt; improper configuration of access controls</a:t>
            </a:r>
          </a:p>
          <a:p>
            <a:pPr algn="just"/>
            <a:endParaRPr lang="en-US" dirty="0"/>
          </a:p>
          <a:p>
            <a:pPr algn="just"/>
            <a:r>
              <a:rPr lang="en-US" dirty="0"/>
              <a:t>Presence of insecure and tampered VM images in the VM image repository</a:t>
            </a:r>
          </a:p>
        </p:txBody>
      </p:sp>
      <p:sp>
        <p:nvSpPr>
          <p:cNvPr id="17" name="Text Placeholder 5">
            <a:extLst>
              <a:ext uri="{FF2B5EF4-FFF2-40B4-BE49-F238E27FC236}">
                <a16:creationId xmlns:a16="http://schemas.microsoft.com/office/drawing/2014/main" id="{6AD8568A-0A14-6001-E011-EEE1EB79C8AB}"/>
              </a:ext>
            </a:extLst>
          </p:cNvPr>
          <p:cNvSpPr>
            <a:spLocks noGrp="1"/>
          </p:cNvSpPr>
          <p:nvPr>
            <p:ph type="body" sz="quarter" idx="17"/>
          </p:nvPr>
        </p:nvSpPr>
        <p:spPr>
          <a:xfrm>
            <a:off x="2166938" y="4210049"/>
            <a:ext cx="9768874" cy="2039112"/>
          </a:xfrm>
        </p:spPr>
        <p:txBody>
          <a:bodyPr>
            <a:normAutofit/>
          </a:bodyPr>
          <a:lstStyle/>
          <a:p>
            <a:pPr algn="just"/>
            <a:r>
              <a:rPr lang="en-US" dirty="0"/>
              <a:t>Not only hypervisor-based, threats also exists in VM</a:t>
            </a:r>
          </a:p>
        </p:txBody>
      </p:sp>
      <p:pic>
        <p:nvPicPr>
          <p:cNvPr id="6" name="Picture Placeholder 5">
            <a:extLst>
              <a:ext uri="{FF2B5EF4-FFF2-40B4-BE49-F238E27FC236}">
                <a16:creationId xmlns:a16="http://schemas.microsoft.com/office/drawing/2014/main" id="{56E4C350-5BA2-573A-1DFF-9AF8CDC8EB84}"/>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497" t="1886" r="1546" b="4704"/>
          <a:stretch>
            <a:fillRect/>
          </a:stretch>
        </p:blipFill>
        <p:spPr>
          <a:xfrm>
            <a:off x="13278677" y="4210049"/>
            <a:ext cx="10296939" cy="5748959"/>
          </a:xfrm>
          <a:prstGeom prst="rect">
            <a:avLst/>
          </a:prstGeom>
        </p:spPr>
      </p:pic>
    </p:spTree>
    <p:extLst>
      <p:ext uri="{BB962C8B-B14F-4D97-AF65-F5344CB8AC3E}">
        <p14:creationId xmlns:p14="http://schemas.microsoft.com/office/powerpoint/2010/main" val="176346309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B4C3-B758-F37F-891D-C99B68B411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EE852F-8F01-D0AF-CB6A-8AEBC0A0A1E3}"/>
              </a:ext>
            </a:extLst>
          </p:cNvPr>
          <p:cNvSpPr>
            <a:spLocks noGrp="1"/>
          </p:cNvSpPr>
          <p:nvPr>
            <p:ph type="title"/>
          </p:nvPr>
        </p:nvSpPr>
        <p:spPr/>
        <p:txBody>
          <a:bodyPr/>
          <a:lstStyle/>
          <a:p>
            <a:r>
              <a:rPr lang="en-US" dirty="0"/>
              <a:t>Security of Virtualization</a:t>
            </a:r>
          </a:p>
        </p:txBody>
      </p:sp>
    </p:spTree>
    <p:extLst>
      <p:ext uri="{BB962C8B-B14F-4D97-AF65-F5344CB8AC3E}">
        <p14:creationId xmlns:p14="http://schemas.microsoft.com/office/powerpoint/2010/main" val="48882962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603D6-8C78-2917-4BA3-7ADCBDC7D222}"/>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BAF4EF6-EB47-CE4F-387E-072E38EAD2D9}"/>
              </a:ext>
            </a:extLst>
          </p:cNvPr>
          <p:cNvSpPr>
            <a:spLocks noGrp="1"/>
          </p:cNvSpPr>
          <p:nvPr>
            <p:ph type="title"/>
          </p:nvPr>
        </p:nvSpPr>
        <p:spPr>
          <a:xfrm>
            <a:off x="2167377" y="1871164"/>
            <a:ext cx="14715569" cy="511175"/>
          </a:xfrm>
        </p:spPr>
        <p:txBody>
          <a:bodyPr>
            <a:normAutofit/>
          </a:bodyPr>
          <a:lstStyle/>
          <a:p>
            <a:r>
              <a:rPr lang="en-US" sz="3200"/>
              <a:t>Useful Implication of Virtualization</a:t>
            </a:r>
          </a:p>
        </p:txBody>
      </p:sp>
      <p:sp>
        <p:nvSpPr>
          <p:cNvPr id="25" name="Text Placeholder 2">
            <a:extLst>
              <a:ext uri="{FF2B5EF4-FFF2-40B4-BE49-F238E27FC236}">
                <a16:creationId xmlns:a16="http://schemas.microsoft.com/office/drawing/2014/main" id="{4ECD72E2-9E3E-C928-5B0E-1FFD9EE43F41}"/>
              </a:ext>
            </a:extLst>
          </p:cNvPr>
          <p:cNvSpPr>
            <a:spLocks noGrp="1"/>
          </p:cNvSpPr>
          <p:nvPr>
            <p:ph type="body" sz="quarter" idx="10"/>
          </p:nvPr>
        </p:nvSpPr>
        <p:spPr>
          <a:xfrm>
            <a:off x="2167377" y="2419728"/>
            <a:ext cx="9768875" cy="803546"/>
          </a:xfrm>
        </p:spPr>
        <p:txBody>
          <a:bodyPr/>
          <a:lstStyle/>
          <a:p>
            <a:endParaRPr lang="en-US"/>
          </a:p>
        </p:txBody>
      </p:sp>
      <p:sp>
        <p:nvSpPr>
          <p:cNvPr id="18" name="Text Placeholder 3">
            <a:extLst>
              <a:ext uri="{FF2B5EF4-FFF2-40B4-BE49-F238E27FC236}">
                <a16:creationId xmlns:a16="http://schemas.microsoft.com/office/drawing/2014/main" id="{6289E3AC-8645-ABA7-CE81-6F126EC554D9}"/>
              </a:ext>
            </a:extLst>
          </p:cNvPr>
          <p:cNvSpPr>
            <a:spLocks noGrp="1"/>
          </p:cNvSpPr>
          <p:nvPr>
            <p:ph type="body" sz="quarter" idx="16"/>
          </p:nvPr>
        </p:nvSpPr>
        <p:spPr>
          <a:xfrm>
            <a:off x="2167377" y="6556917"/>
            <a:ext cx="9768906" cy="5575610"/>
          </a:xfrm>
        </p:spPr>
        <p:txBody>
          <a:bodyPr>
            <a:normAutofit/>
          </a:bodyPr>
          <a:lstStyle/>
          <a:p>
            <a:pPr marL="457200" indent="-457200">
              <a:buAutoNum type="arabicPeriod"/>
            </a:pPr>
            <a:r>
              <a:rPr lang="en-US" dirty="0"/>
              <a:t>Supports the IaaS delivery model.</a:t>
            </a:r>
          </a:p>
          <a:p>
            <a:pPr marL="457200" indent="-457200">
              <a:buAutoNum type="arabicPeriod"/>
            </a:pPr>
            <a:r>
              <a:rPr lang="en-US" dirty="0"/>
              <a:t>Increased reliability. </a:t>
            </a:r>
          </a:p>
          <a:p>
            <a:pPr marL="457200" indent="-457200">
              <a:buAutoNum type="arabicPeriod"/>
            </a:pPr>
            <a:r>
              <a:rPr lang="en-US" dirty="0"/>
              <a:t>Straightforward mechanisms for implementing resource management policies.</a:t>
            </a:r>
          </a:p>
          <a:p>
            <a:pPr marL="457200" indent="-457200">
              <a:buAutoNum type="arabicPeriod"/>
            </a:pPr>
            <a:r>
              <a:rPr lang="en-US" dirty="0"/>
              <a:t>Improved intrusion detection.</a:t>
            </a:r>
          </a:p>
          <a:p>
            <a:pPr marL="457200" indent="-457200">
              <a:buAutoNum type="arabicPeriod"/>
            </a:pPr>
            <a:r>
              <a:rPr lang="en-US" dirty="0"/>
              <a:t>Secure logging and intrusion protection.</a:t>
            </a:r>
          </a:p>
          <a:p>
            <a:pPr marL="457200" indent="-457200">
              <a:buAutoNum type="arabicPeriod"/>
            </a:pPr>
            <a:r>
              <a:rPr lang="en-US" dirty="0"/>
              <a:t>More efficient and flexible software maintenance and testing.</a:t>
            </a:r>
          </a:p>
        </p:txBody>
      </p:sp>
      <p:pic>
        <p:nvPicPr>
          <p:cNvPr id="5" name="Content Placeholder 5">
            <a:extLst>
              <a:ext uri="{FF2B5EF4-FFF2-40B4-BE49-F238E27FC236}">
                <a16:creationId xmlns:a16="http://schemas.microsoft.com/office/drawing/2014/main" id="{66C5D403-BBB5-602A-5C43-6790BBAD9ECC}"/>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752" r="3964"/>
          <a:stretch>
            <a:fillRect/>
          </a:stretch>
        </p:blipFill>
        <p:spPr>
          <a:xfrm>
            <a:off x="12447719" y="5050983"/>
            <a:ext cx="10626206" cy="7081543"/>
          </a:xfrm>
          <a:prstGeom prst="rect">
            <a:avLst/>
          </a:prstGeom>
          <a:noFill/>
        </p:spPr>
      </p:pic>
      <p:sp>
        <p:nvSpPr>
          <p:cNvPr id="27" name="Text Placeholder 5">
            <a:extLst>
              <a:ext uri="{FF2B5EF4-FFF2-40B4-BE49-F238E27FC236}">
                <a16:creationId xmlns:a16="http://schemas.microsoft.com/office/drawing/2014/main" id="{B2CA481B-1A9F-CA86-EEEE-064BAA782F5B}"/>
              </a:ext>
            </a:extLst>
          </p:cNvPr>
          <p:cNvSpPr>
            <a:spLocks noGrp="1"/>
          </p:cNvSpPr>
          <p:nvPr>
            <p:ph type="body" sz="quarter" idx="17"/>
          </p:nvPr>
        </p:nvSpPr>
        <p:spPr>
          <a:xfrm>
            <a:off x="2166938" y="4210049"/>
            <a:ext cx="9768874" cy="2039112"/>
          </a:xfrm>
        </p:spPr>
        <p:txBody>
          <a:bodyPr/>
          <a:lstStyle/>
          <a:p>
            <a:endParaRPr lang="en-US"/>
          </a:p>
        </p:txBody>
      </p:sp>
      <p:sp>
        <p:nvSpPr>
          <p:cNvPr id="7" name="TextBox 6">
            <a:extLst>
              <a:ext uri="{FF2B5EF4-FFF2-40B4-BE49-F238E27FC236}">
                <a16:creationId xmlns:a16="http://schemas.microsoft.com/office/drawing/2014/main" id="{420F8202-7A82-B8E9-36BC-4B9C4769AEA0}"/>
              </a:ext>
            </a:extLst>
          </p:cNvPr>
          <p:cNvSpPr txBox="1"/>
          <p:nvPr/>
        </p:nvSpPr>
        <p:spPr>
          <a:xfrm>
            <a:off x="19035529" y="11883741"/>
            <a:ext cx="2402902" cy="287258"/>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r">
              <a:spcAft>
                <a:spcPts val="600"/>
              </a:spcAft>
            </a:pPr>
            <a:r>
              <a:rPr lang="en-US" sz="700">
                <a:solidFill>
                  <a:srgbClr val="FFFFFF"/>
                </a:solidFill>
                <a:hlinkClick r:id="rId3" tooltip="https://itpoonamsharma.wordpress.com/2016/12/">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endParaRPr>
          </a:p>
        </p:txBody>
      </p:sp>
    </p:spTree>
    <p:extLst>
      <p:ext uri="{BB962C8B-B14F-4D97-AF65-F5344CB8AC3E}">
        <p14:creationId xmlns:p14="http://schemas.microsoft.com/office/powerpoint/2010/main" val="249847757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7775E-3B98-C831-A645-4BE524D50539}"/>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562D7075-84F6-7FB6-6347-1EE6F65A1758}"/>
              </a:ext>
            </a:extLst>
          </p:cNvPr>
          <p:cNvSpPr>
            <a:spLocks noGrp="1"/>
          </p:cNvSpPr>
          <p:nvPr>
            <p:ph type="title"/>
          </p:nvPr>
        </p:nvSpPr>
        <p:spPr>
          <a:xfrm>
            <a:off x="2167377" y="1871164"/>
            <a:ext cx="14715569" cy="511175"/>
          </a:xfrm>
        </p:spPr>
        <p:txBody>
          <a:bodyPr>
            <a:normAutofit/>
          </a:bodyPr>
          <a:lstStyle/>
          <a:p>
            <a:r>
              <a:rPr lang="en-US" sz="3200" dirty="0"/>
              <a:t>Undesirable Effects of Virtualization</a:t>
            </a:r>
          </a:p>
        </p:txBody>
      </p:sp>
      <p:sp>
        <p:nvSpPr>
          <p:cNvPr id="25" name="Text Placeholder 2">
            <a:extLst>
              <a:ext uri="{FF2B5EF4-FFF2-40B4-BE49-F238E27FC236}">
                <a16:creationId xmlns:a16="http://schemas.microsoft.com/office/drawing/2014/main" id="{FFE6FA32-1A2E-6CA7-8000-91F0E2E3A698}"/>
              </a:ext>
            </a:extLst>
          </p:cNvPr>
          <p:cNvSpPr>
            <a:spLocks noGrp="1"/>
          </p:cNvSpPr>
          <p:nvPr>
            <p:ph type="body" sz="quarter" idx="10"/>
          </p:nvPr>
        </p:nvSpPr>
        <p:spPr>
          <a:xfrm>
            <a:off x="2167377" y="2419728"/>
            <a:ext cx="9768875" cy="803546"/>
          </a:xfrm>
        </p:spPr>
        <p:txBody>
          <a:bodyPr/>
          <a:lstStyle/>
          <a:p>
            <a:endParaRPr lang="en-US"/>
          </a:p>
        </p:txBody>
      </p:sp>
      <p:sp>
        <p:nvSpPr>
          <p:cNvPr id="18" name="Text Placeholder 3">
            <a:extLst>
              <a:ext uri="{FF2B5EF4-FFF2-40B4-BE49-F238E27FC236}">
                <a16:creationId xmlns:a16="http://schemas.microsoft.com/office/drawing/2014/main" id="{4EF8DE37-CD1A-CC40-E080-4F434D97EA65}"/>
              </a:ext>
            </a:extLst>
          </p:cNvPr>
          <p:cNvSpPr>
            <a:spLocks noGrp="1"/>
          </p:cNvSpPr>
          <p:nvPr>
            <p:ph type="body" sz="quarter" idx="16"/>
          </p:nvPr>
        </p:nvSpPr>
        <p:spPr>
          <a:xfrm>
            <a:off x="2167377" y="6556917"/>
            <a:ext cx="9768906" cy="5575610"/>
          </a:xfrm>
        </p:spPr>
        <p:txBody>
          <a:bodyPr>
            <a:normAutofit/>
          </a:bodyPr>
          <a:lstStyle/>
          <a:p>
            <a:pPr marL="514350" indent="-514350">
              <a:buFont typeface="+mj-lt"/>
              <a:buAutoNum type="arabicPeriod"/>
            </a:pPr>
            <a:r>
              <a:rPr lang="en-US" dirty="0"/>
              <a:t>The number of physical systems in the inventory of an organization is limited by cost, space, energy consumption, and human support.</a:t>
            </a:r>
          </a:p>
          <a:p>
            <a:pPr marL="514350" indent="-514350">
              <a:buFont typeface="+mj-lt"/>
              <a:buAutoNum type="arabicPeriod"/>
            </a:pPr>
            <a:r>
              <a:rPr lang="en-US" dirty="0"/>
              <a:t>In addition to a quantity, there is also a qualitative side to the explosion of the number of VMs. </a:t>
            </a:r>
          </a:p>
          <a:p>
            <a:pPr marL="514350" indent="-514350">
              <a:buFont typeface="+mj-lt"/>
              <a:buAutoNum type="arabicPeriod"/>
            </a:pPr>
            <a:r>
              <a:rPr lang="en-US" dirty="0"/>
              <a:t>One of the most critical problems posed by virtualization is related to the software lifecycle.</a:t>
            </a:r>
          </a:p>
        </p:txBody>
      </p:sp>
      <p:pic>
        <p:nvPicPr>
          <p:cNvPr id="5" name="Content Placeholder 5">
            <a:extLst>
              <a:ext uri="{FF2B5EF4-FFF2-40B4-BE49-F238E27FC236}">
                <a16:creationId xmlns:a16="http://schemas.microsoft.com/office/drawing/2014/main" id="{00E802C0-088E-250F-E924-1868641365FA}"/>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3752" r="3964"/>
          <a:stretch>
            <a:fillRect/>
          </a:stretch>
        </p:blipFill>
        <p:spPr>
          <a:xfrm>
            <a:off x="12447719" y="5050983"/>
            <a:ext cx="10626206" cy="7081543"/>
          </a:xfrm>
          <a:prstGeom prst="rect">
            <a:avLst/>
          </a:prstGeom>
          <a:noFill/>
        </p:spPr>
      </p:pic>
      <p:sp>
        <p:nvSpPr>
          <p:cNvPr id="27" name="Text Placeholder 5">
            <a:extLst>
              <a:ext uri="{FF2B5EF4-FFF2-40B4-BE49-F238E27FC236}">
                <a16:creationId xmlns:a16="http://schemas.microsoft.com/office/drawing/2014/main" id="{5C8C3AF9-2CA7-093D-564B-D58311B73321}"/>
              </a:ext>
            </a:extLst>
          </p:cNvPr>
          <p:cNvSpPr>
            <a:spLocks noGrp="1"/>
          </p:cNvSpPr>
          <p:nvPr>
            <p:ph type="body" sz="quarter" idx="17"/>
          </p:nvPr>
        </p:nvSpPr>
        <p:spPr>
          <a:xfrm>
            <a:off x="2166938" y="4210049"/>
            <a:ext cx="9768874" cy="2039112"/>
          </a:xfrm>
        </p:spPr>
        <p:txBody>
          <a:bodyPr/>
          <a:lstStyle/>
          <a:p>
            <a:endParaRPr lang="en-US"/>
          </a:p>
        </p:txBody>
      </p:sp>
      <p:sp>
        <p:nvSpPr>
          <p:cNvPr id="7" name="TextBox 6">
            <a:extLst>
              <a:ext uri="{FF2B5EF4-FFF2-40B4-BE49-F238E27FC236}">
                <a16:creationId xmlns:a16="http://schemas.microsoft.com/office/drawing/2014/main" id="{05AA092D-E2BF-6E2E-F6F0-1A80AF43BE7F}"/>
              </a:ext>
            </a:extLst>
          </p:cNvPr>
          <p:cNvSpPr txBox="1"/>
          <p:nvPr/>
        </p:nvSpPr>
        <p:spPr>
          <a:xfrm>
            <a:off x="19035529" y="11883741"/>
            <a:ext cx="2402902" cy="287258"/>
          </a:xfrm>
          <a:prstGeom prst="rect">
            <a:avLst/>
          </a:prstGeom>
          <a:solidFill>
            <a:srgbClr val="00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r">
              <a:spcAft>
                <a:spcPts val="600"/>
              </a:spcAft>
            </a:pPr>
            <a:r>
              <a:rPr lang="en-US" sz="700">
                <a:solidFill>
                  <a:srgbClr val="FFFFFF"/>
                </a:solidFill>
                <a:hlinkClick r:id="rId3" tooltip="https://itpoonamsharma.wordpress.com/2016/12/">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tooltip="https://creativecommons.org/licenses/by/3.0/">
                  <a:extLst>
                    <a:ext uri="{A12FA001-AC4F-418D-AE19-62706E023703}">
                      <ahyp:hlinkClr xmlns:ahyp="http://schemas.microsoft.com/office/drawing/2018/hyperlinkcolor" val="tx"/>
                    </a:ext>
                  </a:extLst>
                </a:hlinkClick>
              </a:rPr>
              <a:t>CC BY</a:t>
            </a:r>
            <a:endParaRPr lang="en-US" sz="700">
              <a:solidFill>
                <a:srgbClr val="FFFFFF"/>
              </a:solidFill>
            </a:endParaRPr>
          </a:p>
        </p:txBody>
      </p:sp>
    </p:spTree>
    <p:extLst>
      <p:ext uri="{BB962C8B-B14F-4D97-AF65-F5344CB8AC3E}">
        <p14:creationId xmlns:p14="http://schemas.microsoft.com/office/powerpoint/2010/main" val="417466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254AF-8B2D-30B1-3B0B-40EF72CD6B07}"/>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372E4012-450F-FB44-3559-097E7AD7A5A7}"/>
              </a:ext>
            </a:extLst>
          </p:cNvPr>
          <p:cNvSpPr>
            <a:spLocks noGrp="1"/>
          </p:cNvSpPr>
          <p:nvPr>
            <p:ph type="title"/>
          </p:nvPr>
        </p:nvSpPr>
        <p:spPr>
          <a:xfrm>
            <a:off x="2167377" y="1871164"/>
            <a:ext cx="14715569" cy="511175"/>
          </a:xfrm>
        </p:spPr>
        <p:txBody>
          <a:bodyPr>
            <a:normAutofit fontScale="90000"/>
          </a:bodyPr>
          <a:lstStyle/>
          <a:p>
            <a:r>
              <a:rPr lang="en-US" dirty="0"/>
              <a:t>Evolution of a cluster management system</a:t>
            </a:r>
          </a:p>
        </p:txBody>
      </p:sp>
      <p:sp>
        <p:nvSpPr>
          <p:cNvPr id="16" name="Text Placeholder 2">
            <a:extLst>
              <a:ext uri="{FF2B5EF4-FFF2-40B4-BE49-F238E27FC236}">
                <a16:creationId xmlns:a16="http://schemas.microsoft.com/office/drawing/2014/main" id="{1B2F4148-56DC-833E-3AFF-1A8FA4800BF9}"/>
              </a:ext>
            </a:extLst>
          </p:cNvPr>
          <p:cNvSpPr>
            <a:spLocks noGrp="1"/>
          </p:cNvSpPr>
          <p:nvPr>
            <p:ph type="body" sz="quarter" idx="10"/>
          </p:nvPr>
        </p:nvSpPr>
        <p:spPr>
          <a:xfrm>
            <a:off x="2167377" y="2419728"/>
            <a:ext cx="9768875" cy="803546"/>
          </a:xfrm>
        </p:spPr>
        <p:txBody>
          <a:bodyPr/>
          <a:lstStyle/>
          <a:p>
            <a:r>
              <a:rPr lang="en-US" dirty="0"/>
              <a:t>Study case from google</a:t>
            </a:r>
          </a:p>
          <a:p>
            <a:endParaRPr lang="en-US" dirty="0"/>
          </a:p>
        </p:txBody>
      </p:sp>
      <p:pic>
        <p:nvPicPr>
          <p:cNvPr id="5" name="Content Placeholder 5">
            <a:extLst>
              <a:ext uri="{FF2B5EF4-FFF2-40B4-BE49-F238E27FC236}">
                <a16:creationId xmlns:a16="http://schemas.microsoft.com/office/drawing/2014/main" id="{AF105630-C700-3FB5-6260-44901A89673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4" t="-1" r="-4" b="-301"/>
          <a:stretch>
            <a:fillRect/>
          </a:stretch>
        </p:blipFill>
        <p:spPr>
          <a:xfrm>
            <a:off x="12876180" y="3542665"/>
            <a:ext cx="10982527" cy="9248972"/>
          </a:xfrm>
          <a:prstGeom prst="rect">
            <a:avLst/>
          </a:prstGeom>
          <a:noFill/>
        </p:spPr>
      </p:pic>
      <p:sp>
        <p:nvSpPr>
          <p:cNvPr id="20" name="Text Placeholder 5">
            <a:extLst>
              <a:ext uri="{FF2B5EF4-FFF2-40B4-BE49-F238E27FC236}">
                <a16:creationId xmlns:a16="http://schemas.microsoft.com/office/drawing/2014/main" id="{64B10EC7-EC7D-FF75-17D0-120A0C8845D7}"/>
              </a:ext>
            </a:extLst>
          </p:cNvPr>
          <p:cNvSpPr>
            <a:spLocks noGrp="1"/>
          </p:cNvSpPr>
          <p:nvPr>
            <p:ph type="body" sz="quarter" idx="17"/>
          </p:nvPr>
        </p:nvSpPr>
        <p:spPr>
          <a:xfrm>
            <a:off x="2166938" y="4210049"/>
            <a:ext cx="9768874" cy="2039112"/>
          </a:xfrm>
        </p:spPr>
        <p:txBody>
          <a:bodyPr>
            <a:normAutofit fontScale="77500" lnSpcReduction="20000"/>
          </a:bodyPr>
          <a:lstStyle/>
          <a:p>
            <a:r>
              <a:rPr lang="en-US" dirty="0"/>
              <a:t>The 2019 scheduler is more agile and has to work harder, the number of jobs to be scheduled is seven times higher, and most of the workload has moved into the high-priority best-effort batch tier. </a:t>
            </a:r>
          </a:p>
        </p:txBody>
      </p:sp>
      <p:sp>
        <p:nvSpPr>
          <p:cNvPr id="18" name="Text Placeholder 3">
            <a:extLst>
              <a:ext uri="{FF2B5EF4-FFF2-40B4-BE49-F238E27FC236}">
                <a16:creationId xmlns:a16="http://schemas.microsoft.com/office/drawing/2014/main" id="{4AE237D6-FB17-0278-65E3-8488DF269029}"/>
              </a:ext>
            </a:extLst>
          </p:cNvPr>
          <p:cNvSpPr>
            <a:spLocks noGrp="1"/>
          </p:cNvSpPr>
          <p:nvPr>
            <p:ph type="body" sz="quarter" idx="16"/>
          </p:nvPr>
        </p:nvSpPr>
        <p:spPr>
          <a:xfrm>
            <a:off x="2167377" y="6556917"/>
            <a:ext cx="9768906" cy="5575610"/>
          </a:xfrm>
        </p:spPr>
        <p:txBody>
          <a:bodyPr/>
          <a:lstStyle/>
          <a:p>
            <a:r>
              <a:rPr lang="en-US" dirty="0"/>
              <a:t>The heavy-tailed distribution of job sizes and the power law Pareto distribution with heavy tail of computing cycles and memory add to the scheduling challenges of 2019 Borg. </a:t>
            </a:r>
          </a:p>
          <a:p>
            <a:r>
              <a:rPr lang="en-US" dirty="0"/>
              <a:t>Significantly improved scheduling decisions led to an increase of both average CPU and memory utilization: 20–40% for CPU and 3–30% for memory. </a:t>
            </a:r>
          </a:p>
          <a:p>
            <a:r>
              <a:rPr lang="en-US" dirty="0"/>
              <a:t>The utilization variance is lower, and there were fewer servers with utilization larger than 80%. Median scheduling delays decreased, but the tail is longer for the last 28% of jobs.</a:t>
            </a:r>
          </a:p>
        </p:txBody>
      </p:sp>
    </p:spTree>
    <p:extLst>
      <p:ext uri="{BB962C8B-B14F-4D97-AF65-F5344CB8AC3E}">
        <p14:creationId xmlns:p14="http://schemas.microsoft.com/office/powerpoint/2010/main" val="370091777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81CE4-43C5-B077-CF43-BFE89E52DF16}"/>
              </a:ext>
            </a:extLst>
          </p:cNvPr>
          <p:cNvSpPr>
            <a:spLocks noGrp="1"/>
          </p:cNvSpPr>
          <p:nvPr>
            <p:ph type="title"/>
          </p:nvPr>
        </p:nvSpPr>
        <p:spPr/>
        <p:txBody>
          <a:bodyPr>
            <a:normAutofit fontScale="90000"/>
          </a:bodyPr>
          <a:lstStyle/>
          <a:p>
            <a:r>
              <a:rPr lang="en-US" dirty="0"/>
              <a:t>Vulnerability Caused by Events Recorded in The Memory</a:t>
            </a:r>
          </a:p>
        </p:txBody>
      </p:sp>
      <p:sp>
        <p:nvSpPr>
          <p:cNvPr id="6" name="Text Placeholder 5">
            <a:extLst>
              <a:ext uri="{FF2B5EF4-FFF2-40B4-BE49-F238E27FC236}">
                <a16:creationId xmlns:a16="http://schemas.microsoft.com/office/drawing/2014/main" id="{93345155-75FE-7A6A-0473-F80C982BC4DC}"/>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D82090C5-8CD1-6707-1A43-9D755A9EE876}"/>
              </a:ext>
            </a:extLst>
          </p:cNvPr>
          <p:cNvSpPr>
            <a:spLocks noGrp="1"/>
          </p:cNvSpPr>
          <p:nvPr>
            <p:ph sz="quarter" idx="11"/>
          </p:nvPr>
        </p:nvSpPr>
        <p:spPr/>
        <p:txBody>
          <a:bodyPr>
            <a:normAutofit fontScale="85000" lnSpcReduction="20000"/>
          </a:bodyPr>
          <a:lstStyle/>
          <a:p>
            <a:r>
              <a:rPr lang="en-US" dirty="0"/>
              <a:t>The first is that one-time passwords are transmitted in the clear, and the protection is guaranteed only if the attacker does not have the possibility to access passwords used in previous sessions. An attacker can replay rolled-back versions and access past sniffed passwords if a system runs the S/KEY password system. </a:t>
            </a:r>
          </a:p>
          <a:p>
            <a:r>
              <a:rPr lang="en-US" dirty="0"/>
              <a:t>The second is related to the requirement of some cryptographic protocols and even noncryptographic protocols regarding the “freshness” of the random number source used for session keys and nonces. This occurs when a VM is rolled back to a state when a random number has been generated but not yet used.</a:t>
            </a:r>
          </a:p>
          <a:p>
            <a:r>
              <a:rPr lang="en-US" dirty="0"/>
              <a:t>Another undesirable effect of virtual environment affects trust. Trust is conditioned by the ability to guarantee the identity of entities involved. Each computer system in a network has a unique physical, or MAC address. The uniqueness of the MAC address guarantees that an infected or a malicious system can be identified and then shut down, or denied network access.</a:t>
            </a:r>
          </a:p>
        </p:txBody>
      </p:sp>
      <p:sp>
        <p:nvSpPr>
          <p:cNvPr id="4" name="Slide Number Placeholder 3">
            <a:extLst>
              <a:ext uri="{FF2B5EF4-FFF2-40B4-BE49-F238E27FC236}">
                <a16:creationId xmlns:a16="http://schemas.microsoft.com/office/drawing/2014/main" id="{7E1492D6-D3B4-A5E8-A453-879C0BF716AE}"/>
              </a:ext>
            </a:extLst>
          </p:cNvPr>
          <p:cNvSpPr>
            <a:spLocks noGrp="1"/>
          </p:cNvSpPr>
          <p:nvPr>
            <p:ph type="sldNum" sz="quarter" idx="4294967295"/>
          </p:nvPr>
        </p:nvSpPr>
        <p:spPr>
          <a:xfrm>
            <a:off x="18694400" y="12906375"/>
            <a:ext cx="5689600" cy="730250"/>
          </a:xfrm>
        </p:spPr>
        <p:txBody>
          <a:bodyPr/>
          <a:lstStyle/>
          <a:p>
            <a:pPr>
              <a:defRPr/>
            </a:pPr>
            <a:fld id="{21EF0E02-90DE-4DDF-8E9F-438205EAE6E1}" type="slidenum">
              <a:rPr lang="en-US" smtClean="0"/>
              <a:pPr>
                <a:defRPr/>
              </a:pPr>
              <a:t>24</a:t>
            </a:fld>
            <a:endParaRPr lang="en-US"/>
          </a:p>
        </p:txBody>
      </p:sp>
    </p:spTree>
    <p:extLst>
      <p:ext uri="{BB962C8B-B14F-4D97-AF65-F5344CB8AC3E}">
        <p14:creationId xmlns:p14="http://schemas.microsoft.com/office/powerpoint/2010/main" val="56349670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8B7BB-26BA-CA24-B035-709FF09059B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61F93C0-9E23-576A-A7B3-427CD034842A}"/>
              </a:ext>
            </a:extLst>
          </p:cNvPr>
          <p:cNvSpPr>
            <a:spLocks noGrp="1"/>
          </p:cNvSpPr>
          <p:nvPr>
            <p:ph type="title"/>
          </p:nvPr>
        </p:nvSpPr>
        <p:spPr/>
        <p:txBody>
          <a:bodyPr/>
          <a:lstStyle/>
          <a:p>
            <a:r>
              <a:rPr lang="en-US" dirty="0"/>
              <a:t>Cloud security: AWS Security</a:t>
            </a:r>
          </a:p>
        </p:txBody>
      </p:sp>
    </p:spTree>
    <p:extLst>
      <p:ext uri="{BB962C8B-B14F-4D97-AF65-F5344CB8AC3E}">
        <p14:creationId xmlns:p14="http://schemas.microsoft.com/office/powerpoint/2010/main" val="121144216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96F4D-6EDA-BEBA-9BD4-9E218B4C03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0C9C6-D4E8-71F7-01B8-3AAD026D3E82}"/>
              </a:ext>
            </a:extLst>
          </p:cNvPr>
          <p:cNvSpPr>
            <a:spLocks noGrp="1"/>
          </p:cNvSpPr>
          <p:nvPr>
            <p:ph type="title"/>
          </p:nvPr>
        </p:nvSpPr>
        <p:spPr/>
        <p:txBody>
          <a:bodyPr>
            <a:normAutofit fontScale="90000"/>
          </a:bodyPr>
          <a:lstStyle/>
          <a:p>
            <a:r>
              <a:rPr lang="en-US" dirty="0"/>
              <a:t>AWS Security tools</a:t>
            </a:r>
          </a:p>
        </p:txBody>
      </p:sp>
      <p:sp>
        <p:nvSpPr>
          <p:cNvPr id="6" name="Text Placeholder 5">
            <a:extLst>
              <a:ext uri="{FF2B5EF4-FFF2-40B4-BE49-F238E27FC236}">
                <a16:creationId xmlns:a16="http://schemas.microsoft.com/office/drawing/2014/main" id="{FC686F9B-4E91-2A95-689A-2D19C94BA985}"/>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C1149C49-2F26-D7D5-3E87-4D13D83315A9}"/>
              </a:ext>
            </a:extLst>
          </p:cNvPr>
          <p:cNvSpPr>
            <a:spLocks noGrp="1"/>
          </p:cNvSpPr>
          <p:nvPr>
            <p:ph sz="quarter" idx="11"/>
          </p:nvPr>
        </p:nvSpPr>
        <p:spPr>
          <a:xfrm>
            <a:off x="3425952" y="4976623"/>
            <a:ext cx="17532096" cy="5961840"/>
          </a:xfrm>
        </p:spPr>
        <p:txBody>
          <a:bodyPr>
            <a:normAutofit/>
          </a:bodyPr>
          <a:lstStyle/>
          <a:p>
            <a:pPr algn="just"/>
            <a:r>
              <a:rPr lang="en-US" b="1" dirty="0"/>
              <a:t>CloudTrail</a:t>
            </a:r>
            <a:r>
              <a:rPr lang="en-US" dirty="0"/>
              <a:t> is a service that enables governance, compliance, operational auditing, and risk auditing of an AWS account. The event history, including Management Console activity, AWS SDK (Software Development Kit), and all AWS services invoked, simplifies security analysis, resource change tracking, and troubleshooting.</a:t>
            </a:r>
          </a:p>
          <a:p>
            <a:pPr algn="just"/>
            <a:r>
              <a:rPr lang="en-US" b="1" dirty="0"/>
              <a:t>The Inspector (IS)</a:t>
            </a:r>
            <a:r>
              <a:rPr lang="en-US" dirty="0"/>
              <a:t> is an automated security assessment service; it assesses applications for exposure, vulnerabilities, and deviations from best practices. After performing an assessment, IS produces a detailed list of security findings prioritized by level of severity and checks for unintended network accessibility of EC2 instances and for vulnerabilities on those EC2 instances.</a:t>
            </a:r>
          </a:p>
          <a:p>
            <a:pPr algn="just"/>
            <a:r>
              <a:rPr lang="en-US" b="1" dirty="0"/>
              <a:t>Web Application Firewall (WAF)</a:t>
            </a:r>
            <a:r>
              <a:rPr lang="en-US" dirty="0"/>
              <a:t> protects web applications or APIs against common web exploits and bots that may compromise security, consume excessive resources, or affect availability. WAF provides control over the traffic generated by applications and blocks attack patterns, such as SQL injection13 or cross-site scripting (XSS).</a:t>
            </a:r>
          </a:p>
        </p:txBody>
      </p:sp>
      <p:sp>
        <p:nvSpPr>
          <p:cNvPr id="4" name="Slide Number Placeholder 3">
            <a:extLst>
              <a:ext uri="{FF2B5EF4-FFF2-40B4-BE49-F238E27FC236}">
                <a16:creationId xmlns:a16="http://schemas.microsoft.com/office/drawing/2014/main" id="{B12918CA-5106-239A-AB21-355696C91167}"/>
              </a:ext>
            </a:extLst>
          </p:cNvPr>
          <p:cNvSpPr>
            <a:spLocks noGrp="1"/>
          </p:cNvSpPr>
          <p:nvPr>
            <p:ph type="sldNum" sz="quarter" idx="4294967295"/>
          </p:nvPr>
        </p:nvSpPr>
        <p:spPr>
          <a:xfrm>
            <a:off x="18694400" y="12906375"/>
            <a:ext cx="5689600" cy="730250"/>
          </a:xfrm>
        </p:spPr>
        <p:txBody>
          <a:bodyPr/>
          <a:lstStyle/>
          <a:p>
            <a:pPr>
              <a:defRPr/>
            </a:pPr>
            <a:fld id="{21EF0E02-90DE-4DDF-8E9F-438205EAE6E1}" type="slidenum">
              <a:rPr lang="en-US" smtClean="0"/>
              <a:pPr>
                <a:defRPr/>
              </a:pPr>
              <a:t>26</a:t>
            </a:fld>
            <a:endParaRPr lang="en-US"/>
          </a:p>
        </p:txBody>
      </p:sp>
    </p:spTree>
    <p:extLst>
      <p:ext uri="{BB962C8B-B14F-4D97-AF65-F5344CB8AC3E}">
        <p14:creationId xmlns:p14="http://schemas.microsoft.com/office/powerpoint/2010/main" val="54060141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E5E59-DE2E-E2E6-DEBC-B909E9CCC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2B677-E075-7A4A-31CA-72ED2EE6B656}"/>
              </a:ext>
            </a:extLst>
          </p:cNvPr>
          <p:cNvSpPr>
            <a:spLocks noGrp="1"/>
          </p:cNvSpPr>
          <p:nvPr>
            <p:ph type="title"/>
          </p:nvPr>
        </p:nvSpPr>
        <p:spPr/>
        <p:txBody>
          <a:bodyPr>
            <a:normAutofit fontScale="90000"/>
          </a:bodyPr>
          <a:lstStyle/>
          <a:p>
            <a:r>
              <a:rPr lang="en-US" dirty="0"/>
              <a:t>AWS Security tools</a:t>
            </a:r>
          </a:p>
        </p:txBody>
      </p:sp>
      <p:sp>
        <p:nvSpPr>
          <p:cNvPr id="6" name="Text Placeholder 5">
            <a:extLst>
              <a:ext uri="{FF2B5EF4-FFF2-40B4-BE49-F238E27FC236}">
                <a16:creationId xmlns:a16="http://schemas.microsoft.com/office/drawing/2014/main" id="{D4E4B674-5D81-7738-BE55-940B4C47BBBC}"/>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AFABC253-8AB1-230D-E781-6BC204BCED1B}"/>
              </a:ext>
            </a:extLst>
          </p:cNvPr>
          <p:cNvSpPr>
            <a:spLocks noGrp="1"/>
          </p:cNvSpPr>
          <p:nvPr>
            <p:ph sz="quarter" idx="11"/>
          </p:nvPr>
        </p:nvSpPr>
        <p:spPr>
          <a:xfrm>
            <a:off x="3425952" y="4976623"/>
            <a:ext cx="17532096" cy="5961840"/>
          </a:xfrm>
        </p:spPr>
        <p:txBody>
          <a:bodyPr>
            <a:normAutofit/>
          </a:bodyPr>
          <a:lstStyle/>
          <a:p>
            <a:pPr algn="just"/>
            <a:r>
              <a:rPr lang="en-US" b="1" dirty="0"/>
              <a:t>Cognito</a:t>
            </a:r>
            <a:r>
              <a:rPr lang="en-US" dirty="0"/>
              <a:t> is used for identity management. It can detect brute-force authentication and fraudulent login attempts. Cognito User Pools supports identity and access management standards, such as </a:t>
            </a:r>
            <a:r>
              <a:rPr lang="en-US" dirty="0" err="1"/>
              <a:t>Oauth</a:t>
            </a:r>
            <a:r>
              <a:rPr lang="en-US" dirty="0"/>
              <a:t> 2.0, SAML 2.0, and OpenID Connect.</a:t>
            </a:r>
          </a:p>
          <a:p>
            <a:pPr algn="just"/>
            <a:r>
              <a:rPr lang="en-US" b="1" dirty="0" err="1"/>
              <a:t>CloudHSM</a:t>
            </a:r>
            <a:r>
              <a:rPr lang="en-US" dirty="0"/>
              <a:t> helps generate encryption keys using managed hardware security modules. An AWS user can configure the Key Management Service (KMS) to use </a:t>
            </a:r>
            <a:r>
              <a:rPr lang="en-US" dirty="0" err="1"/>
              <a:t>CloudHSM</a:t>
            </a:r>
            <a:r>
              <a:rPr lang="en-US" dirty="0"/>
              <a:t> cluster as a custom key store, rather than the default KMS key store. It automatically load balances requests and securely duplicates keys stored in any HSM to all of the other HSMs in a cluster.</a:t>
            </a:r>
          </a:p>
          <a:p>
            <a:pPr algn="just"/>
            <a:r>
              <a:rPr lang="en-US" b="1" dirty="0"/>
              <a:t>CloudFront</a:t>
            </a:r>
            <a:r>
              <a:rPr lang="en-US" dirty="0"/>
              <a:t> is a content delivery network. It protects applications from DDoS attacks and transfers data securely at high speeds. It offers security capabilities, such as field level encryption and HTTPS support, seamlessly integrated with Shield, WAF, and Route 53 to protect against multiple types of attacks including network and application layer DDoS (Distributed Denial of Service) attacks.</a:t>
            </a:r>
          </a:p>
        </p:txBody>
      </p:sp>
      <p:sp>
        <p:nvSpPr>
          <p:cNvPr id="4" name="Slide Number Placeholder 3">
            <a:extLst>
              <a:ext uri="{FF2B5EF4-FFF2-40B4-BE49-F238E27FC236}">
                <a16:creationId xmlns:a16="http://schemas.microsoft.com/office/drawing/2014/main" id="{5FBEFA69-D6F7-52BB-93C7-8B339D413E24}"/>
              </a:ext>
            </a:extLst>
          </p:cNvPr>
          <p:cNvSpPr>
            <a:spLocks noGrp="1"/>
          </p:cNvSpPr>
          <p:nvPr>
            <p:ph type="sldNum" sz="quarter" idx="4294967295"/>
          </p:nvPr>
        </p:nvSpPr>
        <p:spPr>
          <a:xfrm>
            <a:off x="18694400" y="12906375"/>
            <a:ext cx="5689600" cy="730250"/>
          </a:xfrm>
        </p:spPr>
        <p:txBody>
          <a:bodyPr/>
          <a:lstStyle/>
          <a:p>
            <a:pPr>
              <a:defRPr/>
            </a:pPr>
            <a:fld id="{21EF0E02-90DE-4DDF-8E9F-438205EAE6E1}" type="slidenum">
              <a:rPr lang="en-US" smtClean="0"/>
              <a:pPr>
                <a:defRPr/>
              </a:pPr>
              <a:t>27</a:t>
            </a:fld>
            <a:endParaRPr lang="en-US"/>
          </a:p>
        </p:txBody>
      </p:sp>
    </p:spTree>
    <p:extLst>
      <p:ext uri="{BB962C8B-B14F-4D97-AF65-F5344CB8AC3E}">
        <p14:creationId xmlns:p14="http://schemas.microsoft.com/office/powerpoint/2010/main" val="1942177048"/>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B337-7A9A-4551-B33B-8FBA45F23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073ECE-B813-02E4-E7D6-E93AA691F109}"/>
              </a:ext>
            </a:extLst>
          </p:cNvPr>
          <p:cNvSpPr>
            <a:spLocks noGrp="1"/>
          </p:cNvSpPr>
          <p:nvPr>
            <p:ph type="title"/>
          </p:nvPr>
        </p:nvSpPr>
        <p:spPr/>
        <p:txBody>
          <a:bodyPr>
            <a:normAutofit fontScale="90000"/>
          </a:bodyPr>
          <a:lstStyle/>
          <a:p>
            <a:r>
              <a:rPr lang="en-US" dirty="0"/>
              <a:t>The Most Consequential Aspects of AWS Security</a:t>
            </a:r>
          </a:p>
        </p:txBody>
      </p:sp>
      <p:sp>
        <p:nvSpPr>
          <p:cNvPr id="6" name="Text Placeholder 5">
            <a:extLst>
              <a:ext uri="{FF2B5EF4-FFF2-40B4-BE49-F238E27FC236}">
                <a16:creationId xmlns:a16="http://schemas.microsoft.com/office/drawing/2014/main" id="{F7712058-43AF-A8AD-9E79-14FCC2066F62}"/>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321F3AFF-1C61-D9BD-FC0B-2290E6FE26D7}"/>
              </a:ext>
            </a:extLst>
          </p:cNvPr>
          <p:cNvSpPr>
            <a:spLocks noGrp="1"/>
          </p:cNvSpPr>
          <p:nvPr>
            <p:ph sz="quarter" idx="11"/>
          </p:nvPr>
        </p:nvSpPr>
        <p:spPr>
          <a:xfrm>
            <a:off x="3425952" y="4976623"/>
            <a:ext cx="17532096" cy="5961840"/>
          </a:xfrm>
        </p:spPr>
        <p:txBody>
          <a:bodyPr>
            <a:normAutofit/>
          </a:bodyPr>
          <a:lstStyle/>
          <a:p>
            <a:pPr algn="just"/>
            <a:r>
              <a:rPr lang="en-US" dirty="0"/>
              <a:t> Fine-grain identity, access controls, and continuous monitoring for near real-time security information.</a:t>
            </a:r>
          </a:p>
          <a:p>
            <a:pPr algn="just"/>
            <a:r>
              <a:rPr lang="en-US" dirty="0"/>
              <a:t>Automation to reduce human configuration errors.</a:t>
            </a:r>
          </a:p>
          <a:p>
            <a:pPr algn="just"/>
            <a:r>
              <a:rPr lang="en-US" dirty="0"/>
              <a:t>Extended use of encryption. Data flowing across the AWS global network is automatically encrypted at the physical layer before leaving a secured facilities.</a:t>
            </a:r>
          </a:p>
          <a:p>
            <a:pPr algn="just"/>
            <a:r>
              <a:rPr lang="en-US" dirty="0"/>
              <a:t>The added level of competence provided by a global program of Technology and Consulting Partners specialized in security—the AWS Partner Network.</a:t>
            </a:r>
          </a:p>
        </p:txBody>
      </p:sp>
      <p:sp>
        <p:nvSpPr>
          <p:cNvPr id="4" name="Slide Number Placeholder 3">
            <a:extLst>
              <a:ext uri="{FF2B5EF4-FFF2-40B4-BE49-F238E27FC236}">
                <a16:creationId xmlns:a16="http://schemas.microsoft.com/office/drawing/2014/main" id="{F6CF73F3-90A7-DD35-1737-3BD5A8307A21}"/>
              </a:ext>
            </a:extLst>
          </p:cNvPr>
          <p:cNvSpPr>
            <a:spLocks noGrp="1"/>
          </p:cNvSpPr>
          <p:nvPr>
            <p:ph type="sldNum" sz="quarter" idx="4294967295"/>
          </p:nvPr>
        </p:nvSpPr>
        <p:spPr>
          <a:xfrm>
            <a:off x="18694400" y="12906375"/>
            <a:ext cx="5689600" cy="730250"/>
          </a:xfrm>
        </p:spPr>
        <p:txBody>
          <a:bodyPr/>
          <a:lstStyle/>
          <a:p>
            <a:pPr>
              <a:defRPr/>
            </a:pPr>
            <a:fld id="{21EF0E02-90DE-4DDF-8E9F-438205EAE6E1}" type="slidenum">
              <a:rPr lang="en-US" smtClean="0"/>
              <a:pPr>
                <a:defRPr/>
              </a:pPr>
              <a:t>28</a:t>
            </a:fld>
            <a:endParaRPr lang="en-US"/>
          </a:p>
        </p:txBody>
      </p:sp>
    </p:spTree>
    <p:extLst>
      <p:ext uri="{BB962C8B-B14F-4D97-AF65-F5344CB8AC3E}">
        <p14:creationId xmlns:p14="http://schemas.microsoft.com/office/powerpoint/2010/main" val="966603063"/>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E3802-7A6B-045C-EDB6-44994979DE93}"/>
              </a:ext>
            </a:extLst>
          </p:cNvPr>
          <p:cNvSpPr>
            <a:spLocks noGrp="1"/>
          </p:cNvSpPr>
          <p:nvPr>
            <p:ph type="title"/>
          </p:nvPr>
        </p:nvSpPr>
        <p:spPr/>
        <p:txBody>
          <a:bodyPr>
            <a:normAutofit fontScale="90000"/>
          </a:bodyPr>
          <a:lstStyle/>
          <a:p>
            <a:r>
              <a:rPr lang="en-US" dirty="0"/>
              <a:t>Exercise</a:t>
            </a:r>
          </a:p>
        </p:txBody>
      </p:sp>
      <p:sp>
        <p:nvSpPr>
          <p:cNvPr id="6" name="Text Placeholder 5">
            <a:extLst>
              <a:ext uri="{FF2B5EF4-FFF2-40B4-BE49-F238E27FC236}">
                <a16:creationId xmlns:a16="http://schemas.microsoft.com/office/drawing/2014/main" id="{B96B59B6-648E-8EB4-6907-07002D2ECFF4}"/>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1B73F1C5-C00D-0663-602C-B03399D4648E}"/>
              </a:ext>
            </a:extLst>
          </p:cNvPr>
          <p:cNvSpPr>
            <a:spLocks noGrp="1"/>
          </p:cNvSpPr>
          <p:nvPr>
            <p:ph sz="quarter" idx="11"/>
          </p:nvPr>
        </p:nvSpPr>
        <p:spPr/>
        <p:txBody>
          <a:bodyPr/>
          <a:lstStyle/>
          <a:p>
            <a:pPr marL="571500" indent="-571500">
              <a:buFont typeface="Arial" panose="020B0604020202020204" pitchFamily="34" charset="0"/>
              <a:buChar char="•"/>
            </a:pPr>
            <a:r>
              <a:rPr lang="en-US" dirty="0"/>
              <a:t>Find cases about cloud security gone wrong, provide your solutions to fix it</a:t>
            </a:r>
          </a:p>
        </p:txBody>
      </p:sp>
    </p:spTree>
    <p:extLst>
      <p:ext uri="{BB962C8B-B14F-4D97-AF65-F5344CB8AC3E}">
        <p14:creationId xmlns:p14="http://schemas.microsoft.com/office/powerpoint/2010/main" val="287359398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532BAF-F517-BE43-A4AD-CC09CFE100BF}"/>
              </a:ext>
            </a:extLst>
          </p:cNvPr>
          <p:cNvSpPr>
            <a:spLocks noGrp="1"/>
          </p:cNvSpPr>
          <p:nvPr>
            <p:ph type="title"/>
          </p:nvPr>
        </p:nvSpPr>
        <p:spPr/>
        <p:txBody>
          <a:bodyPr>
            <a:normAutofit fontScale="90000"/>
          </a:bodyPr>
          <a:lstStyle/>
          <a:p>
            <a:r>
              <a:rPr lang="en-US" dirty="0">
                <a:latin typeface="Tahoma" panose="020B0604030504040204" pitchFamily="34" charset="0"/>
                <a:ea typeface="Tahoma" panose="020B0604030504040204" pitchFamily="34" charset="0"/>
                <a:cs typeface="Tahoma" panose="020B0604030504040204" pitchFamily="34" charset="0"/>
              </a:rPr>
              <a:t>References</a:t>
            </a:r>
            <a:endParaRPr lang="en-US" dirty="0"/>
          </a:p>
        </p:txBody>
      </p:sp>
      <p:sp>
        <p:nvSpPr>
          <p:cNvPr id="4" name="Text Placeholder 3">
            <a:extLst>
              <a:ext uri="{FF2B5EF4-FFF2-40B4-BE49-F238E27FC236}">
                <a16:creationId xmlns:a16="http://schemas.microsoft.com/office/drawing/2014/main" id="{4C5FD19C-A63E-2EAD-8D32-134F78AD48C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902DD5D-7D42-CDFC-EC63-F37424D818B8}"/>
              </a:ext>
            </a:extLst>
          </p:cNvPr>
          <p:cNvSpPr>
            <a:spLocks noGrp="1"/>
          </p:cNvSpPr>
          <p:nvPr>
            <p:ph sz="quarter" idx="11"/>
          </p:nvPr>
        </p:nvSpPr>
        <p:spPr/>
        <p:txBody>
          <a:bodyPr/>
          <a:lstStyle/>
          <a:p>
            <a:r>
              <a:rPr lang="en-US" dirty="0"/>
              <a:t>Marinescu, Dan C. (2022). Cloud Computing Theory and Practice: 3rd Edition. Morgan Kaufmann Publishers. ISBN: 978-0-323-85277-7</a:t>
            </a:r>
          </a:p>
          <a:p>
            <a:endParaRPr lang="en-US" dirty="0"/>
          </a:p>
        </p:txBody>
      </p:sp>
    </p:spTree>
    <p:extLst>
      <p:ext uri="{BB962C8B-B14F-4D97-AF65-F5344CB8AC3E}">
        <p14:creationId xmlns:p14="http://schemas.microsoft.com/office/powerpoint/2010/main" val="1730510924"/>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6B9CA93-CCBC-0E81-9FD6-1A448158A5B2}"/>
              </a:ext>
            </a:extLst>
          </p:cNvPr>
          <p:cNvSpPr>
            <a:spLocks noGrp="1"/>
          </p:cNvSpPr>
          <p:nvPr>
            <p:ph type="title"/>
          </p:nvPr>
        </p:nvSpPr>
        <p:spPr>
          <a:xfrm>
            <a:off x="1206498" y="4535865"/>
            <a:ext cx="21971004" cy="3746281"/>
          </a:xfrm>
        </p:spPr>
        <p:txBody>
          <a:bodyPr/>
          <a:lstStyle/>
          <a:p>
            <a:r>
              <a:rPr lang="en-US" dirty="0"/>
              <a:t>Thankyou</a:t>
            </a:r>
          </a:p>
        </p:txBody>
      </p:sp>
    </p:spTree>
    <p:extLst>
      <p:ext uri="{BB962C8B-B14F-4D97-AF65-F5344CB8AC3E}">
        <p14:creationId xmlns:p14="http://schemas.microsoft.com/office/powerpoint/2010/main" val="679265943"/>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1" id="{FEBCA056-F2A5-496F-A830-7BAED988D208}" vid="{3C0D7A97-88A3-424B-BF48-73EB1D05E1BE}"/>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3485b963-82ba-4a6f-810f-b5cc226ff898}" enabled="0" method="" siteId="{3485b963-82ba-4a6f-810f-b5cc226ff898}" removed="1"/>
</clbl:labelList>
</file>

<file path=docProps/app.xml><?xml version="1.0" encoding="utf-8"?>
<Properties xmlns="http://schemas.openxmlformats.org/officeDocument/2006/extended-properties" xmlns:vt="http://schemas.openxmlformats.org/officeDocument/2006/docPropsVTypes">
  <Template>OR 10</Template>
  <TotalTime>1052</TotalTime>
  <Words>2551</Words>
  <Application>Microsoft Office PowerPoint</Application>
  <PresentationFormat>Custom</PresentationFormat>
  <Paragraphs>154</Paragraphs>
  <Slides>31</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Open Sans Light</vt:lpstr>
      <vt:lpstr>Arial</vt:lpstr>
      <vt:lpstr>Open Sans ExtraBold</vt:lpstr>
      <vt:lpstr>Open Sans</vt:lpstr>
      <vt:lpstr>Open Sans Semibold</vt:lpstr>
      <vt:lpstr>Tahoma</vt:lpstr>
      <vt:lpstr>OCRB</vt:lpstr>
      <vt:lpstr>21_BasicWhite</vt:lpstr>
      <vt:lpstr>Cloud Security  Session 08</vt:lpstr>
      <vt:lpstr>Learning outcomes</vt:lpstr>
      <vt:lpstr>Outline</vt:lpstr>
      <vt:lpstr>Cloud Security Risk</vt:lpstr>
      <vt:lpstr>Security Risk</vt:lpstr>
      <vt:lpstr>Traditional Security Threats</vt:lpstr>
      <vt:lpstr>Threats Related to System Availability</vt:lpstr>
      <vt:lpstr>Threats Related to Third-Party Data Control</vt:lpstr>
      <vt:lpstr>Surfaces of Attacks in a Cloud Computing Environment</vt:lpstr>
      <vt:lpstr>Top Cloud Security Threats</vt:lpstr>
      <vt:lpstr>Cloud Data Encryption</vt:lpstr>
      <vt:lpstr>Cloud Data Encryption</vt:lpstr>
      <vt:lpstr>Cloud Data Encryption</vt:lpstr>
      <vt:lpstr>Order Preserving Encryption (OPE)</vt:lpstr>
      <vt:lpstr>Searchable Symmetric Encryption (SSE)</vt:lpstr>
      <vt:lpstr>Virtual Machine Security</vt:lpstr>
      <vt:lpstr>Virtual Machine Security</vt:lpstr>
      <vt:lpstr>Virtual Machine Threats</vt:lpstr>
      <vt:lpstr>Virtual Machine Threats</vt:lpstr>
      <vt:lpstr>Security of Virtualization</vt:lpstr>
      <vt:lpstr>Useful Implication of Virtualization</vt:lpstr>
      <vt:lpstr>Undesirable Effects of Virtualization</vt:lpstr>
      <vt:lpstr>Evolution of a cluster management system</vt:lpstr>
      <vt:lpstr>Vulnerability Caused by Events Recorded in The Memory</vt:lpstr>
      <vt:lpstr>Cloud security: AWS Security</vt:lpstr>
      <vt:lpstr>AWS Security tools</vt:lpstr>
      <vt:lpstr>AWS Security tools</vt:lpstr>
      <vt:lpstr>The Most Consequential Aspects of AWS Security</vt:lpstr>
      <vt:lpstr>Exercise</vt:lpstr>
      <vt:lpstr>References</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Kali Linux</dc:title>
  <dc:creator>NICHOLAUS HENDRIK JEREMY</dc:creator>
  <cp:lastModifiedBy>Samuel Philip</cp:lastModifiedBy>
  <cp:revision>20</cp:revision>
  <dcterms:created xsi:type="dcterms:W3CDTF">2023-06-28T08:14:57Z</dcterms:created>
  <dcterms:modified xsi:type="dcterms:W3CDTF">2026-01-07T10:48:34Z</dcterms:modified>
</cp:coreProperties>
</file>