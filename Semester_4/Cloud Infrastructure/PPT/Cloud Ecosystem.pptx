
<file path=[Content_Types].xml><?xml version="1.0" encoding="utf-8"?>
<Types xmlns="http://schemas.openxmlformats.org/package/2006/content-types">
  <Default Extension="emf" ContentType="image/x-emf"/>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7"/>
  </p:notesMasterIdLst>
  <p:sldIdLst>
    <p:sldId id="256" r:id="rId2"/>
    <p:sldId id="278" r:id="rId3"/>
    <p:sldId id="257" r:id="rId4"/>
    <p:sldId id="264" r:id="rId5"/>
    <p:sldId id="297" r:id="rId6"/>
    <p:sldId id="298" r:id="rId7"/>
    <p:sldId id="318" r:id="rId8"/>
    <p:sldId id="319" r:id="rId9"/>
    <p:sldId id="321" r:id="rId10"/>
    <p:sldId id="322" r:id="rId11"/>
    <p:sldId id="323" r:id="rId12"/>
    <p:sldId id="324" r:id="rId13"/>
    <p:sldId id="325" r:id="rId14"/>
    <p:sldId id="326" r:id="rId15"/>
    <p:sldId id="327" r:id="rId16"/>
    <p:sldId id="328" r:id="rId17"/>
    <p:sldId id="329" r:id="rId18"/>
    <p:sldId id="330" r:id="rId19"/>
    <p:sldId id="303" r:id="rId20"/>
    <p:sldId id="331" r:id="rId21"/>
    <p:sldId id="332" r:id="rId22"/>
    <p:sldId id="315" r:id="rId23"/>
    <p:sldId id="333" r:id="rId24"/>
    <p:sldId id="317" r:id="rId25"/>
    <p:sldId id="296" r:id="rId26"/>
  </p:sldIdLst>
  <p:sldSz cx="24384000" cy="13716000"/>
  <p:notesSz cx="6858000" cy="9144000"/>
  <p:embeddedFontLst>
    <p:embeddedFont>
      <p:font typeface="OCRB" panose="020B0609020202020204" pitchFamily="49" charset="0"/>
      <p:regular r:id="rId28"/>
    </p:embeddedFont>
    <p:embeddedFont>
      <p:font typeface="Open Sans" panose="020B0606030504020204" pitchFamily="34" charset="0"/>
      <p:regular r:id="rId29"/>
      <p:bold r:id="rId30"/>
      <p:italic r:id="rId31"/>
      <p:boldItalic r:id="rId32"/>
    </p:embeddedFont>
    <p:embeddedFont>
      <p:font typeface="Open Sans ExtraBold" panose="020B0906030804020204" pitchFamily="34" charset="0"/>
      <p:bold r:id="rId33"/>
      <p:italic r:id="rId34"/>
      <p:boldItalic r:id="rId35"/>
    </p:embeddedFont>
    <p:embeddedFont>
      <p:font typeface="Open Sans Light" panose="020B0306030504020204" pitchFamily="34" charset="0"/>
      <p:regular r:id="rId36"/>
      <p:italic r:id="rId37"/>
    </p:embeddedFont>
    <p:embeddedFont>
      <p:font typeface="Open Sans Semibold" panose="020B0706030804020204" pitchFamily="34" charset="0"/>
      <p:regular r:id="rId38"/>
      <p:bold r:id="rId39"/>
      <p:italic r:id="rId40"/>
      <p:boldItalic r:id="rId41"/>
    </p:embeddedFont>
    <p:embeddedFont>
      <p:font typeface="Tahoma" panose="020B0604030504040204" pitchFamily="34" charset="0"/>
      <p:regular r:id="rId42"/>
      <p:bold r:id="rId43"/>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55" autoAdjust="0"/>
    <p:restoredTop sz="80523" autoAdjust="0"/>
  </p:normalViewPr>
  <p:slideViewPr>
    <p:cSldViewPr snapToGrid="0" snapToObjects="1">
      <p:cViewPr varScale="1">
        <p:scale>
          <a:sx n="20" d="100"/>
          <a:sy n="20" d="100"/>
        </p:scale>
        <p:origin x="1286" y="53"/>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s>
</file>

<file path=ppt/diagrams/_rels/data1.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D527A9-3BEB-47E8-AE1B-53FEC42DD9C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5827DD2-548D-495B-9860-81B1D7651D44}">
      <dgm:prSet custT="1"/>
      <dgm:spPr/>
      <dgm:t>
        <a:bodyPr/>
        <a:lstStyle/>
        <a:p>
          <a:r>
            <a:rPr lang="en-US" sz="2000" dirty="0"/>
            <a:t>Self-service – service provisioning without major deployment or configuration and without performance and cost penalties.</a:t>
          </a:r>
        </a:p>
      </dgm:t>
    </dgm:pt>
    <dgm:pt modelId="{1B084326-A3BD-4FFD-82B8-9035E1111966}" type="parTrans" cxnId="{15FD50A4-F4BF-42DA-BD9B-38866C8CC873}">
      <dgm:prSet/>
      <dgm:spPr/>
      <dgm:t>
        <a:bodyPr/>
        <a:lstStyle/>
        <a:p>
          <a:endParaRPr lang="en-US"/>
        </a:p>
      </dgm:t>
    </dgm:pt>
    <dgm:pt modelId="{2842821E-46F2-4268-BC57-3D7A76D4474D}" type="sibTrans" cxnId="{15FD50A4-F4BF-42DA-BD9B-38866C8CC873}">
      <dgm:prSet/>
      <dgm:spPr/>
      <dgm:t>
        <a:bodyPr/>
        <a:lstStyle/>
        <a:p>
          <a:endParaRPr lang="en-US"/>
        </a:p>
      </dgm:t>
    </dgm:pt>
    <dgm:pt modelId="{E361BA4A-3C6F-4F7D-AD41-FB997C281206}">
      <dgm:prSet custT="1"/>
      <dgm:spPr/>
      <dgm:t>
        <a:bodyPr/>
        <a:lstStyle/>
        <a:p>
          <a:r>
            <a:rPr lang="en-US" sz="2000" dirty="0"/>
            <a:t>Device and location-independent abstract database resources without concern for hardware utilization</a:t>
          </a:r>
        </a:p>
      </dgm:t>
    </dgm:pt>
    <dgm:pt modelId="{896F3771-19F4-4207-BDD5-66310EC5679D}" type="parTrans" cxnId="{9CA3347B-77D4-47EA-A916-4AA6B0C420F4}">
      <dgm:prSet/>
      <dgm:spPr/>
      <dgm:t>
        <a:bodyPr/>
        <a:lstStyle/>
        <a:p>
          <a:endParaRPr lang="en-US"/>
        </a:p>
      </dgm:t>
    </dgm:pt>
    <dgm:pt modelId="{A62364CD-9A50-444F-9E7E-4F3D8712AAD7}" type="sibTrans" cxnId="{9CA3347B-77D4-47EA-A916-4AA6B0C420F4}">
      <dgm:prSet/>
      <dgm:spPr/>
      <dgm:t>
        <a:bodyPr/>
        <a:lstStyle/>
        <a:p>
          <a:endParaRPr lang="en-US"/>
        </a:p>
      </dgm:t>
    </dgm:pt>
    <dgm:pt modelId="{CBA55A4A-FC6A-47A6-9194-7105481F3174}">
      <dgm:prSet custT="1"/>
      <dgm:spPr/>
      <dgm:t>
        <a:bodyPr/>
        <a:lstStyle/>
        <a:p>
          <a:r>
            <a:rPr lang="en-US" sz="2000" dirty="0"/>
            <a:t>Elasticity and scalability – automated and dynamic scaling</a:t>
          </a:r>
        </a:p>
      </dgm:t>
    </dgm:pt>
    <dgm:pt modelId="{2F493E9B-63D4-41A2-8C62-A591639CF8A8}" type="parTrans" cxnId="{137907F6-C318-4019-A5F0-206FE42B9E77}">
      <dgm:prSet/>
      <dgm:spPr/>
      <dgm:t>
        <a:bodyPr/>
        <a:lstStyle/>
        <a:p>
          <a:endParaRPr lang="en-US"/>
        </a:p>
      </dgm:t>
    </dgm:pt>
    <dgm:pt modelId="{D2CD9938-9725-476D-9477-1F8EB3E5C7F3}" type="sibTrans" cxnId="{137907F6-C318-4019-A5F0-206FE42B9E77}">
      <dgm:prSet/>
      <dgm:spPr/>
      <dgm:t>
        <a:bodyPr/>
        <a:lstStyle/>
        <a:p>
          <a:endParaRPr lang="en-US"/>
        </a:p>
      </dgm:t>
    </dgm:pt>
    <dgm:pt modelId="{1E680022-1FA7-491B-AFC3-B0277E8D7C8B}">
      <dgm:prSet custT="1"/>
      <dgm:spPr/>
      <dgm:t>
        <a:bodyPr/>
        <a:lstStyle/>
        <a:p>
          <a:r>
            <a:rPr lang="en-US" sz="2000" dirty="0"/>
            <a:t>Pay-as-you-go model – metered use of resources and cost reflecting the resources used</a:t>
          </a:r>
        </a:p>
      </dgm:t>
    </dgm:pt>
    <dgm:pt modelId="{609AA5E2-0887-45EE-934B-C8CC984BD6A3}" type="parTrans" cxnId="{8D8A9FBC-9F45-49BE-B4DC-097951CE04EA}">
      <dgm:prSet/>
      <dgm:spPr/>
      <dgm:t>
        <a:bodyPr/>
        <a:lstStyle/>
        <a:p>
          <a:endParaRPr lang="en-US"/>
        </a:p>
      </dgm:t>
    </dgm:pt>
    <dgm:pt modelId="{692188FE-6AF9-4340-9FAE-A78484F9C85A}" type="sibTrans" cxnId="{8D8A9FBC-9F45-49BE-B4DC-097951CE04EA}">
      <dgm:prSet/>
      <dgm:spPr/>
      <dgm:t>
        <a:bodyPr/>
        <a:lstStyle/>
        <a:p>
          <a:endParaRPr lang="en-US"/>
        </a:p>
      </dgm:t>
    </dgm:pt>
    <dgm:pt modelId="{CD1D1ACF-6421-444D-8BD4-C4CF159CB803}">
      <dgm:prSet custT="1"/>
      <dgm:spPr/>
      <dgm:t>
        <a:bodyPr/>
        <a:lstStyle/>
        <a:p>
          <a:r>
            <a:rPr lang="en-US" sz="2000" dirty="0"/>
            <a:t>Agility – the applications adapt seamlessly to new technology or additional requirements.</a:t>
          </a:r>
        </a:p>
      </dgm:t>
    </dgm:pt>
    <dgm:pt modelId="{C715288E-DED0-453A-87AD-10C3A13D1BF1}" type="parTrans" cxnId="{327CFBC9-935C-4BF2-BC03-AA24F142830E}">
      <dgm:prSet/>
      <dgm:spPr/>
      <dgm:t>
        <a:bodyPr/>
        <a:lstStyle/>
        <a:p>
          <a:endParaRPr lang="en-US"/>
        </a:p>
      </dgm:t>
    </dgm:pt>
    <dgm:pt modelId="{24E93BD3-F35B-482F-AB81-A8292F822528}" type="sibTrans" cxnId="{327CFBC9-935C-4BF2-BC03-AA24F142830E}">
      <dgm:prSet/>
      <dgm:spPr/>
      <dgm:t>
        <a:bodyPr/>
        <a:lstStyle/>
        <a:p>
          <a:endParaRPr lang="en-US"/>
        </a:p>
      </dgm:t>
    </dgm:pt>
    <dgm:pt modelId="{FF8907F8-C344-4363-850E-33E49FBA8E3D}" type="pres">
      <dgm:prSet presAssocID="{BED527A9-3BEB-47E8-AE1B-53FEC42DD9C6}" presName="root" presStyleCnt="0">
        <dgm:presLayoutVars>
          <dgm:dir/>
          <dgm:resizeHandles val="exact"/>
        </dgm:presLayoutVars>
      </dgm:prSet>
      <dgm:spPr/>
    </dgm:pt>
    <dgm:pt modelId="{B5C17F4F-EA22-4B9F-8120-2AF87AC1FCE5}" type="pres">
      <dgm:prSet presAssocID="{45827DD2-548D-495B-9860-81B1D7651D44}" presName="compNode" presStyleCnt="0"/>
      <dgm:spPr/>
    </dgm:pt>
    <dgm:pt modelId="{CEEC13E8-CA88-494C-9E37-881C99DCA923}" type="pres">
      <dgm:prSet presAssocID="{45827DD2-548D-495B-9860-81B1D7651D44}" presName="bgRect" presStyleLbl="bgShp" presStyleIdx="0" presStyleCnt="5"/>
      <dgm:spPr/>
    </dgm:pt>
    <dgm:pt modelId="{F4242AC1-8050-4682-AFC0-82B17DC0ECF3}" type="pres">
      <dgm:prSet presAssocID="{45827DD2-548D-495B-9860-81B1D7651D4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vel"/>
        </a:ext>
      </dgm:extLst>
    </dgm:pt>
    <dgm:pt modelId="{F638C746-930B-4D78-9ECE-8EB152AC1DE3}" type="pres">
      <dgm:prSet presAssocID="{45827DD2-548D-495B-9860-81B1D7651D44}" presName="spaceRect" presStyleCnt="0"/>
      <dgm:spPr/>
    </dgm:pt>
    <dgm:pt modelId="{531911B9-3CB5-466D-9632-02D3169EED17}" type="pres">
      <dgm:prSet presAssocID="{45827DD2-548D-495B-9860-81B1D7651D44}" presName="parTx" presStyleLbl="revTx" presStyleIdx="0" presStyleCnt="5">
        <dgm:presLayoutVars>
          <dgm:chMax val="0"/>
          <dgm:chPref val="0"/>
        </dgm:presLayoutVars>
      </dgm:prSet>
      <dgm:spPr/>
    </dgm:pt>
    <dgm:pt modelId="{8CCC0104-6D86-4941-8B76-CD7A2513510F}" type="pres">
      <dgm:prSet presAssocID="{2842821E-46F2-4268-BC57-3D7A76D4474D}" presName="sibTrans" presStyleCnt="0"/>
      <dgm:spPr/>
    </dgm:pt>
    <dgm:pt modelId="{9D90CEE6-112D-4E6F-83D6-392C3E881AB3}" type="pres">
      <dgm:prSet presAssocID="{E361BA4A-3C6F-4F7D-AD41-FB997C281206}" presName="compNode" presStyleCnt="0"/>
      <dgm:spPr/>
    </dgm:pt>
    <dgm:pt modelId="{4F803472-04D4-4BCC-A215-1052DC31FB0F}" type="pres">
      <dgm:prSet presAssocID="{E361BA4A-3C6F-4F7D-AD41-FB997C281206}" presName="bgRect" presStyleLbl="bgShp" presStyleIdx="1" presStyleCnt="5"/>
      <dgm:spPr/>
    </dgm:pt>
    <dgm:pt modelId="{B61A0333-F086-44E0-8236-D79852C3D2FD}" type="pres">
      <dgm:prSet presAssocID="{E361BA4A-3C6F-4F7D-AD41-FB997C28120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65C104F5-D545-47D2-A808-6F095400F20E}" type="pres">
      <dgm:prSet presAssocID="{E361BA4A-3C6F-4F7D-AD41-FB997C281206}" presName="spaceRect" presStyleCnt="0"/>
      <dgm:spPr/>
    </dgm:pt>
    <dgm:pt modelId="{9AC8ED3E-0702-4BB5-BFC2-D4316A6F16F0}" type="pres">
      <dgm:prSet presAssocID="{E361BA4A-3C6F-4F7D-AD41-FB997C281206}" presName="parTx" presStyleLbl="revTx" presStyleIdx="1" presStyleCnt="5">
        <dgm:presLayoutVars>
          <dgm:chMax val="0"/>
          <dgm:chPref val="0"/>
        </dgm:presLayoutVars>
      </dgm:prSet>
      <dgm:spPr/>
    </dgm:pt>
    <dgm:pt modelId="{943D680E-76E1-4762-A322-2D02355E034F}" type="pres">
      <dgm:prSet presAssocID="{A62364CD-9A50-444F-9E7E-4F3D8712AAD7}" presName="sibTrans" presStyleCnt="0"/>
      <dgm:spPr/>
    </dgm:pt>
    <dgm:pt modelId="{9D856663-E59E-4E6F-9941-5143E1A35D23}" type="pres">
      <dgm:prSet presAssocID="{CBA55A4A-FC6A-47A6-9194-7105481F3174}" presName="compNode" presStyleCnt="0"/>
      <dgm:spPr/>
    </dgm:pt>
    <dgm:pt modelId="{94AE00A1-2C81-4863-9D59-65F4575CEFE1}" type="pres">
      <dgm:prSet presAssocID="{CBA55A4A-FC6A-47A6-9194-7105481F3174}" presName="bgRect" presStyleLbl="bgShp" presStyleIdx="2" presStyleCnt="5"/>
      <dgm:spPr/>
    </dgm:pt>
    <dgm:pt modelId="{6AB29B47-6229-4BF3-96A9-37FA404F9167}" type="pres">
      <dgm:prSet presAssocID="{CBA55A4A-FC6A-47A6-9194-7105481F317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FA753B8E-57A9-4FAB-97E2-75E185FC5CE6}" type="pres">
      <dgm:prSet presAssocID="{CBA55A4A-FC6A-47A6-9194-7105481F3174}" presName="spaceRect" presStyleCnt="0"/>
      <dgm:spPr/>
    </dgm:pt>
    <dgm:pt modelId="{BBFA5168-D16D-40A2-8061-BBFC4BAC4764}" type="pres">
      <dgm:prSet presAssocID="{CBA55A4A-FC6A-47A6-9194-7105481F3174}" presName="parTx" presStyleLbl="revTx" presStyleIdx="2" presStyleCnt="5">
        <dgm:presLayoutVars>
          <dgm:chMax val="0"/>
          <dgm:chPref val="0"/>
        </dgm:presLayoutVars>
      </dgm:prSet>
      <dgm:spPr/>
    </dgm:pt>
    <dgm:pt modelId="{2732532A-36EB-4447-B853-C71DD3B88409}" type="pres">
      <dgm:prSet presAssocID="{D2CD9938-9725-476D-9477-1F8EB3E5C7F3}" presName="sibTrans" presStyleCnt="0"/>
      <dgm:spPr/>
    </dgm:pt>
    <dgm:pt modelId="{6B8DE55B-B5DB-4FF8-BD0E-A07B1BE0B283}" type="pres">
      <dgm:prSet presAssocID="{1E680022-1FA7-491B-AFC3-B0277E8D7C8B}" presName="compNode" presStyleCnt="0"/>
      <dgm:spPr/>
    </dgm:pt>
    <dgm:pt modelId="{F14CA394-2608-49BA-84A7-100274103AFE}" type="pres">
      <dgm:prSet presAssocID="{1E680022-1FA7-491B-AFC3-B0277E8D7C8B}" presName="bgRect" presStyleLbl="bgShp" presStyleIdx="3" presStyleCnt="5"/>
      <dgm:spPr/>
    </dgm:pt>
    <dgm:pt modelId="{8991A517-2EA0-4F5C-9C2D-5C601C661DFF}" type="pres">
      <dgm:prSet presAssocID="{1E680022-1FA7-491B-AFC3-B0277E8D7C8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lculator"/>
        </a:ext>
      </dgm:extLst>
    </dgm:pt>
    <dgm:pt modelId="{A4BF99EC-469B-408D-8AD8-599C1A5CB51B}" type="pres">
      <dgm:prSet presAssocID="{1E680022-1FA7-491B-AFC3-B0277E8D7C8B}" presName="spaceRect" presStyleCnt="0"/>
      <dgm:spPr/>
    </dgm:pt>
    <dgm:pt modelId="{F388EEBE-6DE6-4582-BB8F-2388E1FCFB65}" type="pres">
      <dgm:prSet presAssocID="{1E680022-1FA7-491B-AFC3-B0277E8D7C8B}" presName="parTx" presStyleLbl="revTx" presStyleIdx="3" presStyleCnt="5">
        <dgm:presLayoutVars>
          <dgm:chMax val="0"/>
          <dgm:chPref val="0"/>
        </dgm:presLayoutVars>
      </dgm:prSet>
      <dgm:spPr/>
    </dgm:pt>
    <dgm:pt modelId="{FC7E23E3-BFE4-4C79-9DEE-93110D859B11}" type="pres">
      <dgm:prSet presAssocID="{692188FE-6AF9-4340-9FAE-A78484F9C85A}" presName="sibTrans" presStyleCnt="0"/>
      <dgm:spPr/>
    </dgm:pt>
    <dgm:pt modelId="{9D02B84F-5498-4EFB-82AB-BD53CD5B7BB2}" type="pres">
      <dgm:prSet presAssocID="{CD1D1ACF-6421-444D-8BD4-C4CF159CB803}" presName="compNode" presStyleCnt="0"/>
      <dgm:spPr/>
    </dgm:pt>
    <dgm:pt modelId="{6F545475-F6A0-47CE-BE08-D7F064F6C65C}" type="pres">
      <dgm:prSet presAssocID="{CD1D1ACF-6421-444D-8BD4-C4CF159CB803}" presName="bgRect" presStyleLbl="bgShp" presStyleIdx="4" presStyleCnt="5"/>
      <dgm:spPr/>
    </dgm:pt>
    <dgm:pt modelId="{91CB01EF-0E88-482A-9D0F-91C350FDB8AF}" type="pres">
      <dgm:prSet presAssocID="{CD1D1ACF-6421-444D-8BD4-C4CF159CB80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lant"/>
        </a:ext>
      </dgm:extLst>
    </dgm:pt>
    <dgm:pt modelId="{6C777B41-2A3A-48EE-B712-7203368D624E}" type="pres">
      <dgm:prSet presAssocID="{CD1D1ACF-6421-444D-8BD4-C4CF159CB803}" presName="spaceRect" presStyleCnt="0"/>
      <dgm:spPr/>
    </dgm:pt>
    <dgm:pt modelId="{01C56B66-E1F4-44CB-A245-4ABE304AD9E8}" type="pres">
      <dgm:prSet presAssocID="{CD1D1ACF-6421-444D-8BD4-C4CF159CB803}" presName="parTx" presStyleLbl="revTx" presStyleIdx="4" presStyleCnt="5">
        <dgm:presLayoutVars>
          <dgm:chMax val="0"/>
          <dgm:chPref val="0"/>
        </dgm:presLayoutVars>
      </dgm:prSet>
      <dgm:spPr/>
    </dgm:pt>
  </dgm:ptLst>
  <dgm:cxnLst>
    <dgm:cxn modelId="{AD111E03-B3C7-47FE-8BD8-7584677569B2}" type="presOf" srcId="{45827DD2-548D-495B-9860-81B1D7651D44}" destId="{531911B9-3CB5-466D-9632-02D3169EED17}" srcOrd="0" destOrd="0" presId="urn:microsoft.com/office/officeart/2018/2/layout/IconVerticalSolidList"/>
    <dgm:cxn modelId="{CDBA011F-1770-441C-A7DC-0FE97C60F503}" type="presOf" srcId="{CBA55A4A-FC6A-47A6-9194-7105481F3174}" destId="{BBFA5168-D16D-40A2-8061-BBFC4BAC4764}" srcOrd="0" destOrd="0" presId="urn:microsoft.com/office/officeart/2018/2/layout/IconVerticalSolidList"/>
    <dgm:cxn modelId="{9CA3347B-77D4-47EA-A916-4AA6B0C420F4}" srcId="{BED527A9-3BEB-47E8-AE1B-53FEC42DD9C6}" destId="{E361BA4A-3C6F-4F7D-AD41-FB997C281206}" srcOrd="1" destOrd="0" parTransId="{896F3771-19F4-4207-BDD5-66310EC5679D}" sibTransId="{A62364CD-9A50-444F-9E7E-4F3D8712AAD7}"/>
    <dgm:cxn modelId="{F17F4A82-B277-45CD-98BC-0F8F047B4572}" type="presOf" srcId="{CD1D1ACF-6421-444D-8BD4-C4CF159CB803}" destId="{01C56B66-E1F4-44CB-A245-4ABE304AD9E8}" srcOrd="0" destOrd="0" presId="urn:microsoft.com/office/officeart/2018/2/layout/IconVerticalSolidList"/>
    <dgm:cxn modelId="{54DF4593-07C8-4705-BF28-487F05A24200}" type="presOf" srcId="{E361BA4A-3C6F-4F7D-AD41-FB997C281206}" destId="{9AC8ED3E-0702-4BB5-BFC2-D4316A6F16F0}" srcOrd="0" destOrd="0" presId="urn:microsoft.com/office/officeart/2018/2/layout/IconVerticalSolidList"/>
    <dgm:cxn modelId="{15FD50A4-F4BF-42DA-BD9B-38866C8CC873}" srcId="{BED527A9-3BEB-47E8-AE1B-53FEC42DD9C6}" destId="{45827DD2-548D-495B-9860-81B1D7651D44}" srcOrd="0" destOrd="0" parTransId="{1B084326-A3BD-4FFD-82B8-9035E1111966}" sibTransId="{2842821E-46F2-4268-BC57-3D7A76D4474D}"/>
    <dgm:cxn modelId="{8D8A9FBC-9F45-49BE-B4DC-097951CE04EA}" srcId="{BED527A9-3BEB-47E8-AE1B-53FEC42DD9C6}" destId="{1E680022-1FA7-491B-AFC3-B0277E8D7C8B}" srcOrd="3" destOrd="0" parTransId="{609AA5E2-0887-45EE-934B-C8CC984BD6A3}" sibTransId="{692188FE-6AF9-4340-9FAE-A78484F9C85A}"/>
    <dgm:cxn modelId="{327CFBC9-935C-4BF2-BC03-AA24F142830E}" srcId="{BED527A9-3BEB-47E8-AE1B-53FEC42DD9C6}" destId="{CD1D1ACF-6421-444D-8BD4-C4CF159CB803}" srcOrd="4" destOrd="0" parTransId="{C715288E-DED0-453A-87AD-10C3A13D1BF1}" sibTransId="{24E93BD3-F35B-482F-AB81-A8292F822528}"/>
    <dgm:cxn modelId="{BACB32DF-DC4E-4913-A976-26E6DE477462}" type="presOf" srcId="{BED527A9-3BEB-47E8-AE1B-53FEC42DD9C6}" destId="{FF8907F8-C344-4363-850E-33E49FBA8E3D}" srcOrd="0" destOrd="0" presId="urn:microsoft.com/office/officeart/2018/2/layout/IconVerticalSolidList"/>
    <dgm:cxn modelId="{B2A8DBEA-76F6-41D9-BA9F-B29C017F1E3F}" type="presOf" srcId="{1E680022-1FA7-491B-AFC3-B0277E8D7C8B}" destId="{F388EEBE-6DE6-4582-BB8F-2388E1FCFB65}" srcOrd="0" destOrd="0" presId="urn:microsoft.com/office/officeart/2018/2/layout/IconVerticalSolidList"/>
    <dgm:cxn modelId="{137907F6-C318-4019-A5F0-206FE42B9E77}" srcId="{BED527A9-3BEB-47E8-AE1B-53FEC42DD9C6}" destId="{CBA55A4A-FC6A-47A6-9194-7105481F3174}" srcOrd="2" destOrd="0" parTransId="{2F493E9B-63D4-41A2-8C62-A591639CF8A8}" sibTransId="{D2CD9938-9725-476D-9477-1F8EB3E5C7F3}"/>
    <dgm:cxn modelId="{DBDC7E9C-7060-4100-B436-05C927BFD6CF}" type="presParOf" srcId="{FF8907F8-C344-4363-850E-33E49FBA8E3D}" destId="{B5C17F4F-EA22-4B9F-8120-2AF87AC1FCE5}" srcOrd="0" destOrd="0" presId="urn:microsoft.com/office/officeart/2018/2/layout/IconVerticalSolidList"/>
    <dgm:cxn modelId="{A1630038-5B21-4E34-B17E-EDA714BED716}" type="presParOf" srcId="{B5C17F4F-EA22-4B9F-8120-2AF87AC1FCE5}" destId="{CEEC13E8-CA88-494C-9E37-881C99DCA923}" srcOrd="0" destOrd="0" presId="urn:microsoft.com/office/officeart/2018/2/layout/IconVerticalSolidList"/>
    <dgm:cxn modelId="{CF27C384-2477-41E7-9F9A-AD58B46184ED}" type="presParOf" srcId="{B5C17F4F-EA22-4B9F-8120-2AF87AC1FCE5}" destId="{F4242AC1-8050-4682-AFC0-82B17DC0ECF3}" srcOrd="1" destOrd="0" presId="urn:microsoft.com/office/officeart/2018/2/layout/IconVerticalSolidList"/>
    <dgm:cxn modelId="{B72568C8-1870-4F0E-870D-DCD15C87028F}" type="presParOf" srcId="{B5C17F4F-EA22-4B9F-8120-2AF87AC1FCE5}" destId="{F638C746-930B-4D78-9ECE-8EB152AC1DE3}" srcOrd="2" destOrd="0" presId="urn:microsoft.com/office/officeart/2018/2/layout/IconVerticalSolidList"/>
    <dgm:cxn modelId="{5EE4AE58-0B9D-48D4-B5C1-52AD3CB91962}" type="presParOf" srcId="{B5C17F4F-EA22-4B9F-8120-2AF87AC1FCE5}" destId="{531911B9-3CB5-466D-9632-02D3169EED17}" srcOrd="3" destOrd="0" presId="urn:microsoft.com/office/officeart/2018/2/layout/IconVerticalSolidList"/>
    <dgm:cxn modelId="{69C0A251-5DD2-495C-BD85-50B676B2DBF9}" type="presParOf" srcId="{FF8907F8-C344-4363-850E-33E49FBA8E3D}" destId="{8CCC0104-6D86-4941-8B76-CD7A2513510F}" srcOrd="1" destOrd="0" presId="urn:microsoft.com/office/officeart/2018/2/layout/IconVerticalSolidList"/>
    <dgm:cxn modelId="{D1C8CBD4-958E-473D-8F43-79BD668CC8B7}" type="presParOf" srcId="{FF8907F8-C344-4363-850E-33E49FBA8E3D}" destId="{9D90CEE6-112D-4E6F-83D6-392C3E881AB3}" srcOrd="2" destOrd="0" presId="urn:microsoft.com/office/officeart/2018/2/layout/IconVerticalSolidList"/>
    <dgm:cxn modelId="{43D4BA7C-37D7-46FB-A012-142873157A8A}" type="presParOf" srcId="{9D90CEE6-112D-4E6F-83D6-392C3E881AB3}" destId="{4F803472-04D4-4BCC-A215-1052DC31FB0F}" srcOrd="0" destOrd="0" presId="urn:microsoft.com/office/officeart/2018/2/layout/IconVerticalSolidList"/>
    <dgm:cxn modelId="{CF1740DF-78CB-4E4A-AD40-A63D5CFAB579}" type="presParOf" srcId="{9D90CEE6-112D-4E6F-83D6-392C3E881AB3}" destId="{B61A0333-F086-44E0-8236-D79852C3D2FD}" srcOrd="1" destOrd="0" presId="urn:microsoft.com/office/officeart/2018/2/layout/IconVerticalSolidList"/>
    <dgm:cxn modelId="{056C3965-E181-4CD5-B765-E50487BA21BF}" type="presParOf" srcId="{9D90CEE6-112D-4E6F-83D6-392C3E881AB3}" destId="{65C104F5-D545-47D2-A808-6F095400F20E}" srcOrd="2" destOrd="0" presId="urn:microsoft.com/office/officeart/2018/2/layout/IconVerticalSolidList"/>
    <dgm:cxn modelId="{225561D0-CF22-4E06-8BAC-3271D5BE776A}" type="presParOf" srcId="{9D90CEE6-112D-4E6F-83D6-392C3E881AB3}" destId="{9AC8ED3E-0702-4BB5-BFC2-D4316A6F16F0}" srcOrd="3" destOrd="0" presId="urn:microsoft.com/office/officeart/2018/2/layout/IconVerticalSolidList"/>
    <dgm:cxn modelId="{558B3C07-D371-463F-9CAE-FA7F1AAE3490}" type="presParOf" srcId="{FF8907F8-C344-4363-850E-33E49FBA8E3D}" destId="{943D680E-76E1-4762-A322-2D02355E034F}" srcOrd="3" destOrd="0" presId="urn:microsoft.com/office/officeart/2018/2/layout/IconVerticalSolidList"/>
    <dgm:cxn modelId="{3B161C86-B4C7-475B-B3F1-2CE9CC7E8E8C}" type="presParOf" srcId="{FF8907F8-C344-4363-850E-33E49FBA8E3D}" destId="{9D856663-E59E-4E6F-9941-5143E1A35D23}" srcOrd="4" destOrd="0" presId="urn:microsoft.com/office/officeart/2018/2/layout/IconVerticalSolidList"/>
    <dgm:cxn modelId="{33EE7B09-BC33-4110-ACB1-80262EC8881A}" type="presParOf" srcId="{9D856663-E59E-4E6F-9941-5143E1A35D23}" destId="{94AE00A1-2C81-4863-9D59-65F4575CEFE1}" srcOrd="0" destOrd="0" presId="urn:microsoft.com/office/officeart/2018/2/layout/IconVerticalSolidList"/>
    <dgm:cxn modelId="{D44B87B0-0967-40D6-90A6-9F589339A6DB}" type="presParOf" srcId="{9D856663-E59E-4E6F-9941-5143E1A35D23}" destId="{6AB29B47-6229-4BF3-96A9-37FA404F9167}" srcOrd="1" destOrd="0" presId="urn:microsoft.com/office/officeart/2018/2/layout/IconVerticalSolidList"/>
    <dgm:cxn modelId="{BAFF1B76-3C62-42D8-A6E9-6B2E45BAA4B9}" type="presParOf" srcId="{9D856663-E59E-4E6F-9941-5143E1A35D23}" destId="{FA753B8E-57A9-4FAB-97E2-75E185FC5CE6}" srcOrd="2" destOrd="0" presId="urn:microsoft.com/office/officeart/2018/2/layout/IconVerticalSolidList"/>
    <dgm:cxn modelId="{3B653FB3-F7CB-4E66-8ED3-F1248FDA2178}" type="presParOf" srcId="{9D856663-E59E-4E6F-9941-5143E1A35D23}" destId="{BBFA5168-D16D-40A2-8061-BBFC4BAC4764}" srcOrd="3" destOrd="0" presId="urn:microsoft.com/office/officeart/2018/2/layout/IconVerticalSolidList"/>
    <dgm:cxn modelId="{CEE50DD9-76F1-4073-A23A-CFC120D97103}" type="presParOf" srcId="{FF8907F8-C344-4363-850E-33E49FBA8E3D}" destId="{2732532A-36EB-4447-B853-C71DD3B88409}" srcOrd="5" destOrd="0" presId="urn:microsoft.com/office/officeart/2018/2/layout/IconVerticalSolidList"/>
    <dgm:cxn modelId="{1FD794B8-4852-42A6-B15D-28219014BAE7}" type="presParOf" srcId="{FF8907F8-C344-4363-850E-33E49FBA8E3D}" destId="{6B8DE55B-B5DB-4FF8-BD0E-A07B1BE0B283}" srcOrd="6" destOrd="0" presId="urn:microsoft.com/office/officeart/2018/2/layout/IconVerticalSolidList"/>
    <dgm:cxn modelId="{97FFE92B-DC11-4337-A05B-EA2AFCB03FB7}" type="presParOf" srcId="{6B8DE55B-B5DB-4FF8-BD0E-A07B1BE0B283}" destId="{F14CA394-2608-49BA-84A7-100274103AFE}" srcOrd="0" destOrd="0" presId="urn:microsoft.com/office/officeart/2018/2/layout/IconVerticalSolidList"/>
    <dgm:cxn modelId="{A1FFF72C-DDC5-42F3-BDB7-731D30DE8118}" type="presParOf" srcId="{6B8DE55B-B5DB-4FF8-BD0E-A07B1BE0B283}" destId="{8991A517-2EA0-4F5C-9C2D-5C601C661DFF}" srcOrd="1" destOrd="0" presId="urn:microsoft.com/office/officeart/2018/2/layout/IconVerticalSolidList"/>
    <dgm:cxn modelId="{4D186596-A97C-407B-90FA-302A79780FEA}" type="presParOf" srcId="{6B8DE55B-B5DB-4FF8-BD0E-A07B1BE0B283}" destId="{A4BF99EC-469B-408D-8AD8-599C1A5CB51B}" srcOrd="2" destOrd="0" presId="urn:microsoft.com/office/officeart/2018/2/layout/IconVerticalSolidList"/>
    <dgm:cxn modelId="{EF31818C-ADC6-4BBB-9F12-08627ECDD1AD}" type="presParOf" srcId="{6B8DE55B-B5DB-4FF8-BD0E-A07B1BE0B283}" destId="{F388EEBE-6DE6-4582-BB8F-2388E1FCFB65}" srcOrd="3" destOrd="0" presId="urn:microsoft.com/office/officeart/2018/2/layout/IconVerticalSolidList"/>
    <dgm:cxn modelId="{6FD0C59A-A65D-4AE8-AD2A-6A0C8DED537D}" type="presParOf" srcId="{FF8907F8-C344-4363-850E-33E49FBA8E3D}" destId="{FC7E23E3-BFE4-4C79-9DEE-93110D859B11}" srcOrd="7" destOrd="0" presId="urn:microsoft.com/office/officeart/2018/2/layout/IconVerticalSolidList"/>
    <dgm:cxn modelId="{A10EE752-4E1A-4994-A6EC-09B4ADF8C30A}" type="presParOf" srcId="{FF8907F8-C344-4363-850E-33E49FBA8E3D}" destId="{9D02B84F-5498-4EFB-82AB-BD53CD5B7BB2}" srcOrd="8" destOrd="0" presId="urn:microsoft.com/office/officeart/2018/2/layout/IconVerticalSolidList"/>
    <dgm:cxn modelId="{BCA16FC6-2E87-46DD-B49C-2782406D002A}" type="presParOf" srcId="{9D02B84F-5498-4EFB-82AB-BD53CD5B7BB2}" destId="{6F545475-F6A0-47CE-BE08-D7F064F6C65C}" srcOrd="0" destOrd="0" presId="urn:microsoft.com/office/officeart/2018/2/layout/IconVerticalSolidList"/>
    <dgm:cxn modelId="{0F4D01D5-D3E7-4DD3-ABBC-144910F503C6}" type="presParOf" srcId="{9D02B84F-5498-4EFB-82AB-BD53CD5B7BB2}" destId="{91CB01EF-0E88-482A-9D0F-91C350FDB8AF}" srcOrd="1" destOrd="0" presId="urn:microsoft.com/office/officeart/2018/2/layout/IconVerticalSolidList"/>
    <dgm:cxn modelId="{C99C6F9C-6827-4688-9F59-433C172AEDF0}" type="presParOf" srcId="{9D02B84F-5498-4EFB-82AB-BD53CD5B7BB2}" destId="{6C777B41-2A3A-48EE-B712-7203368D624E}" srcOrd="2" destOrd="0" presId="urn:microsoft.com/office/officeart/2018/2/layout/IconVerticalSolidList"/>
    <dgm:cxn modelId="{C9753334-3F9B-4417-94CF-4044FE07D42D}" type="presParOf" srcId="{9D02B84F-5498-4EFB-82AB-BD53CD5B7BB2}" destId="{01C56B66-E1F4-44CB-A245-4ABE304AD9E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EC13E8-CA88-494C-9E37-881C99DCA923}">
      <dsp:nvSpPr>
        <dsp:cNvPr id="0" name=""/>
        <dsp:cNvSpPr/>
      </dsp:nvSpPr>
      <dsp:spPr>
        <a:xfrm>
          <a:off x="0" y="7535"/>
          <a:ext cx="21653915" cy="16051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242AC1-8050-4682-AFC0-82B17DC0ECF3}">
      <dsp:nvSpPr>
        <dsp:cNvPr id="0" name=""/>
        <dsp:cNvSpPr/>
      </dsp:nvSpPr>
      <dsp:spPr>
        <a:xfrm>
          <a:off x="485544" y="368684"/>
          <a:ext cx="882808" cy="8828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1911B9-3CB5-466D-9632-02D3169EED17}">
      <dsp:nvSpPr>
        <dsp:cNvPr id="0" name=""/>
        <dsp:cNvSpPr/>
      </dsp:nvSpPr>
      <dsp:spPr>
        <a:xfrm>
          <a:off x="1853898" y="7535"/>
          <a:ext cx="19800016" cy="1605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874" tIns="169874" rIns="169874" bIns="169874" numCol="1" spcCol="1270" anchor="ctr" anchorCtr="0">
          <a:noAutofit/>
        </a:bodyPr>
        <a:lstStyle/>
        <a:p>
          <a:pPr marL="0" lvl="0" indent="0" algn="l" defTabSz="889000">
            <a:lnSpc>
              <a:spcPct val="90000"/>
            </a:lnSpc>
            <a:spcBef>
              <a:spcPct val="0"/>
            </a:spcBef>
            <a:spcAft>
              <a:spcPct val="35000"/>
            </a:spcAft>
            <a:buNone/>
          </a:pPr>
          <a:r>
            <a:rPr lang="en-US" sz="2000" kern="1200" dirty="0"/>
            <a:t>Self-service – service provisioning without major deployment or configuration and without performance and cost penalties.</a:t>
          </a:r>
        </a:p>
      </dsp:txBody>
      <dsp:txXfrm>
        <a:off x="1853898" y="7535"/>
        <a:ext cx="19800016" cy="1605106"/>
      </dsp:txXfrm>
    </dsp:sp>
    <dsp:sp modelId="{4F803472-04D4-4BCC-A215-1052DC31FB0F}">
      <dsp:nvSpPr>
        <dsp:cNvPr id="0" name=""/>
        <dsp:cNvSpPr/>
      </dsp:nvSpPr>
      <dsp:spPr>
        <a:xfrm>
          <a:off x="0" y="2013919"/>
          <a:ext cx="21653915" cy="16051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1A0333-F086-44E0-8236-D79852C3D2FD}">
      <dsp:nvSpPr>
        <dsp:cNvPr id="0" name=""/>
        <dsp:cNvSpPr/>
      </dsp:nvSpPr>
      <dsp:spPr>
        <a:xfrm>
          <a:off x="485544" y="2375068"/>
          <a:ext cx="882808" cy="8828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C8ED3E-0702-4BB5-BFC2-D4316A6F16F0}">
      <dsp:nvSpPr>
        <dsp:cNvPr id="0" name=""/>
        <dsp:cNvSpPr/>
      </dsp:nvSpPr>
      <dsp:spPr>
        <a:xfrm>
          <a:off x="1853898" y="2013919"/>
          <a:ext cx="19800016" cy="1605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874" tIns="169874" rIns="169874" bIns="169874" numCol="1" spcCol="1270" anchor="ctr" anchorCtr="0">
          <a:noAutofit/>
        </a:bodyPr>
        <a:lstStyle/>
        <a:p>
          <a:pPr marL="0" lvl="0" indent="0" algn="l" defTabSz="889000">
            <a:lnSpc>
              <a:spcPct val="90000"/>
            </a:lnSpc>
            <a:spcBef>
              <a:spcPct val="0"/>
            </a:spcBef>
            <a:spcAft>
              <a:spcPct val="35000"/>
            </a:spcAft>
            <a:buNone/>
          </a:pPr>
          <a:r>
            <a:rPr lang="en-US" sz="2000" kern="1200" dirty="0"/>
            <a:t>Device and location-independent abstract database resources without concern for hardware utilization</a:t>
          </a:r>
        </a:p>
      </dsp:txBody>
      <dsp:txXfrm>
        <a:off x="1853898" y="2013919"/>
        <a:ext cx="19800016" cy="1605106"/>
      </dsp:txXfrm>
    </dsp:sp>
    <dsp:sp modelId="{94AE00A1-2C81-4863-9D59-65F4575CEFE1}">
      <dsp:nvSpPr>
        <dsp:cNvPr id="0" name=""/>
        <dsp:cNvSpPr/>
      </dsp:nvSpPr>
      <dsp:spPr>
        <a:xfrm>
          <a:off x="0" y="4020302"/>
          <a:ext cx="21653915" cy="16051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B29B47-6229-4BF3-96A9-37FA404F9167}">
      <dsp:nvSpPr>
        <dsp:cNvPr id="0" name=""/>
        <dsp:cNvSpPr/>
      </dsp:nvSpPr>
      <dsp:spPr>
        <a:xfrm>
          <a:off x="485544" y="4381451"/>
          <a:ext cx="882808" cy="8828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BFA5168-D16D-40A2-8061-BBFC4BAC4764}">
      <dsp:nvSpPr>
        <dsp:cNvPr id="0" name=""/>
        <dsp:cNvSpPr/>
      </dsp:nvSpPr>
      <dsp:spPr>
        <a:xfrm>
          <a:off x="1853898" y="4020302"/>
          <a:ext cx="19800016" cy="1605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874" tIns="169874" rIns="169874" bIns="169874" numCol="1" spcCol="1270" anchor="ctr" anchorCtr="0">
          <a:noAutofit/>
        </a:bodyPr>
        <a:lstStyle/>
        <a:p>
          <a:pPr marL="0" lvl="0" indent="0" algn="l" defTabSz="889000">
            <a:lnSpc>
              <a:spcPct val="90000"/>
            </a:lnSpc>
            <a:spcBef>
              <a:spcPct val="0"/>
            </a:spcBef>
            <a:spcAft>
              <a:spcPct val="35000"/>
            </a:spcAft>
            <a:buNone/>
          </a:pPr>
          <a:r>
            <a:rPr lang="en-US" sz="2000" kern="1200" dirty="0"/>
            <a:t>Elasticity and scalability – automated and dynamic scaling</a:t>
          </a:r>
        </a:p>
      </dsp:txBody>
      <dsp:txXfrm>
        <a:off x="1853898" y="4020302"/>
        <a:ext cx="19800016" cy="1605106"/>
      </dsp:txXfrm>
    </dsp:sp>
    <dsp:sp modelId="{F14CA394-2608-49BA-84A7-100274103AFE}">
      <dsp:nvSpPr>
        <dsp:cNvPr id="0" name=""/>
        <dsp:cNvSpPr/>
      </dsp:nvSpPr>
      <dsp:spPr>
        <a:xfrm>
          <a:off x="0" y="6026686"/>
          <a:ext cx="21653915" cy="16051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91A517-2EA0-4F5C-9C2D-5C601C661DFF}">
      <dsp:nvSpPr>
        <dsp:cNvPr id="0" name=""/>
        <dsp:cNvSpPr/>
      </dsp:nvSpPr>
      <dsp:spPr>
        <a:xfrm>
          <a:off x="485544" y="6387835"/>
          <a:ext cx="882808" cy="88280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388EEBE-6DE6-4582-BB8F-2388E1FCFB65}">
      <dsp:nvSpPr>
        <dsp:cNvPr id="0" name=""/>
        <dsp:cNvSpPr/>
      </dsp:nvSpPr>
      <dsp:spPr>
        <a:xfrm>
          <a:off x="1853898" y="6026686"/>
          <a:ext cx="19800016" cy="1605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874" tIns="169874" rIns="169874" bIns="169874" numCol="1" spcCol="1270" anchor="ctr" anchorCtr="0">
          <a:noAutofit/>
        </a:bodyPr>
        <a:lstStyle/>
        <a:p>
          <a:pPr marL="0" lvl="0" indent="0" algn="l" defTabSz="889000">
            <a:lnSpc>
              <a:spcPct val="90000"/>
            </a:lnSpc>
            <a:spcBef>
              <a:spcPct val="0"/>
            </a:spcBef>
            <a:spcAft>
              <a:spcPct val="35000"/>
            </a:spcAft>
            <a:buNone/>
          </a:pPr>
          <a:r>
            <a:rPr lang="en-US" sz="2000" kern="1200" dirty="0"/>
            <a:t>Pay-as-you-go model – metered use of resources and cost reflecting the resources used</a:t>
          </a:r>
        </a:p>
      </dsp:txBody>
      <dsp:txXfrm>
        <a:off x="1853898" y="6026686"/>
        <a:ext cx="19800016" cy="1605106"/>
      </dsp:txXfrm>
    </dsp:sp>
    <dsp:sp modelId="{6F545475-F6A0-47CE-BE08-D7F064F6C65C}">
      <dsp:nvSpPr>
        <dsp:cNvPr id="0" name=""/>
        <dsp:cNvSpPr/>
      </dsp:nvSpPr>
      <dsp:spPr>
        <a:xfrm>
          <a:off x="0" y="8033069"/>
          <a:ext cx="21653915" cy="16051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CB01EF-0E88-482A-9D0F-91C350FDB8AF}">
      <dsp:nvSpPr>
        <dsp:cNvPr id="0" name=""/>
        <dsp:cNvSpPr/>
      </dsp:nvSpPr>
      <dsp:spPr>
        <a:xfrm>
          <a:off x="485544" y="8394218"/>
          <a:ext cx="882808" cy="88280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C56B66-E1F4-44CB-A245-4ABE304AD9E8}">
      <dsp:nvSpPr>
        <dsp:cNvPr id="0" name=""/>
        <dsp:cNvSpPr/>
      </dsp:nvSpPr>
      <dsp:spPr>
        <a:xfrm>
          <a:off x="1853898" y="8033069"/>
          <a:ext cx="19800016" cy="1605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874" tIns="169874" rIns="169874" bIns="169874" numCol="1" spcCol="1270" anchor="ctr" anchorCtr="0">
          <a:noAutofit/>
        </a:bodyPr>
        <a:lstStyle/>
        <a:p>
          <a:pPr marL="0" lvl="0" indent="0" algn="l" defTabSz="889000">
            <a:lnSpc>
              <a:spcPct val="90000"/>
            </a:lnSpc>
            <a:spcBef>
              <a:spcPct val="0"/>
            </a:spcBef>
            <a:spcAft>
              <a:spcPct val="35000"/>
            </a:spcAft>
            <a:buNone/>
          </a:pPr>
          <a:r>
            <a:rPr lang="en-US" sz="2000" kern="1200" dirty="0"/>
            <a:t>Agility – the applications adapt seamlessly to new technology or additional requirements.</a:t>
          </a:r>
        </a:p>
      </dsp:txBody>
      <dsp:txXfrm>
        <a:off x="1853898" y="8033069"/>
        <a:ext cx="19800016" cy="160510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Tx/>
              <a:buChar char="-"/>
            </a:pPr>
            <a:r>
              <a:rPr lang="en-US" dirty="0"/>
              <a:t>SaaS is a centrally hosted service based on a subscription model for licensed software</a:t>
            </a:r>
          </a:p>
          <a:p>
            <a:pPr marL="171450" indent="-171450">
              <a:buFontTx/>
              <a:buChar char="-"/>
            </a:pPr>
            <a:r>
              <a:rPr lang="en-US" dirty="0"/>
              <a:t>PaaS provide a computing platform and applications, without the need to manage the infrastructure required to build and run the applications</a:t>
            </a:r>
          </a:p>
          <a:p>
            <a:pPr marL="171450" indent="-171450">
              <a:buFontTx/>
              <a:buChar char="-"/>
            </a:pPr>
            <a:r>
              <a:rPr lang="en-US" dirty="0"/>
              <a:t>IaaS is the model where the CSP provides a menu resource bundles and the users can choose the operating system and manage the resources in the bundle</a:t>
            </a:r>
          </a:p>
          <a:p>
            <a:pPr marL="171450" indent="-171450">
              <a:buFontTx/>
              <a:buChar char="-"/>
            </a:pPr>
            <a:r>
              <a:rPr lang="en-US" dirty="0"/>
              <a:t>DBaaS enables users to setup and operate several databases using a common set of abstractions, without the need to know the exact implementations of the abstractions for individual databases</a:t>
            </a:r>
          </a:p>
          <a:p>
            <a:endParaRPr lang="en-US" dirty="0"/>
          </a:p>
        </p:txBody>
      </p:sp>
    </p:spTree>
    <p:extLst>
      <p:ext uri="{BB962C8B-B14F-4D97-AF65-F5344CB8AC3E}">
        <p14:creationId xmlns:p14="http://schemas.microsoft.com/office/powerpoint/2010/main" val="2556399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Software and cloud infrastructure control versus ease of use of the service.</a:t>
            </a:r>
          </a:p>
          <a:p>
            <a:r>
              <a:rPr lang="en-US" dirty="0"/>
              <a:t>SaaS allows no infrastructure control and does not require any sophistication to use applications supplied by CSP.</a:t>
            </a:r>
          </a:p>
          <a:p>
            <a:r>
              <a:rPr lang="en-US" dirty="0"/>
              <a:t>PaaS supports consumer-created or acquired applications using CSP-provided tools.</a:t>
            </a:r>
          </a:p>
          <a:p>
            <a:r>
              <a:rPr lang="en-US" dirty="0"/>
              <a:t>IaaS empowers advanced developers and uses to choose the operating system, run arbitrary software, choose the type of instances, and manage instance resources</a:t>
            </a:r>
          </a:p>
        </p:txBody>
      </p:sp>
      <p:sp>
        <p:nvSpPr>
          <p:cNvPr id="4" name="Slide Number Placeholder 3"/>
          <p:cNvSpPr>
            <a:spLocks noGrp="1"/>
          </p:cNvSpPr>
          <p:nvPr>
            <p:ph type="sldNum" sz="quarter" idx="5"/>
          </p:nvPr>
        </p:nvSpPr>
        <p:spPr/>
        <p:txBody>
          <a:bodyPr/>
          <a:lstStyle/>
          <a:p>
            <a:pPr>
              <a:defRPr/>
            </a:pPr>
            <a:fld id="{79AA5398-C5FC-44A4-BE40-14B7E609EB14}" type="slidenum">
              <a:rPr lang="en-US" smtClean="0"/>
              <a:pPr>
                <a:defRPr/>
              </a:pPr>
              <a:t>13</a:t>
            </a:fld>
            <a:endParaRPr lang="en-US"/>
          </a:p>
        </p:txBody>
      </p:sp>
    </p:spTree>
    <p:extLst>
      <p:ext uri="{BB962C8B-B14F-4D97-AF65-F5344CB8AC3E}">
        <p14:creationId xmlns:p14="http://schemas.microsoft.com/office/powerpoint/2010/main" val="926884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Tx/>
              <a:buChar char="-"/>
            </a:pPr>
            <a:r>
              <a:rPr lang="en-US" dirty="0"/>
              <a:t>Security : The most significant challenge, gaining the trust of a large user base is critical for the future of cloud computing. It is unrealistic to expect that a public cloud will provide a suitable environment for all applications. Several issues are like to protect private information such as financial or healthcare services, defend against attack such as denial-of-service (DoS) attacks, and the most vulnerable to attacks is the data in storage.</a:t>
            </a:r>
          </a:p>
          <a:p>
            <a:pPr marL="171450" indent="-171450">
              <a:buFontTx/>
              <a:buChar char="-"/>
            </a:pPr>
            <a:r>
              <a:rPr lang="en-US" dirty="0"/>
              <a:t>Cloud Resource Management : A systematic, rather than ad hoc, resource-management strategy requires the existence of controllers tasked to implement several classes of policies; admission control, capacity allocation, load balancing, energy optimization, and to provide Quality of Service (QoS) guarantees.</a:t>
            </a:r>
          </a:p>
          <a:p>
            <a:pPr marL="171450" indent="-171450">
              <a:buFontTx/>
              <a:buChar char="-"/>
            </a:pPr>
            <a:r>
              <a:rPr lang="en-US" dirty="0"/>
              <a:t>Interoperability and Standardization : Vendor lock-in, the fact that a user is tied to a particular cloud service provider is a major concern for cloud users. Standardization would support interoperability and, thus, alleviate some of the fears that a service critical for a large organization may not be available for an extended period of time. But imposing standards at a time when a technology is still evolving is not only challenging but can be counterproductive because it may stiffen innovation.</a:t>
            </a:r>
          </a:p>
        </p:txBody>
      </p:sp>
      <p:sp>
        <p:nvSpPr>
          <p:cNvPr id="4" name="Slide Number Placeholder 3"/>
          <p:cNvSpPr>
            <a:spLocks noGrp="1"/>
          </p:cNvSpPr>
          <p:nvPr>
            <p:ph type="sldNum" sz="quarter" idx="5"/>
          </p:nvPr>
        </p:nvSpPr>
        <p:spPr/>
        <p:txBody>
          <a:bodyPr/>
          <a:lstStyle/>
          <a:p>
            <a:pPr>
              <a:defRPr/>
            </a:pPr>
            <a:fld id="{79AA5398-C5FC-44A4-BE40-14B7E609EB14}" type="slidenum">
              <a:rPr lang="en-US" smtClean="0"/>
              <a:pPr>
                <a:defRPr/>
              </a:pPr>
              <a:t>20</a:t>
            </a:fld>
            <a:endParaRPr lang="en-US"/>
          </a:p>
        </p:txBody>
      </p:sp>
    </p:spTree>
    <p:extLst>
      <p:ext uri="{BB962C8B-B14F-4D97-AF65-F5344CB8AC3E}">
        <p14:creationId xmlns:p14="http://schemas.microsoft.com/office/powerpoint/2010/main" val="8627363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 y="-27874"/>
            <a:ext cx="24383997" cy="129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10314384"/>
            <a:ext cx="24383995" cy="34016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 name="Title 1"/>
          <p:cNvSpPr>
            <a:spLocks noGrp="1"/>
          </p:cNvSpPr>
          <p:nvPr>
            <p:ph type="title"/>
          </p:nvPr>
        </p:nvSpPr>
        <p:spPr>
          <a:xfrm>
            <a:off x="3048000" y="2743200"/>
            <a:ext cx="20116800" cy="1279376"/>
          </a:xfrm>
        </p:spPr>
        <p:txBody>
          <a:bodyPr>
            <a:normAutofit/>
          </a:bodyPr>
          <a:lstStyle>
            <a:lvl1pPr algn="ctr">
              <a:defRPr sz="6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1219200" y="12906673"/>
            <a:ext cx="5689600" cy="730250"/>
          </a:xfrm>
        </p:spPr>
        <p:txBody>
          <a:bodyPr/>
          <a:lstStyle/>
          <a:p>
            <a:fld id="{0128E760-7C15-42F8-B051-F548DC2F0B0B}" type="datetime1">
              <a:rPr lang="id-ID" smtClean="0"/>
              <a:pPr/>
              <a:t>24/12/2025</a:t>
            </a:fld>
            <a:endParaRPr lang="id-ID"/>
          </a:p>
        </p:txBody>
      </p:sp>
      <p:sp>
        <p:nvSpPr>
          <p:cNvPr id="9" name="Footer Placeholder 4"/>
          <p:cNvSpPr>
            <a:spLocks noGrp="1"/>
          </p:cNvSpPr>
          <p:nvPr>
            <p:ph type="ftr" sz="quarter" idx="11"/>
          </p:nvPr>
        </p:nvSpPr>
        <p:spPr>
          <a:xfrm>
            <a:off x="8331200" y="12906673"/>
            <a:ext cx="7721600" cy="730250"/>
          </a:xfrm>
        </p:spPr>
        <p:txBody>
          <a:bodyPr/>
          <a:lstStyle/>
          <a:p>
            <a:endParaRPr lang="id-ID"/>
          </a:p>
        </p:txBody>
      </p:sp>
      <p:sp>
        <p:nvSpPr>
          <p:cNvPr id="10" name="Slide Number Placeholder 5"/>
          <p:cNvSpPr>
            <a:spLocks noGrp="1"/>
          </p:cNvSpPr>
          <p:nvPr>
            <p:ph type="sldNum" sz="quarter" idx="12"/>
          </p:nvPr>
        </p:nvSpPr>
        <p:spPr>
          <a:xfrm>
            <a:off x="17475200" y="12906673"/>
            <a:ext cx="5689600" cy="730250"/>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3048000" y="4022577"/>
            <a:ext cx="20281237" cy="8916270"/>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29587208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 y="-27874"/>
            <a:ext cx="24383997" cy="129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10314384"/>
            <a:ext cx="24383995" cy="34016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 name="Title 1"/>
          <p:cNvSpPr>
            <a:spLocks noGrp="1"/>
          </p:cNvSpPr>
          <p:nvPr>
            <p:ph type="title"/>
          </p:nvPr>
        </p:nvSpPr>
        <p:spPr>
          <a:xfrm>
            <a:off x="3048000" y="2743200"/>
            <a:ext cx="20116800" cy="1279376"/>
          </a:xfrm>
        </p:spPr>
        <p:txBody>
          <a:bodyPr>
            <a:normAutofit/>
          </a:bodyPr>
          <a:lstStyle>
            <a:lvl1pPr algn="ctr">
              <a:defRPr sz="6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1219200" y="12906673"/>
            <a:ext cx="5689600" cy="730250"/>
          </a:xfrm>
        </p:spPr>
        <p:txBody>
          <a:bodyPr/>
          <a:lstStyle/>
          <a:p>
            <a:fld id="{0128E760-7C15-42F8-B051-F548DC2F0B0B}" type="datetime1">
              <a:rPr lang="id-ID" smtClean="0"/>
              <a:pPr/>
              <a:t>24/12/2025</a:t>
            </a:fld>
            <a:endParaRPr lang="id-ID"/>
          </a:p>
        </p:txBody>
      </p:sp>
      <p:sp>
        <p:nvSpPr>
          <p:cNvPr id="9" name="Footer Placeholder 4"/>
          <p:cNvSpPr>
            <a:spLocks noGrp="1"/>
          </p:cNvSpPr>
          <p:nvPr>
            <p:ph type="ftr" sz="quarter" idx="11"/>
          </p:nvPr>
        </p:nvSpPr>
        <p:spPr>
          <a:xfrm>
            <a:off x="8331200" y="12906673"/>
            <a:ext cx="7721600" cy="730250"/>
          </a:xfrm>
        </p:spPr>
        <p:txBody>
          <a:bodyPr/>
          <a:lstStyle/>
          <a:p>
            <a:endParaRPr lang="id-ID"/>
          </a:p>
        </p:txBody>
      </p:sp>
      <p:sp>
        <p:nvSpPr>
          <p:cNvPr id="10" name="Slide Number Placeholder 5"/>
          <p:cNvSpPr>
            <a:spLocks noGrp="1"/>
          </p:cNvSpPr>
          <p:nvPr>
            <p:ph type="sldNum" sz="quarter" idx="12"/>
          </p:nvPr>
        </p:nvSpPr>
        <p:spPr>
          <a:xfrm>
            <a:off x="17475200" y="12906673"/>
            <a:ext cx="5689600" cy="730250"/>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3048000" y="4022577"/>
            <a:ext cx="20281237" cy="8916270"/>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3038497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 id="2147483690" r:id="rId25"/>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4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fontScale="90000"/>
          </a:bodyPr>
          <a:lstStyle/>
          <a:p>
            <a:r>
              <a:rPr lang="en-US" dirty="0"/>
              <a:t>Cloud Ecosystems</a:t>
            </a:r>
            <a:br>
              <a:rPr lang="en-US" dirty="0"/>
            </a:br>
            <a:br>
              <a:rPr lang="en-US" dirty="0"/>
            </a:br>
            <a:br>
              <a:rPr lang="en-US" dirty="0"/>
            </a:br>
            <a:r>
              <a:rPr lang="en-US" sz="6000" dirty="0"/>
              <a:t>Session 02</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5252749"/>
            <a:ext cx="13714940" cy="4522264"/>
          </a:xfrm>
        </p:spPr>
        <p:txBody>
          <a:bodyPr>
            <a:noAutofit/>
          </a:bodyPr>
          <a:lstStyle/>
          <a:p>
            <a:r>
              <a:rPr lang="en-US" sz="3200" dirty="0"/>
              <a:t>At the end of this session, the student will be expected to :</a:t>
            </a:r>
          </a:p>
          <a:p>
            <a:r>
              <a:rPr lang="en-US" sz="3200" dirty="0"/>
              <a:t>Students able to explain delivery model and services of cloud computing</a:t>
            </a:r>
          </a:p>
          <a:p>
            <a:r>
              <a:rPr lang="en-US" sz="3200" dirty="0"/>
              <a:t>Students known and able to explain the challenges of Cloud Computing</a:t>
            </a:r>
          </a:p>
          <a:p>
            <a:r>
              <a:rPr lang="en-US" sz="3200" dirty="0"/>
              <a:t>Students known and able to describe the provider of cloud computing and it’s services</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5521795"/>
            <a:ext cx="13714940" cy="4522264"/>
          </a:xfrm>
        </p:spPr>
        <p:txBody>
          <a:bodyPr>
            <a:noAutofit/>
          </a:bodyPr>
          <a:lstStyle/>
          <a:p>
            <a:r>
              <a:rPr lang="en-US" sz="3200" dirty="0"/>
              <a:t>Cloud Computing Delivery Models and Services</a:t>
            </a:r>
          </a:p>
          <a:p>
            <a:r>
              <a:rPr lang="en-US" sz="3200" dirty="0"/>
              <a:t>Challenges Faced by Cloud Computing</a:t>
            </a:r>
          </a:p>
          <a:p>
            <a:r>
              <a:rPr lang="en-US" sz="3200" dirty="0"/>
              <a:t>Cloud Computing as a Disruptive Technology</a:t>
            </a:r>
          </a:p>
          <a:p>
            <a:r>
              <a:rPr lang="en-US" sz="3200" dirty="0"/>
              <a:t>Cloud Service Provider</a:t>
            </a:r>
          </a:p>
          <a:p>
            <a:endParaRPr lang="en-US" sz="3200" dirty="0"/>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Cloud Computing Delivery Models and Services</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C4292DF7-B7C7-BFFC-1979-70E842404158}"/>
              </a:ext>
            </a:extLst>
          </p:cNvPr>
          <p:cNvSpPr>
            <a:spLocks noGrp="1"/>
          </p:cNvSpPr>
          <p:nvPr>
            <p:ph type="title"/>
          </p:nvPr>
        </p:nvSpPr>
        <p:spPr>
          <a:xfrm>
            <a:off x="2167377" y="1871164"/>
            <a:ext cx="14715569" cy="511175"/>
          </a:xfrm>
        </p:spPr>
        <p:txBody>
          <a:bodyPr>
            <a:normAutofit fontScale="90000"/>
          </a:bodyPr>
          <a:lstStyle/>
          <a:p>
            <a:r>
              <a:rPr lang="en-US" dirty="0"/>
              <a:t>Entities Involved in Cloud Computing</a:t>
            </a:r>
          </a:p>
        </p:txBody>
      </p:sp>
      <p:sp>
        <p:nvSpPr>
          <p:cNvPr id="32" name="Text Placeholder 2">
            <a:extLst>
              <a:ext uri="{FF2B5EF4-FFF2-40B4-BE49-F238E27FC236}">
                <a16:creationId xmlns:a16="http://schemas.microsoft.com/office/drawing/2014/main" id="{213E7215-D419-CF75-B73D-A6DC6110CAC6}"/>
              </a:ext>
            </a:extLst>
          </p:cNvPr>
          <p:cNvSpPr>
            <a:spLocks noGrp="1"/>
          </p:cNvSpPr>
          <p:nvPr>
            <p:ph type="body" sz="quarter" idx="10"/>
          </p:nvPr>
        </p:nvSpPr>
        <p:spPr>
          <a:xfrm>
            <a:off x="2167377" y="2419728"/>
            <a:ext cx="9768875" cy="803546"/>
          </a:xfrm>
        </p:spPr>
        <p:txBody>
          <a:bodyPr/>
          <a:lstStyle/>
          <a:p>
            <a:endParaRPr lang="en-US"/>
          </a:p>
        </p:txBody>
      </p:sp>
      <p:sp>
        <p:nvSpPr>
          <p:cNvPr id="33" name="Text Placeholder 3">
            <a:extLst>
              <a:ext uri="{FF2B5EF4-FFF2-40B4-BE49-F238E27FC236}">
                <a16:creationId xmlns:a16="http://schemas.microsoft.com/office/drawing/2014/main" id="{FBAC47F8-D52C-ACFE-2FD2-2FAA38426923}"/>
              </a:ext>
            </a:extLst>
          </p:cNvPr>
          <p:cNvSpPr>
            <a:spLocks noGrp="1"/>
          </p:cNvSpPr>
          <p:nvPr>
            <p:ph type="body" sz="quarter" idx="16"/>
          </p:nvPr>
        </p:nvSpPr>
        <p:spPr>
          <a:xfrm>
            <a:off x="2166906" y="5720662"/>
            <a:ext cx="9768906" cy="7690538"/>
          </a:xfrm>
        </p:spPr>
        <p:txBody>
          <a:bodyPr/>
          <a:lstStyle/>
          <a:p>
            <a:r>
              <a:rPr lang="en-US" dirty="0"/>
              <a:t>Service consumer: maintains a business relationship with, and uses service from, service providers</a:t>
            </a:r>
          </a:p>
          <a:p>
            <a:r>
              <a:rPr lang="en-US" dirty="0"/>
              <a:t>Service provider: responsible for making a service available to service consumers</a:t>
            </a:r>
          </a:p>
          <a:p>
            <a:r>
              <a:rPr lang="en-US" dirty="0"/>
              <a:t>Carrier: Intermediary providing connectivity and transport of cloud services between providers and consumers</a:t>
            </a:r>
          </a:p>
          <a:p>
            <a:r>
              <a:rPr lang="en-US" dirty="0"/>
              <a:t>Broker: Manage the use, performance, and delivery of cloud services, and negotiates relationships between providers and consumers</a:t>
            </a:r>
          </a:p>
          <a:p>
            <a:r>
              <a:rPr lang="en-US" dirty="0"/>
              <a:t>Auditor: A party that can conduct independent assessment of cloud services, information system operations, performance and security of the cloud implementation</a:t>
            </a:r>
          </a:p>
        </p:txBody>
      </p:sp>
      <p:pic>
        <p:nvPicPr>
          <p:cNvPr id="8" name="Content Placeholder 3" descr="Graphical user interface&#10;&#10;Description automatically generated">
            <a:extLst>
              <a:ext uri="{FF2B5EF4-FFF2-40B4-BE49-F238E27FC236}">
                <a16:creationId xmlns:a16="http://schemas.microsoft.com/office/drawing/2014/main" id="{B1D74AA1-7F44-B4EA-AE1B-C07E0B9BEA8B}"/>
              </a:ext>
            </a:extLst>
          </p:cNvPr>
          <p:cNvPicPr>
            <a:picLocks noChangeAspect="1"/>
          </p:cNvPicPr>
          <p:nvPr/>
        </p:nvPicPr>
        <p:blipFill>
          <a:blip r:embed="rId2"/>
          <a:stretch>
            <a:fillRect/>
          </a:stretch>
        </p:blipFill>
        <p:spPr>
          <a:xfrm>
            <a:off x="12339930" y="4645694"/>
            <a:ext cx="9099057" cy="7051767"/>
          </a:xfrm>
          <a:prstGeom prst="rect">
            <a:avLst/>
          </a:prstGeom>
          <a:noFill/>
        </p:spPr>
      </p:pic>
      <p:sp>
        <p:nvSpPr>
          <p:cNvPr id="34" name="Text Placeholder 5">
            <a:extLst>
              <a:ext uri="{FF2B5EF4-FFF2-40B4-BE49-F238E27FC236}">
                <a16:creationId xmlns:a16="http://schemas.microsoft.com/office/drawing/2014/main" id="{1D0B66F8-8FDE-D96A-B1DF-68233FC015F5}"/>
              </a:ext>
            </a:extLst>
          </p:cNvPr>
          <p:cNvSpPr>
            <a:spLocks noGrp="1"/>
          </p:cNvSpPr>
          <p:nvPr>
            <p:ph type="body" sz="quarter" idx="17"/>
          </p:nvPr>
        </p:nvSpPr>
        <p:spPr>
          <a:xfrm>
            <a:off x="2166938" y="4210049"/>
            <a:ext cx="9768874" cy="2039112"/>
          </a:xfrm>
        </p:spPr>
        <p:txBody>
          <a:bodyPr/>
          <a:lstStyle/>
          <a:p>
            <a:r>
              <a:rPr lang="en-US" dirty="0"/>
              <a:t>These entities will work together </a:t>
            </a:r>
          </a:p>
        </p:txBody>
      </p:sp>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8CAB1-535E-115F-AE1E-E8FDE6A953F8}"/>
              </a:ext>
            </a:extLst>
          </p:cNvPr>
          <p:cNvSpPr>
            <a:spLocks noGrp="1"/>
          </p:cNvSpPr>
          <p:nvPr>
            <p:ph type="title"/>
          </p:nvPr>
        </p:nvSpPr>
        <p:spPr/>
        <p:txBody>
          <a:bodyPr>
            <a:normAutofit fontScale="90000"/>
          </a:bodyPr>
          <a:lstStyle/>
          <a:p>
            <a:r>
              <a:rPr lang="en-US" dirty="0"/>
              <a:t>Cloud Delivery Models</a:t>
            </a:r>
          </a:p>
        </p:txBody>
      </p:sp>
      <p:sp>
        <p:nvSpPr>
          <p:cNvPr id="3" name="Text Placeholder 2">
            <a:extLst>
              <a:ext uri="{FF2B5EF4-FFF2-40B4-BE49-F238E27FC236}">
                <a16:creationId xmlns:a16="http://schemas.microsoft.com/office/drawing/2014/main" id="{AB98EADF-55E3-8B96-6A5B-239FDE2B13F3}"/>
              </a:ext>
            </a:extLst>
          </p:cNvPr>
          <p:cNvSpPr>
            <a:spLocks noGrp="1"/>
          </p:cNvSpPr>
          <p:nvPr>
            <p:ph type="body" sz="quarter" idx="10"/>
          </p:nvPr>
        </p:nvSpPr>
        <p:spPr/>
        <p:txBody>
          <a:bodyPr>
            <a:noAutofit/>
          </a:bodyPr>
          <a:lstStyle/>
          <a:p>
            <a:r>
              <a:rPr lang="en-US" dirty="0"/>
              <a:t>Cloud Service Providers (CSPs) support one or more cloud delivery models:</a:t>
            </a:r>
          </a:p>
          <a:p>
            <a:endParaRPr lang="en-US" dirty="0"/>
          </a:p>
        </p:txBody>
      </p:sp>
      <p:sp>
        <p:nvSpPr>
          <p:cNvPr id="4" name="Content Placeholder 3">
            <a:extLst>
              <a:ext uri="{FF2B5EF4-FFF2-40B4-BE49-F238E27FC236}">
                <a16:creationId xmlns:a16="http://schemas.microsoft.com/office/drawing/2014/main" id="{6D056936-694B-AF01-91D0-DAEB0344324D}"/>
              </a:ext>
            </a:extLst>
          </p:cNvPr>
          <p:cNvSpPr>
            <a:spLocks noGrp="1"/>
          </p:cNvSpPr>
          <p:nvPr>
            <p:ph sz="quarter" idx="11"/>
          </p:nvPr>
        </p:nvSpPr>
        <p:spPr>
          <a:xfrm>
            <a:off x="2167377" y="5878669"/>
            <a:ext cx="13714940" cy="4522264"/>
          </a:xfrm>
          <a:noFill/>
        </p:spPr>
        <p:txBody>
          <a:bodyPr/>
          <a:lstStyle/>
          <a:p>
            <a:r>
              <a:rPr lang="en-US" dirty="0"/>
              <a:t>SaaS (Software as a Service)</a:t>
            </a:r>
          </a:p>
          <a:p>
            <a:r>
              <a:rPr lang="en-US" dirty="0"/>
              <a:t>PaaS (Platform as a Service)</a:t>
            </a:r>
          </a:p>
          <a:p>
            <a:r>
              <a:rPr lang="en-US" dirty="0"/>
              <a:t>IaaS (Infrastructure as a Service)</a:t>
            </a:r>
          </a:p>
          <a:p>
            <a:r>
              <a:rPr lang="en-US" dirty="0"/>
              <a:t>DBaaS (Database as a Service)</a:t>
            </a:r>
          </a:p>
        </p:txBody>
      </p:sp>
    </p:spTree>
    <p:extLst>
      <p:ext uri="{BB962C8B-B14F-4D97-AF65-F5344CB8AC3E}">
        <p14:creationId xmlns:p14="http://schemas.microsoft.com/office/powerpoint/2010/main" val="291228151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7EC7-A799-E9C0-7E9B-5D7D9F181D7B}"/>
              </a:ext>
            </a:extLst>
          </p:cNvPr>
          <p:cNvSpPr>
            <a:spLocks noGrp="1"/>
          </p:cNvSpPr>
          <p:nvPr>
            <p:ph type="title"/>
          </p:nvPr>
        </p:nvSpPr>
        <p:spPr>
          <a:xfrm>
            <a:off x="2167377" y="1871164"/>
            <a:ext cx="14715569" cy="511175"/>
          </a:xfrm>
        </p:spPr>
        <p:txBody>
          <a:bodyPr>
            <a:normAutofit fontScale="90000"/>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kumimoji="0" lang="en-US" sz="3400" b="1" i="0" u="none" strike="noStrike" kern="0" cap="all" spc="0" normalizeH="0" baseline="0" noProof="0" dirty="0">
                <a:ln>
                  <a:noFill/>
                </a:ln>
                <a:solidFill>
                  <a:srgbClr val="128CCD"/>
                </a:solidFill>
                <a:effectLst/>
                <a:uLnTx/>
                <a:uFill>
                  <a:solidFill>
                    <a:srgbClr val="143E56"/>
                  </a:solidFill>
                </a:uFill>
                <a:latin typeface="Open Sans ExtraBold" pitchFamily="2" charset="0"/>
                <a:ea typeface="Open Sans ExtraBold" pitchFamily="2" charset="0"/>
                <a:cs typeface="Open Sans ExtraBold" pitchFamily="2" charset="0"/>
                <a:sym typeface="Helvetica Neue"/>
              </a:rPr>
              <a:t>SAAS (software as a service)</a:t>
            </a:r>
            <a:endParaRPr lang="en-US" sz="3200" dirty="0">
              <a:solidFill>
                <a:srgbClr val="128CCD"/>
              </a:solidFill>
            </a:endParaRPr>
          </a:p>
        </p:txBody>
      </p:sp>
      <p:sp>
        <p:nvSpPr>
          <p:cNvPr id="16" name="Text Placeholder 2">
            <a:extLst>
              <a:ext uri="{FF2B5EF4-FFF2-40B4-BE49-F238E27FC236}">
                <a16:creationId xmlns:a16="http://schemas.microsoft.com/office/drawing/2014/main" id="{00129D61-A7AF-FE75-DC9C-314C87EB3F1F}"/>
              </a:ext>
            </a:extLst>
          </p:cNvPr>
          <p:cNvSpPr>
            <a:spLocks noGrp="1"/>
          </p:cNvSpPr>
          <p:nvPr>
            <p:ph type="body" sz="quarter" idx="10"/>
          </p:nvPr>
        </p:nvSpPr>
        <p:spPr>
          <a:xfrm>
            <a:off x="2167377" y="2419728"/>
            <a:ext cx="9768875" cy="803546"/>
          </a:xfrm>
        </p:spPr>
        <p:txBody>
          <a:bodyPr/>
          <a:lstStyle/>
          <a:p>
            <a:endParaRPr lang="en-US" dirty="0"/>
          </a:p>
        </p:txBody>
      </p:sp>
      <p:sp>
        <p:nvSpPr>
          <p:cNvPr id="5" name="Content Placeholder 4">
            <a:extLst>
              <a:ext uri="{FF2B5EF4-FFF2-40B4-BE49-F238E27FC236}">
                <a16:creationId xmlns:a16="http://schemas.microsoft.com/office/drawing/2014/main" id="{AFD53BEA-494D-820C-177B-DE95490C0950}"/>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spcAft>
                <a:spcPts val="600"/>
              </a:spcAft>
            </a:pPr>
            <a:endParaRPr lang="en-US" sz="2600" dirty="0">
              <a:solidFill>
                <a:srgbClr val="FFFFFF"/>
              </a:solidFill>
            </a:endParaRPr>
          </a:p>
          <a:p>
            <a:pPr>
              <a:spcAft>
                <a:spcPts val="600"/>
              </a:spcAft>
            </a:pPr>
            <a:r>
              <a:rPr lang="en-US" sz="2600" dirty="0">
                <a:solidFill>
                  <a:srgbClr val="FFFFFF"/>
                </a:solidFill>
              </a:rPr>
              <a:t>The users of services do not manage </a:t>
            </a:r>
            <a:r>
              <a:rPr lang="en-US" sz="2600" dirty="0" err="1">
                <a:solidFill>
                  <a:srgbClr val="FFFFFF"/>
                </a:solidFill>
              </a:rPr>
              <a:t>manage</a:t>
            </a:r>
            <a:r>
              <a:rPr lang="en-US" sz="2600" dirty="0">
                <a:solidFill>
                  <a:srgbClr val="FFFFFF"/>
                </a:solidFill>
              </a:rPr>
              <a:t> or control the underlying cloud infrastructure including network, servers, operating systems, storage, or even individual application capabilities, with the possible exception of limited user-specific application configuration setting.</a:t>
            </a:r>
          </a:p>
          <a:p>
            <a:pPr>
              <a:spcAft>
                <a:spcPts val="600"/>
              </a:spcAft>
            </a:pPr>
            <a:endParaRPr lang="en-US" sz="2600" dirty="0">
              <a:solidFill>
                <a:srgbClr val="FFFFFF"/>
              </a:solidFill>
            </a:endParaRPr>
          </a:p>
          <a:p>
            <a:pPr>
              <a:spcAft>
                <a:spcPts val="600"/>
              </a:spcAft>
            </a:pPr>
            <a:r>
              <a:rPr lang="en-US" sz="2600" dirty="0">
                <a:solidFill>
                  <a:srgbClr val="FFFFFF"/>
                </a:solidFill>
              </a:rPr>
              <a:t>The SaaS delivery model is not suitable for applications requiring real-time response or those in which data is not allowed to be hosted externally.</a:t>
            </a:r>
          </a:p>
          <a:p>
            <a:pPr>
              <a:spcAft>
                <a:spcPts val="600"/>
              </a:spcAft>
            </a:pPr>
            <a:endParaRPr lang="en-US" sz="2600" dirty="0">
              <a:solidFill>
                <a:srgbClr val="FFFFFF"/>
              </a:solidFill>
            </a:endParaRPr>
          </a:p>
          <a:p>
            <a:pPr>
              <a:spcAft>
                <a:spcPts val="600"/>
              </a:spcAft>
            </a:pPr>
            <a:endParaRPr lang="en-US" sz="2600" dirty="0">
              <a:solidFill>
                <a:srgbClr val="FFFFFF"/>
              </a:solidFill>
            </a:endParaRPr>
          </a:p>
        </p:txBody>
      </p:sp>
      <p:pic>
        <p:nvPicPr>
          <p:cNvPr id="17" name="Picture 16" descr="Mobile device with apps">
            <a:extLst>
              <a:ext uri="{FF2B5EF4-FFF2-40B4-BE49-F238E27FC236}">
                <a16:creationId xmlns:a16="http://schemas.microsoft.com/office/drawing/2014/main" id="{95BB0D75-1006-544A-EBA5-FEFAA09993D5}"/>
              </a:ext>
            </a:extLst>
          </p:cNvPr>
          <p:cNvPicPr>
            <a:picLocks noChangeAspect="1"/>
          </p:cNvPicPr>
          <p:nvPr/>
        </p:nvPicPr>
        <p:blipFill>
          <a:blip r:embed="rId2"/>
          <a:srcRect l="35392" r="-1" b="-1"/>
          <a:stretch>
            <a:fillRect/>
          </a:stretch>
        </p:blipFill>
        <p:spPr>
          <a:xfrm>
            <a:off x="12339930" y="4210629"/>
            <a:ext cx="9099057" cy="7921898"/>
          </a:xfrm>
          <a:prstGeom prst="rect">
            <a:avLst/>
          </a:prstGeom>
          <a:noFill/>
        </p:spPr>
      </p:pic>
      <p:sp>
        <p:nvSpPr>
          <p:cNvPr id="18" name="Text Placeholder 5">
            <a:extLst>
              <a:ext uri="{FF2B5EF4-FFF2-40B4-BE49-F238E27FC236}">
                <a16:creationId xmlns:a16="http://schemas.microsoft.com/office/drawing/2014/main" id="{A12269D7-F900-1720-E74A-D1BD23B29129}"/>
              </a:ext>
            </a:extLst>
          </p:cNvPr>
          <p:cNvSpPr>
            <a:spLocks noGrp="1"/>
          </p:cNvSpPr>
          <p:nvPr>
            <p:ph type="body" sz="quarter" idx="17"/>
          </p:nvPr>
        </p:nvSpPr>
        <p:spPr>
          <a:xfrm>
            <a:off x="2166938" y="4210049"/>
            <a:ext cx="9768874" cy="2039112"/>
          </a:xfrm>
        </p:spPr>
        <p:txBody>
          <a:bodyPr>
            <a:normAutofit fontScale="85000" lnSpcReduction="10000"/>
          </a:bodyPr>
          <a:lstStyle/>
          <a:p>
            <a:r>
              <a:rPr lang="en-US" dirty="0">
                <a:solidFill>
                  <a:srgbClr val="FFFFFF"/>
                </a:solidFill>
              </a:rPr>
              <a:t>A wide range of stationary and mobile devices enable a large population of clients to access services provided by the applications using a thin client interface such as a web browser.</a:t>
            </a:r>
          </a:p>
          <a:p>
            <a:endParaRPr lang="en-US" dirty="0"/>
          </a:p>
        </p:txBody>
      </p:sp>
      <p:sp>
        <p:nvSpPr>
          <p:cNvPr id="4" name="Slide Number Placeholder 3" hidden="1">
            <a:extLst>
              <a:ext uri="{FF2B5EF4-FFF2-40B4-BE49-F238E27FC236}">
                <a16:creationId xmlns:a16="http://schemas.microsoft.com/office/drawing/2014/main" id="{9E98EE45-8CFE-A270-85CB-4EC09C68E662}"/>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7</a:t>
            </a:fld>
            <a:endParaRPr lang="id-ID"/>
          </a:p>
        </p:txBody>
      </p:sp>
    </p:spTree>
    <p:extLst>
      <p:ext uri="{BB962C8B-B14F-4D97-AF65-F5344CB8AC3E}">
        <p14:creationId xmlns:p14="http://schemas.microsoft.com/office/powerpoint/2010/main" val="253009215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2CAE3-80DA-7B9C-260C-8B5EB96AF762}"/>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kern="0" dirty="0">
                <a:solidFill>
                  <a:srgbClr val="128CCD"/>
                </a:solidFill>
                <a:latin typeface="Open Sans ExtraBold" pitchFamily="2" charset="0"/>
                <a:ea typeface="Open Sans ExtraBold" pitchFamily="2" charset="0"/>
                <a:cs typeface="Open Sans ExtraBold" pitchFamily="2" charset="0"/>
              </a:rPr>
              <a:t>SAAS (software as a service)</a:t>
            </a:r>
            <a:endParaRPr lang="en-US" sz="3200" dirty="0">
              <a:solidFill>
                <a:srgbClr val="128CCD"/>
              </a:solidFill>
            </a:endParaRPr>
          </a:p>
        </p:txBody>
      </p:sp>
      <p:sp>
        <p:nvSpPr>
          <p:cNvPr id="32" name="Text Placeholder 2">
            <a:extLst>
              <a:ext uri="{FF2B5EF4-FFF2-40B4-BE49-F238E27FC236}">
                <a16:creationId xmlns:a16="http://schemas.microsoft.com/office/drawing/2014/main" id="{A03B537E-CB19-593F-717E-1BFC3E3F60CC}"/>
              </a:ext>
            </a:extLst>
          </p:cNvPr>
          <p:cNvSpPr>
            <a:spLocks noGrp="1"/>
          </p:cNvSpPr>
          <p:nvPr>
            <p:ph type="body" sz="quarter" idx="10"/>
          </p:nvPr>
        </p:nvSpPr>
        <p:spPr>
          <a:xfrm>
            <a:off x="2167377" y="2419728"/>
            <a:ext cx="9768875" cy="803546"/>
          </a:xfrm>
        </p:spPr>
        <p:txBody>
          <a:bodyPr/>
          <a:lstStyle/>
          <a:p>
            <a:r>
              <a:rPr lang="en-US" dirty="0"/>
              <a:t>example</a:t>
            </a:r>
          </a:p>
        </p:txBody>
      </p:sp>
      <p:sp>
        <p:nvSpPr>
          <p:cNvPr id="5" name="Content Placeholder 4">
            <a:extLst>
              <a:ext uri="{FF2B5EF4-FFF2-40B4-BE49-F238E27FC236}">
                <a16:creationId xmlns:a16="http://schemas.microsoft.com/office/drawing/2014/main" id="{540A727C-5320-F894-5689-0E7C97B6615B}"/>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spcAft>
                <a:spcPts val="600"/>
              </a:spcAft>
            </a:pPr>
            <a:r>
              <a:rPr lang="en-US" sz="2600" dirty="0">
                <a:solidFill>
                  <a:srgbClr val="FFFFFF"/>
                </a:solidFill>
              </a:rPr>
              <a:t>Enterprise service such as workflow management</a:t>
            </a:r>
          </a:p>
          <a:p>
            <a:pPr>
              <a:spcAft>
                <a:spcPts val="600"/>
              </a:spcAft>
            </a:pPr>
            <a:r>
              <a:rPr lang="en-US" sz="2600" dirty="0">
                <a:solidFill>
                  <a:srgbClr val="FFFFFF"/>
                </a:solidFill>
              </a:rPr>
              <a:t>Group-ware and collaborative</a:t>
            </a:r>
          </a:p>
          <a:p>
            <a:pPr>
              <a:spcAft>
                <a:spcPts val="600"/>
              </a:spcAft>
            </a:pPr>
            <a:r>
              <a:rPr lang="en-US" sz="2600" dirty="0">
                <a:solidFill>
                  <a:srgbClr val="FFFFFF"/>
                </a:solidFill>
              </a:rPr>
              <a:t>Supply chain</a:t>
            </a:r>
          </a:p>
          <a:p>
            <a:pPr>
              <a:spcAft>
                <a:spcPts val="600"/>
              </a:spcAft>
            </a:pPr>
            <a:r>
              <a:rPr lang="en-US" sz="2600" dirty="0">
                <a:solidFill>
                  <a:srgbClr val="FFFFFF"/>
                </a:solidFill>
              </a:rPr>
              <a:t>Communications</a:t>
            </a:r>
          </a:p>
          <a:p>
            <a:pPr>
              <a:spcAft>
                <a:spcPts val="600"/>
              </a:spcAft>
            </a:pPr>
            <a:r>
              <a:rPr lang="en-US" sz="2600" dirty="0">
                <a:solidFill>
                  <a:srgbClr val="FFFFFF"/>
                </a:solidFill>
              </a:rPr>
              <a:t>Digital signature</a:t>
            </a:r>
          </a:p>
          <a:p>
            <a:pPr>
              <a:spcAft>
                <a:spcPts val="600"/>
              </a:spcAft>
            </a:pPr>
            <a:r>
              <a:rPr lang="en-US" sz="2600" dirty="0">
                <a:solidFill>
                  <a:srgbClr val="FFFFFF"/>
                </a:solidFill>
              </a:rPr>
              <a:t>Customer relationship management (CR)</a:t>
            </a:r>
          </a:p>
          <a:p>
            <a:pPr>
              <a:spcAft>
                <a:spcPts val="600"/>
              </a:spcAft>
            </a:pPr>
            <a:r>
              <a:rPr lang="en-US" sz="2600" dirty="0">
                <a:solidFill>
                  <a:srgbClr val="FFFFFF"/>
                </a:solidFill>
              </a:rPr>
              <a:t>Desktop software</a:t>
            </a:r>
          </a:p>
          <a:p>
            <a:pPr>
              <a:spcAft>
                <a:spcPts val="600"/>
              </a:spcAft>
            </a:pPr>
            <a:r>
              <a:rPr lang="en-US" sz="2600" dirty="0">
                <a:solidFill>
                  <a:srgbClr val="FFFFFF"/>
                </a:solidFill>
              </a:rPr>
              <a:t>Financial management</a:t>
            </a:r>
          </a:p>
          <a:p>
            <a:pPr>
              <a:spcAft>
                <a:spcPts val="600"/>
              </a:spcAft>
            </a:pPr>
            <a:r>
              <a:rPr lang="en-US" sz="2600" dirty="0">
                <a:solidFill>
                  <a:srgbClr val="FFFFFF"/>
                </a:solidFill>
              </a:rPr>
              <a:t>Geo-spatial</a:t>
            </a:r>
          </a:p>
          <a:p>
            <a:pPr>
              <a:spcAft>
                <a:spcPts val="600"/>
              </a:spcAft>
            </a:pPr>
            <a:r>
              <a:rPr lang="en-US" sz="2600" dirty="0">
                <a:solidFill>
                  <a:srgbClr val="FFFFFF"/>
                </a:solidFill>
              </a:rPr>
              <a:t>Search.</a:t>
            </a:r>
          </a:p>
          <a:p>
            <a:pPr>
              <a:spcAft>
                <a:spcPts val="600"/>
              </a:spcAft>
            </a:pPr>
            <a:endParaRPr lang="en-US" sz="2600" dirty="0">
              <a:solidFill>
                <a:srgbClr val="FFFFFF"/>
              </a:solidFill>
            </a:endParaRPr>
          </a:p>
        </p:txBody>
      </p:sp>
      <p:pic>
        <p:nvPicPr>
          <p:cNvPr id="33" name="Picture 32" descr="Top view of cubes connected with black lines">
            <a:extLst>
              <a:ext uri="{FF2B5EF4-FFF2-40B4-BE49-F238E27FC236}">
                <a16:creationId xmlns:a16="http://schemas.microsoft.com/office/drawing/2014/main" id="{6AB6478C-5D1D-9683-61F9-834A0F9C1818}"/>
              </a:ext>
            </a:extLst>
          </p:cNvPr>
          <p:cNvPicPr>
            <a:picLocks noChangeAspect="1"/>
          </p:cNvPicPr>
          <p:nvPr/>
        </p:nvPicPr>
        <p:blipFill>
          <a:blip r:embed="rId2"/>
          <a:srcRect l="11889" r="1965" b="-1"/>
          <a:stretch>
            <a:fillRect/>
          </a:stretch>
        </p:blipFill>
        <p:spPr>
          <a:xfrm>
            <a:off x="12339930" y="4210629"/>
            <a:ext cx="9099057" cy="7921898"/>
          </a:xfrm>
          <a:prstGeom prst="rect">
            <a:avLst/>
          </a:prstGeom>
          <a:noFill/>
        </p:spPr>
      </p:pic>
      <p:sp>
        <p:nvSpPr>
          <p:cNvPr id="34" name="Text Placeholder 5">
            <a:extLst>
              <a:ext uri="{FF2B5EF4-FFF2-40B4-BE49-F238E27FC236}">
                <a16:creationId xmlns:a16="http://schemas.microsoft.com/office/drawing/2014/main" id="{DB96134F-B477-5160-ED23-70B0B1FA0545}"/>
              </a:ext>
            </a:extLst>
          </p:cNvPr>
          <p:cNvSpPr>
            <a:spLocks noGrp="1"/>
          </p:cNvSpPr>
          <p:nvPr>
            <p:ph type="body" sz="quarter" idx="17"/>
          </p:nvPr>
        </p:nvSpPr>
        <p:spPr>
          <a:xfrm>
            <a:off x="2166938" y="4210049"/>
            <a:ext cx="9768874" cy="2039112"/>
          </a:xfrm>
        </p:spPr>
        <p:txBody>
          <a:bodyPr/>
          <a:lstStyle/>
          <a:p>
            <a:r>
              <a:rPr lang="en-US" dirty="0"/>
              <a:t>SaaS is the most popular for it’s ease of use</a:t>
            </a:r>
          </a:p>
        </p:txBody>
      </p:sp>
      <p:sp>
        <p:nvSpPr>
          <p:cNvPr id="4" name="Slide Number Placeholder 3" hidden="1">
            <a:extLst>
              <a:ext uri="{FF2B5EF4-FFF2-40B4-BE49-F238E27FC236}">
                <a16:creationId xmlns:a16="http://schemas.microsoft.com/office/drawing/2014/main" id="{51A9E28D-EC70-4E0F-32A7-FC7EC8C20B51}"/>
              </a:ext>
            </a:extLst>
          </p:cNvPr>
          <p:cNvSpPr>
            <a:spLocks noGrp="1"/>
          </p:cNvSpPr>
          <p:nvPr>
            <p:ph type="sldNum" sz="quarter" idx="4294967295"/>
          </p:nvPr>
        </p:nvSpPr>
        <p:spPr>
          <a:xfrm>
            <a:off x="17475200" y="12906673"/>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8</a:t>
            </a:fld>
            <a:endParaRPr lang="id-ID"/>
          </a:p>
        </p:txBody>
      </p:sp>
    </p:spTree>
    <p:extLst>
      <p:ext uri="{BB962C8B-B14F-4D97-AF65-F5344CB8AC3E}">
        <p14:creationId xmlns:p14="http://schemas.microsoft.com/office/powerpoint/2010/main" val="87750419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95FB-DA6A-8C52-15BF-07BDFB1F8E7E}"/>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kern="0" dirty="0">
                <a:solidFill>
                  <a:srgbClr val="128CCD"/>
                </a:solidFill>
                <a:latin typeface="Open Sans ExtraBold" pitchFamily="2" charset="0"/>
                <a:ea typeface="Open Sans ExtraBold" pitchFamily="2" charset="0"/>
                <a:cs typeface="Open Sans ExtraBold" pitchFamily="2" charset="0"/>
              </a:rPr>
              <a:t>PAAS (platform as a service)</a:t>
            </a:r>
            <a:endParaRPr lang="en-US" sz="3200" dirty="0">
              <a:solidFill>
                <a:srgbClr val="128CCD"/>
              </a:solidFill>
            </a:endParaRPr>
          </a:p>
        </p:txBody>
      </p:sp>
      <p:sp>
        <p:nvSpPr>
          <p:cNvPr id="11" name="Text Placeholder 2">
            <a:extLst>
              <a:ext uri="{FF2B5EF4-FFF2-40B4-BE49-F238E27FC236}">
                <a16:creationId xmlns:a16="http://schemas.microsoft.com/office/drawing/2014/main" id="{6FB598FB-EDF7-BF77-2746-E579DA5881C5}"/>
              </a:ext>
            </a:extLst>
          </p:cNvPr>
          <p:cNvSpPr>
            <a:spLocks noGrp="1"/>
          </p:cNvSpPr>
          <p:nvPr>
            <p:ph type="body" sz="quarter" idx="10"/>
          </p:nvPr>
        </p:nvSpPr>
        <p:spPr>
          <a:xfrm>
            <a:off x="2167377" y="2419728"/>
            <a:ext cx="9768875" cy="803546"/>
          </a:xfrm>
        </p:spPr>
        <p:txBody>
          <a:bodyPr/>
          <a:lstStyle/>
          <a:p>
            <a:endParaRPr lang="en-US"/>
          </a:p>
        </p:txBody>
      </p:sp>
      <p:sp>
        <p:nvSpPr>
          <p:cNvPr id="5" name="Content Placeholder 4">
            <a:extLst>
              <a:ext uri="{FF2B5EF4-FFF2-40B4-BE49-F238E27FC236}">
                <a16:creationId xmlns:a16="http://schemas.microsoft.com/office/drawing/2014/main" id="{8E861EF7-1627-E72A-6DD1-E5506DEDE08B}"/>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spcAft>
                <a:spcPts val="600"/>
              </a:spcAft>
            </a:pPr>
            <a:endParaRPr lang="en-US" sz="2400" dirty="0">
              <a:solidFill>
                <a:srgbClr val="FFFFFF"/>
              </a:solidFill>
            </a:endParaRPr>
          </a:p>
          <a:p>
            <a:pPr>
              <a:spcAft>
                <a:spcPts val="600"/>
              </a:spcAft>
            </a:pPr>
            <a:r>
              <a:rPr lang="en-US" sz="2400" dirty="0">
                <a:solidFill>
                  <a:srgbClr val="FFFFFF"/>
                </a:solidFill>
              </a:rPr>
              <a:t>The user does not manage or control the underlying cloud infrastructure including the network, servers, operating systems, or storage.</a:t>
            </a:r>
          </a:p>
          <a:p>
            <a:pPr>
              <a:spcAft>
                <a:spcPts val="600"/>
              </a:spcAft>
            </a:pPr>
            <a:endParaRPr lang="en-US" sz="2400" dirty="0">
              <a:solidFill>
                <a:srgbClr val="FFFFFF"/>
              </a:solidFill>
            </a:endParaRPr>
          </a:p>
          <a:p>
            <a:pPr>
              <a:spcAft>
                <a:spcPts val="600"/>
              </a:spcAft>
            </a:pPr>
            <a:r>
              <a:rPr lang="en-US" sz="2400" dirty="0">
                <a:solidFill>
                  <a:srgbClr val="FFFFFF"/>
                </a:solidFill>
              </a:rPr>
              <a:t>The user has control over the deployed applications and, possibly, applications hosting environment configurations.</a:t>
            </a:r>
          </a:p>
          <a:p>
            <a:pPr>
              <a:spcAft>
                <a:spcPts val="600"/>
              </a:spcAft>
            </a:pPr>
            <a:endParaRPr lang="en-US" sz="2400" dirty="0">
              <a:solidFill>
                <a:srgbClr val="FFFFFF"/>
              </a:solidFill>
            </a:endParaRPr>
          </a:p>
          <a:p>
            <a:pPr>
              <a:spcAft>
                <a:spcPts val="600"/>
              </a:spcAft>
            </a:pPr>
            <a:r>
              <a:rPr lang="en-US" sz="2400" dirty="0">
                <a:solidFill>
                  <a:srgbClr val="FFFFFF"/>
                </a:solidFill>
              </a:rPr>
              <a:t>PaaS is not particularly useful when the application must be portable, when proprietary programming languages are used, or when the underlaying hardware and software must be customized to improve the performance of the application</a:t>
            </a:r>
          </a:p>
          <a:p>
            <a:pPr>
              <a:spcAft>
                <a:spcPts val="600"/>
              </a:spcAft>
            </a:pPr>
            <a:endParaRPr lang="en-US" sz="2400" dirty="0">
              <a:solidFill>
                <a:srgbClr val="FFFFFF"/>
              </a:solidFill>
            </a:endParaRPr>
          </a:p>
          <a:p>
            <a:pPr>
              <a:spcAft>
                <a:spcPts val="600"/>
              </a:spcAft>
            </a:pPr>
            <a:endParaRPr lang="en-US" sz="2400" dirty="0">
              <a:solidFill>
                <a:srgbClr val="FFFFFF"/>
              </a:solidFill>
            </a:endParaRPr>
          </a:p>
          <a:p>
            <a:pPr>
              <a:spcAft>
                <a:spcPts val="600"/>
              </a:spcAft>
            </a:pPr>
            <a:endParaRPr lang="en-US" sz="2400" dirty="0">
              <a:solidFill>
                <a:srgbClr val="FFFFFF"/>
              </a:solidFill>
            </a:endParaRPr>
          </a:p>
        </p:txBody>
      </p:sp>
      <p:pic>
        <p:nvPicPr>
          <p:cNvPr id="7" name="Video 6" descr="Computer Servers">
            <a:extLst>
              <a:ext uri="{FF2B5EF4-FFF2-40B4-BE49-F238E27FC236}">
                <a16:creationId xmlns:a16="http://schemas.microsoft.com/office/drawing/2014/main" id="{3CF11D49-509F-29ED-164D-96E5527312C6}"/>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35207" b="-1"/>
          <a:stretch>
            <a:fillRect/>
          </a:stretch>
        </p:blipFill>
        <p:spPr>
          <a:xfrm>
            <a:off x="12339930" y="4210629"/>
            <a:ext cx="9099057" cy="7921898"/>
          </a:xfrm>
          <a:prstGeom prst="rect">
            <a:avLst/>
          </a:prstGeom>
          <a:noFill/>
        </p:spPr>
      </p:pic>
      <p:sp>
        <p:nvSpPr>
          <p:cNvPr id="13" name="Text Placeholder 5">
            <a:extLst>
              <a:ext uri="{FF2B5EF4-FFF2-40B4-BE49-F238E27FC236}">
                <a16:creationId xmlns:a16="http://schemas.microsoft.com/office/drawing/2014/main" id="{EBD8256D-C663-F8F6-DF5F-38AF3A986CAE}"/>
              </a:ext>
            </a:extLst>
          </p:cNvPr>
          <p:cNvSpPr>
            <a:spLocks noGrp="1"/>
          </p:cNvSpPr>
          <p:nvPr>
            <p:ph type="body" sz="quarter" idx="17"/>
          </p:nvPr>
        </p:nvSpPr>
        <p:spPr>
          <a:xfrm>
            <a:off x="2166938" y="4210049"/>
            <a:ext cx="9768874" cy="2039112"/>
          </a:xfrm>
        </p:spPr>
        <p:txBody>
          <a:bodyPr>
            <a:normAutofit fontScale="85000" lnSpcReduction="10000"/>
          </a:bodyPr>
          <a:lstStyle/>
          <a:p>
            <a:r>
              <a:rPr lang="en-US" dirty="0"/>
              <a:t>PaaS offers the capability to deploy consumer-created or acquired applications using programming languages and tools supported by the provider.</a:t>
            </a:r>
          </a:p>
          <a:p>
            <a:endParaRPr lang="en-US" dirty="0"/>
          </a:p>
        </p:txBody>
      </p:sp>
      <p:sp>
        <p:nvSpPr>
          <p:cNvPr id="4" name="Slide Number Placeholder 3" hidden="1">
            <a:extLst>
              <a:ext uri="{FF2B5EF4-FFF2-40B4-BE49-F238E27FC236}">
                <a16:creationId xmlns:a16="http://schemas.microsoft.com/office/drawing/2014/main" id="{3E1A6049-9431-9422-B5A1-1A239FFD66B7}"/>
              </a:ext>
            </a:extLst>
          </p:cNvPr>
          <p:cNvSpPr>
            <a:spLocks noGrp="1"/>
          </p:cNvSpPr>
          <p:nvPr>
            <p:ph type="sldNum" sz="quarter" idx="4294967295"/>
          </p:nvPr>
        </p:nvSpPr>
        <p:spPr>
          <a:xfrm>
            <a:off x="17475200" y="12906673"/>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9</a:t>
            </a:fld>
            <a:endParaRPr lang="id-ID"/>
          </a:p>
        </p:txBody>
      </p:sp>
    </p:spTree>
    <p:extLst>
      <p:ext uri="{BB962C8B-B14F-4D97-AF65-F5344CB8AC3E}">
        <p14:creationId xmlns:p14="http://schemas.microsoft.com/office/powerpoint/2010/main" val="375613150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5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E3BDF-BB1F-8B00-D153-564D337ACED1}"/>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a:solidFill>
                  <a:srgbClr val="128CCD"/>
                </a:solidFill>
              </a:rPr>
              <a:t>PaaS Example</a:t>
            </a:r>
          </a:p>
        </p:txBody>
      </p:sp>
      <p:sp>
        <p:nvSpPr>
          <p:cNvPr id="11" name="Text Placeholder 2">
            <a:extLst>
              <a:ext uri="{FF2B5EF4-FFF2-40B4-BE49-F238E27FC236}">
                <a16:creationId xmlns:a16="http://schemas.microsoft.com/office/drawing/2014/main" id="{B7142EDE-9051-4D39-7850-76EBD7C69EE3}"/>
              </a:ext>
            </a:extLst>
          </p:cNvPr>
          <p:cNvSpPr>
            <a:spLocks noGrp="1"/>
          </p:cNvSpPr>
          <p:nvPr>
            <p:ph type="body" sz="quarter" idx="10"/>
          </p:nvPr>
        </p:nvSpPr>
        <p:spPr>
          <a:xfrm>
            <a:off x="2167377" y="2419728"/>
            <a:ext cx="9768875" cy="803546"/>
          </a:xfrm>
        </p:spPr>
        <p:txBody>
          <a:bodyPr/>
          <a:lstStyle/>
          <a:p>
            <a:endParaRPr lang="en-US"/>
          </a:p>
        </p:txBody>
      </p:sp>
      <p:sp>
        <p:nvSpPr>
          <p:cNvPr id="5" name="Content Placeholder 4">
            <a:extLst>
              <a:ext uri="{FF2B5EF4-FFF2-40B4-BE49-F238E27FC236}">
                <a16:creationId xmlns:a16="http://schemas.microsoft.com/office/drawing/2014/main" id="{1A793684-DB02-E918-5DD7-98A59E005214}"/>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spcAft>
                <a:spcPts val="600"/>
              </a:spcAft>
            </a:pPr>
            <a:r>
              <a:rPr lang="en-US" sz="2600">
                <a:solidFill>
                  <a:srgbClr val="FFFFFF"/>
                </a:solidFill>
              </a:rPr>
              <a:t>Session management</a:t>
            </a:r>
          </a:p>
          <a:p>
            <a:pPr>
              <a:spcAft>
                <a:spcPts val="600"/>
              </a:spcAft>
            </a:pPr>
            <a:r>
              <a:rPr lang="en-US" sz="2600">
                <a:solidFill>
                  <a:srgbClr val="FFFFFF"/>
                </a:solidFill>
              </a:rPr>
              <a:t>Device integration</a:t>
            </a:r>
          </a:p>
          <a:p>
            <a:pPr>
              <a:spcAft>
                <a:spcPts val="600"/>
              </a:spcAft>
            </a:pPr>
            <a:r>
              <a:rPr lang="en-US" sz="2600">
                <a:solidFill>
                  <a:srgbClr val="FFFFFF"/>
                </a:solidFill>
              </a:rPr>
              <a:t>Sandboxes</a:t>
            </a:r>
          </a:p>
          <a:p>
            <a:pPr>
              <a:spcAft>
                <a:spcPts val="600"/>
              </a:spcAft>
            </a:pPr>
            <a:r>
              <a:rPr lang="en-US" sz="2600">
                <a:solidFill>
                  <a:srgbClr val="FFFFFF"/>
                </a:solidFill>
              </a:rPr>
              <a:t>Instrumentation and testing</a:t>
            </a:r>
          </a:p>
          <a:p>
            <a:pPr>
              <a:spcAft>
                <a:spcPts val="600"/>
              </a:spcAft>
            </a:pPr>
            <a:r>
              <a:rPr lang="en-US" sz="2600">
                <a:solidFill>
                  <a:srgbClr val="FFFFFF"/>
                </a:solidFill>
              </a:rPr>
              <a:t>Contents management</a:t>
            </a:r>
          </a:p>
          <a:p>
            <a:pPr>
              <a:spcAft>
                <a:spcPts val="600"/>
              </a:spcAft>
            </a:pPr>
            <a:r>
              <a:rPr lang="en-US" sz="2600">
                <a:solidFill>
                  <a:srgbClr val="FFFFFF"/>
                </a:solidFill>
              </a:rPr>
              <a:t>Knowledge management</a:t>
            </a:r>
          </a:p>
          <a:p>
            <a:pPr>
              <a:spcAft>
                <a:spcPts val="600"/>
              </a:spcAft>
            </a:pPr>
            <a:r>
              <a:rPr lang="en-US" sz="2600">
                <a:solidFill>
                  <a:srgbClr val="FFFFFF"/>
                </a:solidFill>
              </a:rPr>
              <a:t>Universal Description, Discovery, and Integration (UDDI)</a:t>
            </a:r>
          </a:p>
          <a:p>
            <a:pPr>
              <a:spcAft>
                <a:spcPts val="600"/>
              </a:spcAft>
            </a:pPr>
            <a:r>
              <a:rPr lang="en-US" sz="2600">
                <a:solidFill>
                  <a:srgbClr val="FFFFFF"/>
                </a:solidFill>
              </a:rPr>
              <a:t>A platform-independent</a:t>
            </a:r>
          </a:p>
          <a:p>
            <a:pPr>
              <a:spcAft>
                <a:spcPts val="600"/>
              </a:spcAft>
            </a:pPr>
            <a:r>
              <a:rPr lang="en-US" sz="2600">
                <a:solidFill>
                  <a:srgbClr val="FFFFFF"/>
                </a:solidFill>
              </a:rPr>
              <a:t>Extensible Markup Language (XML)-based registry providing a mechanism to register and locate web-service applications.</a:t>
            </a:r>
          </a:p>
          <a:p>
            <a:pPr>
              <a:spcAft>
                <a:spcPts val="600"/>
              </a:spcAft>
            </a:pPr>
            <a:endParaRPr lang="en-US" sz="2600">
              <a:solidFill>
                <a:srgbClr val="FFFFFF"/>
              </a:solidFill>
            </a:endParaRPr>
          </a:p>
        </p:txBody>
      </p:sp>
      <p:sp>
        <p:nvSpPr>
          <p:cNvPr id="13" name="Text Placeholder 5">
            <a:extLst>
              <a:ext uri="{FF2B5EF4-FFF2-40B4-BE49-F238E27FC236}">
                <a16:creationId xmlns:a16="http://schemas.microsoft.com/office/drawing/2014/main" id="{EF3C9976-1AB5-2D94-082A-3B33ED586195}"/>
              </a:ext>
            </a:extLst>
          </p:cNvPr>
          <p:cNvSpPr>
            <a:spLocks noGrp="1"/>
          </p:cNvSpPr>
          <p:nvPr>
            <p:ph type="body" sz="quarter" idx="17"/>
          </p:nvPr>
        </p:nvSpPr>
        <p:spPr>
          <a:xfrm>
            <a:off x="2166938" y="4210049"/>
            <a:ext cx="9768874" cy="2039112"/>
          </a:xfrm>
        </p:spPr>
        <p:txBody>
          <a:bodyPr/>
          <a:lstStyle/>
          <a:p>
            <a:endParaRPr lang="en-US"/>
          </a:p>
        </p:txBody>
      </p:sp>
      <p:sp>
        <p:nvSpPr>
          <p:cNvPr id="4" name="Slide Number Placeholder 3" hidden="1">
            <a:extLst>
              <a:ext uri="{FF2B5EF4-FFF2-40B4-BE49-F238E27FC236}">
                <a16:creationId xmlns:a16="http://schemas.microsoft.com/office/drawing/2014/main" id="{0B980613-EAA6-4AA4-C285-4D58BB0A9190}"/>
              </a:ext>
            </a:extLst>
          </p:cNvPr>
          <p:cNvSpPr>
            <a:spLocks noGrp="1"/>
          </p:cNvSpPr>
          <p:nvPr>
            <p:ph type="sldNum" sz="quarter" idx="4294967295"/>
          </p:nvPr>
        </p:nvSpPr>
        <p:spPr>
          <a:xfrm>
            <a:off x="17475200" y="12906673"/>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10</a:t>
            </a:fld>
            <a:endParaRPr lang="id-ID"/>
          </a:p>
        </p:txBody>
      </p:sp>
      <p:pic>
        <p:nvPicPr>
          <p:cNvPr id="8" name="Picture 7">
            <a:extLst>
              <a:ext uri="{FF2B5EF4-FFF2-40B4-BE49-F238E27FC236}">
                <a16:creationId xmlns:a16="http://schemas.microsoft.com/office/drawing/2014/main" id="{B9D3A365-EC5D-08A0-F72D-56D66DAB1933}"/>
              </a:ext>
            </a:extLst>
          </p:cNvPr>
          <p:cNvPicPr>
            <a:picLocks noChangeAspect="1"/>
          </p:cNvPicPr>
          <p:nvPr/>
        </p:nvPicPr>
        <p:blipFill>
          <a:blip r:embed="rId2"/>
          <a:stretch>
            <a:fillRect/>
          </a:stretch>
        </p:blipFill>
        <p:spPr>
          <a:xfrm>
            <a:off x="12848492" y="4210049"/>
            <a:ext cx="10025724" cy="6683816"/>
          </a:xfrm>
          <a:prstGeom prst="rect">
            <a:avLst/>
          </a:prstGeom>
        </p:spPr>
      </p:pic>
    </p:spTree>
    <p:extLst>
      <p:ext uri="{BB962C8B-B14F-4D97-AF65-F5344CB8AC3E}">
        <p14:creationId xmlns:p14="http://schemas.microsoft.com/office/powerpoint/2010/main" val="76175249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69EDD-13BE-7024-D3D8-49C426862DC0}"/>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dirty="0">
                <a:solidFill>
                  <a:srgbClr val="128CCD"/>
                </a:solidFill>
              </a:rPr>
              <a:t>IaaS (Infrastructure as a Service)</a:t>
            </a:r>
          </a:p>
        </p:txBody>
      </p:sp>
      <p:sp>
        <p:nvSpPr>
          <p:cNvPr id="11" name="Text Placeholder 2">
            <a:extLst>
              <a:ext uri="{FF2B5EF4-FFF2-40B4-BE49-F238E27FC236}">
                <a16:creationId xmlns:a16="http://schemas.microsoft.com/office/drawing/2014/main" id="{977FFB3A-6B7A-1549-8096-AA0A96355361}"/>
              </a:ext>
            </a:extLst>
          </p:cNvPr>
          <p:cNvSpPr>
            <a:spLocks noGrp="1"/>
          </p:cNvSpPr>
          <p:nvPr>
            <p:ph type="body" sz="quarter" idx="10"/>
          </p:nvPr>
        </p:nvSpPr>
        <p:spPr>
          <a:xfrm>
            <a:off x="2167377" y="2419728"/>
            <a:ext cx="9768875" cy="803546"/>
          </a:xfrm>
        </p:spPr>
        <p:txBody>
          <a:bodyPr/>
          <a:lstStyle/>
          <a:p>
            <a:endParaRPr lang="en-US"/>
          </a:p>
        </p:txBody>
      </p:sp>
      <p:sp>
        <p:nvSpPr>
          <p:cNvPr id="5" name="Content Placeholder 4">
            <a:extLst>
              <a:ext uri="{FF2B5EF4-FFF2-40B4-BE49-F238E27FC236}">
                <a16:creationId xmlns:a16="http://schemas.microsoft.com/office/drawing/2014/main" id="{A2587849-817A-B701-EA2B-A531CFD8EAFE}"/>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spcAft>
                <a:spcPts val="600"/>
              </a:spcAft>
            </a:pPr>
            <a:r>
              <a:rPr lang="en-US" sz="2600">
                <a:solidFill>
                  <a:srgbClr val="FFFFFF"/>
                </a:solidFill>
              </a:rPr>
              <a:t>IaaS has the capability to provide processing, storage, networks, and other fundamental computing resources.</a:t>
            </a:r>
          </a:p>
          <a:p>
            <a:pPr>
              <a:spcAft>
                <a:spcPts val="600"/>
              </a:spcAft>
            </a:pPr>
            <a:endParaRPr lang="en-US" sz="2600">
              <a:solidFill>
                <a:srgbClr val="FFFFFF"/>
              </a:solidFill>
            </a:endParaRPr>
          </a:p>
          <a:p>
            <a:pPr>
              <a:spcAft>
                <a:spcPts val="600"/>
              </a:spcAft>
            </a:pPr>
            <a:r>
              <a:rPr lang="en-US" sz="2600">
                <a:solidFill>
                  <a:srgbClr val="FFFFFF"/>
                </a:solidFill>
              </a:rPr>
              <a:t>The consumer is able to deploy and run arbitrary software, which can include operating systems and applications.</a:t>
            </a:r>
          </a:p>
          <a:p>
            <a:pPr>
              <a:spcAft>
                <a:spcPts val="600"/>
              </a:spcAft>
            </a:pPr>
            <a:endParaRPr lang="en-US" sz="2600">
              <a:solidFill>
                <a:srgbClr val="FFFFFF"/>
              </a:solidFill>
            </a:endParaRPr>
          </a:p>
          <a:p>
            <a:pPr>
              <a:spcAft>
                <a:spcPts val="600"/>
              </a:spcAft>
            </a:pPr>
            <a:r>
              <a:rPr lang="en-US" sz="2600">
                <a:solidFill>
                  <a:srgbClr val="FFFFFF"/>
                </a:solidFill>
              </a:rPr>
              <a:t>The consumer does not manage or control the underlying cloud infrastructure but has control over operating systems, storage, deployed applications, and possibly limited control of some networking components.</a:t>
            </a:r>
          </a:p>
          <a:p>
            <a:pPr>
              <a:spcAft>
                <a:spcPts val="600"/>
              </a:spcAft>
            </a:pPr>
            <a:endParaRPr lang="en-US" sz="2600">
              <a:solidFill>
                <a:srgbClr val="FFFFFF"/>
              </a:solidFill>
            </a:endParaRPr>
          </a:p>
        </p:txBody>
      </p:sp>
      <p:pic>
        <p:nvPicPr>
          <p:cNvPr id="7" name="Video 6" descr="Computer Servers">
            <a:extLst>
              <a:ext uri="{FF2B5EF4-FFF2-40B4-BE49-F238E27FC236}">
                <a16:creationId xmlns:a16="http://schemas.microsoft.com/office/drawing/2014/main" id="{A55B0338-8EB1-409E-4B33-7BFB20DC24E4}"/>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35207" b="-1"/>
          <a:stretch>
            <a:fillRect/>
          </a:stretch>
        </p:blipFill>
        <p:spPr>
          <a:xfrm>
            <a:off x="12339930" y="4210629"/>
            <a:ext cx="9099057" cy="7921898"/>
          </a:xfrm>
          <a:prstGeom prst="rect">
            <a:avLst/>
          </a:prstGeom>
          <a:noFill/>
        </p:spPr>
      </p:pic>
      <p:sp>
        <p:nvSpPr>
          <p:cNvPr id="13" name="Text Placeholder 5">
            <a:extLst>
              <a:ext uri="{FF2B5EF4-FFF2-40B4-BE49-F238E27FC236}">
                <a16:creationId xmlns:a16="http://schemas.microsoft.com/office/drawing/2014/main" id="{4017CF59-D0F9-A6CB-DEE4-9060F45779CF}"/>
              </a:ext>
            </a:extLst>
          </p:cNvPr>
          <p:cNvSpPr>
            <a:spLocks noGrp="1"/>
          </p:cNvSpPr>
          <p:nvPr>
            <p:ph type="body" sz="quarter" idx="17"/>
          </p:nvPr>
        </p:nvSpPr>
        <p:spPr>
          <a:xfrm>
            <a:off x="2166938" y="4210049"/>
            <a:ext cx="9768874" cy="2039112"/>
          </a:xfrm>
        </p:spPr>
        <p:txBody>
          <a:bodyPr/>
          <a:lstStyle/>
          <a:p>
            <a:endParaRPr lang="en-US"/>
          </a:p>
        </p:txBody>
      </p:sp>
      <p:sp>
        <p:nvSpPr>
          <p:cNvPr id="4" name="Slide Number Placeholder 3" hidden="1">
            <a:extLst>
              <a:ext uri="{FF2B5EF4-FFF2-40B4-BE49-F238E27FC236}">
                <a16:creationId xmlns:a16="http://schemas.microsoft.com/office/drawing/2014/main" id="{9C4FA7AD-0F16-C235-1232-E864A707EE7D}"/>
              </a:ext>
            </a:extLst>
          </p:cNvPr>
          <p:cNvSpPr>
            <a:spLocks noGrp="1"/>
          </p:cNvSpPr>
          <p:nvPr>
            <p:ph type="sldNum" sz="quarter" idx="4294967295"/>
          </p:nvPr>
        </p:nvSpPr>
        <p:spPr>
          <a:xfrm>
            <a:off x="17475200" y="12906673"/>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11</a:t>
            </a:fld>
            <a:endParaRPr lang="id-ID"/>
          </a:p>
        </p:txBody>
      </p:sp>
    </p:spTree>
    <p:extLst>
      <p:ext uri="{BB962C8B-B14F-4D97-AF65-F5344CB8AC3E}">
        <p14:creationId xmlns:p14="http://schemas.microsoft.com/office/powerpoint/2010/main" val="29178395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5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79207-0202-12E9-DF33-405A2A0A252C}"/>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a:solidFill>
                  <a:srgbClr val="128CCD"/>
                </a:solidFill>
              </a:rPr>
              <a:t>IaaS Example</a:t>
            </a:r>
          </a:p>
        </p:txBody>
      </p:sp>
      <p:sp>
        <p:nvSpPr>
          <p:cNvPr id="11" name="Text Placeholder 2">
            <a:extLst>
              <a:ext uri="{FF2B5EF4-FFF2-40B4-BE49-F238E27FC236}">
                <a16:creationId xmlns:a16="http://schemas.microsoft.com/office/drawing/2014/main" id="{0838B364-B6FC-1772-8C57-F0A7EB784C06}"/>
              </a:ext>
            </a:extLst>
          </p:cNvPr>
          <p:cNvSpPr>
            <a:spLocks noGrp="1"/>
          </p:cNvSpPr>
          <p:nvPr>
            <p:ph type="body" sz="quarter" idx="10"/>
          </p:nvPr>
        </p:nvSpPr>
        <p:spPr>
          <a:xfrm>
            <a:off x="2167377" y="2419728"/>
            <a:ext cx="9768875" cy="803546"/>
          </a:xfrm>
        </p:spPr>
        <p:txBody>
          <a:bodyPr/>
          <a:lstStyle/>
          <a:p>
            <a:endParaRPr lang="en-US"/>
          </a:p>
        </p:txBody>
      </p:sp>
      <p:sp>
        <p:nvSpPr>
          <p:cNvPr id="5" name="Content Placeholder 4">
            <a:extLst>
              <a:ext uri="{FF2B5EF4-FFF2-40B4-BE49-F238E27FC236}">
                <a16:creationId xmlns:a16="http://schemas.microsoft.com/office/drawing/2014/main" id="{D48ADDFC-ADED-3A59-24A9-C5CC4DF3D5AC}"/>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spcAft>
                <a:spcPts val="600"/>
              </a:spcAft>
            </a:pPr>
            <a:r>
              <a:rPr lang="en-US" sz="2600">
                <a:solidFill>
                  <a:srgbClr val="FFFFFF"/>
                </a:solidFill>
              </a:rPr>
              <a:t>Server hosting</a:t>
            </a:r>
          </a:p>
          <a:p>
            <a:pPr>
              <a:spcAft>
                <a:spcPts val="600"/>
              </a:spcAft>
            </a:pPr>
            <a:r>
              <a:rPr lang="en-US" sz="2600">
                <a:solidFill>
                  <a:srgbClr val="FFFFFF"/>
                </a:solidFill>
              </a:rPr>
              <a:t>Web servers</a:t>
            </a:r>
          </a:p>
          <a:p>
            <a:pPr>
              <a:spcAft>
                <a:spcPts val="600"/>
              </a:spcAft>
            </a:pPr>
            <a:r>
              <a:rPr lang="en-US" sz="2600">
                <a:solidFill>
                  <a:srgbClr val="FFFFFF"/>
                </a:solidFill>
              </a:rPr>
              <a:t>Storage</a:t>
            </a:r>
          </a:p>
          <a:p>
            <a:pPr>
              <a:spcAft>
                <a:spcPts val="600"/>
              </a:spcAft>
            </a:pPr>
            <a:r>
              <a:rPr lang="en-US" sz="2600">
                <a:solidFill>
                  <a:srgbClr val="FFFFFF"/>
                </a:solidFill>
              </a:rPr>
              <a:t>Computing hardware</a:t>
            </a:r>
          </a:p>
          <a:p>
            <a:pPr>
              <a:spcAft>
                <a:spcPts val="600"/>
              </a:spcAft>
            </a:pPr>
            <a:r>
              <a:rPr lang="en-US" sz="2600">
                <a:solidFill>
                  <a:srgbClr val="FFFFFF"/>
                </a:solidFill>
              </a:rPr>
              <a:t>Operating systems</a:t>
            </a:r>
          </a:p>
          <a:p>
            <a:pPr>
              <a:spcAft>
                <a:spcPts val="600"/>
              </a:spcAft>
            </a:pPr>
            <a:r>
              <a:rPr lang="en-US" sz="2600">
                <a:solidFill>
                  <a:srgbClr val="FFFFFF"/>
                </a:solidFill>
              </a:rPr>
              <a:t>Virtual instances</a:t>
            </a:r>
          </a:p>
          <a:p>
            <a:pPr>
              <a:spcAft>
                <a:spcPts val="600"/>
              </a:spcAft>
            </a:pPr>
            <a:r>
              <a:rPr lang="en-US" sz="2600">
                <a:solidFill>
                  <a:srgbClr val="FFFFFF"/>
                </a:solidFill>
              </a:rPr>
              <a:t>Load balancing</a:t>
            </a:r>
          </a:p>
          <a:p>
            <a:pPr>
              <a:spcAft>
                <a:spcPts val="600"/>
              </a:spcAft>
            </a:pPr>
            <a:r>
              <a:rPr lang="en-US" sz="2600">
                <a:solidFill>
                  <a:srgbClr val="FFFFFF"/>
                </a:solidFill>
              </a:rPr>
              <a:t>Internet access</a:t>
            </a:r>
          </a:p>
          <a:p>
            <a:pPr>
              <a:spcAft>
                <a:spcPts val="600"/>
              </a:spcAft>
            </a:pPr>
            <a:r>
              <a:rPr lang="en-US" sz="2600">
                <a:solidFill>
                  <a:srgbClr val="FFFFFF"/>
                </a:solidFill>
              </a:rPr>
              <a:t>Bandwidth provisioning.</a:t>
            </a:r>
          </a:p>
          <a:p>
            <a:pPr>
              <a:spcAft>
                <a:spcPts val="600"/>
              </a:spcAft>
            </a:pPr>
            <a:endParaRPr lang="en-US" sz="2600">
              <a:solidFill>
                <a:srgbClr val="FFFFFF"/>
              </a:solidFill>
            </a:endParaRPr>
          </a:p>
        </p:txBody>
      </p:sp>
      <p:pic>
        <p:nvPicPr>
          <p:cNvPr id="7" name="Picture 6" descr="Illuminated server room panel">
            <a:extLst>
              <a:ext uri="{FF2B5EF4-FFF2-40B4-BE49-F238E27FC236}">
                <a16:creationId xmlns:a16="http://schemas.microsoft.com/office/drawing/2014/main" id="{8D537B5E-CF4B-2AAC-E14B-F4334CEBE936}"/>
              </a:ext>
            </a:extLst>
          </p:cNvPr>
          <p:cNvPicPr>
            <a:picLocks noChangeAspect="1"/>
          </p:cNvPicPr>
          <p:nvPr/>
        </p:nvPicPr>
        <p:blipFill>
          <a:blip r:embed="rId2"/>
          <a:srcRect l="8299" r="15032"/>
          <a:stretch>
            <a:fillRect/>
          </a:stretch>
        </p:blipFill>
        <p:spPr>
          <a:xfrm>
            <a:off x="12339930" y="4210629"/>
            <a:ext cx="9099057" cy="7921898"/>
          </a:xfrm>
          <a:prstGeom prst="rect">
            <a:avLst/>
          </a:prstGeom>
          <a:noFill/>
        </p:spPr>
      </p:pic>
      <p:sp>
        <p:nvSpPr>
          <p:cNvPr id="13" name="Text Placeholder 5">
            <a:extLst>
              <a:ext uri="{FF2B5EF4-FFF2-40B4-BE49-F238E27FC236}">
                <a16:creationId xmlns:a16="http://schemas.microsoft.com/office/drawing/2014/main" id="{1ACC00E3-B521-FA23-AAE3-3EF262F2C0C1}"/>
              </a:ext>
            </a:extLst>
          </p:cNvPr>
          <p:cNvSpPr>
            <a:spLocks noGrp="1"/>
          </p:cNvSpPr>
          <p:nvPr>
            <p:ph type="body" sz="quarter" idx="17"/>
          </p:nvPr>
        </p:nvSpPr>
        <p:spPr>
          <a:xfrm>
            <a:off x="2166938" y="4210049"/>
            <a:ext cx="9768874" cy="2039112"/>
          </a:xfrm>
        </p:spPr>
        <p:txBody>
          <a:bodyPr/>
          <a:lstStyle/>
          <a:p>
            <a:endParaRPr lang="en-US"/>
          </a:p>
        </p:txBody>
      </p:sp>
      <p:sp>
        <p:nvSpPr>
          <p:cNvPr id="4" name="Slide Number Placeholder 3" hidden="1">
            <a:extLst>
              <a:ext uri="{FF2B5EF4-FFF2-40B4-BE49-F238E27FC236}">
                <a16:creationId xmlns:a16="http://schemas.microsoft.com/office/drawing/2014/main" id="{52F62D0D-E033-06A1-1441-939AEB839471}"/>
              </a:ext>
            </a:extLst>
          </p:cNvPr>
          <p:cNvSpPr>
            <a:spLocks noGrp="1"/>
          </p:cNvSpPr>
          <p:nvPr>
            <p:ph type="sldNum" sz="quarter" idx="4294967295"/>
          </p:nvPr>
        </p:nvSpPr>
        <p:spPr>
          <a:xfrm>
            <a:off x="17475200" y="12906673"/>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12</a:t>
            </a:fld>
            <a:endParaRPr lang="id-ID"/>
          </a:p>
        </p:txBody>
      </p:sp>
    </p:spTree>
    <p:extLst>
      <p:ext uri="{BB962C8B-B14F-4D97-AF65-F5344CB8AC3E}">
        <p14:creationId xmlns:p14="http://schemas.microsoft.com/office/powerpoint/2010/main" val="62604744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02273-CDA8-0788-C766-43D8ACEF9B73}"/>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2400" dirty="0">
                <a:solidFill>
                  <a:srgbClr val="128CCD"/>
                </a:solidFill>
              </a:rPr>
              <a:t>Software and Cloud Infrastructure</a:t>
            </a:r>
          </a:p>
        </p:txBody>
      </p:sp>
      <p:sp>
        <p:nvSpPr>
          <p:cNvPr id="31" name="Text Placeholder 2">
            <a:extLst>
              <a:ext uri="{FF2B5EF4-FFF2-40B4-BE49-F238E27FC236}">
                <a16:creationId xmlns:a16="http://schemas.microsoft.com/office/drawing/2014/main" id="{ED1D59D8-EABE-7EBE-AFC5-6BC9E91CA5BC}"/>
              </a:ext>
            </a:extLst>
          </p:cNvPr>
          <p:cNvSpPr>
            <a:spLocks noGrp="1"/>
          </p:cNvSpPr>
          <p:nvPr>
            <p:ph type="body" sz="quarter" idx="10"/>
          </p:nvPr>
        </p:nvSpPr>
        <p:spPr>
          <a:xfrm>
            <a:off x="2167377" y="2419728"/>
            <a:ext cx="9768875" cy="803546"/>
          </a:xfrm>
        </p:spPr>
        <p:txBody>
          <a:bodyPr/>
          <a:lstStyle/>
          <a:p>
            <a:endParaRPr lang="en-US"/>
          </a:p>
        </p:txBody>
      </p:sp>
      <p:sp>
        <p:nvSpPr>
          <p:cNvPr id="32" name="Text Placeholder 3">
            <a:extLst>
              <a:ext uri="{FF2B5EF4-FFF2-40B4-BE49-F238E27FC236}">
                <a16:creationId xmlns:a16="http://schemas.microsoft.com/office/drawing/2014/main" id="{D5081976-8F5E-6829-5C4B-28101C5E08D3}"/>
              </a:ext>
            </a:extLst>
          </p:cNvPr>
          <p:cNvSpPr>
            <a:spLocks noGrp="1"/>
          </p:cNvSpPr>
          <p:nvPr>
            <p:ph type="body" sz="quarter" idx="16"/>
          </p:nvPr>
        </p:nvSpPr>
        <p:spPr>
          <a:xfrm>
            <a:off x="2167377" y="6556917"/>
            <a:ext cx="9768906" cy="5575610"/>
          </a:xfrm>
        </p:spPr>
        <p:txBody>
          <a:bodyPr/>
          <a:lstStyle/>
          <a:p>
            <a:r>
              <a:rPr lang="en-US" dirty="0"/>
              <a:t>SaaS allows no infrastructure control and does not require any sophistication to use applications supplied by CSP.</a:t>
            </a:r>
          </a:p>
          <a:p>
            <a:r>
              <a:rPr lang="en-US" dirty="0"/>
              <a:t>PaaS supports consumer-created or acquired applications using CSP-provided tools.</a:t>
            </a:r>
          </a:p>
          <a:p>
            <a:r>
              <a:rPr lang="en-US" dirty="0"/>
              <a:t>IaaS empowers advanced developers and uses to choose the operating system, run arbitrary software, choose the type of instances, and manage instance resources</a:t>
            </a:r>
          </a:p>
          <a:p>
            <a:endParaRPr lang="en-US" dirty="0"/>
          </a:p>
        </p:txBody>
      </p:sp>
      <p:pic>
        <p:nvPicPr>
          <p:cNvPr id="6" name="Content Placeholder 5" descr="A screenshot of a computer program&#10;&#10;Description automatically generated with low confidence">
            <a:extLst>
              <a:ext uri="{FF2B5EF4-FFF2-40B4-BE49-F238E27FC236}">
                <a16:creationId xmlns:a16="http://schemas.microsoft.com/office/drawing/2014/main" id="{4393D74E-B24A-535C-9A3A-E42E4EDC35CB}"/>
              </a:ext>
            </a:extLst>
          </p:cNvPr>
          <p:cNvPicPr>
            <a:picLocks noGrp="1" noChangeAspect="1"/>
          </p:cNvPicPr>
          <p:nvPr>
            <p:ph type="pic" sz="quarter" idx="13"/>
          </p:nvPr>
        </p:nvPicPr>
        <p:blipFill>
          <a:blip r:embed="rId3"/>
          <a:stretch/>
        </p:blipFill>
        <p:spPr>
          <a:xfrm>
            <a:off x="12447719" y="2419728"/>
            <a:ext cx="10651141" cy="9745791"/>
          </a:xfrm>
          <a:prstGeom prst="rect">
            <a:avLst/>
          </a:prstGeom>
          <a:noFill/>
        </p:spPr>
      </p:pic>
      <p:sp>
        <p:nvSpPr>
          <p:cNvPr id="33" name="Text Placeholder 5">
            <a:extLst>
              <a:ext uri="{FF2B5EF4-FFF2-40B4-BE49-F238E27FC236}">
                <a16:creationId xmlns:a16="http://schemas.microsoft.com/office/drawing/2014/main" id="{6116D263-363D-C91E-CB0F-B7508E0DF055}"/>
              </a:ext>
            </a:extLst>
          </p:cNvPr>
          <p:cNvSpPr>
            <a:spLocks noGrp="1"/>
          </p:cNvSpPr>
          <p:nvPr>
            <p:ph type="body" sz="quarter" idx="17"/>
          </p:nvPr>
        </p:nvSpPr>
        <p:spPr>
          <a:xfrm>
            <a:off x="2166938" y="4210049"/>
            <a:ext cx="9768874" cy="2039112"/>
          </a:xfrm>
        </p:spPr>
        <p:txBody>
          <a:bodyPr/>
          <a:lstStyle/>
          <a:p>
            <a:r>
              <a:rPr lang="en-US" dirty="0"/>
              <a:t>Software and cloud infrastructure control versus ease of use of the service.</a:t>
            </a:r>
          </a:p>
          <a:p>
            <a:endParaRPr lang="en-US" dirty="0"/>
          </a:p>
        </p:txBody>
      </p:sp>
      <p:sp>
        <p:nvSpPr>
          <p:cNvPr id="4" name="Slide Number Placeholder 3" hidden="1">
            <a:extLst>
              <a:ext uri="{FF2B5EF4-FFF2-40B4-BE49-F238E27FC236}">
                <a16:creationId xmlns:a16="http://schemas.microsoft.com/office/drawing/2014/main" id="{B0B37A76-82DA-30F1-D701-BBFA327D7DA2}"/>
              </a:ext>
            </a:extLst>
          </p:cNvPr>
          <p:cNvSpPr>
            <a:spLocks noGrp="1"/>
          </p:cNvSpPr>
          <p:nvPr>
            <p:ph type="sldNum" sz="quarter" idx="4294967295"/>
          </p:nvPr>
        </p:nvSpPr>
        <p:spPr>
          <a:xfrm>
            <a:off x="16154400" y="12906673"/>
            <a:ext cx="4267200" cy="730250"/>
          </a:xfrm>
        </p:spPr>
        <p:txBody>
          <a:bodyPr anchor="ctr">
            <a:normAutofit lnSpcReduction="10000"/>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lnSpc>
                <a:spcPct val="90000"/>
              </a:lnSpc>
              <a:spcAft>
                <a:spcPts val="1200"/>
              </a:spcAft>
            </a:pPr>
            <a:fld id="{F173735F-2667-4028-B606-D96AABD86FDB}" type="slidenum">
              <a:rPr lang="id-ID" sz="4900" smtClean="0"/>
              <a:pPr>
                <a:lnSpc>
                  <a:spcPct val="90000"/>
                </a:lnSpc>
                <a:spcAft>
                  <a:spcPts val="1200"/>
                </a:spcAft>
              </a:pPr>
              <a:t>13</a:t>
            </a:fld>
            <a:endParaRPr lang="id-ID" sz="4900"/>
          </a:p>
        </p:txBody>
      </p:sp>
    </p:spTree>
    <p:extLst>
      <p:ext uri="{BB962C8B-B14F-4D97-AF65-F5344CB8AC3E}">
        <p14:creationId xmlns:p14="http://schemas.microsoft.com/office/powerpoint/2010/main" val="268802705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CCB79-9ECE-840E-29D8-36E67BE0EB43}"/>
              </a:ext>
            </a:extLst>
          </p:cNvPr>
          <p:cNvSpPr>
            <a:spLocks noGrp="1"/>
          </p:cNvSpPr>
          <p:nvPr>
            <p:ph type="title"/>
          </p:nvPr>
        </p:nvSpPr>
        <p:spPr>
          <a:xfrm>
            <a:off x="2167377" y="1872058"/>
            <a:ext cx="14715569" cy="510281"/>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2400">
                <a:solidFill>
                  <a:srgbClr val="128CCD"/>
                </a:solidFill>
              </a:rPr>
              <a:t>The Limits of Responsibility Between a Cloud User and The Cloud Service Provider</a:t>
            </a:r>
          </a:p>
        </p:txBody>
      </p:sp>
      <p:sp>
        <p:nvSpPr>
          <p:cNvPr id="13" name="Text Placeholder 2">
            <a:extLst>
              <a:ext uri="{FF2B5EF4-FFF2-40B4-BE49-F238E27FC236}">
                <a16:creationId xmlns:a16="http://schemas.microsoft.com/office/drawing/2014/main" id="{47D509FC-1A96-CDD9-3612-AD848A90E167}"/>
              </a:ext>
            </a:extLst>
          </p:cNvPr>
          <p:cNvSpPr>
            <a:spLocks noGrp="1"/>
          </p:cNvSpPr>
          <p:nvPr>
            <p:ph type="body" sz="quarter" idx="10"/>
          </p:nvPr>
        </p:nvSpPr>
        <p:spPr>
          <a:xfrm>
            <a:off x="2167377" y="2419728"/>
            <a:ext cx="9768875" cy="803546"/>
          </a:xfrm>
        </p:spPr>
        <p:txBody>
          <a:bodyPr/>
          <a:lstStyle/>
          <a:p>
            <a:endParaRPr lang="en-US"/>
          </a:p>
        </p:txBody>
      </p:sp>
      <p:pic>
        <p:nvPicPr>
          <p:cNvPr id="6" name="Content Placeholder 5">
            <a:extLst>
              <a:ext uri="{FF2B5EF4-FFF2-40B4-BE49-F238E27FC236}">
                <a16:creationId xmlns:a16="http://schemas.microsoft.com/office/drawing/2014/main" id="{5A24A728-AC69-9AEE-DD66-E13312A556CF}"/>
              </a:ext>
            </a:extLst>
          </p:cNvPr>
          <p:cNvPicPr>
            <a:picLocks noGrp="1" noChangeAspect="1"/>
          </p:cNvPicPr>
          <p:nvPr>
            <p:ph sz="quarter" idx="11"/>
          </p:nvPr>
        </p:nvPicPr>
        <p:blipFill>
          <a:blip r:embed="rId2"/>
          <a:stretch>
            <a:fillRect/>
          </a:stretch>
        </p:blipFill>
        <p:spPr>
          <a:xfrm>
            <a:off x="7307562" y="3052095"/>
            <a:ext cx="9768875" cy="10364859"/>
          </a:xfrm>
          <a:prstGeom prst="rect">
            <a:avLst/>
          </a:prstGeom>
          <a:noFill/>
        </p:spPr>
      </p:pic>
      <p:sp>
        <p:nvSpPr>
          <p:cNvPr id="4" name="Slide Number Placeholder 3" hidden="1">
            <a:extLst>
              <a:ext uri="{FF2B5EF4-FFF2-40B4-BE49-F238E27FC236}">
                <a16:creationId xmlns:a16="http://schemas.microsoft.com/office/drawing/2014/main" id="{6364B38E-AC12-8012-979A-174158B02F4E}"/>
              </a:ext>
            </a:extLst>
          </p:cNvPr>
          <p:cNvSpPr>
            <a:spLocks noGrp="1"/>
          </p:cNvSpPr>
          <p:nvPr>
            <p:ph type="sldNum" sz="quarter" idx="4294967295"/>
          </p:nvPr>
        </p:nvSpPr>
        <p:spPr>
          <a:xfrm>
            <a:off x="16154400" y="12906673"/>
            <a:ext cx="4267200" cy="730250"/>
          </a:xfrm>
        </p:spPr>
        <p:txBody>
          <a:bodyPr anchor="ctr">
            <a:normAutofit lnSpcReduction="10000"/>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lnSpc>
                <a:spcPct val="90000"/>
              </a:lnSpc>
              <a:spcAft>
                <a:spcPts val="1200"/>
              </a:spcAft>
            </a:pPr>
            <a:fld id="{F173735F-2667-4028-B606-D96AABD86FDB}" type="slidenum">
              <a:rPr lang="id-ID" sz="4900" smtClean="0"/>
              <a:pPr>
                <a:lnSpc>
                  <a:spcPct val="90000"/>
                </a:lnSpc>
                <a:spcAft>
                  <a:spcPts val="1200"/>
                </a:spcAft>
              </a:pPr>
              <a:t>14</a:t>
            </a:fld>
            <a:endParaRPr lang="id-ID" sz="4900"/>
          </a:p>
        </p:txBody>
      </p:sp>
    </p:spTree>
    <p:extLst>
      <p:ext uri="{BB962C8B-B14F-4D97-AF65-F5344CB8AC3E}">
        <p14:creationId xmlns:p14="http://schemas.microsoft.com/office/powerpoint/2010/main" val="165708052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C1F7-04E8-404B-933A-CDA335A9D37F}"/>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dirty="0">
                <a:solidFill>
                  <a:srgbClr val="128CCD"/>
                </a:solidFill>
              </a:rPr>
              <a:t>DBaaS (Database as a Service)</a:t>
            </a:r>
          </a:p>
        </p:txBody>
      </p:sp>
      <p:sp>
        <p:nvSpPr>
          <p:cNvPr id="11" name="Text Placeholder 2">
            <a:extLst>
              <a:ext uri="{FF2B5EF4-FFF2-40B4-BE49-F238E27FC236}">
                <a16:creationId xmlns:a16="http://schemas.microsoft.com/office/drawing/2014/main" id="{9545A51E-8C51-00A3-94B2-B322479A8F92}"/>
              </a:ext>
            </a:extLst>
          </p:cNvPr>
          <p:cNvSpPr>
            <a:spLocks noGrp="1"/>
          </p:cNvSpPr>
          <p:nvPr>
            <p:ph type="body" sz="quarter" idx="10"/>
          </p:nvPr>
        </p:nvSpPr>
        <p:spPr>
          <a:xfrm>
            <a:off x="2167377" y="2419728"/>
            <a:ext cx="9768875" cy="803546"/>
          </a:xfrm>
        </p:spPr>
        <p:txBody>
          <a:bodyPr/>
          <a:lstStyle/>
          <a:p>
            <a:endParaRPr lang="en-US"/>
          </a:p>
        </p:txBody>
      </p:sp>
      <p:sp>
        <p:nvSpPr>
          <p:cNvPr id="5" name="Content Placeholder 4">
            <a:extLst>
              <a:ext uri="{FF2B5EF4-FFF2-40B4-BE49-F238E27FC236}">
                <a16:creationId xmlns:a16="http://schemas.microsoft.com/office/drawing/2014/main" id="{14B63F10-1C56-FC57-877B-BE21ECE4F181}"/>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marL="0" indent="0">
              <a:spcAft>
                <a:spcPts val="600"/>
              </a:spcAft>
              <a:buNone/>
            </a:pPr>
            <a:endParaRPr lang="en-US" sz="2600" dirty="0">
              <a:solidFill>
                <a:srgbClr val="FFFFFF"/>
              </a:solidFill>
            </a:endParaRPr>
          </a:p>
          <a:p>
            <a:pPr>
              <a:spcAft>
                <a:spcPts val="600"/>
              </a:spcAft>
            </a:pPr>
            <a:r>
              <a:rPr lang="en-US" sz="2600" dirty="0">
                <a:solidFill>
                  <a:srgbClr val="FFFFFF"/>
                </a:solidFill>
              </a:rPr>
              <a:t>Cloud database service advantages :</a:t>
            </a:r>
          </a:p>
          <a:p>
            <a:pPr marL="0" indent="0">
              <a:spcAft>
                <a:spcPts val="600"/>
              </a:spcAft>
              <a:buNone/>
            </a:pPr>
            <a:r>
              <a:rPr lang="en-US" sz="2600" dirty="0">
                <a:solidFill>
                  <a:srgbClr val="FFFFFF"/>
                </a:solidFill>
              </a:rPr>
              <a:t>      - Instantaneous Scalability</a:t>
            </a:r>
          </a:p>
          <a:p>
            <a:pPr marL="0" indent="0">
              <a:spcAft>
                <a:spcPts val="600"/>
              </a:spcAft>
              <a:buNone/>
            </a:pPr>
            <a:r>
              <a:rPr lang="en-US" sz="2600" dirty="0">
                <a:solidFill>
                  <a:srgbClr val="FFFFFF"/>
                </a:solidFill>
              </a:rPr>
              <a:t>      - Performance Guarantees</a:t>
            </a:r>
          </a:p>
          <a:p>
            <a:pPr marL="0" indent="0">
              <a:spcAft>
                <a:spcPts val="600"/>
              </a:spcAft>
              <a:buNone/>
            </a:pPr>
            <a:r>
              <a:rPr lang="en-US" sz="2600" dirty="0">
                <a:solidFill>
                  <a:srgbClr val="FFFFFF"/>
                </a:solidFill>
              </a:rPr>
              <a:t>      - Specialized Expertise</a:t>
            </a:r>
          </a:p>
          <a:p>
            <a:pPr marL="0" indent="0">
              <a:spcAft>
                <a:spcPts val="600"/>
              </a:spcAft>
              <a:buNone/>
            </a:pPr>
            <a:r>
              <a:rPr lang="en-US" sz="2600" dirty="0">
                <a:solidFill>
                  <a:srgbClr val="FFFFFF"/>
                </a:solidFill>
              </a:rPr>
              <a:t>      - Latest Technology</a:t>
            </a:r>
          </a:p>
          <a:p>
            <a:pPr marL="0" indent="0">
              <a:spcAft>
                <a:spcPts val="600"/>
              </a:spcAft>
              <a:buNone/>
            </a:pPr>
            <a:r>
              <a:rPr lang="en-US" sz="2600" dirty="0">
                <a:solidFill>
                  <a:srgbClr val="FFFFFF"/>
                </a:solidFill>
              </a:rPr>
              <a:t>      - Failover support</a:t>
            </a:r>
          </a:p>
          <a:p>
            <a:pPr marL="0" indent="0">
              <a:spcAft>
                <a:spcPts val="600"/>
              </a:spcAft>
              <a:buNone/>
            </a:pPr>
            <a:r>
              <a:rPr lang="en-US" sz="2600" dirty="0">
                <a:solidFill>
                  <a:srgbClr val="FFFFFF"/>
                </a:solidFill>
              </a:rPr>
              <a:t>      - Declining Pricing</a:t>
            </a:r>
          </a:p>
        </p:txBody>
      </p:sp>
      <p:pic>
        <p:nvPicPr>
          <p:cNvPr id="7" name="Video 6" descr="Electronic System">
            <a:extLst>
              <a:ext uri="{FF2B5EF4-FFF2-40B4-BE49-F238E27FC236}">
                <a16:creationId xmlns:a16="http://schemas.microsoft.com/office/drawing/2014/main" id="{E917634F-E8AD-7FB1-8325-E8D28555DC90}"/>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5178" r="20029" b="-1"/>
          <a:stretch>
            <a:fillRect/>
          </a:stretch>
        </p:blipFill>
        <p:spPr>
          <a:xfrm>
            <a:off x="12339930" y="4210629"/>
            <a:ext cx="9099057" cy="7921898"/>
          </a:xfrm>
          <a:prstGeom prst="rect">
            <a:avLst/>
          </a:prstGeom>
          <a:noFill/>
        </p:spPr>
      </p:pic>
      <p:sp>
        <p:nvSpPr>
          <p:cNvPr id="13" name="Text Placeholder 5">
            <a:extLst>
              <a:ext uri="{FF2B5EF4-FFF2-40B4-BE49-F238E27FC236}">
                <a16:creationId xmlns:a16="http://schemas.microsoft.com/office/drawing/2014/main" id="{CC0A2EF3-1098-E5D2-B5F9-8A32C9E4DDF1}"/>
              </a:ext>
            </a:extLst>
          </p:cNvPr>
          <p:cNvSpPr>
            <a:spLocks noGrp="1"/>
          </p:cNvSpPr>
          <p:nvPr>
            <p:ph type="body" sz="quarter" idx="17"/>
          </p:nvPr>
        </p:nvSpPr>
        <p:spPr>
          <a:xfrm>
            <a:off x="2166938" y="4210049"/>
            <a:ext cx="9768874" cy="2039112"/>
          </a:xfrm>
        </p:spPr>
        <p:txBody>
          <a:bodyPr/>
          <a:lstStyle/>
          <a:p>
            <a:r>
              <a:rPr lang="en-US" dirty="0">
                <a:solidFill>
                  <a:srgbClr val="FFFFFF"/>
                </a:solidFill>
              </a:rPr>
              <a:t>DBaaS is a cloud service where the database runs on the service provider physical infrastructure.</a:t>
            </a:r>
          </a:p>
          <a:p>
            <a:endParaRPr lang="en-US" dirty="0"/>
          </a:p>
        </p:txBody>
      </p:sp>
      <p:sp>
        <p:nvSpPr>
          <p:cNvPr id="4" name="Slide Number Placeholder 3" hidden="1">
            <a:extLst>
              <a:ext uri="{FF2B5EF4-FFF2-40B4-BE49-F238E27FC236}">
                <a16:creationId xmlns:a16="http://schemas.microsoft.com/office/drawing/2014/main" id="{8D48AFDD-DE25-192B-8664-61623F3D6255}"/>
              </a:ext>
            </a:extLst>
          </p:cNvPr>
          <p:cNvSpPr>
            <a:spLocks noGrp="1"/>
          </p:cNvSpPr>
          <p:nvPr>
            <p:ph type="sldNum" sz="quarter" idx="4294967295"/>
          </p:nvPr>
        </p:nvSpPr>
        <p:spPr>
          <a:xfrm>
            <a:off x="17475200" y="12906673"/>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15</a:t>
            </a:fld>
            <a:endParaRPr lang="id-ID"/>
          </a:p>
        </p:txBody>
      </p:sp>
    </p:spTree>
    <p:extLst>
      <p:ext uri="{BB962C8B-B14F-4D97-AF65-F5344CB8AC3E}">
        <p14:creationId xmlns:p14="http://schemas.microsoft.com/office/powerpoint/2010/main" val="341402322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5"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290A4-F2AD-2D35-8B4C-4EAB701BD927}"/>
              </a:ext>
            </a:extLst>
          </p:cNvPr>
          <p:cNvSpPr>
            <a:spLocks noGrp="1"/>
          </p:cNvSpPr>
          <p:nvPr>
            <p:ph type="title"/>
          </p:nvPr>
        </p:nvSpPr>
        <p:spPr/>
        <p:txBody>
          <a:bodyPr anchor="ct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kumimoji="0" lang="en-US" sz="3200" b="1" i="0" u="none" strike="noStrike" kern="0" cap="all" spc="0" normalizeH="0" baseline="0" noProof="0" dirty="0">
                <a:ln>
                  <a:noFill/>
                </a:ln>
                <a:solidFill>
                  <a:srgbClr val="128CCD"/>
                </a:solidFill>
                <a:effectLst/>
                <a:uLnTx/>
                <a:uFill>
                  <a:solidFill>
                    <a:srgbClr val="143E56"/>
                  </a:solidFill>
                </a:uFill>
                <a:latin typeface="Open Sans ExtraBold" pitchFamily="2" charset="0"/>
                <a:ea typeface="Open Sans ExtraBold" pitchFamily="2" charset="0"/>
                <a:cs typeface="Open Sans ExtraBold" pitchFamily="2" charset="0"/>
                <a:sym typeface="Helvetica Neue"/>
              </a:rPr>
              <a:t>DBAAS features</a:t>
            </a:r>
            <a:endParaRPr lang="en-US" dirty="0"/>
          </a:p>
        </p:txBody>
      </p:sp>
      <p:sp>
        <p:nvSpPr>
          <p:cNvPr id="17" name="Text Placeholder 16">
            <a:extLst>
              <a:ext uri="{FF2B5EF4-FFF2-40B4-BE49-F238E27FC236}">
                <a16:creationId xmlns:a16="http://schemas.microsoft.com/office/drawing/2014/main" id="{4C61D5D3-13FD-4CEF-E34D-8D895A4E3469}"/>
              </a:ext>
            </a:extLst>
          </p:cNvPr>
          <p:cNvSpPr>
            <a:spLocks noGrp="1"/>
          </p:cNvSpPr>
          <p:nvPr>
            <p:ph type="body" sz="quarter" idx="10"/>
          </p:nvPr>
        </p:nvSpPr>
        <p:spPr/>
        <p:txBody>
          <a:bodyPr/>
          <a:lstStyle/>
          <a:p>
            <a:endParaRPr lang="en-US"/>
          </a:p>
        </p:txBody>
      </p:sp>
      <p:graphicFrame>
        <p:nvGraphicFramePr>
          <p:cNvPr id="7" name="Content Placeholder 4">
            <a:extLst>
              <a:ext uri="{FF2B5EF4-FFF2-40B4-BE49-F238E27FC236}">
                <a16:creationId xmlns:a16="http://schemas.microsoft.com/office/drawing/2014/main" id="{EFF5A776-ACDF-56F7-9D4A-EDC6A61D9EE3}"/>
              </a:ext>
            </a:extLst>
          </p:cNvPr>
          <p:cNvGraphicFramePr>
            <a:graphicFrameLocks noGrp="1"/>
          </p:cNvGraphicFramePr>
          <p:nvPr>
            <p:ph sz="quarter" idx="11"/>
            <p:extLst>
              <p:ext uri="{D42A27DB-BD31-4B8C-83A1-F6EECF244321}">
                <p14:modId xmlns:p14="http://schemas.microsoft.com/office/powerpoint/2010/main" val="3140742770"/>
              </p:ext>
            </p:extLst>
          </p:nvPr>
        </p:nvGraphicFramePr>
        <p:xfrm>
          <a:off x="1620792" y="2973168"/>
          <a:ext cx="21653915" cy="9645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618274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4AC1-4504-9EB1-9C1E-8F25A610142D}"/>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err="1">
                <a:solidFill>
                  <a:srgbClr val="128CCD"/>
                </a:solidFill>
              </a:rPr>
              <a:t>IaC</a:t>
            </a:r>
            <a:r>
              <a:rPr lang="en-US" sz="3200">
                <a:solidFill>
                  <a:srgbClr val="128CCD"/>
                </a:solidFill>
              </a:rPr>
              <a:t> (Infrastructure as Code)</a:t>
            </a:r>
          </a:p>
        </p:txBody>
      </p:sp>
      <p:sp>
        <p:nvSpPr>
          <p:cNvPr id="11" name="Text Placeholder 2">
            <a:extLst>
              <a:ext uri="{FF2B5EF4-FFF2-40B4-BE49-F238E27FC236}">
                <a16:creationId xmlns:a16="http://schemas.microsoft.com/office/drawing/2014/main" id="{2FA3F8D1-06DB-88CD-412D-097D20C6BBA9}"/>
              </a:ext>
            </a:extLst>
          </p:cNvPr>
          <p:cNvSpPr>
            <a:spLocks noGrp="1"/>
          </p:cNvSpPr>
          <p:nvPr>
            <p:ph type="body" sz="quarter" idx="10"/>
          </p:nvPr>
        </p:nvSpPr>
        <p:spPr>
          <a:xfrm>
            <a:off x="2167377" y="2419728"/>
            <a:ext cx="9768875" cy="803546"/>
          </a:xfrm>
        </p:spPr>
        <p:txBody>
          <a:bodyPr/>
          <a:lstStyle/>
          <a:p>
            <a:endParaRPr lang="en-US"/>
          </a:p>
        </p:txBody>
      </p:sp>
      <p:sp>
        <p:nvSpPr>
          <p:cNvPr id="5" name="Content Placeholder 4">
            <a:extLst>
              <a:ext uri="{FF2B5EF4-FFF2-40B4-BE49-F238E27FC236}">
                <a16:creationId xmlns:a16="http://schemas.microsoft.com/office/drawing/2014/main" id="{C1ABFA56-5638-5492-B3CD-9CC8B9B5F091}"/>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spcAft>
                <a:spcPts val="600"/>
              </a:spcAft>
            </a:pPr>
            <a:r>
              <a:rPr lang="en-US" sz="2600" dirty="0">
                <a:solidFill>
                  <a:srgbClr val="FFFFFF"/>
                </a:solidFill>
              </a:rPr>
              <a:t>Such as: manage servers, operating systems, database connections, storage, and other infrastructure elements using a high-level descriptive language.</a:t>
            </a:r>
          </a:p>
          <a:p>
            <a:pPr>
              <a:spcAft>
                <a:spcPts val="600"/>
              </a:spcAft>
            </a:pPr>
            <a:endParaRPr lang="en-US" sz="2600" dirty="0">
              <a:solidFill>
                <a:srgbClr val="FFFFFF"/>
              </a:solidFill>
            </a:endParaRPr>
          </a:p>
        </p:txBody>
      </p:sp>
      <p:pic>
        <p:nvPicPr>
          <p:cNvPr id="9" name="Video 8" descr="Computer Servers">
            <a:extLst>
              <a:ext uri="{FF2B5EF4-FFF2-40B4-BE49-F238E27FC236}">
                <a16:creationId xmlns:a16="http://schemas.microsoft.com/office/drawing/2014/main" id="{5F173FA1-6B65-E5FC-6E4F-49280E5E966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35207" b="-1"/>
          <a:stretch>
            <a:fillRect/>
          </a:stretch>
        </p:blipFill>
        <p:spPr>
          <a:xfrm>
            <a:off x="12339930" y="4210629"/>
            <a:ext cx="9099057" cy="7921898"/>
          </a:xfrm>
          <a:prstGeom prst="rect">
            <a:avLst/>
          </a:prstGeom>
          <a:noFill/>
        </p:spPr>
      </p:pic>
      <p:sp>
        <p:nvSpPr>
          <p:cNvPr id="13" name="Text Placeholder 5">
            <a:extLst>
              <a:ext uri="{FF2B5EF4-FFF2-40B4-BE49-F238E27FC236}">
                <a16:creationId xmlns:a16="http://schemas.microsoft.com/office/drawing/2014/main" id="{D1CE71D4-7A2C-D06D-B04E-20339ACD1844}"/>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solidFill>
                  <a:srgbClr val="FFFFFF"/>
                </a:solidFill>
              </a:rPr>
              <a:t>The precisely function of </a:t>
            </a:r>
            <a:r>
              <a:rPr lang="en-US" dirty="0" err="1">
                <a:solidFill>
                  <a:srgbClr val="FFFFFF"/>
                </a:solidFill>
              </a:rPr>
              <a:t>IaC</a:t>
            </a:r>
            <a:r>
              <a:rPr lang="en-US" dirty="0">
                <a:solidFill>
                  <a:srgbClr val="FFFFFF"/>
                </a:solidFill>
              </a:rPr>
              <a:t> is to takes advantage of virtualization and cloud native development allowing developers to provision their own virtual servers or containers on demand</a:t>
            </a:r>
          </a:p>
          <a:p>
            <a:endParaRPr lang="en-US" dirty="0"/>
          </a:p>
        </p:txBody>
      </p:sp>
      <p:sp>
        <p:nvSpPr>
          <p:cNvPr id="4" name="Slide Number Placeholder 3" hidden="1">
            <a:extLst>
              <a:ext uri="{FF2B5EF4-FFF2-40B4-BE49-F238E27FC236}">
                <a16:creationId xmlns:a16="http://schemas.microsoft.com/office/drawing/2014/main" id="{F862BC1E-F837-8E6D-991C-2591955B5DB5}"/>
              </a:ext>
            </a:extLst>
          </p:cNvPr>
          <p:cNvSpPr>
            <a:spLocks noGrp="1"/>
          </p:cNvSpPr>
          <p:nvPr>
            <p:ph type="sldNum" sz="quarter" idx="4294967295"/>
          </p:nvPr>
        </p:nvSpPr>
        <p:spPr>
          <a:xfrm>
            <a:off x="17475200" y="12906673"/>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17</a:t>
            </a:fld>
            <a:endParaRPr lang="id-ID"/>
          </a:p>
        </p:txBody>
      </p:sp>
    </p:spTree>
    <p:extLst>
      <p:ext uri="{BB962C8B-B14F-4D97-AF65-F5344CB8AC3E}">
        <p14:creationId xmlns:p14="http://schemas.microsoft.com/office/powerpoint/2010/main" val="41902389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5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
                                        </p:tgtEl>
                                      </p:cBhvr>
                                    </p:cmd>
                                  </p:childTnLst>
                                </p:cTn>
                              </p:par>
                            </p:childTnLst>
                          </p:cTn>
                        </p:par>
                      </p:childTnLst>
                    </p:cTn>
                  </p:par>
                </p:childTnLst>
              </p:cTn>
              <p:nextCondLst>
                <p:cond evt="onClick" delay="0">
                  <p:tgtEl>
                    <p:spTgt spid="9"/>
                  </p:tgtEl>
                </p:cond>
              </p:nextCondLst>
            </p:seq>
            <p:video>
              <p:cMediaNode mute="1">
                <p:cTn id="12" repeatCount="indefinite" fill="hold" display="0">
                  <p:stCondLst>
                    <p:cond delay="indefinite"/>
                  </p:stCondLst>
                </p:cTn>
                <p:tgtEl>
                  <p:spTgt spid="9"/>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D7CA0-FD8B-4D34-3505-390C5CF81822}"/>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err="1">
                <a:solidFill>
                  <a:srgbClr val="128CCD"/>
                </a:solidFill>
              </a:rPr>
              <a:t>IaC</a:t>
            </a:r>
            <a:r>
              <a:rPr lang="en-US" sz="3200">
                <a:solidFill>
                  <a:srgbClr val="128CCD"/>
                </a:solidFill>
              </a:rPr>
              <a:t> Tools</a:t>
            </a:r>
          </a:p>
        </p:txBody>
      </p:sp>
      <p:sp>
        <p:nvSpPr>
          <p:cNvPr id="1031" name="Text Placeholder 2">
            <a:extLst>
              <a:ext uri="{FF2B5EF4-FFF2-40B4-BE49-F238E27FC236}">
                <a16:creationId xmlns:a16="http://schemas.microsoft.com/office/drawing/2014/main" id="{7EE4A8CC-B96C-83B1-06B1-CCD5C50ADBBD}"/>
              </a:ext>
            </a:extLst>
          </p:cNvPr>
          <p:cNvSpPr>
            <a:spLocks noGrp="1"/>
          </p:cNvSpPr>
          <p:nvPr>
            <p:ph type="body" sz="quarter" idx="10"/>
          </p:nvPr>
        </p:nvSpPr>
        <p:spPr>
          <a:xfrm>
            <a:off x="2167377" y="2419728"/>
            <a:ext cx="9768875" cy="803546"/>
          </a:xfrm>
        </p:spPr>
        <p:txBody>
          <a:bodyPr/>
          <a:lstStyle/>
          <a:p>
            <a:endParaRPr lang="en-US"/>
          </a:p>
        </p:txBody>
      </p:sp>
      <p:sp>
        <p:nvSpPr>
          <p:cNvPr id="5" name="Content Placeholder 4">
            <a:extLst>
              <a:ext uri="{FF2B5EF4-FFF2-40B4-BE49-F238E27FC236}">
                <a16:creationId xmlns:a16="http://schemas.microsoft.com/office/drawing/2014/main" id="{0D90E3A2-1793-C232-D96B-FFD53F1D5786}"/>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marL="0" indent="0">
              <a:spcAft>
                <a:spcPts val="600"/>
              </a:spcAft>
              <a:buNone/>
            </a:pPr>
            <a:endParaRPr lang="en-US" sz="2600" dirty="0">
              <a:solidFill>
                <a:srgbClr val="FFFFFF"/>
              </a:solidFill>
            </a:endParaRPr>
          </a:p>
          <a:p>
            <a:pPr>
              <a:spcAft>
                <a:spcPts val="600"/>
              </a:spcAft>
            </a:pPr>
            <a:r>
              <a:rPr lang="en-US" sz="2600" dirty="0">
                <a:solidFill>
                  <a:srgbClr val="FFFFFF"/>
                </a:solidFill>
              </a:rPr>
              <a:t>Ansible : is an open-source IT automation engine that is used improve the scalability, consistency, and reliability of the IT environment</a:t>
            </a:r>
          </a:p>
          <a:p>
            <a:pPr>
              <a:spcAft>
                <a:spcPts val="600"/>
              </a:spcAft>
            </a:pPr>
            <a:endParaRPr lang="en-US" sz="2600" dirty="0">
              <a:solidFill>
                <a:srgbClr val="FFFFFF"/>
              </a:solidFill>
            </a:endParaRPr>
          </a:p>
          <a:p>
            <a:pPr>
              <a:spcAft>
                <a:spcPts val="600"/>
              </a:spcAft>
            </a:pPr>
            <a:r>
              <a:rPr lang="en-US" sz="2600" dirty="0">
                <a:solidFill>
                  <a:srgbClr val="FFFFFF"/>
                </a:solidFill>
              </a:rPr>
              <a:t>Terraform : automates resource management across multiple providers, regardless of where physical servers, DNS servers, or databases reside and provisions applications written in any languages.</a:t>
            </a:r>
          </a:p>
        </p:txBody>
      </p:sp>
      <p:pic>
        <p:nvPicPr>
          <p:cNvPr id="1026" name="Picture 2" descr="Video: get started managing a simple application with Terraform | Triton  DataCenter">
            <a:extLst>
              <a:ext uri="{FF2B5EF4-FFF2-40B4-BE49-F238E27FC236}">
                <a16:creationId xmlns:a16="http://schemas.microsoft.com/office/drawing/2014/main" id="{DF57DF02-A465-83C1-DD7B-714D61452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12720"/>
          <a:stretch>
            <a:fillRect/>
          </a:stretch>
        </p:blipFill>
        <p:spPr bwMode="auto">
          <a:xfrm>
            <a:off x="12339930" y="4210629"/>
            <a:ext cx="9099057" cy="7921898"/>
          </a:xfrm>
          <a:prstGeom prst="rect">
            <a:avLst/>
          </a:prstGeom>
          <a:solidFill>
            <a:srgbClr val="FFFFFF"/>
          </a:solidFill>
        </p:spPr>
      </p:pic>
      <p:sp>
        <p:nvSpPr>
          <p:cNvPr id="13" name="Text Placeholder 5">
            <a:extLst>
              <a:ext uri="{FF2B5EF4-FFF2-40B4-BE49-F238E27FC236}">
                <a16:creationId xmlns:a16="http://schemas.microsoft.com/office/drawing/2014/main" id="{16EB14AF-A4DA-500E-5021-096F125CB906}"/>
              </a:ext>
            </a:extLst>
          </p:cNvPr>
          <p:cNvSpPr>
            <a:spLocks noGrp="1"/>
          </p:cNvSpPr>
          <p:nvPr>
            <p:ph type="body" sz="quarter" idx="17"/>
          </p:nvPr>
        </p:nvSpPr>
        <p:spPr>
          <a:xfrm>
            <a:off x="2166938" y="4210049"/>
            <a:ext cx="9768874" cy="2039112"/>
          </a:xfrm>
        </p:spPr>
        <p:txBody>
          <a:bodyPr>
            <a:normAutofit/>
          </a:bodyPr>
          <a:lstStyle/>
          <a:p>
            <a:r>
              <a:rPr lang="en-US"/>
              <a:t>The most used </a:t>
            </a:r>
            <a:r>
              <a:rPr lang="en-US" err="1"/>
              <a:t>IaC</a:t>
            </a:r>
            <a:r>
              <a:rPr lang="en-US"/>
              <a:t> tools are Ansible and Terraform.</a:t>
            </a:r>
          </a:p>
          <a:p>
            <a:endParaRPr lang="en-US" dirty="0"/>
          </a:p>
        </p:txBody>
      </p:sp>
      <p:sp>
        <p:nvSpPr>
          <p:cNvPr id="4" name="Slide Number Placeholder 3" hidden="1">
            <a:extLst>
              <a:ext uri="{FF2B5EF4-FFF2-40B4-BE49-F238E27FC236}">
                <a16:creationId xmlns:a16="http://schemas.microsoft.com/office/drawing/2014/main" id="{2AE15944-CC0C-EE49-D6BA-A119549F5EED}"/>
              </a:ext>
            </a:extLst>
          </p:cNvPr>
          <p:cNvSpPr>
            <a:spLocks noGrp="1"/>
          </p:cNvSpPr>
          <p:nvPr>
            <p:ph type="sldNum" sz="quarter" idx="4294967295"/>
          </p:nvPr>
        </p:nvSpPr>
        <p:spPr>
          <a:xfrm>
            <a:off x="17475200" y="12906673"/>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18</a:t>
            </a:fld>
            <a:endParaRPr lang="id-ID"/>
          </a:p>
        </p:txBody>
      </p:sp>
    </p:spTree>
    <p:extLst>
      <p:ext uri="{BB962C8B-B14F-4D97-AF65-F5344CB8AC3E}">
        <p14:creationId xmlns:p14="http://schemas.microsoft.com/office/powerpoint/2010/main" val="194398016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Challenges Faced by Cloud Computing</a:t>
            </a:r>
          </a:p>
        </p:txBody>
      </p:sp>
    </p:spTree>
    <p:extLst>
      <p:ext uri="{BB962C8B-B14F-4D97-AF65-F5344CB8AC3E}">
        <p14:creationId xmlns:p14="http://schemas.microsoft.com/office/powerpoint/2010/main" val="121542066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CCB79-9ECE-840E-29D8-36E67BE0EB43}"/>
              </a:ext>
            </a:extLst>
          </p:cNvPr>
          <p:cNvSpPr>
            <a:spLocks noGrp="1"/>
          </p:cNvSpPr>
          <p:nvPr>
            <p:ph type="title"/>
          </p:nvPr>
        </p:nvSpPr>
        <p:spPr/>
        <p:txBody>
          <a:bodyPr anchor="ct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kumimoji="0" lang="en-US" sz="3200" b="1" i="0" u="none" strike="noStrike" kern="0" cap="all" spc="0" normalizeH="0" baseline="0" noProof="0" dirty="0">
                <a:ln>
                  <a:noFill/>
                </a:ln>
                <a:solidFill>
                  <a:srgbClr val="128CCD"/>
                </a:solidFill>
                <a:effectLst/>
                <a:uLnTx/>
                <a:uFill>
                  <a:solidFill>
                    <a:srgbClr val="143E56"/>
                  </a:solidFill>
                </a:uFill>
                <a:latin typeface="Open Sans ExtraBold" pitchFamily="2" charset="0"/>
                <a:ea typeface="Open Sans ExtraBold" pitchFamily="2" charset="0"/>
                <a:cs typeface="Open Sans ExtraBold" pitchFamily="2" charset="0"/>
                <a:sym typeface="Helvetica Neue"/>
              </a:rPr>
              <a:t>Cloud computing major challenge</a:t>
            </a:r>
            <a:endParaRPr lang="en-US" dirty="0"/>
          </a:p>
        </p:txBody>
      </p:sp>
      <p:sp>
        <p:nvSpPr>
          <p:cNvPr id="3" name="Text Placeholder 2">
            <a:extLst>
              <a:ext uri="{FF2B5EF4-FFF2-40B4-BE49-F238E27FC236}">
                <a16:creationId xmlns:a16="http://schemas.microsoft.com/office/drawing/2014/main" id="{D160947B-C6F2-B2DA-588A-C47E23D432A3}"/>
              </a:ext>
            </a:extLst>
          </p:cNvPr>
          <p:cNvSpPr>
            <a:spLocks noGrp="1"/>
          </p:cNvSpPr>
          <p:nvPr>
            <p:ph type="body" sz="quarter" idx="10"/>
          </p:nvPr>
        </p:nvSpPr>
        <p:spPr/>
        <p:txBody>
          <a:bodyPr/>
          <a:lstStyle/>
          <a:p>
            <a:endParaRPr lang="en-US" dirty="0"/>
          </a:p>
        </p:txBody>
      </p:sp>
      <p:sp>
        <p:nvSpPr>
          <p:cNvPr id="8" name="Text Placeholder 7">
            <a:extLst>
              <a:ext uri="{FF2B5EF4-FFF2-40B4-BE49-F238E27FC236}">
                <a16:creationId xmlns:a16="http://schemas.microsoft.com/office/drawing/2014/main" id="{3B4C7F07-F9CD-9306-9413-974F4E3583D0}"/>
              </a:ext>
            </a:extLst>
          </p:cNvPr>
          <p:cNvSpPr>
            <a:spLocks noGrp="1"/>
          </p:cNvSpPr>
          <p:nvPr>
            <p:ph type="body" sz="quarter" idx="14"/>
          </p:nvPr>
        </p:nvSpPr>
        <p:spPr/>
        <p:txBody>
          <a:bodyPr/>
          <a:lstStyle/>
          <a:p>
            <a:pPr algn="ctr"/>
            <a:r>
              <a:rPr lang="en-US" dirty="0"/>
              <a:t>Interoperability and Standardization - Vendor lock-in, the fact that a user is tied to a particular cloud service provider is a major concern for cloud users.  </a:t>
            </a:r>
          </a:p>
        </p:txBody>
      </p:sp>
      <p:sp>
        <p:nvSpPr>
          <p:cNvPr id="9" name="Text Placeholder 8">
            <a:extLst>
              <a:ext uri="{FF2B5EF4-FFF2-40B4-BE49-F238E27FC236}">
                <a16:creationId xmlns:a16="http://schemas.microsoft.com/office/drawing/2014/main" id="{20F72ED7-753A-1A52-6B8F-A9C6A8FEED96}"/>
              </a:ext>
            </a:extLst>
          </p:cNvPr>
          <p:cNvSpPr>
            <a:spLocks noGrp="1"/>
          </p:cNvSpPr>
          <p:nvPr>
            <p:ph type="body" sz="quarter" idx="15"/>
          </p:nvPr>
        </p:nvSpPr>
        <p:spPr/>
        <p:txBody>
          <a:bodyPr/>
          <a:lstStyle/>
          <a:p>
            <a:pPr algn="ctr"/>
            <a:r>
              <a:rPr lang="en-US" dirty="0"/>
              <a:t>Security - The most significant challenge, gaining the trust of a large user base is critical for the future of cloud comp</a:t>
            </a:r>
          </a:p>
        </p:txBody>
      </p:sp>
      <p:sp>
        <p:nvSpPr>
          <p:cNvPr id="10" name="Text Placeholder 9">
            <a:extLst>
              <a:ext uri="{FF2B5EF4-FFF2-40B4-BE49-F238E27FC236}">
                <a16:creationId xmlns:a16="http://schemas.microsoft.com/office/drawing/2014/main" id="{132BA30D-31B2-04E6-D3C8-4789EF2A9ADE}"/>
              </a:ext>
            </a:extLst>
          </p:cNvPr>
          <p:cNvSpPr>
            <a:spLocks noGrp="1"/>
          </p:cNvSpPr>
          <p:nvPr>
            <p:ph type="body" sz="quarter" idx="16"/>
          </p:nvPr>
        </p:nvSpPr>
        <p:spPr/>
        <p:txBody>
          <a:bodyPr/>
          <a:lstStyle/>
          <a:p>
            <a:pPr algn="ctr"/>
            <a:r>
              <a:rPr lang="en-US" dirty="0"/>
              <a:t>Cloud Resource Management - A systematic, rather than ad hoc, resource-management strategy requires the existence of controllers tasked to implement several classes of policies</a:t>
            </a:r>
          </a:p>
        </p:txBody>
      </p:sp>
      <p:pic>
        <p:nvPicPr>
          <p:cNvPr id="14" name="Picture Placeholder 13">
            <a:extLst>
              <a:ext uri="{FF2B5EF4-FFF2-40B4-BE49-F238E27FC236}">
                <a16:creationId xmlns:a16="http://schemas.microsoft.com/office/drawing/2014/main" id="{BF2F5A09-A189-FE04-8D4A-02F719424E19}"/>
              </a:ext>
            </a:extLst>
          </p:cNvPr>
          <p:cNvPicPr>
            <a:picLocks noGrp="1" noChangeAspect="1"/>
          </p:cNvPicPr>
          <p:nvPr>
            <p:ph type="pic" sz="quarter" idx="12"/>
          </p:nvPr>
        </p:nvPicPr>
        <p:blipFill>
          <a:blip r:embed="rId3"/>
          <a:srcRect t="6171" b="6171"/>
          <a:stretch>
            <a:fillRect/>
          </a:stretch>
        </p:blipFill>
        <p:spPr>
          <a:prstGeom prst="rect">
            <a:avLst/>
          </a:prstGeom>
        </p:spPr>
      </p:pic>
      <p:pic>
        <p:nvPicPr>
          <p:cNvPr id="15" name="Picture Placeholder 14">
            <a:extLst>
              <a:ext uri="{FF2B5EF4-FFF2-40B4-BE49-F238E27FC236}">
                <a16:creationId xmlns:a16="http://schemas.microsoft.com/office/drawing/2014/main" id="{F72748DD-9E43-3F2C-D55B-DC7367447D0F}"/>
              </a:ext>
            </a:extLst>
          </p:cNvPr>
          <p:cNvPicPr>
            <a:picLocks noGrp="1" noChangeAspect="1"/>
          </p:cNvPicPr>
          <p:nvPr>
            <p:ph type="pic" sz="quarter" idx="13"/>
          </p:nvPr>
        </p:nvPicPr>
        <p:blipFill>
          <a:blip r:embed="rId4"/>
          <a:srcRect t="6171" b="6171"/>
          <a:stretch>
            <a:fillRect/>
          </a:stretch>
        </p:blipFill>
        <p:spPr>
          <a:prstGeom prst="rect">
            <a:avLst/>
          </a:prstGeom>
        </p:spPr>
      </p:pic>
      <p:sp>
        <p:nvSpPr>
          <p:cNvPr id="4" name="Slide Number Placeholder 3">
            <a:extLst>
              <a:ext uri="{FF2B5EF4-FFF2-40B4-BE49-F238E27FC236}">
                <a16:creationId xmlns:a16="http://schemas.microsoft.com/office/drawing/2014/main" id="{6364B38E-AC12-8012-979A-174158B02F4E}"/>
              </a:ext>
            </a:extLst>
          </p:cNvPr>
          <p:cNvSpPr>
            <a:spLocks noGrp="1"/>
          </p:cNvSpPr>
          <p:nvPr>
            <p:ph type="sldNum" sz="quarter" idx="4294967295"/>
          </p:nvPr>
        </p:nvSpPr>
        <p:spPr>
          <a:xfrm>
            <a:off x="20116800" y="12906375"/>
            <a:ext cx="4267200" cy="730250"/>
          </a:xfrm>
        </p:spPr>
        <p:txBody>
          <a:bodyPr anchor="ctr">
            <a:normAutofit fontScale="85000" lnSpcReduction="20000"/>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1200"/>
              </a:spcAft>
            </a:pPr>
            <a:fld id="{F173735F-2667-4028-B606-D96AABD86FDB}" type="slidenum">
              <a:rPr lang="id-ID" smtClean="0"/>
              <a:pPr>
                <a:spcAft>
                  <a:spcPts val="1200"/>
                </a:spcAft>
              </a:pPr>
              <a:t>20</a:t>
            </a:fld>
            <a:endParaRPr lang="id-ID"/>
          </a:p>
        </p:txBody>
      </p:sp>
      <p:pic>
        <p:nvPicPr>
          <p:cNvPr id="18" name="Picture Placeholder 17">
            <a:extLst>
              <a:ext uri="{FF2B5EF4-FFF2-40B4-BE49-F238E27FC236}">
                <a16:creationId xmlns:a16="http://schemas.microsoft.com/office/drawing/2014/main" id="{782B5983-522F-E22D-AE4C-D9D73809EB18}"/>
              </a:ext>
            </a:extLst>
          </p:cNvPr>
          <p:cNvPicPr>
            <a:picLocks noGrp="1" noChangeAspect="1"/>
          </p:cNvPicPr>
          <p:nvPr>
            <p:ph type="pic" sz="quarter" idx="11"/>
          </p:nvPr>
        </p:nvPicPr>
        <p:blipFill>
          <a:blip r:embed="rId5"/>
          <a:srcRect t="6171" b="6171"/>
          <a:stretch>
            <a:fillRect/>
          </a:stretch>
        </p:blipFill>
        <p:spPr>
          <a:prstGeom prst="rect">
            <a:avLst/>
          </a:prstGeom>
        </p:spPr>
      </p:pic>
    </p:spTree>
    <p:extLst>
      <p:ext uri="{BB962C8B-B14F-4D97-AF65-F5344CB8AC3E}">
        <p14:creationId xmlns:p14="http://schemas.microsoft.com/office/powerpoint/2010/main" val="288536861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CCB79-9ECE-840E-29D8-36E67BE0EB43}"/>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a:solidFill>
                  <a:srgbClr val="128CCD"/>
                </a:solidFill>
              </a:rPr>
              <a:t>Cloud Computing as a Disruptive Technology</a:t>
            </a:r>
          </a:p>
        </p:txBody>
      </p:sp>
      <p:sp>
        <p:nvSpPr>
          <p:cNvPr id="11" name="Text Placeholder 2">
            <a:extLst>
              <a:ext uri="{FF2B5EF4-FFF2-40B4-BE49-F238E27FC236}">
                <a16:creationId xmlns:a16="http://schemas.microsoft.com/office/drawing/2014/main" id="{07FF5393-9B78-2C1D-76C0-96BA2DF1BD10}"/>
              </a:ext>
            </a:extLst>
          </p:cNvPr>
          <p:cNvSpPr>
            <a:spLocks noGrp="1"/>
          </p:cNvSpPr>
          <p:nvPr>
            <p:ph type="body" sz="quarter" idx="10"/>
          </p:nvPr>
        </p:nvSpPr>
        <p:spPr>
          <a:xfrm>
            <a:off x="2167377" y="2419728"/>
            <a:ext cx="9768875" cy="803546"/>
          </a:xfrm>
        </p:spPr>
        <p:txBody>
          <a:bodyPr/>
          <a:lstStyle/>
          <a:p>
            <a:endParaRPr lang="en-US"/>
          </a:p>
        </p:txBody>
      </p:sp>
      <p:sp>
        <p:nvSpPr>
          <p:cNvPr id="5" name="Content Placeholder 4">
            <a:extLst>
              <a:ext uri="{FF2B5EF4-FFF2-40B4-BE49-F238E27FC236}">
                <a16:creationId xmlns:a16="http://schemas.microsoft.com/office/drawing/2014/main" id="{3E19EDDD-B174-34F1-CFE4-66993FF922EB}"/>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marL="0" indent="0">
              <a:spcAft>
                <a:spcPts val="600"/>
              </a:spcAft>
              <a:buNone/>
            </a:pPr>
            <a:endParaRPr lang="en-US" sz="2000" dirty="0">
              <a:solidFill>
                <a:srgbClr val="FFFFFF"/>
              </a:solidFill>
            </a:endParaRPr>
          </a:p>
          <a:p>
            <a:pPr>
              <a:spcAft>
                <a:spcPts val="600"/>
              </a:spcAft>
            </a:pPr>
            <a:r>
              <a:rPr lang="en-US" sz="2000" dirty="0">
                <a:solidFill>
                  <a:srgbClr val="FFFFFF"/>
                </a:solidFill>
              </a:rPr>
              <a:t>Company revenues prediction when applied cloud services:</a:t>
            </a:r>
          </a:p>
          <a:p>
            <a:pPr marL="0" indent="0">
              <a:spcAft>
                <a:spcPts val="600"/>
              </a:spcAft>
              <a:buNone/>
            </a:pPr>
            <a:r>
              <a:rPr lang="en-US" sz="2000" dirty="0">
                <a:solidFill>
                  <a:srgbClr val="FFFFFF"/>
                </a:solidFill>
              </a:rPr>
              <a:t>     - PaaS Model : from $26.4 to $58.0 billion</a:t>
            </a:r>
          </a:p>
          <a:p>
            <a:pPr marL="0" indent="0">
              <a:spcAft>
                <a:spcPts val="600"/>
              </a:spcAft>
              <a:buNone/>
            </a:pPr>
            <a:r>
              <a:rPr lang="en-US" sz="2000" dirty="0">
                <a:solidFill>
                  <a:srgbClr val="FFFFFF"/>
                </a:solidFill>
              </a:rPr>
              <a:t>     - SaaS Model : from $85.7 to $151.1 billion</a:t>
            </a:r>
          </a:p>
          <a:p>
            <a:pPr marL="0" indent="0">
              <a:spcAft>
                <a:spcPts val="600"/>
              </a:spcAft>
              <a:buNone/>
            </a:pPr>
            <a:r>
              <a:rPr lang="en-US" sz="2000" dirty="0">
                <a:solidFill>
                  <a:srgbClr val="FFFFFF"/>
                </a:solidFill>
              </a:rPr>
              <a:t>     - IaaS Model : from $32.4 to $74.1 billion</a:t>
            </a:r>
          </a:p>
          <a:p>
            <a:pPr marL="0" indent="0">
              <a:spcAft>
                <a:spcPts val="600"/>
              </a:spcAft>
              <a:buNone/>
            </a:pPr>
            <a:endParaRPr lang="en-US" sz="2000" dirty="0">
              <a:solidFill>
                <a:srgbClr val="FFFFFF"/>
              </a:solidFill>
            </a:endParaRPr>
          </a:p>
          <a:p>
            <a:pPr>
              <a:spcAft>
                <a:spcPts val="600"/>
              </a:spcAft>
            </a:pPr>
            <a:r>
              <a:rPr lang="en-US" sz="2000" dirty="0">
                <a:solidFill>
                  <a:srgbClr val="FFFFFF"/>
                </a:solidFill>
              </a:rPr>
              <a:t>A 2021 study reports that : 78% of organizations participating in the study use hybrid clouds, i.e., public and private; 19% use only public and 2% use one private clouds; and 31% of respondents spend more than $12 million annually on cloud computing</a:t>
            </a:r>
          </a:p>
          <a:p>
            <a:pPr>
              <a:spcAft>
                <a:spcPts val="600"/>
              </a:spcAft>
            </a:pPr>
            <a:endParaRPr lang="en-US" sz="2000" dirty="0">
              <a:solidFill>
                <a:srgbClr val="FFFFFF"/>
              </a:solidFill>
            </a:endParaRPr>
          </a:p>
          <a:p>
            <a:pPr>
              <a:spcAft>
                <a:spcPts val="600"/>
              </a:spcAft>
            </a:pPr>
            <a:r>
              <a:rPr lang="en-US" sz="2000" dirty="0">
                <a:solidFill>
                  <a:srgbClr val="FFFFFF"/>
                </a:solidFill>
              </a:rPr>
              <a:t>AWS has the largest cloud computing market share of 32%. Dropbox, Google Drive, and Microsoft OneDrive are the leading cloud storage providers with 47.3%, 26.9%, and 15.3% of the market, respectively.</a:t>
            </a:r>
          </a:p>
          <a:p>
            <a:pPr marL="0" indent="0">
              <a:spcAft>
                <a:spcPts val="600"/>
              </a:spcAft>
              <a:buNone/>
            </a:pPr>
            <a:r>
              <a:rPr lang="en-US" sz="2000" dirty="0">
                <a:solidFill>
                  <a:srgbClr val="FFFFFF"/>
                </a:solidFill>
              </a:rPr>
              <a:t> </a:t>
            </a:r>
          </a:p>
          <a:p>
            <a:pPr>
              <a:spcAft>
                <a:spcPts val="600"/>
              </a:spcAft>
            </a:pPr>
            <a:endParaRPr lang="en-US" sz="1800" dirty="0">
              <a:solidFill>
                <a:srgbClr val="FFFFFF"/>
              </a:solidFill>
            </a:endParaRPr>
          </a:p>
        </p:txBody>
      </p:sp>
      <p:pic>
        <p:nvPicPr>
          <p:cNvPr id="7" name="Picture 6" descr="White cloud painting">
            <a:extLst>
              <a:ext uri="{FF2B5EF4-FFF2-40B4-BE49-F238E27FC236}">
                <a16:creationId xmlns:a16="http://schemas.microsoft.com/office/drawing/2014/main" id="{6E4BCDD3-31CF-E514-EC49-6733D71C3F88}"/>
              </a:ext>
            </a:extLst>
          </p:cNvPr>
          <p:cNvPicPr>
            <a:picLocks noChangeAspect="1"/>
          </p:cNvPicPr>
          <p:nvPr/>
        </p:nvPicPr>
        <p:blipFill>
          <a:blip r:embed="rId2"/>
          <a:srcRect l="1720" r="21611"/>
          <a:stretch>
            <a:fillRect/>
          </a:stretch>
        </p:blipFill>
        <p:spPr>
          <a:xfrm>
            <a:off x="12339930" y="4210629"/>
            <a:ext cx="9099057" cy="7921898"/>
          </a:xfrm>
          <a:prstGeom prst="rect">
            <a:avLst/>
          </a:prstGeom>
          <a:noFill/>
        </p:spPr>
      </p:pic>
      <p:sp>
        <p:nvSpPr>
          <p:cNvPr id="13" name="Text Placeholder 5">
            <a:extLst>
              <a:ext uri="{FF2B5EF4-FFF2-40B4-BE49-F238E27FC236}">
                <a16:creationId xmlns:a16="http://schemas.microsoft.com/office/drawing/2014/main" id="{6B534966-D970-69A7-9642-CA379969AC37}"/>
              </a:ext>
            </a:extLst>
          </p:cNvPr>
          <p:cNvSpPr>
            <a:spLocks noGrp="1"/>
          </p:cNvSpPr>
          <p:nvPr>
            <p:ph type="body" sz="quarter" idx="17"/>
          </p:nvPr>
        </p:nvSpPr>
        <p:spPr>
          <a:xfrm>
            <a:off x="2166938" y="4210049"/>
            <a:ext cx="9768874" cy="2039112"/>
          </a:xfrm>
        </p:spPr>
        <p:txBody>
          <a:bodyPr>
            <a:normAutofit fontScale="85000" lnSpcReduction="10000"/>
          </a:bodyPr>
          <a:lstStyle/>
          <a:p>
            <a:pPr>
              <a:spcAft>
                <a:spcPts val="600"/>
              </a:spcAft>
            </a:pPr>
            <a:r>
              <a:rPr lang="en-US" dirty="0">
                <a:solidFill>
                  <a:srgbClr val="FFFFFF"/>
                </a:solidFill>
              </a:rPr>
              <a:t>Computer clouds are changing the enterprise computing landscape at a stunning speed. The top reason why companies migrate to the cloud is </a:t>
            </a:r>
            <a:r>
              <a:rPr lang="en-US" b="1" dirty="0">
                <a:solidFill>
                  <a:srgbClr val="FFFFFF"/>
                </a:solidFill>
              </a:rPr>
              <a:t>cost-cutting</a:t>
            </a:r>
            <a:r>
              <a:rPr lang="en-US" dirty="0">
                <a:solidFill>
                  <a:srgbClr val="FFFFFF"/>
                </a:solidFill>
              </a:rPr>
              <a:t>.</a:t>
            </a:r>
          </a:p>
          <a:p>
            <a:endParaRPr lang="en-US" dirty="0"/>
          </a:p>
        </p:txBody>
      </p:sp>
      <p:sp>
        <p:nvSpPr>
          <p:cNvPr id="4" name="Slide Number Placeholder 3" hidden="1">
            <a:extLst>
              <a:ext uri="{FF2B5EF4-FFF2-40B4-BE49-F238E27FC236}">
                <a16:creationId xmlns:a16="http://schemas.microsoft.com/office/drawing/2014/main" id="{6364B38E-AC12-8012-979A-174158B02F4E}"/>
              </a:ext>
            </a:extLst>
          </p:cNvPr>
          <p:cNvSpPr>
            <a:spLocks noGrp="1"/>
          </p:cNvSpPr>
          <p:nvPr>
            <p:ph type="sldNum" sz="quarter" idx="4294967295"/>
          </p:nvPr>
        </p:nvSpPr>
        <p:spPr>
          <a:xfrm>
            <a:off x="17475200" y="12906673"/>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21</a:t>
            </a:fld>
            <a:endParaRPr lang="id-ID"/>
          </a:p>
        </p:txBody>
      </p:sp>
    </p:spTree>
    <p:extLst>
      <p:ext uri="{BB962C8B-B14F-4D97-AF65-F5344CB8AC3E}">
        <p14:creationId xmlns:p14="http://schemas.microsoft.com/office/powerpoint/2010/main" val="400039077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Find article related to implementation of Cloud Computing Technology</a:t>
            </a:r>
          </a:p>
          <a:p>
            <a:pPr marL="571500" indent="-571500">
              <a:buFont typeface="Arial" panose="020B0604020202020204" pitchFamily="34" charset="0"/>
              <a:buChar char="•"/>
            </a:pPr>
            <a:r>
              <a:rPr lang="en-US" dirty="0"/>
              <a:t>Find cases related to QoS problem of Cloud services</a:t>
            </a:r>
          </a:p>
        </p:txBody>
      </p:sp>
    </p:spTree>
    <p:extLst>
      <p:ext uri="{BB962C8B-B14F-4D97-AF65-F5344CB8AC3E}">
        <p14:creationId xmlns:p14="http://schemas.microsoft.com/office/powerpoint/2010/main" val="287359398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CCB79-9ECE-840E-29D8-36E67BE0EB43}"/>
              </a:ext>
            </a:extLst>
          </p:cNvPr>
          <p:cNvSpPr>
            <a:spLocks noGrp="1"/>
          </p:cNvSpPr>
          <p:nvPr>
            <p:ph type="title"/>
          </p:nvPr>
        </p:nvSpPr>
        <p:spPr>
          <a:xfrm>
            <a:off x="2167377" y="1871164"/>
            <a:ext cx="14715569" cy="511175"/>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lang="en-US" sz="3200">
                <a:solidFill>
                  <a:srgbClr val="128CCD"/>
                </a:solidFill>
              </a:rPr>
              <a:t>Assignment</a:t>
            </a:r>
          </a:p>
        </p:txBody>
      </p:sp>
      <p:sp>
        <p:nvSpPr>
          <p:cNvPr id="11" name="Text Placeholder 2">
            <a:extLst>
              <a:ext uri="{FF2B5EF4-FFF2-40B4-BE49-F238E27FC236}">
                <a16:creationId xmlns:a16="http://schemas.microsoft.com/office/drawing/2014/main" id="{AEF05568-C5F7-B11B-0F01-AE2E5B297F06}"/>
              </a:ext>
            </a:extLst>
          </p:cNvPr>
          <p:cNvSpPr>
            <a:spLocks noGrp="1"/>
          </p:cNvSpPr>
          <p:nvPr>
            <p:ph type="body" sz="quarter" idx="10"/>
          </p:nvPr>
        </p:nvSpPr>
        <p:spPr>
          <a:xfrm>
            <a:off x="2167377" y="2419728"/>
            <a:ext cx="9768875" cy="803546"/>
          </a:xfrm>
        </p:spPr>
        <p:txBody>
          <a:bodyPr/>
          <a:lstStyle/>
          <a:p>
            <a:endParaRPr lang="en-US"/>
          </a:p>
        </p:txBody>
      </p:sp>
      <p:sp>
        <p:nvSpPr>
          <p:cNvPr id="5" name="Content Placeholder 4">
            <a:extLst>
              <a:ext uri="{FF2B5EF4-FFF2-40B4-BE49-F238E27FC236}">
                <a16:creationId xmlns:a16="http://schemas.microsoft.com/office/drawing/2014/main" id="{3E19EDDD-B174-34F1-CFE4-66993FF922EB}"/>
              </a:ext>
            </a:extLst>
          </p:cNvPr>
          <p:cNvSpPr>
            <a:spLocks noGrp="1"/>
          </p:cNvSpPr>
          <p:nvPr>
            <p:ph type="body" sz="quarter" idx="16"/>
          </p:nvPr>
        </p:nvSpPr>
        <p:spPr>
          <a:xfrm>
            <a:off x="2167377" y="6556917"/>
            <a:ext cx="9768906" cy="5575610"/>
          </a:xfrm>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a:spcAft>
                <a:spcPts val="600"/>
              </a:spcAft>
            </a:pPr>
            <a:r>
              <a:rPr lang="en-US" sz="2800" dirty="0">
                <a:solidFill>
                  <a:srgbClr val="FFFFFF"/>
                </a:solidFill>
              </a:rPr>
              <a:t>Students in the class make </a:t>
            </a:r>
            <a:r>
              <a:rPr lang="en-US" sz="2800" b="1" dirty="0">
                <a:solidFill>
                  <a:srgbClr val="FFFFFF"/>
                </a:solidFill>
              </a:rPr>
              <a:t>4 Groups</a:t>
            </a:r>
          </a:p>
          <a:p>
            <a:pPr>
              <a:spcAft>
                <a:spcPts val="600"/>
              </a:spcAft>
            </a:pPr>
            <a:r>
              <a:rPr lang="en-US" sz="2800" dirty="0">
                <a:solidFill>
                  <a:srgbClr val="FFFFFF"/>
                </a:solidFill>
              </a:rPr>
              <a:t>Each group pick one of cloud service provider</a:t>
            </a:r>
          </a:p>
          <a:p>
            <a:pPr>
              <a:spcAft>
                <a:spcPts val="600"/>
              </a:spcAft>
            </a:pPr>
            <a:r>
              <a:rPr lang="en-US" sz="2800" dirty="0">
                <a:solidFill>
                  <a:srgbClr val="FFFFFF"/>
                </a:solidFill>
              </a:rPr>
              <a:t>In 30 minutes (estimate), each group present their discuss about cloud service provider (estimate each group have 5-10 minutes to presentation)</a:t>
            </a:r>
          </a:p>
          <a:p>
            <a:pPr>
              <a:spcAft>
                <a:spcPts val="600"/>
              </a:spcAft>
            </a:pPr>
            <a:r>
              <a:rPr lang="en-US" sz="2800" dirty="0">
                <a:solidFill>
                  <a:srgbClr val="FFFFFF"/>
                </a:solidFill>
              </a:rPr>
              <a:t>(Minimal content must included in discussion : Cloud type, delivery model, services, applications)?</a:t>
            </a:r>
          </a:p>
        </p:txBody>
      </p:sp>
      <p:pic>
        <p:nvPicPr>
          <p:cNvPr id="7" name="Video 6" descr="People Planning">
            <a:extLst>
              <a:ext uri="{FF2B5EF4-FFF2-40B4-BE49-F238E27FC236}">
                <a16:creationId xmlns:a16="http://schemas.microsoft.com/office/drawing/2014/main" id="{948528DB-EDE5-919C-15C2-FF4AFB954AFD}"/>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21727" r="13480" b="-1"/>
          <a:stretch>
            <a:fillRect/>
          </a:stretch>
        </p:blipFill>
        <p:spPr>
          <a:xfrm>
            <a:off x="12339930" y="4210629"/>
            <a:ext cx="9099057" cy="7921898"/>
          </a:xfrm>
          <a:prstGeom prst="rect">
            <a:avLst/>
          </a:prstGeom>
          <a:noFill/>
        </p:spPr>
      </p:pic>
      <p:sp>
        <p:nvSpPr>
          <p:cNvPr id="13" name="Text Placeholder 5">
            <a:extLst>
              <a:ext uri="{FF2B5EF4-FFF2-40B4-BE49-F238E27FC236}">
                <a16:creationId xmlns:a16="http://schemas.microsoft.com/office/drawing/2014/main" id="{EFF522D3-0DB6-2AFD-8B1A-C99C2D84C86B}"/>
              </a:ext>
            </a:extLst>
          </p:cNvPr>
          <p:cNvSpPr>
            <a:spLocks noGrp="1"/>
          </p:cNvSpPr>
          <p:nvPr>
            <p:ph type="body" sz="quarter" idx="17"/>
          </p:nvPr>
        </p:nvSpPr>
        <p:spPr>
          <a:xfrm>
            <a:off x="2166938" y="4210049"/>
            <a:ext cx="9768874" cy="2039112"/>
          </a:xfrm>
        </p:spPr>
        <p:txBody>
          <a:bodyPr/>
          <a:lstStyle/>
          <a:p>
            <a:endParaRPr lang="en-US"/>
          </a:p>
        </p:txBody>
      </p:sp>
      <p:sp>
        <p:nvSpPr>
          <p:cNvPr id="4" name="Slide Number Placeholder 3" hidden="1">
            <a:extLst>
              <a:ext uri="{FF2B5EF4-FFF2-40B4-BE49-F238E27FC236}">
                <a16:creationId xmlns:a16="http://schemas.microsoft.com/office/drawing/2014/main" id="{6364B38E-AC12-8012-979A-174158B02F4E}"/>
              </a:ext>
            </a:extLst>
          </p:cNvPr>
          <p:cNvSpPr>
            <a:spLocks noGrp="1"/>
          </p:cNvSpPr>
          <p:nvPr>
            <p:ph type="sldNum" sz="quarter" idx="4294967295"/>
          </p:nvPr>
        </p:nvSpPr>
        <p:spPr>
          <a:xfrm>
            <a:off x="17475200" y="12906673"/>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pPr>
              <a:spcAft>
                <a:spcPts val="600"/>
              </a:spcAft>
            </a:pPr>
            <a:fld id="{F173735F-2667-4028-B606-D96AABD86FDB}" type="slidenum">
              <a:rPr lang="id-ID" smtClean="0"/>
              <a:pPr>
                <a:spcAft>
                  <a:spcPts val="600"/>
                </a:spcAft>
              </a:pPr>
              <a:t>23</a:t>
            </a:fld>
            <a:endParaRPr lang="id-ID"/>
          </a:p>
        </p:txBody>
      </p:sp>
    </p:spTree>
    <p:extLst>
      <p:ext uri="{BB962C8B-B14F-4D97-AF65-F5344CB8AC3E}">
        <p14:creationId xmlns:p14="http://schemas.microsoft.com/office/powerpoint/2010/main" val="272943338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r>
              <a:rPr lang="en-US" dirty="0"/>
              <a:t>Marinescu, Dan C. (2022). Cloud Computing Theory and Practice: 3rd Edition. Morgan Kaufmann Publishers. ISBN: 978-0-323-85277-7</a:t>
            </a:r>
          </a:p>
          <a:p>
            <a:r>
              <a:rPr lang="en-US" dirty="0"/>
              <a:t>https://www.ucsusa.org/resources/each-countrys-share-co2-emissions</a:t>
            </a:r>
          </a:p>
          <a:p>
            <a:endParaRPr lang="en-US" dirty="0"/>
          </a:p>
        </p:txBody>
      </p:sp>
    </p:spTree>
    <p:extLst>
      <p:ext uri="{BB962C8B-B14F-4D97-AF65-F5344CB8AC3E}">
        <p14:creationId xmlns:p14="http://schemas.microsoft.com/office/powerpoint/2010/main" val="173051092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922</TotalTime>
  <Words>1715</Words>
  <Application>Microsoft Office PowerPoint</Application>
  <PresentationFormat>Custom</PresentationFormat>
  <Paragraphs>168</Paragraphs>
  <Slides>25</Slides>
  <Notes>3</Notes>
  <HiddenSlides>0</HiddenSlides>
  <MMClips>5</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Open Sans ExtraBold</vt:lpstr>
      <vt:lpstr>OCRB</vt:lpstr>
      <vt:lpstr>Tahoma</vt:lpstr>
      <vt:lpstr>Open Sans Light</vt:lpstr>
      <vt:lpstr>Open Sans</vt:lpstr>
      <vt:lpstr>Arial</vt:lpstr>
      <vt:lpstr>Open Sans Semibold</vt:lpstr>
      <vt:lpstr>21_BasicWhite</vt:lpstr>
      <vt:lpstr>Cloud Ecosystems   Session 02</vt:lpstr>
      <vt:lpstr>Learning Objectives</vt:lpstr>
      <vt:lpstr>Outline</vt:lpstr>
      <vt:lpstr>Cloud Computing Delivery Models and Services</vt:lpstr>
      <vt:lpstr>Entities Involved in Cloud Computing</vt:lpstr>
      <vt:lpstr>Cloud Delivery Models</vt:lpstr>
      <vt:lpstr>SAAS (software as a service)</vt:lpstr>
      <vt:lpstr>SAAS (software as a service)</vt:lpstr>
      <vt:lpstr>PAAS (platform as a service)</vt:lpstr>
      <vt:lpstr>PaaS Example</vt:lpstr>
      <vt:lpstr>IaaS (Infrastructure as a Service)</vt:lpstr>
      <vt:lpstr>IaaS Example</vt:lpstr>
      <vt:lpstr>Software and Cloud Infrastructure</vt:lpstr>
      <vt:lpstr>The Limits of Responsibility Between a Cloud User and The Cloud Service Provider</vt:lpstr>
      <vt:lpstr>DBaaS (Database as a Service)</vt:lpstr>
      <vt:lpstr>DBAAS features</vt:lpstr>
      <vt:lpstr>IaC (Infrastructure as Code)</vt:lpstr>
      <vt:lpstr>IaC Tools</vt:lpstr>
      <vt:lpstr>Challenges Faced by Cloud Computing</vt:lpstr>
      <vt:lpstr>Cloud computing major challenge</vt:lpstr>
      <vt:lpstr>Cloud Computing as a Disruptive Technology</vt:lpstr>
      <vt:lpstr>Exercise</vt:lpstr>
      <vt:lpstr>Assignment</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18</cp:revision>
  <dcterms:created xsi:type="dcterms:W3CDTF">2023-06-28T08:14:57Z</dcterms:created>
  <dcterms:modified xsi:type="dcterms:W3CDTF">2025-12-23T20:03:48Z</dcterms:modified>
</cp:coreProperties>
</file>