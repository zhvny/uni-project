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440" r:id="rId5"/>
    <p:sldId id="441" r:id="rId6"/>
    <p:sldId id="445" r:id="rId7"/>
    <p:sldId id="442" r:id="rId8"/>
    <p:sldId id="443" r:id="rId9"/>
    <p:sldId id="444" r:id="rId10"/>
    <p:sldId id="446" r:id="rId11"/>
    <p:sldId id="439" r:id="rId12"/>
    <p:sldId id="423" r:id="rId13"/>
    <p:sldId id="272" r:id="rId14"/>
  </p:sldIdLst>
  <p:sldSz cx="24384000" cy="13716000"/>
  <p:notesSz cx="6858000" cy="9144000"/>
  <p:embeddedFontLst>
    <p:embeddedFont>
      <p:font typeface="OCRB" panose="020B0609020202020204" pitchFamily="49" charset="0"/>
      <p:regular r:id="rId16"/>
    </p:embeddedFont>
    <p:embeddedFont>
      <p:font typeface="Open Sans ExtraBold" panose="020B0906030804020204" pitchFamily="34" charset="0"/>
      <p:bold r:id="rId17"/>
      <p:italic r:id="rId18"/>
      <p:boldItalic r:id="rId19"/>
    </p:embeddedFont>
    <p:embeddedFont>
      <p:font typeface="Open Sans Light" panose="020B0306030504020204" pitchFamily="34" charset="0"/>
      <p:regular r:id="rId20"/>
      <p:italic r:id="rId21"/>
    </p:embeddedFont>
    <p:embeddedFont>
      <p:font typeface="Open Sans Semibold" panose="020B0706030804020204" pitchFamily="34" charset="0"/>
      <p:bold r:id="rId22"/>
      <p:boldItalic r:id="rId23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14F93"/>
    <a:srgbClr val="5E5E5E"/>
    <a:srgbClr val="F5AF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5758FB7-9AC5-4552-8A53-C91805E547FA}" styleName="Gaya Tema 1 - Aksen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69" autoAdjust="0"/>
    <p:restoredTop sz="95097" autoAdjust="0"/>
  </p:normalViewPr>
  <p:slideViewPr>
    <p:cSldViewPr snapToGrid="0" snapToObjects="1">
      <p:cViewPr varScale="1">
        <p:scale>
          <a:sx n="54" d="100"/>
          <a:sy n="54" d="100"/>
        </p:scale>
        <p:origin x="558" y="102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dayaturrahman" userId="b9dd9925-3f63-4f58-a981-e486d2a99324" providerId="ADAL" clId="{ED30FC5D-620D-4605-A3FC-99119276881C}"/>
    <pc:docChg chg="undo custSel addSld delSld modSld">
      <pc:chgData name="Hidayaturrahman" userId="b9dd9925-3f63-4f58-a981-e486d2a99324" providerId="ADAL" clId="{ED30FC5D-620D-4605-A3FC-99119276881C}" dt="2024-12-18T03:57:50.798" v="191" actId="20577"/>
      <pc:docMkLst>
        <pc:docMk/>
      </pc:docMkLst>
      <pc:sldChg chg="modSp mod">
        <pc:chgData name="Hidayaturrahman" userId="b9dd9925-3f63-4f58-a981-e486d2a99324" providerId="ADAL" clId="{ED30FC5D-620D-4605-A3FC-99119276881C}" dt="2024-12-18T03:57:50.798" v="191" actId="20577"/>
        <pc:sldMkLst>
          <pc:docMk/>
          <pc:sldMk cId="3807564589" sldId="256"/>
        </pc:sldMkLst>
        <pc:spChg chg="mod">
          <ac:chgData name="Hidayaturrahman" userId="b9dd9925-3f63-4f58-a981-e486d2a99324" providerId="ADAL" clId="{ED30FC5D-620D-4605-A3FC-99119276881C}" dt="2024-12-18T03:57:43.095" v="185" actId="20577"/>
          <ac:spMkLst>
            <pc:docMk/>
            <pc:sldMk cId="3807564589" sldId="256"/>
            <ac:spMk id="2" creationId="{50F9371B-F92F-AED8-457A-F4BAE6779B8C}"/>
          </ac:spMkLst>
        </pc:spChg>
        <pc:spChg chg="mod">
          <ac:chgData name="Hidayaturrahman" userId="b9dd9925-3f63-4f58-a981-e486d2a99324" providerId="ADAL" clId="{ED30FC5D-620D-4605-A3FC-99119276881C}" dt="2024-12-18T03:57:50.798" v="191" actId="20577"/>
          <ac:spMkLst>
            <pc:docMk/>
            <pc:sldMk cId="3807564589" sldId="256"/>
            <ac:spMk id="3" creationId="{05C0E2BF-BBBC-BF27-4255-C5149D193112}"/>
          </ac:spMkLst>
        </pc:spChg>
      </pc:sldChg>
      <pc:sldChg chg="modSp mod">
        <pc:chgData name="Hidayaturrahman" userId="b9dd9925-3f63-4f58-a981-e486d2a99324" providerId="ADAL" clId="{ED30FC5D-620D-4605-A3FC-99119276881C}" dt="2024-12-17T07:50:49.356" v="1" actId="20577"/>
        <pc:sldMkLst>
          <pc:docMk/>
          <pc:sldMk cId="2766454393" sldId="257"/>
        </pc:sldMkLst>
        <pc:spChg chg="mod">
          <ac:chgData name="Hidayaturrahman" userId="b9dd9925-3f63-4f58-a981-e486d2a99324" providerId="ADAL" clId="{ED30FC5D-620D-4605-A3FC-99119276881C}" dt="2024-12-17T07:50:49.356" v="1" actId="20577"/>
          <ac:spMkLst>
            <pc:docMk/>
            <pc:sldMk cId="2766454393" sldId="257"/>
            <ac:spMk id="15" creationId="{FC0F9715-3361-3A3E-A4CD-86B721291623}"/>
          </ac:spMkLst>
        </pc:spChg>
      </pc:sldChg>
      <pc:sldChg chg="modSp mod">
        <pc:chgData name="Hidayaturrahman" userId="b9dd9925-3f63-4f58-a981-e486d2a99324" providerId="ADAL" clId="{ED30FC5D-620D-4605-A3FC-99119276881C}" dt="2024-12-17T07:54:09.944" v="24" actId="403"/>
        <pc:sldMkLst>
          <pc:docMk/>
          <pc:sldMk cId="2266460145" sldId="258"/>
        </pc:sldMkLst>
        <pc:spChg chg="mod">
          <ac:chgData name="Hidayaturrahman" userId="b9dd9925-3f63-4f58-a981-e486d2a99324" providerId="ADAL" clId="{ED30FC5D-620D-4605-A3FC-99119276881C}" dt="2024-12-17T07:54:09.944" v="24" actId="403"/>
          <ac:spMkLst>
            <pc:docMk/>
            <pc:sldMk cId="2266460145" sldId="258"/>
            <ac:spMk id="15" creationId="{FC0F9715-3361-3A3E-A4CD-86B721291623}"/>
          </ac:spMkLst>
        </pc:spChg>
      </pc:sldChg>
      <pc:sldChg chg="del">
        <pc:chgData name="Hidayaturrahman" userId="b9dd9925-3f63-4f58-a981-e486d2a99324" providerId="ADAL" clId="{ED30FC5D-620D-4605-A3FC-99119276881C}" dt="2024-12-17T07:51:01.718" v="2" actId="47"/>
        <pc:sldMkLst>
          <pc:docMk/>
          <pc:sldMk cId="1504782480" sldId="332"/>
        </pc:sldMkLst>
      </pc:sldChg>
      <pc:sldChg chg="del">
        <pc:chgData name="Hidayaturrahman" userId="b9dd9925-3f63-4f58-a981-e486d2a99324" providerId="ADAL" clId="{ED30FC5D-620D-4605-A3FC-99119276881C}" dt="2024-12-17T07:51:02.423" v="3" actId="47"/>
        <pc:sldMkLst>
          <pc:docMk/>
          <pc:sldMk cId="2890318243" sldId="333"/>
        </pc:sldMkLst>
      </pc:sldChg>
      <pc:sldChg chg="modSp mod">
        <pc:chgData name="Hidayaturrahman" userId="b9dd9925-3f63-4f58-a981-e486d2a99324" providerId="ADAL" clId="{ED30FC5D-620D-4605-A3FC-99119276881C}" dt="2024-12-17T08:02:39.736" v="168" actId="404"/>
        <pc:sldMkLst>
          <pc:docMk/>
          <pc:sldMk cId="1299448681" sldId="439"/>
        </pc:sldMkLst>
        <pc:spChg chg="mod">
          <ac:chgData name="Hidayaturrahman" userId="b9dd9925-3f63-4f58-a981-e486d2a99324" providerId="ADAL" clId="{ED30FC5D-620D-4605-A3FC-99119276881C}" dt="2024-12-17T08:02:39.736" v="168" actId="404"/>
          <ac:spMkLst>
            <pc:docMk/>
            <pc:sldMk cId="1299448681" sldId="439"/>
            <ac:spMk id="8" creationId="{89E4543B-9557-7175-B80E-2D050579821F}"/>
          </ac:spMkLst>
        </pc:spChg>
      </pc:sldChg>
      <pc:sldChg chg="modSp add mod">
        <pc:chgData name="Hidayaturrahman" userId="b9dd9925-3f63-4f58-a981-e486d2a99324" providerId="ADAL" clId="{ED30FC5D-620D-4605-A3FC-99119276881C}" dt="2024-12-17T07:56:20.101" v="62" actId="115"/>
        <pc:sldMkLst>
          <pc:docMk/>
          <pc:sldMk cId="1262378723" sldId="440"/>
        </pc:sldMkLst>
        <pc:spChg chg="mod">
          <ac:chgData name="Hidayaturrahman" userId="b9dd9925-3f63-4f58-a981-e486d2a99324" providerId="ADAL" clId="{ED30FC5D-620D-4605-A3FC-99119276881C}" dt="2024-12-17T07:54:54.869" v="33"/>
          <ac:spMkLst>
            <pc:docMk/>
            <pc:sldMk cId="1262378723" sldId="440"/>
            <ac:spMk id="13" creationId="{D3540F24-EA17-6038-5B88-0B53656326C1}"/>
          </ac:spMkLst>
        </pc:spChg>
        <pc:spChg chg="mod">
          <ac:chgData name="Hidayaturrahman" userId="b9dd9925-3f63-4f58-a981-e486d2a99324" providerId="ADAL" clId="{ED30FC5D-620D-4605-A3FC-99119276881C}" dt="2024-12-17T07:56:20.101" v="62" actId="115"/>
          <ac:spMkLst>
            <pc:docMk/>
            <pc:sldMk cId="1262378723" sldId="440"/>
            <ac:spMk id="15" creationId="{C3D45B35-7F49-2B86-3F24-55F53F45EC96}"/>
          </ac:spMkLst>
        </pc:spChg>
      </pc:sldChg>
      <pc:sldChg chg="modSp add mod">
        <pc:chgData name="Hidayaturrahman" userId="b9dd9925-3f63-4f58-a981-e486d2a99324" providerId="ADAL" clId="{ED30FC5D-620D-4605-A3FC-99119276881C}" dt="2024-12-17T07:58:21.188" v="74" actId="115"/>
        <pc:sldMkLst>
          <pc:docMk/>
          <pc:sldMk cId="1373410769" sldId="441"/>
        </pc:sldMkLst>
        <pc:spChg chg="mod">
          <ac:chgData name="Hidayaturrahman" userId="b9dd9925-3f63-4f58-a981-e486d2a99324" providerId="ADAL" clId="{ED30FC5D-620D-4605-A3FC-99119276881C}" dt="2024-12-17T07:55:02.934" v="37"/>
          <ac:spMkLst>
            <pc:docMk/>
            <pc:sldMk cId="1373410769" sldId="441"/>
            <ac:spMk id="13" creationId="{593B288C-A7A4-583C-554C-93FD9EE5BEB4}"/>
          </ac:spMkLst>
        </pc:spChg>
        <pc:spChg chg="mod">
          <ac:chgData name="Hidayaturrahman" userId="b9dd9925-3f63-4f58-a981-e486d2a99324" providerId="ADAL" clId="{ED30FC5D-620D-4605-A3FC-99119276881C}" dt="2024-12-17T07:58:21.188" v="74" actId="115"/>
          <ac:spMkLst>
            <pc:docMk/>
            <pc:sldMk cId="1373410769" sldId="441"/>
            <ac:spMk id="15" creationId="{C2F6557C-22A4-BB46-01A6-6E80625A38D0}"/>
          </ac:spMkLst>
        </pc:spChg>
      </pc:sldChg>
      <pc:sldChg chg="modSp add mod">
        <pc:chgData name="Hidayaturrahman" userId="b9dd9925-3f63-4f58-a981-e486d2a99324" providerId="ADAL" clId="{ED30FC5D-620D-4605-A3FC-99119276881C}" dt="2024-12-17T07:59:40.745" v="110" actId="5793"/>
        <pc:sldMkLst>
          <pc:docMk/>
          <pc:sldMk cId="4233059346" sldId="442"/>
        </pc:sldMkLst>
        <pc:spChg chg="mod">
          <ac:chgData name="Hidayaturrahman" userId="b9dd9925-3f63-4f58-a981-e486d2a99324" providerId="ADAL" clId="{ED30FC5D-620D-4605-A3FC-99119276881C}" dt="2024-12-17T07:55:19.648" v="40"/>
          <ac:spMkLst>
            <pc:docMk/>
            <pc:sldMk cId="4233059346" sldId="442"/>
            <ac:spMk id="13" creationId="{EF226F89-8F23-6620-B5F5-D8D7350598B8}"/>
          </ac:spMkLst>
        </pc:spChg>
        <pc:spChg chg="mod">
          <ac:chgData name="Hidayaturrahman" userId="b9dd9925-3f63-4f58-a981-e486d2a99324" providerId="ADAL" clId="{ED30FC5D-620D-4605-A3FC-99119276881C}" dt="2024-12-17T07:59:40.745" v="110" actId="5793"/>
          <ac:spMkLst>
            <pc:docMk/>
            <pc:sldMk cId="4233059346" sldId="442"/>
            <ac:spMk id="15" creationId="{4226F919-F545-58DD-8D5B-E0666C41D888}"/>
          </ac:spMkLst>
        </pc:spChg>
      </pc:sldChg>
      <pc:sldChg chg="modSp add mod">
        <pc:chgData name="Hidayaturrahman" userId="b9dd9925-3f63-4f58-a981-e486d2a99324" providerId="ADAL" clId="{ED30FC5D-620D-4605-A3FC-99119276881C}" dt="2024-12-17T08:01:19.764" v="139" actId="115"/>
        <pc:sldMkLst>
          <pc:docMk/>
          <pc:sldMk cId="1422926284" sldId="443"/>
        </pc:sldMkLst>
        <pc:spChg chg="mod">
          <ac:chgData name="Hidayaturrahman" userId="b9dd9925-3f63-4f58-a981-e486d2a99324" providerId="ADAL" clId="{ED30FC5D-620D-4605-A3FC-99119276881C}" dt="2024-12-17T07:55:28.016" v="44"/>
          <ac:spMkLst>
            <pc:docMk/>
            <pc:sldMk cId="1422926284" sldId="443"/>
            <ac:spMk id="13" creationId="{4A51B2CE-8DD7-25F7-3A2D-5708E8B3CA1C}"/>
          </ac:spMkLst>
        </pc:spChg>
        <pc:spChg chg="mod">
          <ac:chgData name="Hidayaturrahman" userId="b9dd9925-3f63-4f58-a981-e486d2a99324" providerId="ADAL" clId="{ED30FC5D-620D-4605-A3FC-99119276881C}" dt="2024-12-17T08:01:19.764" v="139" actId="115"/>
          <ac:spMkLst>
            <pc:docMk/>
            <pc:sldMk cId="1422926284" sldId="443"/>
            <ac:spMk id="15" creationId="{31B34C6E-F0F2-080C-C3C5-EE4B71696F62}"/>
          </ac:spMkLst>
        </pc:spChg>
      </pc:sldChg>
      <pc:sldChg chg="modSp add mod">
        <pc:chgData name="Hidayaturrahman" userId="b9dd9925-3f63-4f58-a981-e486d2a99324" providerId="ADAL" clId="{ED30FC5D-620D-4605-A3FC-99119276881C}" dt="2024-12-17T08:02:21.096" v="154" actId="5793"/>
        <pc:sldMkLst>
          <pc:docMk/>
          <pc:sldMk cId="3713344273" sldId="444"/>
        </pc:sldMkLst>
        <pc:spChg chg="mod">
          <ac:chgData name="Hidayaturrahman" userId="b9dd9925-3f63-4f58-a981-e486d2a99324" providerId="ADAL" clId="{ED30FC5D-620D-4605-A3FC-99119276881C}" dt="2024-12-17T07:55:37.015" v="48"/>
          <ac:spMkLst>
            <pc:docMk/>
            <pc:sldMk cId="3713344273" sldId="444"/>
            <ac:spMk id="13" creationId="{E05F5508-4374-A3A6-057A-F9061E0F614C}"/>
          </ac:spMkLst>
        </pc:spChg>
        <pc:spChg chg="mod">
          <ac:chgData name="Hidayaturrahman" userId="b9dd9925-3f63-4f58-a981-e486d2a99324" providerId="ADAL" clId="{ED30FC5D-620D-4605-A3FC-99119276881C}" dt="2024-12-17T08:02:21.096" v="154" actId="5793"/>
          <ac:spMkLst>
            <pc:docMk/>
            <pc:sldMk cId="3713344273" sldId="444"/>
            <ac:spMk id="15" creationId="{D8329514-4874-42E3-7113-B0F13A60793D}"/>
          </ac:spMkLst>
        </pc:spChg>
      </pc:sldChg>
      <pc:sldChg chg="modSp add mod">
        <pc:chgData name="Hidayaturrahman" userId="b9dd9925-3f63-4f58-a981-e486d2a99324" providerId="ADAL" clId="{ED30FC5D-620D-4605-A3FC-99119276881C}" dt="2024-12-17T07:58:54.401" v="91" actId="115"/>
        <pc:sldMkLst>
          <pc:docMk/>
          <pc:sldMk cId="211975656" sldId="445"/>
        </pc:sldMkLst>
        <pc:spChg chg="mod">
          <ac:chgData name="Hidayaturrahman" userId="b9dd9925-3f63-4f58-a981-e486d2a99324" providerId="ADAL" clId="{ED30FC5D-620D-4605-A3FC-99119276881C}" dt="2024-12-17T07:58:54.401" v="91" actId="115"/>
          <ac:spMkLst>
            <pc:docMk/>
            <pc:sldMk cId="211975656" sldId="445"/>
            <ac:spMk id="15" creationId="{D0C8DF07-6ADA-605D-70A8-2863DFAC2575}"/>
          </ac:spMkLst>
        </pc:spChg>
      </pc:sldChg>
      <pc:sldChg chg="modSp add mod">
        <pc:chgData name="Hidayaturrahman" userId="b9dd9925-3f63-4f58-a981-e486d2a99324" providerId="ADAL" clId="{ED30FC5D-620D-4605-A3FC-99119276881C}" dt="2024-12-17T08:03:07.341" v="183" actId="242"/>
        <pc:sldMkLst>
          <pc:docMk/>
          <pc:sldMk cId="3253616452" sldId="446"/>
        </pc:sldMkLst>
        <pc:spChg chg="mod">
          <ac:chgData name="Hidayaturrahman" userId="b9dd9925-3f63-4f58-a981-e486d2a99324" providerId="ADAL" clId="{ED30FC5D-620D-4605-A3FC-99119276881C}" dt="2024-12-17T08:02:53.140" v="176" actId="20577"/>
          <ac:spMkLst>
            <pc:docMk/>
            <pc:sldMk cId="3253616452" sldId="446"/>
            <ac:spMk id="13" creationId="{92C94D0F-5468-6195-961C-56974B67B37E}"/>
          </ac:spMkLst>
        </pc:spChg>
        <pc:spChg chg="mod">
          <ac:chgData name="Hidayaturrahman" userId="b9dd9925-3f63-4f58-a981-e486d2a99324" providerId="ADAL" clId="{ED30FC5D-620D-4605-A3FC-99119276881C}" dt="2024-12-17T08:03:07.341" v="183" actId="242"/>
          <ac:spMkLst>
            <pc:docMk/>
            <pc:sldMk cId="3253616452" sldId="446"/>
            <ac:spMk id="15" creationId="{67283896-54FB-A3BD-949F-0A2378C7DE0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id-ID"/>
              <a:t>Klik untuk edit gaya teks Master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id-ID"/>
              <a:t>Klik untuk edit gaya teks Master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Session 04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Theoretical Frameworks and Research Models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Hidayaturrahman, S.Kom., M.T.</a:t>
            </a:r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AFC6AD01-24D6-B23F-637C-474C7FBBB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4715569" cy="510281"/>
          </a:xfrm>
        </p:spPr>
        <p:txBody>
          <a:bodyPr>
            <a:noAutofit/>
          </a:bodyPr>
          <a:lstStyle/>
          <a:p>
            <a:r>
              <a:rPr lang="en-US" sz="5400" dirty="0">
                <a:latin typeface="+mj-lt"/>
              </a:rPr>
              <a:t>Learning</a:t>
            </a:r>
            <a:r>
              <a:rPr lang="en-US" sz="9600" dirty="0">
                <a:latin typeface="+mj-lt"/>
              </a:rPr>
              <a:t> </a:t>
            </a:r>
            <a:r>
              <a:rPr lang="en-US" sz="5400" dirty="0">
                <a:latin typeface="+mj-lt"/>
              </a:rPr>
              <a:t>Outcome</a:t>
            </a: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FC0F9715-3361-3A3E-A4CD-86B72129162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6042" y="2557980"/>
            <a:ext cx="23380929" cy="11158019"/>
          </a:xfrm>
        </p:spPr>
        <p:txBody>
          <a:bodyPr>
            <a:normAutofit/>
          </a:bodyPr>
          <a:lstStyle/>
          <a:p>
            <a:pPr marL="914400" indent="0" algn="just">
              <a:buNone/>
            </a:pPr>
            <a:r>
              <a:rPr lang="en-US" sz="5400" b="1" dirty="0">
                <a:latin typeface="+mj-lt"/>
              </a:rPr>
              <a:t>LO2: </a:t>
            </a:r>
            <a:r>
              <a:rPr lang="en-US" sz="5400" dirty="0">
                <a:latin typeface="+mj-lt"/>
              </a:rPr>
              <a:t>Analyze and critically evaluate research topics, literature, and theoretical frameworks.</a:t>
            </a:r>
          </a:p>
        </p:txBody>
      </p:sp>
    </p:spTree>
    <p:extLst>
      <p:ext uri="{BB962C8B-B14F-4D97-AF65-F5344CB8AC3E}">
        <p14:creationId xmlns:p14="http://schemas.microsoft.com/office/powerpoint/2010/main" val="276645439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AFC6AD01-24D6-B23F-637C-474C7FBBB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4715569" cy="510281"/>
          </a:xfrm>
        </p:spPr>
        <p:txBody>
          <a:bodyPr>
            <a:noAutofit/>
          </a:bodyPr>
          <a:lstStyle/>
          <a:p>
            <a:r>
              <a:rPr lang="en-US" sz="5400" dirty="0">
                <a:latin typeface="+mj-lt"/>
              </a:rPr>
              <a:t>Outline</a:t>
            </a: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FC0F9715-3361-3A3E-A4CD-86B72129162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6042" y="2557980"/>
            <a:ext cx="23380929" cy="11158019"/>
          </a:xfrm>
        </p:spPr>
        <p:txBody>
          <a:bodyPr>
            <a:normAutofit/>
          </a:bodyPr>
          <a:lstStyle/>
          <a:p>
            <a:pPr marL="1773238" indent="-914400" algn="just"/>
            <a:r>
              <a:rPr lang="en-US" sz="4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Importance of Theoretical Frameworks in Research</a:t>
            </a:r>
          </a:p>
          <a:p>
            <a:pPr marL="1773238" indent="-914400" algn="just"/>
            <a:r>
              <a:rPr lang="en-US" sz="4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Understanding Theoretical Frameworks</a:t>
            </a:r>
            <a:endParaRPr lang="en-US" sz="4400" b="1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773238" indent="-914400" algn="just"/>
            <a:r>
              <a:rPr lang="en-US" sz="4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Developing a Theoretical Framework</a:t>
            </a:r>
          </a:p>
          <a:p>
            <a:pPr marL="1773238" indent="-914400" algn="just"/>
            <a:r>
              <a:rPr lang="en-US" sz="4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Research Models in Computer Science</a:t>
            </a:r>
            <a:endParaRPr lang="en-US" sz="4400" b="1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773238" indent="-914400" algn="just"/>
            <a:r>
              <a:rPr lang="en-US" sz="4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Challenges in Using Theoretical Frameworks</a:t>
            </a:r>
            <a:endParaRPr lang="en-US" sz="4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46014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FCC68-FF52-BA36-4C74-C832A50ED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D3540F24-EA17-6038-5B88-0B5365632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4715569" cy="510281"/>
          </a:xfrm>
        </p:spPr>
        <p:txBody>
          <a:bodyPr>
            <a:noAutofit/>
          </a:bodyPr>
          <a:lstStyle/>
          <a:p>
            <a:r>
              <a:rPr lang="en-US" sz="5400" dirty="0">
                <a:latin typeface="+mj-lt"/>
              </a:rPr>
              <a:t>Importance of Theoretical Frameworks in Research</a:t>
            </a: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C3D45B35-7F49-2B86-3F24-55F53F45EC9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775013" y="2557980"/>
            <a:ext cx="20421600" cy="11158019"/>
          </a:xfrm>
        </p:spPr>
        <p:txBody>
          <a:bodyPr>
            <a:normAutofit/>
          </a:bodyPr>
          <a:lstStyle/>
          <a:p>
            <a:pPr marL="0" marR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4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theoretical framework provides the lens through which a research study is approached. It sets the foundation for understanding the relationships between variables and guides the research process.</a:t>
            </a:r>
          </a:p>
          <a:p>
            <a:pPr marL="0" marR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4800" b="1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Key Roles of a Theoretical Framework</a:t>
            </a:r>
            <a:endParaRPr lang="en-US" sz="4800" u="sng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Establishes the context of the study.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Helps define the research questions.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Guides data collection and analysis.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Aligns the study with existing knowledge.</a:t>
            </a:r>
          </a:p>
        </p:txBody>
      </p:sp>
    </p:spTree>
    <p:extLst>
      <p:ext uri="{BB962C8B-B14F-4D97-AF65-F5344CB8AC3E}">
        <p14:creationId xmlns:p14="http://schemas.microsoft.com/office/powerpoint/2010/main" val="1262378723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FBA44-91A8-D356-B4CA-6809B7F73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593B288C-A7A4-583C-554C-93FD9EE5B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4715569" cy="510281"/>
          </a:xfrm>
        </p:spPr>
        <p:txBody>
          <a:bodyPr>
            <a:noAutofit/>
          </a:bodyPr>
          <a:lstStyle/>
          <a:p>
            <a:r>
              <a:rPr lang="en-US" sz="5400" dirty="0">
                <a:latin typeface="+mj-lt"/>
              </a:rPr>
              <a:t>Understanding Theoretical Frameworks</a:t>
            </a: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C2F6557C-22A4-BB46-01A6-6E80625A38D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6042" y="2557980"/>
            <a:ext cx="23380929" cy="11158019"/>
          </a:xfrm>
        </p:spPr>
        <p:txBody>
          <a:bodyPr>
            <a:norm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theoretical framework is a structure that explains why the research problem exists, using concepts, theories, or models.</a:t>
            </a:r>
          </a:p>
          <a:p>
            <a:pPr marL="0" marR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4000" b="1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Components of a Theoretical Framework</a:t>
            </a:r>
            <a:endParaRPr lang="en-US" sz="4000" u="sng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4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Key Concepts</a:t>
            </a: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Definitions and explanations of terms used in the study.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4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Relationships</a:t>
            </a: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How concepts interact or influence each other.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4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Underlying Theories</a:t>
            </a: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Established theories that support the study.</a:t>
            </a:r>
          </a:p>
        </p:txBody>
      </p:sp>
    </p:spTree>
    <p:extLst>
      <p:ext uri="{BB962C8B-B14F-4D97-AF65-F5344CB8AC3E}">
        <p14:creationId xmlns:p14="http://schemas.microsoft.com/office/powerpoint/2010/main" val="137341076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4696D-940D-6CF1-79CA-4460BAE28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B5E60A2E-07D0-FC07-4C3D-C5502C68A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4715569" cy="510281"/>
          </a:xfrm>
        </p:spPr>
        <p:txBody>
          <a:bodyPr>
            <a:noAutofit/>
          </a:bodyPr>
          <a:lstStyle/>
          <a:p>
            <a:r>
              <a:rPr lang="en-US" sz="5400" dirty="0">
                <a:latin typeface="+mj-lt"/>
              </a:rPr>
              <a:t>Understanding Theoretical Frameworks</a:t>
            </a: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D0C8DF07-6ADA-605D-70A8-2863DFAC257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6042" y="2557980"/>
            <a:ext cx="23380929" cy="11158019"/>
          </a:xfrm>
        </p:spPr>
        <p:txBody>
          <a:bodyPr>
            <a:normAutofit/>
          </a:bodyPr>
          <a:lstStyle/>
          <a:p>
            <a:pPr marL="0" marR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4800" b="1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Examples in Computer Science</a:t>
            </a:r>
            <a:endParaRPr lang="en-US" sz="4800" u="sng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Artificial Intelligence</a:t>
            </a:r>
            <a:r>
              <a:rPr lang="en-US" sz="4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Theory: Neural Networks, Reinforcement Learning.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Framework: Supervised vs. Unsupervised Learning.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Human-Computer Interaction</a:t>
            </a:r>
            <a:r>
              <a:rPr lang="en-US" sz="4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Theory: Cognitive Load Theory.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Framework: Usability and Accessibility Models.</a:t>
            </a:r>
          </a:p>
        </p:txBody>
      </p:sp>
    </p:spTree>
    <p:extLst>
      <p:ext uri="{BB962C8B-B14F-4D97-AF65-F5344CB8AC3E}">
        <p14:creationId xmlns:p14="http://schemas.microsoft.com/office/powerpoint/2010/main" val="21197565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2FA9C-3B13-DC0F-D659-E13B86332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EF226F89-8F23-6620-B5F5-D8D735059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4715569" cy="510281"/>
          </a:xfrm>
        </p:spPr>
        <p:txBody>
          <a:bodyPr>
            <a:noAutofit/>
          </a:bodyPr>
          <a:lstStyle/>
          <a:p>
            <a:r>
              <a:rPr lang="en-US" sz="5400" dirty="0">
                <a:latin typeface="+mj-lt"/>
              </a:rPr>
              <a:t>Developing a Theoretical Framework</a:t>
            </a: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4226F919-F545-58DD-8D5B-E0666C41D88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6042" y="2557980"/>
            <a:ext cx="23380929" cy="11158019"/>
          </a:xfrm>
        </p:spPr>
        <p:txBody>
          <a:bodyPr>
            <a:norm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Identify Relevant Theories</a:t>
            </a: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Search for theories in the literature that relate to your research problem.</a:t>
            </a: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Define Key Variables</a:t>
            </a: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Clearly describe the independent, dependent, and control variables.</a:t>
            </a: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Establish Relationships</a:t>
            </a: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 diagrams to illustrate how variables are interconnected.</a:t>
            </a: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Justify Your Framework</a:t>
            </a: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Explain why the chosen theory or model is appropriate for the study.</a:t>
            </a: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US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Commonly Used Theories in Computer Science</a:t>
            </a:r>
            <a:endParaRPr lang="en-US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Information Processing Theory.</a:t>
            </a: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Distributed Systems Theory.</a:t>
            </a: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Game Theory.</a:t>
            </a:r>
          </a:p>
        </p:txBody>
      </p:sp>
    </p:spTree>
    <p:extLst>
      <p:ext uri="{BB962C8B-B14F-4D97-AF65-F5344CB8AC3E}">
        <p14:creationId xmlns:p14="http://schemas.microsoft.com/office/powerpoint/2010/main" val="4233059346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713A9-FF14-63FC-966F-76E8D8AFE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4A51B2CE-8DD7-25F7-3A2D-5708E8B3C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4715569" cy="510281"/>
          </a:xfrm>
        </p:spPr>
        <p:txBody>
          <a:bodyPr>
            <a:noAutofit/>
          </a:bodyPr>
          <a:lstStyle/>
          <a:p>
            <a:r>
              <a:rPr lang="en-US" sz="5400" dirty="0">
                <a:latin typeface="+mj-lt"/>
              </a:rPr>
              <a:t>Research Models in Computer Science</a:t>
            </a: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31B34C6E-F0F2-080C-C3C5-EE4B71696F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6042" y="2557980"/>
            <a:ext cx="23380929" cy="11158019"/>
          </a:xfrm>
        </p:spPr>
        <p:txBody>
          <a:bodyPr numCol="2">
            <a:noAutofit/>
          </a:bodyPr>
          <a:lstStyle/>
          <a:p>
            <a:pPr marL="0" marR="0" indent="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research model provides the structure for designing and implementing a study. Models vary depending on the methodology and objectives of the research.</a:t>
            </a:r>
          </a:p>
          <a:p>
            <a:pPr marL="0" marR="0" indent="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3200" b="1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Types of Research Models</a:t>
            </a:r>
            <a:endParaRPr lang="en-US" sz="3200" u="sng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Descriptive Models</a:t>
            </a: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Focus on describing phenomena.</a:t>
            </a: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Example: User behavior analysis in a software application.</a:t>
            </a: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Predictive Models</a:t>
            </a: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Focus on forecasting outcomes.</a:t>
            </a: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Example: Machine learning models predicting fraud.</a:t>
            </a: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Explanatory Models</a:t>
            </a: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Focus on understanding causality.</a:t>
            </a: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Example: Analyzing factors affecting algorithm performance.</a:t>
            </a: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Optimization Models</a:t>
            </a: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Focus on achieving the best solution.</a:t>
            </a:r>
          </a:p>
          <a:p>
            <a:pPr marL="742950" marR="0" lvl="1" indent="-28575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Example: Network traffic routing algorithms.</a:t>
            </a:r>
          </a:p>
          <a:p>
            <a:pPr marL="0" marR="0" indent="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None/>
            </a:pPr>
            <a:endParaRPr lang="en-US" sz="32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3200" b="1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Framework vs. Model</a:t>
            </a:r>
            <a:endParaRPr lang="en-US" sz="3200" u="sng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Framework</a:t>
            </a: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Conceptual; guides the research approach.</a:t>
            </a:r>
          </a:p>
          <a:p>
            <a:pPr marL="342900" marR="0" lvl="0" indent="-3429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Model</a:t>
            </a: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Operational; used for data collection and analysis.</a:t>
            </a:r>
          </a:p>
        </p:txBody>
      </p:sp>
    </p:spTree>
    <p:extLst>
      <p:ext uri="{BB962C8B-B14F-4D97-AF65-F5344CB8AC3E}">
        <p14:creationId xmlns:p14="http://schemas.microsoft.com/office/powerpoint/2010/main" val="142292628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CD4BF-FDE3-6303-81BC-B58418C0D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E05F5508-4374-A3A6-057A-F9061E0F6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4715569" cy="510281"/>
          </a:xfrm>
        </p:spPr>
        <p:txBody>
          <a:bodyPr>
            <a:noAutofit/>
          </a:bodyPr>
          <a:lstStyle/>
          <a:p>
            <a:r>
              <a:rPr lang="en-US" sz="5400" dirty="0">
                <a:latin typeface="+mj-lt"/>
              </a:rPr>
              <a:t>Challenges in Using Theoretical Frameworks</a:t>
            </a: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D8329514-4874-42E3-7113-B0F13A60793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6042" y="2557980"/>
            <a:ext cx="23380929" cy="11158019"/>
          </a:xfrm>
        </p:spPr>
        <p:txBody>
          <a:bodyPr>
            <a:normAutofit/>
          </a:bodyPr>
          <a:lstStyle/>
          <a:p>
            <a:pPr marL="0" marR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4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Challenges in Using Theoretical Frameworks</a:t>
            </a:r>
            <a:endParaRPr lang="en-US" sz="4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4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Choosing the Right Framework</a:t>
            </a:r>
            <a:r>
              <a:rPr lang="en-US" sz="4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Solution</a:t>
            </a:r>
            <a:r>
              <a:rPr lang="en-US" sz="4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Conduct a comprehensive literature review.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4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Aligning Framework with Research Goals</a:t>
            </a:r>
            <a:r>
              <a:rPr lang="en-US" sz="4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Solution</a:t>
            </a:r>
            <a:r>
              <a:rPr lang="en-US" sz="4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Define clear objectives and questions.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4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Adapting Frameworks for Interdisciplinary Research</a:t>
            </a:r>
            <a:r>
              <a:rPr lang="en-US" sz="4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Solution</a:t>
            </a:r>
            <a:r>
              <a:rPr lang="en-US" sz="4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Incorporate theories from related disciplines.</a:t>
            </a:r>
          </a:p>
        </p:txBody>
      </p:sp>
    </p:spTree>
    <p:extLst>
      <p:ext uri="{BB962C8B-B14F-4D97-AF65-F5344CB8AC3E}">
        <p14:creationId xmlns:p14="http://schemas.microsoft.com/office/powerpoint/2010/main" val="371334427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B68CB-C6E2-0F7F-3D4F-2A6E938AA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92C94D0F-5468-6195-961C-56974B67B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4715569" cy="510281"/>
          </a:xfrm>
        </p:spPr>
        <p:txBody>
          <a:bodyPr>
            <a:noAutofit/>
          </a:bodyPr>
          <a:lstStyle/>
          <a:p>
            <a:r>
              <a:rPr lang="en-US" sz="5400" dirty="0">
                <a:latin typeface="+mj-lt"/>
              </a:rPr>
              <a:t>Summary</a:t>
            </a: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67283896-54FB-A3BD-949F-0A2378C7DE0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6042" y="2557980"/>
            <a:ext cx="23380929" cy="11158019"/>
          </a:xfrm>
        </p:spPr>
        <p:txBody>
          <a:bodyPr anchor="ctr">
            <a:norm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Theoretical frameworks and research models are critical for grounding research and ensuring methodological rigor.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framework explains the "why" and "how" of the research, while a model focuses on implementation.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Proper alignment between research objectives and frameworks/models enhances the credibility of a study.</a:t>
            </a:r>
          </a:p>
        </p:txBody>
      </p:sp>
    </p:spTree>
    <p:extLst>
      <p:ext uri="{BB962C8B-B14F-4D97-AF65-F5344CB8AC3E}">
        <p14:creationId xmlns:p14="http://schemas.microsoft.com/office/powerpoint/2010/main" val="325361645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79F71-4B94-78F3-BE0B-467EDF8C0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Activity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E4543B-9557-7175-B80E-2D050579821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20674694" cy="8568593"/>
          </a:xfrm>
        </p:spPr>
        <p:txBody>
          <a:bodyPr>
            <a:norm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4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Individual Task</a:t>
            </a: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Select a research topic and identify at least one relevant theoretical framework.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Define the key concepts and relationships.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4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Group Task</a:t>
            </a: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Develop a visual diagram of a theoretical framework for a shared topic.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Justify the choice of the framework.</a:t>
            </a:r>
          </a:p>
        </p:txBody>
      </p:sp>
    </p:spTree>
    <p:extLst>
      <p:ext uri="{BB962C8B-B14F-4D97-AF65-F5344CB8AC3E}">
        <p14:creationId xmlns:p14="http://schemas.microsoft.com/office/powerpoint/2010/main" val="1299448681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Judul 4">
            <a:extLst>
              <a:ext uri="{FF2B5EF4-FFF2-40B4-BE49-F238E27FC236}">
                <a16:creationId xmlns:a16="http://schemas.microsoft.com/office/drawing/2014/main" id="{C5B773AD-3131-DABC-0943-3C804025A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521505704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Judul 12">
            <a:extLst>
              <a:ext uri="{FF2B5EF4-FFF2-40B4-BE49-F238E27FC236}">
                <a16:creationId xmlns:a16="http://schemas.microsoft.com/office/drawing/2014/main" id="{AFC6AD01-24D6-B23F-637C-474C7FBBB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017" y="754458"/>
            <a:ext cx="14715569" cy="510281"/>
          </a:xfrm>
        </p:spPr>
        <p:txBody>
          <a:bodyPr>
            <a:noAutofit/>
          </a:bodyPr>
          <a:lstStyle/>
          <a:p>
            <a:r>
              <a:rPr lang="en-US" sz="9600" dirty="0"/>
              <a:t>References</a:t>
            </a:r>
          </a:p>
        </p:txBody>
      </p:sp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FC0F9715-3361-3A3E-A4CD-86B72129162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6042" y="2557980"/>
            <a:ext cx="23380929" cy="11158019"/>
          </a:xfrm>
        </p:spPr>
        <p:txBody>
          <a:bodyPr>
            <a:normAutofit/>
          </a:bodyPr>
          <a:lstStyle/>
          <a:p>
            <a:pPr marL="858838" indent="0" algn="just">
              <a:buNone/>
            </a:pPr>
            <a:r>
              <a:rPr lang="en-US" sz="4400" dirty="0">
                <a:latin typeface="+mj-lt"/>
              </a:rPr>
              <a:t>Creswell, J. W., &amp; Creswell, J. D. (2017). Research Design: Qualitative, Quantitative, and Mixed Methods Approaches. SAGE Publications.</a:t>
            </a:r>
          </a:p>
          <a:p>
            <a:pPr marL="858838" indent="0" algn="just">
              <a:buNone/>
            </a:pPr>
            <a:r>
              <a:rPr lang="en-US" sz="4400" dirty="0">
                <a:latin typeface="+mj-lt"/>
              </a:rPr>
              <a:t>Mack, C. A. (2018). How to Write a Good Scientific Paper. SPIE.</a:t>
            </a:r>
          </a:p>
          <a:p>
            <a:pPr marL="858838" indent="0" algn="just">
              <a:buNone/>
            </a:pPr>
            <a:r>
              <a:rPr lang="en-US" sz="4400" dirty="0">
                <a:latin typeface="+mj-lt"/>
              </a:rPr>
              <a:t>Google Scholar: https://scholar.google.com</a:t>
            </a:r>
          </a:p>
          <a:p>
            <a:pPr marL="858838" indent="0" algn="just">
              <a:buNone/>
            </a:pPr>
            <a:r>
              <a:rPr lang="en-US" sz="4400" dirty="0">
                <a:latin typeface="+mj-lt"/>
              </a:rPr>
              <a:t>IEEE Xplore: https://ieeexplore.ieee.org</a:t>
            </a:r>
          </a:p>
        </p:txBody>
      </p:sp>
    </p:spTree>
    <p:extLst>
      <p:ext uri="{BB962C8B-B14F-4D97-AF65-F5344CB8AC3E}">
        <p14:creationId xmlns:p14="http://schemas.microsoft.com/office/powerpoint/2010/main" val="369684605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Metadata/LabelInfo.xml><?xml version="1.0" encoding="utf-8"?>
<clbl:labelList xmlns:clbl="http://schemas.microsoft.com/office/2020/mipLabelMetadata">
  <clbl:label id="{3485b963-82ba-4a6f-810f-b5cc226ff898}" enabled="0" method="" siteId="{3485b963-82ba-4a6f-810f-b5cc226ff8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Template 2023</Template>
  <TotalTime>4788</TotalTime>
  <Words>662</Words>
  <Application>Microsoft Office PowerPoint</Application>
  <PresentationFormat>Custom</PresentationFormat>
  <Paragraphs>93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Open Sans ExtraBold</vt:lpstr>
      <vt:lpstr>Symbol</vt:lpstr>
      <vt:lpstr>Open Sans Semibold</vt:lpstr>
      <vt:lpstr>Courier New</vt:lpstr>
      <vt:lpstr>Open Sans Light</vt:lpstr>
      <vt:lpstr>Arial</vt:lpstr>
      <vt:lpstr>Aptos</vt:lpstr>
      <vt:lpstr>OCRB</vt:lpstr>
      <vt:lpstr>21_BasicWhite</vt:lpstr>
      <vt:lpstr>Theoretical Frameworks and Research Models</vt:lpstr>
      <vt:lpstr>Learning Outcome</vt:lpstr>
      <vt:lpstr>Outline</vt:lpstr>
      <vt:lpstr>Importance of Theoretical Frameworks in Research</vt:lpstr>
      <vt:lpstr>Understanding Theoretical Frameworks</vt:lpstr>
      <vt:lpstr>Understanding Theoretical Frameworks</vt:lpstr>
      <vt:lpstr>Developing a Theoretical Framework</vt:lpstr>
      <vt:lpstr>Research Models in Computer Science</vt:lpstr>
      <vt:lpstr>Challenges in Using Theoretical Frameworks</vt:lpstr>
      <vt:lpstr>Summary</vt:lpstr>
      <vt:lpstr>Activity</vt:lpstr>
      <vt:lpstr>References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Presentasi PowerPoint</dc:title>
  <dc:creator>Felix Indra Kurniadi</dc:creator>
  <cp:lastModifiedBy>Hidayaturrahman</cp:lastModifiedBy>
  <cp:revision>123</cp:revision>
  <dcterms:created xsi:type="dcterms:W3CDTF">2023-10-15T02:42:15Z</dcterms:created>
  <dcterms:modified xsi:type="dcterms:W3CDTF">2024-12-18T03:57:52Z</dcterms:modified>
</cp:coreProperties>
</file>