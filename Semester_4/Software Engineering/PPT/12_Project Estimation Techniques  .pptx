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39"/>
  </p:notesMasterIdLst>
  <p:sldIdLst>
    <p:sldId id="256" r:id="rId6"/>
    <p:sldId id="257" r:id="rId7"/>
    <p:sldId id="258" r:id="rId8"/>
    <p:sldId id="325" r:id="rId9"/>
    <p:sldId id="326" r:id="rId10"/>
    <p:sldId id="327" r:id="rId11"/>
    <p:sldId id="328" r:id="rId12"/>
    <p:sldId id="397" r:id="rId13"/>
    <p:sldId id="393" r:id="rId14"/>
    <p:sldId id="394" r:id="rId15"/>
    <p:sldId id="329" r:id="rId16"/>
    <p:sldId id="401" r:id="rId17"/>
    <p:sldId id="399" r:id="rId18"/>
    <p:sldId id="402" r:id="rId19"/>
    <p:sldId id="403" r:id="rId20"/>
    <p:sldId id="404" r:id="rId21"/>
    <p:sldId id="405" r:id="rId22"/>
    <p:sldId id="406" r:id="rId23"/>
    <p:sldId id="398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16" r:id="rId34"/>
    <p:sldId id="417" r:id="rId35"/>
    <p:sldId id="418" r:id="rId36"/>
    <p:sldId id="419" r:id="rId37"/>
    <p:sldId id="284" r:id="rId38"/>
  </p:sldIdLst>
  <p:sldSz cx="24384000" cy="13716000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OCRB" panose="020B0609020202020204" pitchFamily="49" charset="77"/>
      <p:regular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  <p:embeddedFont>
      <p:font typeface="Open Sans ExtraBold" panose="020B0606030504020204" pitchFamily="34" charset="0"/>
      <p:bold r:id="rId46"/>
      <p:italic r:id="rId47"/>
      <p:boldItalic r:id="rId48"/>
    </p:embeddedFont>
    <p:embeddedFont>
      <p:font typeface="Open Sans Light" panose="020B0306030504020204" pitchFamily="34" charset="0"/>
      <p:regular r:id="rId49"/>
      <p:italic r:id="rId50"/>
    </p:embeddedFont>
    <p:embeddedFont>
      <p:font typeface="Open Sans Semibold" panose="020B0606030504020204" pitchFamily="34" charset="0"/>
      <p:regular r:id="rId51"/>
      <p:bold r:id="rId52"/>
      <p:italic r:id="rId53"/>
      <p:boldItalic r:id="rId5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8" autoAdjust="0"/>
    <p:restoredTop sz="96197"/>
  </p:normalViewPr>
  <p:slideViewPr>
    <p:cSldViewPr snapToGrid="0" snapToObjects="1">
      <p:cViewPr varScale="1">
        <p:scale>
          <a:sx n="36" d="100"/>
          <a:sy n="36" d="100"/>
        </p:scale>
        <p:origin x="320" y="18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font" Target="fonts/font1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7.fntdata"/><Relationship Id="rId20" Type="http://schemas.openxmlformats.org/officeDocument/2006/relationships/slide" Target="slides/slide15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10.fntdata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font" Target="fonts/font5.fntdata"/><Relationship Id="rId52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9600" b="1" dirty="0">
                <a:solidFill>
                  <a:schemeClr val="bg1"/>
                </a:solidFill>
              </a:rPr>
              <a:t>Project Estimation Techniques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12 – Project Estimation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marL="390525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Understand the Purpose and Importance of Project Estimation</a:t>
            </a:r>
          </a:p>
          <a:p>
            <a:pPr marL="390525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Describe Key Estimation Techniques and Their Applications</a:t>
            </a:r>
          </a:p>
          <a:p>
            <a:pPr marL="390525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Explore Software Sizing and Effort Estimation Models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12 – Project Estimation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711673" cy="8583279"/>
          </a:xfrm>
        </p:spPr>
        <p:txBody>
          <a:bodyPr anchor="ctr">
            <a:norm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Estimation Techniques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 Sizing Techniques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Effort and Cost Estimation Models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Estimation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Expert Judgement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Definition: Relying on the experience and intuition of experts.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Advantages: Quick and easy.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Disadvantages: Subjective and may be biased.</a:t>
            </a:r>
          </a:p>
        </p:txBody>
      </p:sp>
      <p:pic>
        <p:nvPicPr>
          <p:cNvPr id="3074" name="Picture 2" descr="Verifying Estimates : r/ProgrammerHumor">
            <a:extLst>
              <a:ext uri="{FF2B5EF4-FFF2-40B4-BE49-F238E27FC236}">
                <a16:creationId xmlns:a16="http://schemas.microsoft.com/office/drawing/2014/main" id="{7FFEF240-76A4-2DB0-5691-0DDBBE8F5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3288" y="2840194"/>
            <a:ext cx="10024623" cy="1002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02050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Estimation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Analogous Estimation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Definition: Using historical data from similar projects.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Advantages: Useful when limited project details are available.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Disadvantages: Accuracy depends on similarity between projects.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2AF669F-E071-D55F-33C6-579E757A6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6320" y="3105460"/>
            <a:ext cx="11338560" cy="889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31427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Estimation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Parametric Estimation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Definition: Using mathematical models with project parameters.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Example: Estimating effort based on lines of code (LOC).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Advantages: More objective and scalable.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Disadvantages: Requires accurate parameters and models.</a:t>
            </a:r>
          </a:p>
        </p:txBody>
      </p:sp>
      <p:pic>
        <p:nvPicPr>
          <p:cNvPr id="7172" name="Picture 4" descr="Estimation Skills 😂 : r/ProgrammerHumor">
            <a:extLst>
              <a:ext uri="{FF2B5EF4-FFF2-40B4-BE49-F238E27FC236}">
                <a16:creationId xmlns:a16="http://schemas.microsoft.com/office/drawing/2014/main" id="{5874C1E5-96F5-4098-F8BC-84B3428CE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760" y="2745225"/>
            <a:ext cx="10393680" cy="961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6883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Estimation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Three-Point Estimation (PERT)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Definition: Uses optimistic (O), most likely (M), and pessimistic (P) estimates.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Formula: Estimated Time = (O + 4M + P) / 6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Advantages: Accounts for uncertainty.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Disadvantages: More time-consuming.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15B2EB9-1954-F9F1-814A-889679AC2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1120" y="3463600"/>
            <a:ext cx="11612880" cy="8177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53915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Estimation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Time Estimation</a:t>
            </a:r>
          </a:p>
        </p:txBody>
      </p:sp>
      <p:pic>
        <p:nvPicPr>
          <p:cNvPr id="2050" name="Picture 2" descr="Estimation">
            <a:extLst>
              <a:ext uri="{FF2B5EF4-FFF2-40B4-BE49-F238E27FC236}">
                <a16:creationId xmlns:a16="http://schemas.microsoft.com/office/drawing/2014/main" id="{7E8C3431-FC8F-8A3C-7FD9-DD22EC9D4EE2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788" y="3352669"/>
            <a:ext cx="9186423" cy="1036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7816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Estimation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Improving time estimates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4778437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Prevent conformity bias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Do you have a comparable experience to base an estimate on?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How much design do you need for each task?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Break down the task into smaller tasks and estimate them</a:t>
            </a: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</p:txBody>
      </p:sp>
      <p:pic>
        <p:nvPicPr>
          <p:cNvPr id="3074" name="Picture 2" descr="Agile estimation using T-Shirt Sizing | Project Mangement Tips">
            <a:extLst>
              <a:ext uri="{FF2B5EF4-FFF2-40B4-BE49-F238E27FC236}">
                <a16:creationId xmlns:a16="http://schemas.microsoft.com/office/drawing/2014/main" id="{471B8161-0FAC-B0F7-7232-75EA5EB1C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938" y="7532913"/>
            <a:ext cx="13644123" cy="584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30980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Estimation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Is Estimation evil?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8379977"/>
            <a:ext cx="7772400" cy="2395142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https://</a:t>
            </a:r>
            <a:r>
              <a:rPr kumimoji="0" lang="en-US" sz="36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ronjeffries.com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/articles/021-01ff/estimation-is-evil/</a:t>
            </a:r>
          </a:p>
        </p:txBody>
      </p:sp>
      <p:pic>
        <p:nvPicPr>
          <p:cNvPr id="6" name="Picture 5" descr="A screenshot of a web page&#10;&#10;Description automatically generated">
            <a:extLst>
              <a:ext uri="{FF2B5EF4-FFF2-40B4-BE49-F238E27FC236}">
                <a16:creationId xmlns:a16="http://schemas.microsoft.com/office/drawing/2014/main" id="{8BA32425-23EE-666D-269A-744B39516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868651"/>
            <a:ext cx="7772400" cy="4511326"/>
          </a:xfrm>
          <a:prstGeom prst="rect">
            <a:avLst/>
          </a:prstGeom>
        </p:spPr>
      </p:pic>
      <p:pic>
        <p:nvPicPr>
          <p:cNvPr id="4098" name="Picture 2" descr="We'll Ask for Estimates and then Treat Them as Deadlines | Project Manager  Coach">
            <a:extLst>
              <a:ext uri="{FF2B5EF4-FFF2-40B4-BE49-F238E27FC236}">
                <a16:creationId xmlns:a16="http://schemas.microsoft.com/office/drawing/2014/main" id="{350334D0-C8AD-1C88-4078-AC34AB9E0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523" y="3260662"/>
            <a:ext cx="12276846" cy="890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31904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Software Sizing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Function Point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Measures the functionality provided to the user based on the logical design.</a:t>
            </a: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Components: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External Inputs (EI)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External Outputs (EO)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External Inquiries (EQ)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Internal Logical Files (ILF)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External Interface Files (EIF)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5A4F84A-E2E7-41F8-078B-6DBB0CFD1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3288" y="2145892"/>
            <a:ext cx="10024623" cy="496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944E2B0A-52A0-3DED-689A-180A57699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577" y="7383776"/>
            <a:ext cx="11379646" cy="605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5780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Software Sizing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Function Point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2216623" cy="8583279"/>
          </a:xfrm>
        </p:spPr>
        <p:txBody>
          <a:bodyPr anchor="t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Value Adjustment Factor (VAF) consists of 14 General System Characteristics (GSC)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These GSCs represent characteristics of the application under consideration.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Each is weighted on a scale from 0 (low) to 5 (high).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When you sum up the values of these 14 GSCs you get a value named “Total Degree of Influence", or TDI.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As you can see from the math the TDI can vary from 0 (when all GSCs are low) to 70 (when all GSCs are high).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DAF15-E4F6-69EC-7E33-D090CFC9D971}"/>
              </a:ext>
            </a:extLst>
          </p:cNvPr>
          <p:cNvSpPr txBox="1"/>
          <p:nvPr/>
        </p:nvSpPr>
        <p:spPr>
          <a:xfrm>
            <a:off x="5442328" y="6858000"/>
            <a:ext cx="4964943" cy="666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14 GSCs: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Data Communication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Distributed data processing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Performance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Heavily used configuration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Transaction rate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Online data entry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End user efficiency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Online update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Complex processing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Reusability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Installation ease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Operational ease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Multiple sites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Facilitate change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850EE-88CA-E099-46B2-F162B261B6B8}"/>
              </a:ext>
            </a:extLst>
          </p:cNvPr>
          <p:cNvSpPr txBox="1"/>
          <p:nvPr/>
        </p:nvSpPr>
        <p:spPr>
          <a:xfrm>
            <a:off x="10407271" y="9544889"/>
            <a:ext cx="1219200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l-GR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Σ (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F</a:t>
            </a:r>
            <a:r>
              <a:rPr kumimoji="0" lang="en-US" sz="360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i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) = Total Degree of Influence (TDI)</a:t>
            </a:r>
          </a:p>
          <a:p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VAF = [0.65 + 0.01 x </a:t>
            </a:r>
            <a:r>
              <a:rPr kumimoji="0" lang="el-GR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Σ (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F</a:t>
            </a:r>
            <a:r>
              <a:rPr kumimoji="0" lang="en-US" sz="360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i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)]</a:t>
            </a: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6981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Software Sizing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Function Point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The estimated number of FP is derived:</a:t>
            </a:r>
          </a:p>
          <a:p>
            <a:pPr marL="623888" lvl="1" indent="0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	Assume, </a:t>
            </a:r>
            <a:r>
              <a:rPr kumimoji="0" lang="el-GR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Σ (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F</a:t>
            </a:r>
            <a:r>
              <a:rPr kumimoji="0" lang="en-US" sz="360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i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) = 52</a:t>
            </a:r>
          </a:p>
          <a:p>
            <a:pPr marL="0" marR="0" lvl="0" indent="0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		</a:t>
            </a:r>
            <a:r>
              <a:rPr kumimoji="0" lang="en-US" sz="36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FP</a:t>
            </a:r>
            <a:r>
              <a:rPr kumimoji="0" lang="en-US" sz="360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estimated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= count-total x [0.65 + 0.01 x </a:t>
            </a:r>
            <a:r>
              <a:rPr kumimoji="0" lang="el-GR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Σ (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F</a:t>
            </a:r>
            <a:r>
              <a:rPr kumimoji="0" lang="en-US" sz="360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i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)]</a:t>
            </a:r>
          </a:p>
          <a:p>
            <a:pPr marL="0" marR="0" lvl="0" indent="0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		</a:t>
            </a:r>
            <a:r>
              <a:rPr kumimoji="0" lang="en-US" sz="36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FP</a:t>
            </a:r>
            <a:r>
              <a:rPr kumimoji="0" lang="en-US" sz="360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estimated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= 374,4 = 375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114271A9-373A-9E3E-DABF-F0473742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102" y="3298050"/>
            <a:ext cx="17291796" cy="618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3235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Software Sizing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Use Case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2402063" cy="10455337"/>
          </a:xfrm>
        </p:spPr>
        <p:txBody>
          <a:bodyPr anchor="ctr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Estimation technique based on use cases</a:t>
            </a: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Components</a:t>
            </a: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: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Unadjusted Use Case Weight (UUCW)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Unadjusted Actor Weight (UAW)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Technical Complexity Factors (TCF)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Environmental Factors (EF)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Calculation Steps</a:t>
            </a: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: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Calculate UUCW and UAW.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Compute Unadjusted Use Case Points (UUCP):</a:t>
            </a:r>
          </a:p>
          <a:p>
            <a:pPr marL="1593850" lvl="2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UUCP = UUCW + UAW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Adjust for TCF and EF.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Calculate Adjusted Use Case Points (UCP):</a:t>
            </a:r>
          </a:p>
          <a:p>
            <a:pPr marL="1593850" lvl="2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UCP = UUCP × TCF × EF</a:t>
            </a:r>
          </a:p>
        </p:txBody>
      </p:sp>
      <p:pic>
        <p:nvPicPr>
          <p:cNvPr id="6" name="Picture 5" descr="A yellow and black rectangular sign with black text&#10;&#10;Description automatically generated">
            <a:extLst>
              <a:ext uri="{FF2B5EF4-FFF2-40B4-BE49-F238E27FC236}">
                <a16:creationId xmlns:a16="http://schemas.microsoft.com/office/drawing/2014/main" id="{DC8FD540-EBDC-9519-A0D6-529AA0D20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7816" y="4096605"/>
            <a:ext cx="10355565" cy="3477051"/>
          </a:xfrm>
          <a:prstGeom prst="rect">
            <a:avLst/>
          </a:prstGeom>
        </p:spPr>
      </p:pic>
      <p:pic>
        <p:nvPicPr>
          <p:cNvPr id="8" name="Picture 7" descr="A close-up of a text&#10;&#10;Description automatically generated">
            <a:extLst>
              <a:ext uri="{FF2B5EF4-FFF2-40B4-BE49-F238E27FC236}">
                <a16:creationId xmlns:a16="http://schemas.microsoft.com/office/drawing/2014/main" id="{A6597520-26A4-30A3-D447-17319D927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7816" y="9968520"/>
            <a:ext cx="10355565" cy="2075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C4AEC7-6E26-2865-61A4-0DFB5C427EBD}"/>
              </a:ext>
            </a:extLst>
          </p:cNvPr>
          <p:cNvSpPr txBox="1"/>
          <p:nvPr/>
        </p:nvSpPr>
        <p:spPr>
          <a:xfrm>
            <a:off x="12957816" y="9250535"/>
            <a:ext cx="337271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Actor Complexity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14BDD-8D89-944B-43CB-AF317DA1AC97}"/>
              </a:ext>
            </a:extLst>
          </p:cNvPr>
          <p:cNvSpPr txBox="1"/>
          <p:nvPr/>
        </p:nvSpPr>
        <p:spPr>
          <a:xfrm>
            <a:off x="12957816" y="3378620"/>
            <a:ext cx="348653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Use Case Weights</a:t>
            </a:r>
          </a:p>
        </p:txBody>
      </p:sp>
    </p:spTree>
    <p:extLst>
      <p:ext uri="{BB962C8B-B14F-4D97-AF65-F5344CB8AC3E}">
        <p14:creationId xmlns:p14="http://schemas.microsoft.com/office/powerpoint/2010/main" val="379106342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Software Sizing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Use Case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448783" cy="10455337"/>
          </a:xfrm>
        </p:spPr>
        <p:txBody>
          <a:bodyPr anchor="t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Calculating Unadjusted Use Case Weight (UUCW)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Calculating Unadjusted Actor Weight (UAW)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Calculating Unadjusted Use Case Points (UUCP): UUCW + UAW = 560+40 = 600</a:t>
            </a:r>
          </a:p>
        </p:txBody>
      </p:sp>
      <p:pic>
        <p:nvPicPr>
          <p:cNvPr id="7" name="Picture 6" descr="A table with numbers and text&#10;&#10;Description automatically generated">
            <a:extLst>
              <a:ext uri="{FF2B5EF4-FFF2-40B4-BE49-F238E27FC236}">
                <a16:creationId xmlns:a16="http://schemas.microsoft.com/office/drawing/2014/main" id="{1A61B2CC-B71D-E279-5371-004D8BBCF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684" y="3808331"/>
            <a:ext cx="12398632" cy="2896402"/>
          </a:xfrm>
          <a:prstGeom prst="rect">
            <a:avLst/>
          </a:prstGeom>
        </p:spPr>
      </p:pic>
      <p:pic>
        <p:nvPicPr>
          <p:cNvPr id="9" name="Picture 8" descr="A table with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2C684436-D0EC-9312-FF20-49ECAC075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622" y="7438349"/>
            <a:ext cx="8576756" cy="283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8689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Software Sizing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07903" cy="840935"/>
          </a:xfrm>
        </p:spPr>
        <p:txBody>
          <a:bodyPr>
            <a:normAutofit/>
          </a:bodyPr>
          <a:lstStyle/>
          <a:p>
            <a:r>
              <a:rPr lang="en-US" dirty="0"/>
              <a:t>Use Case Points: Adjusting for technical complexity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448783" cy="10455337"/>
          </a:xfrm>
        </p:spPr>
        <p:txBody>
          <a:bodyPr anchor="t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The weight of each factor impacting technical complexity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TCF = 0.6 + (0.01 * </a:t>
            </a:r>
            <a:r>
              <a:rPr kumimoji="0" lang="en-US" sz="32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TFactor</a:t>
            </a: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2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 panose="020B0606030504020204" pitchFamily="34" charset="0"/>
              </a:rPr>
              <a:t>TCF = 0.6 + (0.01 * 42) = 1.02</a:t>
            </a: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</p:txBody>
      </p:sp>
      <p:pic>
        <p:nvPicPr>
          <p:cNvPr id="6" name="Picture 5" descr="A table with text on it&#10;&#10;Description automatically generated">
            <a:extLst>
              <a:ext uri="{FF2B5EF4-FFF2-40B4-BE49-F238E27FC236}">
                <a16:creationId xmlns:a16="http://schemas.microsoft.com/office/drawing/2014/main" id="{F5DE93C2-DEBA-37ED-1D2E-0861A9E57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856094"/>
            <a:ext cx="8713984" cy="7440179"/>
          </a:xfrm>
          <a:prstGeom prst="rect">
            <a:avLst/>
          </a:prstGeom>
        </p:spPr>
      </p:pic>
      <p:pic>
        <p:nvPicPr>
          <p:cNvPr id="10" name="Picture 9" descr="A table with text on it&#10;&#10;Description automatically generated">
            <a:extLst>
              <a:ext uri="{FF2B5EF4-FFF2-40B4-BE49-F238E27FC236}">
                <a16:creationId xmlns:a16="http://schemas.microsoft.com/office/drawing/2014/main" id="{09865ACA-C357-A3EC-B584-BC565FB45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288" y="3856094"/>
            <a:ext cx="10024623" cy="729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3619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Software Sizing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901423" cy="840935"/>
          </a:xfrm>
        </p:spPr>
        <p:txBody>
          <a:bodyPr>
            <a:normAutofit/>
          </a:bodyPr>
          <a:lstStyle/>
          <a:p>
            <a:r>
              <a:rPr lang="en-US" dirty="0"/>
              <a:t>Use Case Points: Adjusting for Environmental Complexity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448783" cy="10455337"/>
          </a:xfrm>
        </p:spPr>
        <p:txBody>
          <a:bodyPr anchor="t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Environmental factors and their weights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EF = </a:t>
            </a:r>
            <a:r>
              <a:rPr lang="en-US" sz="32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 panose="020B0606030504020204" pitchFamily="34" charset="0"/>
              </a:rPr>
              <a:t>1.4</a:t>
            </a: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 + (-0.03 * </a:t>
            </a:r>
            <a:r>
              <a:rPr kumimoji="0" lang="en-US" sz="32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EFactor</a:t>
            </a: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)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2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 panose="020B0606030504020204" pitchFamily="34" charset="0"/>
              </a:rPr>
              <a:t>EF = 1.4 + (-0.03 * 17.5) = 1.4 + (-0.51) = 0.89</a:t>
            </a: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</p:txBody>
      </p:sp>
      <p:pic>
        <p:nvPicPr>
          <p:cNvPr id="7" name="Picture 6" descr="A table with text on it&#10;&#10;Description automatically generated">
            <a:extLst>
              <a:ext uri="{FF2B5EF4-FFF2-40B4-BE49-F238E27FC236}">
                <a16:creationId xmlns:a16="http://schemas.microsoft.com/office/drawing/2014/main" id="{5CD872DC-3594-29CB-3EFF-0BF3E4639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808331"/>
            <a:ext cx="10740047" cy="4190626"/>
          </a:xfrm>
          <a:prstGeom prst="rect">
            <a:avLst/>
          </a:prstGeom>
        </p:spPr>
      </p:pic>
      <p:pic>
        <p:nvPicPr>
          <p:cNvPr id="9" name="Picture 8" descr="A table of text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18156F66-508F-520E-F3EA-B144FAA06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902" y="3808332"/>
            <a:ext cx="9035396" cy="4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3539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5968223" cy="5476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Software Sizing Techniques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901423" cy="840935"/>
          </a:xfrm>
        </p:spPr>
        <p:txBody>
          <a:bodyPr>
            <a:normAutofit/>
          </a:bodyPr>
          <a:lstStyle/>
          <a:p>
            <a:r>
              <a:rPr lang="en-US" dirty="0"/>
              <a:t>Use Case Points: Final Calculation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448783" cy="10455337"/>
          </a:xfrm>
        </p:spPr>
        <p:txBody>
          <a:bodyPr anchor="t">
            <a:no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kumimoji="0" lang="en-US" sz="3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US" sz="32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 panose="020B0606030504020204" pitchFamily="34" charset="0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 panose="020B0606030504020204" pitchFamily="34" charset="0"/>
              </a:rPr>
              <a:t>UCP = UUCW * TCF * EF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2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 panose="020B0606030504020204" pitchFamily="34" charset="0"/>
              </a:rPr>
              <a:t>UCP = 600 * 1.02 * 0.89 = </a:t>
            </a:r>
            <a:r>
              <a:rPr lang="en-US" sz="32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 panose="020B0606030504020204" pitchFamily="34" charset="0"/>
              </a:rPr>
              <a:t>545</a:t>
            </a:r>
            <a:endParaRPr kumimoji="0" lang="en-US" sz="32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 panose="020B0606030504020204" pitchFamily="34" charset="0"/>
            </a:endParaRPr>
          </a:p>
        </p:txBody>
      </p:sp>
      <p:pic>
        <p:nvPicPr>
          <p:cNvPr id="6" name="Picture 5" descr="A close-up of a chart&#10;&#10;Description automatically generated">
            <a:extLst>
              <a:ext uri="{FF2B5EF4-FFF2-40B4-BE49-F238E27FC236}">
                <a16:creationId xmlns:a16="http://schemas.microsoft.com/office/drawing/2014/main" id="{AAE46507-80A2-5639-618F-E3C556152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260662"/>
            <a:ext cx="12609616" cy="359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3838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Effort and Cost Estimation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LOC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t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compute LOC/FP using estimates of information domain values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use historical data to build estimates for the project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Average productivity for systems of this type = 620 LOC/pm. 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Burdened labor rate =$8000 per month, the cost per line of code is approximately $13. 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Based on the LOC estimate and the historical productivity data, the total estimated project cost is $431,000 and the estimated effort is 54 person-months.</a:t>
            </a: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08661-CA7D-1787-A82F-D767E9671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320" y="4544477"/>
            <a:ext cx="12865359" cy="546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550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Effort and Cost Estimation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FP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b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The estimated number of FP is derived:</a:t>
            </a:r>
          </a:p>
          <a:p>
            <a:pPr marL="0" marR="0" lvl="0" indent="0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			</a:t>
            </a:r>
            <a:r>
              <a:rPr kumimoji="0" lang="en-US" sz="360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FP</a:t>
            </a:r>
            <a:r>
              <a:rPr kumimoji="0" lang="en-US" sz="360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estimated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= 375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organizational average productivity =  6.5 FP/pm. 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burdened labor rate = $8000 per month, approximately $1230/FP. 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Based on the FP estimate and the historical productivity data, total estimated project cost is $461,000 and estimated effort is 58 person-months.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114271A9-373A-9E3E-DABF-F0473742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520" y="3298050"/>
            <a:ext cx="16522959" cy="590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9993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Effort and Cost Estimation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 err="1"/>
              <a:t>Cocomo</a:t>
            </a:r>
            <a:r>
              <a:rPr lang="en-US" dirty="0"/>
              <a:t> II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Constructive Cost Model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, an algorithmic software estimation model.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COCOMO II is an advanced version of the original COCOMO model developed by Dr. Barry Boehm in 1981. It was introduced in the mid-1990s to address the changing landscape of software development, including: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Emergence of new software development methodologies.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Increased use of Commercial Off-The-Shelf (COTS) software.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Importance of software reuse.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Development of software in a variety of domains and environments.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Purpose of COCOMO II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Provide a framework for estimating software development effort, cost, and schedule.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Adapt to various project sizes, complexities, and development approaches.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Types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Application Composition Model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For early prototyping stages.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Early Design Model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Uses function points and a set of scale drivers.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Post-Architecture Model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Most detailed, uses size estimates in LOC.</a:t>
            </a:r>
          </a:p>
        </p:txBody>
      </p:sp>
    </p:spTree>
    <p:extLst>
      <p:ext uri="{BB962C8B-B14F-4D97-AF65-F5344CB8AC3E}">
        <p14:creationId xmlns:p14="http://schemas.microsoft.com/office/powerpoint/2010/main" val="109669801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Effort and Cost Estimation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 err="1"/>
              <a:t>Cocomo</a:t>
            </a:r>
            <a:r>
              <a:rPr lang="en-US" dirty="0"/>
              <a:t> II Model: Application composition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</p:spPr>
            <p:txBody>
              <a:bodyPr anchor="ctr">
                <a:noAutofit/>
              </a:bodyPr>
              <a:lstStyle/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Usage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Suitable for projects during the early stages where software is built using rapid application development (RAD) tools or is component-based.</a:t>
                </a: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Approach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Utilizes Object Points (OP) as the primary size metric.</a:t>
                </a: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Object Points Categories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Screens: User interface elements.</a:t>
                </a: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Reports: Outputs generated by the system.</a:t>
                </a: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Components: Reusable pieces of code or modules.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Effort Estimation Formula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</a:p>
              <a:p>
                <a:pPr marL="0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𝐸𝑓𝑓𝑜𝑟𝑡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 </m:t>
                      </m:r>
                      <m:d>
                        <m:d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𝑃𝑒𝑟𝑠𝑜𝑛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−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𝑀𝑜𝑛𝑡h𝑠</m:t>
                          </m:r>
                        </m:e>
                      </m:d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kumimoji="0" lang="en-US" sz="36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𝑂𝑏𝑗𝑒𝑐𝑡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𝑃𝑜𝑖𝑛𝑡𝑠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 × (100% − 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𝑅𝑒𝑢𝑠𝑒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%)</m:t>
                          </m:r>
                        </m:num>
                        <m:den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𝑃𝑟𝑜𝑑𝑢𝑐𝑡𝑖𝑣𝑖𝑡𝑦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𝑅𝑎𝑡𝑒</m:t>
                          </m:r>
                        </m:den>
                      </m:f>
                    </m:oMath>
                  </m:oMathPara>
                </a14:m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Productivity Rate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Based on developer experience and tool support.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  <a:blipFill>
                <a:blip r:embed="rId2"/>
                <a:stretch>
                  <a:fillRect l="-1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049784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Effort and Cost Estimation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 err="1"/>
              <a:t>Cocomo</a:t>
            </a:r>
            <a:r>
              <a:rPr lang="en-US" dirty="0"/>
              <a:t> II Model: Early Design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</p:spPr>
            <p:txBody>
              <a:bodyPr anchor="ctr">
                <a:noAutofit/>
              </a:bodyPr>
              <a:lstStyle/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Usage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Applied during the early stages when only high-level design information is available.</a:t>
                </a: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Approach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Uses </a:t>
                </a: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Function Points (FP) 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or </a:t>
                </a: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Unadjusted Function Points (UFP) 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as the size metric.</a:t>
                </a: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Key Components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Scale Factors (SF)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Reflect the exponential impact of project characteristics.</a:t>
                </a: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Effort Multipliers (EM)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Adjust effort based on cost drivers.</a:t>
                </a: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Effort Estimation Formula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</a:p>
              <a:p>
                <a:pPr marL="0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𝐸𝑓𝑓𝑜𝑟𝑡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=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𝐸𝐴𝐹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 × </m:t>
                      </m:r>
                      <m:sSup>
                        <m:sSup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𝑆𝑖𝑧𝑒</m:t>
                          </m:r>
                        </m:e>
                        <m:sup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EAF (Effort Adjustment Factor)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Product of Effort Multipliers.</a:t>
                </a: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 (Exponent)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Calculated using Scale Factors.</a:t>
                </a: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  <a:blipFill>
                <a:blip r:embed="rId2"/>
                <a:stretch>
                  <a:fillRect l="-1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96493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Effort and Cost Estimation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 err="1"/>
              <a:t>Cocomo</a:t>
            </a:r>
            <a:r>
              <a:rPr lang="en-US" dirty="0"/>
              <a:t> II Model: Post-Architecture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</p:spPr>
            <p:txBody>
              <a:bodyPr anchor="ctr">
                <a:noAutofit/>
              </a:bodyPr>
              <a:lstStyle/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Usage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Suitable after the project's overall architecture has been designed.</a:t>
                </a: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Approach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Provides the most detailed estimation, incorporating a wide range of factors.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Size Metric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Typically uses </a:t>
                </a: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Source Lines of Code (SLOC)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 or </a:t>
                </a: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Function Points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.</a:t>
                </a: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36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Key Components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17 Effort Multipliers (EM): 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Cover product, platform, personnel, and project attributes.</a:t>
                </a: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5 Scale Factors (SF): 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Capture the economy or diseconomy of scale.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Effort Estimation Formula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</a:p>
              <a:p>
                <a:pPr marL="0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𝐸𝑓𝑓𝑜𝑟𝑡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(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𝑃𝑒𝑟𝑠𝑜𝑛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−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𝑀𝑜𝑛𝑡h𝑠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)=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𝐸𝐴𝐹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 × </m:t>
                      </m:r>
                      <m:sSup>
                        <m:sSup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𝑆𝑖𝑧𝑒</m:t>
                          </m:r>
                        </m:e>
                        <m:sup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EAF (Effort Adjustment Factor)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Product of the selected Effort Multipliers.</a:t>
                </a: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 (Exponent)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Exponent derived from Scale Factors:</a:t>
                </a:r>
              </a:p>
              <a:p>
                <a:pPr marL="623888" lvl="1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=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𝐵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+0.01 × </m:t>
                      </m:r>
                      <m:nary>
                        <m:naryPr>
                          <m:chr m:val="∑"/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5</m:t>
                          </m:r>
                        </m:sup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1014413" lvl="1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lang="en-US" sz="3600" b="1" kern="1200" dirty="0">
                    <a:solidFill>
                      <a:prstClr val="black"/>
                    </a:solidFill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B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Baseline exponent, typically 0.91</a:t>
                </a:r>
              </a:p>
              <a:p>
                <a:pPr marL="390525" marR="0" lvl="0" indent="-390525" algn="l" defTabSz="5207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  <a:blipFill>
                <a:blip r:embed="rId2"/>
                <a:stretch>
                  <a:fillRect l="-1001" t="-1820" b="-14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91868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Effort and Cost Estimation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99343" cy="840935"/>
          </a:xfrm>
        </p:spPr>
        <p:txBody>
          <a:bodyPr>
            <a:normAutofit/>
          </a:bodyPr>
          <a:lstStyle/>
          <a:p>
            <a:r>
              <a:rPr lang="en-US" dirty="0"/>
              <a:t>Detailed Components of </a:t>
            </a:r>
            <a:r>
              <a:rPr lang="en-US" dirty="0" err="1"/>
              <a:t>Cocomo</a:t>
            </a:r>
            <a:r>
              <a:rPr lang="en-US" dirty="0"/>
              <a:t> II: Scale Factors (SF)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Scale Factors determine the economies or diseconomies of scale in the project. The five Scale Factors are: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PREC (</a:t>
            </a:r>
            <a:r>
              <a:rPr kumimoji="0" lang="en-US" sz="36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Precedentedness</a:t>
            </a: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)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Reflects previous experience with similar projects.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FLEX (Development Flexibility)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Degree of flexibility in the development process.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RESL (Architecture/Risk Resolution)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Level of risk management and architecture analysis.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TEAM (Team Cohesion)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How well the team works together.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PMAT (Process Maturity)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Maturity of the organization's software process.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Rating Levels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Each Scale Factor is rated on a scale from Very Low to Extra High, with associated numeric values.</a:t>
            </a:r>
          </a:p>
        </p:txBody>
      </p:sp>
    </p:spTree>
    <p:extLst>
      <p:ext uri="{BB962C8B-B14F-4D97-AF65-F5344CB8AC3E}">
        <p14:creationId xmlns:p14="http://schemas.microsoft.com/office/powerpoint/2010/main" val="122791782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Effort and Cost Estimation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499343" cy="840935"/>
          </a:xfrm>
        </p:spPr>
        <p:txBody>
          <a:bodyPr>
            <a:normAutofit/>
          </a:bodyPr>
          <a:lstStyle/>
          <a:p>
            <a:r>
              <a:rPr lang="en-US" dirty="0"/>
              <a:t>Detailed Components of </a:t>
            </a:r>
            <a:r>
              <a:rPr lang="en-US" dirty="0" err="1"/>
              <a:t>Cocomo</a:t>
            </a:r>
            <a:r>
              <a:rPr lang="en-US" dirty="0"/>
              <a:t> II: Scale Factors (SF)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Example: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600" kern="1200" dirty="0">
              <a:solidFill>
                <a:prstClr val="black"/>
              </a:solidFill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The sum of these values is used to calculate the exponent E.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  <a:p>
            <a:pPr marL="0" marR="0" lvl="0" indent="0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2F39F2D-D8A5-58D6-EBAD-9C1E87115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150890"/>
              </p:ext>
            </p:extLst>
          </p:nvPr>
        </p:nvGraphicFramePr>
        <p:xfrm>
          <a:off x="4063999" y="4591279"/>
          <a:ext cx="16256002" cy="58640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2286">
                  <a:extLst>
                    <a:ext uri="{9D8B030D-6E8A-4147-A177-3AD203B41FA5}">
                      <a16:colId xmlns:a16="http://schemas.microsoft.com/office/drawing/2014/main" val="3542328735"/>
                    </a:ext>
                  </a:extLst>
                </a:gridCol>
                <a:gridCol w="2322286">
                  <a:extLst>
                    <a:ext uri="{9D8B030D-6E8A-4147-A177-3AD203B41FA5}">
                      <a16:colId xmlns:a16="http://schemas.microsoft.com/office/drawing/2014/main" val="3090469040"/>
                    </a:ext>
                  </a:extLst>
                </a:gridCol>
                <a:gridCol w="2322286">
                  <a:extLst>
                    <a:ext uri="{9D8B030D-6E8A-4147-A177-3AD203B41FA5}">
                      <a16:colId xmlns:a16="http://schemas.microsoft.com/office/drawing/2014/main" val="3397514315"/>
                    </a:ext>
                  </a:extLst>
                </a:gridCol>
                <a:gridCol w="2322286">
                  <a:extLst>
                    <a:ext uri="{9D8B030D-6E8A-4147-A177-3AD203B41FA5}">
                      <a16:colId xmlns:a16="http://schemas.microsoft.com/office/drawing/2014/main" val="725576912"/>
                    </a:ext>
                  </a:extLst>
                </a:gridCol>
                <a:gridCol w="2322286">
                  <a:extLst>
                    <a:ext uri="{9D8B030D-6E8A-4147-A177-3AD203B41FA5}">
                      <a16:colId xmlns:a16="http://schemas.microsoft.com/office/drawing/2014/main" val="1347453318"/>
                    </a:ext>
                  </a:extLst>
                </a:gridCol>
                <a:gridCol w="2322286">
                  <a:extLst>
                    <a:ext uri="{9D8B030D-6E8A-4147-A177-3AD203B41FA5}">
                      <a16:colId xmlns:a16="http://schemas.microsoft.com/office/drawing/2014/main" val="617700649"/>
                    </a:ext>
                  </a:extLst>
                </a:gridCol>
                <a:gridCol w="2322286">
                  <a:extLst>
                    <a:ext uri="{9D8B030D-6E8A-4147-A177-3AD203B41FA5}">
                      <a16:colId xmlns:a16="http://schemas.microsoft.com/office/drawing/2014/main" val="2264226589"/>
                    </a:ext>
                  </a:extLst>
                </a:gridCol>
              </a:tblGrid>
              <a:tr h="977343">
                <a:tc>
                  <a:txBody>
                    <a:bodyPr/>
                    <a:lstStyle/>
                    <a:p>
                      <a:r>
                        <a:rPr lang="en-ID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Scale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Very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Extra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928480"/>
                  </a:ext>
                </a:extLst>
              </a:tr>
              <a:tr h="977343"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412283"/>
                  </a:ext>
                </a:extLst>
              </a:tr>
              <a:tr h="977343"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349583"/>
                  </a:ext>
                </a:extLst>
              </a:tr>
              <a:tr h="977343"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985877"/>
                  </a:ext>
                </a:extLst>
              </a:tr>
              <a:tr h="977343"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031002"/>
                  </a:ext>
                </a:extLst>
              </a:tr>
              <a:tr h="977343"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7.80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1.56</a:t>
                      </a:r>
                      <a:endParaRPr lang="en-US"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665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69731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Effort and Cost Estimation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5236703" cy="840935"/>
          </a:xfrm>
        </p:spPr>
        <p:txBody>
          <a:bodyPr>
            <a:normAutofit/>
          </a:bodyPr>
          <a:lstStyle/>
          <a:p>
            <a:r>
              <a:rPr lang="en-US" dirty="0"/>
              <a:t>Detailed Components of </a:t>
            </a:r>
            <a:r>
              <a:rPr lang="en-US" dirty="0" err="1"/>
              <a:t>Cocomo</a:t>
            </a:r>
            <a:r>
              <a:rPr lang="en-US" dirty="0"/>
              <a:t> II: Effort Multipliers (EM)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3411439" cy="10455337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Effort Multipliers adjust the estimated effort based on specific project attributes. There are 17 EMs divided into four categories: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Product Factors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RELY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(Required Software Reliability)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DATA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(Database Size)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CPLX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(Product Complexity)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RUSE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(Required Reusability)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DOCU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(Documentation Match to Life-Cycle Needs)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Platform Factors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TIME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(Execution Time Constraint)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STOR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(Main Storage Constraint)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PVOL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(Platform Volatility)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Personnel Factors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ACAP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(Analyst Capability)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PCAP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(Programmer Capability)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PCON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(Personnel Continuity)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APEX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(Applications Experience)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PLEX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(Platform Experience)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LTEX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(Language and Tool Experience)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Project Factors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TOOL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(Use of Software Tools)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SITE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(Multisite Development)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SCED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 (Required Development Schedule)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955B74-E1A2-E44C-0488-3C36F2CF1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2443" y="3354505"/>
            <a:ext cx="8037929" cy="710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FECC67C-D4CE-438E-8FF4-A689C8626B78}"/>
              </a:ext>
            </a:extLst>
          </p:cNvPr>
          <p:cNvSpPr txBox="1">
            <a:spLocks/>
          </p:cNvSpPr>
          <p:nvPr/>
        </p:nvSpPr>
        <p:spPr>
          <a:xfrm>
            <a:off x="15578816" y="10455336"/>
            <a:ext cx="8805184" cy="326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390525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2400" b="1" kern="1200" dirty="0">
                <a:solidFill>
                  <a:prstClr val="black"/>
                </a:solidFill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Rating Levels</a:t>
            </a:r>
            <a:r>
              <a:rPr lang="en-ID" sz="2400" kern="1200" dirty="0">
                <a:solidFill>
                  <a:prstClr val="black"/>
                </a:solidFill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Similar to Scale Factors, each EM is rated from Very Low to Extra High, with corresponding numeric multipliers.</a:t>
            </a:r>
          </a:p>
          <a:p>
            <a:pPr marL="390525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2400" kern="1200" dirty="0">
                <a:solidFill>
                  <a:prstClr val="black"/>
                </a:solidFill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The EMs are multiplied together to obtain the EAF.</a:t>
            </a:r>
          </a:p>
        </p:txBody>
      </p:sp>
    </p:spTree>
    <p:extLst>
      <p:ext uri="{BB962C8B-B14F-4D97-AF65-F5344CB8AC3E}">
        <p14:creationId xmlns:p14="http://schemas.microsoft.com/office/powerpoint/2010/main" val="14186893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Steps for using the post-architecture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5236703" cy="840935"/>
          </a:xfrm>
        </p:spPr>
        <p:txBody>
          <a:bodyPr>
            <a:normAutofit/>
          </a:bodyPr>
          <a:lstStyle/>
          <a:p>
            <a:r>
              <a:rPr lang="en-US" dirty="0"/>
              <a:t>Step 1: Estimate Size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Determine the size of the software to be developed.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Size Metrics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: Use SLOC or Function Points.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Considerations: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Exclude reused code (unless significant modifications are required).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 panose="020B0606030504020204" pitchFamily="34" charset="0"/>
              </a:rPr>
              <a:t>Include new code to be developed.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83417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Steps for using the post-architecture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5236703" cy="840935"/>
          </a:xfrm>
        </p:spPr>
        <p:txBody>
          <a:bodyPr>
            <a:normAutofit/>
          </a:bodyPr>
          <a:lstStyle/>
          <a:p>
            <a:r>
              <a:rPr lang="en-US" dirty="0"/>
              <a:t>Step 2: Rate Scale 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</p:spPr>
            <p:txBody>
              <a:bodyPr anchor="ctr">
                <a:noAutofit/>
              </a:bodyPr>
              <a:lstStyle/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Evaluate each of the five Scale Factors based on project characteristics.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Use the provided rating levels and associated values.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Calculate E (Exponent)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  <a:endParaRPr lang="en-US" sz="3600" kern="1200" dirty="0">
                  <a:solidFill>
                    <a:prstClr val="black"/>
                  </a:solidFill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0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=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𝐵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+0.01 × </m:t>
                      </m:r>
                      <m:nary>
                        <m:naryPr>
                          <m:chr m:val="∑"/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𝑖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5</m:t>
                          </m:r>
                        </m:sup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B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 Baseline constant (commonly 0.91 in COCOMO II).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  <a:blipFill>
                <a:blip r:embed="rId2"/>
                <a:stretch>
                  <a:fillRect l="-1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57772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Steps for using the post-architecture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5236703" cy="840935"/>
          </a:xfrm>
        </p:spPr>
        <p:txBody>
          <a:bodyPr>
            <a:normAutofit/>
          </a:bodyPr>
          <a:lstStyle/>
          <a:p>
            <a:r>
              <a:rPr lang="en-US" dirty="0"/>
              <a:t>Step 3: Rate Effort Multipliers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</p:spPr>
            <p:txBody>
              <a:bodyPr anchor="ctr">
                <a:noAutofit/>
              </a:bodyPr>
              <a:lstStyle/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Assess each of the 17 Effort Multipliers.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Assign the appropriate rating based on the project's context.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lang="en-US" sz="3600" kern="1200" dirty="0">
                    <a:solidFill>
                      <a:prstClr val="black"/>
                    </a:solidFill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Calculate EAF:</a:t>
                </a:r>
              </a:p>
              <a:p>
                <a:pPr marL="0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𝐸𝐴𝐹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kumimoji="0" lang="en-US" sz="360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𝑖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17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MS PGothic" pitchFamily="34" charset="-128"/>
                                  <a:cs typeface="Open Sans" panose="020B0606030504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MS PGothic" pitchFamily="34" charset="-128"/>
                                  <a:cs typeface="Open Sans" panose="020B0606030504020204" pitchFamily="34" charset="0"/>
                                </a:rPr>
                                <m:t>𝐸𝑀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MS PGothic" pitchFamily="34" charset="-128"/>
                                  <a:cs typeface="Open Sans" panose="020B0606030504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0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  <a:blipFill>
                <a:blip r:embed="rId2"/>
                <a:stretch>
                  <a:fillRect l="-1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74012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Steps for using the post-architecture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5236703" cy="840935"/>
          </a:xfrm>
        </p:spPr>
        <p:txBody>
          <a:bodyPr>
            <a:normAutofit/>
          </a:bodyPr>
          <a:lstStyle/>
          <a:p>
            <a:r>
              <a:rPr lang="en-US" dirty="0"/>
              <a:t>Step 4: Calculate Effort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</p:spPr>
            <p:txBody>
              <a:bodyPr anchor="ctr">
                <a:noAutofit/>
              </a:bodyPr>
              <a:lstStyle/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Effort Estimation Formula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</a:p>
              <a:p>
                <a:pPr marL="0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𝐸𝑓𝑓𝑜𝑟𝑡</m:t>
                      </m:r>
                      <m:d>
                        <m:d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𝑃𝑒𝑟𝑠𝑜𝑛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−</m:t>
                          </m:r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𝑀𝑜𝑛𝑡h𝑠</m:t>
                          </m:r>
                        </m:e>
                      </m:d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=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𝐸𝐴𝐹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 × </m:t>
                      </m:r>
                      <m:sSup>
                        <m:sSup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𝑆𝑖𝑧𝑒</m:t>
                          </m:r>
                        </m:e>
                        <m:sup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Substitute the values of EAF, Size, and E into the formula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  <a:blipFill>
                <a:blip r:embed="rId2"/>
                <a:stretch>
                  <a:fillRect l="-1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32964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Steps for using the post-architecture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5236703" cy="840935"/>
          </a:xfrm>
        </p:spPr>
        <p:txBody>
          <a:bodyPr>
            <a:normAutofit/>
          </a:bodyPr>
          <a:lstStyle/>
          <a:p>
            <a:r>
              <a:rPr lang="en-US" dirty="0"/>
              <a:t>Step 5: Estimate Schedule and Staffing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</p:spPr>
            <p:txBody>
              <a:bodyPr anchor="ctr">
                <a:noAutofit/>
              </a:bodyPr>
              <a:lstStyle/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Schedule Estimation Formula</a:t>
                </a: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</a:p>
              <a:p>
                <a:pPr marL="0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𝑆𝑐h𝑒𝑑𝑢𝑙𝑒</m:t>
                      </m:r>
                      <m:d>
                        <m:d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𝑀𝑜𝑛𝑡h𝑠</m:t>
                          </m:r>
                        </m:e>
                      </m:d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=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𝐶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 × </m:t>
                      </m:r>
                      <m:sSup>
                        <m:sSup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𝐸𝑓𝑓𝑜𝑟𝑡</m:t>
                          </m:r>
                        </m:e>
                        <m:sup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𝐹</m:t>
                          </m:r>
                        </m:sup>
                      </m:sSup>
                    </m:oMath>
                  </m:oMathPara>
                </a14:m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C: Schedule coefficient (commonly 3.67).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kumimoji="0" 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F: Schedule scaling factor (commonly 0.28 + 0.2 × (E - B)).</a:t>
                </a:r>
              </a:p>
              <a:p>
                <a:pPr marL="390525" indent="-390525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Font typeface="Arial" pitchFamily="34" charset="0"/>
                  <a:buChar char="•"/>
                  <a:defRPr/>
                </a:pPr>
                <a:r>
                  <a:rPr lang="en-US" sz="3600" b="1" kern="1200" dirty="0">
                    <a:solidFill>
                      <a:prstClr val="black"/>
                    </a:solidFill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Average Staffing</a:t>
                </a:r>
                <a:r>
                  <a:rPr lang="en-US" sz="3600" kern="1200" dirty="0">
                    <a:solidFill>
                      <a:prstClr val="black"/>
                    </a:solidFill>
                    <a:latin typeface="Open Sans" panose="020B0606030504020204" pitchFamily="34" charset="0"/>
                    <a:ea typeface="MS PGothic" pitchFamily="34" charset="-128"/>
                    <a:cs typeface="Open Sans" panose="020B0606030504020204" pitchFamily="34" charset="0"/>
                  </a:rPr>
                  <a:t>:</a:t>
                </a:r>
              </a:p>
              <a:p>
                <a:pPr marL="0" indent="0" defTabSz="520700" eaLnBrk="0" fontAlgn="base" hangingPunct="0">
                  <a:spcBef>
                    <a:spcPct val="20000"/>
                  </a:spcBef>
                  <a:spcAft>
                    <a:spcPct val="0"/>
                  </a:spcAft>
                  <a:buSz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𝑆𝑡𝑎𝑓𝑓𝑖𝑛𝑔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PGothic" pitchFamily="34" charset="-128"/>
                          <a:cs typeface="Open Sans" panose="020B0606030504020204" pitchFamily="34" charset="0"/>
                        </a:rPr>
                        <m:t>= </m:t>
                      </m:r>
                      <m:f>
                        <m:f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𝐸𝑓𝑓𝑜𝑟𝑡</m:t>
                          </m:r>
                        </m:num>
                        <m:den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PGothic" pitchFamily="34" charset="-128"/>
                              <a:cs typeface="Open Sans" panose="020B0606030504020204" pitchFamily="34" charset="0"/>
                            </a:rPr>
                            <m:t>𝑆𝑐h𝑒𝑑𝑢𝑙𝑒</m:t>
                          </m:r>
                        </m:den>
                      </m:f>
                    </m:oMath>
                  </m:oMathPara>
                </a14:m>
                <a:endParaRPr kumimoji="0" lang="en-US" sz="36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MS PGothic" pitchFamily="34" charset="-128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52849-CE2C-39CE-0303-4B296CF1F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260663"/>
                <a:ext cx="20295058" cy="10455337"/>
              </a:xfrm>
              <a:blipFill>
                <a:blip r:embed="rId2"/>
                <a:stretch>
                  <a:fillRect l="-1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19974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3223274"/>
            <a:ext cx="13714940" cy="8620668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Titus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Winters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, Tom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Manshreck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,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and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Hyrum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Wright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(2020).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Engineering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at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Google: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Lesson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Learned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from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Programming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Over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Time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1st.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O’Reilly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Media. California. ISBN: 978-1492082798.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Page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69-122.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Roger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Pressman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and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Bruce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Maxim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(2020).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Engineering: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Practitioner's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Approach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9th.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McGraw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Hill. New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York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ISBN: 978-1259872976.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Chapter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24.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Ian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Sommerville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(2016). </a:t>
            </a:r>
            <a:r>
              <a:rPr kumimoji="0" lang="id-ID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</a:t>
            </a:r>
            <a:r>
              <a:rPr kumimoji="0" lang="id-ID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Engineering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10th. Pearson. London. ISBN: 978-1-292-09613-1. </a:t>
            </a:r>
            <a:r>
              <a:rPr kumimoji="0" lang="id-ID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Chapter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22.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Props1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3999</TotalTime>
  <Words>2126</Words>
  <Application>Microsoft Macintosh PowerPoint</Application>
  <PresentationFormat>Custom</PresentationFormat>
  <Paragraphs>383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Cambria Math</vt:lpstr>
      <vt:lpstr>OCRB</vt:lpstr>
      <vt:lpstr>Open Sans Light</vt:lpstr>
      <vt:lpstr>Open Sans Semibold</vt:lpstr>
      <vt:lpstr>Open Sans</vt:lpstr>
      <vt:lpstr>Arial</vt:lpstr>
      <vt:lpstr>Open Sans ExtraBold</vt:lpstr>
      <vt:lpstr>21_BasicWhite</vt:lpstr>
      <vt:lpstr>Project Estimation Techniques</vt:lpstr>
      <vt:lpstr>Session 12 – Project Estimation Techniques</vt:lpstr>
      <vt:lpstr>Session 12 – Project Estimation Techniques</vt:lpstr>
      <vt:lpstr>Estimation Techniques</vt:lpstr>
      <vt:lpstr>Estimation Techniques</vt:lpstr>
      <vt:lpstr>Estimation Techniques</vt:lpstr>
      <vt:lpstr>Estimation Techniques</vt:lpstr>
      <vt:lpstr>Estimation Techniques</vt:lpstr>
      <vt:lpstr>Estimation Techniques</vt:lpstr>
      <vt:lpstr>Estimation Techniques</vt:lpstr>
      <vt:lpstr>Software Sizing Techniques</vt:lpstr>
      <vt:lpstr>Software Sizing Techniques</vt:lpstr>
      <vt:lpstr>Software Sizing Techniques</vt:lpstr>
      <vt:lpstr>Software Sizing Techniques</vt:lpstr>
      <vt:lpstr>Software Sizing Techniques</vt:lpstr>
      <vt:lpstr>Software Sizing Techniques</vt:lpstr>
      <vt:lpstr>Software Sizing Techniques</vt:lpstr>
      <vt:lpstr>Software Sizing Techniques</vt:lpstr>
      <vt:lpstr>Effort and Cost Estimation Models</vt:lpstr>
      <vt:lpstr>Effort and Cost Estimation Models</vt:lpstr>
      <vt:lpstr>Effort and Cost Estimation Models</vt:lpstr>
      <vt:lpstr>Effort and Cost Estimation Models</vt:lpstr>
      <vt:lpstr>Effort and Cost Estimation Models</vt:lpstr>
      <vt:lpstr>Effort and Cost Estimation Models</vt:lpstr>
      <vt:lpstr>Effort and Cost Estimation Models</vt:lpstr>
      <vt:lpstr>Effort and Cost Estimation Models</vt:lpstr>
      <vt:lpstr>Effort and Cost Estimation Models</vt:lpstr>
      <vt:lpstr>Steps for using the post-architecture model</vt:lpstr>
      <vt:lpstr>Steps for using the post-architecture model</vt:lpstr>
      <vt:lpstr>Steps for using the post-architecture model</vt:lpstr>
      <vt:lpstr>Steps for using the post-architecture model</vt:lpstr>
      <vt:lpstr>Steps for using the post-architecture model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Kenny Jingga</cp:lastModifiedBy>
  <cp:revision>146</cp:revision>
  <dcterms:created xsi:type="dcterms:W3CDTF">2023-04-06T08:40:27Z</dcterms:created>
  <dcterms:modified xsi:type="dcterms:W3CDTF">2024-11-04T17:16:22Z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