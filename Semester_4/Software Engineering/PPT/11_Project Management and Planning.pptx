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46"/>
  </p:notesMasterIdLst>
  <p:sldIdLst>
    <p:sldId id="256" r:id="rId6"/>
    <p:sldId id="257" r:id="rId7"/>
    <p:sldId id="258" r:id="rId8"/>
    <p:sldId id="285" r:id="rId9"/>
    <p:sldId id="286" r:id="rId10"/>
    <p:sldId id="288" r:id="rId11"/>
    <p:sldId id="289" r:id="rId12"/>
    <p:sldId id="314" r:id="rId13"/>
    <p:sldId id="315" r:id="rId14"/>
    <p:sldId id="301" r:id="rId15"/>
    <p:sldId id="302" r:id="rId16"/>
    <p:sldId id="303" r:id="rId17"/>
    <p:sldId id="304" r:id="rId18"/>
    <p:sldId id="305" r:id="rId19"/>
    <p:sldId id="306" r:id="rId20"/>
    <p:sldId id="307" r:id="rId21"/>
    <p:sldId id="308" r:id="rId22"/>
    <p:sldId id="290" r:id="rId23"/>
    <p:sldId id="294" r:id="rId24"/>
    <p:sldId id="295" r:id="rId25"/>
    <p:sldId id="296" r:id="rId26"/>
    <p:sldId id="297" r:id="rId27"/>
    <p:sldId id="298" r:id="rId28"/>
    <p:sldId id="299" r:id="rId29"/>
    <p:sldId id="300" r:id="rId30"/>
    <p:sldId id="291" r:id="rId31"/>
    <p:sldId id="317" r:id="rId32"/>
    <p:sldId id="316" r:id="rId33"/>
    <p:sldId id="318" r:id="rId34"/>
    <p:sldId id="319" r:id="rId35"/>
    <p:sldId id="320" r:id="rId36"/>
    <p:sldId id="321" r:id="rId37"/>
    <p:sldId id="292" r:id="rId38"/>
    <p:sldId id="293" r:id="rId39"/>
    <p:sldId id="392" r:id="rId40"/>
    <p:sldId id="396" r:id="rId41"/>
    <p:sldId id="322" r:id="rId42"/>
    <p:sldId id="323" r:id="rId43"/>
    <p:sldId id="324" r:id="rId44"/>
    <p:sldId id="284" r:id="rId45"/>
  </p:sldIdLst>
  <p:sldSz cx="24384000" cy="13716000"/>
  <p:notesSz cx="6858000" cy="9144000"/>
  <p:embeddedFontLst>
    <p:embeddedFont>
      <p:font typeface="OCRB" panose="020B0609020202020204" pitchFamily="49" charset="0"/>
      <p:regular r:id="rId47"/>
    </p:embeddedFont>
    <p:embeddedFont>
      <p:font typeface="Open Sans" panose="020B0606030504020204" pitchFamily="34" charset="0"/>
      <p:regular r:id="rId48"/>
      <p:bold r:id="rId49"/>
      <p:italic r:id="rId50"/>
      <p:boldItalic r:id="rId51"/>
    </p:embeddedFont>
    <p:embeddedFont>
      <p:font typeface="Open Sans ExtraBold" panose="020B0906030804020204" pitchFamily="34" charset="0"/>
      <p:bold r:id="rId52"/>
      <p:italic r:id="rId53"/>
      <p:boldItalic r:id="rId54"/>
    </p:embeddedFont>
    <p:embeddedFont>
      <p:font typeface="Open Sans Light" panose="020B0306030504020204" pitchFamily="34" charset="0"/>
      <p:regular r:id="rId55"/>
      <p:italic r:id="rId56"/>
    </p:embeddedFont>
    <p:embeddedFont>
      <p:font typeface="Open Sans Semibold" panose="020B0706030804020204" pitchFamily="34" charset="0"/>
      <p:regular r:id="rId57"/>
      <p:bold r:id="rId58"/>
      <p:italic r:id="rId59"/>
      <p:boldItalic r:id="rId6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71025-2BAC-43DA-B957-BFD32C2A0D49}" v="1" dt="2025-12-25T22:30:40.677"/>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64" autoAdjust="0"/>
    <p:restoredTop sz="96197"/>
  </p:normalViewPr>
  <p:slideViewPr>
    <p:cSldViewPr snapToGrid="0" snapToObjects="1">
      <p:cViewPr varScale="1">
        <p:scale>
          <a:sx n="23" d="100"/>
          <a:sy n="23" d="100"/>
        </p:scale>
        <p:origin x="120" y="78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7.fntdata"/><Relationship Id="rId58" Type="http://schemas.openxmlformats.org/officeDocument/2006/relationships/font" Target="fonts/font12.fntdata"/><Relationship Id="rId66" Type="http://schemas.microsoft.com/office/2015/10/relationships/revisionInfo" Target="revisionInfo.xml"/><Relationship Id="rId5" Type="http://schemas.openxmlformats.org/officeDocument/2006/relationships/slideMaster" Target="slideMasters/slideMaster1.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font" Target="fonts/font5.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notesMaster" Target="notesMasters/notesMaster1.xml"/><Relationship Id="rId59" Type="http://schemas.openxmlformats.org/officeDocument/2006/relationships/font" Target="fonts/font13.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8.fntdata"/><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6.fntdata"/><Relationship Id="rId60" Type="http://schemas.openxmlformats.org/officeDocument/2006/relationships/font" Target="fonts/font14.fntdata"/><Relationship Id="rId65"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modSld">
      <pc:chgData name="Maulin Nasari" userId="2c02bce8-14a6-4f73-b14a-299518f8dfce" providerId="ADAL" clId="{973AE700-8634-4AC6-A10B-DFA7AFECB9DA}" dt="2025-12-25T22:30:40.677" v="1"/>
      <pc:docMkLst>
        <pc:docMk/>
      </pc:docMkLst>
      <pc:sldChg chg="modSp mod">
        <pc:chgData name="Maulin Nasari" userId="2c02bce8-14a6-4f73-b14a-299518f8dfce" providerId="ADAL" clId="{973AE700-8634-4AC6-A10B-DFA7AFECB9DA}" dt="2025-12-25T22:30:40.677" v="1"/>
        <pc:sldMkLst>
          <pc:docMk/>
          <pc:sldMk cId="481981883" sldId="258"/>
        </pc:sldMkLst>
        <pc:spChg chg="mod">
          <ac:chgData name="Maulin Nasari" userId="2c02bce8-14a6-4f73-b14a-299518f8dfce" providerId="ADAL" clId="{973AE700-8634-4AC6-A10B-DFA7AFECB9DA}" dt="2025-12-25T22:30:40.677" v="1"/>
          <ac:spMkLst>
            <pc:docMk/>
            <pc:sldMk cId="481981883" sldId="258"/>
            <ac:spMk id="4" creationId="{76E358E3-B24E-F7A5-ECF8-12101774A9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11</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AU" sz="9600" b="1" dirty="0">
                <a:solidFill>
                  <a:schemeClr val="bg1"/>
                </a:solidFill>
              </a:rPr>
              <a:t>Project Management and Planning</a:t>
            </a:r>
            <a:endParaRPr lang="en-US" dirty="0"/>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11 – Project Management and Planning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chor="ctr">
            <a:normAutofit/>
          </a:bodyPr>
          <a:lstStyle/>
          <a:p>
            <a:pPr marL="0" indent="0">
              <a:buNone/>
            </a:pPr>
            <a:r>
              <a:rPr lang="en-GB"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GB"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Understand the way of thinking in software engineering</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GB"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Understand the fundamental software project management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GB"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Know how to be a good leader and lead the team in software project</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11 – Project Management and Planning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260663"/>
            <a:ext cx="20711673" cy="8583279"/>
          </a:xfrm>
        </p:spPr>
        <p:txBody>
          <a:bodyPr anchor="ctr">
            <a:norm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Introduction to Project Management Concepts</a:t>
            </a:r>
            <a:endParaRPr lang="en-US" sz="3600" kern="1200" dirty="0">
              <a:solidFill>
                <a:prstClr val="black"/>
              </a:solidFill>
              <a:latin typeface="Open Sans"/>
              <a:ea typeface="MS PGothic" pitchFamily="34" charset="-128"/>
              <a:cs typeface="Open San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Importance of Project Planning in Software Engineering</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Roles &amp; responsibilities</a:t>
            </a: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Work Breakdown Structure (WBS)</a:t>
            </a:r>
            <a:endParaRPr lang="en-US" sz="3600" kern="1200" dirty="0">
              <a:solidFill>
                <a:prstClr val="black"/>
              </a:solidFill>
              <a:latin typeface="Open Sans"/>
              <a:ea typeface="MS PGothic" pitchFamily="34" charset="-128"/>
              <a:cs typeface="Open Sans"/>
            </a:endParaRP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Definition and Principles of Project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Definition:</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Management is the application of knowledge, skills, tools, and techniques to project activities to meet the project requirements.</a:t>
            </a:r>
          </a:p>
          <a:p>
            <a:pPr marL="623888" lvl="1" indent="0" algn="just" defTabSz="520700" eaLnBrk="0" fontAlgn="base" hangingPunct="0">
              <a:spcBef>
                <a:spcPct val="20000"/>
              </a:spcBef>
              <a:spcAft>
                <a:spcPct val="0"/>
              </a:spcAft>
              <a:buSzTx/>
              <a:buNone/>
              <a:defRPr/>
            </a:pPr>
            <a:endPar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endParaRP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Key Principles:</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Initiation: Defining the project at a broad level.</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Planning: Establishing the scope, objectives, and procedures.</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Execution: Coordinating people and resources.</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Monitoring and Control: Tracking progress and performance.</a:t>
            </a:r>
          </a:p>
          <a:p>
            <a:pPr marL="1014413" lvl="1" indent="-390525" algn="just" defTabSz="520700" eaLnBrk="0" fontAlgn="base" hangingPunct="0">
              <a:spcBef>
                <a:spcPct val="20000"/>
              </a:spcBef>
              <a:spcAft>
                <a:spcPct val="0"/>
              </a:spcAft>
              <a:buSzTx/>
              <a:buFont typeface="Arial" pitchFamily="34" charset="0"/>
              <a:buChar char="•"/>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Closure: Formalizing acceptance and bringing the project to an orderly end.</a:t>
            </a:r>
          </a:p>
        </p:txBody>
      </p:sp>
    </p:spTree>
    <p:extLst>
      <p:ext uri="{BB962C8B-B14F-4D97-AF65-F5344CB8AC3E}">
        <p14:creationId xmlns:p14="http://schemas.microsoft.com/office/powerpoint/2010/main" val="101013102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Project Constraints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algn="just" defTabSz="520700" eaLnBrk="0" fontAlgn="base" hangingPunct="0">
              <a:spcBef>
                <a:spcPct val="20000"/>
              </a:spcBef>
              <a:spcAft>
                <a:spcPct val="0"/>
              </a:spcAft>
              <a:buSzTx/>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Scope: Defines what is included in the project.</a:t>
            </a:r>
          </a:p>
          <a:p>
            <a:pPr algn="just" defTabSz="520700" eaLnBrk="0" fontAlgn="base" hangingPunct="0">
              <a:spcBef>
                <a:spcPct val="20000"/>
              </a:spcBef>
              <a:spcAft>
                <a:spcPct val="0"/>
              </a:spcAft>
              <a:buSzTx/>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Time: The schedule for completion.</a:t>
            </a:r>
          </a:p>
          <a:p>
            <a:pPr algn="just" defTabSz="520700" eaLnBrk="0" fontAlgn="base" hangingPunct="0">
              <a:spcBef>
                <a:spcPct val="20000"/>
              </a:spcBef>
              <a:spcAft>
                <a:spcPct val="0"/>
              </a:spcAft>
              <a:buSzTx/>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Cost: Budget allocated.</a:t>
            </a:r>
          </a:p>
          <a:p>
            <a:pPr algn="just" defTabSz="520700" eaLnBrk="0" fontAlgn="base" hangingPunct="0">
              <a:spcBef>
                <a:spcPct val="20000"/>
              </a:spcBef>
              <a:spcAft>
                <a:spcPct val="0"/>
              </a:spcAft>
              <a:buSzTx/>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Quality: The standards and criteria to meet.</a:t>
            </a:r>
          </a:p>
        </p:txBody>
      </p:sp>
      <p:pic>
        <p:nvPicPr>
          <p:cNvPr id="1026" name="Picture 2">
            <a:extLst>
              <a:ext uri="{FF2B5EF4-FFF2-40B4-BE49-F238E27FC236}">
                <a16:creationId xmlns:a16="http://schemas.microsoft.com/office/drawing/2014/main" id="{AEECE579-8CA1-F771-F676-A53583297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9400" y="3425303"/>
            <a:ext cx="10096817" cy="8253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13548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The Management Spectrum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Software project management is an essential part of software engineering</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Effective software project management focuses on the four P’s: </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People</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Product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Process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a:t>
            </a:r>
          </a:p>
        </p:txBody>
      </p:sp>
    </p:spTree>
    <p:extLst>
      <p:ext uri="{BB962C8B-B14F-4D97-AF65-F5344CB8AC3E}">
        <p14:creationId xmlns:p14="http://schemas.microsoft.com/office/powerpoint/2010/main" val="79666474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The Four P’s: People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The Stakeholders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participate in the software process and the way they are organized to perform effective software engineering: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Senior managers (product owners) who define the business issues that often have a significant influence on the project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Project (technical) managers (Scrum masters or team leads) who must plan, motivate, organize, and coordinate the practitioners who do software work.</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Practitioners who deliver the technical skills that are necessary to engineer a product or application.</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Customers who specify the requirements for the software to be engineered and other stakeholders who have a peripheral interest in the outcome.</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End users who interact with the software once it is released for production use.</a:t>
            </a:r>
          </a:p>
        </p:txBody>
      </p:sp>
    </p:spTree>
    <p:extLst>
      <p:ext uri="{BB962C8B-B14F-4D97-AF65-F5344CB8AC3E}">
        <p14:creationId xmlns:p14="http://schemas.microsoft.com/office/powerpoint/2010/main" val="249425974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People: Working solo vs as a Team</a:t>
            </a:r>
            <a:endParaRPr lang="en-US" dirty="0"/>
          </a:p>
        </p:txBody>
      </p:sp>
      <p:pic>
        <p:nvPicPr>
          <p:cNvPr id="9" name="Content Placeholder 8" descr="A couple of icons&#10;&#10;Description automatically generated with medium confidence">
            <a:extLst>
              <a:ext uri="{FF2B5EF4-FFF2-40B4-BE49-F238E27FC236}">
                <a16:creationId xmlns:a16="http://schemas.microsoft.com/office/drawing/2014/main" id="{14C71796-E93F-06C7-D1E6-29772AF7A356}"/>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7" y="5178922"/>
            <a:ext cx="21556711" cy="5443614"/>
          </a:xfrm>
          <a:prstGeom prst="rect">
            <a:avLst/>
          </a:prstGeom>
        </p:spPr>
      </p:pic>
    </p:spTree>
    <p:extLst>
      <p:ext uri="{BB962C8B-B14F-4D97-AF65-F5344CB8AC3E}">
        <p14:creationId xmlns:p14="http://schemas.microsoft.com/office/powerpoint/2010/main" val="286136830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People: Working AS A Team</a:t>
            </a:r>
          </a:p>
        </p:txBody>
      </p:sp>
      <p:sp>
        <p:nvSpPr>
          <p:cNvPr id="7" name="Content Placeholder 3">
            <a:extLst>
              <a:ext uri="{FF2B5EF4-FFF2-40B4-BE49-F238E27FC236}">
                <a16:creationId xmlns:a16="http://schemas.microsoft.com/office/drawing/2014/main" id="{D341BE46-7B66-FC10-B1A4-B1A059648816}"/>
              </a:ext>
            </a:extLst>
          </p:cNvPr>
          <p:cNvSpPr>
            <a:spLocks noGrp="1"/>
          </p:cNvSpPr>
          <p:nvPr>
            <p:ph sz="quarter" idx="11"/>
          </p:nvPr>
        </p:nvSpPr>
        <p:spPr>
          <a:xfrm>
            <a:off x="2167377" y="3260663"/>
            <a:ext cx="20295058" cy="10455337"/>
          </a:xfrm>
        </p:spPr>
        <p:txBody>
          <a:bodyPr anchor="ctr">
            <a:noAutofit/>
          </a:bodyPr>
          <a:lstStyle/>
          <a:p>
            <a:pPr algn="just" defTabSz="520700" eaLnBrk="0" fontAlgn="base" hangingPunct="0">
              <a:spcBef>
                <a:spcPct val="20000"/>
              </a:spcBef>
              <a:spcAft>
                <a:spcPct val="0"/>
              </a:spcAft>
              <a:buSzTx/>
              <a:defRPr/>
            </a:pPr>
            <a:r>
              <a:rPr lang="en-US" sz="3200" kern="1200" dirty="0">
                <a:solidFill>
                  <a:prstClr val="black"/>
                </a:solidFill>
                <a:latin typeface="Open Sans"/>
                <a:ea typeface="MS PGothic" pitchFamily="34" charset="-128"/>
                <a:cs typeface="Open Sans" panose="020B0606030504020204" pitchFamily="34" charset="0"/>
              </a:rPr>
              <a:t>Design &amp; Implement Software</a:t>
            </a:r>
          </a:p>
          <a:p>
            <a:pPr lvl="1" algn="just" defTabSz="520700" eaLnBrk="0" fontAlgn="base" hangingPunct="0">
              <a:spcBef>
                <a:spcPct val="20000"/>
              </a:spcBef>
              <a:spcAft>
                <a:spcPct val="0"/>
              </a:spcAft>
              <a:buSzTx/>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Establish a c</a:t>
            </a:r>
            <a:r>
              <a:rPr lang="en-US" sz="3200" kern="1200" dirty="0" err="1">
                <a:solidFill>
                  <a:prstClr val="black"/>
                </a:solidFill>
                <a:latin typeface="Open Sans"/>
                <a:ea typeface="MS PGothic" pitchFamily="34" charset="-128"/>
                <a:cs typeface="Open Sans" panose="020B0606030504020204" pitchFamily="34" charset="0"/>
              </a:rPr>
              <a:t>ollaboration</a:t>
            </a:r>
            <a:r>
              <a:rPr lang="en-US" sz="3200" kern="1200" dirty="0">
                <a:solidFill>
                  <a:prstClr val="black"/>
                </a:solidFill>
                <a:latin typeface="Open Sans"/>
                <a:ea typeface="MS PGothic" pitchFamily="34" charset="-128"/>
                <a:cs typeface="Open Sans" panose="020B0606030504020204" pitchFamily="34" charset="0"/>
              </a:rPr>
              <a:t> process</a:t>
            </a:r>
          </a:p>
          <a:p>
            <a:pPr lvl="1" algn="just" defTabSz="520700" eaLnBrk="0" fontAlgn="base" hangingPunct="0">
              <a:spcBef>
                <a:spcPct val="20000"/>
              </a:spcBef>
              <a:spcAft>
                <a:spcPct val="0"/>
              </a:spcAft>
              <a:buSzTx/>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Meet with the team</a:t>
            </a:r>
            <a:endParaRPr lang="en-US" sz="3200" kern="1200" dirty="0">
              <a:solidFill>
                <a:prstClr val="black"/>
              </a:solidFill>
              <a:latin typeface="Open Sans"/>
              <a:ea typeface="MS PGothic" pitchFamily="34" charset="-128"/>
              <a:cs typeface="Open Sans" panose="020B0606030504020204" pitchFamily="34" charset="0"/>
            </a:endParaRPr>
          </a:p>
          <a:p>
            <a:pPr lvl="1" algn="just" defTabSz="520700" eaLnBrk="0" fontAlgn="base" hangingPunct="0">
              <a:spcBef>
                <a:spcPct val="20000"/>
              </a:spcBef>
              <a:spcAft>
                <a:spcPct val="0"/>
              </a:spcAft>
              <a:buSzTx/>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Choose</a:t>
            </a:r>
            <a:r>
              <a:rPr lang="en-US" sz="3200" kern="1200" dirty="0">
                <a:solidFill>
                  <a:prstClr val="black"/>
                </a:solidFill>
                <a:latin typeface="Open Sans"/>
                <a:ea typeface="MS PGothic" pitchFamily="34" charset="-128"/>
                <a:cs typeface="Open Sans" panose="020B0606030504020204" pitchFamily="34" charset="0"/>
              </a:rPr>
              <a:t> a leader</a:t>
            </a:r>
          </a:p>
          <a:p>
            <a:pPr lvl="1" algn="just" defTabSz="520700" eaLnBrk="0" fontAlgn="base" hangingPunct="0">
              <a:spcBef>
                <a:spcPct val="20000"/>
              </a:spcBef>
              <a:spcAft>
                <a:spcPct val="0"/>
              </a:spcAft>
              <a:buSzTx/>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Divide work and integrate</a:t>
            </a:r>
          </a:p>
          <a:p>
            <a:pPr lvl="1" algn="just" defTabSz="520700" eaLnBrk="0" fontAlgn="base" hangingPunct="0">
              <a:spcBef>
                <a:spcPct val="20000"/>
              </a:spcBef>
              <a:spcAft>
                <a:spcPct val="0"/>
              </a:spcAft>
              <a:buSzTx/>
              <a:defRPr/>
            </a:pPr>
            <a:r>
              <a:rPr lang="en-US" sz="3200" kern="1200" dirty="0">
                <a:solidFill>
                  <a:prstClr val="black"/>
                </a:solidFill>
                <a:latin typeface="Open Sans"/>
                <a:ea typeface="MS PGothic" pitchFamily="34" charset="-128"/>
                <a:cs typeface="Open Sans" panose="020B0606030504020204" pitchFamily="34" charset="0"/>
              </a:rPr>
              <a:t>Share knowledge</a:t>
            </a:r>
          </a:p>
          <a:p>
            <a:pPr lvl="1" algn="just" defTabSz="520700" eaLnBrk="0" fontAlgn="base" hangingPunct="0">
              <a:spcBef>
                <a:spcPct val="20000"/>
              </a:spcBef>
              <a:spcAft>
                <a:spcPct val="0"/>
              </a:spcAft>
              <a:buSzTx/>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Resolve conflicts</a:t>
            </a:r>
          </a:p>
          <a:p>
            <a:pPr algn="just" defTabSz="520700" eaLnBrk="0" fontAlgn="base" hangingPunct="0">
              <a:spcBef>
                <a:spcPct val="20000"/>
              </a:spcBef>
              <a:spcAft>
                <a:spcPct val="0"/>
              </a:spcAft>
              <a:buSzTx/>
              <a:defRPr/>
            </a:pPr>
            <a:endPar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endParaRPr>
          </a:p>
        </p:txBody>
      </p:sp>
    </p:spTree>
    <p:extLst>
      <p:ext uri="{BB962C8B-B14F-4D97-AF65-F5344CB8AC3E}">
        <p14:creationId xmlns:p14="http://schemas.microsoft.com/office/powerpoint/2010/main" val="192408341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4715569" cy="840935"/>
          </a:xfrm>
        </p:spPr>
        <p:txBody>
          <a:bodyPr>
            <a:normAutofit/>
          </a:bodyPr>
          <a:lstStyle/>
          <a:p>
            <a:r>
              <a:rPr lang="en-US" sz="3200" b="1" dirty="0"/>
              <a:t>People: How To Lead A Team</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0" indent="0" algn="just" defTabSz="520700" eaLnBrk="0" fontAlgn="base" hangingPunct="0">
              <a:spcBef>
                <a:spcPct val="20000"/>
              </a:spcBef>
              <a:spcAft>
                <a:spcPct val="0"/>
              </a:spcAft>
              <a:buSzTx/>
              <a:buNone/>
              <a:defRPr/>
            </a:pPr>
            <a:r>
              <a:rPr lang="en-US" sz="3600" b="1" dirty="0">
                <a:latin typeface="Open Sans" panose="020B0606030504020204" pitchFamily="34" charset="0"/>
                <a:ea typeface="Open Sans" panose="020B0606030504020204" pitchFamily="34" charset="0"/>
                <a:cs typeface="Open Sans" panose="020B0606030504020204" pitchFamily="34" charset="0"/>
              </a:rPr>
              <a:t>Managers and Tech Leads (and Both)</a:t>
            </a:r>
            <a:endParaRPr kumimoji="0" lang="en-US" sz="3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Experienced manager comes in to run a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An individual contributor is promoted into a leadership position (usually of a smaller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Both roles can be filled by the same person: a Tech Lead Manager (TLM)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On larger teams, </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An experienced people manager will step in to take on the management role</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 senior engineer with extensive experience will step into the tech lead role</a:t>
            </a:r>
          </a:p>
        </p:txBody>
      </p:sp>
    </p:spTree>
    <p:extLst>
      <p:ext uri="{BB962C8B-B14F-4D97-AF65-F5344CB8AC3E}">
        <p14:creationId xmlns:p14="http://schemas.microsoft.com/office/powerpoint/2010/main" val="572411210"/>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The Engineering Manager</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Software engineering managers should have an engineering background</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An engineering manager is responsible for the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performance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productivity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and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happiness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of every person on their team—including their tech lead—while still making sure that the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needs of the business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are met by the product for which they are responsible</a:t>
            </a:r>
          </a:p>
        </p:txBody>
      </p:sp>
    </p:spTree>
    <p:extLst>
      <p:ext uri="{BB962C8B-B14F-4D97-AF65-F5344CB8AC3E}">
        <p14:creationId xmlns:p14="http://schemas.microsoft.com/office/powerpoint/2010/main" val="47521894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The Tech Lead</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The tech lead (TL) of a team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will often report to the manager of that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Responsible for the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technical aspects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of the product, including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technology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decisions and choices,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architecture</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priorities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velocity</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and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general project management</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Most TLs are also individual contributors, which are often forces to choose between doing something quickly themselves or delegating it to a team member to do (sometimes) more slowly</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Delegation is most often the correct decision for the TL as they grow the size and capability of their team</a:t>
            </a:r>
          </a:p>
        </p:txBody>
      </p:sp>
    </p:spTree>
    <p:extLst>
      <p:ext uri="{BB962C8B-B14F-4D97-AF65-F5344CB8AC3E}">
        <p14:creationId xmlns:p14="http://schemas.microsoft.com/office/powerpoint/2010/main" val="312339389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The Tech Lead Manager</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Tech Lead Manager (TLM)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 single person who can handle both the people and technical needs of their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TLM must know how to balance individual work, delegation, and people management</a:t>
            </a:r>
          </a:p>
        </p:txBody>
      </p:sp>
    </p:spTree>
    <p:extLst>
      <p:ext uri="{BB962C8B-B14F-4D97-AF65-F5344CB8AC3E}">
        <p14:creationId xmlns:p14="http://schemas.microsoft.com/office/powerpoint/2010/main" val="177017439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Antipattern</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Don’t follow these to be a successful manager: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Hire Pushovers</a:t>
            </a:r>
            <a:endPar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sym typeface="Wingdings" pitchFamily="2" charset="2"/>
            </a:endParaRP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Ignore Low Performers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Be Everyone’s Friend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Compromise the Hiring Bar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Treat Your Team Like Children</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Why shouldn’t we do those patterns? Unleash your opinions!</a:t>
            </a:r>
          </a:p>
        </p:txBody>
      </p:sp>
    </p:spTree>
    <p:extLst>
      <p:ext uri="{BB962C8B-B14F-4D97-AF65-F5344CB8AC3E}">
        <p14:creationId xmlns:p14="http://schemas.microsoft.com/office/powerpoint/2010/main" val="55996798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Positive Pattern</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Follow these to be a successful manager: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Lose the Ego</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Be a Zen Master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Be a Catalyst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Remove Roadblocks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Be a Teacher and a Mentor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Set Clear Goals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Be Honest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Track Happiness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How are those patterns can help us to be a successful manager?</a:t>
            </a:r>
          </a:p>
        </p:txBody>
      </p:sp>
    </p:spTree>
    <p:extLst>
      <p:ext uri="{BB962C8B-B14F-4D97-AF65-F5344CB8AC3E}">
        <p14:creationId xmlns:p14="http://schemas.microsoft.com/office/powerpoint/2010/main" val="30534240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As A Leader</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Delegate, but get your hands dirty</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Let the team know how skillful and dedicated (and humble) you are like jumping in and actually doing some hard work</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Seek to replace yourself</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After you have team members capable of doing your job, you need to give them opportunities to take on more responsibilities or occasionally lead the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Know when to make waves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Waiting only delaying the inevitable and causing untold damage in the process. So, act and act quickly</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Shield your team from chaos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Outside your team is a world of chaos and uncertainty. Chaos has always been present, but manager must shield the team from it.</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Give your team air cover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Share as much information as possible with the team, but don’t distract team with organizational matters that is extremely unlikely to ever actually affect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Let your team know when they’re doing well</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Provide positive feedback often enough</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It’s easy to say “yes” to something that’s easy to undo</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Good leaders have a good sense for when something can be undone, but more things are undoable than you think (and this applies to both technical and nontechnical decisions).</a:t>
            </a:r>
          </a:p>
        </p:txBody>
      </p:sp>
    </p:spTree>
    <p:extLst>
      <p:ext uri="{BB962C8B-B14F-4D97-AF65-F5344CB8AC3E}">
        <p14:creationId xmlns:p14="http://schemas.microsoft.com/office/powerpoint/2010/main" val="3403918801"/>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Scale into a Good Leader</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0" marR="0" lvl="0" indent="0" algn="just" defTabSz="520700" rtl="0" eaLnBrk="0" fontAlgn="base" latinLnBrk="0" hangingPunct="0">
              <a:lnSpc>
                <a:spcPct val="100000"/>
              </a:lnSpc>
              <a:spcBef>
                <a:spcPct val="20000"/>
              </a:spcBef>
              <a:spcAft>
                <a:spcPct val="0"/>
              </a:spcAft>
              <a:buClrTx/>
              <a:buSzTx/>
              <a:buNone/>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“The three Always of leadership”: Always Be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Deciding</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Always Be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Leaving</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Always Be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Scaling</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Always Be Deciding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Managing a team of teams means making ever more decisions at ever-higher levels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High-level strategy rather than how to solve any specific engineering task</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Finding the correct set of trade-offs.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Always Be Leaving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Get the organization to solve problems by itself</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Build a “Self-Driving” Team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Always Be Scaling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Most precious resource is limited pool of time, attention, and energy</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Work mostly on important things, rather than urgent things</a:t>
            </a:r>
          </a:p>
        </p:txBody>
      </p:sp>
    </p:spTree>
    <p:extLst>
      <p:ext uri="{BB962C8B-B14F-4D97-AF65-F5344CB8AC3E}">
        <p14:creationId xmlns:p14="http://schemas.microsoft.com/office/powerpoint/2010/main" val="275085809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Examine the product and the problem it is intended to solve at the very beginning of the project</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Software Scope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unambiguous and understandable at the management and technical levels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Context </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sym typeface="Wingdings" pitchFamily="2" charset="2"/>
              </a:rPr>
              <a:t></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 How does the software to be built fit into a larger system, product, or business context, and what constraints are imposed as a result of the context?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Information objectives </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sym typeface="Wingdings" pitchFamily="2" charset="2"/>
              </a:rPr>
              <a:t></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 What customer-visible data objects are produced as output from the software? What data objects are required for input?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Function and performance </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sym typeface="Wingdings" pitchFamily="2" charset="2"/>
              </a:rPr>
              <a:t></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 What function does the software perform to transform input data into output? Are any special performance characteristics to be addressed?</a:t>
            </a:r>
          </a:p>
        </p:txBody>
      </p:sp>
    </p:spTree>
    <p:extLst>
      <p:ext uri="{BB962C8B-B14F-4D97-AF65-F5344CB8AC3E}">
        <p14:creationId xmlns:p14="http://schemas.microsoft.com/office/powerpoint/2010/main" val="268308881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 Engineering for Equity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Software engineering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solve problems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Not only solve problems, build products that drive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positive outcomes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for the broadest base of people, including people who are the most difficult to reach</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Consider how the tools you build will be leveraged to change the trajectory of humanity</a:t>
            </a:r>
          </a:p>
        </p:txBody>
      </p:sp>
    </p:spTree>
    <p:extLst>
      <p:ext uri="{BB962C8B-B14F-4D97-AF65-F5344CB8AC3E}">
        <p14:creationId xmlns:p14="http://schemas.microsoft.com/office/powerpoint/2010/main" val="209919062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 Bias is The Default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Fail to focus on users of different nationalities, ethnicities, races, genders, ages, socioeconomic statuses, abilities, and belief systems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inadvertently can fail users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Such failures are often unintentional</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People have certain biases  most people exhibit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unconscious bias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enforcing and promulgating existing stereotypes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Why is it a important thing to be realized? Look at the next case study</a:t>
            </a:r>
          </a:p>
        </p:txBody>
      </p:sp>
    </p:spTree>
    <p:extLst>
      <p:ext uri="{BB962C8B-B14F-4D97-AF65-F5344CB8AC3E}">
        <p14:creationId xmlns:p14="http://schemas.microsoft.com/office/powerpoint/2010/main" val="390627182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fontScale="92500" lnSpcReduction="10000"/>
          </a:bodyPr>
          <a:lstStyle/>
          <a:p>
            <a:r>
              <a:rPr lang="en-US" sz="3200" b="1"/>
              <a:t>Case Study: Google Misses the Mark on Racial Inclusion</a:t>
            </a:r>
            <a:endParaRPr lang="en-US"/>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In 2015, software engineer Jacky </a:t>
            </a:r>
            <a:r>
              <a:rPr kumimoji="0" lang="en-US" sz="28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Alcine</a:t>
            </a: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 pointed out that the image recognition algorithms in Google Photos were classifying his black friends as “gorillas.” Google was slow to respond to these mistakes and incomplete in addressing them.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What caused such a monumental failure? Several things: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Image recognition algorithms depend on being supplied a “proper” (often meaning “complete”) dataset. The photo data fed into Google’s image recognition algorithm was clearly incomplete. In short, the data did not represent the population.</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Google itself (and the tech industry in general) did not (and does not) have much black representation, and that affects decisions subjective in the design of such algorithms and the collection of such datasets. The unconscious bias of the organization itself likely led to a more representative product being left on the table.</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Google’s target market for image recognition did not adequately include such underrepresented groups. Google’s tests did not catch these mistakes; as a result, the users did, which both embarrassed Google and harmed the users.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As late as 2018, Google still had not adequately addressed the underlying problem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As a result, the algorithm returned results that caused harm to our users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The harm to Google itself </a:t>
            </a: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reduced user trust and engagement with the company</a:t>
            </a:r>
          </a:p>
        </p:txBody>
      </p:sp>
    </p:spTree>
    <p:extLst>
      <p:ext uri="{BB962C8B-B14F-4D97-AF65-F5344CB8AC3E}">
        <p14:creationId xmlns:p14="http://schemas.microsoft.com/office/powerpoint/2010/main" val="385466932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Product: Understanding the Need for Diversity</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Exceptional engineer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should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bring diverse perspectives into product design and implementation</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Have a computer science degree is insufficient for inclusive and equitable engineering</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Focus all work within the framing of the complete ecosystem to be influenced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At least </a:t>
            </a: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sym typeface="Wingdings" pitchFamily="2" charset="2"/>
              </a:rPr>
              <a:t> understand the population demographics of the users</a:t>
            </a:r>
          </a:p>
        </p:txBody>
      </p:sp>
    </p:spTree>
    <p:extLst>
      <p:ext uri="{BB962C8B-B14F-4D97-AF65-F5344CB8AC3E}">
        <p14:creationId xmlns:p14="http://schemas.microsoft.com/office/powerpoint/2010/main" val="70030599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Product: Building multicultural capacity</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Exceptional engineer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able to understand how products can advantage and disadvantage different groups of human beings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Beside technical aptitude, it is important to have the discernment to know when to build something and when not to</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Discernment includes building the capacity to identify and reject features or products that drive adverse outcomes</a:t>
            </a:r>
          </a:p>
        </p:txBody>
      </p:sp>
    </p:spTree>
    <p:extLst>
      <p:ext uri="{BB962C8B-B14F-4D97-AF65-F5344CB8AC3E}">
        <p14:creationId xmlns:p14="http://schemas.microsoft.com/office/powerpoint/2010/main" val="86160702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Product: </a:t>
            </a:r>
            <a:r>
              <a:rPr lang="en-US" sz="3200" b="1" dirty="0"/>
              <a:t>Making diversity Actionable</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Systemic equity and fairness are attainable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willing to accept that: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We are accountable for the systemic discrimination we see in the technology sector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We are accountable for the failures in the system</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Technology lead or software engineering manager has the means to augment equity on their teams</a:t>
            </a:r>
          </a:p>
        </p:txBody>
      </p:sp>
    </p:spTree>
    <p:extLst>
      <p:ext uri="{BB962C8B-B14F-4D97-AF65-F5344CB8AC3E}">
        <p14:creationId xmlns:p14="http://schemas.microsoft.com/office/powerpoint/2010/main" val="217702200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sz="3200" b="1" dirty="0"/>
              <a:t>Product: Reject Singular Approaches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Perpetuate solutions that present a single philosophy or methodology for fixing inequity in the technology sector is not enough</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Problems are complex and multifactorial</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Design from the start and raising development standards for development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in order</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to make software delightful and accessible for people who struggle to access technology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can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Open Sans"/>
              </a:rPr>
              <a:t>enhance the experience for all users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Best practice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 d</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esigning for the user who is least like you</a:t>
            </a:r>
          </a:p>
        </p:txBody>
      </p:sp>
    </p:spTree>
    <p:extLst>
      <p:ext uri="{BB962C8B-B14F-4D97-AF65-F5344CB8AC3E}">
        <p14:creationId xmlns:p14="http://schemas.microsoft.com/office/powerpoint/2010/main" val="59518028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 generic process framework for software engineering encompasses five activities: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Communication</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Planning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Modeling</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Construction</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Deployment</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Decide which process model is most appropriate for:</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The customers who have requested the product and the people who will do the work</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The characteristics of the product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The project environment in which the software team works</a:t>
            </a:r>
          </a:p>
        </p:txBody>
      </p:sp>
    </p:spTree>
    <p:extLst>
      <p:ext uri="{BB962C8B-B14F-4D97-AF65-F5344CB8AC3E}">
        <p14:creationId xmlns:p14="http://schemas.microsoft.com/office/powerpoint/2010/main" val="102141714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Knowledge Sharing</a:t>
            </a:r>
          </a:p>
        </p:txBody>
      </p:sp>
      <p:pic>
        <p:nvPicPr>
          <p:cNvPr id="6" name="Content Placeholder 5" descr="A blue and white page with text&#10;&#10;Description automatically generated">
            <a:extLst>
              <a:ext uri="{FF2B5EF4-FFF2-40B4-BE49-F238E27FC236}">
                <a16:creationId xmlns:a16="http://schemas.microsoft.com/office/drawing/2014/main" id="{5BCF1818-3BEA-E9FD-C846-E21868F2458B}"/>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4349403" y="3298050"/>
            <a:ext cx="15685194" cy="10448281"/>
          </a:xfrm>
        </p:spPr>
      </p:pic>
    </p:spTree>
    <p:extLst>
      <p:ext uri="{BB962C8B-B14F-4D97-AF65-F5344CB8AC3E}">
        <p14:creationId xmlns:p14="http://schemas.microsoft.com/office/powerpoint/2010/main" val="204912312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Know your audience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Internal document for your team (e.g., meeting note)</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Documentation for project contributors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Documentation for non-developer collaborators (e.g., UX researchers)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Documentation for developer users</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Documentation for clients with no software knowledge</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User manual for end users</a:t>
            </a:r>
            <a:endPar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endParaRPr>
          </a:p>
        </p:txBody>
      </p:sp>
    </p:spTree>
    <p:extLst>
      <p:ext uri="{BB962C8B-B14F-4D97-AF65-F5344CB8AC3E}">
        <p14:creationId xmlns:p14="http://schemas.microsoft.com/office/powerpoint/2010/main" val="105852085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Ask the questions</a:t>
            </a:r>
          </a:p>
        </p:txBody>
      </p:sp>
      <p:pic>
        <p:nvPicPr>
          <p:cNvPr id="1026" name="Picture 2" descr="Pin page">
            <a:extLst>
              <a:ext uri="{FF2B5EF4-FFF2-40B4-BE49-F238E27FC236}">
                <a16:creationId xmlns:a16="http://schemas.microsoft.com/office/drawing/2014/main" id="{76657148-5BC4-C96C-5941-5A7CCF3B02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377" y="4501773"/>
            <a:ext cx="9144000" cy="67945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re's No Such Thing as a Stupid Question—Or Is There? | Victoria Soto |  Professional Portfolio">
            <a:extLst>
              <a:ext uri="{FF2B5EF4-FFF2-40B4-BE49-F238E27FC236}">
                <a16:creationId xmlns:a16="http://schemas.microsoft.com/office/drawing/2014/main" id="{92F9DACF-682C-4012-4FEF-F84924ABF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96515" y="4506419"/>
            <a:ext cx="6789854" cy="6789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3588182"/>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What is wrong with this question?</a:t>
            </a:r>
          </a:p>
        </p:txBody>
      </p:sp>
      <p:pic>
        <p:nvPicPr>
          <p:cNvPr id="7" name="Content Placeholder 6" descr="A person with short hair and a black shirt&#10;&#10;Description automatically generated with medium confidence">
            <a:extLst>
              <a:ext uri="{FF2B5EF4-FFF2-40B4-BE49-F238E27FC236}">
                <a16:creationId xmlns:a16="http://schemas.microsoft.com/office/drawing/2014/main" id="{9BFE9CA0-40B7-F503-619F-9A7693E2A8D9}"/>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6" y="3454400"/>
            <a:ext cx="20301045" cy="8890000"/>
          </a:xfrm>
          <a:prstGeom prst="rect">
            <a:avLst/>
          </a:prstGeom>
        </p:spPr>
      </p:pic>
    </p:spTree>
    <p:extLst>
      <p:ext uri="{BB962C8B-B14F-4D97-AF65-F5344CB8AC3E}">
        <p14:creationId xmlns:p14="http://schemas.microsoft.com/office/powerpoint/2010/main" val="165792889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Make it easy for people to help you</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 am trying to ____, so that I can ____.</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I am running into ____.</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I have looked at ____ and tried ____.</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I’m using this tech stack: ____.</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 I’m getting this error/result: ____.</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I think the problem could be ____.</a:t>
            </a:r>
          </a:p>
          <a:p>
            <a:pPr marL="0" marR="0" lvl="0" indent="0" algn="just" defTabSz="520700" rtl="0" eaLnBrk="0" fontAlgn="base" latinLnBrk="0" hangingPunct="0">
              <a:lnSpc>
                <a:spcPct val="100000"/>
              </a:lnSpc>
              <a:spcBef>
                <a:spcPct val="20000"/>
              </a:spcBef>
              <a:spcAft>
                <a:spcPct val="0"/>
              </a:spcAft>
              <a:buClrTx/>
              <a:buSzTx/>
              <a:buNone/>
              <a:tabLst/>
              <a:defRPr/>
            </a:pPr>
            <a:endParaRPr lang="en-US" sz="3600" kern="1200" dirty="0">
              <a:solidFill>
                <a:prstClr val="black"/>
              </a:solidFill>
              <a:latin typeface="Open Sans"/>
              <a:ea typeface="MS PGothic" pitchFamily="34" charset="-128"/>
              <a:cs typeface="Open Sans" panose="020B0606030504020204" pitchFamily="34" charset="0"/>
            </a:endParaRPr>
          </a:p>
          <a:p>
            <a:pPr marL="0" marR="0" lvl="0" indent="0" algn="just" defTabSz="520700" rtl="0" eaLnBrk="0" fontAlgn="base" latinLnBrk="0" hangingPunct="0">
              <a:lnSpc>
                <a:spcPct val="100000"/>
              </a:lnSpc>
              <a:spcBef>
                <a:spcPct val="20000"/>
              </a:spcBef>
              <a:spcAft>
                <a:spcPct val="0"/>
              </a:spcAft>
              <a:buClrTx/>
              <a:buSzTx/>
              <a:buNone/>
              <a:tabLst/>
              <a:defRPr/>
            </a:pPr>
            <a:endParaRPr lang="en-US" sz="3600" kern="1200" dirty="0">
              <a:solidFill>
                <a:prstClr val="black"/>
              </a:solidFill>
              <a:latin typeface="Open Sans"/>
              <a:ea typeface="MS PGothic" pitchFamily="34" charset="-128"/>
              <a:cs typeface="Open Sans" panose="020B0606030504020204" pitchFamily="34" charset="0"/>
            </a:endParaRPr>
          </a:p>
          <a:p>
            <a:pPr marL="0" marR="0" lvl="0" indent="0" algn="just" defTabSz="520700" rtl="0" eaLnBrk="0" fontAlgn="base" latinLnBrk="0" hangingPunct="0">
              <a:lnSpc>
                <a:spcPct val="100000"/>
              </a:lnSpc>
              <a:spcBef>
                <a:spcPct val="20000"/>
              </a:spcBef>
              <a:spcAft>
                <a:spcPct val="0"/>
              </a:spcAft>
              <a:buClrTx/>
              <a:buSzTx/>
              <a:buNone/>
              <a:tabLst/>
              <a:defRPr/>
            </a:pPr>
            <a:r>
              <a:rPr lang="en-US" sz="3600" kern="1200" dirty="0">
                <a:solidFill>
                  <a:prstClr val="black"/>
                </a:solidFill>
                <a:latin typeface="Open Sans"/>
                <a:ea typeface="MS PGothic" pitchFamily="34" charset="-128"/>
                <a:cs typeface="Open Sans" panose="020B0606030504020204" pitchFamily="34" charset="0"/>
              </a:rPr>
              <a:t>Avoid Duplication!</a:t>
            </a:r>
            <a:endParaRPr lang="en-US" sz="3600" kern="1200" dirty="0">
              <a:solidFill>
                <a:prstClr val="black"/>
              </a:solidFill>
              <a:latin typeface="Open Sans"/>
              <a:ea typeface="MS PGothic" pitchFamily="34" charset="-128"/>
              <a:cs typeface="Open Sans"/>
            </a:endParaRPr>
          </a:p>
        </p:txBody>
      </p:sp>
    </p:spTree>
    <p:extLst>
      <p:ext uri="{BB962C8B-B14F-4D97-AF65-F5344CB8AC3E}">
        <p14:creationId xmlns:p14="http://schemas.microsoft.com/office/powerpoint/2010/main" val="2930482706"/>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Process: Communication and conflict resolution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You can’t solve any problem without communication!</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endParaRPr lang="en-US" sz="3600" kern="1200" dirty="0">
              <a:solidFill>
                <a:prstClr val="black"/>
              </a:solidFill>
              <a:latin typeface="Open Sans"/>
              <a:ea typeface="MS PGothic" pitchFamily="34" charset="-128"/>
              <a:cs typeface="Open Sans"/>
            </a:endParaRPr>
          </a:p>
          <a:p>
            <a:pPr marL="0" marR="0" lvl="0" indent="0" algn="just" defTabSz="520700" rtl="0" eaLnBrk="0" fontAlgn="base" latinLnBrk="0" hangingPunct="0">
              <a:lnSpc>
                <a:spcPct val="100000"/>
              </a:lnSpc>
              <a:spcBef>
                <a:spcPct val="20000"/>
              </a:spcBef>
              <a:spcAft>
                <a:spcPct val="0"/>
              </a:spcAft>
              <a:buClrTx/>
              <a:buSzTx/>
              <a:buNone/>
              <a:tabLst/>
              <a:defRPr/>
            </a:pPr>
            <a:r>
              <a:rPr lang="en-US" sz="3600" kern="1200" dirty="0">
                <a:solidFill>
                  <a:prstClr val="black"/>
                </a:solidFill>
                <a:latin typeface="Open Sans"/>
                <a:ea typeface="MS PGothic" pitchFamily="34" charset="-128"/>
                <a:cs typeface="Open Sans"/>
              </a:rPr>
              <a:t>Conflict Resolution</a:t>
            </a:r>
          </a:p>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lang="en-US" sz="3600" kern="1200" dirty="0">
                <a:solidFill>
                  <a:prstClr val="black"/>
                </a:solidFill>
                <a:latin typeface="Open Sans"/>
                <a:ea typeface="MS PGothic" pitchFamily="34" charset="-128"/>
                <a:cs typeface="Open Sans"/>
              </a:rPr>
              <a:t>Your goal: Find a solution to the problem and move forward.</a:t>
            </a:r>
          </a:p>
          <a:p>
            <a:pPr marL="1014413" lvl="1"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As a smart person on “Ted Lasso” once said, “Fight forward, not back.”</a:t>
            </a:r>
          </a:p>
          <a:p>
            <a:pPr marL="390525"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Make sure everybody works from the same set of facts.</a:t>
            </a:r>
          </a:p>
          <a:p>
            <a:pPr marL="390525"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Establish ground rules for your team’s discussion.</a:t>
            </a:r>
          </a:p>
          <a:p>
            <a:pPr marL="1014413" lvl="1"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Talk about how the situation made you feel. Never presume anything about anyone else.</a:t>
            </a:r>
          </a:p>
          <a:p>
            <a:pPr marL="390525"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Remain calm and rational. If you feel triggered or threatened, extract yourself from the situation, wait an hour to chill out, and then try again.</a:t>
            </a:r>
          </a:p>
          <a:p>
            <a:pPr marL="390525"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If you reach an impasse, talk to your team leader.</a:t>
            </a:r>
          </a:p>
          <a:p>
            <a:pPr marL="390525"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If your team remains in conflict, escalate to your mentor.</a:t>
            </a:r>
          </a:p>
          <a:p>
            <a:pPr marL="1014413" lvl="1"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Your mentor will not solve your problem. They will help you to solve your own problems.</a:t>
            </a:r>
          </a:p>
        </p:txBody>
      </p:sp>
    </p:spTree>
    <p:extLst>
      <p:ext uri="{BB962C8B-B14F-4D97-AF65-F5344CB8AC3E}">
        <p14:creationId xmlns:p14="http://schemas.microsoft.com/office/powerpoint/2010/main" val="550827246"/>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Project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To manage a successful software project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sym typeface="Wingdings" pitchFamily="2" charset="2"/>
              </a:rPr>
              <a:t></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understand what can go wrong so that problems can be avoided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Understand customer’s needs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Changes are managed well, includes chosen technology change or shifted business needs and sponsorship management</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Realistic deadlines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End users are ready to accept new system</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Have the requisite skills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Learn from mistakes</a:t>
            </a:r>
          </a:p>
        </p:txBody>
      </p:sp>
    </p:spTree>
    <p:extLst>
      <p:ext uri="{BB962C8B-B14F-4D97-AF65-F5344CB8AC3E}">
        <p14:creationId xmlns:p14="http://schemas.microsoft.com/office/powerpoint/2010/main" val="1575089054"/>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Introduction to Project Management Concepts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Project: The W5HH Principle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An approach that addresses project objectives, milestones and schedules, responsibilities, management and technical approaches, and required resources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Why is the system being developed? Assess the validity of business reasons for the software work</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What will be done? Task set required for the project is defined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When will it be done? Establish a project schedule by identifying when project tasks are to be conducted and when milestones are to be reached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Who is responsible for a function? The role and responsibility of each member of the software team is defined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Where are they located organizationally? Not only software practitioners, the customer, users, and other stakeholders also have responsibilities.</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How will the job be done technically and managerially? Once product scope is established, a management and technical strategy for the project must be defined.</a:t>
            </a:r>
          </a:p>
          <a:p>
            <a:pPr marL="846138" marR="0" lvl="1" indent="-325438"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How much of each resource is needed? Developing estimates based on answers to earlier questions</a:t>
            </a:r>
          </a:p>
        </p:txBody>
      </p:sp>
    </p:spTree>
    <p:extLst>
      <p:ext uri="{BB962C8B-B14F-4D97-AF65-F5344CB8AC3E}">
        <p14:creationId xmlns:p14="http://schemas.microsoft.com/office/powerpoint/2010/main" val="26873135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CBEE7-D7AE-0272-88E1-6DEE64174BB1}"/>
              </a:ext>
            </a:extLst>
          </p:cNvPr>
          <p:cNvSpPr>
            <a:spLocks noGrp="1"/>
          </p:cNvSpPr>
          <p:nvPr>
            <p:ph type="title"/>
          </p:nvPr>
        </p:nvSpPr>
        <p:spPr/>
        <p:txBody>
          <a:bodyPr/>
          <a:lstStyle/>
          <a:p>
            <a:r>
              <a:rPr lang="en-US" cap="none" dirty="0"/>
              <a:t>Plans are nothing, planning is everything</a:t>
            </a:r>
            <a:br>
              <a:rPr lang="en-US" cap="none" dirty="0"/>
            </a:br>
            <a:r>
              <a:rPr lang="en-US" sz="6000" cap="none" dirty="0"/>
              <a:t>- Dwight D. Eisenhower</a:t>
            </a:r>
            <a:endParaRPr lang="en-US" cap="none" dirty="0"/>
          </a:p>
        </p:txBody>
      </p:sp>
      <p:pic>
        <p:nvPicPr>
          <p:cNvPr id="1026" name="Picture 2" descr="Dwight Eisenhower is born in Texas , Oct. 14, 1890 - POLITICO">
            <a:extLst>
              <a:ext uri="{FF2B5EF4-FFF2-40B4-BE49-F238E27FC236}">
                <a16:creationId xmlns:a16="http://schemas.microsoft.com/office/drawing/2014/main" id="{A50F09F7-5522-1F0B-90B9-C88F58ED9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5850" y="8804862"/>
            <a:ext cx="6972300" cy="4642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20772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17065503" cy="547669"/>
          </a:xfrm>
        </p:spPr>
        <p:txBody>
          <a:bodyPr>
            <a:normAutofit fontScale="90000"/>
          </a:bodyPr>
          <a:lstStyle/>
          <a:p>
            <a:r>
              <a:rPr lang="en-US" sz="4000" b="1" dirty="0"/>
              <a:t>Importance of Project Planning in Software Engineering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Software Project Planning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panose="020B0606030504020204" pitchFamily="34" charset="0"/>
                <a:ea typeface="MS PGothic" pitchFamily="34" charset="-128"/>
                <a:cs typeface="Open Sans" panose="020B0606030504020204" pitchFamily="34" charset="0"/>
              </a:rPr>
              <a:t>The overall goal of project planning is to establish a pragmatic strategy for controlling, tracking, and monitoring a complex technical project.</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endParaRPr kumimoji="0" lang="en-US" sz="3600" u="none" strike="noStrike" kern="1200" cap="none" spc="0" normalizeH="0" baseline="0" noProof="0" dirty="0">
              <a:ln>
                <a:noFill/>
              </a:ln>
              <a:solidFill>
                <a:prstClr val="black"/>
              </a:solidFill>
              <a:effectLst/>
              <a:uLnTx/>
              <a:uFillTx/>
              <a:latin typeface="Open Sans" panose="020B0606030504020204" pitchFamily="34" charset="0"/>
              <a:ea typeface="MS PGothic" pitchFamily="34" charset="-128"/>
              <a:cs typeface="Open Sans" panose="020B0606030504020204" pitchFamily="34" charset="0"/>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panose="020B0606030504020204" pitchFamily="34" charset="0"/>
                <a:ea typeface="MS PGothic" pitchFamily="34" charset="-128"/>
                <a:cs typeface="Open Sans" panose="020B0606030504020204" pitchFamily="34" charset="0"/>
              </a:rPr>
              <a:t>Why?</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u="none" strike="noStrike" kern="1200" cap="none" spc="0" normalizeH="0" baseline="0" noProof="0" dirty="0">
                <a:ln>
                  <a:noFill/>
                </a:ln>
                <a:solidFill>
                  <a:prstClr val="black"/>
                </a:solidFill>
                <a:effectLst/>
                <a:uLnTx/>
                <a:uFillTx/>
                <a:latin typeface="Open Sans" panose="020B0606030504020204" pitchFamily="34" charset="0"/>
                <a:ea typeface="MS PGothic" pitchFamily="34" charset="-128"/>
                <a:cs typeface="Open Sans" panose="020B0606030504020204" pitchFamily="34" charset="0"/>
              </a:rPr>
              <a:t>So the end result gets done on time, with quality!</a:t>
            </a:r>
          </a:p>
        </p:txBody>
      </p:sp>
    </p:spTree>
    <p:extLst>
      <p:ext uri="{BB962C8B-B14F-4D97-AF65-F5344CB8AC3E}">
        <p14:creationId xmlns:p14="http://schemas.microsoft.com/office/powerpoint/2010/main" val="266225404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15968223" cy="547669"/>
          </a:xfrm>
        </p:spPr>
        <p:txBody>
          <a:bodyPr>
            <a:normAutofit fontScale="90000"/>
          </a:bodyPr>
          <a:lstStyle/>
          <a:p>
            <a:r>
              <a:rPr lang="en-US" sz="4000" b="1" dirty="0"/>
              <a:t>Importance of Project Planning in Software Engineering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Project Planning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0" indent="0" algn="just" defTabSz="520700" eaLnBrk="0" fontAlgn="base" hangingPunct="0">
              <a:spcBef>
                <a:spcPct val="20000"/>
              </a:spcBef>
              <a:spcAft>
                <a:spcPct val="0"/>
              </a:spcAft>
              <a:buSzTx/>
              <a:buNone/>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Objectives: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Define Scope and Objectives: Clearly outline what needs to be achieved.</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Resource Allocation: Determine necessary resources.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Risk Management: Identify potential risks and mitigation strategies.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Communication Plan: Establish how information will be shared.</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Schedule Development: Create timelines and milestones.</a:t>
            </a:r>
          </a:p>
          <a:p>
            <a:pPr marL="0" indent="0" algn="just" defTabSz="520700" eaLnBrk="0" fontAlgn="base" hangingPunct="0">
              <a:spcBef>
                <a:spcPct val="20000"/>
              </a:spcBef>
              <a:spcAft>
                <a:spcPct val="0"/>
              </a:spcAft>
              <a:buSzTx/>
              <a:buNone/>
              <a:defRPr/>
            </a:pPr>
            <a:endParaRPr lang="en-US" sz="3200" kern="1200" dirty="0">
              <a:solidFill>
                <a:prstClr val="black"/>
              </a:solidFill>
              <a:latin typeface="Open Sans"/>
              <a:ea typeface="MS PGothic" pitchFamily="34" charset="-128"/>
              <a:cs typeface="Open Sans" panose="020B0606030504020204" pitchFamily="34" charset="0"/>
            </a:endParaRPr>
          </a:p>
          <a:p>
            <a:pPr marL="0" indent="0" algn="just" defTabSz="520700" eaLnBrk="0" fontAlgn="base" hangingPunct="0">
              <a:spcBef>
                <a:spcPct val="20000"/>
              </a:spcBef>
              <a:spcAft>
                <a:spcPct val="0"/>
              </a:spcAft>
              <a:buSzTx/>
              <a:buNone/>
              <a:defRPr/>
            </a:pPr>
            <a:r>
              <a:rPr lang="en-US" sz="3200" kern="1200" dirty="0">
                <a:solidFill>
                  <a:prstClr val="black"/>
                </a:solidFill>
                <a:latin typeface="Open Sans"/>
                <a:ea typeface="MS PGothic" pitchFamily="34" charset="-128"/>
                <a:cs typeface="Open Sans" panose="020B0606030504020204" pitchFamily="34" charset="0"/>
              </a:rPr>
              <a:t>Consequences of Poor Planning</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Cost Overruns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Missed Deadlines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Scope Creep</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Reduced Quality</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Team Burnout</a:t>
            </a:r>
          </a:p>
        </p:txBody>
      </p:sp>
    </p:spTree>
    <p:extLst>
      <p:ext uri="{BB962C8B-B14F-4D97-AF65-F5344CB8AC3E}">
        <p14:creationId xmlns:p14="http://schemas.microsoft.com/office/powerpoint/2010/main" val="10014368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15968223" cy="547669"/>
          </a:xfrm>
        </p:spPr>
        <p:txBody>
          <a:bodyPr>
            <a:normAutofit fontScale="90000"/>
          </a:bodyPr>
          <a:lstStyle/>
          <a:p>
            <a:r>
              <a:rPr lang="en-US" sz="4000" b="1" dirty="0"/>
              <a:t>Work Breakdown Structure (WBS)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Definition and Purpose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Autofit/>
          </a:bodyPr>
          <a:lstStyle/>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WBS is a hierarchical decomposition of the total scope of work to be carried out by the project team.</a:t>
            </a:r>
          </a:p>
          <a:p>
            <a:pPr marL="0" indent="0" algn="just" defTabSz="520700" eaLnBrk="0" fontAlgn="base" hangingPunct="0">
              <a:spcBef>
                <a:spcPct val="20000"/>
              </a:spcBef>
              <a:spcAft>
                <a:spcPct val="0"/>
              </a:spcAft>
              <a:buSzTx/>
              <a:buNone/>
              <a:defRPr/>
            </a:pPr>
            <a:endParaRPr lang="en-US" sz="3200" kern="1200" dirty="0">
              <a:solidFill>
                <a:prstClr val="black"/>
              </a:solidFill>
              <a:latin typeface="Open Sans"/>
              <a:ea typeface="MS PGothic" pitchFamily="34" charset="-128"/>
              <a:cs typeface="Open Sans" panose="020B0606030504020204" pitchFamily="34" charset="0"/>
            </a:endParaRPr>
          </a:p>
          <a:p>
            <a:pPr marL="0" indent="0" algn="just" defTabSz="520700" eaLnBrk="0" fontAlgn="base" hangingPunct="0">
              <a:spcBef>
                <a:spcPct val="20000"/>
              </a:spcBef>
              <a:spcAft>
                <a:spcPct val="0"/>
              </a:spcAft>
              <a:buSzTx/>
              <a:buNone/>
              <a:defRPr/>
            </a:pPr>
            <a:r>
              <a:rPr lang="en-US" sz="3200" kern="1200" dirty="0">
                <a:solidFill>
                  <a:prstClr val="black"/>
                </a:solidFill>
                <a:latin typeface="Open Sans"/>
                <a:ea typeface="MS PGothic" pitchFamily="34" charset="-128"/>
                <a:cs typeface="Open Sans" panose="020B0606030504020204" pitchFamily="34" charset="0"/>
              </a:rPr>
              <a:t>Purpose:</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Organize work into manageable sections.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Facilitate resource allocation, assignment of responsibilities, and measurement of progress.</a:t>
            </a:r>
          </a:p>
        </p:txBody>
      </p:sp>
    </p:spTree>
    <p:extLst>
      <p:ext uri="{BB962C8B-B14F-4D97-AF65-F5344CB8AC3E}">
        <p14:creationId xmlns:p14="http://schemas.microsoft.com/office/powerpoint/2010/main" val="236522396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15968223" cy="547669"/>
          </a:xfrm>
        </p:spPr>
        <p:txBody>
          <a:bodyPr>
            <a:normAutofit fontScale="90000"/>
          </a:bodyPr>
          <a:lstStyle/>
          <a:p>
            <a:r>
              <a:rPr lang="en-US" sz="4000" b="1" dirty="0"/>
              <a:t>Work Breakdown Structure (WBS)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Steps to Create A WBS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024623" cy="8583279"/>
          </a:xfrm>
        </p:spPr>
        <p:txBody>
          <a:bodyPr anchor="ctr">
            <a:noAutofit/>
          </a:bodyPr>
          <a:lstStyle/>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Identify Major Deliverables: Start with the end products or services.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Decompose Deliverables: Break down into smaller, manageable components.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Assign Identification Codes: For tracking purposes.</a:t>
            </a:r>
          </a:p>
          <a:p>
            <a:pPr marL="390525" indent="-390525" algn="just" defTabSz="520700" eaLnBrk="0" fontAlgn="base" hangingPunct="0">
              <a:spcBef>
                <a:spcPct val="20000"/>
              </a:spcBef>
              <a:spcAft>
                <a:spcPct val="0"/>
              </a:spcAft>
              <a:buSzTx/>
              <a:buFont typeface="Arial" pitchFamily="34" charset="0"/>
              <a:buChar char="•"/>
              <a:defRPr/>
            </a:pPr>
            <a:r>
              <a:rPr kumimoji="0" lang="en-US" sz="3200" u="none" strike="noStrike" kern="1200" cap="none" spc="0" normalizeH="0" baseline="0" noProof="0" dirty="0">
                <a:ln>
                  <a:noFill/>
                </a:ln>
                <a:solidFill>
                  <a:prstClr val="black"/>
                </a:solidFill>
                <a:effectLst/>
                <a:uLnTx/>
                <a:uFillTx/>
                <a:latin typeface="Open Sans"/>
                <a:ea typeface="MS PGothic" pitchFamily="34" charset="-128"/>
                <a:cs typeface="Open Sans" panose="020B0606030504020204" pitchFamily="34" charset="0"/>
              </a:rPr>
              <a:t>Verify Decomposition: Ensure completeness and correctness.</a:t>
            </a:r>
          </a:p>
        </p:txBody>
      </p:sp>
      <p:pic>
        <p:nvPicPr>
          <p:cNvPr id="2050" name="Picture 2">
            <a:extLst>
              <a:ext uri="{FF2B5EF4-FFF2-40B4-BE49-F238E27FC236}">
                <a16:creationId xmlns:a16="http://schemas.microsoft.com/office/drawing/2014/main" id="{FD412314-F600-002A-38E1-E0ACD6FE42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1977" y="3133496"/>
            <a:ext cx="12082023" cy="7449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318649"/>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3223274"/>
            <a:ext cx="13714940" cy="8620668"/>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Titus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Winters</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Tom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Manshreck</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and</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Hyrum</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Wright</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(2020).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Software</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Engineering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at</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Google: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Lesson</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Learned</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from</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Programming</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Over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Time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1st.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O’Reilly</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Media. California. ISBN: 978-1492082798.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Page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69-122.</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Roger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Pressman</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and</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Bruce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Maxim</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(2020).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Software</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Engineering: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A</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Practitioner's</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Approach</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9th.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McGraw</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Hill. New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York</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ISBN: 978-1259872976.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Chapter</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24.</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Ian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Sommerville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(2016). </a:t>
            </a:r>
            <a:r>
              <a:rPr kumimoji="0" lang="id-ID" sz="3600" b="1" i="1" u="none" strike="noStrike" kern="1200" cap="none" spc="0" normalizeH="0" baseline="0" noProof="0" dirty="0" err="1">
                <a:ln>
                  <a:noFill/>
                </a:ln>
                <a:solidFill>
                  <a:prstClr val="black"/>
                </a:solidFill>
                <a:effectLst/>
                <a:uLnTx/>
                <a:uFillTx/>
                <a:latin typeface="Open Sans"/>
                <a:ea typeface="MS PGothic" pitchFamily="34" charset="-128"/>
                <a:cs typeface="Open Sans"/>
              </a:rPr>
              <a:t>Software</a:t>
            </a:r>
            <a:r>
              <a:rPr kumimoji="0" lang="id-ID" sz="3600" b="1" i="1" u="none" strike="noStrike" kern="1200" cap="none" spc="0" normalizeH="0" baseline="0" noProof="0" dirty="0">
                <a:ln>
                  <a:noFill/>
                </a:ln>
                <a:solidFill>
                  <a:prstClr val="black"/>
                </a:solidFill>
                <a:effectLst/>
                <a:uLnTx/>
                <a:uFillTx/>
                <a:latin typeface="Open Sans"/>
                <a:ea typeface="MS PGothic" pitchFamily="34" charset="-128"/>
                <a:cs typeface="Open Sans"/>
              </a:rPr>
              <a:t> Engineering</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10th. Pearson. London. ISBN: 978-1-292-09613-1.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Chapter</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22.</a:t>
            </a:r>
          </a:p>
          <a:p>
            <a:pPr marL="390525" indent="-390525" defTabSz="520700" eaLnBrk="0" fontAlgn="base" hangingPunct="0">
              <a:spcBef>
                <a:spcPct val="20000"/>
              </a:spcBef>
              <a:spcAft>
                <a:spcPct val="0"/>
              </a:spcAft>
              <a:buSzTx/>
              <a:buFont typeface="Arial" pitchFamily="34" charset="0"/>
              <a:buChar char="•"/>
              <a:defRPr/>
            </a:pP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Boehm</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B</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W</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(2020).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Software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Engineering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Economics</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(4th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Edition</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Prentice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Hall</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a:t>
            </a:r>
          </a:p>
          <a:p>
            <a:pPr marL="390525" indent="-390525" defTabSz="520700" eaLnBrk="0" fontAlgn="base" hangingPunct="0">
              <a:spcBef>
                <a:spcPct val="20000"/>
              </a:spcBef>
              <a:spcAft>
                <a:spcPct val="0"/>
              </a:spcAft>
              <a:buSzTx/>
              <a:buFont typeface="Arial" pitchFamily="34" charset="0"/>
              <a:buChar char="•"/>
              <a:defRPr/>
            </a:pP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Project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Management</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Institute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(2021).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A</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Guide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to</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the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Project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Management</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Body</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of</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Knowledge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(PMBOK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Guide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(7th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Edition</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Project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Management</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r>
              <a:rPr kumimoji="0" lang="id-ID"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Institute</a:t>
            </a:r>
            <a:r>
              <a:rPr kumimoji="0" lang="id-ID"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3.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3934</TotalTime>
  <Words>2903</Words>
  <Application>Microsoft Office PowerPoint</Application>
  <PresentationFormat>Custom</PresentationFormat>
  <Paragraphs>298</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Open Sans ExtraBold</vt:lpstr>
      <vt:lpstr>Open Sans</vt:lpstr>
      <vt:lpstr>Open Sans Semibold</vt:lpstr>
      <vt:lpstr>Open Sans Light</vt:lpstr>
      <vt:lpstr>OCRB</vt:lpstr>
      <vt:lpstr>21_BasicWhite</vt:lpstr>
      <vt:lpstr>Project Management and Planning</vt:lpstr>
      <vt:lpstr>Session 11 – Project Management and Planning</vt:lpstr>
      <vt:lpstr>Session 11 – Project Management and Planning</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Introduction to Project Management Concepts</vt:lpstr>
      <vt:lpstr>Plans are nothing, planning is everything - Dwight D. Eisenhower</vt:lpstr>
      <vt:lpstr>Importance of Project Planning in Software Engineering</vt:lpstr>
      <vt:lpstr>Importance of Project Planning in Software Engineering</vt:lpstr>
      <vt:lpstr>Work Breakdown Structure (WBS)</vt:lpstr>
      <vt:lpstr>Work Breakdown Structure (WBS)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139</cp:revision>
  <dcterms:created xsi:type="dcterms:W3CDTF">2023-04-06T08:40:27Z</dcterms:created>
  <dcterms:modified xsi:type="dcterms:W3CDTF">2025-12-25T22:30:43Z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