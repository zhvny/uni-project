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24"/>
  </p:notesMasterIdLst>
  <p:sldIdLst>
    <p:sldId id="256" r:id="rId6"/>
    <p:sldId id="257" r:id="rId7"/>
    <p:sldId id="258" r:id="rId8"/>
    <p:sldId id="304" r:id="rId9"/>
    <p:sldId id="298" r:id="rId10"/>
    <p:sldId id="299" r:id="rId11"/>
    <p:sldId id="300" r:id="rId12"/>
    <p:sldId id="305" r:id="rId13"/>
    <p:sldId id="306" r:id="rId14"/>
    <p:sldId id="301" r:id="rId15"/>
    <p:sldId id="307" r:id="rId16"/>
    <p:sldId id="308" r:id="rId17"/>
    <p:sldId id="302" r:id="rId18"/>
    <p:sldId id="309" r:id="rId19"/>
    <p:sldId id="303" r:id="rId20"/>
    <p:sldId id="311" r:id="rId21"/>
    <p:sldId id="310" r:id="rId22"/>
    <p:sldId id="284" r:id="rId23"/>
  </p:sldIdLst>
  <p:sldSz cx="24384000" cy="13716000"/>
  <p:notesSz cx="6858000" cy="9144000"/>
  <p:embeddedFontLst>
    <p:embeddedFont>
      <p:font typeface="OCRB" panose="020B0609020202020204" pitchFamily="49" charset="77"/>
      <p:regular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Open Sans ExtraBold" panose="020B0606030504020204" pitchFamily="34" charset="0"/>
      <p:bold r:id="rId30"/>
      <p:italic r:id="rId31"/>
      <p:boldItalic r:id="rId32"/>
    </p:embeddedFont>
    <p:embeddedFont>
      <p:font typeface="Open Sans Light" panose="020B0306030504020204" pitchFamily="34" charset="0"/>
      <p:regular r:id="rId33"/>
      <p:italic r:id="rId34"/>
    </p:embeddedFont>
    <p:embeddedFont>
      <p:font typeface="Open Sans Semibold" panose="020B0606030504020204" pitchFamily="34" charset="0"/>
      <p:regular r:id="rId35"/>
      <p:bold r:id="rId36"/>
      <p:italic r:id="rId37"/>
      <p:boldItalic r:id="rId3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5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219" autoAdjust="0"/>
    <p:restoredTop sz="96197"/>
  </p:normalViewPr>
  <p:slideViewPr>
    <p:cSldViewPr snapToGrid="0" snapToObjects="1">
      <p:cViewPr varScale="1">
        <p:scale>
          <a:sx n="28" d="100"/>
          <a:sy n="28" d="100"/>
        </p:scale>
        <p:origin x="208" y="214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7.fntdata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437085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136664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815450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494236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173022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Background 02.jpg">
            <a:extLst>
              <a:ext uri="{FF2B5EF4-FFF2-40B4-BE49-F238E27FC236}">
                <a16:creationId xmlns:a16="http://schemas.microsoft.com/office/drawing/2014/main" id="{5E9439D9-58CE-C438-5024-900918FA24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575"/>
            <a:ext cx="24384000" cy="12928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9">
            <a:extLst>
              <a:ext uri="{FF2B5EF4-FFF2-40B4-BE49-F238E27FC236}">
                <a16:creationId xmlns:a16="http://schemas.microsoft.com/office/drawing/2014/main" id="{7A8C25BD-F319-4C45-1231-698E123EA6A3}"/>
              </a:ext>
            </a:extLst>
          </p:cNvPr>
          <p:cNvSpPr/>
          <p:nvPr userDrawn="1"/>
        </p:nvSpPr>
        <p:spPr>
          <a:xfrm>
            <a:off x="0" y="10315576"/>
            <a:ext cx="24384000" cy="3400424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sz="4800" b="0" i="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6933" y="4121696"/>
            <a:ext cx="18232304" cy="1584176"/>
          </a:xfrm>
        </p:spPr>
        <p:txBody>
          <a:bodyPr>
            <a:normAutofit/>
          </a:bodyPr>
          <a:lstStyle>
            <a:lvl1pPr algn="l">
              <a:defRPr sz="6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5096933" y="6858002"/>
            <a:ext cx="18232304" cy="6080844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5087211" y="5705872"/>
            <a:ext cx="18242027" cy="1008112"/>
          </a:xfrm>
        </p:spPr>
        <p:txBody>
          <a:bodyPr rtlCol="0" anchor="ctr">
            <a:normAutofit/>
          </a:bodyPr>
          <a:lstStyle>
            <a:lvl1pPr>
              <a:defRPr lang="id-ID" sz="4400" b="0" i="0" dirty="0">
                <a:solidFill>
                  <a:srgbClr val="0079B8"/>
                </a:solidFill>
                <a:latin typeface="Open Sans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subtitle style</a:t>
            </a:r>
            <a:endParaRPr lang="id-ID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844FF92-AFAA-0F6A-9AEF-114DE9CF286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B314F4A9-3917-40E8-BD28-C0DD49686833}" type="datetimeFigureOut">
              <a:rPr lang="id-ID" altLang="en-US" smtClean="0"/>
              <a:pPr>
                <a:defRPr/>
              </a:pPr>
              <a:t>04/11/24</a:t>
            </a:fld>
            <a:endParaRPr lang="id-ID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F5E07CC-C0C3-C8A2-0275-D753706EAE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7828D9-9E07-C21B-8C4E-ECBFDA05A3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000605" y="13076008"/>
            <a:ext cx="370294" cy="37959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B5C4D3-5B9B-4333-A046-65E8E2318A8F}" type="slidenum">
              <a:rPr lang="id-ID" altLang="en-US"/>
              <a:pPr>
                <a:defRPr/>
              </a:pPr>
              <a:t>‹#›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6456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  <p:sldLayoutId id="2147483689" r:id="rId24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COMP6100001 - Software engineering</a:t>
            </a:r>
          </a:p>
          <a:p>
            <a:r>
              <a:rPr lang="en-US" dirty="0"/>
              <a:t>Session 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Architecture Design Documentation and Patterns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Kenny Jingga, </a:t>
            </a:r>
            <a:r>
              <a:rPr lang="en-US" dirty="0" err="1"/>
              <a:t>S.Kom</a:t>
            </a:r>
            <a:r>
              <a:rPr lang="en-US" dirty="0"/>
              <a:t>., M.T.</a:t>
            </a:r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8506014" cy="803546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10 – Software Architecture Design Documentation and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20711673" cy="4522264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expected to be able to:</a:t>
            </a:r>
          </a:p>
          <a:p>
            <a:pPr marL="0" indent="0" algn="just">
              <a:buNone/>
            </a:pPr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altLang="en-US" sz="3600" dirty="0">
                <a:latin typeface="Open Sans" panose="020B0606030504020204" pitchFamily="34" charset="0"/>
              </a:rPr>
              <a:t>Understand the Importance of Documenting Software Architecture</a:t>
            </a:r>
          </a:p>
          <a:p>
            <a:pPr algn="just">
              <a:spcBef>
                <a:spcPts val="0"/>
              </a:spcBef>
            </a:pPr>
            <a:r>
              <a:rPr lang="en-US" altLang="en-US" sz="3600" dirty="0">
                <a:latin typeface="Open Sans" panose="020B0606030504020204" pitchFamily="34" charset="0"/>
              </a:rPr>
              <a:t>Identify Key Components of Architectural Documentation</a:t>
            </a:r>
          </a:p>
          <a:p>
            <a:pPr algn="just">
              <a:spcBef>
                <a:spcPts val="0"/>
              </a:spcBef>
            </a:pPr>
            <a:r>
              <a:rPr lang="en-US" altLang="en-US" sz="3600" dirty="0">
                <a:latin typeface="Open Sans" panose="020B0606030504020204" pitchFamily="34" charset="0"/>
              </a:rPr>
              <a:t>Introduce Common Architectural Patterns and Their Applications</a:t>
            </a:r>
          </a:p>
          <a:p>
            <a:pPr algn="just">
              <a:spcBef>
                <a:spcPts val="0"/>
              </a:spcBef>
            </a:pPr>
            <a:r>
              <a:rPr lang="en-US" altLang="en-US" sz="3600" dirty="0">
                <a:latin typeface="Open Sans" panose="020B0606030504020204" pitchFamily="34" charset="0"/>
              </a:rPr>
              <a:t>Apply Documentation Standards and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8557858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8943336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10 – Software Architecture Design Documentation and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20711673" cy="4522264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Documenting Software Architecture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Architecture Description Languages (ADLs)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Architectural Views: Logical, Development, Process, Physical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Evaluating and Validating Architecture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 to Architectural Patterns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Applying Documentation Standards and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481981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Documenting Software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Purpose of Architecture Documentation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Documentation provides a blueprint for system design and serves as a communication tool between developers, stakeholders, and project managers.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reasons include: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Ensuring design consistency across teams.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Providing a reference point for future maintenance and scaling.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Capturing architectural decisions and their justifications to support knowledge transfer.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An overview document for a banking app that includes system objectives, key decisions, and architectural constraints.</a:t>
            </a:r>
          </a:p>
        </p:txBody>
      </p:sp>
    </p:spTree>
    <p:extLst>
      <p:ext uri="{BB962C8B-B14F-4D97-AF65-F5344CB8AC3E}">
        <p14:creationId xmlns:p14="http://schemas.microsoft.com/office/powerpoint/2010/main" val="281318614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Documenting Software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Types of Architecture Documentation and levels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Overview Documents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High-level descriptions that outline system objectives, design choices, and constraints.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Detailed Design Documents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Technical documents specifying components, connections, data flow, and security measures.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Documentation Levels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High-Level Documentation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For non-technical stakeholders, providing a functional overview without technical specifics.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Low-Level Documentation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Focuses on code structures, algorithms, and system integration for technical team members.</a:t>
            </a:r>
          </a:p>
        </p:txBody>
      </p:sp>
    </p:spTree>
    <p:extLst>
      <p:ext uri="{BB962C8B-B14F-4D97-AF65-F5344CB8AC3E}">
        <p14:creationId xmlns:p14="http://schemas.microsoft.com/office/powerpoint/2010/main" val="105238278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 Description Languages (ADLS)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Definition and Role of ADLS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ADLs are specialized languages for describing system architecture, specifying components, connectors, and system configurations. They provide a formal way to capture the high-level design of software systems.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Examples of Common ADLs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UML (Unified Modeling Language)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Widely used to create visual diagrams like class, sequence, and use case diagrams.</a:t>
            </a: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Acme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research-focused ADL for defining architectural styles and patterns.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Facilitates early error detection and design improvements.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Enhances communication between design and implementation teams.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Supports automated code generation and design analysis.</a:t>
            </a:r>
          </a:p>
        </p:txBody>
      </p:sp>
    </p:spTree>
    <p:extLst>
      <p:ext uri="{BB962C8B-B14F-4D97-AF65-F5344CB8AC3E}">
        <p14:creationId xmlns:p14="http://schemas.microsoft.com/office/powerpoint/2010/main" val="149342304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Architectural 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Introduction to Architectural Views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Architectural views are perspectives on the system design created to address the needs of specific stakeholders.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Different views improve the understanding and analysis of the system’s structure and function.</a:t>
            </a:r>
          </a:p>
        </p:txBody>
      </p:sp>
    </p:spTree>
    <p:extLst>
      <p:ext uri="{BB962C8B-B14F-4D97-AF65-F5344CB8AC3E}">
        <p14:creationId xmlns:p14="http://schemas.microsoft.com/office/powerpoint/2010/main" val="111163789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Architectural 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ID" dirty="0"/>
              <a:t>Types of Views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Logical View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Illustrates the system’s main functionalities, focusing on interactions among major components.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Showing user interaction with login, dashboard, and account modules.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Development View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Describes the system from a developer's perspective, typically focusing on the organization of modules and layers.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Showing module dependencies for back-end and front-end teams.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 View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Highlights the runtime behavior of the system, including concurrency and communication among processes.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Tracking user actions through microservices in an e-commerce app.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Physical View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Represents the deployment aspect, including the physical hardware and network topology.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Illustrating server locations for a cloud-based application to meet scalability needs.</a:t>
            </a:r>
          </a:p>
        </p:txBody>
      </p:sp>
    </p:spTree>
    <p:extLst>
      <p:ext uri="{BB962C8B-B14F-4D97-AF65-F5344CB8AC3E}">
        <p14:creationId xmlns:p14="http://schemas.microsoft.com/office/powerpoint/2010/main" val="254311223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Architectural 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ID" dirty="0"/>
              <a:t>Choosing Relevant Views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6042363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Selecting views depends on the stakeholders' needs (business, developers, IT operations), ensuring that all functional and technical aspects are covered for the audience.</a:t>
            </a:r>
          </a:p>
        </p:txBody>
      </p:sp>
      <p:pic>
        <p:nvPicPr>
          <p:cNvPr id="1026" name="Picture 2" descr="As a software architect : r/ProgrammerHumor">
            <a:extLst>
              <a:ext uri="{FF2B5EF4-FFF2-40B4-BE49-F238E27FC236}">
                <a16:creationId xmlns:a16="http://schemas.microsoft.com/office/drawing/2014/main" id="{E78671F4-F99A-B658-B3A3-F6F606CFB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0" y="8428750"/>
            <a:ext cx="57150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16568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Evaluating and Validating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Importance of Architecture Evaluation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Regularly evaluating architecture ensures it aligns with the system’s non-functional requirements, such as scalability, security, and performance.</a:t>
            </a:r>
          </a:p>
        </p:txBody>
      </p:sp>
      <p:pic>
        <p:nvPicPr>
          <p:cNvPr id="2050" name="Picture 2" descr="Becoming-software-architect">
            <a:extLst>
              <a:ext uri="{FF2B5EF4-FFF2-40B4-BE49-F238E27FC236}">
                <a16:creationId xmlns:a16="http://schemas.microsoft.com/office/drawing/2014/main" id="{8A925120-ACCE-5751-A16C-9318088F4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1991" y="5152052"/>
            <a:ext cx="9124627" cy="6144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79774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Evaluating and Validating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Evaluation techniques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ATAM (Architecture Tradeoff Analysis Method)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Used to understand trade-offs in architectural decisions (e.g., security vs. performance).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Identifying architectural approaches, analyzing quality attributes, and evaluating trade-offs.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For a healthcare app, prioritizing security over system performance..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CBAM (Cost-Benefit Analysis Method)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Used to estimate the economic impact of architectural decisions.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Mapping architectural components to costs and expected benefits, helping to justify design decisions based on ROI.</a:t>
            </a:r>
          </a:p>
        </p:txBody>
      </p:sp>
    </p:spTree>
    <p:extLst>
      <p:ext uri="{BB962C8B-B14F-4D97-AF65-F5344CB8AC3E}">
        <p14:creationId xmlns:p14="http://schemas.microsoft.com/office/powerpoint/2010/main" val="271259030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Evaluating and Validating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Validation techniques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Prototyping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Developing a small-scale version to test assumptions about the architecture.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Simulations and Peer Reviews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Review the architecture with experts to identify potential improvements and detect flaws early.</a:t>
            </a:r>
          </a:p>
        </p:txBody>
      </p:sp>
    </p:spTree>
    <p:extLst>
      <p:ext uri="{BB962C8B-B14F-4D97-AF65-F5344CB8AC3E}">
        <p14:creationId xmlns:p14="http://schemas.microsoft.com/office/powerpoint/2010/main" val="5432894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Architectural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understanding Architectural Patterns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 fontScale="92500"/>
          </a:bodyPr>
          <a:lstStyle/>
          <a:p>
            <a:pPr algn="just"/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Patterns are established solutions for common design problems, helping architects ensure structural integrity and adaptability.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Common Patterns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Layered (n-Tier):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Organizes the system into separate layers, each responsible for a specific type of functionality. Use case: Suitable for systems requiring clear separation of concerns, such as an online store with separate UI, business logic, and data layers.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Client-Server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Distributes work between clients (requesters) and servers (providers). Use case: Widely used in database applications and distributed systems.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Microservices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Composes an application from loosely coupled, independently deployable services. Use case: Large systems requiring scalability, flexibility, and independent deployment.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Event-Driven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Focuses on real-time responsiveness, where events trigger processing within the system. Use case: Applications requiring quick response to data changes, like a social media feed.</a:t>
            </a:r>
          </a:p>
        </p:txBody>
      </p:sp>
    </p:spTree>
    <p:extLst>
      <p:ext uri="{BB962C8B-B14F-4D97-AF65-F5344CB8AC3E}">
        <p14:creationId xmlns:p14="http://schemas.microsoft.com/office/powerpoint/2010/main" val="5509378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Architectural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Pattern Selection and Trade-offs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Selecting patterns is based on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requirements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e.g., a microservices pattern suits scalability needs, while a layered pattern works for simpler systems with distinct layers.</a:t>
            </a:r>
          </a:p>
        </p:txBody>
      </p:sp>
    </p:spTree>
    <p:extLst>
      <p:ext uri="{BB962C8B-B14F-4D97-AF65-F5344CB8AC3E}">
        <p14:creationId xmlns:p14="http://schemas.microsoft.com/office/powerpoint/2010/main" val="136853964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Applying Documentation Standards and 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Importance of Standards in Documentation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Standards create uniformity in documentation, simplifying collaboration and ensuring that documentation remains useful over time.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Best Practices for Effective Documentation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Modularity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Organize documentation in self-contained sections for easy updates and reuse.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Version Control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Track documentation updates to maintain a history of architectural changes and decisions.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Continuous Updates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Synchronize documentation with system changes to avoid outdated or irrelevant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94267576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Applying Documentation Standards and 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Guidelines for selecting a notation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4715569" cy="10455337"/>
          </a:xfrm>
        </p:spPr>
        <p:txBody>
          <a:bodyPr anchor="ctr">
            <a:norm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Suitable for purpose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Often visual for compact representation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Usually, boxes and arrows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UML possible (semi-formal), but possibly constraining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Note the different abstraction level – Subsystems or processes, not classes or objects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Formal notations available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Decompose diagrams hierarchically and in views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Always include a legend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 precisely what the boxes mean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 precisely what the lines mean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 not try to do too much in one diagram 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view of architecture should fit on a page 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hierarchy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7D95AD-1B02-3880-5521-2C0DBE39D0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54"/>
          <a:stretch/>
        </p:blipFill>
        <p:spPr bwMode="auto">
          <a:xfrm>
            <a:off x="16882946" y="3260662"/>
            <a:ext cx="7547428" cy="954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83906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Applying Documentation Standards and 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Examples of Tools and Templates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2169109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Tools like Confluence, Google Docs, or JIRA provide templates that standardize architecture documents.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Confluence template for software architecture that includes sections for high-level design, component details, and dependencies.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7E7452-EB69-B9ED-4C77-CDD37A059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114" y="4157631"/>
            <a:ext cx="6350000" cy="866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15238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9A3-FB6E-DB3A-36BC-1DB5FA6C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2DA4-F8BE-01AB-0C23-B97B20B1A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9782-3C02-FAD4-699A-C827BC99AC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4602480"/>
            <a:ext cx="13714940" cy="7680960"/>
          </a:xfrm>
        </p:spPr>
        <p:txBody>
          <a:bodyPr>
            <a:noAutofit/>
          </a:bodyPr>
          <a:lstStyle/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Titus Winters, Tom </a:t>
            </a:r>
            <a:r>
              <a:rPr lang="en-US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Manshreck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Hyrum Wright. (2020). </a:t>
            </a:r>
            <a:r>
              <a:rPr lang="en-US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Engineering at Google: Lesson Learned from Programming Over Time.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1st. O’Reilly Media. California. ISBN: 978-1492082798.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Roger Pressman and Bruce Maxim. (2020). </a:t>
            </a:r>
            <a:r>
              <a:rPr lang="en-US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Engineering: A Practitioner's Approach.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9th. McGraw Hill. New York. ISBN: 978-1259872976.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Ian Sommerville. (2016). </a:t>
            </a:r>
            <a:r>
              <a:rPr lang="en-US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Engineering.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10th. Pearson. London. ISBN: 978-1-292-09613-1.</a:t>
            </a:r>
          </a:p>
        </p:txBody>
      </p:sp>
    </p:spTree>
    <p:extLst>
      <p:ext uri="{BB962C8B-B14F-4D97-AF65-F5344CB8AC3E}">
        <p14:creationId xmlns:p14="http://schemas.microsoft.com/office/powerpoint/2010/main" val="1976124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TaxCatchAll xmlns="9fdf624c-fedc-4f6c-b928-0c7bf4c9e100" xsi:nil="true"/>
    <_Flow_SignoffStatus xmlns="47793baa-3cbb-486e-a055-4d42ce3882d7" xsi:nil="true"/>
    <_dlc_DocId xmlns="9fdf624c-fedc-4f6c-b928-0c7bf4c9e100">J56STF5CZXNR-2061195910-875156</_dlc_DocId>
    <_dlc_DocIdUrl xmlns="9fdf624c-fedc-4f6c-b928-0c7bf4c9e100">
      <Url>https://binusianorg.sharepoint.com/sites/arc/_layouts/15/DocIdRedir.aspx?ID=J56STF5CZXNR-2061195910-875156</Url>
      <Description>J56STF5CZXNR-2061195910-875156</Description>
    </_dlc_DocIdUrl>
  </documentManagement>
</p:properties>
</file>

<file path=customXml/itemProps1.xml><?xml version="1.0" encoding="utf-8"?>
<ds:datastoreItem xmlns:ds="http://schemas.openxmlformats.org/officeDocument/2006/customXml" ds:itemID="{90A97211-242D-415A-8ADE-6F44C1D92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E0FE671-25D8-4116-9472-BF9297986C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DAE38A-8264-43C3-9B01-B7FA25F1060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C2252D89-D1E6-488A-B078-4573BAE073F6}">
  <ds:schemaRefs>
    <ds:schemaRef ds:uri="http://purl.org/dc/terms/"/>
    <ds:schemaRef ds:uri="2661c1c1-ed05-4275-a33d-64e31eb1ea6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f26481f-d1e8-4452-9a9a-b303515fd2b7"/>
    <ds:schemaRef ds:uri="http://schemas.microsoft.com/office/2006/metadata/properties"/>
    <ds:schemaRef ds:uri="http://purl.org/dc/dcmitype/"/>
    <ds:schemaRef ds:uri="http://schemas.microsoft.com/sharepoint/v3/fields"/>
    <ds:schemaRef ds:uri="9fdf624c-fedc-4f6c-b928-0c7bf4c9e100"/>
    <ds:schemaRef ds:uri="47793baa-3cbb-486e-a055-4d42ce3882d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13541</TotalTime>
  <Words>1252</Words>
  <Application>Microsoft Macintosh PowerPoint</Application>
  <PresentationFormat>Custom</PresentationFormat>
  <Paragraphs>116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Open Sans Light</vt:lpstr>
      <vt:lpstr>OCRB</vt:lpstr>
      <vt:lpstr>Open Sans Semibold</vt:lpstr>
      <vt:lpstr>Open Sans</vt:lpstr>
      <vt:lpstr>Arial</vt:lpstr>
      <vt:lpstr>Open Sans ExtraBold</vt:lpstr>
      <vt:lpstr>21_BasicWhite</vt:lpstr>
      <vt:lpstr>Software Architecture Design Documentation and Patterns</vt:lpstr>
      <vt:lpstr>Session 10 – Software Architecture Design Documentation and Patterns</vt:lpstr>
      <vt:lpstr>Session 10 – Software Architecture Design Documentation and Patterns</vt:lpstr>
      <vt:lpstr>Documenting Software Architecture</vt:lpstr>
      <vt:lpstr>Documenting Software Architecture</vt:lpstr>
      <vt:lpstr>Architecture Description Languages (ADLS)</vt:lpstr>
      <vt:lpstr>Creating Architectural Views</vt:lpstr>
      <vt:lpstr>Creating Architectural Views</vt:lpstr>
      <vt:lpstr>Creating Architectural Views</vt:lpstr>
      <vt:lpstr>Evaluating and Validating Architecture</vt:lpstr>
      <vt:lpstr>Evaluating and Validating Architecture</vt:lpstr>
      <vt:lpstr>Evaluating and Validating Architecture</vt:lpstr>
      <vt:lpstr>Introduction to Architectural Patterns</vt:lpstr>
      <vt:lpstr>Introduction to Architectural Patterns</vt:lpstr>
      <vt:lpstr>Applying Documentation Standards and Best Practices</vt:lpstr>
      <vt:lpstr>Applying Documentation Standards and Best Practices</vt:lpstr>
      <vt:lpstr>Applying Documentation Standards and Best Practices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Aris Priyanto</dc:creator>
  <cp:lastModifiedBy>Kenny Jingga</cp:lastModifiedBy>
  <cp:revision>53</cp:revision>
  <dcterms:created xsi:type="dcterms:W3CDTF">2023-04-06T08:40:27Z</dcterms:created>
  <dcterms:modified xsi:type="dcterms:W3CDTF">2024-11-04T16:45:56Z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a8e96856-29d3-47af-8f22-9a1c34492d36</vt:lpwstr>
  </property>
</Properties>
</file>