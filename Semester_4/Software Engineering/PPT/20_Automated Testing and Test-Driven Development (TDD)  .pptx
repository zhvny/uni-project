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25"/>
  </p:notesMasterIdLst>
  <p:sldIdLst>
    <p:sldId id="256" r:id="rId6"/>
    <p:sldId id="257" r:id="rId7"/>
    <p:sldId id="258" r:id="rId8"/>
    <p:sldId id="303" r:id="rId9"/>
    <p:sldId id="305" r:id="rId10"/>
    <p:sldId id="304" r:id="rId11"/>
    <p:sldId id="306" r:id="rId12"/>
    <p:sldId id="307" r:id="rId13"/>
    <p:sldId id="308" r:id="rId14"/>
    <p:sldId id="309" r:id="rId15"/>
    <p:sldId id="310" r:id="rId16"/>
    <p:sldId id="293" r:id="rId17"/>
    <p:sldId id="311" r:id="rId18"/>
    <p:sldId id="312" r:id="rId19"/>
    <p:sldId id="313" r:id="rId20"/>
    <p:sldId id="314" r:id="rId21"/>
    <p:sldId id="315" r:id="rId22"/>
    <p:sldId id="317" r:id="rId23"/>
    <p:sldId id="284" r:id="rId24"/>
  </p:sldIdLst>
  <p:sldSz cx="24384000" cy="13716000"/>
  <p:notesSz cx="6858000" cy="9144000"/>
  <p:embeddedFontLst>
    <p:embeddedFont>
      <p:font typeface="OCRB" panose="020B0609020202020204" pitchFamily="49" charset="0"/>
      <p:regular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Open Sans ExtraBold" panose="020B0906030804020204" pitchFamily="34" charset="0"/>
      <p:bold r:id="rId31"/>
      <p:italic r:id="rId32"/>
      <p:boldItalic r:id="rId33"/>
    </p:embeddedFont>
    <p:embeddedFont>
      <p:font typeface="Open Sans Light" panose="020B0306030504020204" pitchFamily="34" charset="0"/>
      <p:regular r:id="rId34"/>
      <p:italic r:id="rId35"/>
    </p:embeddedFont>
    <p:embeddedFont>
      <p:font typeface="Open Sans Semibold" panose="020B0706030804020204" pitchFamily="34" charset="0"/>
      <p:regular r:id="rId36"/>
      <p:bold r:id="rId37"/>
      <p:italic r:id="rId38"/>
      <p:boldItalic r:id="rId39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85" autoAdjust="0"/>
    <p:restoredTop sz="96197"/>
  </p:normalViewPr>
  <p:slideViewPr>
    <p:cSldViewPr snapToGrid="0" snapToObjects="1">
      <p:cViewPr varScale="1">
        <p:scale>
          <a:sx n="23" d="100"/>
          <a:sy n="23" d="100"/>
        </p:scale>
        <p:origin x="120" y="787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6.xml"/><Relationship Id="rId34" Type="http://schemas.openxmlformats.org/officeDocument/2006/relationships/font" Target="fonts/font9.fntdata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4.fntdata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6.fntdata"/><Relationship Id="rId44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lin Nasari" userId="2c02bce8-14a6-4f73-b14a-299518f8dfce" providerId="ADAL" clId="{973AE700-8634-4AC6-A10B-DFA7AFECB9DA}"/>
    <pc:docChg chg="modSld">
      <pc:chgData name="Maulin Nasari" userId="2c02bce8-14a6-4f73-b14a-299518f8dfce" providerId="ADAL" clId="{973AE700-8634-4AC6-A10B-DFA7AFECB9DA}" dt="2025-12-25T23:02:33.452" v="0" actId="1076"/>
      <pc:docMkLst>
        <pc:docMk/>
      </pc:docMkLst>
      <pc:sldChg chg="modSp mod">
        <pc:chgData name="Maulin Nasari" userId="2c02bce8-14a6-4f73-b14a-299518f8dfce" providerId="ADAL" clId="{973AE700-8634-4AC6-A10B-DFA7AFECB9DA}" dt="2025-12-25T23:02:33.452" v="0" actId="1076"/>
        <pc:sldMkLst>
          <pc:docMk/>
          <pc:sldMk cId="3855785854" sldId="257"/>
        </pc:sldMkLst>
        <pc:spChg chg="mod">
          <ac:chgData name="Maulin Nasari" userId="2c02bce8-14a6-4f73-b14a-299518f8dfce" providerId="ADAL" clId="{973AE700-8634-4AC6-A10B-DFA7AFECB9DA}" dt="2025-12-25T23:02:33.452" v="0" actId="1076"/>
          <ac:spMkLst>
            <pc:docMk/>
            <pc:sldMk cId="3855785854" sldId="257"/>
            <ac:spMk id="4" creationId="{76E358E3-B24E-F7A5-ECF8-12101774A9E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437085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136664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815450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494236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173022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COMP6100001 - Software engineering</a:t>
            </a:r>
          </a:p>
          <a:p>
            <a:r>
              <a:rPr lang="en-US" dirty="0"/>
              <a:t>Session 20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Automated testing and Test-Driven Development (TDD)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Kenny Jingga, </a:t>
            </a:r>
            <a:r>
              <a:rPr lang="en-US" dirty="0" err="1"/>
              <a:t>S.Kom</a:t>
            </a:r>
            <a:r>
              <a:rPr lang="en-US" dirty="0"/>
              <a:t>., M.T.</a:t>
            </a:r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6" y="1872058"/>
            <a:ext cx="17492223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20 – Automated testing and Test-Driven Development (TDD)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923776"/>
            <a:ext cx="20711673" cy="8381568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expected to be able to: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Understand the fundamentals and benefits of automated testing.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Explore popular test automation frameworks and tools.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Grasp the principles and practices of Test-Driven Development (TDD).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Implement TDD in projects and integrate it into continuous integration (CI) workflows.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Apply best practices for maintaining reliable automated tests.</a:t>
            </a:r>
          </a:p>
        </p:txBody>
      </p:sp>
    </p:spTree>
    <p:extLst>
      <p:ext uri="{BB962C8B-B14F-4D97-AF65-F5344CB8AC3E}">
        <p14:creationId xmlns:p14="http://schemas.microsoft.com/office/powerpoint/2010/main" val="38557858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516286" cy="803546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20 – Automated testing and Test-Driven Development (TDD)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4177145"/>
            <a:ext cx="20711673" cy="8000999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 to Automated Testing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Benefits and Challenges of Automation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 Automation Frameworks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Principles of Test-Driven Development (TDD)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Implementing TDD in Software Projects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Continuous Integration and Automated Testing Integration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Best Practices for Maintaining Automated Tests</a:t>
            </a:r>
          </a:p>
        </p:txBody>
      </p:sp>
    </p:spTree>
    <p:extLst>
      <p:ext uri="{BB962C8B-B14F-4D97-AF65-F5344CB8AC3E}">
        <p14:creationId xmlns:p14="http://schemas.microsoft.com/office/powerpoint/2010/main" val="4819818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Automated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7"/>
            <a:ext cx="17708791" cy="840936"/>
          </a:xfrm>
        </p:spPr>
        <p:txBody>
          <a:bodyPr>
            <a:normAutofit/>
          </a:bodyPr>
          <a:lstStyle/>
          <a:p>
            <a:r>
              <a:rPr lang="en-US" dirty="0"/>
              <a:t>Why?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4C1A960-AB22-B4F9-7ACE-D6ED17755AEC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376" y="3298051"/>
            <a:ext cx="9094182" cy="885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A927EF0-7C4A-3117-9B4E-F5D416462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2444" y="4523857"/>
            <a:ext cx="10532667" cy="640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24994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Automated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7"/>
            <a:ext cx="17708791" cy="840936"/>
          </a:xfrm>
        </p:spPr>
        <p:txBody>
          <a:bodyPr>
            <a:normAutofit/>
          </a:bodyPr>
          <a:lstStyle/>
          <a:p>
            <a:r>
              <a:rPr lang="en-US" dirty="0"/>
              <a:t>But..</a:t>
            </a:r>
          </a:p>
        </p:txBody>
      </p:sp>
      <p:pic>
        <p:nvPicPr>
          <p:cNvPr id="6" name="Picture 4" descr="thisIsProbablyTooTechnicalForYouAsTester : r/ProgrammerHumor">
            <a:extLst>
              <a:ext uri="{FF2B5EF4-FFF2-40B4-BE49-F238E27FC236}">
                <a16:creationId xmlns:a16="http://schemas.microsoft.com/office/drawing/2014/main" id="{A39AB7C6-27FA-1A81-C8DB-7E7753346EE3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688" y="3691376"/>
            <a:ext cx="10024624" cy="1002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45567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Automated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7"/>
            <a:ext cx="17708791" cy="840936"/>
          </a:xfrm>
        </p:spPr>
        <p:txBody>
          <a:bodyPr>
            <a:normAutofit/>
          </a:bodyPr>
          <a:lstStyle/>
          <a:p>
            <a:r>
              <a:rPr lang="en-US" dirty="0"/>
              <a:t>Definition and Role of Automated Testing in Software Engineering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 testing is the process of using scripts or tools to execute pre-designed tests on software, which can validate functionality, performance, and other attributes automatically.</a:t>
            </a:r>
          </a:p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Using a script to test login functionality automatically each time code is updated.</a:t>
            </a:r>
          </a:p>
          <a:p>
            <a:pPr marL="0" indent="0">
              <a:buNone/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Role of Automated Testing in Software Engineering</a:t>
            </a:r>
          </a:p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 testing accelerates validation cycles and ensures consistency across tests, crucial for projects that follow Agile practices with frequent releases.</a:t>
            </a:r>
          </a:p>
        </p:txBody>
      </p:sp>
    </p:spTree>
    <p:extLst>
      <p:ext uri="{BB962C8B-B14F-4D97-AF65-F5344CB8AC3E}">
        <p14:creationId xmlns:p14="http://schemas.microsoft.com/office/powerpoint/2010/main" val="375603345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Automated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7"/>
            <a:ext cx="17708791" cy="840936"/>
          </a:xfrm>
        </p:spPr>
        <p:txBody>
          <a:bodyPr>
            <a:normAutofit/>
          </a:bodyPr>
          <a:lstStyle/>
          <a:p>
            <a:r>
              <a:rPr lang="en-US" dirty="0"/>
              <a:t>Types of Automated Tests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Unit Tests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Validate individual functions or methods.</a:t>
            </a:r>
          </a:p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Integration Tests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Verify interactions between components.</a:t>
            </a:r>
          </a:p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End-to-End (E2E) Tests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Test complete workflows, often from a user perspective.</a:t>
            </a:r>
          </a:p>
        </p:txBody>
      </p:sp>
    </p:spTree>
    <p:extLst>
      <p:ext uri="{BB962C8B-B14F-4D97-AF65-F5344CB8AC3E}">
        <p14:creationId xmlns:p14="http://schemas.microsoft.com/office/powerpoint/2010/main" val="52324782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Benefits and Challenges of Automation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7"/>
            <a:ext cx="17708791" cy="840936"/>
          </a:xfrm>
        </p:spPr>
        <p:txBody>
          <a:bodyPr>
            <a:normAutofit/>
          </a:bodyPr>
          <a:lstStyle/>
          <a:p>
            <a:r>
              <a:rPr lang="en-US" dirty="0"/>
              <a:t>Benefits of test Automation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Increased Testing Speed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Automated tests run faster than manual testing, saving time during the development process.</a:t>
            </a:r>
          </a:p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Improved Test Coverage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Automation enables broader coverage with repetitive testing across multiple scenarios.</a:t>
            </a:r>
          </a:p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Early Defect Detection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Automated tests can run with each code commit, catching defects early before they escalate.</a:t>
            </a:r>
          </a:p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Consistency and Reliability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Automation reduces human error, ensuring test results remain consistent.</a:t>
            </a:r>
          </a:p>
        </p:txBody>
      </p:sp>
    </p:spTree>
    <p:extLst>
      <p:ext uri="{BB962C8B-B14F-4D97-AF65-F5344CB8AC3E}">
        <p14:creationId xmlns:p14="http://schemas.microsoft.com/office/powerpoint/2010/main" val="140580350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Benefits and Challenges of Automation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7"/>
            <a:ext cx="17708791" cy="840936"/>
          </a:xfrm>
        </p:spPr>
        <p:txBody>
          <a:bodyPr>
            <a:normAutofit/>
          </a:bodyPr>
          <a:lstStyle/>
          <a:p>
            <a:r>
              <a:rPr lang="en-US" dirty="0"/>
              <a:t>Challenges of test Automation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Initial Setup Costs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High setup and maintenance costs for scripts, tools, and frameworks.</a:t>
            </a:r>
          </a:p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False Positives/Negatives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Poorly designed tests can lead to misleading results.</a:t>
            </a:r>
          </a:p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Maintenance Overhead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Tests must evolve as code changes, requiring regular updates to avoid test decay.</a:t>
            </a:r>
          </a:p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 Suitable for All Tests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Manual exploratory tests remain essential for usability, UX, and edge cases.</a:t>
            </a:r>
          </a:p>
        </p:txBody>
      </p:sp>
    </p:spTree>
    <p:extLst>
      <p:ext uri="{BB962C8B-B14F-4D97-AF65-F5344CB8AC3E}">
        <p14:creationId xmlns:p14="http://schemas.microsoft.com/office/powerpoint/2010/main" val="30694951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 Automation Frameworks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7"/>
            <a:ext cx="17708791" cy="840936"/>
          </a:xfrm>
        </p:spPr>
        <p:txBody>
          <a:bodyPr>
            <a:normAutofit/>
          </a:bodyPr>
          <a:lstStyle/>
          <a:p>
            <a:r>
              <a:rPr lang="en-US" dirty="0"/>
              <a:t>Role Of Test Automation Frameworks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10455337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Frameworks provide standardized tools and libraries to streamline writing, executing, and managing automated tests.</a:t>
            </a:r>
          </a:p>
          <a:p>
            <a:pPr>
              <a:spcBef>
                <a:spcPts val="0"/>
              </a:spcBef>
            </a:pPr>
            <a:endParaRPr lang="en-US" sz="3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Examples of Popular Frameworks</a:t>
            </a:r>
          </a:p>
          <a:p>
            <a:pPr lvl="1">
              <a:spcBef>
                <a:spcPts val="0"/>
              </a:spcBef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JUnit (Java)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2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popular unit testing framework for Java applications.</a:t>
            </a:r>
          </a:p>
          <a:p>
            <a:pPr lvl="2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Supports annotations (e.g., @Test, @Before, @After) for test setup and teardown.</a:t>
            </a:r>
          </a:p>
          <a:p>
            <a:pPr lvl="2">
              <a:spcBef>
                <a:spcPts val="0"/>
              </a:spcBef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Writing a simple unit test for a method that calculates the sum of two numbers.</a:t>
            </a:r>
          </a:p>
          <a:p>
            <a:pPr lvl="1">
              <a:spcBef>
                <a:spcPts val="0"/>
              </a:spcBef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Selenium (Web Testing)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2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tool for automating web browser interactions, suitable for end-to-end testing of web applications.</a:t>
            </a:r>
          </a:p>
          <a:p>
            <a:pPr lvl="2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Allows testing of workflows like login, form submissions, and navigation.</a:t>
            </a:r>
          </a:p>
          <a:p>
            <a:pPr lvl="2">
              <a:spcBef>
                <a:spcPts val="0"/>
              </a:spcBef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Automating a test to validate form submission on a web page.</a:t>
            </a:r>
          </a:p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Choosing the Right Framework: Discuss factors to consider, such as the application type (web, mobile, desktop) and integration with CI tools.</a:t>
            </a:r>
          </a:p>
        </p:txBody>
      </p:sp>
    </p:spTree>
    <p:extLst>
      <p:ext uri="{BB962C8B-B14F-4D97-AF65-F5344CB8AC3E}">
        <p14:creationId xmlns:p14="http://schemas.microsoft.com/office/powerpoint/2010/main" val="212858821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Principles of Test-Driven Development (TDD)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7"/>
            <a:ext cx="17708791" cy="840936"/>
          </a:xfrm>
        </p:spPr>
        <p:txBody>
          <a:bodyPr>
            <a:normAutofit/>
          </a:bodyPr>
          <a:lstStyle/>
          <a:p>
            <a:r>
              <a:rPr lang="en-US" dirty="0"/>
              <a:t>Definition of TDD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1819337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TDD is a development approach where tests are written before code, guiding the design and development process to meet specified behavior.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6CD8AB2-43CE-4BC2-586A-F827513E7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0" y="5080000"/>
            <a:ext cx="7937500" cy="86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90046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Principles of Test-Driven Development (TDD)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TDD Cycle (Red-Green-Refactor)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3B8C01-7773-BFA5-2E3A-0D5CD26FFF81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800" y="3260663"/>
            <a:ext cx="18900399" cy="1012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045256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Principles of Test-Driven Development (TDD)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7"/>
            <a:ext cx="17708791" cy="840936"/>
          </a:xfrm>
        </p:spPr>
        <p:txBody>
          <a:bodyPr>
            <a:normAutofit/>
          </a:bodyPr>
          <a:lstStyle/>
          <a:p>
            <a:r>
              <a:rPr lang="en-US" dirty="0"/>
              <a:t>The TDD Cycle (Red-Green-Refactor)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 (Write a Failing Test):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Start with a test that defines a small improvement or new feature. This initial test should fail as there's no existing code to make it pass.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Green (Write the Minimum Code):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Write the minimum amount of code to make the failing test pass. The emphasis is on simplicity and meeting the test requirements.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Refactor (Improve the Code):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Refactor the code without changing its behavior. The goal is to enhance the code's structure, readability, and efficiency while maintaining the passing test.</a:t>
            </a:r>
          </a:p>
          <a:p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TDD for a function that calculates factorials. Write a failing test for input, implement basic functionality to pass, and refine for edge cases.</a:t>
            </a:r>
          </a:p>
        </p:txBody>
      </p:sp>
    </p:spTree>
    <p:extLst>
      <p:ext uri="{BB962C8B-B14F-4D97-AF65-F5344CB8AC3E}">
        <p14:creationId xmlns:p14="http://schemas.microsoft.com/office/powerpoint/2010/main" val="269609516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Principles of Test-Driven Development (TDD)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7"/>
            <a:ext cx="17708791" cy="840936"/>
          </a:xfrm>
        </p:spPr>
        <p:txBody>
          <a:bodyPr>
            <a:normAutofit/>
          </a:bodyPr>
          <a:lstStyle/>
          <a:p>
            <a:r>
              <a:rPr lang="en-US" dirty="0"/>
              <a:t>Key TDD Principles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Small, Incremental Changes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Code is added in small, testable steps.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Focus on Requirements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Tests define specific behaviors to ensure code meets requirements.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Refactoring Confidence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Ensures safe refactoring without breaking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87540308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TDD in Software Projects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7"/>
            <a:ext cx="17708791" cy="840936"/>
          </a:xfrm>
        </p:spPr>
        <p:txBody>
          <a:bodyPr>
            <a:normAutofit/>
          </a:bodyPr>
          <a:lstStyle/>
          <a:p>
            <a:r>
              <a:rPr lang="en-US" dirty="0"/>
              <a:t>Basic TDD implementation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10455337"/>
          </a:xfrm>
        </p:spPr>
        <p:txBody>
          <a:bodyPr anchor="ctr">
            <a:normAutofit fontScale="92500" lnSpcReduction="20000"/>
          </a:bodyPr>
          <a:lstStyle/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Setting Up TDD in a Project</a:t>
            </a:r>
          </a:p>
          <a:p>
            <a:pPr lvl="1"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Establish a test framework, such as JUnit or </a:t>
            </a:r>
            <a:r>
              <a:rPr lang="en-US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PyTest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lvl="1"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 small, clear requirements to convert into tests.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 Workflow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 1: Write a failing test for a function that returns the maximum of two numbers.</a:t>
            </a:r>
          </a:p>
          <a:p>
            <a:pPr lvl="1"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 2: Implement the function to make the test pass.</a:t>
            </a:r>
          </a:p>
          <a:p>
            <a:pPr lvl="1"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 3: Refactor the function if necessary and run tests again.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Tips for Successful TDD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Focus on one test at a time.</a:t>
            </a:r>
          </a:p>
          <a:p>
            <a:pPr lvl="1"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Avoid over-engineering; only write code necessary to pass tests.</a:t>
            </a:r>
          </a:p>
          <a:p>
            <a:pPr lvl="1"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Continually refactor to improve code quality.</a:t>
            </a:r>
          </a:p>
        </p:txBody>
      </p:sp>
    </p:spTree>
    <p:extLst>
      <p:ext uri="{BB962C8B-B14F-4D97-AF65-F5344CB8AC3E}">
        <p14:creationId xmlns:p14="http://schemas.microsoft.com/office/powerpoint/2010/main" val="348831803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6610480" cy="547669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Continuous Integration and Automated Testing Integration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7"/>
            <a:ext cx="17708791" cy="840936"/>
          </a:xfrm>
        </p:spPr>
        <p:txBody>
          <a:bodyPr>
            <a:normAutofit/>
          </a:bodyPr>
          <a:lstStyle/>
          <a:p>
            <a:r>
              <a:rPr lang="en-US" dirty="0"/>
              <a:t>CI Concepts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10455337"/>
          </a:xfrm>
        </p:spPr>
        <p:txBody>
          <a:bodyPr anchor="ctr">
            <a:normAutofit fontScale="92500"/>
          </a:bodyPr>
          <a:lstStyle/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Continuous Integration (CI)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a practice where developers frequently integrate code into a shared repository. Automated tests are run as part of this process to detect integration issues early.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Integrating Automated Testing into CI</a:t>
            </a:r>
          </a:p>
          <a:p>
            <a:pPr lvl="1"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CI tools (e.g., Jenkins, GitHub Actions, GitLab CI) to automatically trigger test runs on each commit.</a:t>
            </a:r>
          </a:p>
          <a:p>
            <a:pPr lvl="1"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Setting up GitHub Actions to run JUnit tests with each pull request.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Benefits of CI and Automated Testing Integration</a:t>
            </a:r>
          </a:p>
          <a:p>
            <a:pPr lvl="1"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Immediate Feedback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Test failures are detected immediately, helping to resolve issues quickly.</a:t>
            </a:r>
          </a:p>
          <a:p>
            <a:pPr lvl="1"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Improved Collaboration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Team members can check if new code impacts existing functionality.</a:t>
            </a:r>
          </a:p>
          <a:p>
            <a:pPr lvl="1"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Reduced Risk of Integration Issues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Regular integration reduces last-minute issues.</a:t>
            </a:r>
          </a:p>
        </p:txBody>
      </p:sp>
    </p:spTree>
    <p:extLst>
      <p:ext uri="{BB962C8B-B14F-4D97-AF65-F5344CB8AC3E}">
        <p14:creationId xmlns:p14="http://schemas.microsoft.com/office/powerpoint/2010/main" val="410977119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6610480" cy="547669"/>
          </a:xfrm>
        </p:spPr>
        <p:txBody>
          <a:bodyPr>
            <a:normAutofit fontScale="90000"/>
          </a:bodyPr>
          <a:lstStyle/>
          <a:p>
            <a:r>
              <a:rPr lang="en-US" dirty="0"/>
              <a:t>Best Practices for Maintaining Automated Tests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7"/>
            <a:ext cx="17708791" cy="840936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10455337"/>
          </a:xfrm>
        </p:spPr>
        <p:txBody>
          <a:bodyPr anchor="ctr">
            <a:normAutofit lnSpcReduction="10000"/>
          </a:bodyPr>
          <a:lstStyle/>
          <a:p>
            <a:pPr marL="742950" indent="-742950" algn="just">
              <a:buFont typeface="+mj-lt"/>
              <a:buAutoNum type="arabicPeriod"/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Write Clear and Maintainable Tests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Use descriptive names for test cases and organize them logically for easy understanding.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Keep Tests Independent and Isolated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Ensure each test is independent to avoid order dependencies. This makes debugging easier and tests more reliable.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Regularly Review and Refactor Tests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As code evolves, tests need to be updated to reflect changes. Refactor to avoid outdated or redundant tests.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Balance Test Coverage with Practicality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Aim for meaningful coverage rather than striving for 100% coverage; focus on critical paths.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Manage Test Data and Environments Carefully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Consistent test data and stable environments are essential for reliable automated tests.</a:t>
            </a:r>
          </a:p>
          <a:p>
            <a:pPr marL="0" indent="0" algn="just">
              <a:buNone/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 Scenario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a shopping cart feature, maintain independent tests for adding, removing, and updating items to ensure modularity and flexibility.</a:t>
            </a:r>
          </a:p>
        </p:txBody>
      </p:sp>
    </p:spTree>
    <p:extLst>
      <p:ext uri="{BB962C8B-B14F-4D97-AF65-F5344CB8AC3E}">
        <p14:creationId xmlns:p14="http://schemas.microsoft.com/office/powerpoint/2010/main" val="186936337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6610480" cy="547669"/>
          </a:xfrm>
        </p:spPr>
        <p:txBody>
          <a:bodyPr>
            <a:normAutofit fontScale="90000"/>
          </a:bodyPr>
          <a:lstStyle/>
          <a:p>
            <a:r>
              <a:rPr lang="en-US" dirty="0"/>
              <a:t>Best Practices for Maintaining Automated Tests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7"/>
            <a:ext cx="17708791" cy="840936"/>
          </a:xfrm>
        </p:spPr>
        <p:txBody>
          <a:bodyPr>
            <a:normAutofit/>
          </a:bodyPr>
          <a:lstStyle/>
          <a:p>
            <a:r>
              <a:rPr lang="en-US" dirty="0"/>
              <a:t>Be Careful…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855DCE7-E4D3-6D7F-BA4A-2C9F1E0A2FC9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87" y="7236744"/>
            <a:ext cx="9879584" cy="623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artoon person with orange hair and red hair&#10;&#10;Description automatically generated">
            <a:extLst>
              <a:ext uri="{FF2B5EF4-FFF2-40B4-BE49-F238E27FC236}">
                <a16:creationId xmlns:a16="http://schemas.microsoft.com/office/drawing/2014/main" id="{7E60DA68-368C-8C91-F17F-75CAA1C3C0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628" y="2793853"/>
            <a:ext cx="5768281" cy="4216020"/>
          </a:xfrm>
          <a:prstGeom prst="rect">
            <a:avLst/>
          </a:prstGeom>
        </p:spPr>
      </p:pic>
      <p:pic>
        <p:nvPicPr>
          <p:cNvPr id="6148" name="Picture 4" descr="BDD &gt; TDD – ProgrammerHumor.io">
            <a:extLst>
              <a:ext uri="{FF2B5EF4-FFF2-40B4-BE49-F238E27FC236}">
                <a16:creationId xmlns:a16="http://schemas.microsoft.com/office/drawing/2014/main" id="{0EC28903-8117-3A29-B17F-007F557A3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6682" y="5263195"/>
            <a:ext cx="8979131" cy="8209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27090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C9A3-FB6E-DB3A-36BC-1DB5FA6C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E2DA4-F8BE-01AB-0C23-B97B20B1A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9782-3C02-FAD4-699A-C827BC99AC3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algn="just"/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Titus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Winters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Tom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Manshreck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Hyrum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Wright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(2020).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Engineering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Google: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Lesson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Learned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Programming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Over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1st.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O’Reilly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Media. California. ISBN: 978-1492082798.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Roger Pressman and Bruce Maxim. (2020). </a:t>
            </a:r>
            <a:r>
              <a:rPr lang="en-US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Engineering: A Practitioner's Approach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9th E. McGraw- Hill. New York. ISBN: 9781259872976. </a:t>
            </a:r>
          </a:p>
        </p:txBody>
      </p:sp>
    </p:spTree>
    <p:extLst>
      <p:ext uri="{BB962C8B-B14F-4D97-AF65-F5344CB8AC3E}">
        <p14:creationId xmlns:p14="http://schemas.microsoft.com/office/powerpoint/2010/main" val="1976124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TaxCatchAll xmlns="9fdf624c-fedc-4f6c-b928-0c7bf4c9e100" xsi:nil="true"/>
    <_Flow_SignoffStatus xmlns="47793baa-3cbb-486e-a055-4d42ce3882d7" xsi:nil="true"/>
    <_dlc_DocId xmlns="9fdf624c-fedc-4f6c-b928-0c7bf4c9e100">J56STF5CZXNR-2061195910-875156</_dlc_DocId>
    <_dlc_DocIdUrl xmlns="9fdf624c-fedc-4f6c-b928-0c7bf4c9e100">
      <Url>https://binusianorg.sharepoint.com/sites/arc/_layouts/15/DocIdRedir.aspx?ID=J56STF5CZXNR-2061195910-875156</Url>
      <Description>J56STF5CZXNR-2061195910-875156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0FE671-25D8-4116-9472-BF9297986C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252D89-D1E6-488A-B078-4573BAE073F6}">
  <ds:schemaRefs>
    <ds:schemaRef ds:uri="http://purl.org/dc/terms/"/>
    <ds:schemaRef ds:uri="2661c1c1-ed05-4275-a33d-64e31eb1ea69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f26481f-d1e8-4452-9a9a-b303515fd2b7"/>
    <ds:schemaRef ds:uri="http://schemas.microsoft.com/office/2006/metadata/properties"/>
    <ds:schemaRef ds:uri="http://purl.org/dc/dcmitype/"/>
    <ds:schemaRef ds:uri="http://schemas.microsoft.com/sharepoint/v3/fields"/>
    <ds:schemaRef ds:uri="9fdf624c-fedc-4f6c-b928-0c7bf4c9e100"/>
    <ds:schemaRef ds:uri="47793baa-3cbb-486e-a055-4d42ce3882d7"/>
  </ds:schemaRefs>
</ds:datastoreItem>
</file>

<file path=customXml/itemProps3.xml><?xml version="1.0" encoding="utf-8"?>
<ds:datastoreItem xmlns:ds="http://schemas.openxmlformats.org/officeDocument/2006/customXml" ds:itemID="{CDDAE38A-8264-43C3-9B01-B7FA25F1060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90A97211-242D-415A-8ADE-6F44C1D92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2022</Template>
  <TotalTime>4476</TotalTime>
  <Words>1312</Words>
  <Application>Microsoft Office PowerPoint</Application>
  <PresentationFormat>Custom</PresentationFormat>
  <Paragraphs>117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Open Sans ExtraBold</vt:lpstr>
      <vt:lpstr>Open Sans</vt:lpstr>
      <vt:lpstr>Open Sans Semibold</vt:lpstr>
      <vt:lpstr>Open Sans Light</vt:lpstr>
      <vt:lpstr>OCRB</vt:lpstr>
      <vt:lpstr>21_BasicWhite</vt:lpstr>
      <vt:lpstr>Automated testing and Test-Driven Development (TDD)</vt:lpstr>
      <vt:lpstr>Session 20 – Automated testing and Test-Driven Development (TDD)</vt:lpstr>
      <vt:lpstr>Session 20 – Automated testing and Test-Driven Development (TDD)</vt:lpstr>
      <vt:lpstr>Introduction to Automated Testing</vt:lpstr>
      <vt:lpstr>Introduction to Automated Testing</vt:lpstr>
      <vt:lpstr>Introduction to Automated Testing</vt:lpstr>
      <vt:lpstr>Introduction to Automated Testing</vt:lpstr>
      <vt:lpstr>Benefits and Challenges of Automation</vt:lpstr>
      <vt:lpstr>Benefits and Challenges of Automation</vt:lpstr>
      <vt:lpstr>Test Automation Frameworks</vt:lpstr>
      <vt:lpstr>Principles of Test-Driven Development (TDD)</vt:lpstr>
      <vt:lpstr>Principles of Test-Driven Development (TDD)</vt:lpstr>
      <vt:lpstr>Principles of Test-Driven Development (TDD)</vt:lpstr>
      <vt:lpstr>Principles of Test-Driven Development (TDD)</vt:lpstr>
      <vt:lpstr>Implementing TDD in Software Projects</vt:lpstr>
      <vt:lpstr>Continuous Integration and Automated Testing Integration</vt:lpstr>
      <vt:lpstr>Best Practices for Maintaining Automated Tests</vt:lpstr>
      <vt:lpstr>Best Practices for Maintaining Automated Tests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Aris Priyanto</dc:creator>
  <cp:lastModifiedBy>Maulin Nasari</cp:lastModifiedBy>
  <cp:revision>87</cp:revision>
  <dcterms:created xsi:type="dcterms:W3CDTF">2023-04-06T08:40:27Z</dcterms:created>
  <dcterms:modified xsi:type="dcterms:W3CDTF">2025-12-25T23:02:38Z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a8e96856-29d3-47af-8f22-9a1c34492d36</vt:lpwstr>
  </property>
</Properties>
</file>