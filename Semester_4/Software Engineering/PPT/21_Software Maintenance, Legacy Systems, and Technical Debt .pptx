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5"/>
  </p:sldMasterIdLst>
  <p:notesMasterIdLst>
    <p:notesMasterId r:id="rId59"/>
  </p:notesMasterIdLst>
  <p:sldIdLst>
    <p:sldId id="256" r:id="rId6"/>
    <p:sldId id="257" r:id="rId7"/>
    <p:sldId id="258" r:id="rId8"/>
    <p:sldId id="262" r:id="rId9"/>
    <p:sldId id="301" r:id="rId10"/>
    <p:sldId id="283" r:id="rId11"/>
    <p:sldId id="286" r:id="rId12"/>
    <p:sldId id="287" r:id="rId13"/>
    <p:sldId id="303" r:id="rId14"/>
    <p:sldId id="304" r:id="rId15"/>
    <p:sldId id="306" r:id="rId16"/>
    <p:sldId id="307" r:id="rId17"/>
    <p:sldId id="341" r:id="rId18"/>
    <p:sldId id="343" r:id="rId19"/>
    <p:sldId id="342" r:id="rId20"/>
    <p:sldId id="353" r:id="rId21"/>
    <p:sldId id="344" r:id="rId22"/>
    <p:sldId id="345" r:id="rId23"/>
    <p:sldId id="288" r:id="rId24"/>
    <p:sldId id="289" r:id="rId25"/>
    <p:sldId id="290" r:id="rId26"/>
    <p:sldId id="292" r:id="rId27"/>
    <p:sldId id="293" r:id="rId28"/>
    <p:sldId id="294" r:id="rId29"/>
    <p:sldId id="295" r:id="rId30"/>
    <p:sldId id="296" r:id="rId31"/>
    <p:sldId id="346" r:id="rId32"/>
    <p:sldId id="347" r:id="rId33"/>
    <p:sldId id="297" r:id="rId34"/>
    <p:sldId id="298" r:id="rId35"/>
    <p:sldId id="299" r:id="rId36"/>
    <p:sldId id="300" r:id="rId37"/>
    <p:sldId id="348" r:id="rId38"/>
    <p:sldId id="349" r:id="rId39"/>
    <p:sldId id="350" r:id="rId40"/>
    <p:sldId id="291" r:id="rId41"/>
    <p:sldId id="351" r:id="rId42"/>
    <p:sldId id="308" r:id="rId43"/>
    <p:sldId id="352" r:id="rId44"/>
    <p:sldId id="309" r:id="rId45"/>
    <p:sldId id="310" r:id="rId46"/>
    <p:sldId id="311" r:id="rId47"/>
    <p:sldId id="312" r:id="rId48"/>
    <p:sldId id="313" r:id="rId49"/>
    <p:sldId id="314" r:id="rId50"/>
    <p:sldId id="315" r:id="rId51"/>
    <p:sldId id="316" r:id="rId52"/>
    <p:sldId id="317" r:id="rId53"/>
    <p:sldId id="318" r:id="rId54"/>
    <p:sldId id="319" r:id="rId55"/>
    <p:sldId id="320" r:id="rId56"/>
    <p:sldId id="321" r:id="rId57"/>
    <p:sldId id="284" r:id="rId58"/>
  </p:sldIdLst>
  <p:sldSz cx="24384000" cy="13716000"/>
  <p:notesSz cx="6858000" cy="9144000"/>
  <p:embeddedFontLst>
    <p:embeddedFont>
      <p:font typeface="OCRB" panose="020B0609020202020204" pitchFamily="49" charset="0"/>
      <p:regular r:id="rId60"/>
    </p:embeddedFont>
    <p:embeddedFont>
      <p:font typeface="Open Sans" panose="020B0606030504020204" pitchFamily="34" charset="0"/>
      <p:regular r:id="rId61"/>
      <p:bold r:id="rId62"/>
      <p:italic r:id="rId63"/>
      <p:boldItalic r:id="rId64"/>
    </p:embeddedFont>
    <p:embeddedFont>
      <p:font typeface="Open Sans ExtraBold" panose="020B0906030804020204" pitchFamily="34" charset="0"/>
      <p:bold r:id="rId65"/>
      <p:italic r:id="rId66"/>
      <p:boldItalic r:id="rId67"/>
    </p:embeddedFont>
    <p:embeddedFont>
      <p:font typeface="Open Sans Light" panose="020B0306030504020204" pitchFamily="34" charset="0"/>
      <p:regular r:id="rId68"/>
      <p:italic r:id="rId69"/>
    </p:embeddedFont>
    <p:embeddedFont>
      <p:font typeface="Open Sans Semibold" panose="020B0706030804020204" pitchFamily="34" charset="0"/>
      <p:regular r:id="rId70"/>
      <p:bold r:id="rId71"/>
      <p:italic r:id="rId72"/>
      <p:boldItalic r:id="rId73"/>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2791D7-4471-43F9-B84A-0811A592EC53}" v="53" dt="2025-12-25T23:04:40.406"/>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01" autoAdjust="0"/>
    <p:restoredTop sz="96197"/>
  </p:normalViewPr>
  <p:slideViewPr>
    <p:cSldViewPr snapToGrid="0" snapToObjects="1">
      <p:cViewPr varScale="1">
        <p:scale>
          <a:sx n="22" d="100"/>
          <a:sy n="22" d="100"/>
        </p:scale>
        <p:origin x="77" y="821"/>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font" Target="fonts/font4.fntdata"/><Relationship Id="rId68" Type="http://schemas.openxmlformats.org/officeDocument/2006/relationships/font" Target="fonts/font9.fntdata"/><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font" Target="fonts/font7.fntdata"/><Relationship Id="rId74" Type="http://schemas.openxmlformats.org/officeDocument/2006/relationships/presProps" Target="presProps.xml"/><Relationship Id="rId79" Type="http://schemas.microsoft.com/office/2015/10/relationships/revisionInfo" Target="revisionInfo.xml"/><Relationship Id="rId5" Type="http://schemas.openxmlformats.org/officeDocument/2006/relationships/slideMaster" Target="slideMasters/slideMaster1.xml"/><Relationship Id="rId61" Type="http://schemas.openxmlformats.org/officeDocument/2006/relationships/font" Target="fonts/font2.fntdata"/><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font" Target="fonts/font5.fntdata"/><Relationship Id="rId69" Type="http://schemas.openxmlformats.org/officeDocument/2006/relationships/font" Target="fonts/font10.fntdata"/><Relationship Id="rId77"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font" Target="fonts/font13.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notesMaster" Target="notesMasters/notesMaster1.xml"/><Relationship Id="rId67" Type="http://schemas.openxmlformats.org/officeDocument/2006/relationships/font" Target="fonts/font8.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font" Target="fonts/font3.fntdata"/><Relationship Id="rId70" Type="http://schemas.openxmlformats.org/officeDocument/2006/relationships/font" Target="fonts/font11.fntdata"/><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font" Target="fonts/font1.fntdata"/><Relationship Id="rId65" Type="http://schemas.openxmlformats.org/officeDocument/2006/relationships/font" Target="fonts/font6.fntdata"/><Relationship Id="rId73" Type="http://schemas.openxmlformats.org/officeDocument/2006/relationships/font" Target="fonts/font14.fntdata"/><Relationship Id="rId78"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theme" Target="theme/theme1.xml"/><Relationship Id="rId7" Type="http://schemas.openxmlformats.org/officeDocument/2006/relationships/slide" Target="slides/slide2.xml"/><Relationship Id="rId71" Type="http://schemas.openxmlformats.org/officeDocument/2006/relationships/font" Target="fonts/font12.fntdata"/><Relationship Id="rId2" Type="http://schemas.openxmlformats.org/officeDocument/2006/relationships/customXml" Target="../customXml/item2.xml"/><Relationship Id="rId29" Type="http://schemas.openxmlformats.org/officeDocument/2006/relationships/slide" Target="slides/slide2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ulin Nasari" userId="2c02bce8-14a6-4f73-b14a-299518f8dfce" providerId="ADAL" clId="{973AE700-8634-4AC6-A10B-DFA7AFECB9DA}"/>
    <pc:docChg chg="undo redo custSel addSld delSld modSld sldOrd">
      <pc:chgData name="Maulin Nasari" userId="2c02bce8-14a6-4f73-b14a-299518f8dfce" providerId="ADAL" clId="{973AE700-8634-4AC6-A10B-DFA7AFECB9DA}" dt="2025-12-25T23:04:43.514" v="232" actId="1076"/>
      <pc:docMkLst>
        <pc:docMk/>
      </pc:docMkLst>
      <pc:sldChg chg="modSp mod">
        <pc:chgData name="Maulin Nasari" userId="2c02bce8-14a6-4f73-b14a-299518f8dfce" providerId="ADAL" clId="{973AE700-8634-4AC6-A10B-DFA7AFECB9DA}" dt="2025-12-25T07:50:58.642" v="42" actId="27636"/>
        <pc:sldMkLst>
          <pc:docMk/>
          <pc:sldMk cId="3487223446" sldId="256"/>
        </pc:sldMkLst>
        <pc:spChg chg="mod">
          <ac:chgData name="Maulin Nasari" userId="2c02bce8-14a6-4f73-b14a-299518f8dfce" providerId="ADAL" clId="{973AE700-8634-4AC6-A10B-DFA7AFECB9DA}" dt="2025-12-25T07:50:58.642" v="42" actId="27636"/>
          <ac:spMkLst>
            <pc:docMk/>
            <pc:sldMk cId="3487223446" sldId="256"/>
            <ac:spMk id="3" creationId="{1220BAB2-790F-F74A-024A-FC22D1A3E6EA}"/>
          </ac:spMkLst>
        </pc:spChg>
      </pc:sldChg>
      <pc:sldChg chg="modSp mod">
        <pc:chgData name="Maulin Nasari" userId="2c02bce8-14a6-4f73-b14a-299518f8dfce" providerId="ADAL" clId="{973AE700-8634-4AC6-A10B-DFA7AFECB9DA}" dt="2025-12-25T23:04:43.514" v="232" actId="1076"/>
        <pc:sldMkLst>
          <pc:docMk/>
          <pc:sldMk cId="3855785854" sldId="257"/>
        </pc:sldMkLst>
        <pc:spChg chg="mod">
          <ac:chgData name="Maulin Nasari" userId="2c02bce8-14a6-4f73-b14a-299518f8dfce" providerId="ADAL" clId="{973AE700-8634-4AC6-A10B-DFA7AFECB9DA}" dt="2025-12-25T09:01:02.396" v="197" actId="14100"/>
          <ac:spMkLst>
            <pc:docMk/>
            <pc:sldMk cId="3855785854" sldId="257"/>
            <ac:spMk id="2" creationId="{F1BF52CD-EA76-003A-7192-0E9167BA3901}"/>
          </ac:spMkLst>
        </pc:spChg>
        <pc:spChg chg="mod">
          <ac:chgData name="Maulin Nasari" userId="2c02bce8-14a6-4f73-b14a-299518f8dfce" providerId="ADAL" clId="{973AE700-8634-4AC6-A10B-DFA7AFECB9DA}" dt="2025-12-25T23:04:43.514" v="232" actId="1076"/>
          <ac:spMkLst>
            <pc:docMk/>
            <pc:sldMk cId="3855785854" sldId="257"/>
            <ac:spMk id="4" creationId="{76E358E3-B24E-F7A5-ECF8-12101774A9ED}"/>
          </ac:spMkLst>
        </pc:spChg>
      </pc:sldChg>
      <pc:sldChg chg="addSp delSp modSp mod">
        <pc:chgData name="Maulin Nasari" userId="2c02bce8-14a6-4f73-b14a-299518f8dfce" providerId="ADAL" clId="{973AE700-8634-4AC6-A10B-DFA7AFECB9DA}" dt="2025-12-25T23:04:12.678" v="230"/>
        <pc:sldMkLst>
          <pc:docMk/>
          <pc:sldMk cId="481981883" sldId="258"/>
        </pc:sldMkLst>
        <pc:spChg chg="mod">
          <ac:chgData name="Maulin Nasari" userId="2c02bce8-14a6-4f73-b14a-299518f8dfce" providerId="ADAL" clId="{973AE700-8634-4AC6-A10B-DFA7AFECB9DA}" dt="2025-12-25T09:01:30.798" v="203" actId="14100"/>
          <ac:spMkLst>
            <pc:docMk/>
            <pc:sldMk cId="481981883" sldId="258"/>
            <ac:spMk id="2" creationId="{F1BF52CD-EA76-003A-7192-0E9167BA3901}"/>
          </ac:spMkLst>
        </pc:spChg>
        <pc:spChg chg="mod">
          <ac:chgData name="Maulin Nasari" userId="2c02bce8-14a6-4f73-b14a-299518f8dfce" providerId="ADAL" clId="{973AE700-8634-4AC6-A10B-DFA7AFECB9DA}" dt="2025-12-25T23:04:12.678" v="230"/>
          <ac:spMkLst>
            <pc:docMk/>
            <pc:sldMk cId="481981883" sldId="258"/>
            <ac:spMk id="4" creationId="{76E358E3-B24E-F7A5-ECF8-12101774A9ED}"/>
          </ac:spMkLst>
        </pc:spChg>
        <pc:spChg chg="add del mod">
          <ac:chgData name="Maulin Nasari" userId="2c02bce8-14a6-4f73-b14a-299518f8dfce" providerId="ADAL" clId="{973AE700-8634-4AC6-A10B-DFA7AFECB9DA}" dt="2025-12-25T07:54:09.988" v="50"/>
          <ac:spMkLst>
            <pc:docMk/>
            <pc:sldMk cId="481981883" sldId="258"/>
            <ac:spMk id="5" creationId="{AD344A1A-0158-8F30-D8FA-D190765071CB}"/>
          </ac:spMkLst>
        </pc:spChg>
        <pc:spChg chg="add del mod">
          <ac:chgData name="Maulin Nasari" userId="2c02bce8-14a6-4f73-b14a-299518f8dfce" providerId="ADAL" clId="{973AE700-8634-4AC6-A10B-DFA7AFECB9DA}" dt="2025-12-25T07:54:09.989" v="52"/>
          <ac:spMkLst>
            <pc:docMk/>
            <pc:sldMk cId="481981883" sldId="258"/>
            <ac:spMk id="6" creationId="{424BCB7F-1685-3CD6-BCCD-9906AF7D13BA}"/>
          </ac:spMkLst>
        </pc:spChg>
      </pc:sldChg>
      <pc:sldChg chg="addSp delSp modSp mod">
        <pc:chgData name="Maulin Nasari" userId="2c02bce8-14a6-4f73-b14a-299518f8dfce" providerId="ADAL" clId="{973AE700-8634-4AC6-A10B-DFA7AFECB9DA}" dt="2025-12-25T08:07:52.089" v="103" actId="113"/>
        <pc:sldMkLst>
          <pc:docMk/>
          <pc:sldMk cId="2643638529" sldId="262"/>
        </pc:sldMkLst>
        <pc:spChg chg="mod">
          <ac:chgData name="Maulin Nasari" userId="2c02bce8-14a6-4f73-b14a-299518f8dfce" providerId="ADAL" clId="{973AE700-8634-4AC6-A10B-DFA7AFECB9DA}" dt="2025-12-25T08:06:21.233" v="87"/>
          <ac:spMkLst>
            <pc:docMk/>
            <pc:sldMk cId="2643638529" sldId="262"/>
            <ac:spMk id="3" creationId="{39E851F2-9100-FF53-F123-D4F65FF84AF7}"/>
          </ac:spMkLst>
        </pc:spChg>
        <pc:spChg chg="del mod">
          <ac:chgData name="Maulin Nasari" userId="2c02bce8-14a6-4f73-b14a-299518f8dfce" providerId="ADAL" clId="{973AE700-8634-4AC6-A10B-DFA7AFECB9DA}" dt="2025-12-25T08:04:50.311" v="59" actId="478"/>
          <ac:spMkLst>
            <pc:docMk/>
            <pc:sldMk cId="2643638529" sldId="262"/>
            <ac:spMk id="4" creationId="{B5552849-CE2C-39CE-0303-4B296CF1F9CD}"/>
          </ac:spMkLst>
        </pc:spChg>
        <pc:spChg chg="add del mod">
          <ac:chgData name="Maulin Nasari" userId="2c02bce8-14a6-4f73-b14a-299518f8dfce" providerId="ADAL" clId="{973AE700-8634-4AC6-A10B-DFA7AFECB9DA}" dt="2025-12-25T08:04:53.556" v="60" actId="478"/>
          <ac:spMkLst>
            <pc:docMk/>
            <pc:sldMk cId="2643638529" sldId="262"/>
            <ac:spMk id="6" creationId="{4579259D-D1CD-1CE5-C5B5-772E81F8E381}"/>
          </ac:spMkLst>
        </pc:spChg>
        <pc:spChg chg="add del">
          <ac:chgData name="Maulin Nasari" userId="2c02bce8-14a6-4f73-b14a-299518f8dfce" providerId="ADAL" clId="{973AE700-8634-4AC6-A10B-DFA7AFECB9DA}" dt="2025-12-25T08:04:58.497" v="64" actId="22"/>
          <ac:spMkLst>
            <pc:docMk/>
            <pc:sldMk cId="2643638529" sldId="262"/>
            <ac:spMk id="8" creationId="{95AFE5C7-CEFC-F780-AF35-7BF769A64E92}"/>
          </ac:spMkLst>
        </pc:spChg>
        <pc:spChg chg="add mod">
          <ac:chgData name="Maulin Nasari" userId="2c02bce8-14a6-4f73-b14a-299518f8dfce" providerId="ADAL" clId="{973AE700-8634-4AC6-A10B-DFA7AFECB9DA}" dt="2025-12-25T08:07:52.089" v="103" actId="113"/>
          <ac:spMkLst>
            <pc:docMk/>
            <pc:sldMk cId="2643638529" sldId="262"/>
            <ac:spMk id="10" creationId="{AE152D5A-C519-B0B4-4AA0-C358D54C242C}"/>
          </ac:spMkLst>
        </pc:spChg>
      </pc:sldChg>
      <pc:sldChg chg="addSp delSp modSp mod">
        <pc:chgData name="Maulin Nasari" userId="2c02bce8-14a6-4f73-b14a-299518f8dfce" providerId="ADAL" clId="{973AE700-8634-4AC6-A10B-DFA7AFECB9DA}" dt="2025-12-25T08:10:58.411" v="132" actId="1076"/>
        <pc:sldMkLst>
          <pc:docMk/>
          <pc:sldMk cId="62256998" sldId="283"/>
        </pc:sldMkLst>
        <pc:spChg chg="mod">
          <ac:chgData name="Maulin Nasari" userId="2c02bce8-14a6-4f73-b14a-299518f8dfce" providerId="ADAL" clId="{973AE700-8634-4AC6-A10B-DFA7AFECB9DA}" dt="2025-12-25T08:09:22.155" v="108" actId="14100"/>
          <ac:spMkLst>
            <pc:docMk/>
            <pc:sldMk cId="62256998" sldId="283"/>
            <ac:spMk id="3" creationId="{39E851F2-9100-FF53-F123-D4F65FF84AF7}"/>
          </ac:spMkLst>
        </pc:spChg>
        <pc:spChg chg="del mod">
          <ac:chgData name="Maulin Nasari" userId="2c02bce8-14a6-4f73-b14a-299518f8dfce" providerId="ADAL" clId="{973AE700-8634-4AC6-A10B-DFA7AFECB9DA}" dt="2025-12-25T08:10:00.978" v="116" actId="478"/>
          <ac:spMkLst>
            <pc:docMk/>
            <pc:sldMk cId="62256998" sldId="283"/>
            <ac:spMk id="4" creationId="{B5552849-CE2C-39CE-0303-4B296CF1F9CD}"/>
          </ac:spMkLst>
        </pc:spChg>
        <pc:spChg chg="add del mod">
          <ac:chgData name="Maulin Nasari" userId="2c02bce8-14a6-4f73-b14a-299518f8dfce" providerId="ADAL" clId="{973AE700-8634-4AC6-A10B-DFA7AFECB9DA}" dt="2025-12-25T08:10:02.917" v="117" actId="478"/>
          <ac:spMkLst>
            <pc:docMk/>
            <pc:sldMk cId="62256998" sldId="283"/>
            <ac:spMk id="6" creationId="{BAFE7717-01C0-A1D0-A239-868170ECCD79}"/>
          </ac:spMkLst>
        </pc:spChg>
        <pc:spChg chg="add mod">
          <ac:chgData name="Maulin Nasari" userId="2c02bce8-14a6-4f73-b14a-299518f8dfce" providerId="ADAL" clId="{973AE700-8634-4AC6-A10B-DFA7AFECB9DA}" dt="2025-12-25T08:10:58.411" v="132" actId="1076"/>
          <ac:spMkLst>
            <pc:docMk/>
            <pc:sldMk cId="62256998" sldId="283"/>
            <ac:spMk id="8" creationId="{DB12D65F-81CF-874F-6EDC-C2308B918296}"/>
          </ac:spMkLst>
        </pc:spChg>
      </pc:sldChg>
      <pc:sldChg chg="del">
        <pc:chgData name="Maulin Nasari" userId="2c02bce8-14a6-4f73-b14a-299518f8dfce" providerId="ADAL" clId="{973AE700-8634-4AC6-A10B-DFA7AFECB9DA}" dt="2025-12-25T08:11:44.125" v="133" actId="47"/>
        <pc:sldMkLst>
          <pc:docMk/>
          <pc:sldMk cId="4156323605" sldId="285"/>
        </pc:sldMkLst>
      </pc:sldChg>
      <pc:sldChg chg="modSp mod">
        <pc:chgData name="Maulin Nasari" userId="2c02bce8-14a6-4f73-b14a-299518f8dfce" providerId="ADAL" clId="{973AE700-8634-4AC6-A10B-DFA7AFECB9DA}" dt="2025-12-25T08:13:55.304" v="137" actId="20577"/>
        <pc:sldMkLst>
          <pc:docMk/>
          <pc:sldMk cId="2014198375" sldId="286"/>
        </pc:sldMkLst>
        <pc:spChg chg="mod">
          <ac:chgData name="Maulin Nasari" userId="2c02bce8-14a6-4f73-b14a-299518f8dfce" providerId="ADAL" clId="{973AE700-8634-4AC6-A10B-DFA7AFECB9DA}" dt="2025-12-25T08:13:55.304" v="137" actId="20577"/>
          <ac:spMkLst>
            <pc:docMk/>
            <pc:sldMk cId="2014198375" sldId="286"/>
            <ac:spMk id="2" creationId="{549C4C09-62A6-4EAD-480F-E66422499F9C}"/>
          </ac:spMkLst>
        </pc:spChg>
      </pc:sldChg>
      <pc:sldChg chg="modSp mod">
        <pc:chgData name="Maulin Nasari" userId="2c02bce8-14a6-4f73-b14a-299518f8dfce" providerId="ADAL" clId="{973AE700-8634-4AC6-A10B-DFA7AFECB9DA}" dt="2025-12-25T08:14:43.963" v="138" actId="20577"/>
        <pc:sldMkLst>
          <pc:docMk/>
          <pc:sldMk cId="660931605" sldId="287"/>
        </pc:sldMkLst>
        <pc:spChg chg="mod">
          <ac:chgData name="Maulin Nasari" userId="2c02bce8-14a6-4f73-b14a-299518f8dfce" providerId="ADAL" clId="{973AE700-8634-4AC6-A10B-DFA7AFECB9DA}" dt="2025-12-25T08:14:43.963" v="138" actId="20577"/>
          <ac:spMkLst>
            <pc:docMk/>
            <pc:sldMk cId="660931605" sldId="287"/>
            <ac:spMk id="2" creationId="{549C4C09-62A6-4EAD-480F-E66422499F9C}"/>
          </ac:spMkLst>
        </pc:spChg>
      </pc:sldChg>
      <pc:sldChg chg="add">
        <pc:chgData name="Maulin Nasari" userId="2c02bce8-14a6-4f73-b14a-299518f8dfce" providerId="ADAL" clId="{973AE700-8634-4AC6-A10B-DFA7AFECB9DA}" dt="2025-12-25T07:43:19.796" v="38"/>
        <pc:sldMkLst>
          <pc:docMk/>
          <pc:sldMk cId="830045873" sldId="288"/>
        </pc:sldMkLst>
      </pc:sldChg>
      <pc:sldChg chg="add">
        <pc:chgData name="Maulin Nasari" userId="2c02bce8-14a6-4f73-b14a-299518f8dfce" providerId="ADAL" clId="{973AE700-8634-4AC6-A10B-DFA7AFECB9DA}" dt="2025-12-25T07:43:19.796" v="38"/>
        <pc:sldMkLst>
          <pc:docMk/>
          <pc:sldMk cId="458114992" sldId="289"/>
        </pc:sldMkLst>
      </pc:sldChg>
      <pc:sldChg chg="add">
        <pc:chgData name="Maulin Nasari" userId="2c02bce8-14a6-4f73-b14a-299518f8dfce" providerId="ADAL" clId="{973AE700-8634-4AC6-A10B-DFA7AFECB9DA}" dt="2025-12-25T07:43:19.796" v="38"/>
        <pc:sldMkLst>
          <pc:docMk/>
          <pc:sldMk cId="4023473898" sldId="290"/>
        </pc:sldMkLst>
      </pc:sldChg>
      <pc:sldChg chg="add">
        <pc:chgData name="Maulin Nasari" userId="2c02bce8-14a6-4f73-b14a-299518f8dfce" providerId="ADAL" clId="{973AE700-8634-4AC6-A10B-DFA7AFECB9DA}" dt="2025-12-25T07:43:19.796" v="38"/>
        <pc:sldMkLst>
          <pc:docMk/>
          <pc:sldMk cId="3712446143" sldId="291"/>
        </pc:sldMkLst>
      </pc:sldChg>
      <pc:sldChg chg="add">
        <pc:chgData name="Maulin Nasari" userId="2c02bce8-14a6-4f73-b14a-299518f8dfce" providerId="ADAL" clId="{973AE700-8634-4AC6-A10B-DFA7AFECB9DA}" dt="2025-12-25T07:43:19.796" v="38"/>
        <pc:sldMkLst>
          <pc:docMk/>
          <pc:sldMk cId="1621367478" sldId="292"/>
        </pc:sldMkLst>
      </pc:sldChg>
      <pc:sldChg chg="add">
        <pc:chgData name="Maulin Nasari" userId="2c02bce8-14a6-4f73-b14a-299518f8dfce" providerId="ADAL" clId="{973AE700-8634-4AC6-A10B-DFA7AFECB9DA}" dt="2025-12-25T07:43:19.796" v="38"/>
        <pc:sldMkLst>
          <pc:docMk/>
          <pc:sldMk cId="4046579484" sldId="293"/>
        </pc:sldMkLst>
      </pc:sldChg>
      <pc:sldChg chg="add">
        <pc:chgData name="Maulin Nasari" userId="2c02bce8-14a6-4f73-b14a-299518f8dfce" providerId="ADAL" clId="{973AE700-8634-4AC6-A10B-DFA7AFECB9DA}" dt="2025-12-25T07:43:19.796" v="38"/>
        <pc:sldMkLst>
          <pc:docMk/>
          <pc:sldMk cId="1089268159" sldId="294"/>
        </pc:sldMkLst>
      </pc:sldChg>
      <pc:sldChg chg="add">
        <pc:chgData name="Maulin Nasari" userId="2c02bce8-14a6-4f73-b14a-299518f8dfce" providerId="ADAL" clId="{973AE700-8634-4AC6-A10B-DFA7AFECB9DA}" dt="2025-12-25T07:43:19.796" v="38"/>
        <pc:sldMkLst>
          <pc:docMk/>
          <pc:sldMk cId="3388746136" sldId="295"/>
        </pc:sldMkLst>
      </pc:sldChg>
      <pc:sldChg chg="add">
        <pc:chgData name="Maulin Nasari" userId="2c02bce8-14a6-4f73-b14a-299518f8dfce" providerId="ADAL" clId="{973AE700-8634-4AC6-A10B-DFA7AFECB9DA}" dt="2025-12-25T07:43:19.796" v="38"/>
        <pc:sldMkLst>
          <pc:docMk/>
          <pc:sldMk cId="448718387" sldId="296"/>
        </pc:sldMkLst>
      </pc:sldChg>
      <pc:sldChg chg="add">
        <pc:chgData name="Maulin Nasari" userId="2c02bce8-14a6-4f73-b14a-299518f8dfce" providerId="ADAL" clId="{973AE700-8634-4AC6-A10B-DFA7AFECB9DA}" dt="2025-12-25T07:43:19.796" v="38"/>
        <pc:sldMkLst>
          <pc:docMk/>
          <pc:sldMk cId="146206433" sldId="297"/>
        </pc:sldMkLst>
      </pc:sldChg>
      <pc:sldChg chg="add">
        <pc:chgData name="Maulin Nasari" userId="2c02bce8-14a6-4f73-b14a-299518f8dfce" providerId="ADAL" clId="{973AE700-8634-4AC6-A10B-DFA7AFECB9DA}" dt="2025-12-25T07:43:19.796" v="38"/>
        <pc:sldMkLst>
          <pc:docMk/>
          <pc:sldMk cId="3762413158" sldId="298"/>
        </pc:sldMkLst>
      </pc:sldChg>
      <pc:sldChg chg="add">
        <pc:chgData name="Maulin Nasari" userId="2c02bce8-14a6-4f73-b14a-299518f8dfce" providerId="ADAL" clId="{973AE700-8634-4AC6-A10B-DFA7AFECB9DA}" dt="2025-12-25T07:43:19.796" v="38"/>
        <pc:sldMkLst>
          <pc:docMk/>
          <pc:sldMk cId="2817434998" sldId="299"/>
        </pc:sldMkLst>
      </pc:sldChg>
      <pc:sldChg chg="add">
        <pc:chgData name="Maulin Nasari" userId="2c02bce8-14a6-4f73-b14a-299518f8dfce" providerId="ADAL" clId="{973AE700-8634-4AC6-A10B-DFA7AFECB9DA}" dt="2025-12-25T07:43:19.796" v="38"/>
        <pc:sldMkLst>
          <pc:docMk/>
          <pc:sldMk cId="3718021852" sldId="300"/>
        </pc:sldMkLst>
      </pc:sldChg>
      <pc:sldChg chg="add del">
        <pc:chgData name="Maulin Nasari" userId="2c02bce8-14a6-4f73-b14a-299518f8dfce" providerId="ADAL" clId="{973AE700-8634-4AC6-A10B-DFA7AFECB9DA}" dt="2025-12-25T08:12:53.523" v="136" actId="47"/>
        <pc:sldMkLst>
          <pc:docMk/>
          <pc:sldMk cId="1634381286" sldId="302"/>
        </pc:sldMkLst>
      </pc:sldChg>
      <pc:sldChg chg="addSp delSp modSp mod">
        <pc:chgData name="Maulin Nasari" userId="2c02bce8-14a6-4f73-b14a-299518f8dfce" providerId="ADAL" clId="{973AE700-8634-4AC6-A10B-DFA7AFECB9DA}" dt="2025-12-25T08:21:39.705" v="175" actId="20577"/>
        <pc:sldMkLst>
          <pc:docMk/>
          <pc:sldMk cId="549072283" sldId="304"/>
        </pc:sldMkLst>
        <pc:spChg chg="mod">
          <ac:chgData name="Maulin Nasari" userId="2c02bce8-14a6-4f73-b14a-299518f8dfce" providerId="ADAL" clId="{973AE700-8634-4AC6-A10B-DFA7AFECB9DA}" dt="2025-12-25T08:21:08.263" v="157" actId="122"/>
          <ac:spMkLst>
            <pc:docMk/>
            <pc:sldMk cId="549072283" sldId="304"/>
            <ac:spMk id="3" creationId="{39E851F2-9100-FF53-F123-D4F65FF84AF7}"/>
          </ac:spMkLst>
        </pc:spChg>
        <pc:spChg chg="del mod">
          <ac:chgData name="Maulin Nasari" userId="2c02bce8-14a6-4f73-b14a-299518f8dfce" providerId="ADAL" clId="{973AE700-8634-4AC6-A10B-DFA7AFECB9DA}" dt="2025-12-25T08:20:10.133" v="149" actId="478"/>
          <ac:spMkLst>
            <pc:docMk/>
            <pc:sldMk cId="549072283" sldId="304"/>
            <ac:spMk id="4" creationId="{B5552849-CE2C-39CE-0303-4B296CF1F9CD}"/>
          </ac:spMkLst>
        </pc:spChg>
        <pc:spChg chg="add del mod">
          <ac:chgData name="Maulin Nasari" userId="2c02bce8-14a6-4f73-b14a-299518f8dfce" providerId="ADAL" clId="{973AE700-8634-4AC6-A10B-DFA7AFECB9DA}" dt="2025-12-25T08:20:12.501" v="150" actId="478"/>
          <ac:spMkLst>
            <pc:docMk/>
            <pc:sldMk cId="549072283" sldId="304"/>
            <ac:spMk id="8" creationId="{47FA787A-BEC6-B668-A4C8-5AADBD045A71}"/>
          </ac:spMkLst>
        </pc:spChg>
        <pc:spChg chg="add mod">
          <ac:chgData name="Maulin Nasari" userId="2c02bce8-14a6-4f73-b14a-299518f8dfce" providerId="ADAL" clId="{973AE700-8634-4AC6-A10B-DFA7AFECB9DA}" dt="2025-12-25T08:21:14.220" v="158" actId="14100"/>
          <ac:spMkLst>
            <pc:docMk/>
            <pc:sldMk cId="549072283" sldId="304"/>
            <ac:spMk id="9" creationId="{B5552849-CE2C-39CE-0303-4B296CF1F9CD}"/>
          </ac:spMkLst>
        </pc:spChg>
        <pc:spChg chg="add mod">
          <ac:chgData name="Maulin Nasari" userId="2c02bce8-14a6-4f73-b14a-299518f8dfce" providerId="ADAL" clId="{973AE700-8634-4AC6-A10B-DFA7AFECB9DA}" dt="2025-12-25T08:21:39.705" v="175" actId="20577"/>
          <ac:spMkLst>
            <pc:docMk/>
            <pc:sldMk cId="549072283" sldId="304"/>
            <ac:spMk id="10" creationId="{37C923B2-325D-3FC9-B238-11D19827411B}"/>
          </ac:spMkLst>
        </pc:spChg>
        <pc:picChg chg="add mod modCrop">
          <ac:chgData name="Maulin Nasari" userId="2c02bce8-14a6-4f73-b14a-299518f8dfce" providerId="ADAL" clId="{973AE700-8634-4AC6-A10B-DFA7AFECB9DA}" dt="2025-12-25T08:19:02.881" v="148" actId="14100"/>
          <ac:picMkLst>
            <pc:docMk/>
            <pc:sldMk cId="549072283" sldId="304"/>
            <ac:picMk id="6" creationId="{FA0E797C-0D0F-492B-9161-F0C24041423B}"/>
          </ac:picMkLst>
        </pc:picChg>
      </pc:sldChg>
      <pc:sldChg chg="addSp delSp modSp del mod">
        <pc:chgData name="Maulin Nasari" userId="2c02bce8-14a6-4f73-b14a-299518f8dfce" providerId="ADAL" clId="{973AE700-8634-4AC6-A10B-DFA7AFECB9DA}" dt="2025-12-25T08:22:14.438" v="176" actId="47"/>
        <pc:sldMkLst>
          <pc:docMk/>
          <pc:sldMk cId="3539016810" sldId="305"/>
        </pc:sldMkLst>
        <pc:spChg chg="del">
          <ac:chgData name="Maulin Nasari" userId="2c02bce8-14a6-4f73-b14a-299518f8dfce" providerId="ADAL" clId="{973AE700-8634-4AC6-A10B-DFA7AFECB9DA}" dt="2025-12-25T08:20:46.683" v="151" actId="21"/>
          <ac:spMkLst>
            <pc:docMk/>
            <pc:sldMk cId="3539016810" sldId="305"/>
            <ac:spMk id="4" creationId="{B5552849-CE2C-39CE-0303-4B296CF1F9CD}"/>
          </ac:spMkLst>
        </pc:spChg>
        <pc:spChg chg="add mod">
          <ac:chgData name="Maulin Nasari" userId="2c02bce8-14a6-4f73-b14a-299518f8dfce" providerId="ADAL" clId="{973AE700-8634-4AC6-A10B-DFA7AFECB9DA}" dt="2025-12-25T08:20:46.683" v="151" actId="21"/>
          <ac:spMkLst>
            <pc:docMk/>
            <pc:sldMk cId="3539016810" sldId="305"/>
            <ac:spMk id="6" creationId="{795D0A59-EF2C-AC0E-C047-8C250260F513}"/>
          </ac:spMkLst>
        </pc:spChg>
      </pc:sldChg>
      <pc:sldChg chg="add">
        <pc:chgData name="Maulin Nasari" userId="2c02bce8-14a6-4f73-b14a-299518f8dfce" providerId="ADAL" clId="{973AE700-8634-4AC6-A10B-DFA7AFECB9DA}" dt="2025-12-25T07:43:19.796" v="38"/>
        <pc:sldMkLst>
          <pc:docMk/>
          <pc:sldMk cId="1608066729" sldId="308"/>
        </pc:sldMkLst>
      </pc:sldChg>
      <pc:sldChg chg="add">
        <pc:chgData name="Maulin Nasari" userId="2c02bce8-14a6-4f73-b14a-299518f8dfce" providerId="ADAL" clId="{973AE700-8634-4AC6-A10B-DFA7AFECB9DA}" dt="2025-12-25T07:43:19.796" v="38"/>
        <pc:sldMkLst>
          <pc:docMk/>
          <pc:sldMk cId="1044076209" sldId="309"/>
        </pc:sldMkLst>
      </pc:sldChg>
      <pc:sldChg chg="add">
        <pc:chgData name="Maulin Nasari" userId="2c02bce8-14a6-4f73-b14a-299518f8dfce" providerId="ADAL" clId="{973AE700-8634-4AC6-A10B-DFA7AFECB9DA}" dt="2025-12-25T07:43:19.796" v="38"/>
        <pc:sldMkLst>
          <pc:docMk/>
          <pc:sldMk cId="262770400" sldId="310"/>
        </pc:sldMkLst>
      </pc:sldChg>
      <pc:sldChg chg="add">
        <pc:chgData name="Maulin Nasari" userId="2c02bce8-14a6-4f73-b14a-299518f8dfce" providerId="ADAL" clId="{973AE700-8634-4AC6-A10B-DFA7AFECB9DA}" dt="2025-12-25T07:43:19.796" v="38"/>
        <pc:sldMkLst>
          <pc:docMk/>
          <pc:sldMk cId="234376518" sldId="311"/>
        </pc:sldMkLst>
      </pc:sldChg>
      <pc:sldChg chg="add">
        <pc:chgData name="Maulin Nasari" userId="2c02bce8-14a6-4f73-b14a-299518f8dfce" providerId="ADAL" clId="{973AE700-8634-4AC6-A10B-DFA7AFECB9DA}" dt="2025-12-25T07:43:19.796" v="38"/>
        <pc:sldMkLst>
          <pc:docMk/>
          <pc:sldMk cId="2415328289" sldId="312"/>
        </pc:sldMkLst>
      </pc:sldChg>
      <pc:sldChg chg="add">
        <pc:chgData name="Maulin Nasari" userId="2c02bce8-14a6-4f73-b14a-299518f8dfce" providerId="ADAL" clId="{973AE700-8634-4AC6-A10B-DFA7AFECB9DA}" dt="2025-12-25T07:43:19.796" v="38"/>
        <pc:sldMkLst>
          <pc:docMk/>
          <pc:sldMk cId="3769280658" sldId="313"/>
        </pc:sldMkLst>
      </pc:sldChg>
      <pc:sldChg chg="add">
        <pc:chgData name="Maulin Nasari" userId="2c02bce8-14a6-4f73-b14a-299518f8dfce" providerId="ADAL" clId="{973AE700-8634-4AC6-A10B-DFA7AFECB9DA}" dt="2025-12-25T07:43:19.796" v="38"/>
        <pc:sldMkLst>
          <pc:docMk/>
          <pc:sldMk cId="3258550800" sldId="314"/>
        </pc:sldMkLst>
      </pc:sldChg>
      <pc:sldChg chg="add">
        <pc:chgData name="Maulin Nasari" userId="2c02bce8-14a6-4f73-b14a-299518f8dfce" providerId="ADAL" clId="{973AE700-8634-4AC6-A10B-DFA7AFECB9DA}" dt="2025-12-25T07:43:19.796" v="38"/>
        <pc:sldMkLst>
          <pc:docMk/>
          <pc:sldMk cId="1843784290" sldId="315"/>
        </pc:sldMkLst>
      </pc:sldChg>
      <pc:sldChg chg="add">
        <pc:chgData name="Maulin Nasari" userId="2c02bce8-14a6-4f73-b14a-299518f8dfce" providerId="ADAL" clId="{973AE700-8634-4AC6-A10B-DFA7AFECB9DA}" dt="2025-12-25T07:43:19.796" v="38"/>
        <pc:sldMkLst>
          <pc:docMk/>
          <pc:sldMk cId="2940366186" sldId="316"/>
        </pc:sldMkLst>
      </pc:sldChg>
      <pc:sldChg chg="add">
        <pc:chgData name="Maulin Nasari" userId="2c02bce8-14a6-4f73-b14a-299518f8dfce" providerId="ADAL" clId="{973AE700-8634-4AC6-A10B-DFA7AFECB9DA}" dt="2025-12-25T07:43:19.796" v="38"/>
        <pc:sldMkLst>
          <pc:docMk/>
          <pc:sldMk cId="1642892572" sldId="317"/>
        </pc:sldMkLst>
      </pc:sldChg>
      <pc:sldChg chg="add">
        <pc:chgData name="Maulin Nasari" userId="2c02bce8-14a6-4f73-b14a-299518f8dfce" providerId="ADAL" clId="{973AE700-8634-4AC6-A10B-DFA7AFECB9DA}" dt="2025-12-25T07:43:19.796" v="38"/>
        <pc:sldMkLst>
          <pc:docMk/>
          <pc:sldMk cId="19123407" sldId="318"/>
        </pc:sldMkLst>
      </pc:sldChg>
      <pc:sldChg chg="add">
        <pc:chgData name="Maulin Nasari" userId="2c02bce8-14a6-4f73-b14a-299518f8dfce" providerId="ADAL" clId="{973AE700-8634-4AC6-A10B-DFA7AFECB9DA}" dt="2025-12-25T07:43:19.796" v="38"/>
        <pc:sldMkLst>
          <pc:docMk/>
          <pc:sldMk cId="381873720" sldId="319"/>
        </pc:sldMkLst>
      </pc:sldChg>
      <pc:sldChg chg="add">
        <pc:chgData name="Maulin Nasari" userId="2c02bce8-14a6-4f73-b14a-299518f8dfce" providerId="ADAL" clId="{973AE700-8634-4AC6-A10B-DFA7AFECB9DA}" dt="2025-12-25T07:43:19.796" v="38"/>
        <pc:sldMkLst>
          <pc:docMk/>
          <pc:sldMk cId="293129802" sldId="320"/>
        </pc:sldMkLst>
      </pc:sldChg>
      <pc:sldChg chg="add">
        <pc:chgData name="Maulin Nasari" userId="2c02bce8-14a6-4f73-b14a-299518f8dfce" providerId="ADAL" clId="{973AE700-8634-4AC6-A10B-DFA7AFECB9DA}" dt="2025-12-25T07:43:19.796" v="38"/>
        <pc:sldMkLst>
          <pc:docMk/>
          <pc:sldMk cId="2071990937" sldId="321"/>
        </pc:sldMkLst>
      </pc:sldChg>
      <pc:sldChg chg="addSp delSp mod">
        <pc:chgData name="Maulin Nasari" userId="2c02bce8-14a6-4f73-b14a-299518f8dfce" providerId="ADAL" clId="{973AE700-8634-4AC6-A10B-DFA7AFECB9DA}" dt="2025-12-25T07:43:09.647" v="37" actId="478"/>
        <pc:sldMkLst>
          <pc:docMk/>
          <pc:sldMk cId="3514992504" sldId="341"/>
        </pc:sldMkLst>
        <pc:spChg chg="add del">
          <ac:chgData name="Maulin Nasari" userId="2c02bce8-14a6-4f73-b14a-299518f8dfce" providerId="ADAL" clId="{973AE700-8634-4AC6-A10B-DFA7AFECB9DA}" dt="2025-12-25T07:43:00.576" v="35" actId="478"/>
          <ac:spMkLst>
            <pc:docMk/>
            <pc:sldMk cId="3514992504" sldId="341"/>
            <ac:spMk id="6" creationId="{FB3D0CD3-FDCA-899B-9BBD-AAD17A28FF2A}"/>
          </ac:spMkLst>
        </pc:spChg>
        <pc:spChg chg="add del">
          <ac:chgData name="Maulin Nasari" userId="2c02bce8-14a6-4f73-b14a-299518f8dfce" providerId="ADAL" clId="{973AE700-8634-4AC6-A10B-DFA7AFECB9DA}" dt="2025-12-25T07:43:09.647" v="37" actId="478"/>
          <ac:spMkLst>
            <pc:docMk/>
            <pc:sldMk cId="3514992504" sldId="341"/>
            <ac:spMk id="8" creationId="{6E63297F-D51F-160C-94B7-89C016FB3485}"/>
          </ac:spMkLst>
        </pc:spChg>
      </pc:sldChg>
      <pc:sldChg chg="add">
        <pc:chgData name="Maulin Nasari" userId="2c02bce8-14a6-4f73-b14a-299518f8dfce" providerId="ADAL" clId="{973AE700-8634-4AC6-A10B-DFA7AFECB9DA}" dt="2025-12-25T07:43:19.796" v="38"/>
        <pc:sldMkLst>
          <pc:docMk/>
          <pc:sldMk cId="140661045" sldId="342"/>
        </pc:sldMkLst>
      </pc:sldChg>
      <pc:sldChg chg="addSp modSp add mod ord">
        <pc:chgData name="Maulin Nasari" userId="2c02bce8-14a6-4f73-b14a-299518f8dfce" providerId="ADAL" clId="{973AE700-8634-4AC6-A10B-DFA7AFECB9DA}" dt="2025-12-25T08:56:43.042" v="195" actId="1076"/>
        <pc:sldMkLst>
          <pc:docMk/>
          <pc:sldMk cId="2098179131" sldId="343"/>
        </pc:sldMkLst>
        <pc:spChg chg="mod">
          <ac:chgData name="Maulin Nasari" userId="2c02bce8-14a6-4f73-b14a-299518f8dfce" providerId="ADAL" clId="{973AE700-8634-4AC6-A10B-DFA7AFECB9DA}" dt="2025-12-25T08:55:29.443" v="180"/>
          <ac:spMkLst>
            <pc:docMk/>
            <pc:sldMk cId="2098179131" sldId="343"/>
            <ac:spMk id="2" creationId="{6132860E-C457-BD7A-7EC4-D63E67E7C1BF}"/>
          </ac:spMkLst>
        </pc:spChg>
        <pc:spChg chg="add mod">
          <ac:chgData name="Maulin Nasari" userId="2c02bce8-14a6-4f73-b14a-299518f8dfce" providerId="ADAL" clId="{973AE700-8634-4AC6-A10B-DFA7AFECB9DA}" dt="2025-12-25T08:56:43.042" v="195" actId="1076"/>
          <ac:spMkLst>
            <pc:docMk/>
            <pc:sldMk cId="2098179131" sldId="343"/>
            <ac:spMk id="4" creationId="{8BD3163D-EE55-FB8C-013B-72E75F96AF3F}"/>
          </ac:spMkLst>
        </pc:spChg>
      </pc:sldChg>
      <pc:sldChg chg="add">
        <pc:chgData name="Maulin Nasari" userId="2c02bce8-14a6-4f73-b14a-299518f8dfce" providerId="ADAL" clId="{973AE700-8634-4AC6-A10B-DFA7AFECB9DA}" dt="2025-12-25T07:43:19.796" v="38"/>
        <pc:sldMkLst>
          <pc:docMk/>
          <pc:sldMk cId="908562093" sldId="344"/>
        </pc:sldMkLst>
      </pc:sldChg>
      <pc:sldChg chg="add">
        <pc:chgData name="Maulin Nasari" userId="2c02bce8-14a6-4f73-b14a-299518f8dfce" providerId="ADAL" clId="{973AE700-8634-4AC6-A10B-DFA7AFECB9DA}" dt="2025-12-25T07:43:19.796" v="38"/>
        <pc:sldMkLst>
          <pc:docMk/>
          <pc:sldMk cId="1650511302" sldId="345"/>
        </pc:sldMkLst>
      </pc:sldChg>
      <pc:sldChg chg="add">
        <pc:chgData name="Maulin Nasari" userId="2c02bce8-14a6-4f73-b14a-299518f8dfce" providerId="ADAL" clId="{973AE700-8634-4AC6-A10B-DFA7AFECB9DA}" dt="2025-12-25T07:43:19.796" v="38"/>
        <pc:sldMkLst>
          <pc:docMk/>
          <pc:sldMk cId="1118894566" sldId="346"/>
        </pc:sldMkLst>
      </pc:sldChg>
      <pc:sldChg chg="add">
        <pc:chgData name="Maulin Nasari" userId="2c02bce8-14a6-4f73-b14a-299518f8dfce" providerId="ADAL" clId="{973AE700-8634-4AC6-A10B-DFA7AFECB9DA}" dt="2025-12-25T07:43:19.796" v="38"/>
        <pc:sldMkLst>
          <pc:docMk/>
          <pc:sldMk cId="1931967571" sldId="347"/>
        </pc:sldMkLst>
      </pc:sldChg>
      <pc:sldChg chg="add">
        <pc:chgData name="Maulin Nasari" userId="2c02bce8-14a6-4f73-b14a-299518f8dfce" providerId="ADAL" clId="{973AE700-8634-4AC6-A10B-DFA7AFECB9DA}" dt="2025-12-25T07:43:19.796" v="38"/>
        <pc:sldMkLst>
          <pc:docMk/>
          <pc:sldMk cId="87264876" sldId="348"/>
        </pc:sldMkLst>
      </pc:sldChg>
      <pc:sldChg chg="add">
        <pc:chgData name="Maulin Nasari" userId="2c02bce8-14a6-4f73-b14a-299518f8dfce" providerId="ADAL" clId="{973AE700-8634-4AC6-A10B-DFA7AFECB9DA}" dt="2025-12-25T07:43:19.796" v="38"/>
        <pc:sldMkLst>
          <pc:docMk/>
          <pc:sldMk cId="3658570266" sldId="349"/>
        </pc:sldMkLst>
      </pc:sldChg>
      <pc:sldChg chg="add">
        <pc:chgData name="Maulin Nasari" userId="2c02bce8-14a6-4f73-b14a-299518f8dfce" providerId="ADAL" clId="{973AE700-8634-4AC6-A10B-DFA7AFECB9DA}" dt="2025-12-25T07:43:19.796" v="38"/>
        <pc:sldMkLst>
          <pc:docMk/>
          <pc:sldMk cId="3952767186" sldId="350"/>
        </pc:sldMkLst>
      </pc:sldChg>
      <pc:sldChg chg="add">
        <pc:chgData name="Maulin Nasari" userId="2c02bce8-14a6-4f73-b14a-299518f8dfce" providerId="ADAL" clId="{973AE700-8634-4AC6-A10B-DFA7AFECB9DA}" dt="2025-12-25T07:43:19.796" v="38"/>
        <pc:sldMkLst>
          <pc:docMk/>
          <pc:sldMk cId="636526579" sldId="351"/>
        </pc:sldMkLst>
      </pc:sldChg>
      <pc:sldChg chg="add">
        <pc:chgData name="Maulin Nasari" userId="2c02bce8-14a6-4f73-b14a-299518f8dfce" providerId="ADAL" clId="{973AE700-8634-4AC6-A10B-DFA7AFECB9DA}" dt="2025-12-25T07:43:19.796" v="38"/>
        <pc:sldMkLst>
          <pc:docMk/>
          <pc:sldMk cId="2822505184" sldId="352"/>
        </pc:sldMkLst>
      </pc:sldChg>
      <pc:sldChg chg="add del">
        <pc:chgData name="Maulin Nasari" userId="2c02bce8-14a6-4f73-b14a-299518f8dfce" providerId="ADAL" clId="{973AE700-8634-4AC6-A10B-DFA7AFECB9DA}" dt="2025-12-25T07:50:44.535" v="40"/>
        <pc:sldMkLst>
          <pc:docMk/>
          <pc:sldMk cId="2249153839" sldId="353"/>
        </pc:sldMkLst>
      </pc:sldChg>
      <pc:sldChg chg="add">
        <pc:chgData name="Maulin Nasari" userId="2c02bce8-14a6-4f73-b14a-299518f8dfce" providerId="ADAL" clId="{973AE700-8634-4AC6-A10B-DFA7AFECB9DA}" dt="2025-12-25T08:55:09.875" v="177"/>
        <pc:sldMkLst>
          <pc:docMk/>
          <pc:sldMk cId="3812296395" sldId="353"/>
        </pc:sldMkLst>
      </pc:sldChg>
      <pc:sldChg chg="add del">
        <pc:chgData name="Maulin Nasari" userId="2c02bce8-14a6-4f73-b14a-299518f8dfce" providerId="ADAL" clId="{973AE700-8634-4AC6-A10B-DFA7AFECB9DA}" dt="2025-12-25T07:50:44.535" v="40"/>
        <pc:sldMkLst>
          <pc:docMk/>
          <pc:sldMk cId="3536995242" sldId="354"/>
        </pc:sldMkLst>
      </pc:sldChg>
      <pc:sldChg chg="add del">
        <pc:chgData name="Maulin Nasari" userId="2c02bce8-14a6-4f73-b14a-299518f8dfce" providerId="ADAL" clId="{973AE700-8634-4AC6-A10B-DFA7AFECB9DA}" dt="2025-12-25T07:50:44.535" v="40"/>
        <pc:sldMkLst>
          <pc:docMk/>
          <pc:sldMk cId="2846732791" sldId="355"/>
        </pc:sldMkLst>
      </pc:sldChg>
      <pc:sldChg chg="add del">
        <pc:chgData name="Maulin Nasari" userId="2c02bce8-14a6-4f73-b14a-299518f8dfce" providerId="ADAL" clId="{973AE700-8634-4AC6-A10B-DFA7AFECB9DA}" dt="2025-12-25T07:50:44.535" v="40"/>
        <pc:sldMkLst>
          <pc:docMk/>
          <pc:sldMk cId="1436735398" sldId="356"/>
        </pc:sldMkLst>
      </pc:sldChg>
      <pc:sldChg chg="add del">
        <pc:chgData name="Maulin Nasari" userId="2c02bce8-14a6-4f73-b14a-299518f8dfce" providerId="ADAL" clId="{973AE700-8634-4AC6-A10B-DFA7AFECB9DA}" dt="2025-12-25T07:50:44.535" v="40"/>
        <pc:sldMkLst>
          <pc:docMk/>
          <pc:sldMk cId="1500020389" sldId="357"/>
        </pc:sldMkLst>
      </pc:sldChg>
      <pc:sldChg chg="add del">
        <pc:chgData name="Maulin Nasari" userId="2c02bce8-14a6-4f73-b14a-299518f8dfce" providerId="ADAL" clId="{973AE700-8634-4AC6-A10B-DFA7AFECB9DA}" dt="2025-12-25T07:50:44.535" v="40"/>
        <pc:sldMkLst>
          <pc:docMk/>
          <pc:sldMk cId="2652095708" sldId="358"/>
        </pc:sldMkLst>
      </pc:sldChg>
      <pc:sldChg chg="add del">
        <pc:chgData name="Maulin Nasari" userId="2c02bce8-14a6-4f73-b14a-299518f8dfce" providerId="ADAL" clId="{973AE700-8634-4AC6-A10B-DFA7AFECB9DA}" dt="2025-12-25T07:50:44.535" v="40"/>
        <pc:sldMkLst>
          <pc:docMk/>
          <pc:sldMk cId="4049232630" sldId="359"/>
        </pc:sldMkLst>
      </pc:sldChg>
      <pc:sldChg chg="add del">
        <pc:chgData name="Maulin Nasari" userId="2c02bce8-14a6-4f73-b14a-299518f8dfce" providerId="ADAL" clId="{973AE700-8634-4AC6-A10B-DFA7AFECB9DA}" dt="2025-12-25T07:50:44.535" v="40"/>
        <pc:sldMkLst>
          <pc:docMk/>
          <pc:sldMk cId="1142247031" sldId="360"/>
        </pc:sldMkLst>
      </pc:sldChg>
      <pc:sldChg chg="add del">
        <pc:chgData name="Maulin Nasari" userId="2c02bce8-14a6-4f73-b14a-299518f8dfce" providerId="ADAL" clId="{973AE700-8634-4AC6-A10B-DFA7AFECB9DA}" dt="2025-12-25T07:50:44.535" v="40"/>
        <pc:sldMkLst>
          <pc:docMk/>
          <pc:sldMk cId="1343566544" sldId="361"/>
        </pc:sldMkLst>
      </pc:sldChg>
      <pc:sldChg chg="add del">
        <pc:chgData name="Maulin Nasari" userId="2c02bce8-14a6-4f73-b14a-299518f8dfce" providerId="ADAL" clId="{973AE700-8634-4AC6-A10B-DFA7AFECB9DA}" dt="2025-12-25T07:50:44.535" v="40"/>
        <pc:sldMkLst>
          <pc:docMk/>
          <pc:sldMk cId="3575637814" sldId="362"/>
        </pc:sldMkLst>
      </pc:sldChg>
      <pc:sldChg chg="add del">
        <pc:chgData name="Maulin Nasari" userId="2c02bce8-14a6-4f73-b14a-299518f8dfce" providerId="ADAL" clId="{973AE700-8634-4AC6-A10B-DFA7AFECB9DA}" dt="2025-12-25T07:50:44.535" v="40"/>
        <pc:sldMkLst>
          <pc:docMk/>
          <pc:sldMk cId="2633978487" sldId="363"/>
        </pc:sldMkLst>
      </pc:sldChg>
      <pc:sldChg chg="add del">
        <pc:chgData name="Maulin Nasari" userId="2c02bce8-14a6-4f73-b14a-299518f8dfce" providerId="ADAL" clId="{973AE700-8634-4AC6-A10B-DFA7AFECB9DA}" dt="2025-12-25T07:50:44.535" v="40"/>
        <pc:sldMkLst>
          <pc:docMk/>
          <pc:sldMk cId="2073663259" sldId="364"/>
        </pc:sldMkLst>
      </pc:sldChg>
      <pc:sldChg chg="add del">
        <pc:chgData name="Maulin Nasari" userId="2c02bce8-14a6-4f73-b14a-299518f8dfce" providerId="ADAL" clId="{973AE700-8634-4AC6-A10B-DFA7AFECB9DA}" dt="2025-12-25T07:50:44.535" v="40"/>
        <pc:sldMkLst>
          <pc:docMk/>
          <pc:sldMk cId="3386624059" sldId="365"/>
        </pc:sldMkLst>
      </pc:sldChg>
      <pc:sldChg chg="add del">
        <pc:chgData name="Maulin Nasari" userId="2c02bce8-14a6-4f73-b14a-299518f8dfce" providerId="ADAL" clId="{973AE700-8634-4AC6-A10B-DFA7AFECB9DA}" dt="2025-12-25T07:50:44.535" v="40"/>
        <pc:sldMkLst>
          <pc:docMk/>
          <pc:sldMk cId="3707144614" sldId="366"/>
        </pc:sldMkLst>
      </pc:sldChg>
      <pc:sldChg chg="add del">
        <pc:chgData name="Maulin Nasari" userId="2c02bce8-14a6-4f73-b14a-299518f8dfce" providerId="ADAL" clId="{973AE700-8634-4AC6-A10B-DFA7AFECB9DA}" dt="2025-12-25T07:50:44.535" v="40"/>
        <pc:sldMkLst>
          <pc:docMk/>
          <pc:sldMk cId="2866078160" sldId="367"/>
        </pc:sldMkLst>
      </pc:sldChg>
      <pc:sldChg chg="add del">
        <pc:chgData name="Maulin Nasari" userId="2c02bce8-14a6-4f73-b14a-299518f8dfce" providerId="ADAL" clId="{973AE700-8634-4AC6-A10B-DFA7AFECB9DA}" dt="2025-12-25T07:50:44.535" v="40"/>
        <pc:sldMkLst>
          <pc:docMk/>
          <pc:sldMk cId="1542066104" sldId="368"/>
        </pc:sldMkLst>
      </pc:sldChg>
      <pc:sldChg chg="add del">
        <pc:chgData name="Maulin Nasari" userId="2c02bce8-14a6-4f73-b14a-299518f8dfce" providerId="ADAL" clId="{973AE700-8634-4AC6-A10B-DFA7AFECB9DA}" dt="2025-12-25T07:50:44.535" v="40"/>
        <pc:sldMkLst>
          <pc:docMk/>
          <pc:sldMk cId="1451205836" sldId="369"/>
        </pc:sldMkLst>
      </pc:sldChg>
      <pc:sldChg chg="add del">
        <pc:chgData name="Maulin Nasari" userId="2c02bce8-14a6-4f73-b14a-299518f8dfce" providerId="ADAL" clId="{973AE700-8634-4AC6-A10B-DFA7AFECB9DA}" dt="2025-12-25T07:50:44.535" v="40"/>
        <pc:sldMkLst>
          <pc:docMk/>
          <pc:sldMk cId="3613477767" sldId="370"/>
        </pc:sldMkLst>
      </pc:sldChg>
      <pc:sldChg chg="add del">
        <pc:chgData name="Maulin Nasari" userId="2c02bce8-14a6-4f73-b14a-299518f8dfce" providerId="ADAL" clId="{973AE700-8634-4AC6-A10B-DFA7AFECB9DA}" dt="2025-12-25T07:50:44.535" v="40"/>
        <pc:sldMkLst>
          <pc:docMk/>
          <pc:sldMk cId="2945020876" sldId="371"/>
        </pc:sldMkLst>
      </pc:sldChg>
      <pc:sldChg chg="add del">
        <pc:chgData name="Maulin Nasari" userId="2c02bce8-14a6-4f73-b14a-299518f8dfce" providerId="ADAL" clId="{973AE700-8634-4AC6-A10B-DFA7AFECB9DA}" dt="2025-12-25T07:50:44.535" v="40"/>
        <pc:sldMkLst>
          <pc:docMk/>
          <pc:sldMk cId="3562661553" sldId="372"/>
        </pc:sldMkLst>
      </pc:sldChg>
      <pc:sldChg chg="add del">
        <pc:chgData name="Maulin Nasari" userId="2c02bce8-14a6-4f73-b14a-299518f8dfce" providerId="ADAL" clId="{973AE700-8634-4AC6-A10B-DFA7AFECB9DA}" dt="2025-12-25T07:50:44.535" v="40"/>
        <pc:sldMkLst>
          <pc:docMk/>
          <pc:sldMk cId="4128186336" sldId="373"/>
        </pc:sldMkLst>
      </pc:sldChg>
      <pc:sldChg chg="add del">
        <pc:chgData name="Maulin Nasari" userId="2c02bce8-14a6-4f73-b14a-299518f8dfce" providerId="ADAL" clId="{973AE700-8634-4AC6-A10B-DFA7AFECB9DA}" dt="2025-12-25T07:50:44.535" v="40"/>
        <pc:sldMkLst>
          <pc:docMk/>
          <pc:sldMk cId="2139663159" sldId="374"/>
        </pc:sldMkLst>
      </pc:sldChg>
      <pc:sldChg chg="add del">
        <pc:chgData name="Maulin Nasari" userId="2c02bce8-14a6-4f73-b14a-299518f8dfce" providerId="ADAL" clId="{973AE700-8634-4AC6-A10B-DFA7AFECB9DA}" dt="2025-12-25T07:50:44.535" v="40"/>
        <pc:sldMkLst>
          <pc:docMk/>
          <pc:sldMk cId="2771380290" sldId="375"/>
        </pc:sldMkLst>
      </pc:sldChg>
      <pc:sldChg chg="add del">
        <pc:chgData name="Maulin Nasari" userId="2c02bce8-14a6-4f73-b14a-299518f8dfce" providerId="ADAL" clId="{973AE700-8634-4AC6-A10B-DFA7AFECB9DA}" dt="2025-12-25T07:50:44.535" v="40"/>
        <pc:sldMkLst>
          <pc:docMk/>
          <pc:sldMk cId="1819207463" sldId="376"/>
        </pc:sldMkLst>
      </pc:sldChg>
      <pc:sldChg chg="add del">
        <pc:chgData name="Maulin Nasari" userId="2c02bce8-14a6-4f73-b14a-299518f8dfce" providerId="ADAL" clId="{973AE700-8634-4AC6-A10B-DFA7AFECB9DA}" dt="2025-12-25T07:50:44.535" v="40"/>
        <pc:sldMkLst>
          <pc:docMk/>
          <pc:sldMk cId="3392804728" sldId="377"/>
        </pc:sldMkLst>
      </pc:sldChg>
      <pc:sldChg chg="add del">
        <pc:chgData name="Maulin Nasari" userId="2c02bce8-14a6-4f73-b14a-299518f8dfce" providerId="ADAL" clId="{973AE700-8634-4AC6-A10B-DFA7AFECB9DA}" dt="2025-12-25T07:50:44.535" v="40"/>
        <pc:sldMkLst>
          <pc:docMk/>
          <pc:sldMk cId="386334209" sldId="378"/>
        </pc:sldMkLst>
      </pc:sldChg>
      <pc:sldChg chg="add del">
        <pc:chgData name="Maulin Nasari" userId="2c02bce8-14a6-4f73-b14a-299518f8dfce" providerId="ADAL" clId="{973AE700-8634-4AC6-A10B-DFA7AFECB9DA}" dt="2025-12-25T07:50:44.535" v="40"/>
        <pc:sldMkLst>
          <pc:docMk/>
          <pc:sldMk cId="1774786763" sldId="379"/>
        </pc:sldMkLst>
      </pc:sldChg>
      <pc:sldChg chg="add del">
        <pc:chgData name="Maulin Nasari" userId="2c02bce8-14a6-4f73-b14a-299518f8dfce" providerId="ADAL" clId="{973AE700-8634-4AC6-A10B-DFA7AFECB9DA}" dt="2025-12-25T07:50:44.535" v="40"/>
        <pc:sldMkLst>
          <pc:docMk/>
          <pc:sldMk cId="3670662578" sldId="380"/>
        </pc:sldMkLst>
      </pc:sldChg>
      <pc:sldChg chg="add del">
        <pc:chgData name="Maulin Nasari" userId="2c02bce8-14a6-4f73-b14a-299518f8dfce" providerId="ADAL" clId="{973AE700-8634-4AC6-A10B-DFA7AFECB9DA}" dt="2025-12-25T07:50:44.535" v="40"/>
        <pc:sldMkLst>
          <pc:docMk/>
          <pc:sldMk cId="3653236891" sldId="381"/>
        </pc:sldMkLst>
      </pc:sldChg>
      <pc:sldChg chg="add del">
        <pc:chgData name="Maulin Nasari" userId="2c02bce8-14a6-4f73-b14a-299518f8dfce" providerId="ADAL" clId="{973AE700-8634-4AC6-A10B-DFA7AFECB9DA}" dt="2025-12-25T07:50:44.535" v="40"/>
        <pc:sldMkLst>
          <pc:docMk/>
          <pc:sldMk cId="1516697598" sldId="382"/>
        </pc:sldMkLst>
      </pc:sldChg>
      <pc:sldChg chg="add del">
        <pc:chgData name="Maulin Nasari" userId="2c02bce8-14a6-4f73-b14a-299518f8dfce" providerId="ADAL" clId="{973AE700-8634-4AC6-A10B-DFA7AFECB9DA}" dt="2025-12-25T07:50:44.535" v="40"/>
        <pc:sldMkLst>
          <pc:docMk/>
          <pc:sldMk cId="783085450" sldId="383"/>
        </pc:sldMkLst>
      </pc:sldChg>
      <pc:sldChg chg="add del">
        <pc:chgData name="Maulin Nasari" userId="2c02bce8-14a6-4f73-b14a-299518f8dfce" providerId="ADAL" clId="{973AE700-8634-4AC6-A10B-DFA7AFECB9DA}" dt="2025-12-25T07:50:44.535" v="40"/>
        <pc:sldMkLst>
          <pc:docMk/>
          <pc:sldMk cId="3966648516" sldId="384"/>
        </pc:sldMkLst>
      </pc:sldChg>
      <pc:sldChg chg="add del">
        <pc:chgData name="Maulin Nasari" userId="2c02bce8-14a6-4f73-b14a-299518f8dfce" providerId="ADAL" clId="{973AE700-8634-4AC6-A10B-DFA7AFECB9DA}" dt="2025-12-25T07:50:44.535" v="40"/>
        <pc:sldMkLst>
          <pc:docMk/>
          <pc:sldMk cId="3577103889" sldId="385"/>
        </pc:sldMkLst>
      </pc:sldChg>
      <pc:sldChg chg="add del">
        <pc:chgData name="Maulin Nasari" userId="2c02bce8-14a6-4f73-b14a-299518f8dfce" providerId="ADAL" clId="{973AE700-8634-4AC6-A10B-DFA7AFECB9DA}" dt="2025-12-25T07:50:44.535" v="40"/>
        <pc:sldMkLst>
          <pc:docMk/>
          <pc:sldMk cId="2134331825" sldId="386"/>
        </pc:sldMkLst>
      </pc:sldChg>
      <pc:sldChg chg="add del">
        <pc:chgData name="Maulin Nasari" userId="2c02bce8-14a6-4f73-b14a-299518f8dfce" providerId="ADAL" clId="{973AE700-8634-4AC6-A10B-DFA7AFECB9DA}" dt="2025-12-25T07:50:44.535" v="40"/>
        <pc:sldMkLst>
          <pc:docMk/>
          <pc:sldMk cId="3099110295" sldId="387"/>
        </pc:sldMkLst>
      </pc:sldChg>
      <pc:sldChg chg="add del">
        <pc:chgData name="Maulin Nasari" userId="2c02bce8-14a6-4f73-b14a-299518f8dfce" providerId="ADAL" clId="{973AE700-8634-4AC6-A10B-DFA7AFECB9DA}" dt="2025-12-25T07:50:44.535" v="40"/>
        <pc:sldMkLst>
          <pc:docMk/>
          <pc:sldMk cId="2836305370" sldId="388"/>
        </pc:sldMkLst>
      </pc:sldChg>
      <pc:sldChg chg="add del">
        <pc:chgData name="Maulin Nasari" userId="2c02bce8-14a6-4f73-b14a-299518f8dfce" providerId="ADAL" clId="{973AE700-8634-4AC6-A10B-DFA7AFECB9DA}" dt="2025-12-25T07:50:44.535" v="40"/>
        <pc:sldMkLst>
          <pc:docMk/>
          <pc:sldMk cId="3604285140" sldId="389"/>
        </pc:sldMkLst>
      </pc:sldChg>
      <pc:sldChg chg="add del">
        <pc:chgData name="Maulin Nasari" userId="2c02bce8-14a6-4f73-b14a-299518f8dfce" providerId="ADAL" clId="{973AE700-8634-4AC6-A10B-DFA7AFECB9DA}" dt="2025-12-25T07:50:44.535" v="40"/>
        <pc:sldMkLst>
          <pc:docMk/>
          <pc:sldMk cId="3663966220" sldId="39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2.svg"/><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6" name="Image" descr="Image">
            <a:extLst>
              <a:ext uri="{FF2B5EF4-FFF2-40B4-BE49-F238E27FC236}">
                <a16:creationId xmlns:a16="http://schemas.microsoft.com/office/drawing/2014/main" id="{BBEE18F9-7EE5-444F-AA57-68A6783A5225}"/>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837038" y="9711819"/>
            <a:ext cx="1700105" cy="1700105"/>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40000" y="4320116"/>
            <a:ext cx="3535680" cy="353568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287110" y="8648744"/>
            <a:ext cx="1403521" cy="1403521"/>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4"/>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437085"/>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136664"/>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815450"/>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494236"/>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173022"/>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6" name="Image" descr="Image">
            <a:extLst>
              <a:ext uri="{FF2B5EF4-FFF2-40B4-BE49-F238E27FC236}">
                <a16:creationId xmlns:a16="http://schemas.microsoft.com/office/drawing/2014/main" id="{ED3AA748-6163-AF42-8BA4-5A505F8580B0}"/>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11" name="Image" descr="Image">
            <a:extLst>
              <a:ext uri="{FF2B5EF4-FFF2-40B4-BE49-F238E27FC236}">
                <a16:creationId xmlns:a16="http://schemas.microsoft.com/office/drawing/2014/main" id="{5C0CB95F-A575-6E40-8A77-71E4C3CE5D20}"/>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264C53-F38A-3CAD-0C8A-2BF46116F396}"/>
              </a:ext>
            </a:extLst>
          </p:cNvPr>
          <p:cNvSpPr>
            <a:spLocks noGrp="1"/>
          </p:cNvSpPr>
          <p:nvPr>
            <p:ph type="body" sz="quarter" idx="1"/>
          </p:nvPr>
        </p:nvSpPr>
        <p:spPr/>
        <p:txBody>
          <a:bodyPr/>
          <a:lstStyle/>
          <a:p>
            <a:r>
              <a:rPr lang="en-US" dirty="0"/>
              <a:t>COMP6100001 - Software engineering</a:t>
            </a:r>
          </a:p>
          <a:p>
            <a:r>
              <a:rPr lang="en-US" dirty="0"/>
              <a:t>Session 21</a:t>
            </a:r>
          </a:p>
        </p:txBody>
      </p:sp>
      <p:sp>
        <p:nvSpPr>
          <p:cNvPr id="3" name="Title 2">
            <a:extLst>
              <a:ext uri="{FF2B5EF4-FFF2-40B4-BE49-F238E27FC236}">
                <a16:creationId xmlns:a16="http://schemas.microsoft.com/office/drawing/2014/main" id="{1220BAB2-790F-F74A-024A-FC22D1A3E6EA}"/>
              </a:ext>
            </a:extLst>
          </p:cNvPr>
          <p:cNvSpPr>
            <a:spLocks noGrp="1"/>
          </p:cNvSpPr>
          <p:nvPr>
            <p:ph type="title"/>
          </p:nvPr>
        </p:nvSpPr>
        <p:spPr/>
        <p:txBody>
          <a:bodyPr>
            <a:normAutofit fontScale="90000"/>
          </a:bodyPr>
          <a:lstStyle/>
          <a:p>
            <a:r>
              <a:rPr lang="en-US" dirty="0"/>
              <a:t>Software Maintenance, Legacy Systems, and Technical Debt</a:t>
            </a:r>
          </a:p>
        </p:txBody>
      </p:sp>
      <p:sp>
        <p:nvSpPr>
          <p:cNvPr id="4" name="Text Placeholder 3">
            <a:extLst>
              <a:ext uri="{FF2B5EF4-FFF2-40B4-BE49-F238E27FC236}">
                <a16:creationId xmlns:a16="http://schemas.microsoft.com/office/drawing/2014/main" id="{9E9B89E2-412C-8945-F692-CD51460D9806}"/>
              </a:ext>
            </a:extLst>
          </p:cNvPr>
          <p:cNvSpPr>
            <a:spLocks noGrp="1"/>
          </p:cNvSpPr>
          <p:nvPr>
            <p:ph type="body" sz="quarter" idx="11"/>
          </p:nvPr>
        </p:nvSpPr>
        <p:spPr/>
        <p:txBody>
          <a:bodyPr/>
          <a:lstStyle/>
          <a:p>
            <a:r>
              <a:rPr lang="en-US" dirty="0"/>
              <a:t>Kenny Jingga, </a:t>
            </a:r>
            <a:r>
              <a:rPr lang="en-US" dirty="0" err="1"/>
              <a:t>S.Kom</a:t>
            </a:r>
            <a:r>
              <a:rPr lang="en-US" dirty="0"/>
              <a:t>., M.T.</a:t>
            </a:r>
          </a:p>
        </p:txBody>
      </p:sp>
    </p:spTree>
    <p:extLst>
      <p:ext uri="{BB962C8B-B14F-4D97-AF65-F5344CB8AC3E}">
        <p14:creationId xmlns:p14="http://schemas.microsoft.com/office/powerpoint/2010/main" val="348722344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a:xfrm>
            <a:off x="2167377" y="1872058"/>
            <a:ext cx="20711673" cy="547670"/>
          </a:xfrm>
        </p:spPr>
        <p:txBody>
          <a:bodyPr>
            <a:normAutofit fontScale="90000"/>
          </a:bodyPr>
          <a:lstStyle/>
          <a:p>
            <a:r>
              <a:rPr lang="en-US" dirty="0"/>
              <a:t>Session 21 – Software Maintenance, Legacy Systems, and Technical Debt</a:t>
            </a:r>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Learning objectives</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2167376" y="4180796"/>
            <a:ext cx="20711673" cy="7115476"/>
          </a:xfrm>
        </p:spPr>
        <p:txBody>
          <a:bodyPr anchor="ctr">
            <a:normAutofit/>
          </a:bodyPr>
          <a:lstStyle/>
          <a:p>
            <a:pPr marL="0" indent="0" algn="just">
              <a:buNone/>
            </a:pPr>
            <a:r>
              <a:rPr lang="en-US" sz="3600" dirty="0">
                <a:latin typeface="Open Sans" panose="020B0606030504020204" pitchFamily="34" charset="0"/>
                <a:ea typeface="Open Sans" panose="020B0606030504020204" pitchFamily="34" charset="0"/>
                <a:cs typeface="Open Sans" panose="020B0606030504020204" pitchFamily="34" charset="0"/>
              </a:rPr>
              <a:t>At the end of this session, students will be expected to be able to:</a:t>
            </a:r>
          </a:p>
          <a:p>
            <a:pPr marL="0" indent="0" algn="just">
              <a:spcBef>
                <a:spcPts val="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Explain why maintenance dominates the lifecycle</a:t>
            </a:r>
          </a:p>
          <a:p>
            <a:pPr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Differentiate types of maintenance</a:t>
            </a:r>
          </a:p>
          <a:p>
            <a:pPr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Analyze legacy system challenges</a:t>
            </a:r>
          </a:p>
          <a:p>
            <a:pPr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Explain technical debt and its impact</a:t>
            </a:r>
          </a:p>
          <a:p>
            <a:pPr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Propose strategies to manage technical debt</a:t>
            </a:r>
          </a:p>
        </p:txBody>
      </p:sp>
    </p:spTree>
    <p:extLst>
      <p:ext uri="{BB962C8B-B14F-4D97-AF65-F5344CB8AC3E}">
        <p14:creationId xmlns:p14="http://schemas.microsoft.com/office/powerpoint/2010/main" val="385578585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a:xfrm>
            <a:off x="2167376" y="1872058"/>
            <a:ext cx="18687977" cy="547670"/>
          </a:xfrm>
        </p:spPr>
        <p:txBody>
          <a:bodyPr>
            <a:normAutofit fontScale="90000"/>
          </a:bodyPr>
          <a:lstStyle/>
          <a:p>
            <a:r>
              <a:rPr lang="en-US" dirty="0"/>
              <a:t>Session 21 – Software Maintenance, Legacy Systems, and Technical Debt</a:t>
            </a:r>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Content outline</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2167377" y="5334432"/>
            <a:ext cx="20711673" cy="4522264"/>
          </a:xfrm>
        </p:spPr>
        <p:txBody>
          <a:bodyPr>
            <a:normAutofit/>
          </a:bodyPr>
          <a:lstStyle/>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Software maintenance fundamentals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Types of maintenance</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Legacy systems challenges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Technical debt concepts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Strategies for managing technical debt</a:t>
            </a:r>
          </a:p>
        </p:txBody>
      </p:sp>
    </p:spTree>
    <p:extLst>
      <p:ext uri="{BB962C8B-B14F-4D97-AF65-F5344CB8AC3E}">
        <p14:creationId xmlns:p14="http://schemas.microsoft.com/office/powerpoint/2010/main" val="48198188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Deployment	</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pPr algn="just">
              <a:lnSpc>
                <a:spcPct val="120000"/>
              </a:lnSpc>
              <a:spcBef>
                <a:spcPts val="0"/>
              </a:spcBef>
            </a:pPr>
            <a:r>
              <a:rPr lang="en-US"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From Deployment to Maintenance</a:t>
            </a:r>
          </a:p>
        </p:txBody>
      </p:sp>
      <p:sp>
        <p:nvSpPr>
          <p:cNvPr id="10" name="TextBox 9">
            <a:extLst>
              <a:ext uri="{FF2B5EF4-FFF2-40B4-BE49-F238E27FC236}">
                <a16:creationId xmlns:a16="http://schemas.microsoft.com/office/drawing/2014/main" id="{AE152D5A-C519-B0B4-4AA0-C358D54C242C}"/>
              </a:ext>
            </a:extLst>
          </p:cNvPr>
          <p:cNvSpPr txBox="1"/>
          <p:nvPr/>
        </p:nvSpPr>
        <p:spPr>
          <a:xfrm>
            <a:off x="2167377" y="3811012"/>
            <a:ext cx="19918900" cy="60016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32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is software deployment?</a:t>
            </a:r>
          </a:p>
          <a:p>
            <a:pPr marL="457200" indent="-457200" algn="l">
              <a:buFont typeface="Arial" panose="020B0604020202020204" pitchFamily="34" charset="0"/>
              <a:buChar char="•"/>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process of </a:t>
            </a:r>
            <a:r>
              <a:rPr lang="en-US" sz="32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releasing software into a production environment</a:t>
            </a:r>
          </a:p>
          <a:p>
            <a:pPr marL="457200" indent="-457200" algn="l">
              <a:buFont typeface="Arial" panose="020B0604020202020204" pitchFamily="34" charset="0"/>
              <a:buChar char="•"/>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Includes installation, configuration, activation, and verification</a:t>
            </a:r>
          </a:p>
          <a:p>
            <a:pPr algn="l"/>
            <a:endPar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l"/>
            <a:r>
              <a:rPr lang="en-US" sz="32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Why deployment matters</a:t>
            </a:r>
          </a:p>
          <a:p>
            <a:pPr marL="457200" indent="-457200" algn="l">
              <a:buFont typeface="Arial" panose="020B0604020202020204" pitchFamily="34" charset="0"/>
              <a:buChar char="•"/>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Deployment marks </a:t>
            </a:r>
            <a:r>
              <a:rPr lang="en-US" sz="32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start of the maintenance phase</a:t>
            </a:r>
          </a:p>
          <a:p>
            <a:pPr marL="457200" indent="-457200" algn="l">
              <a:buFont typeface="Arial" panose="020B0604020202020204" pitchFamily="34" charset="0"/>
              <a:buChar char="•"/>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Decisions made here directly affect:</a:t>
            </a:r>
          </a:p>
          <a:p>
            <a:pPr marL="914400" lvl="2" indent="-457200" algn="l">
              <a:buFont typeface="Arial" panose="020B0604020202020204" pitchFamily="34" charset="0"/>
              <a:buChar char="•"/>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Ease of updates</a:t>
            </a:r>
          </a:p>
          <a:p>
            <a:pPr marL="914400" lvl="2" indent="-457200" algn="l">
              <a:buFont typeface="Arial" panose="020B0604020202020204" pitchFamily="34" charset="0"/>
              <a:buChar char="•"/>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Failure recovery</a:t>
            </a:r>
          </a:p>
          <a:p>
            <a:pPr marL="914400" lvl="2" indent="-457200" algn="l">
              <a:buFont typeface="Arial" panose="020B0604020202020204" pitchFamily="34" charset="0"/>
              <a:buChar char="•"/>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Long-term maintainability</a:t>
            </a:r>
          </a:p>
          <a:p>
            <a:pPr algn="l"/>
            <a:endPar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l"/>
            <a:r>
              <a:rPr lang="en-US" sz="32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Maintenance does not begin after deployment, maintenance begins because of deployment.</a:t>
            </a:r>
            <a:endParaRPr lang="en-ID" sz="32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64363852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Deployment</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SOFTWARE Deployment strategies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9892629"/>
          </a:xfrm>
        </p:spPr>
        <p:txBody>
          <a:bodyPr>
            <a:noAutofit/>
          </a:bodyPr>
          <a:lstStyle/>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Basic Deployment: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basic deployment involves updating every node in the target environment simultaneously to introduce a new version</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Rolling Deployment: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rolling deployment involves updating a subset of application instances (instead of the full update of a basic deployment)</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Multi-Service Deployment:</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multi-service deployment simultaneously updates every node in the target environment with multiple services</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Blue/Green </a:t>
            </a:r>
            <a:r>
              <a:rPr lang="en-US" sz="3600" b="1"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Deployment:</a:t>
            </a:r>
            <a:r>
              <a:rPr lang="en-US" sz="36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blue/green deployment involves deploying two versions of the application simultaneously</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Canary Deployment: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canary deployment involves releasing a service or application in increments</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A/B Testing: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A/B testing involves routing a small subset of users to the new functionality to collect statistics and help inform business decisions.</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Shadow Deployment: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shadow deployment involves releasing two parallel versions of the software, forking the incoming requests to the current version, and sending them to the new version.</a:t>
            </a:r>
          </a:p>
        </p:txBody>
      </p:sp>
    </p:spTree>
    <p:extLst>
      <p:ext uri="{BB962C8B-B14F-4D97-AF65-F5344CB8AC3E}">
        <p14:creationId xmlns:p14="http://schemas.microsoft.com/office/powerpoint/2010/main" val="293746442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Deployment</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929515" cy="1202703"/>
          </a:xfrm>
        </p:spPr>
        <p:txBody>
          <a:bodyPr>
            <a:normAutofit/>
          </a:bodyPr>
          <a:lstStyle/>
          <a:p>
            <a:r>
              <a:rPr lang="en-US" dirty="0"/>
              <a:t>Deployment Decisions That Affect Maintenance</a:t>
            </a:r>
          </a:p>
        </p:txBody>
      </p:sp>
      <p:sp>
        <p:nvSpPr>
          <p:cNvPr id="8" name="TextBox 7">
            <a:extLst>
              <a:ext uri="{FF2B5EF4-FFF2-40B4-BE49-F238E27FC236}">
                <a16:creationId xmlns:a16="http://schemas.microsoft.com/office/drawing/2014/main" id="{DB12D65F-81CF-874F-6EDC-C2308B918296}"/>
              </a:ext>
            </a:extLst>
          </p:cNvPr>
          <p:cNvSpPr txBox="1"/>
          <p:nvPr/>
        </p:nvSpPr>
        <p:spPr>
          <a:xfrm>
            <a:off x="2167377" y="4309745"/>
            <a:ext cx="16111830" cy="69865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buNone/>
            </a:pPr>
            <a:r>
              <a:rPr lang="en-US" sz="32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Deployment choices influence</a:t>
            </a:r>
            <a:endPar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457200" indent="-457200" algn="l">
              <a:buFont typeface="Arial" panose="020B0604020202020204" pitchFamily="34" charset="0"/>
              <a:buChar char="•"/>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Frequency of maintenance interventions</a:t>
            </a:r>
          </a:p>
          <a:p>
            <a:pPr marL="457200" indent="-457200" algn="l">
              <a:buFont typeface="Arial" panose="020B0604020202020204" pitchFamily="34" charset="0"/>
              <a:buChar char="•"/>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Cost of fixing defects in production</a:t>
            </a:r>
          </a:p>
          <a:p>
            <a:pPr marL="457200" indent="-457200" algn="l">
              <a:buFont typeface="Arial" panose="020B0604020202020204" pitchFamily="34" charset="0"/>
              <a:buChar char="•"/>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Stress on operations and support teams</a:t>
            </a:r>
          </a:p>
          <a:p>
            <a:pPr algn="l">
              <a:buNone/>
            </a:pPr>
            <a:endParaRPr lang="en-US" sz="32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l">
              <a:buNone/>
            </a:pPr>
            <a:r>
              <a:rPr lang="en-US" sz="32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Good deployment decisions</a:t>
            </a:r>
            <a:endPar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457200" indent="-457200" algn="l">
              <a:buFont typeface="Arial" panose="020B0604020202020204" pitchFamily="34" charset="0"/>
              <a:buChar char="•"/>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Enable fast rollback</a:t>
            </a:r>
          </a:p>
          <a:p>
            <a:pPr marL="457200" indent="-457200" algn="l">
              <a:buFont typeface="Arial" panose="020B0604020202020204" pitchFamily="34" charset="0"/>
              <a:buChar char="•"/>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Support continuous monitoring</a:t>
            </a:r>
          </a:p>
          <a:p>
            <a:pPr marL="457200" indent="-457200" algn="l">
              <a:buFont typeface="Arial" panose="020B0604020202020204" pitchFamily="34" charset="0"/>
              <a:buChar char="•"/>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Minimize downtime during fixes</a:t>
            </a:r>
          </a:p>
          <a:p>
            <a:pPr algn="l">
              <a:buNone/>
            </a:pPr>
            <a:endParaRPr lang="en-US" sz="32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l">
              <a:buNone/>
            </a:pPr>
            <a:r>
              <a:rPr lang="en-US" sz="32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Poor deployment decisions</a:t>
            </a:r>
            <a:endPar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457200" indent="-457200" algn="l">
              <a:buFont typeface="Arial" panose="020B0604020202020204" pitchFamily="34" charset="0"/>
              <a:buChar char="•"/>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Lock teams into fragile releases</a:t>
            </a:r>
          </a:p>
          <a:p>
            <a:pPr marL="457200" indent="-457200" algn="l">
              <a:buFont typeface="Arial" panose="020B0604020202020204" pitchFamily="34" charset="0"/>
              <a:buChar char="•"/>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Increase emergency maintenance</a:t>
            </a:r>
          </a:p>
          <a:p>
            <a:pPr marL="457200" indent="-457200" algn="l">
              <a:buFont typeface="Arial" panose="020B0604020202020204" pitchFamily="34" charset="0"/>
              <a:buChar char="•"/>
            </a:pPr>
            <a:r>
              <a:rPr lang="en-US" sz="32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Accumulate hidden technical debt</a:t>
            </a:r>
          </a:p>
        </p:txBody>
      </p:sp>
    </p:spTree>
    <p:extLst>
      <p:ext uri="{BB962C8B-B14F-4D97-AF65-F5344CB8AC3E}">
        <p14:creationId xmlns:p14="http://schemas.microsoft.com/office/powerpoint/2010/main" val="6225699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Maintenance</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Maintainable software</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80"/>
          </a:xfrm>
        </p:spPr>
        <p:txBody>
          <a:bodyPr anchor="t">
            <a:normAutofit/>
          </a:bodyPr>
          <a:lstStyle/>
          <a:p>
            <a:pPr algn="just"/>
            <a:r>
              <a:rPr lang="en-US" sz="3600" dirty="0">
                <a:latin typeface="Open Sans" panose="020B0606030504020204" pitchFamily="34" charset="0"/>
                <a:ea typeface="Open Sans" panose="020B0606030504020204" pitchFamily="34" charset="0"/>
                <a:cs typeface="Open Sans" panose="020B0606030504020204" pitchFamily="34" charset="0"/>
              </a:rPr>
              <a:t>Maintainable software exhibits effective modularity</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It makes use of design patterns that allow ease of understanding. </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It has been constructed using well-defined coding standards and conventions, leading to source code that is self-documenting and understandable. </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It has undergone a variety of quality assurance techniques that have uncovered potential maintenance problems before the software is released. </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It has been created by software engineers who recognize that they may not be around when changes must be made. </a:t>
            </a:r>
          </a:p>
          <a:p>
            <a:pPr lvl="1" algn="just">
              <a:buFont typeface="Open Sans" panose="020B0606030504020204" pitchFamily="34" charset="0"/>
              <a:buChar char="–"/>
            </a:pPr>
            <a:r>
              <a:rPr lang="en-US" sz="3600" dirty="0">
                <a:latin typeface="Open Sans" panose="020B0606030504020204" pitchFamily="34" charset="0"/>
                <a:ea typeface="Open Sans" panose="020B0606030504020204" pitchFamily="34" charset="0"/>
                <a:cs typeface="Open Sans" panose="020B0606030504020204" pitchFamily="34" charset="0"/>
              </a:rPr>
              <a:t>Therefore, the design and implementation of the software must “assist” the person who is making the change</a:t>
            </a:r>
          </a:p>
        </p:txBody>
      </p:sp>
    </p:spTree>
    <p:extLst>
      <p:ext uri="{BB962C8B-B14F-4D97-AF65-F5344CB8AC3E}">
        <p14:creationId xmlns:p14="http://schemas.microsoft.com/office/powerpoint/2010/main" val="201419837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Maintenance</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Software supportability</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80"/>
          </a:xfrm>
        </p:spPr>
        <p:txBody>
          <a:bodyPr anchor="t">
            <a:normAutofit/>
          </a:bodyPr>
          <a:lstStyle/>
          <a:p>
            <a:pPr algn="just"/>
            <a:r>
              <a:rPr lang="en-US" sz="3600" dirty="0">
                <a:latin typeface="Open Sans" panose="020B0606030504020204" pitchFamily="34" charset="0"/>
                <a:ea typeface="Open Sans" panose="020B0606030504020204" pitchFamily="34" charset="0"/>
                <a:cs typeface="Open Sans" panose="020B0606030504020204" pitchFamily="34" charset="0"/>
              </a:rPr>
              <a:t>“the capability of supporting a software system over its whole product life. </a:t>
            </a:r>
          </a:p>
          <a:p>
            <a:pPr lvl="1" algn="just">
              <a:buFont typeface="Open Sans" panose="020B0606030504020204" pitchFamily="34" charset="0"/>
              <a:buChar char="–"/>
            </a:pPr>
            <a:r>
              <a:rPr lang="en-US" sz="3600" dirty="0">
                <a:latin typeface="Open Sans" panose="020B0606030504020204" pitchFamily="34" charset="0"/>
                <a:ea typeface="Open Sans" panose="020B0606030504020204" pitchFamily="34" charset="0"/>
                <a:cs typeface="Open Sans" panose="020B0606030504020204" pitchFamily="34" charset="0"/>
              </a:rPr>
              <a:t>This implies satisfying any necessary needs or requirements, but also the provision of equipment, support infrastructure, additional software, facilities, manpower, or any other resource required to maintain the software operational and capable of satisfying its function.” [SSO08]</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The software should contain facilities to assist support personnel when a defect is encountered in the operational environment (and make no mistake, defects will be encountered). </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Support personnel should have access to a database that contains records of all defects that have already been encountered—their characteristics, cause, and cure.</a:t>
            </a:r>
          </a:p>
        </p:txBody>
      </p:sp>
    </p:spTree>
    <p:extLst>
      <p:ext uri="{BB962C8B-B14F-4D97-AF65-F5344CB8AC3E}">
        <p14:creationId xmlns:p14="http://schemas.microsoft.com/office/powerpoint/2010/main" val="66093160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Types of Maintenance</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2"/>
            <a:ext cx="20295058" cy="10455337"/>
          </a:xfrm>
        </p:spPr>
        <p:txBody>
          <a:bodyPr anchor="t">
            <a:normAutofit lnSpcReduction="10000"/>
          </a:bodyPr>
          <a:lstStyle/>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Corrective Maintenance</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lnSpc>
                <a:spcPct val="120000"/>
              </a:lnSpc>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Involves fixing bugs and errors found after software deployment.</a:t>
            </a:r>
          </a:p>
          <a:p>
            <a:pPr lvl="1"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Example</a:t>
            </a:r>
            <a:r>
              <a:rPr lang="en-US" sz="3600" dirty="0">
                <a:latin typeface="Open Sans" panose="020B0606030504020204" pitchFamily="34" charset="0"/>
                <a:ea typeface="Open Sans" panose="020B0606030504020204" pitchFamily="34" charset="0"/>
                <a:cs typeface="Open Sans" panose="020B0606030504020204" pitchFamily="34" charset="0"/>
              </a:rPr>
              <a:t>: Correcting a bug that causes the application to crash under specific conditions.</a:t>
            </a:r>
          </a:p>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Adaptive Maintenance</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lnSpc>
                <a:spcPct val="120000"/>
              </a:lnSpc>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Involves updating software to remain compatible with new environments (e.g., OS updates, hardware changes).</a:t>
            </a:r>
          </a:p>
          <a:p>
            <a:pPr lvl="1"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Example</a:t>
            </a:r>
            <a:r>
              <a:rPr lang="en-US" sz="3600" dirty="0">
                <a:latin typeface="Open Sans" panose="020B0606030504020204" pitchFamily="34" charset="0"/>
                <a:ea typeface="Open Sans" panose="020B0606030504020204" pitchFamily="34" charset="0"/>
                <a:cs typeface="Open Sans" panose="020B0606030504020204" pitchFamily="34" charset="0"/>
              </a:rPr>
              <a:t>: Modifying a mobile app to work with a new version of iOS.</a:t>
            </a:r>
          </a:p>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Perfective Maintenance</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lnSpc>
                <a:spcPct val="120000"/>
              </a:lnSpc>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Enhances or refines existing functionalities based on user feedback or to improve performance.</a:t>
            </a:r>
          </a:p>
          <a:p>
            <a:pPr lvl="1"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Example</a:t>
            </a:r>
            <a:r>
              <a:rPr lang="en-US" sz="3600" dirty="0">
                <a:latin typeface="Open Sans" panose="020B0606030504020204" pitchFamily="34" charset="0"/>
                <a:ea typeface="Open Sans" panose="020B0606030504020204" pitchFamily="34" charset="0"/>
                <a:cs typeface="Open Sans" panose="020B0606030504020204" pitchFamily="34" charset="0"/>
              </a:rPr>
              <a:t>: Adding a new search filter to an e-commerce application to improve user experience.</a:t>
            </a:r>
          </a:p>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Preventive Maintenance</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lnSpc>
                <a:spcPct val="120000"/>
              </a:lnSpc>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Aims to detect and prevent future problems by addressing potential vulnerabilities and optimizing code.</a:t>
            </a:r>
          </a:p>
          <a:p>
            <a:pPr lvl="1"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Example</a:t>
            </a:r>
            <a:r>
              <a:rPr lang="en-US" sz="3600" dirty="0">
                <a:latin typeface="Open Sans" panose="020B0606030504020204" pitchFamily="34" charset="0"/>
                <a:ea typeface="Open Sans" panose="020B0606030504020204" pitchFamily="34" charset="0"/>
                <a:cs typeface="Open Sans" panose="020B0606030504020204" pitchFamily="34" charset="0"/>
              </a:rPr>
              <a:t>: Refactoring code to reduce technical debt and improve maintainability.</a:t>
            </a:r>
          </a:p>
        </p:txBody>
      </p:sp>
    </p:spTree>
    <p:extLst>
      <p:ext uri="{BB962C8B-B14F-4D97-AF65-F5344CB8AC3E}">
        <p14:creationId xmlns:p14="http://schemas.microsoft.com/office/powerpoint/2010/main" val="213190240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Maintenance Process and Best </a:t>
            </a:r>
            <a:r>
              <a:rPr lang="en-US" dirty="0" err="1"/>
              <a:t>PRactices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1098965" y="2885818"/>
            <a:ext cx="10773371" cy="803546"/>
          </a:xfrm>
        </p:spPr>
        <p:txBody>
          <a:bodyPr>
            <a:normAutofit/>
          </a:bodyPr>
          <a:lstStyle/>
          <a:p>
            <a:pPr algn="ctr"/>
            <a:r>
              <a:rPr lang="en-US" dirty="0"/>
              <a:t>Typical Maintenance </a:t>
            </a:r>
            <a:r>
              <a:rPr lang="en-US" dirty="0" err="1"/>
              <a:t>PRocess</a:t>
            </a:r>
            <a:endParaRPr lang="en-US" dirty="0"/>
          </a:p>
        </p:txBody>
      </p:sp>
      <p:pic>
        <p:nvPicPr>
          <p:cNvPr id="6" name="Picture 5">
            <a:extLst>
              <a:ext uri="{FF2B5EF4-FFF2-40B4-BE49-F238E27FC236}">
                <a16:creationId xmlns:a16="http://schemas.microsoft.com/office/drawing/2014/main" id="{FA0E797C-0D0F-492B-9161-F0C24041423B}"/>
              </a:ext>
            </a:extLst>
          </p:cNvPr>
          <p:cNvPicPr>
            <a:picLocks noChangeAspect="1"/>
          </p:cNvPicPr>
          <p:nvPr/>
        </p:nvPicPr>
        <p:blipFill>
          <a:blip r:embed="rId2"/>
          <a:srcRect l="24307" r="23608"/>
          <a:stretch>
            <a:fillRect/>
          </a:stretch>
        </p:blipFill>
        <p:spPr>
          <a:xfrm>
            <a:off x="703385" y="3838563"/>
            <a:ext cx="11564532" cy="8005379"/>
          </a:xfrm>
          <a:prstGeom prst="rect">
            <a:avLst/>
          </a:prstGeom>
        </p:spPr>
      </p:pic>
      <p:sp>
        <p:nvSpPr>
          <p:cNvPr id="9"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12940747" y="3838563"/>
            <a:ext cx="10773371" cy="9877436"/>
          </a:xfrm>
        </p:spPr>
        <p:txBody>
          <a:bodyPr anchor="t">
            <a:normAutofit/>
          </a:bodyPr>
          <a:lstStyle/>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Code Documentation</a:t>
            </a:r>
            <a:r>
              <a:rPr lang="en-US" sz="3600" dirty="0">
                <a:latin typeface="Open Sans" panose="020B0606030504020204" pitchFamily="34" charset="0"/>
                <a:ea typeface="Open Sans" panose="020B0606030504020204" pitchFamily="34" charset="0"/>
                <a:cs typeface="Open Sans" panose="020B0606030504020204" pitchFamily="34" charset="0"/>
              </a:rPr>
              <a:t>: Maintain clear and updated code documentation.</a:t>
            </a:r>
          </a:p>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Version Control</a:t>
            </a:r>
            <a:r>
              <a:rPr lang="en-US" sz="3600" dirty="0">
                <a:latin typeface="Open Sans" panose="020B0606030504020204" pitchFamily="34" charset="0"/>
                <a:ea typeface="Open Sans" panose="020B0606030504020204" pitchFamily="34" charset="0"/>
                <a:cs typeface="Open Sans" panose="020B0606030504020204" pitchFamily="34" charset="0"/>
              </a:rPr>
              <a:t>: Use version control systems (e.g., Git) to manage and track changes.</a:t>
            </a:r>
          </a:p>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Automated Testing</a:t>
            </a:r>
            <a:r>
              <a:rPr lang="en-US" sz="3600" dirty="0">
                <a:latin typeface="Open Sans" panose="020B0606030504020204" pitchFamily="34" charset="0"/>
                <a:ea typeface="Open Sans" panose="020B0606030504020204" pitchFamily="34" charset="0"/>
                <a:cs typeface="Open Sans" panose="020B0606030504020204" pitchFamily="34" charset="0"/>
              </a:rPr>
              <a:t>: Run automated tests to detect issues early and validate modifications.</a:t>
            </a:r>
          </a:p>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Regular Refactoring</a:t>
            </a:r>
            <a:r>
              <a:rPr lang="en-US" sz="3600" dirty="0">
                <a:latin typeface="Open Sans" panose="020B0606030504020204" pitchFamily="34" charset="0"/>
                <a:ea typeface="Open Sans" panose="020B0606030504020204" pitchFamily="34" charset="0"/>
                <a:cs typeface="Open Sans" panose="020B0606030504020204" pitchFamily="34" charset="0"/>
              </a:rPr>
              <a:t>: Continuously improve code quality to ease future maintenance.</a:t>
            </a:r>
          </a:p>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User Feedback Collection</a:t>
            </a:r>
            <a:r>
              <a:rPr lang="en-US" sz="3600" dirty="0">
                <a:latin typeface="Open Sans" panose="020B0606030504020204" pitchFamily="34" charset="0"/>
                <a:ea typeface="Open Sans" panose="020B0606030504020204" pitchFamily="34" charset="0"/>
                <a:cs typeface="Open Sans" panose="020B0606030504020204" pitchFamily="34" charset="0"/>
              </a:rPr>
              <a:t>: Regularly gather user input to prioritize improvements and address issues that impact user experience.</a:t>
            </a:r>
          </a:p>
        </p:txBody>
      </p:sp>
      <p:sp>
        <p:nvSpPr>
          <p:cNvPr id="10" name="Text Placeholder 2">
            <a:extLst>
              <a:ext uri="{FF2B5EF4-FFF2-40B4-BE49-F238E27FC236}">
                <a16:creationId xmlns:a16="http://schemas.microsoft.com/office/drawing/2014/main" id="{37C923B2-325D-3FC9-B238-11D19827411B}"/>
              </a:ext>
            </a:extLst>
          </p:cNvPr>
          <p:cNvSpPr txBox="1">
            <a:spLocks/>
          </p:cNvSpPr>
          <p:nvPr/>
        </p:nvSpPr>
        <p:spPr>
          <a:xfrm>
            <a:off x="12940746" y="2885818"/>
            <a:ext cx="10773371"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ctr"/>
            <a:r>
              <a:rPr lang="en-ID" dirty="0"/>
              <a:t>Best Practices</a:t>
            </a:r>
          </a:p>
        </p:txBody>
      </p:sp>
    </p:spTree>
    <p:extLst>
      <p:ext uri="{BB962C8B-B14F-4D97-AF65-F5344CB8AC3E}">
        <p14:creationId xmlns:p14="http://schemas.microsoft.com/office/powerpoint/2010/main" val="54907228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Challenges in software maintenance</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Common Challenges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2"/>
            <a:ext cx="20295058" cy="10455337"/>
          </a:xfrm>
        </p:spPr>
        <p:txBody>
          <a:bodyPr anchor="t">
            <a:normAutofit/>
          </a:bodyPr>
          <a:lstStyle/>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High Complexity</a:t>
            </a:r>
            <a:r>
              <a:rPr lang="en-US" sz="3600" dirty="0">
                <a:latin typeface="Open Sans" panose="020B0606030504020204" pitchFamily="34" charset="0"/>
                <a:ea typeface="Open Sans" panose="020B0606030504020204" pitchFamily="34" charset="0"/>
                <a:cs typeface="Open Sans" panose="020B0606030504020204" pitchFamily="34" charset="0"/>
              </a:rPr>
              <a:t>: Legacy code and dependencies make changes difficult.</a:t>
            </a:r>
          </a:p>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Inadequate Documentation</a:t>
            </a:r>
            <a:r>
              <a:rPr lang="en-US" sz="3600" dirty="0">
                <a:latin typeface="Open Sans" panose="020B0606030504020204" pitchFamily="34" charset="0"/>
                <a:ea typeface="Open Sans" panose="020B0606030504020204" pitchFamily="34" charset="0"/>
                <a:cs typeface="Open Sans" panose="020B0606030504020204" pitchFamily="34" charset="0"/>
              </a:rPr>
              <a:t>: Lack of documentation can hinder understanding and increase time spent on changes.</a:t>
            </a:r>
          </a:p>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Resource Constraints</a:t>
            </a:r>
            <a:r>
              <a:rPr lang="en-US" sz="3600" dirty="0">
                <a:latin typeface="Open Sans" panose="020B0606030504020204" pitchFamily="34" charset="0"/>
                <a:ea typeface="Open Sans" panose="020B0606030504020204" pitchFamily="34" charset="0"/>
                <a:cs typeface="Open Sans" panose="020B0606030504020204" pitchFamily="34" charset="0"/>
              </a:rPr>
              <a:t>: Limited time, budget, and skilled personnel often impact maintenance quality.</a:t>
            </a:r>
          </a:p>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Managing Technical Debt</a:t>
            </a:r>
            <a:r>
              <a:rPr lang="en-US" sz="3600" dirty="0">
                <a:latin typeface="Open Sans" panose="020B0606030504020204" pitchFamily="34" charset="0"/>
                <a:ea typeface="Open Sans" panose="020B0606030504020204" pitchFamily="34" charset="0"/>
                <a:cs typeface="Open Sans" panose="020B0606030504020204" pitchFamily="34" charset="0"/>
              </a:rPr>
              <a:t>: Accumulated shortcuts or outdated code require attention but are often deferred.</a:t>
            </a:r>
          </a:p>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Changing Requirements</a:t>
            </a:r>
            <a:r>
              <a:rPr lang="en-US" sz="3600" dirty="0">
                <a:latin typeface="Open Sans" panose="020B0606030504020204" pitchFamily="34" charset="0"/>
                <a:ea typeface="Open Sans" panose="020B0606030504020204" pitchFamily="34" charset="0"/>
                <a:cs typeface="Open Sans" panose="020B0606030504020204" pitchFamily="34" charset="0"/>
              </a:rPr>
              <a:t>: Business or regulatory changes add complexity to ongoing maintenance.</a:t>
            </a:r>
          </a:p>
          <a:p>
            <a:pPr marL="0" indent="0" algn="just">
              <a:lnSpc>
                <a:spcPct val="120000"/>
              </a:lnSpc>
              <a:spcBef>
                <a:spcPts val="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marL="0" indent="0" algn="just">
              <a:lnSpc>
                <a:spcPct val="120000"/>
              </a:lnSpc>
              <a:spcBef>
                <a:spcPts val="0"/>
              </a:spcBef>
              <a:buNone/>
            </a:pPr>
            <a:r>
              <a:rPr lang="en-US" sz="3600" b="1" dirty="0">
                <a:latin typeface="Open Sans" panose="020B0606030504020204" pitchFamily="34" charset="0"/>
                <a:ea typeface="Open Sans" panose="020B0606030504020204" pitchFamily="34" charset="0"/>
                <a:cs typeface="Open Sans" panose="020B0606030504020204" pitchFamily="34" charset="0"/>
              </a:rPr>
              <a:t>Examples and Discussion</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Legacy Systems</a:t>
            </a:r>
            <a:r>
              <a:rPr lang="en-US" sz="3600" dirty="0">
                <a:latin typeface="Open Sans" panose="020B0606030504020204" pitchFamily="34" charset="0"/>
                <a:ea typeface="Open Sans" panose="020B0606030504020204" pitchFamily="34" charset="0"/>
                <a:cs typeface="Open Sans" panose="020B0606030504020204" pitchFamily="34" charset="0"/>
              </a:rPr>
              <a:t>: Maintaining older systems with outdated technology is challenging, especially with limited compatibility with modern tools.</a:t>
            </a:r>
          </a:p>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Technical Debt</a:t>
            </a:r>
            <a:r>
              <a:rPr lang="en-US" sz="3600" dirty="0">
                <a:latin typeface="Open Sans" panose="020B0606030504020204" pitchFamily="34" charset="0"/>
                <a:ea typeface="Open Sans" panose="020B0606030504020204" pitchFamily="34" charset="0"/>
                <a:cs typeface="Open Sans" panose="020B0606030504020204" pitchFamily="34" charset="0"/>
              </a:rPr>
              <a:t>: Discuss how technical debt accumulates when quick fixes are prioritized over quality.</a:t>
            </a:r>
          </a:p>
        </p:txBody>
      </p:sp>
    </p:spTree>
    <p:extLst>
      <p:ext uri="{BB962C8B-B14F-4D97-AF65-F5344CB8AC3E}">
        <p14:creationId xmlns:p14="http://schemas.microsoft.com/office/powerpoint/2010/main" val="269565070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Measuring maintenance Effort and Effectiveness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Metrics for measuring maintenance Effort</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2"/>
            <a:ext cx="20295058" cy="10455337"/>
          </a:xfrm>
        </p:spPr>
        <p:txBody>
          <a:bodyPr anchor="t">
            <a:normAutofit/>
          </a:bodyPr>
          <a:lstStyle/>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Mean Time to Repair (MTTR)</a:t>
            </a:r>
            <a:r>
              <a:rPr lang="en-US" sz="3600" dirty="0">
                <a:latin typeface="Open Sans" panose="020B0606030504020204" pitchFamily="34" charset="0"/>
                <a:ea typeface="Open Sans" panose="020B0606030504020204" pitchFamily="34" charset="0"/>
                <a:cs typeface="Open Sans" panose="020B0606030504020204" pitchFamily="34" charset="0"/>
              </a:rPr>
              <a:t>: Average time taken to fix an issue.</a:t>
            </a:r>
          </a:p>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Number of Outstanding Defects</a:t>
            </a:r>
            <a:r>
              <a:rPr lang="en-US" sz="3600" dirty="0">
                <a:latin typeface="Open Sans" panose="020B0606030504020204" pitchFamily="34" charset="0"/>
                <a:ea typeface="Open Sans" panose="020B0606030504020204" pitchFamily="34" charset="0"/>
                <a:cs typeface="Open Sans" panose="020B0606030504020204" pitchFamily="34" charset="0"/>
              </a:rPr>
              <a:t>: Tracks unresolved defects over time to gauge system stability.</a:t>
            </a:r>
          </a:p>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Defect Density</a:t>
            </a:r>
            <a:r>
              <a:rPr lang="en-US" sz="3600" dirty="0">
                <a:latin typeface="Open Sans" panose="020B0606030504020204" pitchFamily="34" charset="0"/>
                <a:ea typeface="Open Sans" panose="020B0606030504020204" pitchFamily="34" charset="0"/>
                <a:cs typeface="Open Sans" panose="020B0606030504020204" pitchFamily="34" charset="0"/>
              </a:rPr>
              <a:t>: Number of defects per unit of code (e.g., per thousand lines of code).</a:t>
            </a:r>
          </a:p>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Code Complexity Metrics</a:t>
            </a:r>
            <a:r>
              <a:rPr lang="en-US" sz="3600" dirty="0">
                <a:latin typeface="Open Sans" panose="020B0606030504020204" pitchFamily="34" charset="0"/>
                <a:ea typeface="Open Sans" panose="020B0606030504020204" pitchFamily="34" charset="0"/>
                <a:cs typeface="Open Sans" panose="020B0606030504020204" pitchFamily="34" charset="0"/>
              </a:rPr>
              <a:t>: Measures such as cyclomatic complexity can indicate code maintainability.</a:t>
            </a:r>
          </a:p>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User-Reported Issues</a:t>
            </a:r>
            <a:r>
              <a:rPr lang="en-US" sz="3600" dirty="0">
                <a:latin typeface="Open Sans" panose="020B0606030504020204" pitchFamily="34" charset="0"/>
                <a:ea typeface="Open Sans" panose="020B0606030504020204" pitchFamily="34" charset="0"/>
                <a:cs typeface="Open Sans" panose="020B0606030504020204" pitchFamily="34" charset="0"/>
              </a:rPr>
              <a:t>: Tracking user-reported issues can highlight areas requiring more attention.</a:t>
            </a:r>
          </a:p>
        </p:txBody>
      </p:sp>
    </p:spTree>
    <p:extLst>
      <p:ext uri="{BB962C8B-B14F-4D97-AF65-F5344CB8AC3E}">
        <p14:creationId xmlns:p14="http://schemas.microsoft.com/office/powerpoint/2010/main" val="2782016618"/>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Measuring maintenance Effort and Effectiveness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Measuring effectiveness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2"/>
            <a:ext cx="20295058" cy="10455337"/>
          </a:xfrm>
        </p:spPr>
        <p:txBody>
          <a:bodyPr anchor="t">
            <a:normAutofit/>
          </a:bodyPr>
          <a:lstStyle/>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User Satisfaction Surveys</a:t>
            </a:r>
            <a:r>
              <a:rPr lang="en-US" sz="3600" dirty="0">
                <a:latin typeface="Open Sans" panose="020B0606030504020204" pitchFamily="34" charset="0"/>
                <a:ea typeface="Open Sans" panose="020B0606030504020204" pitchFamily="34" charset="0"/>
                <a:cs typeface="Open Sans" panose="020B0606030504020204" pitchFamily="34" charset="0"/>
              </a:rPr>
              <a:t>: Collect feedback on system usability and performance post-maintenance.</a:t>
            </a:r>
          </a:p>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Regression Testing Pass Rate</a:t>
            </a:r>
            <a:r>
              <a:rPr lang="en-US" sz="3600" dirty="0">
                <a:latin typeface="Open Sans" panose="020B0606030504020204" pitchFamily="34" charset="0"/>
                <a:ea typeface="Open Sans" panose="020B0606030504020204" pitchFamily="34" charset="0"/>
                <a:cs typeface="Open Sans" panose="020B0606030504020204" pitchFamily="34" charset="0"/>
              </a:rPr>
              <a:t>: High regression testing pass rates indicate that changes do not introduce new issues.</a:t>
            </a:r>
          </a:p>
          <a:p>
            <a:pPr algn="just">
              <a:lnSpc>
                <a:spcPct val="120000"/>
              </a:lnSpc>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Maintenance Cost vs. Improvement</a:t>
            </a:r>
            <a:r>
              <a:rPr lang="en-US" sz="3600" dirty="0">
                <a:latin typeface="Open Sans" panose="020B0606030504020204" pitchFamily="34" charset="0"/>
                <a:ea typeface="Open Sans" panose="020B0606030504020204" pitchFamily="34" charset="0"/>
                <a:cs typeface="Open Sans" panose="020B0606030504020204" pitchFamily="34" charset="0"/>
              </a:rPr>
              <a:t>: Analyze if the time and budget spent on maintenance achieve the intended improvements.</a:t>
            </a:r>
          </a:p>
        </p:txBody>
      </p:sp>
    </p:spTree>
    <p:extLst>
      <p:ext uri="{BB962C8B-B14F-4D97-AF65-F5344CB8AC3E}">
        <p14:creationId xmlns:p14="http://schemas.microsoft.com/office/powerpoint/2010/main" val="351499250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2860E-C457-BD7A-7EC4-D63E67E7C1BF}"/>
              </a:ext>
            </a:extLst>
          </p:cNvPr>
          <p:cNvSpPr>
            <a:spLocks noGrp="1"/>
          </p:cNvSpPr>
          <p:nvPr>
            <p:ph type="title"/>
          </p:nvPr>
        </p:nvSpPr>
        <p:spPr/>
        <p:txBody>
          <a:bodyPr/>
          <a:lstStyle/>
          <a:p>
            <a:r>
              <a:rPr lang="en-US" dirty="0"/>
              <a:t>Metrics tell us </a:t>
            </a:r>
            <a:r>
              <a:rPr lang="en-US" i="1" dirty="0"/>
              <a:t>how</a:t>
            </a:r>
            <a:r>
              <a:rPr lang="en-US" dirty="0"/>
              <a:t> maintenance performs</a:t>
            </a:r>
          </a:p>
        </p:txBody>
      </p:sp>
      <p:sp>
        <p:nvSpPr>
          <p:cNvPr id="4" name="TextBox 3">
            <a:extLst>
              <a:ext uri="{FF2B5EF4-FFF2-40B4-BE49-F238E27FC236}">
                <a16:creationId xmlns:a16="http://schemas.microsoft.com/office/drawing/2014/main" id="{8BD3163D-EE55-FB8C-013B-72E75F96AF3F}"/>
              </a:ext>
            </a:extLst>
          </p:cNvPr>
          <p:cNvSpPr txBox="1"/>
          <p:nvPr/>
        </p:nvSpPr>
        <p:spPr>
          <a:xfrm>
            <a:off x="3241429" y="8766601"/>
            <a:ext cx="17901138"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4800" dirty="0">
                <a:solidFill>
                  <a:schemeClr val="bg1"/>
                </a:solidFill>
                <a:latin typeface="Open Sans" panose="020B0606030504020204" pitchFamily="34" charset="0"/>
                <a:ea typeface="Open Sans" panose="020B0606030504020204" pitchFamily="34" charset="0"/>
                <a:cs typeface="Open Sans" panose="020B0606030504020204" pitchFamily="34" charset="0"/>
              </a:rPr>
              <a:t>but reality begins when we face the code we must change</a:t>
            </a:r>
            <a:endParaRPr lang="en-ID" sz="48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09817913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Preface</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Context: big ole pile of Code</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t">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Do something with it!</a:t>
            </a:r>
            <a:endPar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6" name="Picture 5" descr="A screenshot of a web page&#10;&#10;Description automatically generated">
            <a:extLst>
              <a:ext uri="{FF2B5EF4-FFF2-40B4-BE49-F238E27FC236}">
                <a16:creationId xmlns:a16="http://schemas.microsoft.com/office/drawing/2014/main" id="{7FB4DF21-DCBD-8B00-83FE-ACDDFE0B76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6628" y="4101598"/>
            <a:ext cx="16450743" cy="7194674"/>
          </a:xfrm>
          <a:prstGeom prst="rect">
            <a:avLst/>
          </a:prstGeom>
        </p:spPr>
      </p:pic>
    </p:spTree>
    <p:extLst>
      <p:ext uri="{BB962C8B-B14F-4D97-AF65-F5344CB8AC3E}">
        <p14:creationId xmlns:p14="http://schemas.microsoft.com/office/powerpoint/2010/main" val="14066104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B4295-A572-29F0-300E-C0562E0E30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9C1F3B-F117-491E-752C-C4D19E36611B}"/>
              </a:ext>
            </a:extLst>
          </p:cNvPr>
          <p:cNvSpPr>
            <a:spLocks noGrp="1"/>
          </p:cNvSpPr>
          <p:nvPr>
            <p:ph type="title"/>
          </p:nvPr>
        </p:nvSpPr>
        <p:spPr/>
        <p:txBody>
          <a:bodyPr/>
          <a:lstStyle/>
          <a:p>
            <a:r>
              <a:rPr lang="en-US" dirty="0"/>
              <a:t>You will never understand the entire system!</a:t>
            </a:r>
          </a:p>
        </p:txBody>
      </p:sp>
    </p:spTree>
    <p:extLst>
      <p:ext uri="{BB962C8B-B14F-4D97-AF65-F5344CB8AC3E}">
        <p14:creationId xmlns:p14="http://schemas.microsoft.com/office/powerpoint/2010/main" val="381229639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Challenge Regarding the system</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How do I tackle this codebase?</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Leverage your previous experiences (languages, technologies, patterns)</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Consult documentation, whitepapers</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Talk to experts, code owners</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Follow best practices to build a working model of the system</a:t>
            </a:r>
          </a:p>
          <a:p>
            <a:pPr marL="0" indent="0" algn="just">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But…</a:t>
            </a:r>
          </a:p>
        </p:txBody>
      </p:sp>
    </p:spTree>
    <p:extLst>
      <p:ext uri="{BB962C8B-B14F-4D97-AF65-F5344CB8AC3E}">
        <p14:creationId xmlns:p14="http://schemas.microsoft.com/office/powerpoint/2010/main" val="90856209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Challenge Regarding the system</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1722110" cy="1158359"/>
          </a:xfrm>
        </p:spPr>
        <p:txBody>
          <a:bodyPr>
            <a:normAutofit/>
          </a:bodyPr>
          <a:lstStyle/>
          <a:p>
            <a:r>
              <a:rPr lang="en-US" dirty="0"/>
              <a:t>Bad news: There are few helpful resources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0024623" cy="8583279"/>
          </a:xfrm>
        </p:spPr>
        <p:txBody>
          <a:bodyPr anchor="ctr">
            <a:normAutofit/>
          </a:bodyPr>
          <a:lstStyle/>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Working Effectively with Legacy Code.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Michael C. Feathers. 2004.</a:t>
            </a:r>
          </a:p>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Re-Engineering Legacy Software.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Chris Birchall. 2016.</a:t>
            </a:r>
          </a:p>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Legacy Code Programmer's Toolbox.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Jonathan </a:t>
            </a:r>
            <a:r>
              <a:rPr lang="en-US" sz="36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Boccara</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2019.</a:t>
            </a:r>
          </a:p>
        </p:txBody>
      </p:sp>
      <p:pic>
        <p:nvPicPr>
          <p:cNvPr id="6" name="Picture 5" descr="A group of books with text&#10;&#10;Description automatically generated">
            <a:extLst>
              <a:ext uri="{FF2B5EF4-FFF2-40B4-BE49-F238E27FC236}">
                <a16:creationId xmlns:a16="http://schemas.microsoft.com/office/drawing/2014/main" id="{0A26D591-AB18-88F4-7A47-3A07A2CC55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89487" y="4049374"/>
            <a:ext cx="8327136" cy="7005856"/>
          </a:xfrm>
          <a:prstGeom prst="rect">
            <a:avLst/>
          </a:prstGeom>
        </p:spPr>
      </p:pic>
    </p:spTree>
    <p:extLst>
      <p:ext uri="{BB962C8B-B14F-4D97-AF65-F5344CB8AC3E}">
        <p14:creationId xmlns:p14="http://schemas.microsoft.com/office/powerpoint/2010/main" val="165051130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Challenge Regarding the system</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Why?</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9229583" cy="10455337"/>
          </a:xfrm>
        </p:spPr>
        <p:txBody>
          <a:bodyPr anchor="t">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Because of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tacit</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knowledge</a:t>
            </a:r>
          </a:p>
          <a:p>
            <a:pPr algn="just"/>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How does it become a problem? Discuss! </a:t>
            </a:r>
          </a:p>
        </p:txBody>
      </p:sp>
      <p:pic>
        <p:nvPicPr>
          <p:cNvPr id="7" name="Picture 6" descr="A person sitting at a table with people in the background&#10;&#10;Description automatically generated">
            <a:extLst>
              <a:ext uri="{FF2B5EF4-FFF2-40B4-BE49-F238E27FC236}">
                <a16:creationId xmlns:a16="http://schemas.microsoft.com/office/drawing/2014/main" id="{F438E48D-9D6E-9F98-BF69-8A9FF316C3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0393" y="4101598"/>
            <a:ext cx="15083214" cy="8005058"/>
          </a:xfrm>
          <a:prstGeom prst="rect">
            <a:avLst/>
          </a:prstGeom>
        </p:spPr>
      </p:pic>
    </p:spTree>
    <p:extLst>
      <p:ext uri="{BB962C8B-B14F-4D97-AF65-F5344CB8AC3E}">
        <p14:creationId xmlns:p14="http://schemas.microsoft.com/office/powerpoint/2010/main" val="830045873"/>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Challenge Regarding the system</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Again, How to Tackle Codebases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9229583" cy="8583279"/>
          </a:xfrm>
        </p:spPr>
        <p:txBody>
          <a:bodyPr anchor="ctr">
            <a:normAutofit/>
          </a:bodyPr>
          <a:lstStyle/>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Goal</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develop and test a working model or set of working hypotheses about how (some part of) a system works</a:t>
            </a:r>
          </a:p>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Working model</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an understanding of the pieces of the system (components), and the way they interact (connections)</a:t>
            </a:r>
          </a:p>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Focus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Observation, probes, and hypothesis testing</a:t>
            </a:r>
          </a:p>
          <a:p>
            <a:pPr lvl="1"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Helpful tools and techniques!</a:t>
            </a:r>
          </a:p>
        </p:txBody>
      </p:sp>
      <p:pic>
        <p:nvPicPr>
          <p:cNvPr id="6" name="Picture 5" descr="A person with his hand on his face&#10;&#10;Description automatically generated">
            <a:extLst>
              <a:ext uri="{FF2B5EF4-FFF2-40B4-BE49-F238E27FC236}">
                <a16:creationId xmlns:a16="http://schemas.microsoft.com/office/drawing/2014/main" id="{DAF02C73-0D3E-89FC-0B50-ED5D0E719AF4}"/>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Effect>
                      <a14:saturation sat="33000"/>
                    </a14:imgEffect>
                  </a14:imgLayer>
                </a14:imgProps>
              </a:ext>
              <a:ext uri="{28A0092B-C50C-407E-A947-70E740481C1C}">
                <a14:useLocalDpi xmlns:a14="http://schemas.microsoft.com/office/drawing/2010/main" val="0"/>
              </a:ext>
            </a:extLst>
          </a:blip>
          <a:stretch>
            <a:fillRect/>
          </a:stretch>
        </p:blipFill>
        <p:spPr>
          <a:xfrm>
            <a:off x="16882946" y="7986026"/>
            <a:ext cx="6514777" cy="4938621"/>
          </a:xfrm>
          <a:prstGeom prst="rect">
            <a:avLst/>
          </a:prstGeom>
          <a:solidFill>
            <a:schemeClr val="tx1"/>
          </a:solidFill>
        </p:spPr>
      </p:pic>
    </p:spTree>
    <p:extLst>
      <p:ext uri="{BB962C8B-B14F-4D97-AF65-F5344CB8AC3E}">
        <p14:creationId xmlns:p14="http://schemas.microsoft.com/office/powerpoint/2010/main" val="458114992"/>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Understanding a new Codebase</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Steps to understand</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9229583" cy="8583279"/>
          </a:xfrm>
        </p:spPr>
        <p:txBody>
          <a:bodyPr anchor="ctr">
            <a:normAutofit lnSpcReduction="10000"/>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Look at </a:t>
            </a:r>
            <a:r>
              <a:rPr lang="en-US" sz="36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README.md</a:t>
            </a: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Clone the repo.</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Build the codebase.</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Figure out how to make it run.</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do you want to mess with?</a:t>
            </a:r>
          </a:p>
          <a:p>
            <a:pPr lvl="1"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Clone and own</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Traceability - Attach a debugger</a:t>
            </a:r>
          </a:p>
          <a:p>
            <a:pPr lvl="1" algn="just">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View Source</a:t>
            </a:r>
          </a:p>
          <a:p>
            <a:pPr lvl="1" algn="just">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Find the logs.</a:t>
            </a:r>
          </a:p>
          <a:p>
            <a:pPr lvl="1" algn="just">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Search for constants (strings, colors, weird integers (#DEADBEEF))</a:t>
            </a:r>
          </a:p>
        </p:txBody>
      </p:sp>
    </p:spTree>
    <p:extLst>
      <p:ext uri="{BB962C8B-B14F-4D97-AF65-F5344CB8AC3E}">
        <p14:creationId xmlns:p14="http://schemas.microsoft.com/office/powerpoint/2010/main" val="4023473898"/>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Observation</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Software is full of Patterns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9229583" cy="8583279"/>
          </a:xfrm>
        </p:spPr>
        <p:txBody>
          <a:bodyPr anchor="ct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File structure</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System architecture</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Code structure</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Names</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p:txBody>
      </p:sp>
      <p:pic>
        <p:nvPicPr>
          <p:cNvPr id="6" name="Picture 5" descr="A screenshot of a social media post&#10;&#10;Description automatically generated">
            <a:extLst>
              <a:ext uri="{FF2B5EF4-FFF2-40B4-BE49-F238E27FC236}">
                <a16:creationId xmlns:a16="http://schemas.microsoft.com/office/drawing/2014/main" id="{75DCD372-FE82-1E10-B3CE-E6A73E0DF5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09829" y="5094478"/>
            <a:ext cx="7546234" cy="3527044"/>
          </a:xfrm>
          <a:prstGeom prst="rect">
            <a:avLst/>
          </a:prstGeom>
        </p:spPr>
      </p:pic>
    </p:spTree>
    <p:extLst>
      <p:ext uri="{BB962C8B-B14F-4D97-AF65-F5344CB8AC3E}">
        <p14:creationId xmlns:p14="http://schemas.microsoft.com/office/powerpoint/2010/main" val="1621367478"/>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Observation</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Software is massively redundant</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0024623" cy="8583279"/>
          </a:xfrm>
        </p:spPr>
        <p:txBody>
          <a:bodyPr anchor="ct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There’s always something to copy/use as a starting point!</a:t>
            </a:r>
          </a:p>
        </p:txBody>
      </p:sp>
      <p:pic>
        <p:nvPicPr>
          <p:cNvPr id="6" name="Picture 5" descr="A aerial view of a row of houses&#10;&#10;Description automatically generated">
            <a:extLst>
              <a:ext uri="{FF2B5EF4-FFF2-40B4-BE49-F238E27FC236}">
                <a16:creationId xmlns:a16="http://schemas.microsoft.com/office/drawing/2014/main" id="{ED5E8ACA-9954-FF81-DF47-EACF555219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0" y="3936270"/>
            <a:ext cx="9731624" cy="7232063"/>
          </a:xfrm>
          <a:prstGeom prst="rect">
            <a:avLst/>
          </a:prstGeom>
        </p:spPr>
      </p:pic>
    </p:spTree>
    <p:extLst>
      <p:ext uri="{BB962C8B-B14F-4D97-AF65-F5344CB8AC3E}">
        <p14:creationId xmlns:p14="http://schemas.microsoft.com/office/powerpoint/2010/main" val="4046579484"/>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Observation</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Things to know</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9229583" cy="8583279"/>
          </a:xfrm>
        </p:spPr>
        <p:txBody>
          <a:bodyPr anchor="ct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Code must run to do stuff!</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If code runs, it must have a beginning…</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If code runs, it must exist…</a:t>
            </a:r>
          </a:p>
        </p:txBody>
      </p:sp>
    </p:spTree>
    <p:extLst>
      <p:ext uri="{BB962C8B-B14F-4D97-AF65-F5344CB8AC3E}">
        <p14:creationId xmlns:p14="http://schemas.microsoft.com/office/powerpoint/2010/main" val="1089268159"/>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Observation</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The Beginning: Entry Points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9229583" cy="8583279"/>
          </a:xfrm>
        </p:spPr>
        <p:txBody>
          <a:bodyPr anchor="ct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Locally installed programs: run </a:t>
            </a:r>
            <a:r>
              <a:rPr lang="en-US" sz="36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cmd</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OS launch, I/O events, etc.</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Local applications in dev: build + run, test, deploy (e.g., docker)</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Web apps server-side: Browser sends HTTP request (GET/POST)</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Web apps client-side: Browser runs JavaScript, event handlers</a:t>
            </a:r>
          </a:p>
        </p:txBody>
      </p:sp>
    </p:spTree>
    <p:extLst>
      <p:ext uri="{BB962C8B-B14F-4D97-AF65-F5344CB8AC3E}">
        <p14:creationId xmlns:p14="http://schemas.microsoft.com/office/powerpoint/2010/main" val="3388746136"/>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Observation</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Code must exist. But where?</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9229583" cy="10455337"/>
          </a:xfrm>
        </p:spPr>
        <p:txBody>
          <a:bodyPr anchor="ct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Locally installed programs: run </a:t>
            </a:r>
            <a:r>
              <a:rPr lang="en-US" sz="36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cmd</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OS launch, I/O events, etc.</a:t>
            </a:r>
          </a:p>
          <a:p>
            <a:pPr lvl="1"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Binaries (machine code) on your computer</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Local applications in dev: build + run, test, deploy (e.g., docker)</a:t>
            </a:r>
          </a:p>
          <a:p>
            <a:pPr lvl="1"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Source code in repository (+ dependencies)</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Web apps server-side: Browser sends HTTP request (GET/POST)</a:t>
            </a:r>
          </a:p>
          <a:p>
            <a:pPr lvl="1"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Code runs remotely (you can only observe outputs)</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Web apps client-side: Browser runs JavaScript, event handlers</a:t>
            </a:r>
          </a:p>
          <a:p>
            <a:pPr lvl="1"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Source code is downloaded and run locally (see: browser dev tools!)</a:t>
            </a:r>
          </a:p>
        </p:txBody>
      </p:sp>
    </p:spTree>
    <p:extLst>
      <p:ext uri="{BB962C8B-B14F-4D97-AF65-F5344CB8AC3E}">
        <p14:creationId xmlns:p14="http://schemas.microsoft.com/office/powerpoint/2010/main" val="448718387"/>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Observation</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4218671" cy="840935"/>
          </a:xfrm>
        </p:spPr>
        <p:txBody>
          <a:bodyPr>
            <a:normAutofit/>
          </a:bodyPr>
          <a:lstStyle/>
          <a:p>
            <a:r>
              <a:rPr lang="en-US" dirty="0"/>
              <a:t>Can running code be probed/understood/edited?</a:t>
            </a:r>
          </a:p>
        </p:txBody>
      </p:sp>
      <p:pic>
        <p:nvPicPr>
          <p:cNvPr id="6" name="Content Placeholder 5" descr="A yellow square with blue border&#10;&#10;Description automatically generated">
            <a:extLst>
              <a:ext uri="{FF2B5EF4-FFF2-40B4-BE49-F238E27FC236}">
                <a16:creationId xmlns:a16="http://schemas.microsoft.com/office/drawing/2014/main" id="{579AE630-0354-2DDF-C173-39C336E0F50B}"/>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2167377" y="3845719"/>
            <a:ext cx="21061987" cy="7998223"/>
          </a:xfrm>
        </p:spPr>
      </p:pic>
    </p:spTree>
    <p:extLst>
      <p:ext uri="{BB962C8B-B14F-4D97-AF65-F5344CB8AC3E}">
        <p14:creationId xmlns:p14="http://schemas.microsoft.com/office/powerpoint/2010/main" val="1118894566"/>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Observation</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4218671" cy="840935"/>
          </a:xfrm>
        </p:spPr>
        <p:txBody>
          <a:bodyPr>
            <a:normAutofit/>
          </a:bodyPr>
          <a:lstStyle/>
          <a:p>
            <a:r>
              <a:rPr lang="en-US" dirty="0"/>
              <a:t>Creating a Model of Unfamiliar Code</a:t>
            </a:r>
          </a:p>
        </p:txBody>
      </p:sp>
      <p:sp>
        <p:nvSpPr>
          <p:cNvPr id="5" name="Content Placeholder 4">
            <a:extLst>
              <a:ext uri="{FF2B5EF4-FFF2-40B4-BE49-F238E27FC236}">
                <a16:creationId xmlns:a16="http://schemas.microsoft.com/office/drawing/2014/main" id="{D2D0F117-9C5B-8F77-EA89-8F2F8F87C71B}"/>
              </a:ext>
            </a:extLst>
          </p:cNvPr>
          <p:cNvSpPr>
            <a:spLocks noGrp="1"/>
          </p:cNvSpPr>
          <p:nvPr>
            <p:ph sz="quarter" idx="11"/>
          </p:nvPr>
        </p:nvSpPr>
        <p:spPr>
          <a:xfrm>
            <a:off x="2167377" y="3298050"/>
            <a:ext cx="19705071" cy="10417950"/>
          </a:xfrm>
        </p:spPr>
        <p:txBody>
          <a:bodyPr>
            <a:normAutofit/>
          </a:bodyPr>
          <a:lstStyle/>
          <a:p>
            <a:pPr marL="514350" indent="-514350" algn="just">
              <a:buFont typeface="+mj-lt"/>
              <a:buAutoNum type="arabicPeriod"/>
            </a:pPr>
            <a:r>
              <a:rPr lang="en-US" sz="2800" b="1" dirty="0">
                <a:latin typeface="Open Sans" panose="020B0606030504020204" pitchFamily="34" charset="0"/>
                <a:ea typeface="Open Sans" panose="020B0606030504020204" pitchFamily="34" charset="0"/>
                <a:cs typeface="Open Sans" panose="020B0606030504020204" pitchFamily="34" charset="0"/>
              </a:rPr>
              <a:t>Understanding the Code</a:t>
            </a:r>
            <a:r>
              <a:rPr lang="en-US" sz="2800" dirty="0">
                <a:latin typeface="Open Sans" panose="020B0606030504020204" pitchFamily="34" charset="0"/>
                <a:ea typeface="Open Sans" panose="020B0606030504020204" pitchFamily="34" charset="0"/>
                <a:cs typeface="Open Sans" panose="020B0606030504020204" pitchFamily="34" charset="0"/>
              </a:rPr>
              <a:t>: You start by reading and studying the code to grasp its functionality and how it's structured. This might involve examining the code line by line, understanding the logic, and identifying key components.</a:t>
            </a:r>
          </a:p>
          <a:p>
            <a:pPr marL="514350" indent="-514350" algn="just">
              <a:buFont typeface="+mj-lt"/>
              <a:buAutoNum type="arabicPeriod"/>
            </a:pPr>
            <a:r>
              <a:rPr lang="en-US" sz="2800" b="1" dirty="0">
                <a:latin typeface="Open Sans" panose="020B0606030504020204" pitchFamily="34" charset="0"/>
                <a:ea typeface="Open Sans" panose="020B0606030504020204" pitchFamily="34" charset="0"/>
                <a:cs typeface="Open Sans" panose="020B0606030504020204" pitchFamily="34" charset="0"/>
              </a:rPr>
              <a:t>Documentation</a:t>
            </a:r>
            <a:r>
              <a:rPr lang="en-US" sz="2800" dirty="0">
                <a:latin typeface="Open Sans" panose="020B0606030504020204" pitchFamily="34" charset="0"/>
                <a:ea typeface="Open Sans" panose="020B0606030504020204" pitchFamily="34" charset="0"/>
                <a:cs typeface="Open Sans" panose="020B0606030504020204" pitchFamily="34" charset="0"/>
              </a:rPr>
              <a:t>: As you understand the code, you create documentation that explains what different parts of the code do. This documentation can be in the form of comments in the code, separate documents, diagrams, or other formats. It's essential for making the code understandable to others and for future reference.</a:t>
            </a:r>
          </a:p>
          <a:p>
            <a:pPr marL="514350" indent="-514350" algn="just">
              <a:buFont typeface="+mj-lt"/>
              <a:buAutoNum type="arabicPeriod"/>
            </a:pPr>
            <a:r>
              <a:rPr lang="en-US" sz="2800" b="1" dirty="0">
                <a:latin typeface="Open Sans" panose="020B0606030504020204" pitchFamily="34" charset="0"/>
                <a:ea typeface="Open Sans" panose="020B0606030504020204" pitchFamily="34" charset="0"/>
                <a:cs typeface="Open Sans" panose="020B0606030504020204" pitchFamily="34" charset="0"/>
              </a:rPr>
              <a:t>Reverse Engineering</a:t>
            </a:r>
            <a:r>
              <a:rPr lang="en-US" sz="2800" dirty="0">
                <a:latin typeface="Open Sans" panose="020B0606030504020204" pitchFamily="34" charset="0"/>
                <a:ea typeface="Open Sans" panose="020B0606030504020204" pitchFamily="34" charset="0"/>
                <a:cs typeface="Open Sans" panose="020B0606030504020204" pitchFamily="34" charset="0"/>
              </a:rPr>
              <a:t>: If the code is particularly challenging, you may need to "reverse engineer" it, which involves deconstructing the code to understand its internal workings. This might include identifying algorithms, data structures, and dependencies.</a:t>
            </a:r>
          </a:p>
          <a:p>
            <a:pPr marL="514350" indent="-514350" algn="just">
              <a:buFont typeface="+mj-lt"/>
              <a:buAutoNum type="arabicPeriod"/>
            </a:pPr>
            <a:r>
              <a:rPr lang="en-US" sz="2800" b="1" dirty="0">
                <a:latin typeface="Open Sans" panose="020B0606030504020204" pitchFamily="34" charset="0"/>
                <a:ea typeface="Open Sans" panose="020B0606030504020204" pitchFamily="34" charset="0"/>
                <a:cs typeface="Open Sans" panose="020B0606030504020204" pitchFamily="34" charset="0"/>
              </a:rPr>
              <a:t>Creating Mental Models</a:t>
            </a:r>
            <a:r>
              <a:rPr lang="en-US" sz="2800" dirty="0">
                <a:latin typeface="Open Sans" panose="020B0606030504020204" pitchFamily="34" charset="0"/>
                <a:ea typeface="Open Sans" panose="020B0606030504020204" pitchFamily="34" charset="0"/>
                <a:cs typeface="Open Sans" panose="020B0606030504020204" pitchFamily="34" charset="0"/>
              </a:rPr>
              <a:t>: Throughout the process, you develop a mental model of how the code functions. This model helps you work with the code more effectively and make changes or improvements as needed.</a:t>
            </a:r>
          </a:p>
          <a:p>
            <a:pPr marL="514350" indent="-514350" algn="just">
              <a:buFont typeface="+mj-lt"/>
              <a:buAutoNum type="arabicPeriod"/>
            </a:pPr>
            <a:r>
              <a:rPr lang="en-US" sz="2800" b="1" dirty="0">
                <a:latin typeface="Open Sans" panose="020B0606030504020204" pitchFamily="34" charset="0"/>
                <a:ea typeface="Open Sans" panose="020B0606030504020204" pitchFamily="34" charset="0"/>
                <a:cs typeface="Open Sans" panose="020B0606030504020204" pitchFamily="34" charset="0"/>
              </a:rPr>
              <a:t>Testing and Experimentation</a:t>
            </a:r>
            <a:r>
              <a:rPr lang="en-US" sz="2800" dirty="0">
                <a:latin typeface="Open Sans" panose="020B0606030504020204" pitchFamily="34" charset="0"/>
                <a:ea typeface="Open Sans" panose="020B0606030504020204" pitchFamily="34" charset="0"/>
                <a:cs typeface="Open Sans" panose="020B0606030504020204" pitchFamily="34" charset="0"/>
              </a:rPr>
              <a:t>: As you work with unfamiliar code, you might run tests, make small changes, and experiment to confirm your understanding and validate your model. This is crucial to ensure that your understanding of the code is correct.</a:t>
            </a:r>
          </a:p>
          <a:p>
            <a:pPr marL="0" indent="0" algn="just">
              <a:buNone/>
            </a:pPr>
            <a:r>
              <a:rPr lang="en-US" sz="2800" dirty="0">
                <a:latin typeface="Open Sans" panose="020B0606030504020204" pitchFamily="34" charset="0"/>
                <a:ea typeface="Open Sans" panose="020B0606030504020204" pitchFamily="34" charset="0"/>
                <a:cs typeface="Open Sans" panose="020B0606030504020204" pitchFamily="34" charset="0"/>
              </a:rPr>
              <a:t>Overall, creating a model of unfamiliar code is an essential step in maintaining, extending, or fixing software systems. It helps developers and maintainers become familiar with the codebase, making it more manageable and allowing for improvements or bug fixes.</a:t>
            </a:r>
          </a:p>
        </p:txBody>
      </p:sp>
    </p:spTree>
    <p:extLst>
      <p:ext uri="{BB962C8B-B14F-4D97-AF65-F5344CB8AC3E}">
        <p14:creationId xmlns:p14="http://schemas.microsoft.com/office/powerpoint/2010/main" val="1931967571"/>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Information Gathering</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9229583" cy="10455337"/>
          </a:xfrm>
        </p:spPr>
        <p:txBody>
          <a:bodyPr anchor="ct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Basic needs:</a:t>
            </a:r>
          </a:p>
          <a:p>
            <a:pPr lvl="1" algn="just">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Code/file search and navigation</a:t>
            </a:r>
          </a:p>
          <a:p>
            <a:pPr lvl="1" algn="just">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Code editing (probes)</a:t>
            </a:r>
          </a:p>
          <a:p>
            <a:pPr lvl="1" algn="just">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Execution of code, tests</a:t>
            </a:r>
          </a:p>
          <a:p>
            <a:pPr lvl="1" algn="just">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Observation of output (observation)</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Many choices here on tools! Depends on circumstance.</a:t>
            </a:r>
          </a:p>
          <a:p>
            <a:pPr lvl="1" algn="just">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grep/find/etc. Knowing Unix tools is invaluable</a:t>
            </a:r>
          </a:p>
          <a:p>
            <a:pPr lvl="1" algn="just">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decent IDE</a:t>
            </a:r>
          </a:p>
          <a:p>
            <a:pPr lvl="1" algn="just">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Debugger</a:t>
            </a:r>
          </a:p>
          <a:p>
            <a:pPr lvl="1" algn="just">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Test frameworks + coverage reports</a:t>
            </a:r>
          </a:p>
          <a:p>
            <a:pPr lvl="1" algn="just">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Google (or your favorite web search engine)</a:t>
            </a:r>
          </a:p>
          <a:p>
            <a:pPr lvl="1" algn="just">
              <a:spcBef>
                <a:spcPts val="0"/>
              </a:spcBef>
            </a:pPr>
            <a:r>
              <a:rPr lang="en-US" sz="36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ChatGPT</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or </a:t>
            </a:r>
            <a:r>
              <a:rPr lang="en-US" sz="36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LaMA</a:t>
            </a: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46206433"/>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Information Gathering</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Static information gathering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9229583" cy="8583279"/>
          </a:xfrm>
        </p:spPr>
        <p:txBody>
          <a:bodyPr anchor="t">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 an IDE! Real software is too complex to keep in your head</a:t>
            </a:r>
          </a:p>
        </p:txBody>
      </p:sp>
      <p:pic>
        <p:nvPicPr>
          <p:cNvPr id="6" name="Picture 5" descr="A screenshot of a computer&#10;&#10;Description automatically generated">
            <a:extLst>
              <a:ext uri="{FF2B5EF4-FFF2-40B4-BE49-F238E27FC236}">
                <a16:creationId xmlns:a16="http://schemas.microsoft.com/office/drawing/2014/main" id="{B3B5C2B8-6997-7E8A-1D1E-0ABD421D86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7377" y="5143701"/>
            <a:ext cx="19562022" cy="6152571"/>
          </a:xfrm>
          <a:prstGeom prst="rect">
            <a:avLst/>
          </a:prstGeom>
        </p:spPr>
      </p:pic>
    </p:spTree>
    <p:extLst>
      <p:ext uri="{BB962C8B-B14F-4D97-AF65-F5344CB8AC3E}">
        <p14:creationId xmlns:p14="http://schemas.microsoft.com/office/powerpoint/2010/main" val="3762413158"/>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Information Gathering</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792207" cy="840935"/>
          </a:xfrm>
        </p:spPr>
        <p:txBody>
          <a:bodyPr>
            <a:normAutofit/>
          </a:bodyPr>
          <a:lstStyle/>
          <a:p>
            <a:r>
              <a:rPr lang="en-US" dirty="0"/>
              <a:t>Consider Documentation and Tutorials Judiciously</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0024623" cy="8583279"/>
          </a:xfrm>
        </p:spPr>
        <p:txBody>
          <a:bodyPr anchor="ct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Great for discovering entry points!</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Can teach you about general structure, architecture</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Often out of date.</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As you gain experience, you will recognize more of these, and you will immediately know something about how the program works</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Also: discussion boards; issue trackers</a:t>
            </a:r>
          </a:p>
        </p:txBody>
      </p:sp>
      <p:pic>
        <p:nvPicPr>
          <p:cNvPr id="7" name="Picture 6" descr="A screenshot of a computer&#10;&#10;Description automatically generated">
            <a:extLst>
              <a:ext uri="{FF2B5EF4-FFF2-40B4-BE49-F238E27FC236}">
                <a16:creationId xmlns:a16="http://schemas.microsoft.com/office/drawing/2014/main" id="{A690A236-E642-0596-B367-9F81FC6CA1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19731" y="4205919"/>
            <a:ext cx="12081702" cy="5304162"/>
          </a:xfrm>
          <a:prstGeom prst="rect">
            <a:avLst/>
          </a:prstGeom>
        </p:spPr>
      </p:pic>
    </p:spTree>
    <p:extLst>
      <p:ext uri="{BB962C8B-B14F-4D97-AF65-F5344CB8AC3E}">
        <p14:creationId xmlns:p14="http://schemas.microsoft.com/office/powerpoint/2010/main" val="2817434998"/>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Information Gathering</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792207" cy="840935"/>
          </a:xfrm>
        </p:spPr>
        <p:txBody>
          <a:bodyPr>
            <a:normAutofit/>
          </a:bodyPr>
          <a:lstStyle/>
          <a:p>
            <a:r>
              <a:rPr lang="en-US" dirty="0"/>
              <a:t>Discussion Boards and Issue Trackers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0024623" cy="8583279"/>
          </a:xfrm>
        </p:spPr>
        <p:txBody>
          <a:bodyPr anchor="ct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Software is written by people.</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How can we talk to them?</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Fortunately, they probably aren’t dead.</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 you can report problems on GitHub.</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Or, ask them questions on </a:t>
            </a:r>
            <a:r>
              <a:rPr lang="en-US" sz="36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StackOverflow</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p:txBody>
      </p:sp>
      <p:pic>
        <p:nvPicPr>
          <p:cNvPr id="6" name="Picture 5" descr="A screenshot of a web page&#10;&#10;Description automatically generated">
            <a:extLst>
              <a:ext uri="{FF2B5EF4-FFF2-40B4-BE49-F238E27FC236}">
                <a16:creationId xmlns:a16="http://schemas.microsoft.com/office/drawing/2014/main" id="{DE55EED4-D6F5-689F-AF75-37DFE5E6FA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0" y="3863639"/>
            <a:ext cx="12192000" cy="7377325"/>
          </a:xfrm>
          <a:prstGeom prst="rect">
            <a:avLst/>
          </a:prstGeom>
        </p:spPr>
      </p:pic>
    </p:spTree>
    <p:extLst>
      <p:ext uri="{BB962C8B-B14F-4D97-AF65-F5344CB8AC3E}">
        <p14:creationId xmlns:p14="http://schemas.microsoft.com/office/powerpoint/2010/main" val="3718021852"/>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Information Gathering</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21328727" cy="840936"/>
          </a:xfrm>
        </p:spPr>
        <p:txBody>
          <a:bodyPr>
            <a:normAutofit/>
          </a:bodyPr>
          <a:lstStyle/>
          <a:p>
            <a:r>
              <a:rPr lang="en-US" dirty="0"/>
              <a:t>Dynamic Information Gathering: </a:t>
            </a:r>
            <a:r>
              <a:rPr lang="en-ID" dirty="0"/>
              <a:t>Change helps to inform and refine mental models</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0024623" cy="8583279"/>
          </a:xfrm>
        </p:spPr>
        <p:txBody>
          <a:bodyPr anchor="ct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Build it.</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Run it.</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Change it.</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Run it again.</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How did the behavior change?</a:t>
            </a:r>
          </a:p>
        </p:txBody>
      </p:sp>
      <p:pic>
        <p:nvPicPr>
          <p:cNvPr id="6" name="Picture 5" descr="A dna model with colorful balls&#10;&#10;Description automatically generated with medium confidence">
            <a:extLst>
              <a:ext uri="{FF2B5EF4-FFF2-40B4-BE49-F238E27FC236}">
                <a16:creationId xmlns:a16="http://schemas.microsoft.com/office/drawing/2014/main" id="{09D66346-817E-246F-385F-EC0EFC92B0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55463" y="4311313"/>
            <a:ext cx="2454965" cy="6984960"/>
          </a:xfrm>
          <a:prstGeom prst="rect">
            <a:avLst/>
          </a:prstGeom>
        </p:spPr>
      </p:pic>
    </p:spTree>
    <p:extLst>
      <p:ext uri="{BB962C8B-B14F-4D97-AF65-F5344CB8AC3E}">
        <p14:creationId xmlns:p14="http://schemas.microsoft.com/office/powerpoint/2010/main" val="87264876"/>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Information Gathering</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7729967" cy="840936"/>
          </a:xfrm>
        </p:spPr>
        <p:txBody>
          <a:bodyPr>
            <a:normAutofit/>
          </a:bodyPr>
          <a:lstStyle/>
          <a:p>
            <a:r>
              <a:rPr lang="en-US" dirty="0"/>
              <a:t>Probes: Observe, Control or “</a:t>
            </a:r>
            <a:r>
              <a:rPr lang="en-US" dirty="0" err="1"/>
              <a:t>LightLy</a:t>
            </a:r>
            <a:r>
              <a:rPr lang="en-US" dirty="0"/>
              <a:t>” Manipulate Execution</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0024623" cy="8583279"/>
          </a:xfrm>
        </p:spPr>
        <p:txBody>
          <a:bodyPr anchor="ct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print(“this code is running!”)</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Structured logging</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Debuggers</a:t>
            </a:r>
          </a:p>
          <a:p>
            <a:pPr lvl="1"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Breakpoint, eval, step through / step over</a:t>
            </a:r>
          </a:p>
          <a:p>
            <a:pPr lvl="1"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(Some tools even support remote debugging)</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Delete debugging</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Chrome Developer Tools</a:t>
            </a:r>
          </a:p>
        </p:txBody>
      </p:sp>
      <p:pic>
        <p:nvPicPr>
          <p:cNvPr id="6" name="Picture 5" descr="A screenshot of a computer&#10;&#10;Description automatically generated">
            <a:extLst>
              <a:ext uri="{FF2B5EF4-FFF2-40B4-BE49-F238E27FC236}">
                <a16:creationId xmlns:a16="http://schemas.microsoft.com/office/drawing/2014/main" id="{081B6B72-CBA8-80ED-B12B-61C3CE3917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0" y="3553191"/>
            <a:ext cx="10651291" cy="7998222"/>
          </a:xfrm>
          <a:prstGeom prst="rect">
            <a:avLst/>
          </a:prstGeom>
        </p:spPr>
      </p:pic>
    </p:spTree>
    <p:extLst>
      <p:ext uri="{BB962C8B-B14F-4D97-AF65-F5344CB8AC3E}">
        <p14:creationId xmlns:p14="http://schemas.microsoft.com/office/powerpoint/2010/main" val="3658570266"/>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Information Gathering</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7729967" cy="840936"/>
          </a:xfrm>
        </p:spPr>
        <p:txBody>
          <a:bodyPr>
            <a:normAutofit/>
          </a:bodyPr>
          <a:lstStyle/>
          <a:p>
            <a:r>
              <a:rPr lang="en-US" dirty="0"/>
              <a:t>Step 0: Sanity Check basic Model + Hypotheses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049246" cy="10455337"/>
          </a:xfrm>
        </p:spPr>
        <p:txBody>
          <a:bodyPr anchor="ct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Confirm that you can build and run the code.</a:t>
            </a:r>
          </a:p>
          <a:p>
            <a:pPr lvl="1"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Ideally both using the tests provided, and by hand.</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Confirm that the code you are running is the code you built</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Confirm that you can make an externally visible change</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How? Where? Starting points:</a:t>
            </a:r>
          </a:p>
          <a:p>
            <a:pPr lvl="1"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Run an existing test, change it</a:t>
            </a:r>
          </a:p>
          <a:p>
            <a:pPr lvl="1"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Write a new test</a:t>
            </a:r>
          </a:p>
          <a:p>
            <a:pPr lvl="1"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Change the code, write or rerun a test that should notice the change </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Ask someone for help</a:t>
            </a:r>
          </a:p>
        </p:txBody>
      </p:sp>
    </p:spTree>
    <p:extLst>
      <p:ext uri="{BB962C8B-B14F-4D97-AF65-F5344CB8AC3E}">
        <p14:creationId xmlns:p14="http://schemas.microsoft.com/office/powerpoint/2010/main" val="3952767186"/>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Activity</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9229583" cy="8583279"/>
          </a:xfrm>
        </p:spPr>
        <p:txBody>
          <a:bodyPr anchor="ct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Write down one pro and one con about trying to understand a new codebase by compiling and building it vs. just reading the code</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Compare the answers with your friend. Do you agree?</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Discuss furthermore!</a:t>
            </a:r>
          </a:p>
        </p:txBody>
      </p:sp>
    </p:spTree>
    <p:extLst>
      <p:ext uri="{BB962C8B-B14F-4D97-AF65-F5344CB8AC3E}">
        <p14:creationId xmlns:p14="http://schemas.microsoft.com/office/powerpoint/2010/main" val="3712446143"/>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Understanding Technical Debt</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7729967" cy="840936"/>
          </a:xfrm>
        </p:spPr>
        <p:txBody>
          <a:bodyPr>
            <a:normAutofit/>
          </a:bodyPr>
          <a:lstStyle/>
          <a:p>
            <a:endParaRPr lang="en-US" dirty="0"/>
          </a:p>
        </p:txBody>
      </p:sp>
      <p:pic>
        <p:nvPicPr>
          <p:cNvPr id="1026" name="Picture 2" descr="What technical debt looks like : r/ProgrammerHumor">
            <a:extLst>
              <a:ext uri="{FF2B5EF4-FFF2-40B4-BE49-F238E27FC236}">
                <a16:creationId xmlns:a16="http://schemas.microsoft.com/office/drawing/2014/main" id="{D6CD6CCD-9A1D-11CD-C3B8-24A2B1772809}"/>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6275761" y="3260725"/>
            <a:ext cx="11832479" cy="1045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6526579"/>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Understanding Technical Debt</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7729967" cy="840936"/>
          </a:xfrm>
        </p:spPr>
        <p:txBody>
          <a:bodyPr>
            <a:normAutofit/>
          </a:bodyPr>
          <a:lstStyle/>
          <a:p>
            <a:endParaRPr lang="en-US" dirty="0"/>
          </a:p>
        </p:txBody>
      </p:sp>
      <p:pic>
        <p:nvPicPr>
          <p:cNvPr id="6" name="Content Placeholder 5" descr="A diagram of a diagram of a diagram&#10;&#10;Description automatically generated with medium confidence">
            <a:extLst>
              <a:ext uri="{FF2B5EF4-FFF2-40B4-BE49-F238E27FC236}">
                <a16:creationId xmlns:a16="http://schemas.microsoft.com/office/drawing/2014/main" id="{F5E75E1D-59BE-6AEE-3C03-4C60BF631275}"/>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2462908" y="3298051"/>
            <a:ext cx="19458183" cy="10411556"/>
          </a:xfrm>
        </p:spPr>
      </p:pic>
    </p:spTree>
    <p:extLst>
      <p:ext uri="{BB962C8B-B14F-4D97-AF65-F5344CB8AC3E}">
        <p14:creationId xmlns:p14="http://schemas.microsoft.com/office/powerpoint/2010/main" val="1608066729"/>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Understanding Technical Debt</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7729967" cy="840936"/>
          </a:xfrm>
        </p:spPr>
        <p:txBody>
          <a:bodyPr>
            <a:normAutofit/>
          </a:bodyPr>
          <a:lstStyle/>
          <a:p>
            <a:r>
              <a:rPr lang="en-US" dirty="0"/>
              <a:t>What is Technical Debt?</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049246" cy="10455337"/>
          </a:xfrm>
        </p:spPr>
        <p:txBody>
          <a:bodyPr anchor="ct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Technical debt is the cost of additional rework caused by taking shortcuts or choosing a simpler, less ideal solution in the short term that must be corrected later for the system to remain efficient and adaptable.</a:t>
            </a:r>
          </a:p>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 development team hardcodes values instead of creating a configuration file to save time but must revisit this approach for future scalability.</a:t>
            </a:r>
          </a:p>
        </p:txBody>
      </p:sp>
    </p:spTree>
    <p:extLst>
      <p:ext uri="{BB962C8B-B14F-4D97-AF65-F5344CB8AC3E}">
        <p14:creationId xmlns:p14="http://schemas.microsoft.com/office/powerpoint/2010/main" val="2822505184"/>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Understanding Technical Debt</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7729967" cy="840936"/>
          </a:xfrm>
        </p:spPr>
        <p:txBody>
          <a:bodyPr>
            <a:normAutofit/>
          </a:bodyPr>
          <a:lstStyle/>
          <a:p>
            <a:r>
              <a:rPr lang="en-US" dirty="0"/>
              <a:t>TECHNICAL DEBT != BAD INTERNAL QUALITY</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049246" cy="10455337"/>
          </a:xfrm>
        </p:spPr>
        <p:txBody>
          <a:bodyPr anchor="ct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 software-intensive systems, technical debt consists of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design or implementation constructs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that are expedient in the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short term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but that set up a technical context that can make a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future change more costly or impossible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Technical debt is a contingent liability whose impact is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limited to internal system qualities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primarily, but not only,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maintainability</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and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evolvability</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1044076209"/>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Understanding Technical Debt</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7729967" cy="840936"/>
          </a:xfrm>
        </p:spPr>
        <p:txBody>
          <a:bodyPr>
            <a:normAutofit/>
          </a:bodyPr>
          <a:lstStyle/>
          <a:p>
            <a:r>
              <a:rPr lang="en-US" dirty="0"/>
              <a:t>HIGH INTERNAL QUALITY IS AN INVESTMENT</a:t>
            </a:r>
          </a:p>
        </p:txBody>
      </p:sp>
      <p:pic>
        <p:nvPicPr>
          <p:cNvPr id="6" name="Content Placeholder 5" descr="A diagram of a person's growth&#10;&#10;Description automatically generated with medium confidence">
            <a:extLst>
              <a:ext uri="{FF2B5EF4-FFF2-40B4-BE49-F238E27FC236}">
                <a16:creationId xmlns:a16="http://schemas.microsoft.com/office/drawing/2014/main" id="{99FABED1-070E-CDC6-5F2F-2EE14D3C11DF}"/>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2167376" y="3298050"/>
            <a:ext cx="21873701" cy="10417949"/>
          </a:xfrm>
        </p:spPr>
      </p:pic>
    </p:spTree>
    <p:extLst>
      <p:ext uri="{BB962C8B-B14F-4D97-AF65-F5344CB8AC3E}">
        <p14:creationId xmlns:p14="http://schemas.microsoft.com/office/powerpoint/2010/main" val="262770400"/>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Understanding Technical Debt</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7729967" cy="840936"/>
          </a:xfrm>
        </p:spPr>
        <p:txBody>
          <a:bodyPr>
            <a:normAutofit/>
          </a:bodyPr>
          <a:lstStyle/>
          <a:p>
            <a:r>
              <a:rPr lang="en-US" dirty="0"/>
              <a:t>WHAT ACTIONS CAUSE TECHNICAL DEBT?</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049246" cy="10455337"/>
          </a:xfrm>
        </p:spPr>
        <p:txBody>
          <a:bodyPr anchor="ctr">
            <a:normAutofit/>
          </a:bodyPr>
          <a:lstStyle/>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Time Pressure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Shortcuts taken to meet deadlines, such as skipping tests or not refactoring.</a:t>
            </a:r>
          </a:p>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Poor Documentation</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Leads to misunderstandings, contributing to inefficient fixes and updates.</a:t>
            </a:r>
          </a:p>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Lack of Standards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Inconsistent coding practices that accumulate over time.</a:t>
            </a:r>
          </a:p>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Evolving Requirements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New features or requirements necessitate updates to existing code.</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234376518"/>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Understanding Technical Debt</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7729967" cy="840936"/>
          </a:xfrm>
        </p:spPr>
        <p:txBody>
          <a:bodyPr>
            <a:normAutofit/>
          </a:bodyPr>
          <a:lstStyle/>
          <a:p>
            <a:r>
              <a:rPr lang="en-US" dirty="0"/>
              <a:t>BITROT: EVEN IF YOUR SOFTWARE DOESN’T CHANGE, IT WILL BREAK OVER TIME</a:t>
            </a:r>
          </a:p>
        </p:txBody>
      </p:sp>
      <p:pic>
        <p:nvPicPr>
          <p:cNvPr id="3074" name="Picture 2" descr="How does rust damage your car? - Carro MY Blog">
            <a:extLst>
              <a:ext uri="{FF2B5EF4-FFF2-40B4-BE49-F238E27FC236}">
                <a16:creationId xmlns:a16="http://schemas.microsoft.com/office/drawing/2014/main" id="{E4D91818-75CA-7498-FB7F-9AB866BC977C}"/>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3327016" y="3298051"/>
            <a:ext cx="17729967" cy="10434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5328289"/>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Understanding Technical Debt</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7729967" cy="840936"/>
          </a:xfrm>
        </p:spPr>
        <p:txBody>
          <a:bodyPr>
            <a:normAutofit/>
          </a:bodyPr>
          <a:lstStyle/>
          <a:p>
            <a:r>
              <a:rPr lang="en-US" dirty="0"/>
              <a:t>Everyone creates technical debt</a:t>
            </a:r>
          </a:p>
        </p:txBody>
      </p:sp>
      <p:pic>
        <p:nvPicPr>
          <p:cNvPr id="7" name="Content Placeholder 6" descr="A book cover with a picture of a person and a horse&#10;&#10;Description automatically generated">
            <a:extLst>
              <a:ext uri="{FF2B5EF4-FFF2-40B4-BE49-F238E27FC236}">
                <a16:creationId xmlns:a16="http://schemas.microsoft.com/office/drawing/2014/main" id="{B14B548B-B88B-ACC4-C061-7CAC9A7A850D}"/>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7574603" y="3298051"/>
            <a:ext cx="9308343" cy="10509422"/>
          </a:xfrm>
        </p:spPr>
      </p:pic>
    </p:spTree>
    <p:extLst>
      <p:ext uri="{BB962C8B-B14F-4D97-AF65-F5344CB8AC3E}">
        <p14:creationId xmlns:p14="http://schemas.microsoft.com/office/powerpoint/2010/main" val="3769280658"/>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Understanding Technical Debt</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7729967" cy="840936"/>
          </a:xfrm>
        </p:spPr>
        <p:txBody>
          <a:bodyPr>
            <a:normAutofit/>
          </a:bodyPr>
          <a:lstStyle/>
          <a:p>
            <a:r>
              <a:rPr lang="en-US" dirty="0"/>
              <a:t>Bad: Too much technical debt</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049246" cy="10455337"/>
          </a:xfrm>
        </p:spPr>
        <p:txBody>
          <a:bodyPr anchor="ct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Bad code can be demoralizing</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Conversations with the client become awkward</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Team infighting</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Turnover and attrition</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Development speed </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p:txBody>
      </p:sp>
      <p:pic>
        <p:nvPicPr>
          <p:cNvPr id="5" name="Picture 2">
            <a:extLst>
              <a:ext uri="{FF2B5EF4-FFF2-40B4-BE49-F238E27FC236}">
                <a16:creationId xmlns:a16="http://schemas.microsoft.com/office/drawing/2014/main" id="{21F83268-9CED-CAAE-5863-2288A5FEE3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73068" y="2840195"/>
            <a:ext cx="7662423" cy="10376197"/>
          </a:xfrm>
          <a:prstGeom prst="rect">
            <a:avLst/>
          </a:prstGeom>
          <a:noFill/>
          <a:ln w="12700">
            <a:miter lim="400000"/>
          </a:ln>
          <a:extLst>
            <a:ext uri="{909E8E84-426E-40DD-AFC4-6F175D3DCCD1}">
              <a14:hiddenFill xmlns:a14="http://schemas.microsoft.com/office/drawing/2010/main">
                <a:solidFill>
                  <a:srgbClr val="FFFFFF"/>
                </a:solidFill>
              </a14:hiddenFill>
            </a:ext>
            <a:ext uri="{C572A759-6A51-4108-AA02-DFA0A04FC94B}">
              <ma14:wrappingTextBoxFlag xmlns="" xmlns:m="http://schemas.openxmlformats.org/officeDocument/2006/math" xmlns:a14="http://schemas.microsoft.com/office/drawing/2010/main" xmlns:ma14="http://schemas.microsoft.com/office/mac/drawingml/2011/main" val="1"/>
            </a:ext>
          </a:extLst>
        </p:spPr>
      </p:pic>
    </p:spTree>
    <p:extLst>
      <p:ext uri="{BB962C8B-B14F-4D97-AF65-F5344CB8AC3E}">
        <p14:creationId xmlns:p14="http://schemas.microsoft.com/office/powerpoint/2010/main" val="3258550800"/>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Identifying and Prioritizing Technical Debt</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7729967" cy="840936"/>
          </a:xfrm>
        </p:spPr>
        <p:txBody>
          <a:bodyPr>
            <a:normAutofit/>
          </a:bodyPr>
          <a:lstStyle/>
          <a:p>
            <a:r>
              <a:rPr lang="en-US" dirty="0"/>
              <a:t>Methods for Identifying Technical Debt</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049246" cy="10455337"/>
          </a:xfrm>
        </p:spPr>
        <p:txBody>
          <a:bodyPr anchor="ctr">
            <a:normAutofit/>
          </a:bodyPr>
          <a:lstStyle/>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Code Reviews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Regular peer reviews can highlight areas needing refactoring.</a:t>
            </a:r>
          </a:p>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Static Analysis Tools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Tools like SonarQube and </a:t>
            </a:r>
            <a:r>
              <a:rPr lang="en-US" sz="36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CodeClimate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assess code quality and detect technical debt.</a:t>
            </a:r>
          </a:p>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Feedback from Developers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Developers often know which parts of the codebase are problematic.</a:t>
            </a:r>
          </a:p>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Automated Metrics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Metrics like cyclomatic complexity, code duplication, and lack of test coverage signal debt.</a:t>
            </a:r>
          </a:p>
        </p:txBody>
      </p:sp>
    </p:spTree>
    <p:extLst>
      <p:ext uri="{BB962C8B-B14F-4D97-AF65-F5344CB8AC3E}">
        <p14:creationId xmlns:p14="http://schemas.microsoft.com/office/powerpoint/2010/main" val="1843784290"/>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Identifying and Prioritizing Technical Debt</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7729967" cy="840936"/>
          </a:xfrm>
        </p:spPr>
        <p:txBody>
          <a:bodyPr>
            <a:normAutofit/>
          </a:bodyPr>
          <a:lstStyle/>
          <a:p>
            <a:r>
              <a:rPr lang="en-US" dirty="0"/>
              <a:t>Prioritizing Technical Debt</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049246" cy="10455337"/>
          </a:xfrm>
        </p:spPr>
        <p:txBody>
          <a:bodyPr anchor="ctr">
            <a:normAutofit/>
          </a:bodyPr>
          <a:lstStyle/>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Severity and Impact</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Prioritize debt with high impact on performance, security, or maintainability.</a:t>
            </a:r>
          </a:p>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Risk vs. Reward</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Assess which debts are worth addressing immediately and which can wait.</a:t>
            </a:r>
          </a:p>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Business Value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Align technical debt reduction with high-impact features to ensure valuable improvements.</a:t>
            </a:r>
          </a:p>
        </p:txBody>
      </p:sp>
    </p:spTree>
    <p:extLst>
      <p:ext uri="{BB962C8B-B14F-4D97-AF65-F5344CB8AC3E}">
        <p14:creationId xmlns:p14="http://schemas.microsoft.com/office/powerpoint/2010/main" val="2940366186"/>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Strategies for Managing Technical Debt</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7729967" cy="840936"/>
          </a:xfrm>
        </p:spPr>
        <p:txBody>
          <a:bodyPr>
            <a:normAutofit/>
          </a:bodyPr>
          <a:lstStyle/>
          <a:p>
            <a:r>
              <a:rPr lang="en-US" dirty="0"/>
              <a:t>Strategies for addressing Technical Debt</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049246" cy="10455337"/>
          </a:xfrm>
        </p:spPr>
        <p:txBody>
          <a:bodyPr anchor="ctr">
            <a:normAutofit/>
          </a:bodyPr>
          <a:lstStyle/>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Continuous Refactoring</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Integrate small refactoring tasks into daily development to gradually reduce debt.</a:t>
            </a:r>
          </a:p>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Dedicated Debt Reduction Sprints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Allocate specific sprints for addressing accumulated debt.</a:t>
            </a:r>
          </a:p>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Refactoring in Tandem with New Features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When working on related features, include debt reduction as part of the process.</a:t>
            </a:r>
          </a:p>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Documenting Technical Debt</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Create a debt register to document and track items for future resolution.</a:t>
            </a:r>
          </a:p>
          <a:p>
            <a:pPr marL="0" indent="0" algn="just">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Proactive Debt Management</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Defining Coding Standards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Ensures code consistency and reduces the risk of new debt.</a:t>
            </a:r>
          </a:p>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Encouraging Code Ownership</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Developers who take responsibility for specific components are more likely to reduce debt.</a:t>
            </a:r>
          </a:p>
        </p:txBody>
      </p:sp>
    </p:spTree>
    <p:extLst>
      <p:ext uri="{BB962C8B-B14F-4D97-AF65-F5344CB8AC3E}">
        <p14:creationId xmlns:p14="http://schemas.microsoft.com/office/powerpoint/2010/main" val="1642892572"/>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Strategies for Managing Technical Debt</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7729967" cy="840936"/>
          </a:xfrm>
        </p:spPr>
        <p:txBody>
          <a:bodyPr>
            <a:normAutofit/>
          </a:bodyPr>
          <a:lstStyle/>
          <a:p>
            <a:r>
              <a:rPr lang="en-US" dirty="0"/>
              <a:t>Principles of Technical Debt Management</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049246" cy="10455337"/>
          </a:xfrm>
        </p:spPr>
        <p:txBody>
          <a:bodyPr anchor="ctr">
            <a:normAutofit/>
          </a:bodyPr>
          <a:lstStyle/>
          <a:p>
            <a:pPr marL="742950" indent="-742950" algn="just">
              <a:buFont typeface="+mj-lt"/>
              <a:buAutoNum type="arabicPeriod"/>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Technical debt is a useful rhetorical concept for dialogue.</a:t>
            </a:r>
          </a:p>
          <a:p>
            <a:pPr marL="742950" indent="-742950" algn="just">
              <a:buFont typeface="+mj-lt"/>
              <a:buAutoNum type="arabicPeriod"/>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If you do not incur any form of interest, then you probably do not have actual technical debt.</a:t>
            </a:r>
          </a:p>
          <a:p>
            <a:pPr marL="742950" indent="-742950" algn="just">
              <a:buFont typeface="+mj-lt"/>
              <a:buAutoNum type="arabicPeriod"/>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All systems have technical debt.</a:t>
            </a:r>
          </a:p>
          <a:p>
            <a:pPr marL="742950" indent="-742950" algn="just">
              <a:buFont typeface="+mj-lt"/>
              <a:buAutoNum type="arabicPeriod"/>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Technical debt must trace to the system</a:t>
            </a:r>
          </a:p>
          <a:p>
            <a:pPr marL="742950" indent="-742950" algn="just">
              <a:buFont typeface="+mj-lt"/>
              <a:buAutoNum type="arabicPeriod"/>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Technical debt is not synonymous with bad quality.</a:t>
            </a:r>
          </a:p>
          <a:p>
            <a:pPr marL="742950" indent="-742950" algn="just">
              <a:buFont typeface="+mj-lt"/>
              <a:buAutoNum type="arabicPeriod"/>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Architecture technical debt has the highest cost of ownership.</a:t>
            </a:r>
          </a:p>
          <a:p>
            <a:pPr marL="742950" indent="-742950" algn="just">
              <a:buFont typeface="+mj-lt"/>
              <a:buAutoNum type="arabicPeriod"/>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All code matters!</a:t>
            </a:r>
          </a:p>
          <a:p>
            <a:pPr marL="742950" indent="-742950" algn="just">
              <a:buFont typeface="+mj-lt"/>
              <a:buAutoNum type="arabicPeriod"/>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Technical debt has no absolute measure.</a:t>
            </a:r>
          </a:p>
          <a:p>
            <a:pPr marL="742950" indent="-742950" algn="just">
              <a:buFont typeface="+mj-lt"/>
              <a:buAutoNum type="arabicPeriod"/>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Technical debt depends on the future evolution of the system.</a:t>
            </a:r>
          </a:p>
        </p:txBody>
      </p:sp>
    </p:spTree>
    <p:extLst>
      <p:ext uri="{BB962C8B-B14F-4D97-AF65-F5344CB8AC3E}">
        <p14:creationId xmlns:p14="http://schemas.microsoft.com/office/powerpoint/2010/main" val="19123407"/>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Strategies for Managing Technical Debt</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7729967" cy="840936"/>
          </a:xfrm>
        </p:spPr>
        <p:txBody>
          <a:bodyPr>
            <a:normAutofit/>
          </a:bodyPr>
          <a:lstStyle/>
          <a:p>
            <a:r>
              <a:rPr lang="en-US" dirty="0"/>
              <a:t>Not All Technical Debt is the Same</a:t>
            </a:r>
          </a:p>
        </p:txBody>
      </p:sp>
      <p:pic>
        <p:nvPicPr>
          <p:cNvPr id="6" name="Content Placeholder 5" descr="A white box with black text&#10;&#10;Description automatically generated">
            <a:extLst>
              <a:ext uri="{FF2B5EF4-FFF2-40B4-BE49-F238E27FC236}">
                <a16:creationId xmlns:a16="http://schemas.microsoft.com/office/drawing/2014/main" id="{677BE0E5-2C3D-05E7-90FB-D95F8131AEAC}"/>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2207877" y="4114800"/>
            <a:ext cx="22176123" cy="7181473"/>
          </a:xfrm>
        </p:spPr>
      </p:pic>
    </p:spTree>
    <p:extLst>
      <p:ext uri="{BB962C8B-B14F-4D97-AF65-F5344CB8AC3E}">
        <p14:creationId xmlns:p14="http://schemas.microsoft.com/office/powerpoint/2010/main" val="381873720"/>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Strategies for Managing Technical Debt</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7729967" cy="840936"/>
          </a:xfrm>
        </p:spPr>
        <p:txBody>
          <a:bodyPr>
            <a:normAutofit/>
          </a:bodyPr>
          <a:lstStyle/>
          <a:p>
            <a:r>
              <a:rPr lang="en-US" dirty="0"/>
              <a:t>How Can We Avoid (Inadvertent) Technical Debt?</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049246" cy="10455337"/>
          </a:xfrm>
        </p:spPr>
        <p:txBody>
          <a:bodyPr anchor="ctr">
            <a:normAutofit/>
          </a:bodyPr>
          <a:lstStyle/>
          <a:p>
            <a:pPr marL="0" indent="0" algn="just">
              <a:lnSpc>
                <a:spcPct val="120000"/>
              </a:lnSpc>
              <a:spcBef>
                <a:spcPts val="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Common Anti-Patterns: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Not having a QA process! Or no-one follows it</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Bad version control practices</a:t>
            </a:r>
          </a:p>
          <a:p>
            <a:pPr lvl="1"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Everyone commits to the main branch</a:t>
            </a:r>
          </a:p>
          <a:p>
            <a:pPr lvl="1"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Long-lived feature branches</a:t>
            </a:r>
          </a:p>
          <a:p>
            <a:pPr lvl="1"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Huge PRs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Slow and encumbering QA processes</a:t>
            </a:r>
          </a:p>
          <a:p>
            <a:pPr lvl="1"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Changes take forever to get merged</a:t>
            </a:r>
          </a:p>
          <a:p>
            <a:pPr lvl="1"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Time could be better spent on new features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Reliance on repetitive manual labor</a:t>
            </a:r>
          </a:p>
          <a:p>
            <a:pPr lvl="1"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focused on superficial problems rather than structural ones</a:t>
            </a:r>
          </a:p>
          <a:p>
            <a:pPr lvl="1"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results may vary (e.g., manual testing) </a:t>
            </a:r>
          </a:p>
          <a:p>
            <a:pPr lvl="1"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mistakes will happen!</a:t>
            </a:r>
          </a:p>
        </p:txBody>
      </p:sp>
    </p:spTree>
    <p:extLst>
      <p:ext uri="{BB962C8B-B14F-4D97-AF65-F5344CB8AC3E}">
        <p14:creationId xmlns:p14="http://schemas.microsoft.com/office/powerpoint/2010/main" val="293129802"/>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Refactoring Techniques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7729967" cy="840936"/>
          </a:xfrm>
        </p:spPr>
        <p:txBody>
          <a:bodyPr>
            <a:normAutofit/>
          </a:bodyPr>
          <a:lstStyle/>
          <a:p>
            <a:r>
              <a:rPr lang="en-US" dirty="0"/>
              <a:t>Refactoring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049246" cy="10455337"/>
          </a:xfrm>
        </p:spPr>
        <p:txBody>
          <a:bodyPr anchor="ctr">
            <a:normAutofit lnSpcReduction="10000"/>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Refactoring is the process of improving code structure without changing its external behavior, making it easier to read, maintain, and extend.</a:t>
            </a:r>
          </a:p>
          <a:p>
            <a:pPr marL="0" indent="0" algn="just">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Common Refactoring Techniques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algn="just">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Extract Method</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Moves a code block into a separate method, improving readability and reuse.</a:t>
            </a:r>
          </a:p>
          <a:p>
            <a:pPr lvl="1" algn="just">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Extracting code from a long function into smaller, named methods to clarify functionality.</a:t>
            </a:r>
          </a:p>
          <a:p>
            <a:pPr algn="just">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Rename Variable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Gives variables meaningful names to enhance readability and maintainability.</a:t>
            </a:r>
          </a:p>
          <a:p>
            <a:pPr lvl="1" algn="just">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Renaming temp to </a:t>
            </a:r>
            <a:r>
              <a:rPr lang="en-US" sz="36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averageTemperature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for clarity.</a:t>
            </a:r>
          </a:p>
          <a:p>
            <a:pPr algn="just">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Simplify Conditionals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Reduces complexity in conditional statements, often by using guard clauses or combining conditions.</a:t>
            </a:r>
          </a:p>
          <a:p>
            <a:pPr lvl="1" algn="just">
              <a:lnSpc>
                <a:spcPct val="120000"/>
              </a:lnSpc>
              <a:spcBef>
                <a:spcPts val="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Converting nested if statements into simpler expressions or separate methods.</a:t>
            </a:r>
          </a:p>
          <a:p>
            <a:pPr marL="0" indent="0" algn="just">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When to Refactor</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When adding new features, fixing bugs, or reviewing code for potential improvements.</a:t>
            </a:r>
          </a:p>
        </p:txBody>
      </p:sp>
    </p:spTree>
    <p:extLst>
      <p:ext uri="{BB962C8B-B14F-4D97-AF65-F5344CB8AC3E}">
        <p14:creationId xmlns:p14="http://schemas.microsoft.com/office/powerpoint/2010/main" val="2071990937"/>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CC9A3-FB6E-DB3A-36BC-1DB5FA6C0129}"/>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053E2DA4-F8BE-01AB-0C23-B97B20B1AE79}"/>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0EAE9782-3C02-FAD4-699A-C827BC99AC35}"/>
              </a:ext>
            </a:extLst>
          </p:cNvPr>
          <p:cNvSpPr>
            <a:spLocks noGrp="1"/>
          </p:cNvSpPr>
          <p:nvPr>
            <p:ph sz="quarter" idx="11"/>
          </p:nvPr>
        </p:nvSpPr>
        <p:spPr>
          <a:xfrm>
            <a:off x="5486930" y="4337538"/>
            <a:ext cx="13714940" cy="6635262"/>
          </a:xfrm>
        </p:spPr>
        <p:txBody>
          <a:bodyPr>
            <a:noAutofit/>
          </a:bodyPr>
          <a:lstStyle/>
          <a:p>
            <a:r>
              <a:rPr lang="en-US" sz="3600" dirty="0">
                <a:latin typeface="Open Sans" panose="020B0606030504020204" pitchFamily="34" charset="0"/>
                <a:ea typeface="Open Sans" panose="020B0606030504020204" pitchFamily="34" charset="0"/>
                <a:cs typeface="Open Sans" panose="020B0606030504020204" pitchFamily="34" charset="0"/>
              </a:rPr>
              <a:t>Pressman, R.S. (2015). </a:t>
            </a:r>
            <a:r>
              <a:rPr lang="en-US" sz="3600" b="1" i="1" dirty="0">
                <a:latin typeface="Open Sans" panose="020B0606030504020204" pitchFamily="34" charset="0"/>
                <a:ea typeface="Open Sans" panose="020B0606030504020204" pitchFamily="34" charset="0"/>
                <a:cs typeface="Open Sans" panose="020B0606030504020204" pitchFamily="34" charset="0"/>
              </a:rPr>
              <a:t>Software Engineering : A </a:t>
            </a:r>
            <a:r>
              <a:rPr lang="en-US" sz="3600" b="1" i="1" dirty="0" err="1">
                <a:latin typeface="Open Sans" panose="020B0606030504020204" pitchFamily="34" charset="0"/>
                <a:ea typeface="Open Sans" panose="020B0606030504020204" pitchFamily="34" charset="0"/>
                <a:cs typeface="Open Sans" panose="020B0606030504020204" pitchFamily="34" charset="0"/>
              </a:rPr>
              <a:t>Practioner's</a:t>
            </a:r>
            <a:r>
              <a:rPr lang="en-US" sz="3600" b="1" i="1" dirty="0">
                <a:latin typeface="Open Sans" panose="020B0606030504020204" pitchFamily="34" charset="0"/>
                <a:ea typeface="Open Sans" panose="020B0606030504020204" pitchFamily="34" charset="0"/>
                <a:cs typeface="Open Sans" panose="020B0606030504020204" pitchFamily="34" charset="0"/>
              </a:rPr>
              <a:t>  Approach. 8th ed</a:t>
            </a:r>
            <a:r>
              <a:rPr lang="en-US" sz="3600" dirty="0">
                <a:latin typeface="Open Sans" panose="020B0606030504020204" pitchFamily="34" charset="0"/>
                <a:ea typeface="Open Sans" panose="020B0606030504020204" pitchFamily="34" charset="0"/>
                <a:cs typeface="Open Sans" panose="020B0606030504020204" pitchFamily="34" charset="0"/>
              </a:rPr>
              <a:t>. McGraw-Hill </a:t>
            </a:r>
            <a:r>
              <a:rPr lang="en-US" sz="3600" dirty="0" err="1">
                <a:latin typeface="Open Sans" panose="020B0606030504020204" pitchFamily="34" charset="0"/>
                <a:ea typeface="Open Sans" panose="020B0606030504020204" pitchFamily="34" charset="0"/>
                <a:cs typeface="Open Sans" panose="020B0606030504020204" pitchFamily="34" charset="0"/>
              </a:rPr>
              <a:t>Companies.Inc</a:t>
            </a:r>
            <a:r>
              <a:rPr lang="en-US" sz="3600" dirty="0">
                <a:latin typeface="Open Sans" panose="020B0606030504020204" pitchFamily="34" charset="0"/>
                <a:ea typeface="Open Sans" panose="020B0606030504020204" pitchFamily="34" charset="0"/>
                <a:cs typeface="Open Sans" panose="020B0606030504020204" pitchFamily="34" charset="0"/>
              </a:rPr>
              <a:t>, Americas, New York.  ISBN : 978 1 259 253157.</a:t>
            </a:r>
          </a:p>
          <a:p>
            <a:r>
              <a:rPr lang="en-US" sz="3600" b="1" i="1" dirty="0">
                <a:latin typeface="Open Sans" panose="020B0606030504020204" pitchFamily="34" charset="0"/>
                <a:ea typeface="Open Sans" panose="020B0606030504020204" pitchFamily="34" charset="0"/>
                <a:cs typeface="Open Sans" panose="020B0606030504020204" pitchFamily="34" charset="0"/>
              </a:rPr>
              <a:t>Risk Management &amp; operational Risk </a:t>
            </a:r>
            <a:r>
              <a:rPr lang="en-US" sz="3600" dirty="0">
                <a:latin typeface="Open Sans" panose="020B0606030504020204" pitchFamily="34" charset="0"/>
                <a:ea typeface="Open Sans" panose="020B0606030504020204" pitchFamily="34" charset="0"/>
                <a:cs typeface="Open Sans" panose="020B0606030504020204" pitchFamily="34" charset="0"/>
              </a:rPr>
              <a:t>http://www.grafp.com/products/risk-manage.html</a:t>
            </a:r>
          </a:p>
          <a:p>
            <a:r>
              <a:rPr lang="en-US" sz="3600" b="1" i="1" dirty="0" err="1">
                <a:latin typeface="Open Sans" panose="020B0606030504020204" pitchFamily="34" charset="0"/>
                <a:ea typeface="Open Sans" panose="020B0606030504020204" pitchFamily="34" charset="0"/>
                <a:cs typeface="Open Sans" panose="020B0606030504020204" pitchFamily="34" charset="0"/>
              </a:rPr>
              <a:t>Sw</a:t>
            </a:r>
            <a:r>
              <a:rPr lang="en-US" sz="3600" b="1" i="1" dirty="0">
                <a:latin typeface="Open Sans" panose="020B0606030504020204" pitchFamily="34" charset="0"/>
                <a:ea typeface="Open Sans" panose="020B0606030504020204" pitchFamily="34" charset="0"/>
                <a:cs typeface="Open Sans" panose="020B0606030504020204" pitchFamily="34" charset="0"/>
              </a:rPr>
              <a:t> maintenance and Reengineering </a:t>
            </a:r>
            <a:r>
              <a:rPr lang="en-US" sz="3600" dirty="0">
                <a:latin typeface="Open Sans" panose="020B0606030504020204" pitchFamily="34" charset="0"/>
                <a:ea typeface="Open Sans" panose="020B0606030504020204" pitchFamily="34" charset="0"/>
                <a:cs typeface="Open Sans" panose="020B0606030504020204" pitchFamily="34" charset="0"/>
              </a:rPr>
              <a:t>http://www.csse.monash.edu.au/~jonmc/CSE2305/Topics/13.25.SWEng4/html/text.html</a:t>
            </a:r>
          </a:p>
          <a:p>
            <a:endParaRPr lang="en-US" sz="3600" dirty="0">
              <a:latin typeface="Open Sans" panose="020B0606030504020204" pitchFamily="34" charset="0"/>
              <a:ea typeface="Open Sans" panose="020B0606030504020204" pitchFamily="34" charset="0"/>
              <a:cs typeface="Open Sans" panose="020B0606030504020204" pitchFamily="34" charset="0"/>
            </a:endParaRPr>
          </a:p>
          <a:p>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97612424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2" id="{91EC78B4-BE4F-3B4D-B302-CF3E80410C1C}" vid="{48571482-A7A2-E44B-AA81-515161122809}"/>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TaxCatchAll xmlns="9fdf624c-fedc-4f6c-b928-0c7bf4c9e100" xsi:nil="true"/>
    <_Flow_SignoffStatus xmlns="47793baa-3cbb-486e-a055-4d42ce3882d7" xsi:nil="true"/>
    <_dlc_DocId xmlns="9fdf624c-fedc-4f6c-b928-0c7bf4c9e100">J56STF5CZXNR-2061195910-875156</_dlc_DocId>
    <_dlc_DocIdUrl xmlns="9fdf624c-fedc-4f6c-b928-0c7bf4c9e100">
      <Url>https://binusianorg.sharepoint.com/sites/arc/_layouts/15/DocIdRedir.aspx?ID=J56STF5CZXNR-2061195910-875156</Url>
      <Description>J56STF5CZXNR-2061195910-875156</Description>
    </_dlc_DocIdUrl>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8" ma:contentTypeDescription="Create a new document." ma:contentTypeScope="" ma:versionID="2a43a3a40365f9eee60928e1a48d8e8a">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b55bbfde6f7dd5be9fcb8a553256df6e"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7" nillable="true" ma:displayName="Taxonomy Catch All Column" ma:hidden="true" ma:list="{131959e2-2cf4-437e-858a-61f1b162208b}" ma:internalName="TaxCatchAll" ma:showField="CatchAllData" ma:web="9fdf624c-fedc-4f6c-b928-0c7bf4c9e10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2252D89-D1E6-488A-B078-4573BAE073F6}">
  <ds:schemaRefs>
    <ds:schemaRef ds:uri="http://purl.org/dc/terms/"/>
    <ds:schemaRef ds:uri="2661c1c1-ed05-4275-a33d-64e31eb1ea69"/>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4f26481f-d1e8-4452-9a9a-b303515fd2b7"/>
    <ds:schemaRef ds:uri="http://schemas.microsoft.com/office/2006/metadata/properties"/>
    <ds:schemaRef ds:uri="http://purl.org/dc/dcmitype/"/>
    <ds:schemaRef ds:uri="http://schemas.microsoft.com/sharepoint/v3/fields"/>
    <ds:schemaRef ds:uri="9fdf624c-fedc-4f6c-b928-0c7bf4c9e100"/>
    <ds:schemaRef ds:uri="47793baa-3cbb-486e-a055-4d42ce3882d7"/>
  </ds:schemaRefs>
</ds:datastoreItem>
</file>

<file path=customXml/itemProps2.xml><?xml version="1.0" encoding="utf-8"?>
<ds:datastoreItem xmlns:ds="http://schemas.openxmlformats.org/officeDocument/2006/customXml" ds:itemID="{2E0FE671-25D8-4116-9472-BF9297986CC6}">
  <ds:schemaRefs>
    <ds:schemaRef ds:uri="http://schemas.microsoft.com/sharepoint/v3/contenttype/forms"/>
  </ds:schemaRefs>
</ds:datastoreItem>
</file>

<file path=customXml/itemProps3.xml><?xml version="1.0" encoding="utf-8"?>
<ds:datastoreItem xmlns:ds="http://schemas.openxmlformats.org/officeDocument/2006/customXml" ds:itemID="{CDDAE38A-8264-43C3-9B01-B7FA25F10602}">
  <ds:schemaRefs>
    <ds:schemaRef ds:uri="http://schemas.microsoft.com/sharepoint/events"/>
  </ds:schemaRefs>
</ds:datastoreItem>
</file>

<file path=customXml/itemProps4.xml><?xml version="1.0" encoding="utf-8"?>
<ds:datastoreItem xmlns:ds="http://schemas.openxmlformats.org/officeDocument/2006/customXml" ds:itemID="{90A97211-242D-415A-8ADE-6F44C1D92C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BINUS Learning Object Slide Template 2022</Template>
  <TotalTime>3542</TotalTime>
  <Words>3228</Words>
  <Application>Microsoft Office PowerPoint</Application>
  <PresentationFormat>Custom</PresentationFormat>
  <Paragraphs>360</Paragraphs>
  <Slides>53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53</vt:i4>
      </vt:variant>
    </vt:vector>
  </HeadingPairs>
  <TitlesOfParts>
    <vt:vector size="60" baseType="lpstr">
      <vt:lpstr>Arial</vt:lpstr>
      <vt:lpstr>Open Sans ExtraBold</vt:lpstr>
      <vt:lpstr>Open Sans</vt:lpstr>
      <vt:lpstr>Open Sans Semibold</vt:lpstr>
      <vt:lpstr>Open Sans Light</vt:lpstr>
      <vt:lpstr>OCRB</vt:lpstr>
      <vt:lpstr>21_BasicWhite</vt:lpstr>
      <vt:lpstr>Software Maintenance, Legacy Systems, and Technical Debt</vt:lpstr>
      <vt:lpstr>Session 21 – Software Maintenance, Legacy Systems, and Technical Debt</vt:lpstr>
      <vt:lpstr>Session 21 – Software Maintenance, Legacy Systems, and Technical Debt</vt:lpstr>
      <vt:lpstr>SOFTWARE Deployment </vt:lpstr>
      <vt:lpstr>Software Deployment</vt:lpstr>
      <vt:lpstr>Software Deployment</vt:lpstr>
      <vt:lpstr>Software Maintenance</vt:lpstr>
      <vt:lpstr>Software Maintenance</vt:lpstr>
      <vt:lpstr>Types of Maintenance</vt:lpstr>
      <vt:lpstr>Maintenance Process and Best PRactices</vt:lpstr>
      <vt:lpstr>Challenges in software maintenance</vt:lpstr>
      <vt:lpstr>Measuring maintenance Effort and Effectiveness</vt:lpstr>
      <vt:lpstr>Measuring maintenance Effort and Effectiveness</vt:lpstr>
      <vt:lpstr>Metrics tell us how maintenance performs</vt:lpstr>
      <vt:lpstr>Preface</vt:lpstr>
      <vt:lpstr>You will never understand the entire system!</vt:lpstr>
      <vt:lpstr>Challenge Regarding the system</vt:lpstr>
      <vt:lpstr>Challenge Regarding the system</vt:lpstr>
      <vt:lpstr>Challenge Regarding the system</vt:lpstr>
      <vt:lpstr>Challenge Regarding the system</vt:lpstr>
      <vt:lpstr>Understanding a new Codebase</vt:lpstr>
      <vt:lpstr>Observation</vt:lpstr>
      <vt:lpstr>Observation</vt:lpstr>
      <vt:lpstr>Observation</vt:lpstr>
      <vt:lpstr>Observation</vt:lpstr>
      <vt:lpstr>Observation</vt:lpstr>
      <vt:lpstr>Observation</vt:lpstr>
      <vt:lpstr>Observation</vt:lpstr>
      <vt:lpstr>Information Gathering</vt:lpstr>
      <vt:lpstr>Information Gathering</vt:lpstr>
      <vt:lpstr>Information Gathering</vt:lpstr>
      <vt:lpstr>Information Gathering</vt:lpstr>
      <vt:lpstr>Information Gathering</vt:lpstr>
      <vt:lpstr>Information Gathering</vt:lpstr>
      <vt:lpstr>Information Gathering</vt:lpstr>
      <vt:lpstr>Activity</vt:lpstr>
      <vt:lpstr>Understanding Technical Debt</vt:lpstr>
      <vt:lpstr>Understanding Technical Debt</vt:lpstr>
      <vt:lpstr>Understanding Technical Debt</vt:lpstr>
      <vt:lpstr>Understanding Technical Debt</vt:lpstr>
      <vt:lpstr>Understanding Technical Debt</vt:lpstr>
      <vt:lpstr>Understanding Technical Debt</vt:lpstr>
      <vt:lpstr>Understanding Technical Debt</vt:lpstr>
      <vt:lpstr>Understanding Technical Debt</vt:lpstr>
      <vt:lpstr>Understanding Technical Debt</vt:lpstr>
      <vt:lpstr>Identifying and Prioritizing Technical Debt</vt:lpstr>
      <vt:lpstr>Identifying and Prioritizing Technical Debt</vt:lpstr>
      <vt:lpstr>Strategies for Managing Technical Debt</vt:lpstr>
      <vt:lpstr>Strategies for Managing Technical Debt</vt:lpstr>
      <vt:lpstr>Strategies for Managing Technical Debt</vt:lpstr>
      <vt:lpstr>Strategies for Managing Technical Debt</vt:lpstr>
      <vt:lpstr>Refactoring Techniques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Aris Priyanto</dc:creator>
  <cp:lastModifiedBy>Maulin Nasari</cp:lastModifiedBy>
  <cp:revision>41</cp:revision>
  <dcterms:created xsi:type="dcterms:W3CDTF">2023-04-06T08:40:27Z</dcterms:created>
  <dcterms:modified xsi:type="dcterms:W3CDTF">2025-12-25T23:04:45Z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0x010100144340CFFCDDB44F9904404F1FA9688C</vt:lpwstr>
  </property>
  <property fmtid="{D5CDD505-2E9C-101B-9397-08002B2CF9AE}" pid="3" name="_dlc_DocIdItemGuid">
    <vt:lpwstr>a8e96856-29d3-47af-8f22-9a1c34492d36</vt:lpwstr>
  </property>
</Properties>
</file>