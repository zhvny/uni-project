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5"/>
  </p:sldMasterIdLst>
  <p:notesMasterIdLst>
    <p:notesMasterId r:id="rId62"/>
  </p:notesMasterIdLst>
  <p:sldIdLst>
    <p:sldId id="256" r:id="rId6"/>
    <p:sldId id="257" r:id="rId7"/>
    <p:sldId id="258" r:id="rId8"/>
    <p:sldId id="335" r:id="rId9"/>
    <p:sldId id="343" r:id="rId10"/>
    <p:sldId id="344" r:id="rId11"/>
    <p:sldId id="342" r:id="rId12"/>
    <p:sldId id="345" r:id="rId13"/>
    <p:sldId id="346" r:id="rId14"/>
    <p:sldId id="347" r:id="rId15"/>
    <p:sldId id="348" r:id="rId16"/>
    <p:sldId id="349" r:id="rId17"/>
    <p:sldId id="350" r:id="rId18"/>
    <p:sldId id="351" r:id="rId19"/>
    <p:sldId id="336" r:id="rId20"/>
    <p:sldId id="353" r:id="rId21"/>
    <p:sldId id="354" r:id="rId22"/>
    <p:sldId id="355" r:id="rId23"/>
    <p:sldId id="356" r:id="rId24"/>
    <p:sldId id="352" r:id="rId25"/>
    <p:sldId id="357" r:id="rId26"/>
    <p:sldId id="358" r:id="rId27"/>
    <p:sldId id="359" r:id="rId28"/>
    <p:sldId id="362" r:id="rId29"/>
    <p:sldId id="363" r:id="rId30"/>
    <p:sldId id="364" r:id="rId31"/>
    <p:sldId id="365" r:id="rId32"/>
    <p:sldId id="366" r:id="rId33"/>
    <p:sldId id="367" r:id="rId34"/>
    <p:sldId id="368" r:id="rId35"/>
    <p:sldId id="369" r:id="rId36"/>
    <p:sldId id="371" r:id="rId37"/>
    <p:sldId id="372" r:id="rId38"/>
    <p:sldId id="373" r:id="rId39"/>
    <p:sldId id="374" r:id="rId40"/>
    <p:sldId id="360" r:id="rId41"/>
    <p:sldId id="361" r:id="rId42"/>
    <p:sldId id="376" r:id="rId43"/>
    <p:sldId id="377" r:id="rId44"/>
    <p:sldId id="378" r:id="rId45"/>
    <p:sldId id="379" r:id="rId46"/>
    <p:sldId id="260" r:id="rId47"/>
    <p:sldId id="285" r:id="rId48"/>
    <p:sldId id="286" r:id="rId49"/>
    <p:sldId id="287" r:id="rId50"/>
    <p:sldId id="288" r:id="rId51"/>
    <p:sldId id="289" r:id="rId52"/>
    <p:sldId id="290" r:id="rId53"/>
    <p:sldId id="291" r:id="rId54"/>
    <p:sldId id="292" r:id="rId55"/>
    <p:sldId id="293" r:id="rId56"/>
    <p:sldId id="294" r:id="rId57"/>
    <p:sldId id="295" r:id="rId58"/>
    <p:sldId id="296" r:id="rId59"/>
    <p:sldId id="370" r:id="rId60"/>
    <p:sldId id="284" r:id="rId61"/>
  </p:sldIdLst>
  <p:sldSz cx="24384000" cy="13716000"/>
  <p:notesSz cx="6858000" cy="9144000"/>
  <p:embeddedFontLst>
    <p:embeddedFont>
      <p:font typeface="OCRB" panose="020B0609020202020204" pitchFamily="49" charset="77"/>
      <p:regular r:id="rId63"/>
    </p:embeddedFont>
    <p:embeddedFont>
      <p:font typeface="Open Sans" panose="020B0606030504020204" pitchFamily="34" charset="0"/>
      <p:regular r:id="rId64"/>
      <p:bold r:id="rId65"/>
      <p:italic r:id="rId66"/>
      <p:boldItalic r:id="rId67"/>
    </p:embeddedFont>
    <p:embeddedFont>
      <p:font typeface="Open Sans ExtraBold" panose="020B0606030504020204" pitchFamily="34" charset="0"/>
      <p:bold r:id="rId68"/>
      <p:italic r:id="rId69"/>
      <p:boldItalic r:id="rId70"/>
    </p:embeddedFont>
    <p:embeddedFont>
      <p:font typeface="Open Sans Light" panose="020B0306030504020204" pitchFamily="34" charset="0"/>
      <p:regular r:id="rId71"/>
      <p:italic r:id="rId72"/>
    </p:embeddedFont>
    <p:embeddedFont>
      <p:font typeface="Open Sans Semibold" panose="020B0606030504020204" pitchFamily="34" charset="0"/>
      <p:regular r:id="rId73"/>
      <p:bold r:id="rId74"/>
      <p:italic r:id="rId75"/>
      <p:boldItalic r:id="rId76"/>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AF36"/>
    <a:srgbClr val="314F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64" autoAdjust="0"/>
    <p:restoredTop sz="96197"/>
  </p:normalViewPr>
  <p:slideViewPr>
    <p:cSldViewPr snapToGrid="0" snapToObjects="1">
      <p:cViewPr varScale="1">
        <p:scale>
          <a:sx n="62" d="100"/>
          <a:sy n="62" d="100"/>
        </p:scale>
        <p:origin x="280" y="200"/>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font" Target="fonts/font1.fntdata"/><Relationship Id="rId68" Type="http://schemas.openxmlformats.org/officeDocument/2006/relationships/font" Target="fonts/font6.fntdata"/><Relationship Id="rId16" Type="http://schemas.openxmlformats.org/officeDocument/2006/relationships/slide" Target="slides/slide1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font" Target="fonts/font4.fntdata"/><Relationship Id="rId74" Type="http://schemas.openxmlformats.org/officeDocument/2006/relationships/font" Target="fonts/font12.fntdata"/><Relationship Id="rId79"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font" Target="fonts/font2.fntdata"/><Relationship Id="rId69" Type="http://schemas.openxmlformats.org/officeDocument/2006/relationships/font" Target="fonts/font7.fntdata"/><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font" Target="fonts/font10.fntdata"/><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font" Target="fonts/font5.fntdata"/><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font" Target="fonts/font14.fntdata"/><Relationship Id="rId7" Type="http://schemas.openxmlformats.org/officeDocument/2006/relationships/slide" Target="slides/slide2.xml"/><Relationship Id="rId71" Type="http://schemas.openxmlformats.org/officeDocument/2006/relationships/font" Target="fonts/font9.fntdata"/><Relationship Id="rId2" Type="http://schemas.openxmlformats.org/officeDocument/2006/relationships/customXml" Target="../customXml/item2.xml"/><Relationship Id="rId29"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1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9.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0.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22.svg"/><Relationship Id="rId4" Type="http://schemas.openxmlformats.org/officeDocument/2006/relationships/image" Target="../media/image2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409412486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9024523"/>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1" name="Image" descr="Image">
            <a:extLst>
              <a:ext uri="{FF2B5EF4-FFF2-40B4-BE49-F238E27FC236}">
                <a16:creationId xmlns:a16="http://schemas.microsoft.com/office/drawing/2014/main" id="{57BF6916-406C-E944-841A-1BF7394CF104}"/>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15" name="UNIVERSITAS BINA NUSANTARA">
            <a:extLst>
              <a:ext uri="{FF2B5EF4-FFF2-40B4-BE49-F238E27FC236}">
                <a16:creationId xmlns:a16="http://schemas.microsoft.com/office/drawing/2014/main" id="{B2ACCA88-1510-174E-BE16-6E62A96F6E0C}"/>
              </a:ext>
            </a:extLst>
          </p:cNvPr>
          <p:cNvSpPr txBox="1"/>
          <p:nvPr userDrawn="1"/>
        </p:nvSpPr>
        <p:spPr>
          <a:xfrm>
            <a:off x="8706308" y="9680388"/>
            <a:ext cx="6971384"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8706308" y="9680388"/>
            <a:ext cx="6971384" cy="6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dirty="0"/>
              <a:t>UNIVERSITAS</a:t>
            </a:r>
            <a:r>
              <a:rPr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Prese</a:t>
            </a:r>
            <a:r>
              <a:rPr lang="en-ID" dirty="0"/>
              <a:t>n</a:t>
            </a:r>
            <a:r>
              <a:rPr dirty="0" err="1"/>
              <a:t>tation</a:t>
            </a:r>
            <a:r>
              <a:rPr dirty="0"/>
              <a:t> Title</a:t>
            </a:r>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spTree>
    <p:extLst>
      <p:ext uri="{BB962C8B-B14F-4D97-AF65-F5344CB8AC3E}">
        <p14:creationId xmlns:p14="http://schemas.microsoft.com/office/powerpoint/2010/main" val="500318571"/>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pic>
        <p:nvPicPr>
          <p:cNvPr id="6" name="Image" descr="Image">
            <a:extLst>
              <a:ext uri="{FF2B5EF4-FFF2-40B4-BE49-F238E27FC236}">
                <a16:creationId xmlns:a16="http://schemas.microsoft.com/office/drawing/2014/main" id="{BBEE18F9-7EE5-444F-AA57-68A6783A5225}"/>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8262084"/>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spTree>
    <p:extLst>
      <p:ext uri="{BB962C8B-B14F-4D97-AF65-F5344CB8AC3E}">
        <p14:creationId xmlns:p14="http://schemas.microsoft.com/office/powerpoint/2010/main" val="182120862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402990515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48888290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120730222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25126830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9" name="Image" descr="Image">
            <a:extLst>
              <a:ext uri="{FF2B5EF4-FFF2-40B4-BE49-F238E27FC236}">
                <a16:creationId xmlns:a16="http://schemas.microsoft.com/office/drawing/2014/main" id="{342E0CAD-6F4A-B446-A399-7F1EC0FA30B6}"/>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spTree>
    <p:extLst>
      <p:ext uri="{BB962C8B-B14F-4D97-AF65-F5344CB8AC3E}">
        <p14:creationId xmlns:p14="http://schemas.microsoft.com/office/powerpoint/2010/main" val="357946358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Tree>
    <p:extLst>
      <p:ext uri="{BB962C8B-B14F-4D97-AF65-F5344CB8AC3E}">
        <p14:creationId xmlns:p14="http://schemas.microsoft.com/office/powerpoint/2010/main" val="3998102712"/>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4051035"/>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50518920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spTree>
    <p:extLst>
      <p:ext uri="{BB962C8B-B14F-4D97-AF65-F5344CB8AC3E}">
        <p14:creationId xmlns:p14="http://schemas.microsoft.com/office/powerpoint/2010/main" val="180928499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2085329813"/>
      </p:ext>
    </p:extLst>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2837038" y="9711819"/>
            <a:ext cx="1700105" cy="1700105"/>
          </a:xfrm>
          <a:prstGeom prst="rect">
            <a:avLst/>
          </a:prstGeom>
        </p:spPr>
      </p:pic>
    </p:spTree>
    <p:extLst>
      <p:ext uri="{BB962C8B-B14F-4D97-AF65-F5344CB8AC3E}">
        <p14:creationId xmlns:p14="http://schemas.microsoft.com/office/powerpoint/2010/main" val="1070102926"/>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5240000" y="4320116"/>
            <a:ext cx="3535680" cy="3535680"/>
          </a:xfrm>
          <a:prstGeom prst="rect">
            <a:avLst/>
          </a:prstGeom>
        </p:spPr>
      </p:pic>
    </p:spTree>
    <p:extLst>
      <p:ext uri="{BB962C8B-B14F-4D97-AF65-F5344CB8AC3E}">
        <p14:creationId xmlns:p14="http://schemas.microsoft.com/office/powerpoint/2010/main" val="2227040866"/>
      </p:ext>
    </p:extLst>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779245570"/>
      </p:ext>
    </p:extLst>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287110" y="8648744"/>
            <a:ext cx="1403521" cy="1403521"/>
          </a:xfrm>
          <a:prstGeom prst="rect">
            <a:avLst/>
          </a:prstGeom>
        </p:spPr>
      </p:pic>
    </p:spTree>
    <p:extLst>
      <p:ext uri="{BB962C8B-B14F-4D97-AF65-F5344CB8AC3E}">
        <p14:creationId xmlns:p14="http://schemas.microsoft.com/office/powerpoint/2010/main" val="3811012248"/>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pic>
        <p:nvPicPr>
          <p:cNvPr id="7" name="Image" descr="Image">
            <a:extLst>
              <a:ext uri="{FF2B5EF4-FFF2-40B4-BE49-F238E27FC236}">
                <a16:creationId xmlns:a16="http://schemas.microsoft.com/office/drawing/2014/main" id="{13156DDE-55E0-C14A-879A-962B00D82A08}"/>
              </a:ext>
            </a:extLst>
          </p:cNvPr>
          <p:cNvPicPr>
            <a:picLocks noChangeAspect="1"/>
          </p:cNvPicPr>
          <p:nvPr userDrawn="1"/>
        </p:nvPicPr>
        <p:blipFill>
          <a:blip r:embed="rId4"/>
          <a:stretch>
            <a:fillRect/>
          </a:stretch>
        </p:blipFill>
        <p:spPr>
          <a:xfrm>
            <a:off x="21016357" y="354127"/>
            <a:ext cx="2563550" cy="1083872"/>
          </a:xfrm>
          <a:prstGeom prst="rect">
            <a:avLst/>
          </a:prstGeom>
          <a:ln w="12700">
            <a:miter lim="400000"/>
          </a:ln>
        </p:spPr>
      </p:pic>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spTree>
    <p:extLst>
      <p:ext uri="{BB962C8B-B14F-4D97-AF65-F5344CB8AC3E}">
        <p14:creationId xmlns:p14="http://schemas.microsoft.com/office/powerpoint/2010/main" val="1134045232"/>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grpSp>
        <p:nvGrpSpPr>
          <p:cNvPr id="152" name="Group"/>
          <p:cNvGrpSpPr/>
          <p:nvPr/>
        </p:nvGrpSpPr>
        <p:grpSpPr>
          <a:xfrm>
            <a:off x="756659" y="-3867"/>
            <a:ext cx="2783909" cy="2014172"/>
            <a:chOff x="-2864397" y="0"/>
            <a:chExt cx="2783907" cy="2014171"/>
          </a:xfrm>
        </p:grpSpPr>
        <p:pic>
          <p:nvPicPr>
            <p:cNvPr id="149" name="Image" descr="Image"/>
            <p:cNvPicPr>
              <a:picLocks noChangeAspect="1"/>
            </p:cNvPicPr>
            <p:nvPr/>
          </p:nvPicPr>
          <p:blipFill>
            <a:blip r:embed="rId2"/>
            <a:stretch>
              <a:fillRect/>
            </a:stretch>
          </p:blipFill>
          <p:spPr>
            <a:xfrm>
              <a:off x="-2864398" y="-1"/>
              <a:ext cx="630382" cy="1359672"/>
            </a:xfrm>
            <a:prstGeom prst="rect">
              <a:avLst/>
            </a:prstGeom>
            <a:ln w="12700" cap="flat">
              <a:noFill/>
              <a:miter lim="400000"/>
            </a:ln>
            <a:effectLst/>
          </p:spPr>
        </p:pic>
        <p:pic>
          <p:nvPicPr>
            <p:cNvPr id="150" name="Image" descr="Image"/>
            <p:cNvPicPr>
              <a:picLocks noChangeAspect="1"/>
            </p:cNvPicPr>
            <p:nvPr/>
          </p:nvPicPr>
          <p:blipFill>
            <a:blip r:embed="rId3"/>
            <a:srcRect t="88153" r="78332"/>
            <a:stretch>
              <a:fillRect/>
            </a:stretch>
          </p:blipFill>
          <p:spPr>
            <a:xfrm>
              <a:off x="-2850027" y="1390294"/>
              <a:ext cx="601633" cy="623878"/>
            </a:xfrm>
            <a:prstGeom prst="rect">
              <a:avLst/>
            </a:prstGeom>
            <a:ln w="12700" cap="flat">
              <a:noFill/>
              <a:miter lim="400000"/>
            </a:ln>
            <a:effectLst/>
          </p:spPr>
        </p:pic>
        <p:pic>
          <p:nvPicPr>
            <p:cNvPr id="151" name="Image" descr="Image"/>
            <p:cNvPicPr>
              <a:picLocks noChangeAspect="1"/>
            </p:cNvPicPr>
            <p:nvPr/>
          </p:nvPicPr>
          <p:blipFill>
            <a:blip r:embed="rId3"/>
            <a:srcRect l="31837" t="7689" b="68044"/>
            <a:stretch>
              <a:fillRect/>
            </a:stretch>
          </p:blipFill>
          <p:spPr>
            <a:xfrm>
              <a:off x="-1973131" y="245246"/>
              <a:ext cx="1892642" cy="1277976"/>
            </a:xfrm>
            <a:prstGeom prst="rect">
              <a:avLst/>
            </a:prstGeom>
            <a:ln w="12700" cap="flat">
              <a:noFill/>
              <a:miter lim="400000"/>
            </a:ln>
            <a:effectLst/>
          </p:spPr>
        </p:pic>
      </p:gr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437085"/>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136664"/>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815450"/>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494236"/>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173022"/>
            <a:ext cx="10801828" cy="647239"/>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Tree>
    <p:extLst>
      <p:ext uri="{BB962C8B-B14F-4D97-AF65-F5344CB8AC3E}">
        <p14:creationId xmlns:p14="http://schemas.microsoft.com/office/powerpoint/2010/main" val="1151361529"/>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pic>
        <p:nvPicPr>
          <p:cNvPr id="16" name="Image" descr="Image">
            <a:extLst>
              <a:ext uri="{FF2B5EF4-FFF2-40B4-BE49-F238E27FC236}">
                <a16:creationId xmlns:a16="http://schemas.microsoft.com/office/drawing/2014/main" id="{ED3AA748-6163-AF42-8BA4-5A505F8580B0}"/>
              </a:ext>
            </a:extLst>
          </p:cNvPr>
          <p:cNvPicPr>
            <a:picLocks noChangeAspect="1"/>
          </p:cNvPicPr>
          <p:nvPr userDrawn="1"/>
        </p:nvPicPr>
        <p:blipFill>
          <a:blip r:embed="rId3"/>
          <a:stretch>
            <a:fillRect/>
          </a:stretch>
        </p:blipFill>
        <p:spPr>
          <a:xfrm>
            <a:off x="766734" y="758207"/>
            <a:ext cx="1914949" cy="1143001"/>
          </a:xfrm>
          <a:prstGeom prst="rect">
            <a:avLst/>
          </a:prstGeom>
          <a:ln w="12700">
            <a:miter lim="400000"/>
          </a:ln>
        </p:spPr>
      </p:pic>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spTree>
    <p:extLst>
      <p:ext uri="{BB962C8B-B14F-4D97-AF65-F5344CB8AC3E}">
        <p14:creationId xmlns:p14="http://schemas.microsoft.com/office/powerpoint/2010/main" val="2273209878"/>
      </p:ext>
    </p:extLst>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11" name="Image" descr="Image">
            <a:extLst>
              <a:ext uri="{FF2B5EF4-FFF2-40B4-BE49-F238E27FC236}">
                <a16:creationId xmlns:a16="http://schemas.microsoft.com/office/drawing/2014/main" id="{5C0CB95F-A575-6E40-8A77-71E4C3CE5D20}"/>
              </a:ext>
            </a:extLst>
          </p:cNvPr>
          <p:cNvPicPr>
            <a:picLocks noChangeAspect="1"/>
          </p:cNvPicPr>
          <p:nvPr userDrawn="1"/>
        </p:nvPicPr>
        <p:blipFill>
          <a:blip r:embed="rId3"/>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264C53-F38A-3CAD-0C8A-2BF46116F396}"/>
              </a:ext>
            </a:extLst>
          </p:cNvPr>
          <p:cNvSpPr>
            <a:spLocks noGrp="1"/>
          </p:cNvSpPr>
          <p:nvPr>
            <p:ph type="body" sz="quarter" idx="1"/>
          </p:nvPr>
        </p:nvSpPr>
        <p:spPr/>
        <p:txBody>
          <a:bodyPr/>
          <a:lstStyle/>
          <a:p>
            <a:r>
              <a:rPr lang="en-US" dirty="0"/>
              <a:t>COMP6100001 - Software engineering</a:t>
            </a:r>
          </a:p>
          <a:p>
            <a:r>
              <a:rPr lang="en-US" dirty="0"/>
              <a:t>Session 19</a:t>
            </a:r>
          </a:p>
        </p:txBody>
      </p:sp>
      <p:sp>
        <p:nvSpPr>
          <p:cNvPr id="3" name="Title 2">
            <a:extLst>
              <a:ext uri="{FF2B5EF4-FFF2-40B4-BE49-F238E27FC236}">
                <a16:creationId xmlns:a16="http://schemas.microsoft.com/office/drawing/2014/main" id="{1220BAB2-790F-F74A-024A-FC22D1A3E6EA}"/>
              </a:ext>
            </a:extLst>
          </p:cNvPr>
          <p:cNvSpPr>
            <a:spLocks noGrp="1"/>
          </p:cNvSpPr>
          <p:nvPr>
            <p:ph type="title"/>
          </p:nvPr>
        </p:nvSpPr>
        <p:spPr/>
        <p:txBody>
          <a:bodyPr>
            <a:normAutofit/>
          </a:bodyPr>
          <a:lstStyle/>
          <a:p>
            <a:r>
              <a:rPr lang="en-US" dirty="0"/>
              <a:t>Fundamentals of Software Testing</a:t>
            </a:r>
          </a:p>
        </p:txBody>
      </p:sp>
      <p:sp>
        <p:nvSpPr>
          <p:cNvPr id="4" name="Text Placeholder 3">
            <a:extLst>
              <a:ext uri="{FF2B5EF4-FFF2-40B4-BE49-F238E27FC236}">
                <a16:creationId xmlns:a16="http://schemas.microsoft.com/office/drawing/2014/main" id="{9E9B89E2-412C-8945-F692-CD51460D9806}"/>
              </a:ext>
            </a:extLst>
          </p:cNvPr>
          <p:cNvSpPr>
            <a:spLocks noGrp="1"/>
          </p:cNvSpPr>
          <p:nvPr>
            <p:ph type="body" sz="quarter" idx="11"/>
          </p:nvPr>
        </p:nvSpPr>
        <p:spPr/>
        <p:txBody>
          <a:bodyPr/>
          <a:lstStyle/>
          <a:p>
            <a:r>
              <a:rPr lang="en-US" dirty="0"/>
              <a:t>Kenny Jingga, </a:t>
            </a:r>
            <a:r>
              <a:rPr lang="en-US" dirty="0" err="1"/>
              <a:t>S.Kom</a:t>
            </a:r>
            <a:r>
              <a:rPr lang="en-US" dirty="0"/>
              <a:t>., M.T.</a:t>
            </a:r>
          </a:p>
        </p:txBody>
      </p:sp>
    </p:spTree>
    <p:extLst>
      <p:ext uri="{BB962C8B-B14F-4D97-AF65-F5344CB8AC3E}">
        <p14:creationId xmlns:p14="http://schemas.microsoft.com/office/powerpoint/2010/main" val="3487223446"/>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5444762" cy="547670"/>
          </a:xfrm>
        </p:spPr>
        <p:txBody>
          <a:bodyPr>
            <a:normAutofit fontScale="90000"/>
          </a:bodyPr>
          <a:lstStyle/>
          <a:p>
            <a:r>
              <a:rPr lang="en-US" dirty="0"/>
              <a:t>Session 19 – Fundamentals of Software Testing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Learning objectives</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770944"/>
            <a:ext cx="20711673" cy="9945056"/>
          </a:xfrm>
        </p:spPr>
        <p:txBody>
          <a:bodyPr anchor="ctr">
            <a:normAutofit/>
          </a:bodyPr>
          <a:lstStyle/>
          <a:p>
            <a:pPr marL="0" indent="0" algn="just">
              <a:buNone/>
            </a:pPr>
            <a:r>
              <a:rPr lang="en-US" sz="3600" dirty="0">
                <a:latin typeface="Open Sans" panose="020B0606030504020204" pitchFamily="34" charset="0"/>
                <a:ea typeface="Open Sans" panose="020B0606030504020204" pitchFamily="34" charset="0"/>
                <a:cs typeface="Open Sans" panose="020B0606030504020204" pitchFamily="34" charset="0"/>
              </a:rPr>
              <a:t>At the end of this session, students will be expected to be able to:</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Understand the Objectives and Importance of Software Testing in Ensuring Software Quality</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Describe Different Levels and Types of Software Testing</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Apply Key Testing Techniques to Design and Execute Test Cases</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Explore Test Planning, Defect Tracking, and Reporting Practices</a:t>
            </a:r>
          </a:p>
        </p:txBody>
      </p:sp>
    </p:spTree>
    <p:extLst>
      <p:ext uri="{BB962C8B-B14F-4D97-AF65-F5344CB8AC3E}">
        <p14:creationId xmlns:p14="http://schemas.microsoft.com/office/powerpoint/2010/main" val="3855785854"/>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F52CD-EA76-003A-7192-0E9167BA3901}"/>
              </a:ext>
            </a:extLst>
          </p:cNvPr>
          <p:cNvSpPr>
            <a:spLocks noGrp="1"/>
          </p:cNvSpPr>
          <p:nvPr>
            <p:ph type="title"/>
          </p:nvPr>
        </p:nvSpPr>
        <p:spPr>
          <a:xfrm>
            <a:off x="2167377" y="1872058"/>
            <a:ext cx="15444762" cy="547670"/>
          </a:xfrm>
        </p:spPr>
        <p:txBody>
          <a:bodyPr>
            <a:normAutofit fontScale="90000"/>
          </a:bodyPr>
          <a:lstStyle/>
          <a:p>
            <a:r>
              <a:rPr lang="en-US" dirty="0"/>
              <a:t>Session 19 – Fundamentals of Software Testing</a:t>
            </a:r>
          </a:p>
        </p:txBody>
      </p:sp>
      <p:sp>
        <p:nvSpPr>
          <p:cNvPr id="3" name="Text Placeholder 2">
            <a:extLst>
              <a:ext uri="{FF2B5EF4-FFF2-40B4-BE49-F238E27FC236}">
                <a16:creationId xmlns:a16="http://schemas.microsoft.com/office/drawing/2014/main" id="{C546449C-CB2F-5E63-F63C-D4BAFF341D28}"/>
              </a:ext>
            </a:extLst>
          </p:cNvPr>
          <p:cNvSpPr>
            <a:spLocks noGrp="1"/>
          </p:cNvSpPr>
          <p:nvPr>
            <p:ph type="body" sz="quarter" idx="10"/>
          </p:nvPr>
        </p:nvSpPr>
        <p:spPr/>
        <p:txBody>
          <a:bodyPr/>
          <a:lstStyle/>
          <a:p>
            <a:r>
              <a:rPr lang="en-US" dirty="0"/>
              <a:t>Content outline</a:t>
            </a:r>
          </a:p>
        </p:txBody>
      </p:sp>
      <p:sp>
        <p:nvSpPr>
          <p:cNvPr id="4" name="Content Placeholder 3">
            <a:extLst>
              <a:ext uri="{FF2B5EF4-FFF2-40B4-BE49-F238E27FC236}">
                <a16:creationId xmlns:a16="http://schemas.microsoft.com/office/drawing/2014/main" id="{76E358E3-B24E-F7A5-ECF8-12101774A9ED}"/>
              </a:ext>
            </a:extLst>
          </p:cNvPr>
          <p:cNvSpPr>
            <a:spLocks noGrp="1"/>
          </p:cNvSpPr>
          <p:nvPr>
            <p:ph sz="quarter" idx="11"/>
          </p:nvPr>
        </p:nvSpPr>
        <p:spPr>
          <a:xfrm>
            <a:off x="2167377" y="3770944"/>
            <a:ext cx="20711673" cy="9072220"/>
          </a:xfrm>
        </p:spPr>
        <p:txBody>
          <a:bodyPr>
            <a:normAutofit/>
          </a:bodyPr>
          <a:lstStyle/>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Quality</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Objectives and Importance of Software Testing</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Levels of Testing: Unit, Integration, System, Acceptance</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Types of Testing: Functional, Non-Functional, Regression, Performance, Usability</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Testing Techniques: Black-Box, White-Box, Grey-Box</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Planning and Design</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Case Development and Execution</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 Identification</a:t>
            </a:r>
          </a:p>
          <a:p>
            <a:pPr lvl="0" algn="just">
              <a:lnSpc>
                <a:spcPct val="120000"/>
              </a:lnSpc>
              <a:spcBef>
                <a:spcPts val="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 Reporting and Tracking </a:t>
            </a:r>
          </a:p>
        </p:txBody>
      </p:sp>
    </p:spTree>
    <p:extLst>
      <p:ext uri="{BB962C8B-B14F-4D97-AF65-F5344CB8AC3E}">
        <p14:creationId xmlns:p14="http://schemas.microsoft.com/office/powerpoint/2010/main" val="48198188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Quality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Secret of software quality</a:t>
            </a:r>
          </a:p>
        </p:txBody>
      </p:sp>
      <p:pic>
        <p:nvPicPr>
          <p:cNvPr id="1026" name="Picture 2">
            <a:extLst>
              <a:ext uri="{FF2B5EF4-FFF2-40B4-BE49-F238E27FC236}">
                <a16:creationId xmlns:a16="http://schemas.microsoft.com/office/drawing/2014/main" id="{53A22B04-F474-6F28-66AD-220796AADF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6288" y="3260663"/>
            <a:ext cx="18711423" cy="105251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0999103"/>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Quality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Internal vs External Quality</a:t>
            </a:r>
          </a:p>
        </p:txBody>
      </p:sp>
      <p:pic>
        <p:nvPicPr>
          <p:cNvPr id="4098" name="Picture 2">
            <a:extLst>
              <a:ext uri="{FF2B5EF4-FFF2-40B4-BE49-F238E27FC236}">
                <a16:creationId xmlns:a16="http://schemas.microsoft.com/office/drawing/2014/main" id="{FDD6631E-029A-FE6E-304D-F9C7A413BC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7377" y="4387850"/>
            <a:ext cx="6311697" cy="612775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3462B6A2-5201-3F51-E18F-1C0621A37A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5465" y="4441176"/>
            <a:ext cx="4886563" cy="6127750"/>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A8A801E7-AB2A-69AD-4030-76864D279966}"/>
              </a:ext>
            </a:extLst>
          </p:cNvPr>
          <p:cNvSpPr>
            <a:spLocks noGrp="1"/>
          </p:cNvSpPr>
          <p:nvPr>
            <p:ph sz="quarter" idx="11"/>
          </p:nvPr>
        </p:nvSpPr>
        <p:spPr>
          <a:xfrm>
            <a:off x="2167377" y="3260663"/>
            <a:ext cx="6311697" cy="7254937"/>
          </a:xfrm>
        </p:spPr>
        <p:txBody>
          <a:bodyPr>
            <a:noAutofit/>
          </a:bodyPr>
          <a:lstStyle/>
          <a:p>
            <a:pPr marL="0" indent="0" algn="ctr">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Internal Quality</a:t>
            </a:r>
          </a:p>
        </p:txBody>
      </p:sp>
      <p:sp>
        <p:nvSpPr>
          <p:cNvPr id="5" name="Content Placeholder 3">
            <a:extLst>
              <a:ext uri="{FF2B5EF4-FFF2-40B4-BE49-F238E27FC236}">
                <a16:creationId xmlns:a16="http://schemas.microsoft.com/office/drawing/2014/main" id="{31D45546-985B-BAED-EB4A-1C9DF9A3B8E4}"/>
              </a:ext>
            </a:extLst>
          </p:cNvPr>
          <p:cNvSpPr txBox="1">
            <a:spLocks/>
          </p:cNvSpPr>
          <p:nvPr/>
        </p:nvSpPr>
        <p:spPr>
          <a:xfrm>
            <a:off x="15285465" y="3352089"/>
            <a:ext cx="4886563" cy="72549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1800"/>
              </a:spcBef>
              <a:buFontTx/>
              <a:buNone/>
            </a:pPr>
            <a:r>
              <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External Quality</a:t>
            </a:r>
          </a:p>
        </p:txBody>
      </p:sp>
      <p:sp>
        <p:nvSpPr>
          <p:cNvPr id="7" name="Content Placeholder 3">
            <a:extLst>
              <a:ext uri="{FF2B5EF4-FFF2-40B4-BE49-F238E27FC236}">
                <a16:creationId xmlns:a16="http://schemas.microsoft.com/office/drawing/2014/main" id="{4D5D65D0-97FB-DAFD-2C10-3B3E064CC285}"/>
              </a:ext>
            </a:extLst>
          </p:cNvPr>
          <p:cNvSpPr txBox="1">
            <a:spLocks/>
          </p:cNvSpPr>
          <p:nvPr/>
        </p:nvSpPr>
        <p:spPr>
          <a:xfrm>
            <a:off x="2167377" y="10607026"/>
            <a:ext cx="8081523" cy="2736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code well structured?</a:t>
            </a:r>
          </a:p>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code understandable?</a:t>
            </a:r>
          </a:p>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well documented?</a:t>
            </a:r>
          </a:p>
        </p:txBody>
      </p:sp>
      <p:sp>
        <p:nvSpPr>
          <p:cNvPr id="8" name="Content Placeholder 3">
            <a:extLst>
              <a:ext uri="{FF2B5EF4-FFF2-40B4-BE49-F238E27FC236}">
                <a16:creationId xmlns:a16="http://schemas.microsoft.com/office/drawing/2014/main" id="{3DE7EB2A-653D-702F-E516-A0C6A40CE2C6}"/>
              </a:ext>
            </a:extLst>
          </p:cNvPr>
          <p:cNvSpPr txBox="1">
            <a:spLocks/>
          </p:cNvSpPr>
          <p:nvPr/>
        </p:nvSpPr>
        <p:spPr>
          <a:xfrm>
            <a:off x="15285465" y="10607026"/>
            <a:ext cx="8081523" cy="2736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the software crash?</a:t>
            </a:r>
          </a:p>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it meet the requirements?</a:t>
            </a:r>
          </a:p>
          <a:p>
            <a:pPr algn="just">
              <a:spcBef>
                <a:spcPts val="1800"/>
              </a:spcBef>
            </a:pP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 the UI well designed?</a:t>
            </a:r>
          </a:p>
        </p:txBody>
      </p:sp>
    </p:spTree>
    <p:extLst>
      <p:ext uri="{BB962C8B-B14F-4D97-AF65-F5344CB8AC3E}">
        <p14:creationId xmlns:p14="http://schemas.microsoft.com/office/powerpoint/2010/main" val="2907333795"/>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Software Quality</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Testing</a:t>
            </a:r>
          </a:p>
        </p:txBody>
      </p:sp>
      <p:pic>
        <p:nvPicPr>
          <p:cNvPr id="4" name="Picture 2">
            <a:extLst>
              <a:ext uri="{FF2B5EF4-FFF2-40B4-BE49-F238E27FC236}">
                <a16:creationId xmlns:a16="http://schemas.microsoft.com/office/drawing/2014/main" id="{D9B57594-551F-BF43-0F2E-0B30DC5723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16361" y="2997200"/>
            <a:ext cx="7721600" cy="7721600"/>
          </a:xfrm>
          <a:prstGeom prst="rect">
            <a:avLst/>
          </a:prstGeom>
          <a:noFill/>
          <a:extLst>
            <a:ext uri="{909E8E84-426E-40DD-AFC4-6F175D3DCCD1}">
              <a14:hiddenFill xmlns:a14="http://schemas.microsoft.com/office/drawing/2010/main">
                <a:solidFill>
                  <a:srgbClr val="FFFFFF"/>
                </a:solidFill>
              </a14:hiddenFill>
            </a:ext>
          </a:extLst>
        </p:spPr>
      </p:pic>
      <p:sp>
        <p:nvSpPr>
          <p:cNvPr id="7" name="Content Placeholder 3">
            <a:extLst>
              <a:ext uri="{FF2B5EF4-FFF2-40B4-BE49-F238E27FC236}">
                <a16:creationId xmlns:a16="http://schemas.microsoft.com/office/drawing/2014/main" id="{EBA80F2D-DD8E-48D7-0D2A-48FBFB18716A}"/>
              </a:ext>
            </a:extLst>
          </p:cNvPr>
          <p:cNvSpPr txBox="1">
            <a:spLocks/>
          </p:cNvSpPr>
          <p:nvPr/>
        </p:nvSpPr>
        <p:spPr>
          <a:xfrm>
            <a:off x="2167377" y="6338767"/>
            <a:ext cx="10481823" cy="2736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spcBef>
                <a:spcPts val="1800"/>
              </a:spcBef>
            </a:pPr>
            <a:r>
              <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Assuring external quality</a:t>
            </a:r>
          </a:p>
        </p:txBody>
      </p:sp>
    </p:spTree>
    <p:extLst>
      <p:ext uri="{BB962C8B-B14F-4D97-AF65-F5344CB8AC3E}">
        <p14:creationId xmlns:p14="http://schemas.microsoft.com/office/powerpoint/2010/main" val="2972465937"/>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Terminology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3186923" cy="10455337"/>
          </a:xfrm>
        </p:spPr>
        <p:txBody>
          <a:bodyP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Failure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Deviation of the component or system from its expected delivery, service, or result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Manifested inability of a system to perform required function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Fault / Defect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Flaw in component or system that can cause the component or system to fail to perform its required function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defect, if encountered during execution, may cause a failure of the component or system</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Error / Mistake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human action that produces an incorrect result</a:t>
            </a:r>
          </a:p>
        </p:txBody>
      </p:sp>
      <p:sp>
        <p:nvSpPr>
          <p:cNvPr id="6" name="Right Brace 5">
            <a:extLst>
              <a:ext uri="{FF2B5EF4-FFF2-40B4-BE49-F238E27FC236}">
                <a16:creationId xmlns:a16="http://schemas.microsoft.com/office/drawing/2014/main" id="{1B8D7605-576D-3129-39D3-8B1BCA8D3855}"/>
              </a:ext>
            </a:extLst>
          </p:cNvPr>
          <p:cNvSpPr/>
          <p:nvPr/>
        </p:nvSpPr>
        <p:spPr>
          <a:xfrm>
            <a:off x="15849600" y="6858000"/>
            <a:ext cx="1485900" cy="4457700"/>
          </a:xfrm>
          <a:prstGeom prst="rightBrace">
            <a:avLst>
              <a:gd name="adj1" fmla="val 0"/>
              <a:gd name="adj2" fmla="val 50000"/>
            </a:avLst>
          </a:prstGeom>
          <a:noFill/>
          <a:ln w="25400" cap="flat">
            <a:solidFill>
              <a:srgbClr val="000000"/>
            </a:solidFill>
            <a:prstDash val="solid"/>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u="none" strike="noStrike" cap="none" spc="0" normalizeH="0" baseline="0" dirty="0">
              <a:ln>
                <a:noFill/>
              </a:ln>
              <a:solidFill>
                <a:srgbClr val="000000"/>
              </a:solidFill>
              <a:effectLst/>
              <a:uFillTx/>
              <a:latin typeface="Open Sans" panose="020B0606030504020204" pitchFamily="34" charset="0"/>
              <a:ea typeface="Open Sans" panose="020B0606030504020204" pitchFamily="34" charset="0"/>
              <a:cs typeface="Open Sans" panose="020B0606030504020204" pitchFamily="34" charset="0"/>
            </a:endParaRPr>
          </a:p>
        </p:txBody>
      </p:sp>
      <p:sp>
        <p:nvSpPr>
          <p:cNvPr id="7" name="Content Placeholder 3">
            <a:extLst>
              <a:ext uri="{FF2B5EF4-FFF2-40B4-BE49-F238E27FC236}">
                <a16:creationId xmlns:a16="http://schemas.microsoft.com/office/drawing/2014/main" id="{9DBA9952-EF4B-957C-FC4F-4ACE43F3DCBC}"/>
              </a:ext>
            </a:extLst>
          </p:cNvPr>
          <p:cNvSpPr txBox="1">
            <a:spLocks/>
          </p:cNvSpPr>
          <p:nvPr/>
        </p:nvSpPr>
        <p:spPr>
          <a:xfrm>
            <a:off x="17335500" y="8653858"/>
            <a:ext cx="1485900" cy="113784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spcBef>
                <a:spcPts val="1800"/>
              </a:spcBef>
              <a:buNone/>
            </a:pPr>
            <a:r>
              <a:rPr lang="en-ID" sz="4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Bug</a:t>
            </a:r>
          </a:p>
        </p:txBody>
      </p:sp>
      <p:sp>
        <p:nvSpPr>
          <p:cNvPr id="8" name="Content Placeholder 3">
            <a:extLst>
              <a:ext uri="{FF2B5EF4-FFF2-40B4-BE49-F238E27FC236}">
                <a16:creationId xmlns:a16="http://schemas.microsoft.com/office/drawing/2014/main" id="{5536D1CE-F638-4069-FF44-F58D869D53DA}"/>
              </a:ext>
            </a:extLst>
          </p:cNvPr>
          <p:cNvSpPr txBox="1">
            <a:spLocks/>
          </p:cNvSpPr>
          <p:nvPr/>
        </p:nvSpPr>
        <p:spPr>
          <a:xfrm>
            <a:off x="17335500" y="10284189"/>
            <a:ext cx="6593461" cy="343181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gn="just">
              <a:spcBef>
                <a:spcPts val="1800"/>
              </a:spcBef>
            </a:pPr>
            <a:r>
              <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Testing</a:t>
            </a: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Attempt to trigger failures</a:t>
            </a:r>
          </a:p>
          <a:p>
            <a:pPr algn="just">
              <a:spcBef>
                <a:spcPts val="1800"/>
              </a:spcBef>
            </a:pPr>
            <a:r>
              <a:rPr lang="en-ID"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Debugging</a:t>
            </a:r>
            <a:r>
              <a:rPr lang="en-ID"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Attempt to find faults given a failure</a:t>
            </a:r>
          </a:p>
        </p:txBody>
      </p:sp>
    </p:spTree>
    <p:extLst>
      <p:ext uri="{BB962C8B-B14F-4D97-AF65-F5344CB8AC3E}">
        <p14:creationId xmlns:p14="http://schemas.microsoft.com/office/powerpoint/2010/main" val="223611974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#1</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1592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Avoid the </a:t>
            </a:r>
            <a:r>
              <a:rPr lang="en-US" sz="3600" b="1" i="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absence of defects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fallacy</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Testing shows the presence of defects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Testing does not show the absence of defects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 test team can achieve 100% defect detection effectiveness”</a:t>
            </a:r>
          </a:p>
        </p:txBody>
      </p:sp>
      <p:pic>
        <p:nvPicPr>
          <p:cNvPr id="5122" name="Picture 2">
            <a:extLst>
              <a:ext uri="{FF2B5EF4-FFF2-40B4-BE49-F238E27FC236}">
                <a16:creationId xmlns:a16="http://schemas.microsoft.com/office/drawing/2014/main" id="{1C95D48A-312E-6BFA-724A-56FF8C5FC9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29049" y="2127198"/>
            <a:ext cx="6658913" cy="51150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81154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#2</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1592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Exhaustive testing is impossible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simple function, 1 input, string, max. 26 lowercase characters + symbols (@,.,_,-)</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Assume we can use 1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zettaFLOPS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10</a:t>
            </a:r>
            <a:r>
              <a:rPr lang="en-US" sz="3600" baseline="300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21</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tests per second</a:t>
            </a:r>
          </a:p>
        </p:txBody>
      </p:sp>
      <p:pic>
        <p:nvPicPr>
          <p:cNvPr id="7170" name="Picture 2">
            <a:extLst>
              <a:ext uri="{FF2B5EF4-FFF2-40B4-BE49-F238E27FC236}">
                <a16:creationId xmlns:a16="http://schemas.microsoft.com/office/drawing/2014/main" id="{7FDCA26E-000D-0962-0AC9-CC24D8FA29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30600" y="2382339"/>
            <a:ext cx="7620000" cy="4267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diagram of the sun&#10;&#10;Description automatically generated">
            <a:extLst>
              <a:ext uri="{FF2B5EF4-FFF2-40B4-BE49-F238E27FC236}">
                <a16:creationId xmlns:a16="http://schemas.microsoft.com/office/drawing/2014/main" id="{19D16212-28E6-DB5F-5132-F2C28A37DA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7238" y="8753166"/>
            <a:ext cx="11129523" cy="4962834"/>
          </a:xfrm>
          <a:prstGeom prst="rect">
            <a:avLst/>
          </a:prstGeom>
        </p:spPr>
      </p:pic>
    </p:spTree>
    <p:extLst>
      <p:ext uri="{BB962C8B-B14F-4D97-AF65-F5344CB8AC3E}">
        <p14:creationId xmlns:p14="http://schemas.microsoft.com/office/powerpoint/2010/main" val="352331659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#3</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1592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Start testing early</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let tests guide design</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get feedback as early as possible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find bugs when they are cheapest to fix</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find bugs when have caused least damage</a:t>
            </a:r>
          </a:p>
        </p:txBody>
      </p:sp>
      <p:pic>
        <p:nvPicPr>
          <p:cNvPr id="9218" name="Picture 2">
            <a:extLst>
              <a:ext uri="{FF2B5EF4-FFF2-40B4-BE49-F238E27FC236}">
                <a16:creationId xmlns:a16="http://schemas.microsoft.com/office/drawing/2014/main" id="{D99D16A6-D4AC-A623-1BA5-2591768474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8250" y="4207368"/>
            <a:ext cx="7118350" cy="66898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717795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#4</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08247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Defects are usually clustered</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“Hot” components requiring frequent change, bad habits, poor developers, tricky logic, business uncertainty, innovative, size, …</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as heuristic to focus test effort</a:t>
            </a:r>
          </a:p>
        </p:txBody>
      </p:sp>
      <p:pic>
        <p:nvPicPr>
          <p:cNvPr id="11266" name="Picture 2">
            <a:extLst>
              <a:ext uri="{FF2B5EF4-FFF2-40B4-BE49-F238E27FC236}">
                <a16:creationId xmlns:a16="http://schemas.microsoft.com/office/drawing/2014/main" id="{860A38C5-EE96-8E55-643D-DB4C06C33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44123" y="3784585"/>
            <a:ext cx="10739877" cy="6146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276925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#5</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4630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pesticide paradox</a:t>
            </a:r>
          </a:p>
          <a:p>
            <a:pPr marL="0"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“Every method you use to prevent or find bugs leaves a residue of subtler bugs against which those methods are ineffectual.”</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Re-running the same test suite again and again on a changing program gives a false sense of security</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Variation in testing</a:t>
            </a:r>
          </a:p>
        </p:txBody>
      </p:sp>
      <p:pic>
        <p:nvPicPr>
          <p:cNvPr id="13314" name="Picture 2">
            <a:extLst>
              <a:ext uri="{FF2B5EF4-FFF2-40B4-BE49-F238E27FC236}">
                <a16:creationId xmlns:a16="http://schemas.microsoft.com/office/drawing/2014/main" id="{5615D255-590E-4BB0-E09F-80AA47E1EC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9546" y="4125219"/>
            <a:ext cx="8726714" cy="6108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967552"/>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#6</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4630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Testing is context-dependent</a:t>
            </a: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Depends on what kind of application that will be developed</a:t>
            </a:r>
          </a:p>
        </p:txBody>
      </p:sp>
      <p:pic>
        <p:nvPicPr>
          <p:cNvPr id="15362" name="Picture 2">
            <a:extLst>
              <a:ext uri="{FF2B5EF4-FFF2-40B4-BE49-F238E27FC236}">
                <a16:creationId xmlns:a16="http://schemas.microsoft.com/office/drawing/2014/main" id="{5E9CD367-571C-C6CE-53E9-AFDE0689F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78199" y="4667250"/>
            <a:ext cx="7167123" cy="5670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159712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Principles of Testing #7</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463023" cy="8583279"/>
          </a:xfrm>
        </p:spPr>
        <p:txBody>
          <a:bodyPr anchor="ctr">
            <a:noAutofit/>
          </a:bodyPr>
          <a:lstStyle/>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Verification is not validation</a:t>
            </a: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Verification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the software system meet the requirements specifications?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we building the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software right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the software system meet the user's real needs? </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we building the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right software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p:txBody>
      </p:sp>
      <p:pic>
        <p:nvPicPr>
          <p:cNvPr id="17410" name="Picture 2">
            <a:extLst>
              <a:ext uri="{FF2B5EF4-FFF2-40B4-BE49-F238E27FC236}">
                <a16:creationId xmlns:a16="http://schemas.microsoft.com/office/drawing/2014/main" id="{8B044856-36FA-9B16-602A-1A63C3EADD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92400" y="5395219"/>
            <a:ext cx="8193024"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22338"/>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Objectives and Importance of Software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Primary objectives of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9892629"/>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 Identification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Detect and eliminate errors in software to ensure reliability.</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Quality Assurance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Confirm the software meets specified requirements and expectations.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Verification and Validation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Ensure that the product is both built correctly (verification) and meets user needs (validation).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Risk Mitigation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Reduce risks by identifying and addressing issues early, which can prevent costly future errors.</a:t>
            </a:r>
          </a:p>
        </p:txBody>
      </p:sp>
    </p:spTree>
    <p:extLst>
      <p:ext uri="{BB962C8B-B14F-4D97-AF65-F5344CB8AC3E}">
        <p14:creationId xmlns:p14="http://schemas.microsoft.com/office/powerpoint/2010/main" val="78621708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LEVELS of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Unit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9892629"/>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individual components or functions.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that each component performs as expected in isolation.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a login function independently of other components.</a:t>
            </a:r>
          </a:p>
        </p:txBody>
      </p:sp>
      <p:pic>
        <p:nvPicPr>
          <p:cNvPr id="18434" name="Picture 2">
            <a:extLst>
              <a:ext uri="{FF2B5EF4-FFF2-40B4-BE49-F238E27FC236}">
                <a16:creationId xmlns:a16="http://schemas.microsoft.com/office/drawing/2014/main" id="{324851B5-FDAB-6C54-ED8E-714D3BBB9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23844" y="3586558"/>
            <a:ext cx="9460156" cy="722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590572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LEVELS of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Integration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9892629"/>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Tests interactions between integrated components.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modules work together as expected.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that the login feature successfully retrieves data from a database.</a:t>
            </a:r>
          </a:p>
        </p:txBody>
      </p:sp>
      <p:pic>
        <p:nvPicPr>
          <p:cNvPr id="20482" name="Picture 2" descr="#code from Programmer Humor">
            <a:extLst>
              <a:ext uri="{FF2B5EF4-FFF2-40B4-BE49-F238E27FC236}">
                <a16:creationId xmlns:a16="http://schemas.microsoft.com/office/drawing/2014/main" id="{1ED61901-24C3-3EA7-C4C8-3935EC1DC4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27400" y="3911600"/>
            <a:ext cx="6908800" cy="690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5938823"/>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LEVELS of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System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9892629"/>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Examines the complete, integrated system.</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Validates that the software meets specified requirements.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all modules of an e-commerce app to ensure smooth purchasing flow.</a:t>
            </a:r>
          </a:p>
        </p:txBody>
      </p:sp>
      <p:pic>
        <p:nvPicPr>
          <p:cNvPr id="22530" name="Picture 2">
            <a:extLst>
              <a:ext uri="{FF2B5EF4-FFF2-40B4-BE49-F238E27FC236}">
                <a16:creationId xmlns:a16="http://schemas.microsoft.com/office/drawing/2014/main" id="{F9856280-D7E7-E96B-4AEF-5B724CD009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2423" y="3862370"/>
            <a:ext cx="5938670" cy="79815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11814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LEVELS of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p:txBody>
          <a:bodyPr/>
          <a:lstStyle/>
          <a:p>
            <a:r>
              <a:rPr lang="en-US" dirty="0"/>
              <a:t>Acceptance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082023" cy="9892629"/>
          </a:xfrm>
        </p:spPr>
        <p:txBody>
          <a:bodyPr anchor="ctr">
            <a:noAutofit/>
          </a:bodyPr>
          <a:lstStyle/>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Conducted from the end-user perspective to ensure the software meets their needs.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Often involves both alpha (internal) and beta (external) testing.</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Users test a social media app’s features in a real-world setting.</a:t>
            </a:r>
          </a:p>
        </p:txBody>
      </p:sp>
      <p:pic>
        <p:nvPicPr>
          <p:cNvPr id="24580" name="Picture 4">
            <a:extLst>
              <a:ext uri="{FF2B5EF4-FFF2-40B4-BE49-F238E27FC236}">
                <a16:creationId xmlns:a16="http://schemas.microsoft.com/office/drawing/2014/main" id="{386B39F0-3DE6-8DA9-10BA-E0375AA6B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92596" y="3668712"/>
            <a:ext cx="4910254" cy="9076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41966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Types of Testing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Functional, Non-Functional, Regression, Performance, Usability</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Functional Testing</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Validates that software functions as specified in requirements.</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output correctness, feature interactions, and user workflows.</a:t>
            </a:r>
          </a:p>
          <a:p>
            <a:pPr lvl="1"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Ensuring a “submit” button routes correctly to the next page.</a:t>
            </a:r>
          </a:p>
          <a:p>
            <a:pPr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Non-Functional Testing</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Assesses system attributes like performance, security, and usability.</a:t>
            </a:r>
          </a:p>
          <a:p>
            <a:pPr lvl="1"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how quickly a page loads under high user traffic.</a:t>
            </a:r>
          </a:p>
          <a:p>
            <a:pPr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Regression Testing</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new code changes do not negatively impact existing functionality.</a:t>
            </a:r>
          </a:p>
          <a:p>
            <a:pPr lvl="1"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After updating the login feature, test all related workflows.</a:t>
            </a:r>
          </a:p>
          <a:p>
            <a:pPr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Performance Testing</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Evaluates system responsiveness and stability under varying conditions.</a:t>
            </a:r>
          </a:p>
          <a:p>
            <a:pPr lvl="1"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website load time with thousands of concurrent users.</a:t>
            </a:r>
          </a:p>
          <a:p>
            <a:pPr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Usability Testing</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Measures how effectively users can navigate and interact with the software.</a:t>
            </a:r>
          </a:p>
          <a:p>
            <a:pPr lvl="1" algn="just">
              <a:spcBef>
                <a:spcPts val="1800"/>
              </a:spcBef>
            </a:pPr>
            <a:r>
              <a:rPr lang="en-US" sz="28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28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navigation flow in a new app to ensure intuitiveness.</a:t>
            </a:r>
          </a:p>
        </p:txBody>
      </p:sp>
    </p:spTree>
    <p:extLst>
      <p:ext uri="{BB962C8B-B14F-4D97-AF65-F5344CB8AC3E}">
        <p14:creationId xmlns:p14="http://schemas.microsoft.com/office/powerpoint/2010/main" val="137141812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Testing Techniques</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ID" dirty="0"/>
              <a:t>Black-Box, White-Box, Grey-Box</a:t>
            </a:r>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Black-Box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Tests based on requirements and user expectations without knowledge of internal code.</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Useful for functional and usability testing.</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if form validation works without examining code.</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White-Box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Requires knowledge of the internal code structure, focusing on logic and data flow.</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Useful for unit and integration testing.</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specific functions within a login script.</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Grey-Box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Combines elements of black-box and white-box testing.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Useful for testers with partial knowledge of code, often used for integration.</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Testing with some knowledge of system interactions, such as APIs.</a:t>
            </a:r>
          </a:p>
        </p:txBody>
      </p:sp>
    </p:spTree>
    <p:extLst>
      <p:ext uri="{BB962C8B-B14F-4D97-AF65-F5344CB8AC3E}">
        <p14:creationId xmlns:p14="http://schemas.microsoft.com/office/powerpoint/2010/main" val="3926661051"/>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What is Test Planning?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planning involves defining the testing scope, objectives, resources, schedule, and deliverables.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solid test plan outlines clear goals, identifies risks, and assigns roles to ensure testing efficacy.</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Steps in Test Planning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Define testing scope and objectives.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Develop test criteria for pass/fail conditions.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Allocate resources and schedule.</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 potential risks and mitigation strategies.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Designing Effective Tests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structured test cases to ensure clarity and reusability.</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Incorporate edge cases to address rare but possible scenarios.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For an online banking system, test cases cover login, transfer, logout, and error handling.</a:t>
            </a:r>
          </a:p>
        </p:txBody>
      </p:sp>
    </p:spTree>
    <p:extLst>
      <p:ext uri="{BB962C8B-B14F-4D97-AF65-F5344CB8AC3E}">
        <p14:creationId xmlns:p14="http://schemas.microsoft.com/office/powerpoint/2010/main" val="428290890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Test Design Techniques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Opportunistic / Exploratory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Add some unit tests, without much planning</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Specification-based Testing (“Black-box”)</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Derive test cases from specifications: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Boundary value analysis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Equivalence classes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Combinatorial testing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Random testing</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Structural Testing (“White-box”)</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Derive test cases to cover implementation paths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Line coverage, branch coverage</a:t>
            </a:r>
          </a:p>
        </p:txBody>
      </p:sp>
    </p:spTree>
    <p:extLst>
      <p:ext uri="{BB962C8B-B14F-4D97-AF65-F5344CB8AC3E}">
        <p14:creationId xmlns:p14="http://schemas.microsoft.com/office/powerpoint/2010/main" val="1986638853"/>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a:t>Test Planning and Design</a:t>
            </a:r>
            <a:endParaRPr lang="en-US" dirty="0"/>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Example Case</a:t>
            </a:r>
          </a:p>
        </p:txBody>
      </p:sp>
      <p:pic>
        <p:nvPicPr>
          <p:cNvPr id="9" name="Content Placeholder 8" descr="A white text with blue and red text&#10;&#10;Description automatically generated with medium confidence">
            <a:extLst>
              <a:ext uri="{FF2B5EF4-FFF2-40B4-BE49-F238E27FC236}">
                <a16:creationId xmlns:a16="http://schemas.microsoft.com/office/drawing/2014/main" id="{199520C9-AAB3-200B-833B-3B758619DF96}"/>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3996176" y="3298051"/>
            <a:ext cx="17892273" cy="10444159"/>
          </a:xfrm>
          <a:prstGeom prst="rect">
            <a:avLst/>
          </a:prstGeom>
        </p:spPr>
      </p:pic>
    </p:spTree>
    <p:extLst>
      <p:ext uri="{BB962C8B-B14F-4D97-AF65-F5344CB8AC3E}">
        <p14:creationId xmlns:p14="http://schemas.microsoft.com/office/powerpoint/2010/main" val="42814211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Exhaustive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Idea: Try all values!</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int (2 - 117) years</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datetime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DateTime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hh:mm</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M/D/Y)</a:t>
            </a:r>
          </a:p>
          <a:p>
            <a:pPr lvl="1" algn="just">
              <a:spcBef>
                <a:spcPts val="1800"/>
              </a:spcBef>
            </a:pPr>
            <a:r>
              <a:rPr lang="en-US" sz="36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rideTime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int (in minutes, 1 - 2 Hours)</a:t>
            </a:r>
          </a:p>
          <a:p>
            <a:pPr lvl="1" algn="just">
              <a:spcBef>
                <a:spcPts val="1800"/>
              </a:spcBef>
            </a:pPr>
            <a:r>
              <a:rPr lang="en-US" sz="3600" b="1"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is_public_holiday</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bool (2 values)</a:t>
            </a:r>
          </a:p>
          <a:p>
            <a:pPr marL="609600" lvl="1" indent="0" algn="just">
              <a:spcBef>
                <a:spcPts val="180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53975" lvl="1" indent="0" algn="ctr">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116 x 1440 (minutes per day) x 1826 (days in the next 5 years) x 120 (ride time) x 2</a:t>
            </a:r>
          </a:p>
          <a:p>
            <a:pPr marL="53975" lvl="1" indent="0" algn="ctr">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72 Billion test cases</a:t>
            </a:r>
          </a:p>
        </p:txBody>
      </p:sp>
    </p:spTree>
    <p:extLst>
      <p:ext uri="{BB962C8B-B14F-4D97-AF65-F5344CB8AC3E}">
        <p14:creationId xmlns:p14="http://schemas.microsoft.com/office/powerpoint/2010/main" val="1973074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Exhaustive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Exhaustive testing is usually impractical – even for trivially small problem</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problem: choosing test suite</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Small enough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finish in a useful amount of time</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Large enough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 provide a useful amount of validation </a:t>
            </a:r>
          </a:p>
          <a:p>
            <a:pPr marL="609600" lvl="1" indent="0" algn="just">
              <a:spcBef>
                <a:spcPts val="180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53975" lvl="1"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Alternative: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Heuristics</a:t>
            </a:r>
          </a:p>
        </p:txBody>
      </p:sp>
    </p:spTree>
    <p:extLst>
      <p:ext uri="{BB962C8B-B14F-4D97-AF65-F5344CB8AC3E}">
        <p14:creationId xmlns:p14="http://schemas.microsoft.com/office/powerpoint/2010/main" val="1495596140"/>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Equivalence Partitioning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Divides input data into partitions where test cases are derived to cover each partition at least once. </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Each partition should be treated similarly by the software, so only one test case per partition is needed.</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 sets with same behavior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equivalence class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Try one input from each set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Equivalence classes derived from specifications (e.g., cases, input ranges, error conditions, fault models)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Requires domain-knowledge</a:t>
            </a:r>
          </a:p>
        </p:txBody>
      </p:sp>
    </p:spTree>
    <p:extLst>
      <p:ext uri="{BB962C8B-B14F-4D97-AF65-F5344CB8AC3E}">
        <p14:creationId xmlns:p14="http://schemas.microsoft.com/office/powerpoint/2010/main" val="1293723748"/>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Category-Partition Method</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Identify the parameters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domains of each parameter</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From the specs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Not from the specs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Add constraints (minimize)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Remove invalid combinations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Reduce number of exceptional behaviors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Generate combinations</a:t>
            </a:r>
          </a:p>
        </p:txBody>
      </p:sp>
      <p:pic>
        <p:nvPicPr>
          <p:cNvPr id="6" name="Picture 5" descr="A white sheet with black text and black text&#10;&#10;Description automatically generated">
            <a:extLst>
              <a:ext uri="{FF2B5EF4-FFF2-40B4-BE49-F238E27FC236}">
                <a16:creationId xmlns:a16="http://schemas.microsoft.com/office/drawing/2014/main" id="{370771FC-6688-6902-E2B0-92089191BA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00429" y="3638215"/>
            <a:ext cx="7916194" cy="7658058"/>
          </a:xfrm>
          <a:prstGeom prst="rect">
            <a:avLst/>
          </a:prstGeom>
        </p:spPr>
      </p:pic>
    </p:spTree>
    <p:extLst>
      <p:ext uri="{BB962C8B-B14F-4D97-AF65-F5344CB8AC3E}">
        <p14:creationId xmlns:p14="http://schemas.microsoft.com/office/powerpoint/2010/main" val="2188966649"/>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Boundary-Value Analysis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12133052"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Focuses on testing the boundaries of input ranges rather than the typical values.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Boundary values often reveal issues that average values do not.</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Insight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Errors often occur at the boundaries of a variable value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For each variable, select: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minimum,</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min+1,</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medium,</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max-1,</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maximum;</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possibly also invalid values min-1, max+1</a:t>
            </a:r>
          </a:p>
        </p:txBody>
      </p:sp>
      <p:pic>
        <p:nvPicPr>
          <p:cNvPr id="5" name="Picture 4" descr="A white sheet with black text and black text&#10;&#10;Description automatically generated">
            <a:extLst>
              <a:ext uri="{FF2B5EF4-FFF2-40B4-BE49-F238E27FC236}">
                <a16:creationId xmlns:a16="http://schemas.microsoft.com/office/drawing/2014/main" id="{39AD84F1-0F55-40B7-EABF-40D76DEEB5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00479" y="3638215"/>
            <a:ext cx="7916194" cy="7658058"/>
          </a:xfrm>
          <a:prstGeom prst="rect">
            <a:avLst/>
          </a:prstGeom>
        </p:spPr>
      </p:pic>
    </p:spTree>
    <p:extLst>
      <p:ext uri="{BB962C8B-B14F-4D97-AF65-F5344CB8AC3E}">
        <p14:creationId xmlns:p14="http://schemas.microsoft.com/office/powerpoint/2010/main" val="206584360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Black-Box: Pairwise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6" y="3260663"/>
            <a:ext cx="20049247"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Key Insight</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some problems only occur as the result of an interaction between parameters/components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Examples of interactions: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bug occurs for senior citizens traveling on weekends (pairwise interaction)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bug occurs for senior citizens traveling on weekends during peak hours (3-way interaction)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The bug occurs for adults traveling long trips during public holidays that are weekends. (4-way interaction)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Claim: Considering pairwise interactions finds about 50% to 90% of defects</a:t>
            </a:r>
          </a:p>
        </p:txBody>
      </p:sp>
    </p:spTree>
    <p:extLst>
      <p:ext uri="{BB962C8B-B14F-4D97-AF65-F5344CB8AC3E}">
        <p14:creationId xmlns:p14="http://schemas.microsoft.com/office/powerpoint/2010/main" val="387931306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Other Black-box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6" y="3260663"/>
            <a:ext cx="20049247"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Decision Table Testing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 structured way of representing complex business logic by listing conditions and actions in a table format. Each row represents a unique combination of inputs and expected outputs.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Transition Testing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Useful for systems with a finite number of states. It validates state changes in response to various events.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 Testing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Use case testing involves creating test cases based on user interactions with the system as defined in use case scenarios. It ensures that the system behaves as expected in different scenarios.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Error Guessing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cases are created based on testers’ experience, knowledge of common errors, and areas that are likely to fail.</a:t>
            </a:r>
          </a:p>
        </p:txBody>
      </p:sp>
    </p:spTree>
    <p:extLst>
      <p:ext uri="{BB962C8B-B14F-4D97-AF65-F5344CB8AC3E}">
        <p14:creationId xmlns:p14="http://schemas.microsoft.com/office/powerpoint/2010/main" val="3522307961"/>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White-</a:t>
            </a:r>
            <a:r>
              <a:rPr lang="en-US" dirty="0" err="1"/>
              <a:t>boX</a:t>
            </a:r>
            <a:r>
              <a:rPr lang="en-US" dirty="0"/>
              <a:t>: Statement Coverage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1378423" cy="10455337"/>
          </a:xfrm>
        </p:spPr>
        <p:txBody>
          <a:bodyPr anchor="t">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that every executable statement in the code is run at least once.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This is one of the simplest forms of white-box testing.</a:t>
            </a:r>
          </a:p>
        </p:txBody>
      </p:sp>
      <p:pic>
        <p:nvPicPr>
          <p:cNvPr id="25602" name="Picture 2" descr="Lightbox">
            <a:extLst>
              <a:ext uri="{FF2B5EF4-FFF2-40B4-BE49-F238E27FC236}">
                <a16:creationId xmlns:a16="http://schemas.microsoft.com/office/drawing/2014/main" id="{A8E7B3E6-497D-1BEE-568D-5E3C2A378D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4482" y="5366903"/>
            <a:ext cx="16404212" cy="83490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700647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White-</a:t>
            </a:r>
            <a:r>
              <a:rPr lang="en-US" dirty="0" err="1"/>
              <a:t>boX</a:t>
            </a:r>
            <a:r>
              <a:rPr lang="en-US" dirty="0"/>
              <a:t>: Branch Coverage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1378423" cy="10455337"/>
          </a:xfrm>
        </p:spPr>
        <p:txBody>
          <a:bodyPr anchor="t">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Ensures that each possible branch (true or false) from every decision point is executed at least once. </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It helps uncover errors in conditional statements.</a:t>
            </a:r>
          </a:p>
        </p:txBody>
      </p:sp>
      <p:pic>
        <p:nvPicPr>
          <p:cNvPr id="27650" name="Picture 2" descr="Lightbox">
            <a:extLst>
              <a:ext uri="{FF2B5EF4-FFF2-40B4-BE49-F238E27FC236}">
                <a16:creationId xmlns:a16="http://schemas.microsoft.com/office/drawing/2014/main" id="{523ED4B9-5DA8-8E9A-4E8A-6FD8D60EFB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9238" y="5297848"/>
            <a:ext cx="9605523" cy="84181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577818"/>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White-</a:t>
            </a:r>
            <a:r>
              <a:rPr lang="en-US" dirty="0" err="1"/>
              <a:t>boX</a:t>
            </a:r>
            <a:r>
              <a:rPr lang="en-US" dirty="0"/>
              <a:t>: Condition Coverage (Predicate Coverage)</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1378423" cy="10455337"/>
          </a:xfrm>
        </p:spPr>
        <p:txBody>
          <a:bodyPr anchor="t">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Tests each individual condition in a complex decision to ensure that all possible outcomes (true and false) for each condition are evaluated.</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Cases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age = 20,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has_license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True ➔ Eligible (both conditions true).</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age = 17,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has_license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True ➔ Not eligible (age condition false).</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age = 20, </a:t>
            </a:r>
            <a:r>
              <a:rPr lang="en-US" sz="3600" dirty="0" err="1">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has_license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 False ➔ Not eligible (license condition false).</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Goal</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 each condition independently within a decision to capture potential logical errors.</a:t>
            </a:r>
          </a:p>
        </p:txBody>
      </p:sp>
      <p:sp>
        <p:nvSpPr>
          <p:cNvPr id="6" name="TextBox 5">
            <a:extLst>
              <a:ext uri="{FF2B5EF4-FFF2-40B4-BE49-F238E27FC236}">
                <a16:creationId xmlns:a16="http://schemas.microsoft.com/office/drawing/2014/main" id="{AEEDE1D2-C608-F331-6191-A440704EF4B5}"/>
              </a:ext>
            </a:extLst>
          </p:cNvPr>
          <p:cNvSpPr txBox="1"/>
          <p:nvPr/>
        </p:nvSpPr>
        <p:spPr>
          <a:xfrm>
            <a:off x="6091238" y="5426839"/>
            <a:ext cx="12201524" cy="28623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3600" dirty="0">
                <a:solidFill>
                  <a:schemeClr val="bg2">
                    <a:lumMod val="10000"/>
                  </a:schemeClr>
                </a:solidFill>
                <a:latin typeface="Courier New" panose="02070309020205020404" pitchFamily="49" charset="0"/>
                <a:cs typeface="Courier New" panose="02070309020205020404" pitchFamily="49" charset="0"/>
              </a:rPr>
              <a:t>def </a:t>
            </a:r>
            <a:r>
              <a:rPr lang="en-US" sz="3600" dirty="0" err="1">
                <a:solidFill>
                  <a:schemeClr val="bg2">
                    <a:lumMod val="10000"/>
                  </a:schemeClr>
                </a:solidFill>
                <a:latin typeface="Courier New" panose="02070309020205020404" pitchFamily="49" charset="0"/>
                <a:cs typeface="Courier New" panose="02070309020205020404" pitchFamily="49" charset="0"/>
              </a:rPr>
              <a:t>check_eligibility</a:t>
            </a:r>
            <a:r>
              <a:rPr lang="en-US" sz="3600" dirty="0">
                <a:solidFill>
                  <a:schemeClr val="bg2">
                    <a:lumMod val="10000"/>
                  </a:schemeClr>
                </a:solidFill>
                <a:latin typeface="Courier New" panose="02070309020205020404" pitchFamily="49" charset="0"/>
                <a:cs typeface="Courier New" panose="02070309020205020404" pitchFamily="49" charset="0"/>
              </a:rPr>
              <a:t>(age, </a:t>
            </a:r>
            <a:r>
              <a:rPr lang="en-US" sz="3600" dirty="0" err="1">
                <a:solidFill>
                  <a:schemeClr val="bg2">
                    <a:lumMod val="10000"/>
                  </a:schemeClr>
                </a:solidFill>
                <a:latin typeface="Courier New" panose="02070309020205020404" pitchFamily="49" charset="0"/>
                <a:cs typeface="Courier New" panose="02070309020205020404" pitchFamily="49" charset="0"/>
              </a:rPr>
              <a:t>has_license</a:t>
            </a:r>
            <a:r>
              <a:rPr lang="en-US" sz="3600" dirty="0">
                <a:solidFill>
                  <a:schemeClr val="bg2">
                    <a:lumMod val="10000"/>
                  </a:schemeClr>
                </a:solidFill>
                <a:latin typeface="Courier New" panose="02070309020205020404" pitchFamily="49" charset="0"/>
                <a:cs typeface="Courier New" panose="02070309020205020404" pitchFamily="49" charset="0"/>
              </a:rPr>
              <a:t>):</a:t>
            </a:r>
          </a:p>
          <a:p>
            <a:pPr algn="l"/>
            <a:r>
              <a:rPr lang="en-US" sz="3600" dirty="0">
                <a:solidFill>
                  <a:schemeClr val="bg2">
                    <a:lumMod val="10000"/>
                  </a:schemeClr>
                </a:solidFill>
                <a:latin typeface="Courier New" panose="02070309020205020404" pitchFamily="49" charset="0"/>
                <a:cs typeface="Courier New" panose="02070309020205020404" pitchFamily="49" charset="0"/>
              </a:rPr>
              <a:t>    if age &gt;= 18 and </a:t>
            </a:r>
            <a:r>
              <a:rPr lang="en-US" sz="3600" dirty="0" err="1">
                <a:solidFill>
                  <a:schemeClr val="bg2">
                    <a:lumMod val="10000"/>
                  </a:schemeClr>
                </a:solidFill>
                <a:latin typeface="Courier New" panose="02070309020205020404" pitchFamily="49" charset="0"/>
                <a:cs typeface="Courier New" panose="02070309020205020404" pitchFamily="49" charset="0"/>
              </a:rPr>
              <a:t>has_license</a:t>
            </a:r>
            <a:r>
              <a:rPr lang="en-US" sz="3600" dirty="0">
                <a:solidFill>
                  <a:schemeClr val="bg2">
                    <a:lumMod val="10000"/>
                  </a:schemeClr>
                </a:solidFill>
                <a:latin typeface="Courier New" panose="02070309020205020404" pitchFamily="49" charset="0"/>
                <a:cs typeface="Courier New" panose="02070309020205020404" pitchFamily="49" charset="0"/>
              </a:rPr>
              <a:t>:</a:t>
            </a:r>
          </a:p>
          <a:p>
            <a:pPr algn="l"/>
            <a:r>
              <a:rPr lang="en-US" sz="3600" dirty="0">
                <a:solidFill>
                  <a:schemeClr val="bg2">
                    <a:lumMod val="10000"/>
                  </a:schemeClr>
                </a:solidFill>
                <a:latin typeface="Courier New" panose="02070309020205020404" pitchFamily="49" charset="0"/>
                <a:cs typeface="Courier New" panose="02070309020205020404" pitchFamily="49" charset="0"/>
              </a:rPr>
              <a:t>        print("Eligible")</a:t>
            </a:r>
          </a:p>
          <a:p>
            <a:pPr algn="l"/>
            <a:r>
              <a:rPr lang="en-US" sz="3600" dirty="0">
                <a:solidFill>
                  <a:schemeClr val="bg2">
                    <a:lumMod val="10000"/>
                  </a:schemeClr>
                </a:solidFill>
                <a:latin typeface="Courier New" panose="02070309020205020404" pitchFamily="49" charset="0"/>
                <a:cs typeface="Courier New" panose="02070309020205020404" pitchFamily="49" charset="0"/>
              </a:rPr>
              <a:t>    else:</a:t>
            </a:r>
          </a:p>
          <a:p>
            <a:pPr algn="l"/>
            <a:r>
              <a:rPr lang="en-US" sz="3600" dirty="0">
                <a:solidFill>
                  <a:schemeClr val="bg2">
                    <a:lumMod val="10000"/>
                  </a:schemeClr>
                </a:solidFill>
                <a:latin typeface="Courier New" panose="02070309020205020404" pitchFamily="49" charset="0"/>
                <a:cs typeface="Courier New" panose="02070309020205020404" pitchFamily="49" charset="0"/>
              </a:rPr>
              <a:t>        print("Not eligible")</a:t>
            </a:r>
          </a:p>
        </p:txBody>
      </p:sp>
    </p:spTree>
    <p:extLst>
      <p:ext uri="{BB962C8B-B14F-4D97-AF65-F5344CB8AC3E}">
        <p14:creationId xmlns:p14="http://schemas.microsoft.com/office/powerpoint/2010/main" val="1527219426"/>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Planning and Design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White-</a:t>
            </a:r>
            <a:r>
              <a:rPr lang="en-US" dirty="0" err="1"/>
              <a:t>boX</a:t>
            </a:r>
            <a:r>
              <a:rPr lang="en-US" dirty="0"/>
              <a:t>: Basis Path Testing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1378423" cy="10455337"/>
          </a:xfrm>
        </p:spPr>
        <p:txBody>
          <a:bodyPr anchor="t">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 this technique, control flow graphs are made from code or flowchart and then Cyclomatic complexity is calculated which defines the number of independent paths so that the minimal number of test cases can be designed for each independent path.</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Steps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Make the corresponding control flow graph</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Calculate the cyclomatic complexity</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Find the independent paths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Design test cases corresponding to each independent path</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V(G) = P + 1, where P is the number of predicate nodes in the flow graph</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V(G) = E – N + 2, where E is the number of edges and N is the total number of nodes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V(G) = Number of non-overlapping regions in the graph</a:t>
            </a:r>
          </a:p>
        </p:txBody>
      </p:sp>
    </p:spTree>
    <p:extLst>
      <p:ext uri="{BB962C8B-B14F-4D97-AF65-F5344CB8AC3E}">
        <p14:creationId xmlns:p14="http://schemas.microsoft.com/office/powerpoint/2010/main" val="296969631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Case Development and Execution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Creating Test Cases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 cases specify step-by-step actions to verify a specific functionality, expected outcomes, and conditions.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Components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Test ID, description, prerequisites, steps, expected results, and actual results.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A test case for login might include steps for inputting username/password, expected success messages, and actions if incorrect input is given.</a:t>
            </a:r>
          </a:p>
        </p:txBody>
      </p:sp>
    </p:spTree>
    <p:extLst>
      <p:ext uri="{BB962C8B-B14F-4D97-AF65-F5344CB8AC3E}">
        <p14:creationId xmlns:p14="http://schemas.microsoft.com/office/powerpoint/2010/main" val="3779225991"/>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Test Case Development and Execution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Executing Test Cases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Executing test cases systematically to compare actual vs. expected outcomes.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Testers document outcomes, report issues, and classify defects based on severity.</a:t>
            </a:r>
          </a:p>
          <a:p>
            <a:pPr marL="0" indent="0" algn="just">
              <a:spcBef>
                <a:spcPts val="1800"/>
              </a:spcBef>
              <a:buNone/>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Automated vs. Manual Execution</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Manual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For exploratory, usability, and ad-hoc testing.</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Automated Testing</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For repetitive, data-intensive testing that benefits from speed.</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4776238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Twitter’s Week Year Bug</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t">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ISO 8601 rule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The first week of the year is the week containing the first Thursday.</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 if January 1 falls on a Friday, it belongs to the last week of the previous year. If December 31 falls on a Wednesday, it belongs to week 01 of the following year.” </a:t>
            </a:r>
          </a:p>
          <a:p>
            <a:pPr algn="just">
              <a:spcBef>
                <a:spcPts val="1800"/>
              </a:spcBef>
            </a:pPr>
            <a:endPar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endParaRPr>
          </a:p>
          <a:p>
            <a:pPr marL="0" indent="0" algn="just">
              <a:spcBef>
                <a:spcPts val="1800"/>
              </a:spcBef>
              <a:buNone/>
            </a:pPr>
            <a:r>
              <a:rPr lang="en-US" sz="3600" dirty="0" err="1">
                <a:solidFill>
                  <a:schemeClr val="bg2">
                    <a:lumMod val="10000"/>
                  </a:schemeClr>
                </a:solidFill>
                <a:latin typeface="Courier New" panose="02070309020205020404" pitchFamily="49" charset="0"/>
                <a:ea typeface="Open Sans" panose="020B0606030504020204" pitchFamily="34" charset="0"/>
                <a:cs typeface="Courier New" panose="02070309020205020404" pitchFamily="49" charset="0"/>
              </a:rPr>
              <a:t>DateTimeFormatter.ofPattern</a:t>
            </a:r>
            <a:r>
              <a:rPr lang="en-US" sz="3600" dirty="0">
                <a:solidFill>
                  <a:schemeClr val="bg2">
                    <a:lumMod val="10000"/>
                  </a:schemeClr>
                </a:solidFill>
                <a:latin typeface="Courier New" panose="02070309020205020404" pitchFamily="49" charset="0"/>
                <a:ea typeface="Open Sans" panose="020B0606030504020204" pitchFamily="34" charset="0"/>
                <a:cs typeface="Courier New" panose="02070309020205020404" pitchFamily="49" charset="0"/>
              </a:rPr>
              <a:t>("dd MMM YYYY").format(</a:t>
            </a:r>
            <a:r>
              <a:rPr lang="en-US" sz="3600" dirty="0" err="1">
                <a:solidFill>
                  <a:schemeClr val="bg2">
                    <a:lumMod val="10000"/>
                  </a:schemeClr>
                </a:solidFill>
                <a:latin typeface="Courier New" panose="02070309020205020404" pitchFamily="49" charset="0"/>
                <a:ea typeface="Open Sans" panose="020B0606030504020204" pitchFamily="34" charset="0"/>
                <a:cs typeface="Courier New" panose="02070309020205020404" pitchFamily="49" charset="0"/>
              </a:rPr>
              <a:t>zonedDateTime</a:t>
            </a:r>
            <a:r>
              <a:rPr lang="en-US" sz="3600" dirty="0">
                <a:solidFill>
                  <a:schemeClr val="bg2">
                    <a:lumMod val="10000"/>
                  </a:schemeClr>
                </a:solidFill>
                <a:latin typeface="Courier New" panose="02070309020205020404" pitchFamily="49" charset="0"/>
                <a:ea typeface="Open Sans" panose="020B0606030504020204" pitchFamily="34" charset="0"/>
                <a:cs typeface="Courier New" panose="02070309020205020404" pitchFamily="49" charset="0"/>
              </a:rPr>
              <a:t>)</a:t>
            </a:r>
          </a:p>
        </p:txBody>
      </p:sp>
      <p:pic>
        <p:nvPicPr>
          <p:cNvPr id="5" name="Picture 4" descr="A screen shot of a social media page&#10;&#10;Description automatically generated">
            <a:extLst>
              <a:ext uri="{FF2B5EF4-FFF2-40B4-BE49-F238E27FC236}">
                <a16:creationId xmlns:a16="http://schemas.microsoft.com/office/drawing/2014/main" id="{5CBD34D5-208C-5A8F-63E2-940D7768B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25994" y="7117777"/>
            <a:ext cx="6132011" cy="6471780"/>
          </a:xfrm>
          <a:prstGeom prst="rect">
            <a:avLst/>
          </a:prstGeom>
          <a:noFill/>
        </p:spPr>
      </p:pic>
    </p:spTree>
    <p:extLst>
      <p:ext uri="{BB962C8B-B14F-4D97-AF65-F5344CB8AC3E}">
        <p14:creationId xmlns:p14="http://schemas.microsoft.com/office/powerpoint/2010/main" val="53053321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Could you have found them?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t">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How often would those bugs trigger?</a:t>
            </a:r>
          </a:p>
          <a:p>
            <a:pPr marL="609600" lvl="1" indent="0" algn="just">
              <a:spcBef>
                <a:spcPts val="1800"/>
              </a:spcBef>
              <a:buNone/>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Driver bug: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happens if you return from a driver with interrupts disabled?</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Consider: that’s one function</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 a 2000 LOC file</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 a module with 60,000 LOC</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 THE LINUX KERNEL</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Some defects are very difficult to find via testing, inspection</a:t>
            </a:r>
          </a:p>
        </p:txBody>
      </p:sp>
    </p:spTree>
    <p:extLst>
      <p:ext uri="{BB962C8B-B14F-4D97-AF65-F5344CB8AC3E}">
        <p14:creationId xmlns:p14="http://schemas.microsoft.com/office/powerpoint/2010/main" val="2121970186"/>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Could you have found them?</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Are on uncommon or difficult-to-force execution paths. (vs testing)</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Executing (or interpreting/otherwise analyzing) all paths concretely to find such defects is </a:t>
            </a:r>
            <a:r>
              <a:rPr lang="en-US" sz="3600" u="sng"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infeasible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we really want to do is check the </a:t>
            </a:r>
            <a:r>
              <a:rPr lang="en-US" sz="3600" b="1" u="sng"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entire possible state space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of the program for </a:t>
            </a:r>
            <a:r>
              <a:rPr lang="en-US" sz="3600" u="sng"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particular properties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What we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CAN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do is check an </a:t>
            </a:r>
            <a:r>
              <a:rPr lang="en-US" sz="3600" b="1" u="sng"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abstract state space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of the program for particular properties.</a:t>
            </a:r>
          </a:p>
        </p:txBody>
      </p:sp>
    </p:spTree>
    <p:extLst>
      <p:ext uri="{BB962C8B-B14F-4D97-AF65-F5344CB8AC3E}">
        <p14:creationId xmlns:p14="http://schemas.microsoft.com/office/powerpoint/2010/main" val="2683989166"/>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r>
              <a:rPr lang="en-US" dirty="0"/>
              <a:t>What is Static Analysis?</a:t>
            </a:r>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Systematic</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examination of an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abstraction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of program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state space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Does not execute code! (like code review) </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Abstraction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produce a representation of a program that is simpler to analyze.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Results in fewer states to explore; makes difficult problems tractable.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Check if a </a:t>
            </a: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particular property </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holds over the entire state space:</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Liveness: “something good eventually happens.”</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Safety: “this bad thing can’t ever happen.”</a:t>
            </a:r>
          </a:p>
          <a:p>
            <a:pPr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Compliance with mechanical design rules.</a:t>
            </a:r>
          </a:p>
        </p:txBody>
      </p:sp>
    </p:spTree>
    <p:extLst>
      <p:ext uri="{BB962C8B-B14F-4D97-AF65-F5344CB8AC3E}">
        <p14:creationId xmlns:p14="http://schemas.microsoft.com/office/powerpoint/2010/main" val="247105487"/>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6943583" cy="879423"/>
          </a:xfrm>
        </p:spPr>
        <p:txBody>
          <a:bodyPr/>
          <a:lstStyle/>
          <a:p>
            <a:r>
              <a:rPr lang="en-US" dirty="0"/>
              <a:t>Analyze the Python program statically (Yes/No/Maybe)</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9759198" y="3260663"/>
            <a:ext cx="14624802" cy="8035609"/>
          </a:xfrm>
        </p:spPr>
        <p:txBody>
          <a:bodyPr anchor="ctr">
            <a:normAutofit/>
          </a:bodyPr>
          <a:lstStyle/>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What are the set of data types taken by variable ‘u’ at any point in the program?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Can the variable ‘u’ be a negative number?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Will this function always return a value?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Can there ever be a division by zero?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Will the returned value ever contain a minus sign ‘-’? </a:t>
            </a:r>
          </a:p>
        </p:txBody>
      </p:sp>
      <p:sp>
        <p:nvSpPr>
          <p:cNvPr id="17" name="TextBox 16">
            <a:extLst>
              <a:ext uri="{FF2B5EF4-FFF2-40B4-BE49-F238E27FC236}">
                <a16:creationId xmlns:a16="http://schemas.microsoft.com/office/drawing/2014/main" id="{769FA656-796C-EFB2-D06B-84ADB6E71C70}"/>
              </a:ext>
            </a:extLst>
          </p:cNvPr>
          <p:cNvSpPr txBox="1"/>
          <p:nvPr/>
        </p:nvSpPr>
        <p:spPr>
          <a:xfrm>
            <a:off x="2167377" y="4774279"/>
            <a:ext cx="7591822" cy="564257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def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n2s(n: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int</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b: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int</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p>
          <a:p>
            <a:pPr marL="774700"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if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&lt;=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return </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‘0’</a:t>
            </a:r>
          </a:p>
          <a:p>
            <a:pPr marL="774700"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 = </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a:t>
            </a:r>
            <a:endParaRPr lang="en-ID" sz="3600" dirty="0">
              <a:solidFill>
                <a:srgbClr val="358C3A"/>
              </a:solidFill>
              <a:latin typeface="Open Sans" panose="020B0606030504020204" pitchFamily="34" charset="0"/>
              <a:ea typeface="Open Sans" panose="020B0606030504020204" pitchFamily="34" charset="0"/>
              <a:cs typeface="Open Sans" panose="020B0606030504020204" pitchFamily="34" charset="0"/>
            </a:endParaRPr>
          </a:p>
          <a:p>
            <a:pPr marL="774700"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while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&gt;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a:p>
            <a:pPr marL="1446213"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a:t>
            </a:r>
            <a:r>
              <a:rPr lang="en-ID" sz="3600" dirty="0" err="1">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n%b</a:t>
            </a:r>
            <a:endParaRPr lang="en-ID" sz="3600" dirty="0">
              <a:solidFill>
                <a:srgbClr val="35444C"/>
              </a:solidFill>
              <a:latin typeface="Open Sans" panose="020B0606030504020204" pitchFamily="34" charset="0"/>
              <a:ea typeface="Open Sans" panose="020B0606030504020204" pitchFamily="34" charset="0"/>
              <a:cs typeface="Open Sans" panose="020B0606030504020204" pitchFamily="34" charset="0"/>
            </a:endParaRPr>
          </a:p>
          <a:p>
            <a:pPr marL="1446213"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if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&gt;=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endParaRPr lang="en-ID" sz="3600" dirty="0">
              <a:latin typeface="Open Sans" panose="020B0606030504020204" pitchFamily="34" charset="0"/>
              <a:ea typeface="Open Sans" panose="020B0606030504020204" pitchFamily="34" charset="0"/>
              <a:cs typeface="Open Sans" panose="020B0606030504020204" pitchFamily="34" charset="0"/>
            </a:endParaRPr>
          </a:p>
          <a:p>
            <a:pPr marL="2540000"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chr</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r>
              <a:rPr lang="en-ID" sz="3600" dirty="0" err="1">
                <a:solidFill>
                  <a:srgbClr val="9B26AF"/>
                </a:solidFill>
                <a:effectLst/>
                <a:latin typeface="Open Sans" panose="020B0606030504020204" pitchFamily="34" charset="0"/>
                <a:ea typeface="Open Sans" panose="020B0606030504020204" pitchFamily="34" charset="0"/>
                <a:cs typeface="Open Sans" panose="020B0606030504020204" pitchFamily="34" charset="0"/>
              </a:rPr>
              <a:t>ord</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'A'</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 u-</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p>
          <a:p>
            <a:pPr marL="1446213"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 n // b</a:t>
            </a:r>
            <a:b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b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 =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str</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 r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a:p>
            <a:pPr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return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81325466"/>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What static Analysis can and cannot do</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20616423" cy="10455337"/>
          </a:xfrm>
        </p:spPr>
        <p:txBody>
          <a:bodyPr anchor="ctr">
            <a:normAutofit fontScale="92500"/>
          </a:bodyPr>
          <a:lstStyle/>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Type-checking is well established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Set of data types taken by variables at any point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Can be used to prevent type errors (e.g. Java) or warn about potential type errors (e.g. Python) </a:t>
            </a:r>
          </a:p>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Checking for problematic patterns in syntax is easy and fast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Is there a comparison of two Java strings using `==`?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Is there an array access `a[</a:t>
            </a:r>
            <a:r>
              <a:rPr lang="en-US" sz="3600" dirty="0" err="1">
                <a:latin typeface="Open Sans" panose="020B0606030504020204" pitchFamily="34" charset="0"/>
                <a:ea typeface="Open Sans" panose="020B0606030504020204" pitchFamily="34" charset="0"/>
                <a:cs typeface="Open Sans" panose="020B0606030504020204" pitchFamily="34" charset="0"/>
              </a:rPr>
              <a:t>i</a:t>
            </a:r>
            <a:r>
              <a:rPr lang="en-US" sz="3600" dirty="0">
                <a:latin typeface="Open Sans" panose="020B0606030504020204" pitchFamily="34" charset="0"/>
                <a:ea typeface="Open Sans" panose="020B0606030504020204" pitchFamily="34" charset="0"/>
                <a:cs typeface="Open Sans" panose="020B0606030504020204" pitchFamily="34" charset="0"/>
              </a:rPr>
              <a:t>]` without an enclosing bounds check for `</a:t>
            </a:r>
            <a:r>
              <a:rPr lang="en-US" sz="3600" dirty="0" err="1">
                <a:latin typeface="Open Sans" panose="020B0606030504020204" pitchFamily="34" charset="0"/>
                <a:ea typeface="Open Sans" panose="020B0606030504020204" pitchFamily="34" charset="0"/>
                <a:cs typeface="Open Sans" panose="020B0606030504020204" pitchFamily="34" charset="0"/>
              </a:rPr>
              <a:t>i</a:t>
            </a:r>
            <a:r>
              <a:rPr lang="en-US" sz="3600" dirty="0">
                <a:latin typeface="Open Sans" panose="020B0606030504020204" pitchFamily="34" charset="0"/>
                <a:ea typeface="Open Sans" panose="020B0606030504020204" pitchFamily="34" charset="0"/>
                <a:cs typeface="Open Sans" panose="020B0606030504020204" pitchFamily="34" charset="0"/>
              </a:rPr>
              <a:t>`? </a:t>
            </a:r>
          </a:p>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Reasoning about termination is impossible in general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Halting problem </a:t>
            </a:r>
          </a:p>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Reasoning about exact values is hard, but conservative analysis via abstraction is possible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Is the bounds check before `a[</a:t>
            </a:r>
            <a:r>
              <a:rPr lang="en-US" sz="3600" dirty="0" err="1">
                <a:latin typeface="Open Sans" panose="020B0606030504020204" pitchFamily="34" charset="0"/>
                <a:ea typeface="Open Sans" panose="020B0606030504020204" pitchFamily="34" charset="0"/>
                <a:cs typeface="Open Sans" panose="020B0606030504020204" pitchFamily="34" charset="0"/>
              </a:rPr>
              <a:t>i</a:t>
            </a:r>
            <a:r>
              <a:rPr lang="en-US" sz="3600" dirty="0">
                <a:latin typeface="Open Sans" panose="020B0606030504020204" pitchFamily="34" charset="0"/>
                <a:ea typeface="Open Sans" panose="020B0606030504020204" pitchFamily="34" charset="0"/>
                <a:cs typeface="Open Sans" panose="020B0606030504020204" pitchFamily="34" charset="0"/>
              </a:rPr>
              <a:t>]` guaranteeing that `I` is within bounds?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Can the divisor ever take on a zero value?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Could the result of a function call be `42`?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Will this multi-threaded program give me a deterministic result?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Be prepared for “MAYBE” </a:t>
            </a:r>
          </a:p>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Verifying some advanced properties is possible but expensive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CI-based static analysis usually over-approximates conservatively </a:t>
            </a:r>
          </a:p>
        </p:txBody>
      </p:sp>
    </p:spTree>
    <p:extLst>
      <p:ext uri="{BB962C8B-B14F-4D97-AF65-F5344CB8AC3E}">
        <p14:creationId xmlns:p14="http://schemas.microsoft.com/office/powerpoint/2010/main" val="345900427"/>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The Bad News: Rice’s Theorem</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20616423" cy="2625787"/>
          </a:xfrm>
        </p:spPr>
        <p:txBody>
          <a:bodyPr anchor="ctr">
            <a:normAutofit/>
          </a:bodyPr>
          <a:lstStyle/>
          <a:p>
            <a:r>
              <a:rPr lang="en-US" sz="3600" dirty="0">
                <a:latin typeface="Open Sans" panose="020B0606030504020204" pitchFamily="34" charset="0"/>
                <a:ea typeface="Open Sans" panose="020B0606030504020204" pitchFamily="34" charset="0"/>
                <a:cs typeface="Open Sans" panose="020B0606030504020204" pitchFamily="34" charset="0"/>
              </a:rPr>
              <a:t>Every static analysis is necessarily incomplete, unsound, undecidable, or a combination thereof</a:t>
            </a:r>
          </a:p>
        </p:txBody>
      </p:sp>
      <p:pic>
        <p:nvPicPr>
          <p:cNvPr id="5" name="Picture 4" descr="A close-up of a sign&#10;&#10;Description automatically generated">
            <a:extLst>
              <a:ext uri="{FF2B5EF4-FFF2-40B4-BE49-F238E27FC236}">
                <a16:creationId xmlns:a16="http://schemas.microsoft.com/office/drawing/2014/main" id="{1DA3F931-1F5F-64B0-CC86-22995EBB9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7377" y="6434120"/>
            <a:ext cx="20932122" cy="5409822"/>
          </a:xfrm>
          <a:prstGeom prst="rect">
            <a:avLst/>
          </a:prstGeom>
        </p:spPr>
      </p:pic>
    </p:spTree>
    <p:extLst>
      <p:ext uri="{BB962C8B-B14F-4D97-AF65-F5344CB8AC3E}">
        <p14:creationId xmlns:p14="http://schemas.microsoft.com/office/powerpoint/2010/main" val="1996352423"/>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p:txBody>
          <a:bodyPr/>
          <a:lstStyle/>
          <a:p>
            <a:r>
              <a:rPr lang="en-US" dirty="0"/>
              <a:t>Well Suited to Detecting certain defects</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20616423" cy="8035609"/>
          </a:xfrm>
        </p:spPr>
        <p:txBody>
          <a:bodyPr anchor="ctr">
            <a:normAutofit lnSpcReduction="10000"/>
          </a:bodyPr>
          <a:lstStyle/>
          <a:p>
            <a:r>
              <a:rPr lang="en-US" sz="3600" b="1" dirty="0">
                <a:latin typeface="Open Sans" panose="020B0606030504020204" pitchFamily="34" charset="0"/>
                <a:ea typeface="Open Sans" panose="020B0606030504020204" pitchFamily="34" charset="0"/>
                <a:cs typeface="Open Sans" panose="020B0606030504020204" pitchFamily="34" charset="0"/>
              </a:rPr>
              <a:t>Security</a:t>
            </a:r>
            <a:r>
              <a:rPr lang="en-US" sz="3600" dirty="0">
                <a:latin typeface="Open Sans" panose="020B0606030504020204" pitchFamily="34" charset="0"/>
                <a:ea typeface="Open Sans" panose="020B0606030504020204" pitchFamily="34" charset="0"/>
                <a:cs typeface="Open Sans" panose="020B0606030504020204" pitchFamily="34" charset="0"/>
              </a:rPr>
              <a:t>: Buffer overruns, improperly validated input... </a:t>
            </a:r>
          </a:p>
          <a:p>
            <a:r>
              <a:rPr lang="en-US" sz="3600" b="1" dirty="0">
                <a:latin typeface="Open Sans" panose="020B0606030504020204" pitchFamily="34" charset="0"/>
                <a:ea typeface="Open Sans" panose="020B0606030504020204" pitchFamily="34" charset="0"/>
                <a:cs typeface="Open Sans" panose="020B0606030504020204" pitchFamily="34" charset="0"/>
              </a:rPr>
              <a:t>Memory safety</a:t>
            </a:r>
            <a:r>
              <a:rPr lang="en-US" sz="3600" dirty="0">
                <a:latin typeface="Open Sans" panose="020B0606030504020204" pitchFamily="34" charset="0"/>
                <a:ea typeface="Open Sans" panose="020B0606030504020204" pitchFamily="34" charset="0"/>
                <a:cs typeface="Open Sans" panose="020B0606030504020204" pitchFamily="34" charset="0"/>
              </a:rPr>
              <a:t>: Null dereference, uninitialized data... </a:t>
            </a:r>
          </a:p>
          <a:p>
            <a:r>
              <a:rPr lang="en-US" sz="3600" b="1" dirty="0">
                <a:latin typeface="Open Sans" panose="020B0606030504020204" pitchFamily="34" charset="0"/>
                <a:ea typeface="Open Sans" panose="020B0606030504020204" pitchFamily="34" charset="0"/>
                <a:cs typeface="Open Sans" panose="020B0606030504020204" pitchFamily="34" charset="0"/>
              </a:rPr>
              <a:t>Resource leaks</a:t>
            </a:r>
            <a:r>
              <a:rPr lang="en-US" sz="3600" dirty="0">
                <a:latin typeface="Open Sans" panose="020B0606030504020204" pitchFamily="34" charset="0"/>
                <a:ea typeface="Open Sans" panose="020B0606030504020204" pitchFamily="34" charset="0"/>
                <a:cs typeface="Open Sans" panose="020B0606030504020204" pitchFamily="34" charset="0"/>
              </a:rPr>
              <a:t>: Memory, OS resources... </a:t>
            </a:r>
          </a:p>
          <a:p>
            <a:r>
              <a:rPr lang="en-US" sz="3600" b="1" dirty="0">
                <a:latin typeface="Open Sans" panose="020B0606030504020204" pitchFamily="34" charset="0"/>
                <a:ea typeface="Open Sans" panose="020B0606030504020204" pitchFamily="34" charset="0"/>
                <a:cs typeface="Open Sans" panose="020B0606030504020204" pitchFamily="34" charset="0"/>
              </a:rPr>
              <a:t>API Protocols</a:t>
            </a:r>
            <a:r>
              <a:rPr lang="en-US" sz="3600" dirty="0">
                <a:latin typeface="Open Sans" panose="020B0606030504020204" pitchFamily="34" charset="0"/>
                <a:ea typeface="Open Sans" panose="020B0606030504020204" pitchFamily="34" charset="0"/>
                <a:cs typeface="Open Sans" panose="020B0606030504020204" pitchFamily="34" charset="0"/>
              </a:rPr>
              <a:t>: Device drivers; real time libraries; GUI frameworks </a:t>
            </a:r>
          </a:p>
          <a:p>
            <a:r>
              <a:rPr lang="en-US" sz="3600" b="1" dirty="0">
                <a:latin typeface="Open Sans" panose="020B0606030504020204" pitchFamily="34" charset="0"/>
                <a:ea typeface="Open Sans" panose="020B0606030504020204" pitchFamily="34" charset="0"/>
                <a:cs typeface="Open Sans" panose="020B0606030504020204" pitchFamily="34" charset="0"/>
              </a:rPr>
              <a:t>Exceptions</a:t>
            </a:r>
            <a:r>
              <a:rPr lang="en-US" sz="3600" dirty="0">
                <a:latin typeface="Open Sans" panose="020B0606030504020204" pitchFamily="34" charset="0"/>
                <a:ea typeface="Open Sans" panose="020B0606030504020204" pitchFamily="34" charset="0"/>
                <a:cs typeface="Open Sans" panose="020B0606030504020204" pitchFamily="34" charset="0"/>
              </a:rPr>
              <a:t>: Arithmetic/library/user-defined </a:t>
            </a:r>
          </a:p>
          <a:p>
            <a:r>
              <a:rPr lang="en-US" sz="3600" b="1" dirty="0">
                <a:latin typeface="Open Sans" panose="020B0606030504020204" pitchFamily="34" charset="0"/>
                <a:ea typeface="Open Sans" panose="020B0606030504020204" pitchFamily="34" charset="0"/>
                <a:cs typeface="Open Sans" panose="020B0606030504020204" pitchFamily="34" charset="0"/>
              </a:rPr>
              <a:t>Encapsulation</a:t>
            </a:r>
            <a:r>
              <a:rPr lang="en-US" sz="3600" dirty="0">
                <a:latin typeface="Open Sans" panose="020B0606030504020204" pitchFamily="34" charset="0"/>
                <a:ea typeface="Open Sans" panose="020B0606030504020204" pitchFamily="34" charset="0"/>
                <a:cs typeface="Open Sans" panose="020B0606030504020204" pitchFamily="34" charset="0"/>
              </a:rPr>
              <a:t>:</a:t>
            </a:r>
            <a:br>
              <a:rPr lang="en-US" sz="3600" dirty="0">
                <a:latin typeface="Open Sans" panose="020B0606030504020204" pitchFamily="34" charset="0"/>
                <a:ea typeface="Open Sans" panose="020B0606030504020204" pitchFamily="34" charset="0"/>
                <a:cs typeface="Open Sans" panose="020B0606030504020204" pitchFamily="34" charset="0"/>
              </a:rPr>
            </a:br>
            <a:r>
              <a:rPr lang="en-US" sz="3600" dirty="0">
                <a:latin typeface="Open Sans" panose="020B0606030504020204" pitchFamily="34" charset="0"/>
                <a:ea typeface="Open Sans" panose="020B0606030504020204" pitchFamily="34" charset="0"/>
                <a:cs typeface="Open Sans" panose="020B0606030504020204" pitchFamily="34" charset="0"/>
              </a:rPr>
              <a:t>– Accessing internal data, calling private functions... </a:t>
            </a:r>
          </a:p>
          <a:p>
            <a:r>
              <a:rPr lang="en-US" sz="3600" b="1" dirty="0">
                <a:latin typeface="Open Sans" panose="020B0606030504020204" pitchFamily="34" charset="0"/>
                <a:ea typeface="Open Sans" panose="020B0606030504020204" pitchFamily="34" charset="0"/>
                <a:cs typeface="Open Sans" panose="020B0606030504020204" pitchFamily="34" charset="0"/>
              </a:rPr>
              <a:t>Data races</a:t>
            </a:r>
            <a:r>
              <a:rPr lang="en-US" sz="3600" dirty="0">
                <a:latin typeface="Open Sans" panose="020B0606030504020204" pitchFamily="34" charset="0"/>
                <a:ea typeface="Open Sans" panose="020B0606030504020204" pitchFamily="34" charset="0"/>
                <a:cs typeface="Open Sans" panose="020B0606030504020204" pitchFamily="34" charset="0"/>
              </a:rPr>
              <a:t>:</a:t>
            </a:r>
            <a:br>
              <a:rPr lang="en-US" sz="3600" dirty="0">
                <a:latin typeface="Open Sans" panose="020B0606030504020204" pitchFamily="34" charset="0"/>
                <a:ea typeface="Open Sans" panose="020B0606030504020204" pitchFamily="34" charset="0"/>
                <a:cs typeface="Open Sans" panose="020B0606030504020204" pitchFamily="34" charset="0"/>
              </a:rPr>
            </a:br>
            <a:r>
              <a:rPr lang="en-US" sz="3600" dirty="0">
                <a:latin typeface="Open Sans" panose="020B0606030504020204" pitchFamily="34" charset="0"/>
                <a:ea typeface="Open Sans" panose="020B0606030504020204" pitchFamily="34" charset="0"/>
                <a:cs typeface="Open Sans" panose="020B0606030504020204" pitchFamily="34" charset="0"/>
              </a:rPr>
              <a:t>– Two threads access the same data without synchronization</a:t>
            </a:r>
          </a:p>
        </p:txBody>
      </p:sp>
    </p:spTree>
    <p:extLst>
      <p:ext uri="{BB962C8B-B14F-4D97-AF65-F5344CB8AC3E}">
        <p14:creationId xmlns:p14="http://schemas.microsoft.com/office/powerpoint/2010/main" val="235049955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1358123" cy="879423"/>
          </a:xfrm>
        </p:spPr>
        <p:txBody>
          <a:bodyPr>
            <a:normAutofit/>
          </a:bodyPr>
          <a:lstStyle/>
          <a:p>
            <a:r>
              <a:rPr lang="en-US" dirty="0"/>
              <a:t>Analyze the Python program Dynamically</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9759198" y="3260663"/>
            <a:ext cx="14624802" cy="8035609"/>
          </a:xfrm>
        </p:spPr>
        <p:txBody>
          <a:bodyPr anchor="ctr">
            <a:normAutofit/>
          </a:bodyPr>
          <a:lstStyle/>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What are the set of data types taken by variable ‘u’ at any point in the program?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Did the variable ‘u’ ever contain a negative number?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For how many iterations did the while loop execute?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Was there ever be a division by zero? </a:t>
            </a:r>
          </a:p>
          <a:p>
            <a:pPr marL="742950" indent="-742950">
              <a:buAutoNum type="arabicPeriod"/>
            </a:pPr>
            <a:r>
              <a:rPr lang="en-US" sz="3600" dirty="0">
                <a:latin typeface="Open Sans" panose="020B0606030504020204" pitchFamily="34" charset="0"/>
                <a:ea typeface="Open Sans" panose="020B0606030504020204" pitchFamily="34" charset="0"/>
                <a:cs typeface="Open Sans" panose="020B0606030504020204" pitchFamily="34" charset="0"/>
              </a:rPr>
              <a:t>Did the returned value ever contain a minus sign ‘-’? </a:t>
            </a:r>
          </a:p>
        </p:txBody>
      </p:sp>
      <p:sp>
        <p:nvSpPr>
          <p:cNvPr id="17" name="TextBox 16">
            <a:extLst>
              <a:ext uri="{FF2B5EF4-FFF2-40B4-BE49-F238E27FC236}">
                <a16:creationId xmlns:a16="http://schemas.microsoft.com/office/drawing/2014/main" id="{769FA656-796C-EFB2-D06B-84ADB6E71C70}"/>
              </a:ext>
            </a:extLst>
          </p:cNvPr>
          <p:cNvSpPr txBox="1"/>
          <p:nvPr/>
        </p:nvSpPr>
        <p:spPr>
          <a:xfrm>
            <a:off x="2259549" y="4220282"/>
            <a:ext cx="7407477" cy="675056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def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n2s(n: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int</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b: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int</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p>
          <a:p>
            <a:pPr marL="774700"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if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&lt;=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return </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‘0’</a:t>
            </a:r>
          </a:p>
          <a:p>
            <a:pPr marL="774700"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 = </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a:t>
            </a:r>
            <a:endParaRPr lang="en-ID" sz="3600" dirty="0">
              <a:solidFill>
                <a:srgbClr val="358C3A"/>
              </a:solidFill>
              <a:latin typeface="Open Sans" panose="020B0606030504020204" pitchFamily="34" charset="0"/>
              <a:ea typeface="Open Sans" panose="020B0606030504020204" pitchFamily="34" charset="0"/>
              <a:cs typeface="Open Sans" panose="020B0606030504020204" pitchFamily="34" charset="0"/>
            </a:endParaRPr>
          </a:p>
          <a:p>
            <a:pPr marL="774700"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while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&gt;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a:p>
            <a:pPr marL="1446213"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a:t>
            </a:r>
            <a:r>
              <a:rPr lang="en-ID" sz="3600" dirty="0" err="1">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n%b</a:t>
            </a:r>
            <a:endParaRPr lang="en-ID" sz="3600" dirty="0">
              <a:solidFill>
                <a:srgbClr val="35444C"/>
              </a:solidFill>
              <a:latin typeface="Open Sans" panose="020B0606030504020204" pitchFamily="34" charset="0"/>
              <a:ea typeface="Open Sans" panose="020B0606030504020204" pitchFamily="34" charset="0"/>
              <a:cs typeface="Open Sans" panose="020B0606030504020204" pitchFamily="34" charset="0"/>
            </a:endParaRPr>
          </a:p>
          <a:p>
            <a:pPr marL="1446213"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if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&gt;=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endParaRPr lang="en-ID" sz="3600" dirty="0">
              <a:latin typeface="Open Sans" panose="020B0606030504020204" pitchFamily="34" charset="0"/>
              <a:ea typeface="Open Sans" panose="020B0606030504020204" pitchFamily="34" charset="0"/>
              <a:cs typeface="Open Sans" panose="020B0606030504020204" pitchFamily="34" charset="0"/>
            </a:endParaRPr>
          </a:p>
          <a:p>
            <a:pPr marL="2540000"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chr</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r>
              <a:rPr lang="en-ID" sz="3600" dirty="0" err="1">
                <a:solidFill>
                  <a:srgbClr val="9B26AF"/>
                </a:solidFill>
                <a:effectLst/>
                <a:latin typeface="Open Sans" panose="020B0606030504020204" pitchFamily="34" charset="0"/>
                <a:ea typeface="Open Sans" panose="020B0606030504020204" pitchFamily="34" charset="0"/>
                <a:cs typeface="Open Sans" panose="020B0606030504020204" pitchFamily="34" charset="0"/>
              </a:rPr>
              <a:t>ord</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r>
              <a:rPr lang="en-ID" sz="3600" dirty="0">
                <a:solidFill>
                  <a:srgbClr val="358C3A"/>
                </a:solidFill>
                <a:effectLst/>
                <a:latin typeface="Open Sans" panose="020B0606030504020204" pitchFamily="34" charset="0"/>
                <a:ea typeface="Open Sans" panose="020B0606030504020204" pitchFamily="34" charset="0"/>
                <a:cs typeface="Open Sans" panose="020B0606030504020204" pitchFamily="34" charset="0"/>
              </a:rPr>
              <a:t>'A'</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 u-</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a:t>
            </a:r>
          </a:p>
          <a:p>
            <a:pPr marL="1446213" algn="just"/>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 = n // b</a:t>
            </a:r>
            <a:b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b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 = </a:t>
            </a:r>
            <a:r>
              <a:rPr lang="en-ID" sz="3600" dirty="0">
                <a:solidFill>
                  <a:srgbClr val="9B26AF"/>
                </a:solidFill>
                <a:effectLst/>
                <a:latin typeface="Open Sans" panose="020B0606030504020204" pitchFamily="34" charset="0"/>
                <a:ea typeface="Open Sans" panose="020B0606030504020204" pitchFamily="34" charset="0"/>
                <a:cs typeface="Open Sans" panose="020B0606030504020204" pitchFamily="34" charset="0"/>
              </a:rPr>
              <a:t>str</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(u) + r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a:p>
            <a:pPr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return </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r</a:t>
            </a:r>
          </a:p>
          <a:p>
            <a:pPr algn="just"/>
            <a:endParaRPr lang="en-ID" sz="3600" dirty="0">
              <a:solidFill>
                <a:srgbClr val="35444C"/>
              </a:solidFill>
              <a:latin typeface="Open Sans" panose="020B0606030504020204" pitchFamily="34" charset="0"/>
              <a:ea typeface="Open Sans" panose="020B0606030504020204" pitchFamily="34" charset="0"/>
              <a:cs typeface="Open Sans" panose="020B0606030504020204" pitchFamily="34" charset="0"/>
            </a:endParaRPr>
          </a:p>
          <a:p>
            <a:pPr algn="just"/>
            <a:r>
              <a:rPr lang="en-ID" sz="3600" dirty="0">
                <a:solidFill>
                  <a:srgbClr val="3D4FB2"/>
                </a:solidFill>
                <a:effectLst/>
                <a:latin typeface="Open Sans" panose="020B0606030504020204" pitchFamily="34" charset="0"/>
                <a:ea typeface="Open Sans" panose="020B0606030504020204" pitchFamily="34" charset="0"/>
                <a:cs typeface="Open Sans" panose="020B0606030504020204" pitchFamily="34" charset="0"/>
              </a:rPr>
              <a:t>print</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(n2s(</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12</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r>
              <a:rPr lang="en-ID" sz="3600" dirty="0">
                <a:solidFill>
                  <a:srgbClr val="C43828"/>
                </a:solidFill>
                <a:effectLst/>
                <a:latin typeface="Open Sans" panose="020B0606030504020204" pitchFamily="34" charset="0"/>
                <a:ea typeface="Open Sans" panose="020B0606030504020204" pitchFamily="34" charset="0"/>
                <a:cs typeface="Open Sans" panose="020B0606030504020204" pitchFamily="34" charset="0"/>
              </a:rPr>
              <a:t>10</a:t>
            </a:r>
            <a:r>
              <a:rPr lang="en-ID" sz="3600" dirty="0">
                <a:solidFill>
                  <a:srgbClr val="35444C"/>
                </a:solidFill>
                <a:effectLst/>
                <a:latin typeface="Open Sans" panose="020B0606030504020204" pitchFamily="34" charset="0"/>
                <a:ea typeface="Open Sans" panose="020B0606030504020204" pitchFamily="34" charset="0"/>
                <a:cs typeface="Open Sans" panose="020B0606030504020204" pitchFamily="34" charset="0"/>
              </a:rPr>
              <a:t>)) </a:t>
            </a:r>
            <a:endParaRPr lang="en-ID" sz="3600" dirty="0">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80508253"/>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2463023" cy="840935"/>
          </a:xfrm>
        </p:spPr>
        <p:txBody>
          <a:bodyPr>
            <a:normAutofit fontScale="92500"/>
          </a:bodyPr>
          <a:lstStyle/>
          <a:p>
            <a:r>
              <a:rPr lang="en-US" dirty="0"/>
              <a:t>Dynamic Analysis reasons about program executions</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20616423" cy="10455337"/>
          </a:xfrm>
        </p:spPr>
        <p:txBody>
          <a:bodyPr anchor="ctr">
            <a:normAutofit/>
          </a:bodyPr>
          <a:lstStyle/>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Tells you properties of the program that were definitely observed</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Code coverage </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Performance profiling</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Type profiling</a:t>
            </a:r>
            <a:br>
              <a:rPr lang="en-US" sz="3600" dirty="0">
                <a:latin typeface="Open Sans" panose="020B0606030504020204" pitchFamily="34" charset="0"/>
                <a:ea typeface="Open Sans" panose="020B0606030504020204" pitchFamily="34" charset="0"/>
                <a:cs typeface="Open Sans" panose="020B0606030504020204" pitchFamily="34" charset="0"/>
              </a:rPr>
            </a:br>
            <a:r>
              <a:rPr lang="en-US" sz="3600" dirty="0">
                <a:latin typeface="Open Sans" panose="020B0606030504020204" pitchFamily="34" charset="0"/>
                <a:ea typeface="Open Sans" panose="020B0606030504020204" pitchFamily="34" charset="0"/>
                <a:cs typeface="Open Sans" panose="020B0606030504020204" pitchFamily="34" charset="0"/>
              </a:rPr>
              <a:t>○ Testing </a:t>
            </a:r>
          </a:p>
          <a:p>
            <a:pPr marL="0" indent="0">
              <a:buNone/>
            </a:pPr>
            <a:r>
              <a:rPr lang="en-US" sz="3600" dirty="0">
                <a:latin typeface="Open Sans" panose="020B0606030504020204" pitchFamily="34" charset="0"/>
                <a:ea typeface="Open Sans" panose="020B0606030504020204" pitchFamily="34" charset="0"/>
                <a:cs typeface="Open Sans" panose="020B0606030504020204" pitchFamily="34" charset="0"/>
              </a:rPr>
              <a:t>●  In practice, implemented by program instrumentation</a:t>
            </a:r>
          </a:p>
          <a:p>
            <a:pPr marL="623888"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Think “Automated logging”</a:t>
            </a:r>
            <a:br>
              <a:rPr lang="en-US" sz="3600" dirty="0">
                <a:latin typeface="Open Sans" panose="020B0606030504020204" pitchFamily="34" charset="0"/>
                <a:ea typeface="Open Sans" panose="020B0606030504020204" pitchFamily="34" charset="0"/>
                <a:cs typeface="Open Sans" panose="020B0606030504020204" pitchFamily="34" charset="0"/>
              </a:rPr>
            </a:br>
            <a:r>
              <a:rPr lang="en-US" sz="3600" dirty="0">
                <a:latin typeface="Open Sans" panose="020B0606030504020204" pitchFamily="34" charset="0"/>
                <a:ea typeface="Open Sans" panose="020B0606030504020204" pitchFamily="34" charset="0"/>
                <a:cs typeface="Open Sans" panose="020B0606030504020204" pitchFamily="34" charset="0"/>
              </a:rPr>
              <a:t>○ Slows down execution speed by a small amount </a:t>
            </a:r>
          </a:p>
        </p:txBody>
      </p:sp>
    </p:spTree>
    <p:extLst>
      <p:ext uri="{BB962C8B-B14F-4D97-AF65-F5344CB8AC3E}">
        <p14:creationId xmlns:p14="http://schemas.microsoft.com/office/powerpoint/2010/main" val="946882471"/>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2463023" cy="840935"/>
          </a:xfrm>
        </p:spPr>
        <p:txBody>
          <a:bodyPr>
            <a:normAutofit/>
          </a:bodyPr>
          <a:lstStyle/>
          <a:p>
            <a:r>
              <a:rPr lang="en-US" dirty="0"/>
              <a:t>Static Analysis vs Dynamic Analysis</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10024623" cy="10455337"/>
          </a:xfrm>
        </p:spPr>
        <p:txBody>
          <a:bodyPr anchor="ctr">
            <a:normAutofit/>
          </a:bodyPr>
          <a:lstStyle/>
          <a:p>
            <a:pPr marL="0" indent="0" algn="just">
              <a:buNone/>
            </a:pPr>
            <a:r>
              <a:rPr lang="en-US" sz="3600" b="1" dirty="0">
                <a:latin typeface="Open Sans" panose="020B0606030504020204" pitchFamily="34" charset="0"/>
                <a:ea typeface="Open Sans" panose="020B0606030504020204" pitchFamily="34" charset="0"/>
                <a:cs typeface="Open Sans" panose="020B0606030504020204" pitchFamily="34" charset="0"/>
              </a:rPr>
              <a:t>Static Analysis</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Requires only source code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Conservatively reasons about all possible inputs and program paths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Reported warnings may contain false positives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Can report all warnings of a particular class of problems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Advanced techniques like verification can prove certain complex properties, but rarely run in CI due to cost</a:t>
            </a:r>
          </a:p>
        </p:txBody>
      </p:sp>
      <p:sp>
        <p:nvSpPr>
          <p:cNvPr id="4" name="Content Placeholder 15">
            <a:extLst>
              <a:ext uri="{FF2B5EF4-FFF2-40B4-BE49-F238E27FC236}">
                <a16:creationId xmlns:a16="http://schemas.microsoft.com/office/drawing/2014/main" id="{15B9E251-E1A1-EBD0-A118-69387D643091}"/>
              </a:ext>
            </a:extLst>
          </p:cNvPr>
          <p:cNvSpPr txBox="1">
            <a:spLocks/>
          </p:cNvSpPr>
          <p:nvPr/>
        </p:nvSpPr>
        <p:spPr>
          <a:xfrm>
            <a:off x="12192000" y="3298050"/>
            <a:ext cx="10024623" cy="1045533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None/>
            </a:pPr>
            <a:r>
              <a:rPr lang="en-ID" sz="3600" b="1" dirty="0">
                <a:latin typeface="Open Sans" panose="020B0606030504020204" pitchFamily="34" charset="0"/>
                <a:ea typeface="Open Sans" panose="020B0606030504020204" pitchFamily="34" charset="0"/>
                <a:cs typeface="Open Sans" panose="020B0606030504020204" pitchFamily="34" charset="0"/>
              </a:rPr>
              <a:t>Dynamic Analysis</a:t>
            </a:r>
          </a:p>
          <a:p>
            <a:pPr algn="just"/>
            <a:r>
              <a:rPr lang="en-ID" sz="3600" dirty="0">
                <a:latin typeface="Open Sans" panose="020B0606030504020204" pitchFamily="34" charset="0"/>
                <a:ea typeface="Open Sans" panose="020B0606030504020204" pitchFamily="34" charset="0"/>
                <a:cs typeface="Open Sans" panose="020B0606030504020204" pitchFamily="34" charset="0"/>
              </a:rPr>
              <a:t>Requires successful build + test inputs   </a:t>
            </a:r>
          </a:p>
          <a:p>
            <a:pPr algn="just"/>
            <a:r>
              <a:rPr lang="en-ID" sz="3600" dirty="0">
                <a:latin typeface="Open Sans" panose="020B0606030504020204" pitchFamily="34" charset="0"/>
                <a:ea typeface="Open Sans" panose="020B0606030504020204" pitchFamily="34" charset="0"/>
                <a:cs typeface="Open Sans" panose="020B0606030504020204" pitchFamily="34" charset="0"/>
              </a:rPr>
              <a:t>Observes individual executions    </a:t>
            </a:r>
          </a:p>
          <a:p>
            <a:pPr algn="just"/>
            <a:r>
              <a:rPr lang="en-ID" sz="3600" dirty="0">
                <a:latin typeface="Open Sans" panose="020B0606030504020204" pitchFamily="34" charset="0"/>
                <a:ea typeface="Open Sans" panose="020B0606030504020204" pitchFamily="34" charset="0"/>
                <a:cs typeface="Open Sans" panose="020B0606030504020204" pitchFamily="34" charset="0"/>
              </a:rPr>
              <a:t>Reported problems are real, as observed by a witness input  </a:t>
            </a:r>
          </a:p>
          <a:p>
            <a:pPr algn="just"/>
            <a:r>
              <a:rPr lang="en-ID" sz="3600" dirty="0">
                <a:latin typeface="Open Sans" panose="020B0606030504020204" pitchFamily="34" charset="0"/>
                <a:ea typeface="Open Sans" panose="020B0606030504020204" pitchFamily="34" charset="0"/>
                <a:cs typeface="Open Sans" panose="020B0606030504020204" pitchFamily="34" charset="0"/>
              </a:rPr>
              <a:t>Can only report problems that are seen. Highly dependent on test inputs. Subject to false negatives  </a:t>
            </a:r>
          </a:p>
          <a:p>
            <a:pPr algn="just"/>
            <a:r>
              <a:rPr lang="en-ID" sz="3600" dirty="0">
                <a:latin typeface="Open Sans" panose="020B0606030504020204" pitchFamily="34" charset="0"/>
                <a:ea typeface="Open Sans" panose="020B0606030504020204" pitchFamily="34" charset="0"/>
                <a:cs typeface="Open Sans" panose="020B0606030504020204" pitchFamily="34" charset="0"/>
              </a:rPr>
              <a:t>Advanced techniques like symbolic execution can prove certain complex properties, but rarely run in CI due to cost</a:t>
            </a:r>
          </a:p>
        </p:txBody>
      </p:sp>
    </p:spTree>
    <p:extLst>
      <p:ext uri="{BB962C8B-B14F-4D97-AF65-F5344CB8AC3E}">
        <p14:creationId xmlns:p14="http://schemas.microsoft.com/office/powerpoint/2010/main" val="241800497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2463023" cy="840935"/>
          </a:xfrm>
        </p:spPr>
        <p:txBody>
          <a:bodyPr>
            <a:normAutofit/>
          </a:bodyPr>
          <a:lstStyle/>
          <a:p>
            <a:r>
              <a:rPr lang="en-US" dirty="0"/>
              <a:t>Tools for Static Analysis</a:t>
            </a:r>
          </a:p>
        </p:txBody>
      </p:sp>
      <p:pic>
        <p:nvPicPr>
          <p:cNvPr id="7" name="Content Placeholder 6" descr="A group of logos on a white background&#10;&#10;Description automatically generated">
            <a:extLst>
              <a:ext uri="{FF2B5EF4-FFF2-40B4-BE49-F238E27FC236}">
                <a16:creationId xmlns:a16="http://schemas.microsoft.com/office/drawing/2014/main" id="{81525FC1-5999-29CC-4592-9AEA2FAFC3E8}"/>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90694" y="3298050"/>
            <a:ext cx="20002612" cy="8545892"/>
          </a:xfrm>
          <a:prstGeom prst="rect">
            <a:avLst/>
          </a:prstGeom>
        </p:spPr>
      </p:pic>
    </p:spTree>
    <p:extLst>
      <p:ext uri="{BB962C8B-B14F-4D97-AF65-F5344CB8AC3E}">
        <p14:creationId xmlns:p14="http://schemas.microsoft.com/office/powerpoint/2010/main" val="2456167283"/>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2463023" cy="840935"/>
          </a:xfrm>
        </p:spPr>
        <p:txBody>
          <a:bodyPr>
            <a:normAutofit/>
          </a:bodyPr>
          <a:lstStyle/>
          <a:p>
            <a:r>
              <a:rPr lang="en-US" dirty="0"/>
              <a:t>Static Analysis can be applied to all attributes</a:t>
            </a:r>
          </a:p>
        </p:txBody>
      </p:sp>
      <p:sp>
        <p:nvSpPr>
          <p:cNvPr id="16" name="Content Placeholder 15">
            <a:extLst>
              <a:ext uri="{FF2B5EF4-FFF2-40B4-BE49-F238E27FC236}">
                <a16:creationId xmlns:a16="http://schemas.microsoft.com/office/drawing/2014/main" id="{8D8FBC49-1AA0-2B02-E0D9-409C8B507A58}"/>
              </a:ext>
            </a:extLst>
          </p:cNvPr>
          <p:cNvSpPr>
            <a:spLocks noGrp="1"/>
          </p:cNvSpPr>
          <p:nvPr>
            <p:ph sz="quarter" idx="11"/>
          </p:nvPr>
        </p:nvSpPr>
        <p:spPr>
          <a:xfrm>
            <a:off x="2167377" y="3260663"/>
            <a:ext cx="19397223" cy="8583279"/>
          </a:xfrm>
        </p:spPr>
        <p:txBody>
          <a:bodyPr anchor="ctr">
            <a:normAutofit/>
          </a:bodyPr>
          <a:lstStyle/>
          <a:p>
            <a:pPr algn="just"/>
            <a:r>
              <a:rPr lang="en-US" sz="3600" dirty="0">
                <a:latin typeface="Open Sans" panose="020B0606030504020204" pitchFamily="34" charset="0"/>
                <a:ea typeface="Open Sans" panose="020B0606030504020204" pitchFamily="34" charset="0"/>
                <a:cs typeface="Open Sans" panose="020B0606030504020204" pitchFamily="34" charset="0"/>
              </a:rPr>
              <a:t>Find bugs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Refactor code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Keep your code stylish!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Identify code smells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Measure quality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Find usability and accessibility issues </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Identify bottlenecks and improve performance </a:t>
            </a:r>
          </a:p>
        </p:txBody>
      </p:sp>
    </p:spTree>
    <p:extLst>
      <p:ext uri="{BB962C8B-B14F-4D97-AF65-F5344CB8AC3E}">
        <p14:creationId xmlns:p14="http://schemas.microsoft.com/office/powerpoint/2010/main" val="379944651"/>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4253723" cy="840936"/>
          </a:xfrm>
        </p:spPr>
        <p:txBody>
          <a:bodyPr>
            <a:normAutofit/>
          </a:bodyPr>
          <a:lstStyle/>
          <a:p>
            <a:r>
              <a:rPr lang="en-US" dirty="0"/>
              <a:t>Static analysis is a key part of continuous integration</a:t>
            </a:r>
          </a:p>
        </p:txBody>
      </p:sp>
      <p:pic>
        <p:nvPicPr>
          <p:cNvPr id="4" name="Content Placeholder 3">
            <a:extLst>
              <a:ext uri="{FF2B5EF4-FFF2-40B4-BE49-F238E27FC236}">
                <a16:creationId xmlns:a16="http://schemas.microsoft.com/office/drawing/2014/main" id="{E27FE7B6-030A-2516-43E6-7C361F37553A}"/>
              </a:ext>
            </a:extLst>
          </p:cNvPr>
          <p:cNvPicPr>
            <a:picLocks noGrp="1" noChangeAspect="1"/>
          </p:cNvPicPr>
          <p:nvPr>
            <p:ph sz="quarter" idx="11"/>
          </p:nvPr>
        </p:nvPicPr>
        <p:blipFill>
          <a:blip r:embed="rId2"/>
          <a:stretch>
            <a:fillRect/>
          </a:stretch>
        </p:blipFill>
        <p:spPr>
          <a:xfrm>
            <a:off x="2167376" y="3298050"/>
            <a:ext cx="19509805" cy="8545891"/>
          </a:xfrm>
          <a:prstGeom prst="rect">
            <a:avLst/>
          </a:prstGeom>
        </p:spPr>
      </p:pic>
    </p:spTree>
    <p:extLst>
      <p:ext uri="{BB962C8B-B14F-4D97-AF65-F5344CB8AC3E}">
        <p14:creationId xmlns:p14="http://schemas.microsoft.com/office/powerpoint/2010/main" val="3646419565"/>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4253723" cy="840936"/>
          </a:xfrm>
        </p:spPr>
        <p:txBody>
          <a:bodyPr>
            <a:normAutofit/>
          </a:bodyPr>
          <a:lstStyle/>
          <a:p>
            <a:r>
              <a:rPr lang="en-US" dirty="0"/>
              <a:t>Static analysis is a Growing industry</a:t>
            </a:r>
          </a:p>
        </p:txBody>
      </p:sp>
      <p:pic>
        <p:nvPicPr>
          <p:cNvPr id="8" name="Content Placeholder 7" descr="A screenshot of a computer&#10;&#10;Description automatically generated">
            <a:extLst>
              <a:ext uri="{FF2B5EF4-FFF2-40B4-BE49-F238E27FC236}">
                <a16:creationId xmlns:a16="http://schemas.microsoft.com/office/drawing/2014/main" id="{1FBE8531-50C7-867E-30E1-F8DABDBBA9CF}"/>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7" y="3845720"/>
            <a:ext cx="20866329" cy="7998222"/>
          </a:xfrm>
        </p:spPr>
      </p:pic>
    </p:spTree>
    <p:extLst>
      <p:ext uri="{BB962C8B-B14F-4D97-AF65-F5344CB8AC3E}">
        <p14:creationId xmlns:p14="http://schemas.microsoft.com/office/powerpoint/2010/main" val="3417562172"/>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4253723" cy="840936"/>
          </a:xfrm>
        </p:spPr>
        <p:txBody>
          <a:bodyPr>
            <a:normAutofit/>
          </a:bodyPr>
          <a:lstStyle/>
          <a:p>
            <a:r>
              <a:rPr lang="en-US" dirty="0"/>
              <a:t>Static analysis is also integrated into ides</a:t>
            </a:r>
          </a:p>
        </p:txBody>
      </p:sp>
      <p:pic>
        <p:nvPicPr>
          <p:cNvPr id="7" name="Content Placeholder 6" descr="A screenshot of a computer&#10;&#10;Description automatically generated">
            <a:extLst>
              <a:ext uri="{FF2B5EF4-FFF2-40B4-BE49-F238E27FC236}">
                <a16:creationId xmlns:a16="http://schemas.microsoft.com/office/drawing/2014/main" id="{93014CD5-72A2-8451-36FA-1DDCB8946AD6}"/>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2167377" y="3298051"/>
            <a:ext cx="19836860" cy="7998222"/>
          </a:xfrm>
        </p:spPr>
      </p:pic>
    </p:spTree>
    <p:extLst>
      <p:ext uri="{BB962C8B-B14F-4D97-AF65-F5344CB8AC3E}">
        <p14:creationId xmlns:p14="http://schemas.microsoft.com/office/powerpoint/2010/main" val="1535541591"/>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D075E-03B7-4FC6-4FCF-D0C188F97E45}"/>
              </a:ext>
            </a:extLst>
          </p:cNvPr>
          <p:cNvSpPr>
            <a:spLocks noGrp="1"/>
          </p:cNvSpPr>
          <p:nvPr>
            <p:ph type="title"/>
          </p:nvPr>
        </p:nvSpPr>
        <p:spPr/>
        <p:txBody>
          <a:bodyPr>
            <a:normAutofit fontScale="90000"/>
          </a:bodyPr>
          <a:lstStyle/>
          <a:p>
            <a:r>
              <a:rPr lang="en-US" dirty="0"/>
              <a:t>Defect Identification</a:t>
            </a:r>
          </a:p>
        </p:txBody>
      </p:sp>
      <p:sp>
        <p:nvSpPr>
          <p:cNvPr id="3" name="Text Placeholder 2">
            <a:extLst>
              <a:ext uri="{FF2B5EF4-FFF2-40B4-BE49-F238E27FC236}">
                <a16:creationId xmlns:a16="http://schemas.microsoft.com/office/drawing/2014/main" id="{50029F04-83ED-514F-ED51-65780627B3AC}"/>
              </a:ext>
            </a:extLst>
          </p:cNvPr>
          <p:cNvSpPr>
            <a:spLocks noGrp="1"/>
          </p:cNvSpPr>
          <p:nvPr>
            <p:ph type="body" sz="quarter" idx="10"/>
          </p:nvPr>
        </p:nvSpPr>
        <p:spPr>
          <a:xfrm>
            <a:off x="2167377" y="2419727"/>
            <a:ext cx="14253723" cy="840936"/>
          </a:xfrm>
        </p:spPr>
        <p:txBody>
          <a:bodyPr>
            <a:normAutofit/>
          </a:bodyPr>
          <a:lstStyle/>
          <a:p>
            <a:r>
              <a:rPr lang="en-US" dirty="0"/>
              <a:t>What makes a good static analysis tool?</a:t>
            </a:r>
          </a:p>
        </p:txBody>
      </p:sp>
      <p:sp>
        <p:nvSpPr>
          <p:cNvPr id="5" name="Content Placeholder 4">
            <a:extLst>
              <a:ext uri="{FF2B5EF4-FFF2-40B4-BE49-F238E27FC236}">
                <a16:creationId xmlns:a16="http://schemas.microsoft.com/office/drawing/2014/main" id="{925BDFAB-9DD0-7CB6-709F-DD2B5795DAF5}"/>
              </a:ext>
            </a:extLst>
          </p:cNvPr>
          <p:cNvSpPr>
            <a:spLocks noGrp="1"/>
          </p:cNvSpPr>
          <p:nvPr>
            <p:ph sz="quarter" idx="11"/>
          </p:nvPr>
        </p:nvSpPr>
        <p:spPr>
          <a:xfrm>
            <a:off x="2167377" y="3260663"/>
            <a:ext cx="19130523" cy="8035610"/>
          </a:xfrm>
        </p:spPr>
        <p:txBody>
          <a:bodyPr>
            <a:normAutofit fontScale="92500"/>
          </a:bodyPr>
          <a:lstStyle/>
          <a:p>
            <a:r>
              <a:rPr lang="en-US" sz="3600" dirty="0">
                <a:latin typeface="Open Sans" panose="020B0606030504020204" pitchFamily="34" charset="0"/>
                <a:ea typeface="Open Sans" panose="020B0606030504020204" pitchFamily="34" charset="0"/>
                <a:cs typeface="Open Sans" panose="020B0606030504020204" pitchFamily="34" charset="0"/>
              </a:rPr>
              <a:t>Static analysis should be </a:t>
            </a:r>
            <a:r>
              <a:rPr lang="en-US" sz="3600" b="1" dirty="0">
                <a:latin typeface="Open Sans" panose="020B0606030504020204" pitchFamily="34" charset="0"/>
                <a:ea typeface="Open Sans" panose="020B0606030504020204" pitchFamily="34" charset="0"/>
                <a:cs typeface="Open Sans" panose="020B0606030504020204" pitchFamily="34" charset="0"/>
              </a:rPr>
              <a:t>fast</a:t>
            </a:r>
            <a:r>
              <a:rPr lang="en-US" sz="3600" dirty="0">
                <a:latin typeface="Open Sans" panose="020B0606030504020204" pitchFamily="34" charset="0"/>
                <a:ea typeface="Open Sans" panose="020B0606030504020204" pitchFamily="34" charset="0"/>
                <a:cs typeface="Open Sans" panose="020B0606030504020204" pitchFamily="34" charset="0"/>
              </a:rPr>
              <a:t>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Don’t hold up development velocity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This becomes more important as code scales </a:t>
            </a:r>
          </a:p>
          <a:p>
            <a:r>
              <a:rPr lang="en-US" sz="3600" dirty="0">
                <a:latin typeface="Open Sans" panose="020B0606030504020204" pitchFamily="34" charset="0"/>
                <a:ea typeface="Open Sans" panose="020B0606030504020204" pitchFamily="34" charset="0"/>
                <a:cs typeface="Open Sans" panose="020B0606030504020204" pitchFamily="34" charset="0"/>
              </a:rPr>
              <a:t>Static analysis should report </a:t>
            </a:r>
            <a:r>
              <a:rPr lang="en-US" sz="3600" b="1" dirty="0">
                <a:latin typeface="Open Sans" panose="020B0606030504020204" pitchFamily="34" charset="0"/>
                <a:ea typeface="Open Sans" panose="020B0606030504020204" pitchFamily="34" charset="0"/>
                <a:cs typeface="Open Sans" panose="020B0606030504020204" pitchFamily="34" charset="0"/>
              </a:rPr>
              <a:t>few false positives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Otherwise developers will start to ignore warnings and alerts, and quality will decline </a:t>
            </a:r>
          </a:p>
          <a:p>
            <a:r>
              <a:rPr lang="en-US" sz="3600" dirty="0">
                <a:latin typeface="Open Sans" panose="020B0606030504020204" pitchFamily="34" charset="0"/>
                <a:ea typeface="Open Sans" panose="020B0606030504020204" pitchFamily="34" charset="0"/>
                <a:cs typeface="Open Sans" panose="020B0606030504020204" pitchFamily="34" charset="0"/>
              </a:rPr>
              <a:t>Static analysis should be </a:t>
            </a:r>
            <a:r>
              <a:rPr lang="en-US" sz="3600" b="1" dirty="0">
                <a:latin typeface="Open Sans" panose="020B0606030504020204" pitchFamily="34" charset="0"/>
                <a:ea typeface="Open Sans" panose="020B0606030504020204" pitchFamily="34" charset="0"/>
                <a:cs typeface="Open Sans" panose="020B0606030504020204" pitchFamily="34" charset="0"/>
              </a:rPr>
              <a:t>continuous</a:t>
            </a:r>
            <a:r>
              <a:rPr lang="en-US" sz="3600" dirty="0">
                <a:latin typeface="Open Sans" panose="020B0606030504020204" pitchFamily="34" charset="0"/>
                <a:ea typeface="Open Sans" panose="020B0606030504020204" pitchFamily="34" charset="0"/>
                <a:cs typeface="Open Sans" panose="020B0606030504020204" pitchFamily="34" charset="0"/>
              </a:rPr>
              <a:t>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Should be part of your continuous integration pipeline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Diff-based analysis is even better -- don’t </a:t>
            </a:r>
            <a:r>
              <a:rPr lang="en-US" sz="3600" dirty="0" err="1">
                <a:latin typeface="Open Sans" panose="020B0606030504020204" pitchFamily="34" charset="0"/>
                <a:ea typeface="Open Sans" panose="020B0606030504020204" pitchFamily="34" charset="0"/>
                <a:cs typeface="Open Sans" panose="020B0606030504020204" pitchFamily="34" charset="0"/>
              </a:rPr>
              <a:t>analyse</a:t>
            </a:r>
            <a:r>
              <a:rPr lang="en-US" sz="3600" dirty="0">
                <a:latin typeface="Open Sans" panose="020B0606030504020204" pitchFamily="34" charset="0"/>
                <a:ea typeface="Open Sans" panose="020B0606030504020204" pitchFamily="34" charset="0"/>
                <a:cs typeface="Open Sans" panose="020B0606030504020204" pitchFamily="34" charset="0"/>
              </a:rPr>
              <a:t> the entire codebase; just the changes </a:t>
            </a:r>
          </a:p>
          <a:p>
            <a:r>
              <a:rPr lang="en-US" sz="3600" dirty="0">
                <a:latin typeface="Open Sans" panose="020B0606030504020204" pitchFamily="34" charset="0"/>
                <a:ea typeface="Open Sans" panose="020B0606030504020204" pitchFamily="34" charset="0"/>
                <a:cs typeface="Open Sans" panose="020B0606030504020204" pitchFamily="34" charset="0"/>
              </a:rPr>
              <a:t>Static analysis should be </a:t>
            </a:r>
            <a:r>
              <a:rPr lang="en-US" sz="3600" b="1" dirty="0">
                <a:latin typeface="Open Sans" panose="020B0606030504020204" pitchFamily="34" charset="0"/>
                <a:ea typeface="Open Sans" panose="020B0606030504020204" pitchFamily="34" charset="0"/>
                <a:cs typeface="Open Sans" panose="020B0606030504020204" pitchFamily="34" charset="0"/>
              </a:rPr>
              <a:t>informative</a:t>
            </a:r>
            <a:r>
              <a:rPr lang="en-US" sz="3600" dirty="0">
                <a:latin typeface="Open Sans" panose="020B0606030504020204" pitchFamily="34" charset="0"/>
                <a:ea typeface="Open Sans" panose="020B0606030504020204" pitchFamily="34" charset="0"/>
                <a:cs typeface="Open Sans" panose="020B0606030504020204" pitchFamily="34" charset="0"/>
              </a:rPr>
              <a:t>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Messages that help the developer to quickly locate and address the issue </a:t>
            </a:r>
          </a:p>
          <a:p>
            <a:pPr marL="609600" lvl="1" indent="0">
              <a:spcBef>
                <a:spcPts val="0"/>
              </a:spcBef>
              <a:buNone/>
            </a:pPr>
            <a:r>
              <a:rPr lang="en-US" sz="3600" dirty="0">
                <a:latin typeface="Open Sans" panose="020B0606030504020204" pitchFamily="34" charset="0"/>
                <a:ea typeface="Open Sans" panose="020B0606030504020204" pitchFamily="34" charset="0"/>
                <a:cs typeface="Open Sans" panose="020B0606030504020204" pitchFamily="34" charset="0"/>
              </a:rPr>
              <a:t>○  Ideally, it should suggest or automatically apply fixes </a:t>
            </a:r>
          </a:p>
        </p:txBody>
      </p:sp>
    </p:spTree>
    <p:extLst>
      <p:ext uri="{BB962C8B-B14F-4D97-AF65-F5344CB8AC3E}">
        <p14:creationId xmlns:p14="http://schemas.microsoft.com/office/powerpoint/2010/main" val="336848885"/>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4C09-62A6-4EAD-480F-E66422499F9C}"/>
              </a:ext>
            </a:extLst>
          </p:cNvPr>
          <p:cNvSpPr>
            <a:spLocks noGrp="1"/>
          </p:cNvSpPr>
          <p:nvPr>
            <p:ph type="title"/>
          </p:nvPr>
        </p:nvSpPr>
        <p:spPr/>
        <p:txBody>
          <a:bodyPr>
            <a:normAutofit fontScale="90000"/>
          </a:bodyPr>
          <a:lstStyle/>
          <a:p>
            <a:r>
              <a:rPr lang="en-US" dirty="0"/>
              <a:t>Defect Reporting and Tracking</a:t>
            </a:r>
          </a:p>
        </p:txBody>
      </p:sp>
      <p:sp>
        <p:nvSpPr>
          <p:cNvPr id="3" name="Text Placeholder 2">
            <a:extLst>
              <a:ext uri="{FF2B5EF4-FFF2-40B4-BE49-F238E27FC236}">
                <a16:creationId xmlns:a16="http://schemas.microsoft.com/office/drawing/2014/main" id="{39E851F2-9100-FF53-F123-D4F65FF84AF7}"/>
              </a:ext>
            </a:extLst>
          </p:cNvPr>
          <p:cNvSpPr>
            <a:spLocks noGrp="1"/>
          </p:cNvSpPr>
          <p:nvPr>
            <p:ph type="body" sz="quarter" idx="10"/>
          </p:nvPr>
        </p:nvSpPr>
        <p:spPr>
          <a:xfrm>
            <a:off x="2167377" y="2419727"/>
            <a:ext cx="16063473" cy="840936"/>
          </a:xfrm>
        </p:spPr>
        <p:txBody>
          <a:bodyPr>
            <a:normAutofit/>
          </a:bodyPr>
          <a:lstStyle/>
          <a:p>
            <a:endParaRPr lang="en-US" dirty="0"/>
          </a:p>
        </p:txBody>
      </p:sp>
      <p:sp>
        <p:nvSpPr>
          <p:cNvPr id="4" name="Content Placeholder 3">
            <a:extLst>
              <a:ext uri="{FF2B5EF4-FFF2-40B4-BE49-F238E27FC236}">
                <a16:creationId xmlns:a16="http://schemas.microsoft.com/office/drawing/2014/main" id="{B5552849-CE2C-39CE-0303-4B296CF1F9CD}"/>
              </a:ext>
            </a:extLst>
          </p:cNvPr>
          <p:cNvSpPr>
            <a:spLocks noGrp="1"/>
          </p:cNvSpPr>
          <p:nvPr>
            <p:ph sz="quarter" idx="11"/>
          </p:nvPr>
        </p:nvSpPr>
        <p:spPr>
          <a:xfrm>
            <a:off x="2167377" y="3260663"/>
            <a:ext cx="20295058" cy="10455337"/>
          </a:xfrm>
        </p:spPr>
        <p:txBody>
          <a:bodyPr anchor="ctr">
            <a:noAutofit/>
          </a:bodyPr>
          <a:lstStyle/>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Purpose of Defect Tracking</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 tracking enables systematic identification, analysis, and resolution of issues, enhancing transparency and communication in the testing process.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Defect Lifecycle</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Identification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Document the defect and assign priority.</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Resolution</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Developers resolve the defect and perform retests.</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Closure</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Verify the fix and close the defect if resolved.</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Tools for Defect Tracking</a:t>
            </a:r>
          </a:p>
          <a:p>
            <a:pPr lvl="1"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Examples</a:t>
            </a: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 JIRA, Bugzilla, GitHub Issues.</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Tools help organize defects by severity, prioritize fixes, and provide status updates.</a:t>
            </a:r>
          </a:p>
          <a:p>
            <a:pPr algn="just">
              <a:spcBef>
                <a:spcPts val="1800"/>
              </a:spcBef>
            </a:pPr>
            <a:r>
              <a:rPr lang="en-US" sz="3600"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Sample Defect Report</a:t>
            </a:r>
          </a:p>
          <a:p>
            <a:pPr lvl="1" algn="just">
              <a:spcBef>
                <a:spcPts val="1800"/>
              </a:spcBef>
            </a:pPr>
            <a:r>
              <a:rPr lang="en-US" sz="3600"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Include defect ID, title, description, steps to reproduce, environment, priority, and resolution.</a:t>
            </a:r>
          </a:p>
        </p:txBody>
      </p:sp>
    </p:spTree>
    <p:extLst>
      <p:ext uri="{BB962C8B-B14F-4D97-AF65-F5344CB8AC3E}">
        <p14:creationId xmlns:p14="http://schemas.microsoft.com/office/powerpoint/2010/main" val="2630232020"/>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CC9A3-FB6E-DB3A-36BC-1DB5FA6C0129}"/>
              </a:ext>
            </a:extLst>
          </p:cNvPr>
          <p:cNvSpPr>
            <a:spLocks noGrp="1"/>
          </p:cNvSpPr>
          <p:nvPr>
            <p:ph type="title"/>
          </p:nvPr>
        </p:nvSpPr>
        <p:spPr/>
        <p:txBody>
          <a:bodyPr>
            <a:normAutofit fontScale="90000"/>
          </a:bodyPr>
          <a:lstStyle/>
          <a:p>
            <a:r>
              <a:rPr lang="en-US" dirty="0"/>
              <a:t>References</a:t>
            </a:r>
          </a:p>
        </p:txBody>
      </p:sp>
      <p:sp>
        <p:nvSpPr>
          <p:cNvPr id="3" name="Text Placeholder 2">
            <a:extLst>
              <a:ext uri="{FF2B5EF4-FFF2-40B4-BE49-F238E27FC236}">
                <a16:creationId xmlns:a16="http://schemas.microsoft.com/office/drawing/2014/main" id="{053E2DA4-F8BE-01AB-0C23-B97B20B1AE79}"/>
              </a:ext>
            </a:extLst>
          </p:cNvPr>
          <p:cNvSpPr>
            <a:spLocks noGrp="1"/>
          </p:cNvSpPr>
          <p:nvPr>
            <p:ph type="body" sz="quarter" idx="10"/>
          </p:nvPr>
        </p:nvSpPr>
        <p:spPr/>
        <p:txBody>
          <a:bodyPr/>
          <a:lstStyle/>
          <a:p>
            <a:endParaRPr lang="en-US"/>
          </a:p>
        </p:txBody>
      </p:sp>
      <p:sp>
        <p:nvSpPr>
          <p:cNvPr id="4" name="Content Placeholder 3">
            <a:extLst>
              <a:ext uri="{FF2B5EF4-FFF2-40B4-BE49-F238E27FC236}">
                <a16:creationId xmlns:a16="http://schemas.microsoft.com/office/drawing/2014/main" id="{0EAE9782-3C02-FAD4-699A-C827BC99AC35}"/>
              </a:ext>
            </a:extLst>
          </p:cNvPr>
          <p:cNvSpPr>
            <a:spLocks noGrp="1"/>
          </p:cNvSpPr>
          <p:nvPr>
            <p:ph sz="quarter" idx="11"/>
          </p:nvPr>
        </p:nvSpPr>
        <p:spPr>
          <a:xfrm>
            <a:off x="5486930" y="4779818"/>
            <a:ext cx="13714940" cy="7064124"/>
          </a:xfrm>
        </p:spPr>
        <p:txBody>
          <a:bodyPr>
            <a:normAutofit/>
          </a:bodyPr>
          <a:lstStyle/>
          <a:p>
            <a:pPr algn="just"/>
            <a:r>
              <a:rPr lang="id-ID" sz="3600" dirty="0">
                <a:latin typeface="Open Sans" panose="020B0606030504020204" pitchFamily="34" charset="0"/>
                <a:ea typeface="Open Sans" panose="020B0606030504020204" pitchFamily="34" charset="0"/>
                <a:cs typeface="Open Sans" panose="020B0606030504020204" pitchFamily="34" charset="0"/>
              </a:rPr>
              <a:t>Titus </a:t>
            </a:r>
            <a:r>
              <a:rPr lang="id-ID" sz="3600" dirty="0" err="1">
                <a:latin typeface="Open Sans" panose="020B0606030504020204" pitchFamily="34" charset="0"/>
                <a:ea typeface="Open Sans" panose="020B0606030504020204" pitchFamily="34" charset="0"/>
                <a:cs typeface="Open Sans" panose="020B0606030504020204" pitchFamily="34" charset="0"/>
              </a:rPr>
              <a:t>Winters</a:t>
            </a:r>
            <a:r>
              <a:rPr lang="id-ID" sz="3600" dirty="0">
                <a:latin typeface="Open Sans" panose="020B0606030504020204" pitchFamily="34" charset="0"/>
                <a:ea typeface="Open Sans" panose="020B0606030504020204" pitchFamily="34" charset="0"/>
                <a:cs typeface="Open Sans" panose="020B0606030504020204" pitchFamily="34" charset="0"/>
              </a:rPr>
              <a:t>, Tom </a:t>
            </a:r>
            <a:r>
              <a:rPr lang="id-ID" sz="3600" dirty="0" err="1">
                <a:latin typeface="Open Sans" panose="020B0606030504020204" pitchFamily="34" charset="0"/>
                <a:ea typeface="Open Sans" panose="020B0606030504020204" pitchFamily="34" charset="0"/>
                <a:cs typeface="Open Sans" panose="020B0606030504020204" pitchFamily="34" charset="0"/>
              </a:rPr>
              <a:t>Manshreck</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and</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Hyrum</a:t>
            </a:r>
            <a:r>
              <a:rPr lang="id-ID" sz="3600" dirty="0">
                <a:latin typeface="Open Sans" panose="020B0606030504020204" pitchFamily="34" charset="0"/>
                <a:ea typeface="Open Sans" panose="020B0606030504020204" pitchFamily="34" charset="0"/>
                <a:cs typeface="Open Sans" panose="020B0606030504020204" pitchFamily="34" charset="0"/>
              </a:rPr>
              <a:t> </a:t>
            </a:r>
            <a:r>
              <a:rPr lang="id-ID" sz="3600" dirty="0" err="1">
                <a:latin typeface="Open Sans" panose="020B0606030504020204" pitchFamily="34" charset="0"/>
                <a:ea typeface="Open Sans" panose="020B0606030504020204" pitchFamily="34" charset="0"/>
                <a:cs typeface="Open Sans" panose="020B0606030504020204" pitchFamily="34" charset="0"/>
              </a:rPr>
              <a:t>Wright</a:t>
            </a:r>
            <a:r>
              <a:rPr lang="id-ID" sz="3600" dirty="0">
                <a:latin typeface="Open Sans" panose="020B0606030504020204" pitchFamily="34" charset="0"/>
                <a:ea typeface="Open Sans" panose="020B0606030504020204" pitchFamily="34" charset="0"/>
                <a:cs typeface="Open Sans" panose="020B0606030504020204" pitchFamily="34" charset="0"/>
              </a:rPr>
              <a:t>. (2020). </a:t>
            </a:r>
            <a:r>
              <a:rPr lang="id-ID" sz="3600" b="1" i="1" dirty="0" err="1">
                <a:latin typeface="Open Sans" panose="020B0606030504020204" pitchFamily="34" charset="0"/>
                <a:ea typeface="Open Sans" panose="020B0606030504020204" pitchFamily="34" charset="0"/>
                <a:cs typeface="Open Sans" panose="020B0606030504020204" pitchFamily="34" charset="0"/>
              </a:rPr>
              <a:t>Software</a:t>
            </a:r>
            <a:r>
              <a:rPr lang="id-ID" sz="3600" b="1" i="1" dirty="0">
                <a:latin typeface="Open Sans" panose="020B0606030504020204" pitchFamily="34" charset="0"/>
                <a:ea typeface="Open Sans" panose="020B0606030504020204" pitchFamily="34" charset="0"/>
                <a:cs typeface="Open Sans" panose="020B0606030504020204" pitchFamily="34" charset="0"/>
              </a:rPr>
              <a:t> Engineering </a:t>
            </a:r>
            <a:r>
              <a:rPr lang="id-ID" sz="3600" b="1" i="1" dirty="0" err="1">
                <a:latin typeface="Open Sans" panose="020B0606030504020204" pitchFamily="34" charset="0"/>
                <a:ea typeface="Open Sans" panose="020B0606030504020204" pitchFamily="34" charset="0"/>
                <a:cs typeface="Open Sans" panose="020B0606030504020204" pitchFamily="34" charset="0"/>
              </a:rPr>
              <a:t>at</a:t>
            </a:r>
            <a:r>
              <a:rPr lang="id-ID" sz="3600" b="1" i="1" dirty="0">
                <a:latin typeface="Open Sans" panose="020B0606030504020204" pitchFamily="34" charset="0"/>
                <a:ea typeface="Open Sans" panose="020B0606030504020204" pitchFamily="34" charset="0"/>
                <a:cs typeface="Open Sans" panose="020B0606030504020204" pitchFamily="34" charset="0"/>
              </a:rPr>
              <a:t> Google: </a:t>
            </a:r>
            <a:r>
              <a:rPr lang="id-ID" sz="3600" b="1" i="1" dirty="0" err="1">
                <a:latin typeface="Open Sans" panose="020B0606030504020204" pitchFamily="34" charset="0"/>
                <a:ea typeface="Open Sans" panose="020B0606030504020204" pitchFamily="34" charset="0"/>
                <a:cs typeface="Open Sans" panose="020B0606030504020204" pitchFamily="34" charset="0"/>
              </a:rPr>
              <a:t>Lesson</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Learned</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from</a:t>
            </a:r>
            <a:r>
              <a:rPr lang="id-ID" sz="3600" b="1" i="1" dirty="0">
                <a:latin typeface="Open Sans" panose="020B0606030504020204" pitchFamily="34" charset="0"/>
                <a:ea typeface="Open Sans" panose="020B0606030504020204" pitchFamily="34" charset="0"/>
                <a:cs typeface="Open Sans" panose="020B0606030504020204" pitchFamily="34" charset="0"/>
              </a:rPr>
              <a:t> </a:t>
            </a:r>
            <a:r>
              <a:rPr lang="id-ID" sz="3600" b="1" i="1" dirty="0" err="1">
                <a:latin typeface="Open Sans" panose="020B0606030504020204" pitchFamily="34" charset="0"/>
                <a:ea typeface="Open Sans" panose="020B0606030504020204" pitchFamily="34" charset="0"/>
                <a:cs typeface="Open Sans" panose="020B0606030504020204" pitchFamily="34" charset="0"/>
              </a:rPr>
              <a:t>Programming</a:t>
            </a:r>
            <a:r>
              <a:rPr lang="id-ID" sz="3600" b="1" i="1" dirty="0">
                <a:latin typeface="Open Sans" panose="020B0606030504020204" pitchFamily="34" charset="0"/>
                <a:ea typeface="Open Sans" panose="020B0606030504020204" pitchFamily="34" charset="0"/>
                <a:cs typeface="Open Sans" panose="020B0606030504020204" pitchFamily="34" charset="0"/>
              </a:rPr>
              <a:t> Over </a:t>
            </a:r>
            <a:r>
              <a:rPr lang="id-ID" sz="3600" b="1" i="1" dirty="0" err="1">
                <a:latin typeface="Open Sans" panose="020B0606030504020204" pitchFamily="34" charset="0"/>
                <a:ea typeface="Open Sans" panose="020B0606030504020204" pitchFamily="34" charset="0"/>
                <a:cs typeface="Open Sans" panose="020B0606030504020204" pitchFamily="34" charset="0"/>
              </a:rPr>
              <a:t>Time</a:t>
            </a:r>
            <a:r>
              <a:rPr lang="id-ID" sz="3600" dirty="0">
                <a:latin typeface="Open Sans" panose="020B0606030504020204" pitchFamily="34" charset="0"/>
                <a:ea typeface="Open Sans" panose="020B0606030504020204" pitchFamily="34" charset="0"/>
                <a:cs typeface="Open Sans" panose="020B0606030504020204" pitchFamily="34" charset="0"/>
              </a:rPr>
              <a:t>. 1st. </a:t>
            </a:r>
            <a:r>
              <a:rPr lang="id-ID" sz="3600" dirty="0" err="1">
                <a:latin typeface="Open Sans" panose="020B0606030504020204" pitchFamily="34" charset="0"/>
                <a:ea typeface="Open Sans" panose="020B0606030504020204" pitchFamily="34" charset="0"/>
                <a:cs typeface="Open Sans" panose="020B0606030504020204" pitchFamily="34" charset="0"/>
              </a:rPr>
              <a:t>O’Reilly</a:t>
            </a:r>
            <a:r>
              <a:rPr lang="id-ID" sz="3600" dirty="0">
                <a:latin typeface="Open Sans" panose="020B0606030504020204" pitchFamily="34" charset="0"/>
                <a:ea typeface="Open Sans" panose="020B0606030504020204" pitchFamily="34" charset="0"/>
                <a:cs typeface="Open Sans" panose="020B0606030504020204" pitchFamily="34" charset="0"/>
              </a:rPr>
              <a:t> Media. California. ISBN: 978-1492082798. </a:t>
            </a:r>
            <a:r>
              <a:rPr lang="id-ID" sz="3600" dirty="0" err="1">
                <a:latin typeface="Open Sans" panose="020B0606030504020204" pitchFamily="34" charset="0"/>
                <a:ea typeface="Open Sans" panose="020B0606030504020204" pitchFamily="34" charset="0"/>
                <a:cs typeface="Open Sans" panose="020B0606030504020204" pitchFamily="34" charset="0"/>
              </a:rPr>
              <a:t>Page</a:t>
            </a:r>
            <a:r>
              <a:rPr lang="id-ID" sz="3600" dirty="0">
                <a:latin typeface="Open Sans" panose="020B0606030504020204" pitchFamily="34" charset="0"/>
                <a:ea typeface="Open Sans" panose="020B0606030504020204" pitchFamily="34" charset="0"/>
                <a:cs typeface="Open Sans" panose="020B0606030504020204" pitchFamily="34" charset="0"/>
              </a:rPr>
              <a:t> 5-24.</a:t>
            </a:r>
          </a:p>
          <a:p>
            <a:pPr algn="just"/>
            <a:r>
              <a:rPr lang="en-US" sz="3600" dirty="0">
                <a:latin typeface="Open Sans" panose="020B0606030504020204" pitchFamily="34" charset="0"/>
                <a:ea typeface="Open Sans" panose="020B0606030504020204" pitchFamily="34" charset="0"/>
                <a:cs typeface="Open Sans" panose="020B0606030504020204" pitchFamily="34" charset="0"/>
              </a:rPr>
              <a:t>Roger Pressman and Bruce Maxim. (2020). </a:t>
            </a:r>
            <a:r>
              <a:rPr lang="en-US" sz="3600" b="1" i="1" dirty="0">
                <a:latin typeface="Open Sans" panose="020B0606030504020204" pitchFamily="34" charset="0"/>
                <a:ea typeface="Open Sans" panose="020B0606030504020204" pitchFamily="34" charset="0"/>
                <a:cs typeface="Open Sans" panose="020B0606030504020204" pitchFamily="34" charset="0"/>
              </a:rPr>
              <a:t>Software Engineering: A Practitioner's Approach</a:t>
            </a:r>
            <a:r>
              <a:rPr lang="en-US" sz="3600" dirty="0">
                <a:latin typeface="Open Sans" panose="020B0606030504020204" pitchFamily="34" charset="0"/>
                <a:ea typeface="Open Sans" panose="020B0606030504020204" pitchFamily="34" charset="0"/>
                <a:cs typeface="Open Sans" panose="020B0606030504020204" pitchFamily="34" charset="0"/>
              </a:rPr>
              <a:t>. 9th E. McGraw- Hill. New York. ISBN: 9781259872976.</a:t>
            </a:r>
          </a:p>
          <a:p>
            <a:pPr algn="just"/>
            <a:r>
              <a:rPr lang="en-US" sz="3600" dirty="0" err="1">
                <a:latin typeface="Open Sans" panose="020B0606030504020204" pitchFamily="34" charset="0"/>
                <a:ea typeface="Open Sans" panose="020B0606030504020204" pitchFamily="34" charset="0"/>
                <a:cs typeface="Open Sans" panose="020B0606030504020204" pitchFamily="34" charset="0"/>
              </a:rPr>
              <a:t>Beizer</a:t>
            </a:r>
            <a:r>
              <a:rPr lang="en-US" sz="3600" dirty="0">
                <a:latin typeface="Open Sans" panose="020B0606030504020204" pitchFamily="34" charset="0"/>
                <a:ea typeface="Open Sans" panose="020B0606030504020204" pitchFamily="34" charset="0"/>
                <a:cs typeface="Open Sans" panose="020B0606030504020204" pitchFamily="34" charset="0"/>
              </a:rPr>
              <a:t>, B. (2020). Software Testing Techniques (3rd Edition). </a:t>
            </a:r>
            <a:r>
              <a:rPr lang="en-US" sz="3600" dirty="0" err="1">
                <a:latin typeface="Open Sans" panose="020B0606030504020204" pitchFamily="34" charset="0"/>
                <a:ea typeface="Open Sans" panose="020B0606030504020204" pitchFamily="34" charset="0"/>
                <a:cs typeface="Open Sans" panose="020B0606030504020204" pitchFamily="34" charset="0"/>
              </a:rPr>
              <a:t>Dreamtech</a:t>
            </a:r>
            <a:r>
              <a:rPr lang="en-US" sz="3600" dirty="0">
                <a:latin typeface="Open Sans" panose="020B0606030504020204" pitchFamily="34" charset="0"/>
                <a:ea typeface="Open Sans" panose="020B0606030504020204" pitchFamily="34" charset="0"/>
                <a:cs typeface="Open Sans" panose="020B0606030504020204" pitchFamily="34" charset="0"/>
              </a:rPr>
              <a:t> Press. </a:t>
            </a:r>
          </a:p>
        </p:txBody>
      </p:sp>
    </p:spTree>
    <p:extLst>
      <p:ext uri="{BB962C8B-B14F-4D97-AF65-F5344CB8AC3E}">
        <p14:creationId xmlns:p14="http://schemas.microsoft.com/office/powerpoint/2010/main" val="1976124244"/>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2" id="{91EC78B4-BE4F-3B4D-B302-CF3E80410C1C}" vid="{48571482-A7A2-E44B-AA81-515161122809}"/>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TaxCatchAll xmlns="9fdf624c-fedc-4f6c-b928-0c7bf4c9e100" xsi:nil="true"/>
    <_Flow_SignoffStatus xmlns="47793baa-3cbb-486e-a055-4d42ce3882d7" xsi:nil="true"/>
    <_dlc_DocId xmlns="9fdf624c-fedc-4f6c-b928-0c7bf4c9e100">J56STF5CZXNR-2061195910-875156</_dlc_DocId>
    <_dlc_DocIdUrl xmlns="9fdf624c-fedc-4f6c-b928-0c7bf4c9e100">
      <Url>https://binusianorg.sharepoint.com/sites/arc/_layouts/15/DocIdRedir.aspx?ID=J56STF5CZXNR-2061195910-875156</Url>
      <Description>J56STF5CZXNR-2061195910-875156</Description>
    </_dlc_DocId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8" ma:contentTypeDescription="Create a new document." ma:contentTypeScope="" ma:versionID="2a43a3a40365f9eee60928e1a48d8e8a">
  <xsd:schema xmlns:xsd="http://www.w3.org/2001/XMLSchema" xmlns:xs="http://www.w3.org/2001/XMLSchema" xmlns:p="http://schemas.microsoft.com/office/2006/metadata/properties" xmlns:ns2="9fdf624c-fedc-4f6c-b928-0c7bf4c9e100" xmlns:ns3="47793baa-3cbb-486e-a055-4d42ce3882d7" xmlns:ns4="http://schemas.microsoft.com/sharepoint/v3/fields" targetNamespace="http://schemas.microsoft.com/office/2006/metadata/properties" ma:root="true" ma:fieldsID="b55bbfde6f7dd5be9fcb8a553256df6e" ns2:_="" ns3:_="" ns4:_="">
    <xsd:import namespace="9fdf624c-fedc-4f6c-b928-0c7bf4c9e100"/>
    <xsd:import namespace="47793baa-3cbb-486e-a055-4d42ce3882d7"/>
    <xsd:import namespace="http://schemas.microsoft.com/sharepoint/v3/fields"/>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element ref="ns4:_Version" minOccurs="0"/>
                <xsd:element ref="ns3:MediaLengthInSeconds"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7" nillable="true" ma:displayName="Taxonomy Catch All Column" ma:hidden="true" ma:list="{131959e2-2cf4-437e-858a-61f1b162208b}" ma:internalName="TaxCatchAll" ma:showField="CatchAllData" ma:web="9fdf624c-fedc-4f6c-b928-0c7bf4c9e10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element name="MediaLengthInSeconds" ma:index="25"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Version" ma:index="24"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2252D89-D1E6-488A-B078-4573BAE073F6}">
  <ds:schemaRefs>
    <ds:schemaRef ds:uri="http://purl.org/dc/terms/"/>
    <ds:schemaRef ds:uri="2661c1c1-ed05-4275-a33d-64e31eb1ea69"/>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4f26481f-d1e8-4452-9a9a-b303515fd2b7"/>
    <ds:schemaRef ds:uri="http://schemas.microsoft.com/office/2006/metadata/properties"/>
    <ds:schemaRef ds:uri="http://purl.org/dc/dcmitype/"/>
    <ds:schemaRef ds:uri="http://schemas.microsoft.com/sharepoint/v3/fields"/>
    <ds:schemaRef ds:uri="9fdf624c-fedc-4f6c-b928-0c7bf4c9e100"/>
    <ds:schemaRef ds:uri="47793baa-3cbb-486e-a055-4d42ce3882d7"/>
  </ds:schemaRefs>
</ds:datastoreItem>
</file>

<file path=customXml/itemProps2.xml><?xml version="1.0" encoding="utf-8"?>
<ds:datastoreItem xmlns:ds="http://schemas.openxmlformats.org/officeDocument/2006/customXml" ds:itemID="{90A97211-242D-415A-8ADE-6F44C1D92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DDAE38A-8264-43C3-9B01-B7FA25F10602}">
  <ds:schemaRefs>
    <ds:schemaRef ds:uri="http://schemas.microsoft.com/sharepoint/events"/>
  </ds:schemaRefs>
</ds:datastoreItem>
</file>

<file path=customXml/itemProps4.xml><?xml version="1.0" encoding="utf-8"?>
<ds:datastoreItem xmlns:ds="http://schemas.openxmlformats.org/officeDocument/2006/customXml" ds:itemID="{2E0FE671-25D8-4116-9472-BF9297986CC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BINUS Learning Object Slide Template 2022</Template>
  <TotalTime>7692</TotalTime>
  <Words>3744</Words>
  <Application>Microsoft Macintosh PowerPoint</Application>
  <PresentationFormat>Custom</PresentationFormat>
  <Paragraphs>457</Paragraphs>
  <Slides>56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56</vt:i4>
      </vt:variant>
    </vt:vector>
  </HeadingPairs>
  <TitlesOfParts>
    <vt:vector size="64" baseType="lpstr">
      <vt:lpstr>Open Sans ExtraBold</vt:lpstr>
      <vt:lpstr>Courier New</vt:lpstr>
      <vt:lpstr>Open Sans Light</vt:lpstr>
      <vt:lpstr>OCRB</vt:lpstr>
      <vt:lpstr>Open Sans Semibold</vt:lpstr>
      <vt:lpstr>Arial</vt:lpstr>
      <vt:lpstr>Open Sans</vt:lpstr>
      <vt:lpstr>21_BasicWhite</vt:lpstr>
      <vt:lpstr>Fundamentals of Software Testing</vt:lpstr>
      <vt:lpstr>Session 19 – Fundamentals of Software Testing</vt:lpstr>
      <vt:lpstr>Session 19 – Fundamentals of Software Testing</vt:lpstr>
      <vt:lpstr>Software Quality</vt:lpstr>
      <vt:lpstr>Software Quality</vt:lpstr>
      <vt:lpstr>Software Quality</vt:lpstr>
      <vt:lpstr>Objectives and Importance of Software Testing</vt:lpstr>
      <vt:lpstr>Objectives and Importance of Software Testing</vt:lpstr>
      <vt:lpstr>Objectives and Importance of Software Testing</vt:lpstr>
      <vt:lpstr>Objectives and Importance of Software Testing</vt:lpstr>
      <vt:lpstr>Objectives and Importance of Software Testing</vt:lpstr>
      <vt:lpstr>Objectives and Importance of Software Testing</vt:lpstr>
      <vt:lpstr>Objectives and Importance of Software Testing</vt:lpstr>
      <vt:lpstr>Objectives and Importance of Software Testing</vt:lpstr>
      <vt:lpstr>Objectives and Importance of Software Testing</vt:lpstr>
      <vt:lpstr>LEVELS of Testing</vt:lpstr>
      <vt:lpstr>LEVELS of Testing</vt:lpstr>
      <vt:lpstr>LEVELS of Testing</vt:lpstr>
      <vt:lpstr>LEVELS of Testing</vt:lpstr>
      <vt:lpstr>Types of Testing</vt:lpstr>
      <vt:lpstr>Testing Techniques</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Planning and Design</vt:lpstr>
      <vt:lpstr>Test Case Development and Execution</vt:lpstr>
      <vt:lpstr>Test Case Development and Execution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Identification</vt:lpstr>
      <vt:lpstr>Defect Reporting and Tracking</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Aris Priyanto</dc:creator>
  <cp:lastModifiedBy>Kenny Jingga</cp:lastModifiedBy>
  <cp:revision>81</cp:revision>
  <dcterms:created xsi:type="dcterms:W3CDTF">2023-04-06T08:40:27Z</dcterms:created>
  <dcterms:modified xsi:type="dcterms:W3CDTF">2024-12-18T14:02:07Z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a8e96856-29d3-47af-8f22-9a1c34492d36</vt:lpwstr>
  </property>
</Properties>
</file>