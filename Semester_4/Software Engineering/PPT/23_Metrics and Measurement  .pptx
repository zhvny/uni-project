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5"/>
  </p:sldMasterIdLst>
  <p:notesMasterIdLst>
    <p:notesMasterId r:id="rId56"/>
  </p:notesMasterIdLst>
  <p:sldIdLst>
    <p:sldId id="256" r:id="rId6"/>
    <p:sldId id="257" r:id="rId7"/>
    <p:sldId id="258" r:id="rId8"/>
    <p:sldId id="323" r:id="rId9"/>
    <p:sldId id="324" r:id="rId10"/>
    <p:sldId id="325" r:id="rId11"/>
    <p:sldId id="262" r:id="rId12"/>
    <p:sldId id="285" r:id="rId13"/>
    <p:sldId id="287" r:id="rId14"/>
    <p:sldId id="326" r:id="rId15"/>
    <p:sldId id="286" r:id="rId16"/>
    <p:sldId id="327" r:id="rId17"/>
    <p:sldId id="328" r:id="rId18"/>
    <p:sldId id="329" r:id="rId19"/>
    <p:sldId id="330" r:id="rId20"/>
    <p:sldId id="288" r:id="rId21"/>
    <p:sldId id="331" r:id="rId22"/>
    <p:sldId id="301" r:id="rId23"/>
    <p:sldId id="302" r:id="rId24"/>
    <p:sldId id="303" r:id="rId25"/>
    <p:sldId id="296" r:id="rId26"/>
    <p:sldId id="332" r:id="rId27"/>
    <p:sldId id="315" r:id="rId28"/>
    <p:sldId id="316" r:id="rId29"/>
    <p:sldId id="317" r:id="rId30"/>
    <p:sldId id="318" r:id="rId31"/>
    <p:sldId id="319" r:id="rId32"/>
    <p:sldId id="289" r:id="rId33"/>
    <p:sldId id="334" r:id="rId34"/>
    <p:sldId id="335" r:id="rId35"/>
    <p:sldId id="336" r:id="rId36"/>
    <p:sldId id="333" r:id="rId37"/>
    <p:sldId id="320" r:id="rId38"/>
    <p:sldId id="321" r:id="rId39"/>
    <p:sldId id="322" r:id="rId40"/>
    <p:sldId id="337" r:id="rId41"/>
    <p:sldId id="338" r:id="rId42"/>
    <p:sldId id="339" r:id="rId43"/>
    <p:sldId id="340" r:id="rId44"/>
    <p:sldId id="341" r:id="rId45"/>
    <p:sldId id="342" r:id="rId46"/>
    <p:sldId id="343" r:id="rId47"/>
    <p:sldId id="344" r:id="rId48"/>
    <p:sldId id="345" r:id="rId49"/>
    <p:sldId id="346" r:id="rId50"/>
    <p:sldId id="347" r:id="rId51"/>
    <p:sldId id="348" r:id="rId52"/>
    <p:sldId id="349" r:id="rId53"/>
    <p:sldId id="350" r:id="rId54"/>
    <p:sldId id="284" r:id="rId55"/>
  </p:sldIdLst>
  <p:sldSz cx="24384000" cy="13716000"/>
  <p:notesSz cx="6858000" cy="9144000"/>
  <p:embeddedFontLst>
    <p:embeddedFont>
      <p:font typeface="Cambria Math" panose="02040503050406030204" pitchFamily="18" charset="0"/>
      <p:regular r:id="rId57"/>
    </p:embeddedFont>
    <p:embeddedFont>
      <p:font typeface="OCRB" panose="020B0609020202020204" pitchFamily="49" charset="0"/>
      <p:regular r:id="rId58"/>
    </p:embeddedFont>
    <p:embeddedFont>
      <p:font typeface="Open Sans" panose="020B0606030504020204" pitchFamily="34" charset="0"/>
      <p:regular r:id="rId59"/>
      <p:bold r:id="rId60"/>
      <p:italic r:id="rId61"/>
      <p:boldItalic r:id="rId62"/>
    </p:embeddedFont>
    <p:embeddedFont>
      <p:font typeface="Open Sans ExtraBold" panose="020B0906030804020204" pitchFamily="34" charset="0"/>
      <p:bold r:id="rId63"/>
      <p:italic r:id="rId64"/>
      <p:boldItalic r:id="rId65"/>
    </p:embeddedFont>
    <p:embeddedFont>
      <p:font typeface="Open Sans Light" panose="020B0306030504020204" pitchFamily="34" charset="0"/>
      <p:regular r:id="rId66"/>
      <p:italic r:id="rId67"/>
    </p:embeddedFont>
    <p:embeddedFont>
      <p:font typeface="Open Sans Semibold" panose="020B0706030804020204" pitchFamily="34" charset="0"/>
      <p:regular r:id="rId68"/>
      <p:bold r:id="rId69"/>
      <p:italic r:id="rId70"/>
      <p:boldItalic r:id="rId71"/>
    </p:embeddedFont>
  </p:embeddedFont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14F93"/>
    <a:srgbClr val="F5AF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386" autoAdjust="0"/>
    <p:restoredTop sz="92245"/>
  </p:normalViewPr>
  <p:slideViewPr>
    <p:cSldViewPr snapToGrid="0" snapToObjects="1">
      <p:cViewPr varScale="1">
        <p:scale>
          <a:sx n="37" d="100"/>
          <a:sy n="37" d="100"/>
        </p:scale>
        <p:origin x="581" y="34"/>
      </p:cViewPr>
      <p:guideLst>
        <p:guide orient="horz" pos="4320"/>
        <p:guide pos="76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63" Type="http://schemas.openxmlformats.org/officeDocument/2006/relationships/font" Target="fonts/font7.fntdata"/><Relationship Id="rId68" Type="http://schemas.openxmlformats.org/officeDocument/2006/relationships/font" Target="fonts/font12.fntdata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slide" Target="slides/slide48.xml"/><Relationship Id="rId58" Type="http://schemas.openxmlformats.org/officeDocument/2006/relationships/font" Target="fonts/font2.fntdata"/><Relationship Id="rId66" Type="http://schemas.openxmlformats.org/officeDocument/2006/relationships/font" Target="fonts/font10.fntdata"/><Relationship Id="rId74" Type="http://schemas.openxmlformats.org/officeDocument/2006/relationships/theme" Target="theme/theme1.xml"/><Relationship Id="rId5" Type="http://schemas.openxmlformats.org/officeDocument/2006/relationships/slideMaster" Target="slideMasters/slideMaster1.xml"/><Relationship Id="rId61" Type="http://schemas.openxmlformats.org/officeDocument/2006/relationships/font" Target="fonts/font5.fntdata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notesMaster" Target="notesMasters/notesMaster1.xml"/><Relationship Id="rId64" Type="http://schemas.openxmlformats.org/officeDocument/2006/relationships/font" Target="fonts/font8.fntdata"/><Relationship Id="rId69" Type="http://schemas.openxmlformats.org/officeDocument/2006/relationships/font" Target="fonts/font13.fntdata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72" Type="http://schemas.openxmlformats.org/officeDocument/2006/relationships/presProps" Target="pres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font" Target="fonts/font3.fntdata"/><Relationship Id="rId67" Type="http://schemas.openxmlformats.org/officeDocument/2006/relationships/font" Target="fonts/font11.fntdata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font" Target="fonts/font6.fntdata"/><Relationship Id="rId70" Type="http://schemas.openxmlformats.org/officeDocument/2006/relationships/font" Target="fonts/font14.fntdata"/><Relationship Id="rId75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font" Target="fonts/font1.fntdata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font" Target="fonts/font4.fntdata"/><Relationship Id="rId65" Type="http://schemas.openxmlformats.org/officeDocument/2006/relationships/font" Target="fonts/font9.fntdata"/><Relationship Id="rId73" Type="http://schemas.openxmlformats.org/officeDocument/2006/relationships/viewProps" Target="viewProps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Relationship Id="rId34" Type="http://schemas.openxmlformats.org/officeDocument/2006/relationships/slide" Target="slides/slide29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76" Type="http://schemas.microsoft.com/office/2016/11/relationships/changesInfo" Target="changesInfos/changesInfo1.xml"/><Relationship Id="rId7" Type="http://schemas.openxmlformats.org/officeDocument/2006/relationships/slide" Target="slides/slide2.xml"/><Relationship Id="rId71" Type="http://schemas.openxmlformats.org/officeDocument/2006/relationships/font" Target="fonts/font15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ulin Nasari" userId="2c02bce8-14a6-4f73-b14a-299518f8dfce" providerId="ADAL" clId="{973AE700-8634-4AC6-A10B-DFA7AFECB9DA}"/>
    <pc:docChg chg="modSld">
      <pc:chgData name="Maulin Nasari" userId="2c02bce8-14a6-4f73-b14a-299518f8dfce" providerId="ADAL" clId="{973AE700-8634-4AC6-A10B-DFA7AFECB9DA}" dt="2025-12-25T09:20:56.564" v="11" actId="20577"/>
      <pc:docMkLst>
        <pc:docMk/>
      </pc:docMkLst>
      <pc:sldChg chg="modSp mod">
        <pc:chgData name="Maulin Nasari" userId="2c02bce8-14a6-4f73-b14a-299518f8dfce" providerId="ADAL" clId="{973AE700-8634-4AC6-A10B-DFA7AFECB9DA}" dt="2025-12-25T09:20:37.283" v="3" actId="20577"/>
        <pc:sldMkLst>
          <pc:docMk/>
          <pc:sldMk cId="3487223446" sldId="256"/>
        </pc:sldMkLst>
        <pc:spChg chg="mod">
          <ac:chgData name="Maulin Nasari" userId="2c02bce8-14a6-4f73-b14a-299518f8dfce" providerId="ADAL" clId="{973AE700-8634-4AC6-A10B-DFA7AFECB9DA}" dt="2025-12-25T09:20:37.283" v="3" actId="20577"/>
          <ac:spMkLst>
            <pc:docMk/>
            <pc:sldMk cId="3487223446" sldId="256"/>
            <ac:spMk id="2" creationId="{CA264C53-F38A-3CAD-0C8A-2BF46116F396}"/>
          </ac:spMkLst>
        </pc:spChg>
      </pc:sldChg>
      <pc:sldChg chg="modSp mod">
        <pc:chgData name="Maulin Nasari" userId="2c02bce8-14a6-4f73-b14a-299518f8dfce" providerId="ADAL" clId="{973AE700-8634-4AC6-A10B-DFA7AFECB9DA}" dt="2025-12-25T09:20:42.136" v="7" actId="20577"/>
        <pc:sldMkLst>
          <pc:docMk/>
          <pc:sldMk cId="3855785854" sldId="257"/>
        </pc:sldMkLst>
        <pc:spChg chg="mod">
          <ac:chgData name="Maulin Nasari" userId="2c02bce8-14a6-4f73-b14a-299518f8dfce" providerId="ADAL" clId="{973AE700-8634-4AC6-A10B-DFA7AFECB9DA}" dt="2025-12-25T09:20:42.136" v="7" actId="20577"/>
          <ac:spMkLst>
            <pc:docMk/>
            <pc:sldMk cId="3855785854" sldId="257"/>
            <ac:spMk id="2" creationId="{F1BF52CD-EA76-003A-7192-0E9167BA3901}"/>
          </ac:spMkLst>
        </pc:spChg>
      </pc:sldChg>
      <pc:sldChg chg="modSp mod">
        <pc:chgData name="Maulin Nasari" userId="2c02bce8-14a6-4f73-b14a-299518f8dfce" providerId="ADAL" clId="{973AE700-8634-4AC6-A10B-DFA7AFECB9DA}" dt="2025-12-25T09:20:56.564" v="11" actId="20577"/>
        <pc:sldMkLst>
          <pc:docMk/>
          <pc:sldMk cId="481981883" sldId="258"/>
        </pc:sldMkLst>
        <pc:spChg chg="mod">
          <ac:chgData name="Maulin Nasari" userId="2c02bce8-14a6-4f73-b14a-299518f8dfce" providerId="ADAL" clId="{973AE700-8634-4AC6-A10B-DFA7AFECB9DA}" dt="2025-12-25T09:20:56.564" v="11" actId="20577"/>
          <ac:spMkLst>
            <pc:docMk/>
            <pc:sldMk cId="481981883" sldId="258"/>
            <ac:spMk id="2" creationId="{F1BF52CD-EA76-003A-7192-0E9167BA390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Shape 170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171" name="Shape 17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 b="0" i="0">
        <a:latin typeface="Open Sans Light" pitchFamily="2" charset="0"/>
        <a:ea typeface="Open Sans Light" pitchFamily="2" charset="0"/>
        <a:cs typeface="Open Sans Light" pitchFamily="2" charset="0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A popular visual representation of survivorship bias. This diagram shows where returning WW2-era planes were hit. Suggesting that the red clusters should be reinforced exemplifies survivorship bias, as only the planes that didn't crash were </a:t>
            </a:r>
            <a:r>
              <a:rPr lang="en-ID" b="0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analyzed</a:t>
            </a:r>
            <a:r>
              <a:rPr lang="en-ID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12563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www.learnsignal.com</a:t>
            </a:r>
            <a:r>
              <a:rPr lang="en-US" dirty="0"/>
              <a:t>/blog/wells-fargo-fake-accounts-scandal-overview-2/</a:t>
            </a:r>
          </a:p>
        </p:txBody>
      </p:sp>
    </p:spTree>
    <p:extLst>
      <p:ext uri="{BB962C8B-B14F-4D97-AF65-F5344CB8AC3E}">
        <p14:creationId xmlns:p14="http://schemas.microsoft.com/office/powerpoint/2010/main" val="23000717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5857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2169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26512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11794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09497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183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73264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4.png"/><Relationship Id="rId7" Type="http://schemas.openxmlformats.org/officeDocument/2006/relationships/image" Target="../media/image9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11" Type="http://schemas.openxmlformats.org/officeDocument/2006/relationships/image" Target="../media/image13.svg"/><Relationship Id="rId5" Type="http://schemas.openxmlformats.org/officeDocument/2006/relationships/image" Target="../media/image7.sv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9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8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0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pic>
        <p:nvPicPr>
          <p:cNvPr id="11" name="Image" descr="Image">
            <a:extLst>
              <a:ext uri="{FF2B5EF4-FFF2-40B4-BE49-F238E27FC236}">
                <a16:creationId xmlns:a16="http://schemas.microsoft.com/office/drawing/2014/main" id="{57BF6916-406C-E944-841A-1BF7394CF10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  <p:sp>
        <p:nvSpPr>
          <p:cNvPr id="15" name="UNIVERSITAS BINA NUSANTARA">
            <a:extLst>
              <a:ext uri="{FF2B5EF4-FFF2-40B4-BE49-F238E27FC236}">
                <a16:creationId xmlns:a16="http://schemas.microsoft.com/office/drawing/2014/main" id="{B2ACCA88-1510-174E-BE16-6E62A96F6E0C}"/>
              </a:ext>
            </a:extLst>
          </p:cNvPr>
          <p:cNvSpPr txBox="1"/>
          <p:nvPr userDrawn="1"/>
        </p:nvSpPr>
        <p:spPr>
          <a:xfrm>
            <a:off x="8706308" y="9680388"/>
            <a:ext cx="6971384" cy="622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dirty="0"/>
              <a:t>UNIVERSITAS</a:t>
            </a:r>
            <a:r>
              <a:rPr b="1" dirty="0"/>
              <a:t> BINA NUSANTARA</a:t>
            </a:r>
          </a:p>
        </p:txBody>
      </p:sp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8706308" y="9680388"/>
            <a:ext cx="6971384" cy="622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dirty="0"/>
              <a:t>UNIVERSITAS</a:t>
            </a:r>
            <a:r>
              <a:rPr b="1" dirty="0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Prese</a:t>
            </a:r>
            <a:r>
              <a:rPr lang="en-ID" dirty="0"/>
              <a:t>n</a:t>
            </a:r>
            <a:r>
              <a:rPr dirty="0" err="1"/>
              <a:t>tation</a:t>
            </a:r>
            <a:r>
              <a:rPr dirty="0"/>
              <a:t> Title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6474C2C-5958-6F6B-1482-E67DED339D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4" name="UNIVERSITAS BINA NUSANTARA">
            <a:extLst>
              <a:ext uri="{FF2B5EF4-FFF2-40B4-BE49-F238E27FC236}">
                <a16:creationId xmlns:a16="http://schemas.microsoft.com/office/drawing/2014/main" id="{5DC7F27E-9CB9-099F-4DA7-367C6ADB411B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</p:spTree>
    <p:extLst>
      <p:ext uri="{BB962C8B-B14F-4D97-AF65-F5344CB8AC3E}">
        <p14:creationId xmlns:p14="http://schemas.microsoft.com/office/powerpoint/2010/main" val="4094124863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CCD29839-25B4-3D48-8D8C-B1D859A74A9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86930" y="5334432"/>
            <a:ext cx="13714940" cy="4522264"/>
          </a:xfrm>
        </p:spPr>
        <p:txBody>
          <a:bodyPr>
            <a:normAutofit/>
          </a:bodyPr>
          <a:lstStyle>
            <a:lvl1pPr marL="266700" indent="-2667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indent="-280988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indent="-250825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indent="-309563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indent="-2794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024523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F7BB76AE-A45C-1F43-9E7B-E96439A8D439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pic>
        <p:nvPicPr>
          <p:cNvPr id="11" name="Image" descr="Image">
            <a:extLst>
              <a:ext uri="{FF2B5EF4-FFF2-40B4-BE49-F238E27FC236}">
                <a16:creationId xmlns:a16="http://schemas.microsoft.com/office/drawing/2014/main" id="{57BF6916-406C-E944-841A-1BF7394CF10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  <p:sp>
        <p:nvSpPr>
          <p:cNvPr id="15" name="UNIVERSITAS BINA NUSANTARA">
            <a:extLst>
              <a:ext uri="{FF2B5EF4-FFF2-40B4-BE49-F238E27FC236}">
                <a16:creationId xmlns:a16="http://schemas.microsoft.com/office/drawing/2014/main" id="{B2ACCA88-1510-174E-BE16-6E62A96F6E0C}"/>
              </a:ext>
            </a:extLst>
          </p:cNvPr>
          <p:cNvSpPr txBox="1"/>
          <p:nvPr userDrawn="1"/>
        </p:nvSpPr>
        <p:spPr>
          <a:xfrm>
            <a:off x="8706308" y="9680388"/>
            <a:ext cx="6971384" cy="622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dirty="0"/>
              <a:t>UNIVERSITAS</a:t>
            </a:r>
            <a:r>
              <a:rPr b="1" dirty="0"/>
              <a:t> BINA NUSANTARA</a:t>
            </a:r>
          </a:p>
        </p:txBody>
      </p:sp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8706308" y="9680388"/>
            <a:ext cx="6971384" cy="622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dirty="0"/>
              <a:t>UNIVERSITAS</a:t>
            </a:r>
            <a:r>
              <a:rPr b="1" dirty="0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Prese</a:t>
            </a:r>
            <a:r>
              <a:rPr lang="en-ID" dirty="0"/>
              <a:t>n</a:t>
            </a:r>
            <a:r>
              <a:rPr dirty="0" err="1"/>
              <a:t>tation</a:t>
            </a:r>
            <a:r>
              <a:rPr dirty="0"/>
              <a:t> Title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3DCB9E1-9FF7-C612-AB16-FF67078783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3" name="UNIVERSITAS BINA NUSANTARA">
            <a:extLst>
              <a:ext uri="{FF2B5EF4-FFF2-40B4-BE49-F238E27FC236}">
                <a16:creationId xmlns:a16="http://schemas.microsoft.com/office/drawing/2014/main" id="{76287026-42FF-418F-A536-8F52F4949E8D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</p:spTree>
    <p:extLst>
      <p:ext uri="{BB962C8B-B14F-4D97-AF65-F5344CB8AC3E}">
        <p14:creationId xmlns:p14="http://schemas.microsoft.com/office/powerpoint/2010/main" val="500318571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pic>
        <p:nvPicPr>
          <p:cNvPr id="6" name="Image" descr="Image">
            <a:extLst>
              <a:ext uri="{FF2B5EF4-FFF2-40B4-BE49-F238E27FC236}">
                <a16:creationId xmlns:a16="http://schemas.microsoft.com/office/drawing/2014/main" id="{BBEE18F9-7EE5-444F-AA57-68A6783A522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8262084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039E3D91-9575-7645-A4DA-1857555C3973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342E0CAD-6F4A-B446-A399-7F1EC0FA30B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821208626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9B58D5CA-1AEF-754B-9F74-AE29F8DD61D5}"/>
              </a:ext>
            </a:extLst>
          </p:cNvPr>
          <p:cNvSpPr/>
          <p:nvPr userDrawn="1"/>
        </p:nvSpPr>
        <p:spPr>
          <a:xfrm>
            <a:off x="-1" y="0"/>
            <a:ext cx="24384001" cy="13716000"/>
          </a:xfrm>
          <a:prstGeom prst="rect">
            <a:avLst/>
          </a:prstGeom>
          <a:gradFill>
            <a:gsLst>
              <a:gs pos="0">
                <a:srgbClr val="F89620"/>
              </a:gs>
              <a:gs pos="100000">
                <a:srgbClr val="FFB03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342E0CAD-6F4A-B446-A399-7F1EC0FA30B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4029905156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D74DB4AE-0419-BC41-9D4A-DC2FB6ABAE92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342E0CAD-6F4A-B446-A399-7F1EC0FA30B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488882905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5C668086-F712-8640-8B8D-2424E50E003F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342E0CAD-6F4A-B446-A399-7F1EC0FA30B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207302220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B6B9E9EC-92F4-2943-BCEE-A17DD1A638A8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315094"/>
              </a:gs>
              <a:gs pos="100000">
                <a:srgbClr val="293C6E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342E0CAD-6F4A-B446-A399-7F1EC0FA30B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512683092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3B0134B8-92DD-5A47-83ED-ED2B1DC0A2FA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797979"/>
              </a:gs>
              <a:gs pos="100000">
                <a:srgbClr val="A9A9A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342E0CAD-6F4A-B446-A399-7F1EC0FA30B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579463584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6AB40C6-E41E-9F54-5391-1B969D0CD911}"/>
              </a:ext>
            </a:extLst>
          </p:cNvPr>
          <p:cNvSpPr/>
          <p:nvPr userDrawn="1"/>
        </p:nvSpPr>
        <p:spPr>
          <a:xfrm>
            <a:off x="6181816" y="4686855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80221CE-1DAF-B881-9928-5F7152658A68}"/>
              </a:ext>
            </a:extLst>
          </p:cNvPr>
          <p:cNvSpPr/>
          <p:nvPr userDrawn="1"/>
        </p:nvSpPr>
        <p:spPr>
          <a:xfrm>
            <a:off x="2167377" y="4686855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769ADC5F-7856-93FC-73B6-D0FD6CF171F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51814" y="4995800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00A99FD3-8026-DED8-6415-E6F86A722F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54063" y="4995800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247E1DC-6698-D91F-6E0F-EE6AA5A0EE44}"/>
              </a:ext>
            </a:extLst>
          </p:cNvPr>
          <p:cNvSpPr/>
          <p:nvPr userDrawn="1"/>
        </p:nvSpPr>
        <p:spPr>
          <a:xfrm>
            <a:off x="6181816" y="7440664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4546BDD-E691-E2BA-47E5-B549A7229C89}"/>
              </a:ext>
            </a:extLst>
          </p:cNvPr>
          <p:cNvSpPr/>
          <p:nvPr userDrawn="1"/>
        </p:nvSpPr>
        <p:spPr>
          <a:xfrm>
            <a:off x="2167377" y="7440664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60AF2BE-EDAA-B7C2-8580-AB1ACF70EF3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051814" y="7749609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0EC36AFE-3A01-B3EC-7E28-B8F97B9003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54063" y="7749609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E84B4FD-950C-7E7E-B32E-0106A01D53C4}"/>
              </a:ext>
            </a:extLst>
          </p:cNvPr>
          <p:cNvSpPr/>
          <p:nvPr userDrawn="1"/>
        </p:nvSpPr>
        <p:spPr>
          <a:xfrm>
            <a:off x="6181816" y="10194473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B266147-1D67-88E4-9FE7-F833346E464A}"/>
              </a:ext>
            </a:extLst>
          </p:cNvPr>
          <p:cNvSpPr/>
          <p:nvPr userDrawn="1"/>
        </p:nvSpPr>
        <p:spPr>
          <a:xfrm>
            <a:off x="2167377" y="10194473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6248EF39-489B-0AB6-1C39-97964F6585C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051814" y="10503418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E37917F2-61C0-8B23-0D87-2AA3EEB8377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54063" y="10503418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7" name="Title 2">
            <a:extLst>
              <a:ext uri="{FF2B5EF4-FFF2-40B4-BE49-F238E27FC236}">
                <a16:creationId xmlns:a16="http://schemas.microsoft.com/office/drawing/2014/main" id="{3F0C4EB7-81AE-6D10-33F3-83A99AC2F3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043113C8-679B-440C-38CF-27CC1A6FF3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</p:spTree>
    <p:extLst>
      <p:ext uri="{BB962C8B-B14F-4D97-AF65-F5344CB8AC3E}">
        <p14:creationId xmlns:p14="http://schemas.microsoft.com/office/powerpoint/2010/main" val="3998102712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">
            <a:extLst>
              <a:ext uri="{FF2B5EF4-FFF2-40B4-BE49-F238E27FC236}">
                <a16:creationId xmlns:a16="http://schemas.microsoft.com/office/drawing/2014/main" id="{5B500D99-BCA8-5A47-AC2D-7A5DFB585C9A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04" name="Content Placeholder 7">
            <a:extLst>
              <a:ext uri="{FF2B5EF4-FFF2-40B4-BE49-F238E27FC236}">
                <a16:creationId xmlns:a16="http://schemas.microsoft.com/office/drawing/2014/main" id="{A238D5AC-1068-5240-9AFA-91BA1250D94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86930" y="5334432"/>
            <a:ext cx="13714940" cy="4522264"/>
          </a:xfrm>
        </p:spPr>
        <p:txBody>
          <a:bodyPr>
            <a:normAutofit/>
          </a:bodyPr>
          <a:lstStyle>
            <a:lvl1pPr marL="266700" indent="-2667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indent="-280988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indent="-250825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indent="-309563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indent="-2794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34051035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D2A636C9-947E-150D-EB07-22919761FA60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16737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405342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64330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3A552A97-F867-374E-B40D-BD84D808047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Picture Placeholder 3">
            <a:extLst>
              <a:ext uri="{FF2B5EF4-FFF2-40B4-BE49-F238E27FC236}">
                <a16:creationId xmlns:a16="http://schemas.microsoft.com/office/drawing/2014/main" id="{DB283EA2-01A0-334D-8038-2E3190C1B2B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405342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B5710E30-F50B-2E47-A284-AB9A73F6AB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64330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5189200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3A325C97-8FC1-69A4-76A6-9BFCCE62D08F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8F28C692-0EE9-7D99-17B4-3313049F0A01}"/>
              </a:ext>
            </a:extLst>
          </p:cNvPr>
          <p:cNvSpPr/>
          <p:nvPr userDrawn="1"/>
        </p:nvSpPr>
        <p:spPr>
          <a:xfrm>
            <a:off x="7398337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1B89336-F494-2062-ED79-0A44623AD4C4}"/>
              </a:ext>
            </a:extLst>
          </p:cNvPr>
          <p:cNvSpPr/>
          <p:nvPr userDrawn="1"/>
        </p:nvSpPr>
        <p:spPr>
          <a:xfrm>
            <a:off x="2167377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594247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51AEE51-4476-0347-EE71-4727AC7D90CC}"/>
              </a:ext>
            </a:extLst>
          </p:cNvPr>
          <p:cNvSpPr/>
          <p:nvPr userDrawn="1"/>
        </p:nvSpPr>
        <p:spPr>
          <a:xfrm>
            <a:off x="9278138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8DF8073-7CBE-78F8-385D-33EC70507F81}"/>
              </a:ext>
            </a:extLst>
          </p:cNvPr>
          <p:cNvSpPr/>
          <p:nvPr userDrawn="1"/>
        </p:nvSpPr>
        <p:spPr>
          <a:xfrm>
            <a:off x="16388899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5D06E93C-E9EF-DAD7-BDE3-8DDAB05CDF9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719708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AB64C3FA-E7EC-73CE-DEC9-E0D1DACCC9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882946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1B745795-7EE3-42BF-EDBE-49D4FAD835F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349891" y="10445295"/>
            <a:ext cx="19038148" cy="1701954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Right Arrow 32">
            <a:extLst>
              <a:ext uri="{FF2B5EF4-FFF2-40B4-BE49-F238E27FC236}">
                <a16:creationId xmlns:a16="http://schemas.microsoft.com/office/drawing/2014/main" id="{0AE76436-839B-BF36-E19E-893653562EA3}"/>
              </a:ext>
            </a:extLst>
          </p:cNvPr>
          <p:cNvSpPr/>
          <p:nvPr userDrawn="1"/>
        </p:nvSpPr>
        <p:spPr>
          <a:xfrm>
            <a:off x="14509098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CFF0438-821D-3C18-6D61-1BD73A4DC167}"/>
              </a:ext>
            </a:extLst>
          </p:cNvPr>
          <p:cNvSpPr/>
          <p:nvPr userDrawn="1"/>
        </p:nvSpPr>
        <p:spPr>
          <a:xfrm>
            <a:off x="4241849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BC35716-81E4-A54F-3272-89DAA37CF79D}"/>
              </a:ext>
            </a:extLst>
          </p:cNvPr>
          <p:cNvSpPr/>
          <p:nvPr userDrawn="1"/>
        </p:nvSpPr>
        <p:spPr>
          <a:xfrm>
            <a:off x="11279661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2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D587B62-738C-1BE8-E775-FC6EC9D2556E}"/>
              </a:ext>
            </a:extLst>
          </p:cNvPr>
          <p:cNvSpPr/>
          <p:nvPr userDrawn="1"/>
        </p:nvSpPr>
        <p:spPr>
          <a:xfrm>
            <a:off x="18463370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809284995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95F33489-AE64-A520-339D-37FA55DCDDCD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167377" y="6556917"/>
            <a:ext cx="9768906" cy="557561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199BEEEC-0D44-544B-A30D-8F854BF4A1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339930" y="4210629"/>
            <a:ext cx="9099057" cy="7921898"/>
          </a:xfrm>
        </p:spPr>
        <p:txBody>
          <a:bodyPr/>
          <a:lstStyle>
            <a:lvl1pPr marL="0" indent="0">
              <a:buNone/>
              <a:defRPr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13C6146-DC72-7FB3-6375-B120A24C107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66938" y="4210049"/>
            <a:ext cx="9768874" cy="2039112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085329813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28F252AD-5DE4-7070-6059-31CB6E8E15CC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Or 3">
            <a:extLst>
              <a:ext uri="{FF2B5EF4-FFF2-40B4-BE49-F238E27FC236}">
                <a16:creationId xmlns:a16="http://schemas.microsoft.com/office/drawing/2014/main" id="{E68A1B27-C10C-399D-6C52-E0B8F062FF6D}"/>
              </a:ext>
            </a:extLst>
          </p:cNvPr>
          <p:cNvSpPr/>
          <p:nvPr userDrawn="1"/>
        </p:nvSpPr>
        <p:spPr>
          <a:xfrm>
            <a:off x="7481303" y="3712458"/>
            <a:ext cx="9144000" cy="9144000"/>
          </a:xfrm>
          <a:prstGeom prst="flowChartOr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AE1FE12-D6E7-CC76-3FE4-BC8F0EC78DF0}"/>
              </a:ext>
            </a:extLst>
          </p:cNvPr>
          <p:cNvCxnSpPr>
            <a:cxnSpLocks/>
            <a:stCxn id="4" idx="0"/>
          </p:cNvCxnSpPr>
          <p:nvPr userDrawn="1"/>
        </p:nvCxnSpPr>
        <p:spPr>
          <a:xfrm>
            <a:off x="12053303" y="3712458"/>
            <a:ext cx="22098" cy="914400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945EE12-0322-D3C6-8589-1B9554503365}"/>
              </a:ext>
            </a:extLst>
          </p:cNvPr>
          <p:cNvCxnSpPr>
            <a:cxnSpLocks/>
            <a:endCxn id="4" idx="2"/>
          </p:cNvCxnSpPr>
          <p:nvPr userDrawn="1"/>
        </p:nvCxnSpPr>
        <p:spPr>
          <a:xfrm flipH="1">
            <a:off x="7481303" y="8284458"/>
            <a:ext cx="9144000" cy="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9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5" name="Text Placeholder 15">
            <a:extLst>
              <a:ext uri="{FF2B5EF4-FFF2-40B4-BE49-F238E27FC236}">
                <a16:creationId xmlns:a16="http://schemas.microsoft.com/office/drawing/2014/main" id="{FC4F9637-2BA1-E3F7-1599-2295EF076CC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56949" y="7294814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7270689-CD03-86EE-AD4E-701F61CD37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56949" y="8617313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B5939A4B-8504-2C32-E90E-9DA4843EF0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365741" y="7298299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9" name="Text Placeholder 15">
            <a:extLst>
              <a:ext uri="{FF2B5EF4-FFF2-40B4-BE49-F238E27FC236}">
                <a16:creationId xmlns:a16="http://schemas.microsoft.com/office/drawing/2014/main" id="{44D6C0A8-7DC7-6F84-E472-8E0CA423C5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427997" y="8595891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9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6ADBE3FB-D313-E2BC-715C-D8600CF8BD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255744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2" name="Text Placeholder 15">
            <a:extLst>
              <a:ext uri="{FF2B5EF4-FFF2-40B4-BE49-F238E27FC236}">
                <a16:creationId xmlns:a16="http://schemas.microsoft.com/office/drawing/2014/main" id="{A79FD328-17AF-2BB2-5730-3D5CA0EE97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255744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20" name="Graphic 19" descr="Artificial Intelligence with solid fill">
            <a:extLst>
              <a:ext uri="{FF2B5EF4-FFF2-40B4-BE49-F238E27FC236}">
                <a16:creationId xmlns:a16="http://schemas.microsoft.com/office/drawing/2014/main" id="{717E632E-7C2D-8BE2-BA0D-FBA56ED592A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28162" y="4999921"/>
            <a:ext cx="1936946" cy="1936946"/>
          </a:xfrm>
          <a:prstGeom prst="rect">
            <a:avLst/>
          </a:prstGeom>
        </p:spPr>
      </p:pic>
      <p:pic>
        <p:nvPicPr>
          <p:cNvPr id="22" name="Graphic 21" descr="Atom with solid fill">
            <a:extLst>
              <a:ext uri="{FF2B5EF4-FFF2-40B4-BE49-F238E27FC236}">
                <a16:creationId xmlns:a16="http://schemas.microsoft.com/office/drawing/2014/main" id="{CCE4C43E-15B3-15EB-CF11-EB3378A3CEF1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837038" y="4968699"/>
            <a:ext cx="1958731" cy="1958731"/>
          </a:xfrm>
          <a:prstGeom prst="rect">
            <a:avLst/>
          </a:prstGeom>
        </p:spPr>
      </p:pic>
      <p:pic>
        <p:nvPicPr>
          <p:cNvPr id="24" name="Graphic 23" descr="Bar chart with solid fill">
            <a:extLst>
              <a:ext uri="{FF2B5EF4-FFF2-40B4-BE49-F238E27FC236}">
                <a16:creationId xmlns:a16="http://schemas.microsoft.com/office/drawing/2014/main" id="{0445AAA4-0C9A-80AB-86CE-F91A16FFC29C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04135" y="9715514"/>
            <a:ext cx="1696410" cy="1696410"/>
          </a:xfrm>
          <a:prstGeom prst="rect">
            <a:avLst/>
          </a:prstGeom>
        </p:spPr>
      </p:pic>
      <p:pic>
        <p:nvPicPr>
          <p:cNvPr id="35" name="Graphic 34" descr="Blockchain with solid fill">
            <a:extLst>
              <a:ext uri="{FF2B5EF4-FFF2-40B4-BE49-F238E27FC236}">
                <a16:creationId xmlns:a16="http://schemas.microsoft.com/office/drawing/2014/main" id="{CB7D00AA-1C33-1508-6057-E10BDF964F0D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2837038" y="9711819"/>
            <a:ext cx="1700105" cy="1700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102926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55631E8-C878-10B3-37B6-B446CE8244F9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CRB" panose="020F0502020204030204" pitchFamily="34" charset="0"/>
              <a:ea typeface="Open Sans Light" pitchFamily="2" charset="0"/>
              <a:cs typeface="OCRB" panose="020F0502020204030204" pitchFamily="34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8" y="4349750"/>
            <a:ext cx="12097701" cy="3462458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8" y="8938684"/>
            <a:ext cx="19839621" cy="3676241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Graphic 4" descr="Checklist with solid fill">
            <a:extLst>
              <a:ext uri="{FF2B5EF4-FFF2-40B4-BE49-F238E27FC236}">
                <a16:creationId xmlns:a16="http://schemas.microsoft.com/office/drawing/2014/main" id="{EEEA3E7D-43D1-BB41-8C28-FEDBD7273D0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240000" y="4320116"/>
            <a:ext cx="3535680" cy="3535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040866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">
            <a:extLst>
              <a:ext uri="{FF2B5EF4-FFF2-40B4-BE49-F238E27FC236}">
                <a16:creationId xmlns:a16="http://schemas.microsoft.com/office/drawing/2014/main" id="{57D6C136-B186-B244-9E34-B1B3CC503956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176751" y="10942822"/>
            <a:ext cx="8523218" cy="1444847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684029" y="10972442"/>
            <a:ext cx="8523218" cy="1444848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3520A367-5826-4047-8F6E-21433679533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176751" y="4582010"/>
            <a:ext cx="8523218" cy="5555977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09A473F0-3B7E-704A-AA89-F4277FCB99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684029" y="4582010"/>
            <a:ext cx="8523218" cy="5577461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9245570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450F1BD6-0F15-C34E-9F74-50970B5378D2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64D80AC6-9CFD-09B5-1CEF-F695884CCD02}"/>
              </a:ext>
            </a:extLst>
          </p:cNvPr>
          <p:cNvSpPr>
            <a:spLocks noGrp="1"/>
          </p:cNvSpPr>
          <p:nvPr>
            <p:ph type="chart" sz="quarter" idx="11" hasCustomPrompt="1"/>
          </p:nvPr>
        </p:nvSpPr>
        <p:spPr>
          <a:xfrm>
            <a:off x="11460163" y="3962400"/>
            <a:ext cx="12118975" cy="9083675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insert chart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EA6CC15-DCB9-9ABD-A03B-8B586BD05B1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2075" y="3962399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Graphic 8" descr="Blockchain with solid fill">
            <a:extLst>
              <a:ext uri="{FF2B5EF4-FFF2-40B4-BE49-F238E27FC236}">
                <a16:creationId xmlns:a16="http://schemas.microsoft.com/office/drawing/2014/main" id="{C6F9FEE2-3F55-6EBA-4F92-F43ABD638BA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37047" y="3962400"/>
            <a:ext cx="1403522" cy="1403522"/>
          </a:xfrm>
          <a:prstGeom prst="rect">
            <a:avLst/>
          </a:prstGeom>
        </p:spPr>
      </p:pic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8597BD3B-4478-8A1D-BD26-1D9EFAA7FC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02075" y="8861383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 descr="Bullseye with solid fill">
            <a:extLst>
              <a:ext uri="{FF2B5EF4-FFF2-40B4-BE49-F238E27FC236}">
                <a16:creationId xmlns:a16="http://schemas.microsoft.com/office/drawing/2014/main" id="{D6B829BF-9E0D-0105-F75C-8DDD429EFC01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87110" y="8648744"/>
            <a:ext cx="1403521" cy="1403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012248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6D051288-6E3E-A95D-1377-4372C7DC1C4F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pic>
        <p:nvPicPr>
          <p:cNvPr id="7" name="Image" descr="Image">
            <a:extLst>
              <a:ext uri="{FF2B5EF4-FFF2-40B4-BE49-F238E27FC236}">
                <a16:creationId xmlns:a16="http://schemas.microsoft.com/office/drawing/2014/main" id="{13156DDE-55E0-C14A-879A-962B00D82A0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1016357" y="354127"/>
            <a:ext cx="2563550" cy="1083872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4D652F67-94A0-0840-AE16-55B87BEAF3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120517"/>
            <a:ext cx="9469197" cy="8568593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6A7F952E-8DC5-6A79-9AE3-813B3AE4D1F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47867" y="6462508"/>
            <a:ext cx="8024838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BA033C1D-E65C-08C9-F39B-80EFE57D65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747428" y="4115640"/>
            <a:ext cx="8024812" cy="1968425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134045232"/>
      </p:ext>
    </p:extLst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iz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ABE8965-C5C7-9C39-4D77-41321DCB42C7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152" name="Group"/>
          <p:cNvGrpSpPr/>
          <p:nvPr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49" name="Image" descr="Imag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0" name="Image" descr="Image"/>
            <p:cNvPicPr>
              <a:picLocks noChangeAspect="1"/>
            </p:cNvPicPr>
            <p:nvPr/>
          </p:nvPicPr>
          <p:blipFill>
            <a:blip r:embed="rId3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Image" descr="Image"/>
            <p:cNvPicPr>
              <a:picLocks noChangeAspect="1"/>
            </p:cNvPicPr>
            <p:nvPr/>
          </p:nvPicPr>
          <p:blipFill>
            <a:blip r:embed="rId3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ound Same Side Corner Rectangle 3">
            <a:extLst>
              <a:ext uri="{FF2B5EF4-FFF2-40B4-BE49-F238E27FC236}">
                <a16:creationId xmlns:a16="http://schemas.microsoft.com/office/drawing/2014/main" id="{FA29A0C7-63A9-37AE-C36E-28D29DB1FC0C}"/>
              </a:ext>
            </a:extLst>
          </p:cNvPr>
          <p:cNvSpPr/>
          <p:nvPr userDrawn="1"/>
        </p:nvSpPr>
        <p:spPr>
          <a:xfrm>
            <a:off x="2124334" y="5228017"/>
            <a:ext cx="7712393" cy="8605898"/>
          </a:xfrm>
          <a:prstGeom prst="round2SameRect">
            <a:avLst>
              <a:gd name="adj1" fmla="val 7123"/>
              <a:gd name="adj2" fmla="val 0"/>
            </a:avLst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00BFA553-2EAA-7D5D-66A4-3CB0B3039A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94247" y="7248019"/>
            <a:ext cx="6817382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Graphic 5" descr="Help with solid fill">
            <a:extLst>
              <a:ext uri="{FF2B5EF4-FFF2-40B4-BE49-F238E27FC236}">
                <a16:creationId xmlns:a16="http://schemas.microsoft.com/office/drawing/2014/main" id="{5BCC09F5-BEFD-455C-0F2F-F18D468EC78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94247" y="5468810"/>
            <a:ext cx="1427671" cy="1427671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A5EDB33-736C-0AA5-C7CD-BDFF535E7A9C}"/>
              </a:ext>
            </a:extLst>
          </p:cNvPr>
          <p:cNvSpPr/>
          <p:nvPr userDrawn="1"/>
        </p:nvSpPr>
        <p:spPr>
          <a:xfrm>
            <a:off x="11485756" y="5237573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A29247D-C253-CBDD-13EE-F16B85217807}"/>
              </a:ext>
            </a:extLst>
          </p:cNvPr>
          <p:cNvSpPr/>
          <p:nvPr userDrawn="1"/>
        </p:nvSpPr>
        <p:spPr>
          <a:xfrm>
            <a:off x="11485756" y="6937152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40D50B7-0BFF-E456-7675-C96913EC6D02}"/>
              </a:ext>
            </a:extLst>
          </p:cNvPr>
          <p:cNvSpPr/>
          <p:nvPr userDrawn="1"/>
        </p:nvSpPr>
        <p:spPr>
          <a:xfrm>
            <a:off x="11485756" y="8615938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4EB9AD0-97D9-EA55-1897-8E787ACA18AD}"/>
              </a:ext>
            </a:extLst>
          </p:cNvPr>
          <p:cNvSpPr/>
          <p:nvPr userDrawn="1"/>
        </p:nvSpPr>
        <p:spPr>
          <a:xfrm>
            <a:off x="11485756" y="10294724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FE4A142-7345-2F27-77AC-6B8D7F3BB8F0}"/>
              </a:ext>
            </a:extLst>
          </p:cNvPr>
          <p:cNvSpPr/>
          <p:nvPr userDrawn="1"/>
        </p:nvSpPr>
        <p:spPr>
          <a:xfrm>
            <a:off x="11485756" y="11973510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8ED258EB-0A79-0CC4-9AC5-E5BB65095D9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1936252" y="5437085"/>
            <a:ext cx="10801828" cy="647239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D7D34A3F-BE3B-171A-71BC-2F827D2C4C8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936252" y="7136664"/>
            <a:ext cx="10801828" cy="647239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3421587F-10AC-7EBE-6901-E1BA33DF8AE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936252" y="8815450"/>
            <a:ext cx="10801828" cy="647239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B1FF3B0B-6113-DB9F-2F3C-96810CE9016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936252" y="10494236"/>
            <a:ext cx="10801828" cy="647239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1B78CB5C-262B-068C-9251-A2C3C592CF4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936252" y="12173022"/>
            <a:ext cx="10801828" cy="647239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51361529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9823213" y="8366096"/>
            <a:ext cx="4727256" cy="3010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sz="2400" dirty="0"/>
              <a:t>UNIVERSITAS</a:t>
            </a:r>
            <a:r>
              <a:rPr sz="2400" b="1" dirty="0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pic>
        <p:nvPicPr>
          <p:cNvPr id="16" name="Image" descr="Image">
            <a:extLst>
              <a:ext uri="{FF2B5EF4-FFF2-40B4-BE49-F238E27FC236}">
                <a16:creationId xmlns:a16="http://schemas.microsoft.com/office/drawing/2014/main" id="{ED3AA748-6163-AF42-8BA4-5A505F8580B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THANK YOU message</a:t>
            </a:r>
            <a:endParaRPr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209878"/>
      </p:ext>
    </p:extLst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BE73ECD8-9761-904C-83FC-7C21B825FC86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9823213" y="8366096"/>
            <a:ext cx="4727256" cy="3010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sz="2400" dirty="0"/>
              <a:t>UNIVERSITAS</a:t>
            </a:r>
            <a:r>
              <a:rPr sz="2400" b="1" dirty="0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/>
              <a:t>THANK YOU message</a:t>
            </a:r>
            <a:endParaRPr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11" name="Image" descr="Image">
            <a:extLst>
              <a:ext uri="{FF2B5EF4-FFF2-40B4-BE49-F238E27FC236}">
                <a16:creationId xmlns:a16="http://schemas.microsoft.com/office/drawing/2014/main" id="{5C0CB95F-A575-6E40-8A77-71E4C3CE5D2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109941728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bullet text</a:t>
            </a:r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dirty="0"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89384" y="13076008"/>
            <a:ext cx="392736" cy="37959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1pPr>
          </a:lstStyle>
          <a:p>
            <a:fld id="{86CB4B4D-7CA3-9044-876B-883B54F8677D}" type="slidenum">
              <a:rPr lang="en-ID"/>
              <a:pPr/>
              <a:t>‹#›</a:t>
            </a:fld>
            <a:endParaRPr lang="en-ID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6" r:id="rId2"/>
    <p:sldLayoutId id="214748368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4" r:id="rId11"/>
    <p:sldLayoutId id="2147483667" r:id="rId12"/>
    <p:sldLayoutId id="2147483668" r:id="rId13"/>
    <p:sldLayoutId id="2147483685" r:id="rId14"/>
    <p:sldLayoutId id="2147483669" r:id="rId15"/>
    <p:sldLayoutId id="2147483683" r:id="rId16"/>
    <p:sldLayoutId id="2147483688" r:id="rId17"/>
    <p:sldLayoutId id="2147483670" r:id="rId18"/>
    <p:sldLayoutId id="2147483687" r:id="rId19"/>
    <p:sldLayoutId id="2147483671" r:id="rId20"/>
    <p:sldLayoutId id="2147483686" r:id="rId21"/>
    <p:sldLayoutId id="2147483680" r:id="rId22"/>
    <p:sldLayoutId id="2147483681" r:id="rId23"/>
  </p:sldLayoutIdLst>
  <p:transition spd="med"/>
  <p:txStyles>
    <p:titleStyle>
      <a:lvl1pPr marL="0" marR="0" indent="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Open Sans ExtraBold" panose="020B0606030504020204" pitchFamily="34" charset="0"/>
          <a:ea typeface="Open Sans ExtraBold" panose="020B0606030504020204" pitchFamily="34" charset="0"/>
          <a:cs typeface="Open Sans ExtraBold" panose="020B0606030504020204" pitchFamily="34" charset="0"/>
          <a:sym typeface="Helvetica Neue"/>
        </a:defRPr>
      </a:lvl1pPr>
      <a:lvl2pPr marL="0" marR="0" indent="457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1pPr>
      <a:lvl2pPr marL="1219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2pPr>
      <a:lvl3pPr marL="1828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3pPr>
      <a:lvl4pPr marL="2438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4pPr>
      <a:lvl5pPr marL="30480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5pPr>
      <a:lvl6pPr marL="3657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jpeg"/><Relationship Id="rId4" Type="http://schemas.openxmlformats.org/officeDocument/2006/relationships/image" Target="../media/image29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A264C53-F38A-3CAD-0C8A-2BF46116F396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en-US" dirty="0"/>
              <a:t>COMP6100001 - Software engineering</a:t>
            </a:r>
          </a:p>
          <a:p>
            <a:r>
              <a:rPr lang="en-US" dirty="0"/>
              <a:t>Session 23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220BAB2-790F-F74A-024A-FC22D1A3E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z="9600" b="1" dirty="0">
                <a:solidFill>
                  <a:schemeClr val="bg1"/>
                </a:solidFill>
              </a:rPr>
              <a:t>Metrics and Measurement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9B89E2-412C-8945-F692-CD51460D980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Kenny Jingga, </a:t>
            </a:r>
            <a:r>
              <a:rPr lang="en-US" dirty="0" err="1"/>
              <a:t>S.Kom</a:t>
            </a:r>
            <a:r>
              <a:rPr lang="en-US" dirty="0"/>
              <a:t>., M.T.</a:t>
            </a:r>
          </a:p>
        </p:txBody>
      </p:sp>
    </p:spTree>
    <p:extLst>
      <p:ext uri="{BB962C8B-B14F-4D97-AF65-F5344CB8AC3E}">
        <p14:creationId xmlns:p14="http://schemas.microsoft.com/office/powerpoint/2010/main" val="3487223446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F52CD-EA76-003A-7192-0E9167BA3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Session 23 – Metrics and Measurement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46449C-CB2F-5E63-F63C-D4BAFF341D2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Learning objectives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E358E3-B24E-F7A5-ECF8-12101774A9E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5334432"/>
            <a:ext cx="20711673" cy="4522264"/>
          </a:xfrm>
        </p:spPr>
        <p:txBody>
          <a:bodyPr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GB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At the end of this session, students will be expected to be able to:</a:t>
            </a:r>
          </a:p>
          <a:p>
            <a:r>
              <a:rPr lang="en-GB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Explain the importance of measurement and metrics in Software Engineering</a:t>
            </a:r>
          </a:p>
          <a:p>
            <a:r>
              <a:rPr lang="en-GB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Provide examples of metrics for software qualities and process</a:t>
            </a:r>
          </a:p>
          <a:p>
            <a:r>
              <a:rPr lang="en-GB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Apply goal-based frameworks for decision making using metrics</a:t>
            </a:r>
          </a:p>
          <a:p>
            <a:r>
              <a:rPr lang="en-GB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Identify the limitations and dangers of decisions and incentives based on measurements</a:t>
            </a:r>
          </a:p>
        </p:txBody>
      </p:sp>
    </p:spTree>
    <p:extLst>
      <p:ext uri="{BB962C8B-B14F-4D97-AF65-F5344CB8AC3E}">
        <p14:creationId xmlns:p14="http://schemas.microsoft.com/office/powerpoint/2010/main" val="3855785854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F52CD-EA76-003A-7192-0E9167BA3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Session 23 </a:t>
            </a:r>
            <a:r>
              <a:rPr lang="en-US" dirty="0"/>
              <a:t>– Metrics and Measurement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46449C-CB2F-5E63-F63C-D4BAFF341D2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Content outline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E358E3-B24E-F7A5-ECF8-12101774A9E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711673" cy="10455337"/>
          </a:xfrm>
        </p:spPr>
        <p:txBody>
          <a:bodyPr anchor="ctr">
            <a:normAutofit/>
          </a:bodyPr>
          <a:lstStyle/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Measurements and Metrics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How to Use Measurements and Metrics?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Risks and Challenges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Metrics and Incentives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Case Study: Autonomous Vehicle Software</a:t>
            </a:r>
          </a:p>
        </p:txBody>
      </p:sp>
    </p:spTree>
    <p:extLst>
      <p:ext uri="{BB962C8B-B14F-4D97-AF65-F5344CB8AC3E}">
        <p14:creationId xmlns:p14="http://schemas.microsoft.com/office/powerpoint/2010/main" val="481981883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/>
              <a:t>What is Measurement?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Measurement in everyday life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295058" cy="8583279"/>
          </a:xfrm>
        </p:spPr>
        <p:txBody>
          <a:bodyPr anchor="ctr">
            <a:normAutofit/>
          </a:bodyPr>
          <a:lstStyle/>
          <a:p>
            <a:pPr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Economics</a:t>
            </a:r>
          </a:p>
          <a:p>
            <a:pPr lvl="1"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Price, Inflation Rate, Stock Price, Volume</a:t>
            </a:r>
          </a:p>
          <a:p>
            <a:pPr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Medicine</a:t>
            </a:r>
          </a:p>
          <a:p>
            <a:pPr lvl="1"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Heart Rate, Blood Pressure, Body Temperature, ECG</a:t>
            </a:r>
          </a:p>
          <a:p>
            <a:pPr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Engineering</a:t>
            </a:r>
          </a:p>
          <a:p>
            <a:pPr lvl="1"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Force, Torque, Heat Transfer Coefficient, Thermal Efficiency</a:t>
            </a:r>
          </a:p>
          <a:p>
            <a:pPr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Natural Sciences</a:t>
            </a:r>
          </a:p>
          <a:p>
            <a:pPr lvl="1"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AQI, Carbon Footprint, Soil pH</a:t>
            </a:r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41AA0457-29A2-7F02-2A8D-E92BC460DB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82946" y="5133922"/>
            <a:ext cx="6877922" cy="3448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7369970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CD4DE-44E2-075B-0BDB-A79F40180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cap="none" dirty="0"/>
              <a:t>”To measure is to know; </a:t>
            </a:r>
            <a:br>
              <a:rPr lang="en-US" cap="none" dirty="0"/>
            </a:br>
            <a:r>
              <a:rPr lang="en-US" b="1" u="sng" cap="none" dirty="0"/>
              <a:t>if you cannot measure it</a:t>
            </a:r>
            <a:r>
              <a:rPr lang="en-US" cap="none" dirty="0"/>
              <a:t>, you cannot improve it”</a:t>
            </a:r>
            <a:br>
              <a:rPr lang="en-US" cap="none" dirty="0"/>
            </a:br>
            <a:br>
              <a:rPr lang="en-US" cap="none" dirty="0"/>
            </a:br>
            <a:r>
              <a:rPr lang="en-US" sz="7200" cap="none" dirty="0"/>
              <a:t>- William Thomson, Lord Kelvin</a:t>
            </a:r>
            <a:endParaRPr lang="en-US" cap="none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9945578-94D4-630A-FDBF-99B9F8A5D1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4894" y="9592587"/>
            <a:ext cx="5720195" cy="37135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D928659-42FD-1FC5-8A27-65ACD1F601DF}"/>
                  </a:ext>
                </a:extLst>
              </p:cNvPr>
              <p:cNvSpPr txBox="1"/>
              <p:nvPr/>
            </p:nvSpPr>
            <p:spPr>
              <a:xfrm>
                <a:off x="12566071" y="10570018"/>
                <a:ext cx="8657242" cy="175868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0" tIns="0" rIns="0" bIns="0" numCol="1" spcCol="38100" rtlCol="0" anchor="ctr">
                <a:spAutoFit/>
              </a:bodyPr>
              <a:lstStyle/>
              <a:p>
                <a:pPr marL="0" marR="0" indent="0" algn="ctr" defTabSz="2438338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6000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FillTx/>
                          <a:latin typeface="Cambria Math" panose="02040503050406030204" pitchFamily="18" charset="0"/>
                          <a:sym typeface="Helvetica Neue"/>
                        </a:rPr>
                        <m:t>𝐾</m:t>
                      </m:r>
                      <m:r>
                        <a:rPr kumimoji="0" lang="en-US" sz="6000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FillTx/>
                          <a:latin typeface="Cambria Math" panose="02040503050406030204" pitchFamily="18" charset="0"/>
                          <a:sym typeface="Helvetica Neue"/>
                        </a:rPr>
                        <m:t>= </m:t>
                      </m:r>
                      <m:f>
                        <m:fPr>
                          <m:ctrlPr>
                            <a:rPr kumimoji="0" lang="en-US" sz="6000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sym typeface="Helvetica Neue"/>
                            </a:rPr>
                          </m:ctrlPr>
                        </m:fPr>
                        <m:num>
                          <m:r>
                            <a:rPr kumimoji="0" lang="en-US" sz="6000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sym typeface="Helvetica Neue"/>
                            </a:rPr>
                            <m:t>5(</m:t>
                          </m:r>
                          <m:r>
                            <a:rPr kumimoji="0" lang="en-US" sz="6000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sym typeface="Helvetica Neue"/>
                            </a:rPr>
                            <m:t>𝐹</m:t>
                          </m:r>
                          <m:r>
                            <a:rPr kumimoji="0" lang="en-US" sz="6000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sym typeface="Helvetica Neue"/>
                            </a:rPr>
                            <m:t>−32)</m:t>
                          </m:r>
                        </m:num>
                        <m:den>
                          <m:r>
                            <a:rPr kumimoji="0" lang="en-US" sz="6000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sym typeface="Helvetica Neue"/>
                            </a:rPr>
                            <m:t>9</m:t>
                          </m:r>
                        </m:den>
                      </m:f>
                      <m:r>
                        <a:rPr kumimoji="0" lang="en-US" sz="6000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FillTx/>
                          <a:latin typeface="Cambria Math" panose="02040503050406030204" pitchFamily="18" charset="0"/>
                          <a:sym typeface="Helvetica Neue"/>
                        </a:rPr>
                        <m:t>+273.15 </m:t>
                      </m:r>
                    </m:oMath>
                  </m:oMathPara>
                </a14:m>
                <a:endParaRPr kumimoji="0" lang="en-US" sz="6000" u="none" strike="noStrike" cap="none" spc="0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  <a:sym typeface="Helvetica Neue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D928659-42FD-1FC5-8A27-65ACD1F601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66071" y="10570018"/>
                <a:ext cx="8657242" cy="1758687"/>
              </a:xfrm>
              <a:prstGeom prst="rect">
                <a:avLst/>
              </a:prstGeom>
              <a:blipFill>
                <a:blip r:embed="rId3"/>
                <a:stretch>
                  <a:fillRect l="-2489" t="-2878" r="-1464" b="-14388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15160136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60849-AF49-6744-1B9B-DACDEDFBC7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6498" y="3742459"/>
            <a:ext cx="21971004" cy="6231082"/>
          </a:xfrm>
        </p:spPr>
        <p:txBody>
          <a:bodyPr>
            <a:normAutofit/>
          </a:bodyPr>
          <a:lstStyle/>
          <a:p>
            <a:r>
              <a:rPr lang="en-US" sz="9600" cap="none" dirty="0"/>
              <a:t>Software Engineering: Principles, practices (technical and non-technical) for confidently building </a:t>
            </a:r>
            <a:r>
              <a:rPr lang="en-US" sz="9600" b="1" u="sng" cap="none" dirty="0"/>
              <a:t>high-quality</a:t>
            </a:r>
            <a:r>
              <a:rPr lang="en-US" sz="9600" cap="none" dirty="0"/>
              <a:t> software.</a:t>
            </a:r>
          </a:p>
        </p:txBody>
      </p:sp>
      <p:sp>
        <p:nvSpPr>
          <p:cNvPr id="3" name="Rounded Rectangular Callout 2">
            <a:extLst>
              <a:ext uri="{FF2B5EF4-FFF2-40B4-BE49-F238E27FC236}">
                <a16:creationId xmlns:a16="http://schemas.microsoft.com/office/drawing/2014/main" id="{F5691374-77D4-4B2E-7C47-4CF096B4486F}"/>
              </a:ext>
            </a:extLst>
          </p:cNvPr>
          <p:cNvSpPr/>
          <p:nvPr/>
        </p:nvSpPr>
        <p:spPr>
          <a:xfrm rot="10800000" flipH="1">
            <a:off x="6691745" y="9737749"/>
            <a:ext cx="6691745" cy="3240000"/>
          </a:xfrm>
          <a:prstGeom prst="wedgeRoundRectCallout">
            <a:avLst/>
          </a:prstGeom>
          <a:solidFill>
            <a:srgbClr val="314F93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Helvetica Neue Medium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0B3D40-124C-D021-2374-6379F5F7F03C}"/>
              </a:ext>
            </a:extLst>
          </p:cNvPr>
          <p:cNvSpPr txBox="1"/>
          <p:nvPr/>
        </p:nvSpPr>
        <p:spPr>
          <a:xfrm>
            <a:off x="7024539" y="9797391"/>
            <a:ext cx="6026158" cy="318035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rPr>
              <a:t>What does this mean? How do we know?</a:t>
            </a:r>
          </a:p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4000" i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Measurement </a:t>
            </a:r>
            <a:r>
              <a:rPr lang="en-US" sz="40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and metrics are </a:t>
            </a:r>
            <a:r>
              <a:rPr lang="en-US" sz="40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key</a:t>
            </a:r>
            <a:r>
              <a:rPr lang="en-US" sz="40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concerns.</a:t>
            </a:r>
            <a:endParaRPr kumimoji="0" lang="en-US" sz="4000" b="0" i="1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912844173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/>
              <a:t>What is Measurement?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295058" cy="8583279"/>
          </a:xfrm>
        </p:spPr>
        <p:txBody>
          <a:bodyPr anchor="ctr">
            <a:normAutofit/>
          </a:bodyPr>
          <a:lstStyle/>
          <a:p>
            <a:pPr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Measurement is the </a:t>
            </a: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empirical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objective assignment of numbers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according to a </a:t>
            </a: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rule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derived from a model or theory, to </a:t>
            </a: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attributes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of </a:t>
            </a: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objects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or </a:t>
            </a: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events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with the </a:t>
            </a: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intent of describing them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– </a:t>
            </a:r>
            <a:r>
              <a:rPr lang="en-US" sz="3600" dirty="0" err="1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Craner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Bond, “Software Engineering Metrics: What Do They Measure and How Do We Know?” </a:t>
            </a:r>
          </a:p>
          <a:p>
            <a:pPr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 </a:t>
            </a: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quantitatively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expressed reduction of uncertainty based on one or more observations</a:t>
            </a: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– Hubbard, “How to Measure Anything ...” </a:t>
            </a:r>
          </a:p>
        </p:txBody>
      </p:sp>
    </p:spTree>
    <p:extLst>
      <p:ext uri="{BB962C8B-B14F-4D97-AF65-F5344CB8AC3E}">
        <p14:creationId xmlns:p14="http://schemas.microsoft.com/office/powerpoint/2010/main" val="2643638529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/>
              <a:t>Software Quality Metrics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2082023" cy="840935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295058" cy="8583279"/>
          </a:xfrm>
        </p:spPr>
        <p:txBody>
          <a:bodyPr anchor="ctr">
            <a:normAutofit/>
          </a:bodyPr>
          <a:lstStyle/>
          <a:p>
            <a:pPr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IEEE 1061 definition: “A software quality metric is a function whose inputs are software data and whose output is a single numerical value that can be interpreted as the degree to which the software possesses a given attribute that affects its quality.” </a:t>
            </a:r>
          </a:p>
          <a:p>
            <a:pPr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Metrics have been proposed for many quality attributes; may define own metrics </a:t>
            </a:r>
          </a:p>
          <a:p>
            <a:pPr algn="just"/>
            <a:endParaRPr lang="en-US" sz="3600" dirty="0">
              <a:solidFill>
                <a:schemeClr val="bg2">
                  <a:lumMod val="1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FF51602-4057-345D-5887-FDAB5EE6B64A}"/>
              </a:ext>
            </a:extLst>
          </p:cNvPr>
          <p:cNvSpPr/>
          <p:nvPr/>
        </p:nvSpPr>
        <p:spPr>
          <a:xfrm>
            <a:off x="1039092" y="9136273"/>
            <a:ext cx="6774872" cy="2160000"/>
          </a:xfrm>
          <a:prstGeom prst="roundRect">
            <a:avLst/>
          </a:prstGeom>
          <a:solidFill>
            <a:schemeClr val="bg2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1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 Medium"/>
              </a:rPr>
              <a:t>Entity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E4295DC-A9E3-E0C5-70D3-7D43C80E98F5}"/>
              </a:ext>
            </a:extLst>
          </p:cNvPr>
          <p:cNvSpPr/>
          <p:nvPr/>
        </p:nvSpPr>
        <p:spPr>
          <a:xfrm>
            <a:off x="8240421" y="9136273"/>
            <a:ext cx="6774872" cy="2160000"/>
          </a:xfrm>
          <a:prstGeom prst="roundRect">
            <a:avLst/>
          </a:prstGeom>
          <a:solidFill>
            <a:schemeClr val="bg2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1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 Medium"/>
              </a:rPr>
              <a:t>Attribute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72F1796-3589-ACCA-0213-0876F19189E2}"/>
              </a:ext>
            </a:extLst>
          </p:cNvPr>
          <p:cNvSpPr/>
          <p:nvPr/>
        </p:nvSpPr>
        <p:spPr>
          <a:xfrm>
            <a:off x="15441751" y="9169455"/>
            <a:ext cx="6774872" cy="2160000"/>
          </a:xfrm>
          <a:prstGeom prst="roundRect">
            <a:avLst/>
          </a:prstGeom>
          <a:solidFill>
            <a:schemeClr val="bg2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1" i="0" u="none" strike="noStrike" cap="none" spc="0" normalizeH="0" baseline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 Medium"/>
              </a:rPr>
              <a:t>Measurement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93EAD2-0378-3FBC-EF9A-E458C55835EF}"/>
              </a:ext>
            </a:extLst>
          </p:cNvPr>
          <p:cNvSpPr txBox="1"/>
          <p:nvPr/>
        </p:nvSpPr>
        <p:spPr>
          <a:xfrm>
            <a:off x="2488497" y="11573978"/>
            <a:ext cx="3876061" cy="65659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Object or Process</a:t>
            </a:r>
            <a:endParaRPr kumimoji="0" lang="en-US" sz="3600" b="0" i="0" u="none" strike="noStrike" cap="none" spc="0" normalizeH="0" baseline="0" dirty="0">
              <a:ln>
                <a:noFill/>
              </a:ln>
              <a:solidFill>
                <a:schemeClr val="bg2">
                  <a:lumMod val="10000"/>
                </a:schemeClr>
              </a:solidFill>
              <a:effectLst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Helvetica Neue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933886-BDA0-CAD8-0AF7-45E160C5607D}"/>
              </a:ext>
            </a:extLst>
          </p:cNvPr>
          <p:cNvSpPr txBox="1"/>
          <p:nvPr/>
        </p:nvSpPr>
        <p:spPr>
          <a:xfrm>
            <a:off x="9640133" y="11573978"/>
            <a:ext cx="3975448" cy="65659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Quality of Interest</a:t>
            </a:r>
            <a:endParaRPr kumimoji="0" lang="en-US" sz="3600" b="0" i="0" u="none" strike="noStrike" cap="none" spc="0" normalizeH="0" baseline="0" dirty="0">
              <a:ln>
                <a:noFill/>
              </a:ln>
              <a:solidFill>
                <a:schemeClr val="bg2">
                  <a:lumMod val="10000"/>
                </a:schemeClr>
              </a:solidFill>
              <a:effectLst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Helvetica Neue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699574-D39A-CE1E-2693-4C7CC16C90DB}"/>
              </a:ext>
            </a:extLst>
          </p:cNvPr>
          <p:cNvSpPr txBox="1"/>
          <p:nvPr/>
        </p:nvSpPr>
        <p:spPr>
          <a:xfrm>
            <a:off x="15441750" y="11573978"/>
            <a:ext cx="6774874" cy="12105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Method to obtain a number or a symbol</a:t>
            </a:r>
            <a:endParaRPr kumimoji="0" lang="en-US" sz="3600" b="0" i="0" u="none" strike="noStrike" cap="none" spc="0" normalizeH="0" baseline="0" dirty="0">
              <a:ln>
                <a:noFill/>
              </a:ln>
              <a:solidFill>
                <a:schemeClr val="bg2">
                  <a:lumMod val="10000"/>
                </a:schemeClr>
              </a:solidFill>
              <a:effectLst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010131024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/>
              <a:t>Software Quality Metrics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2082023" cy="840935"/>
          </a:xfrm>
        </p:spPr>
        <p:txBody>
          <a:bodyPr>
            <a:normAutofit/>
          </a:bodyPr>
          <a:lstStyle/>
          <a:p>
            <a:r>
              <a:rPr lang="en-US" dirty="0"/>
              <a:t>What entities to we care about? (Examples)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295058" cy="8583279"/>
          </a:xfrm>
        </p:spPr>
        <p:txBody>
          <a:bodyPr anchor="ctr">
            <a:normAutofit/>
          </a:bodyPr>
          <a:lstStyle/>
          <a:p>
            <a:pPr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Software Product</a:t>
            </a:r>
          </a:p>
          <a:p>
            <a:pPr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Modules</a:t>
            </a:r>
          </a:p>
          <a:p>
            <a:pPr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Software Development Process</a:t>
            </a:r>
          </a:p>
          <a:p>
            <a:pPr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People</a:t>
            </a:r>
          </a:p>
        </p:txBody>
      </p:sp>
    </p:spTree>
    <p:extLst>
      <p:ext uri="{BB962C8B-B14F-4D97-AF65-F5344CB8AC3E}">
        <p14:creationId xmlns:p14="http://schemas.microsoft.com/office/powerpoint/2010/main" val="3519959767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/>
              <a:t>Software Quality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3834623" cy="840936"/>
          </a:xfrm>
        </p:spPr>
        <p:txBody>
          <a:bodyPr>
            <a:normAutofit/>
          </a:bodyPr>
          <a:lstStyle/>
          <a:p>
            <a:r>
              <a:rPr lang="en-US" dirty="0"/>
              <a:t>What Software Qualities do We Care About? (Examples)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295058" cy="8583279"/>
          </a:xfrm>
        </p:spPr>
        <p:txBody>
          <a:bodyPr anchor="ctr">
            <a:normAutofit/>
          </a:bodyPr>
          <a:lstStyle/>
          <a:p>
            <a:pPr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Functionality (e.g., data integrity)</a:t>
            </a:r>
          </a:p>
          <a:p>
            <a:pPr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Scalability</a:t>
            </a:r>
          </a:p>
          <a:p>
            <a:pPr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Security</a:t>
            </a:r>
          </a:p>
          <a:p>
            <a:pPr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Extensibility</a:t>
            </a:r>
          </a:p>
          <a:p>
            <a:pPr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Bugginess</a:t>
            </a:r>
          </a:p>
          <a:p>
            <a:pPr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Documentation</a:t>
            </a:r>
          </a:p>
          <a:p>
            <a:pPr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Performance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5AE6EC51-1880-866F-2395-CCDC95C643B1}"/>
              </a:ext>
            </a:extLst>
          </p:cNvPr>
          <p:cNvSpPr txBox="1">
            <a:spLocks/>
          </p:cNvSpPr>
          <p:nvPr/>
        </p:nvSpPr>
        <p:spPr>
          <a:xfrm>
            <a:off x="12192000" y="3206625"/>
            <a:ext cx="10422835" cy="85832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algn="just"/>
            <a:r>
              <a:rPr lang="en-ID" sz="3600" dirty="0" err="1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Installability</a:t>
            </a:r>
            <a:endParaRPr lang="en-ID" sz="3600" dirty="0">
              <a:solidFill>
                <a:schemeClr val="bg2">
                  <a:lumMod val="1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just"/>
            <a:r>
              <a:rPr lang="en-ID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Availability</a:t>
            </a:r>
          </a:p>
          <a:p>
            <a:pPr algn="just"/>
            <a:r>
              <a:rPr lang="en-ID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Consistency</a:t>
            </a:r>
          </a:p>
          <a:p>
            <a:pPr algn="just"/>
            <a:r>
              <a:rPr lang="en-ID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Portability</a:t>
            </a:r>
          </a:p>
          <a:p>
            <a:pPr algn="just"/>
            <a:r>
              <a:rPr lang="en-ID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Regulatory Compliance</a:t>
            </a:r>
          </a:p>
        </p:txBody>
      </p:sp>
    </p:spTree>
    <p:extLst>
      <p:ext uri="{BB962C8B-B14F-4D97-AF65-F5344CB8AC3E}">
        <p14:creationId xmlns:p14="http://schemas.microsoft.com/office/powerpoint/2010/main" val="3557875546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/>
              <a:t>Process Quality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4042441" cy="840936"/>
          </a:xfrm>
        </p:spPr>
        <p:txBody>
          <a:bodyPr>
            <a:normAutofit/>
          </a:bodyPr>
          <a:lstStyle/>
          <a:p>
            <a:r>
              <a:rPr lang="en-US" dirty="0"/>
              <a:t>What Process Qualities do We Care About? (Examples)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295058" cy="8583279"/>
          </a:xfrm>
        </p:spPr>
        <p:txBody>
          <a:bodyPr anchor="ctr">
            <a:normAutofit/>
          </a:bodyPr>
          <a:lstStyle/>
          <a:p>
            <a:pPr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Development Efficiency</a:t>
            </a:r>
          </a:p>
          <a:p>
            <a:pPr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Meeting Efficiency</a:t>
            </a:r>
          </a:p>
          <a:p>
            <a:pPr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Conformance to Processes</a:t>
            </a:r>
          </a:p>
          <a:p>
            <a:pPr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Reliability of Predictions</a:t>
            </a:r>
          </a:p>
          <a:p>
            <a:pPr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Fairness in Decision Making</a:t>
            </a:r>
          </a:p>
          <a:p>
            <a:pPr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Regulatory Compliance</a:t>
            </a:r>
          </a:p>
          <a:p>
            <a:pPr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On-time Release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5AE6EC51-1880-866F-2395-CCDC95C643B1}"/>
              </a:ext>
            </a:extLst>
          </p:cNvPr>
          <p:cNvSpPr txBox="1">
            <a:spLocks/>
          </p:cNvSpPr>
          <p:nvPr/>
        </p:nvSpPr>
        <p:spPr>
          <a:xfrm>
            <a:off x="12192000" y="3206625"/>
            <a:ext cx="10422835" cy="85832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algn="just"/>
            <a:r>
              <a:rPr lang="en-ID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Measure time, costs, actions, resources, and quality of work packages; compare with predictions</a:t>
            </a:r>
          </a:p>
          <a:p>
            <a:pPr algn="just"/>
            <a:r>
              <a:rPr lang="en-ID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Use information from issue trackers, communication networks, team structures, etc…</a:t>
            </a:r>
          </a:p>
        </p:txBody>
      </p:sp>
    </p:spTree>
    <p:extLst>
      <p:ext uri="{BB962C8B-B14F-4D97-AF65-F5344CB8AC3E}">
        <p14:creationId xmlns:p14="http://schemas.microsoft.com/office/powerpoint/2010/main" val="4043188833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/>
              <a:t>People Quality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4042441" cy="840936"/>
          </a:xfrm>
        </p:spPr>
        <p:txBody>
          <a:bodyPr>
            <a:normAutofit/>
          </a:bodyPr>
          <a:lstStyle/>
          <a:p>
            <a:r>
              <a:rPr lang="en-US" dirty="0"/>
              <a:t>What People Qualities do We Care About? (Examples)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4047561"/>
            <a:ext cx="20295058" cy="9668439"/>
          </a:xfrm>
        </p:spPr>
        <p:txBody>
          <a:bodyPr anchor="t">
            <a:normAutofit/>
          </a:bodyPr>
          <a:lstStyle/>
          <a:p>
            <a:pPr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Developers</a:t>
            </a:r>
          </a:p>
          <a:p>
            <a:pPr lvl="1"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Maintainability</a:t>
            </a:r>
          </a:p>
          <a:p>
            <a:pPr lvl="1"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Performance</a:t>
            </a:r>
          </a:p>
          <a:p>
            <a:pPr lvl="1"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Employee Satisfaction and Well-being</a:t>
            </a:r>
          </a:p>
          <a:p>
            <a:pPr lvl="1"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Communication and Collaboration</a:t>
            </a:r>
          </a:p>
          <a:p>
            <a:pPr lvl="1"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Efficiency and Flow</a:t>
            </a:r>
          </a:p>
          <a:p>
            <a:pPr lvl="1"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Satisfaction with Engineering System</a:t>
            </a:r>
          </a:p>
          <a:p>
            <a:pPr lvl="1"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Regulatory Compliance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5AE6EC51-1880-866F-2395-CCDC95C643B1}"/>
              </a:ext>
            </a:extLst>
          </p:cNvPr>
          <p:cNvSpPr txBox="1">
            <a:spLocks/>
          </p:cNvSpPr>
          <p:nvPr/>
        </p:nvSpPr>
        <p:spPr>
          <a:xfrm>
            <a:off x="12192000" y="4047561"/>
            <a:ext cx="10422835" cy="77423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t">
            <a:norm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algn="just"/>
            <a:r>
              <a:rPr lang="en-ID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Customers</a:t>
            </a:r>
          </a:p>
          <a:p>
            <a:pPr lvl="1" algn="just"/>
            <a:r>
              <a:rPr lang="en-ID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Satisfaction</a:t>
            </a:r>
          </a:p>
          <a:p>
            <a:pPr lvl="1" algn="just"/>
            <a:r>
              <a:rPr lang="en-ID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Ease of Use</a:t>
            </a:r>
          </a:p>
          <a:p>
            <a:pPr lvl="1" algn="just"/>
            <a:r>
              <a:rPr lang="en-ID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Feature Usage</a:t>
            </a:r>
          </a:p>
          <a:p>
            <a:pPr lvl="1" algn="just"/>
            <a:r>
              <a:rPr lang="en-ID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Regulatory Compliance</a:t>
            </a:r>
          </a:p>
        </p:txBody>
      </p:sp>
    </p:spTree>
    <p:extLst>
      <p:ext uri="{BB962C8B-B14F-4D97-AF65-F5344CB8AC3E}">
        <p14:creationId xmlns:p14="http://schemas.microsoft.com/office/powerpoint/2010/main" val="3550134239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/>
              <a:t>Non-Trivial Qualities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4042441" cy="840936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48261BEC-DEAD-6A58-F6DD-ABE1BF9E1A97}"/>
              </a:ext>
            </a:extLst>
          </p:cNvPr>
          <p:cNvSpPr txBox="1">
            <a:spLocks/>
          </p:cNvSpPr>
          <p:nvPr/>
        </p:nvSpPr>
        <p:spPr>
          <a:xfrm>
            <a:off x="2167377" y="3260663"/>
            <a:ext cx="20295058" cy="85832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algn="just"/>
            <a:r>
              <a:rPr lang="en-ID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Software</a:t>
            </a:r>
          </a:p>
          <a:p>
            <a:pPr lvl="1" algn="just"/>
            <a:r>
              <a:rPr lang="en-ID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Code Elegance</a:t>
            </a:r>
          </a:p>
          <a:p>
            <a:pPr lvl="1" algn="just"/>
            <a:r>
              <a:rPr lang="en-ID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Code Maintainability</a:t>
            </a:r>
          </a:p>
          <a:p>
            <a:pPr algn="just"/>
            <a:r>
              <a:rPr lang="en-ID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Process</a:t>
            </a:r>
          </a:p>
          <a:p>
            <a:pPr lvl="1" algn="just"/>
            <a:r>
              <a:rPr lang="en-ID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Fairness in Decision Making</a:t>
            </a:r>
          </a:p>
          <a:p>
            <a:pPr algn="just"/>
            <a:r>
              <a:rPr lang="en-ID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Team</a:t>
            </a:r>
          </a:p>
          <a:p>
            <a:pPr lvl="1" algn="just"/>
            <a:r>
              <a:rPr lang="en-ID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Team Collaboration</a:t>
            </a:r>
          </a:p>
          <a:p>
            <a:pPr lvl="1" algn="just"/>
            <a:r>
              <a:rPr lang="en-ID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Creativity</a:t>
            </a:r>
          </a:p>
        </p:txBody>
      </p:sp>
      <p:pic>
        <p:nvPicPr>
          <p:cNvPr id="10" name="Picture 9" descr="A person with a red circle around his face&#10;&#10;Description automatically generated">
            <a:extLst>
              <a:ext uri="{FF2B5EF4-FFF2-40B4-BE49-F238E27FC236}">
                <a16:creationId xmlns:a16="http://schemas.microsoft.com/office/drawing/2014/main" id="{A5C7C4B5-D94A-6983-1175-030EE77A76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81389" y="4743350"/>
            <a:ext cx="9981046" cy="5617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480433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/>
              <a:t>McNamara Fallacy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4042441" cy="840936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48261BEC-DEAD-6A58-F6DD-ABE1BF9E1A97}"/>
              </a:ext>
            </a:extLst>
          </p:cNvPr>
          <p:cNvSpPr txBox="1">
            <a:spLocks/>
          </p:cNvSpPr>
          <p:nvPr/>
        </p:nvSpPr>
        <p:spPr>
          <a:xfrm>
            <a:off x="2167377" y="3260663"/>
            <a:ext cx="14715569" cy="5259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algn="just"/>
            <a:r>
              <a:rPr lang="en-ID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Measure whatever can be easily measured</a:t>
            </a:r>
          </a:p>
          <a:p>
            <a:pPr algn="just"/>
            <a:r>
              <a:rPr lang="en-ID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Disregard that which cannot be measured easily</a:t>
            </a:r>
          </a:p>
          <a:p>
            <a:pPr algn="just"/>
            <a:r>
              <a:rPr lang="en-ID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Presume that which cannot be measured easily is not important</a:t>
            </a:r>
          </a:p>
          <a:p>
            <a:pPr algn="just"/>
            <a:r>
              <a:rPr lang="en-ID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Presume that which cannot be measured easily does not exist</a:t>
            </a:r>
          </a:p>
        </p:txBody>
      </p:sp>
      <p:pic>
        <p:nvPicPr>
          <p:cNvPr id="2050" name="Picture 2" descr="The McNamara Fallacy and the Problem with Numbers in Education – Carl  Hendrick">
            <a:extLst>
              <a:ext uri="{FF2B5EF4-FFF2-40B4-BE49-F238E27FC236}">
                <a16:creationId xmlns:a16="http://schemas.microsoft.com/office/drawing/2014/main" id="{365A7CFB-5632-F871-6CB8-489A802439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82946" y="2419727"/>
            <a:ext cx="6311900" cy="422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Robert S. McNamara | Biography, Facts, &amp; Role in Vietnam War | Britannica">
            <a:extLst>
              <a:ext uri="{FF2B5EF4-FFF2-40B4-BE49-F238E27FC236}">
                <a16:creationId xmlns:a16="http://schemas.microsoft.com/office/drawing/2014/main" id="{5BC75EE2-2D4C-8210-FB0C-3B406FA6DA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7241" y="8520544"/>
            <a:ext cx="3409517" cy="5195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Amazon.com: In Retrospect: The Tragedy and Lessons of Vietnam:  9780679767497: Robert S. McNamara, Brian VanDeMark: Books">
            <a:extLst>
              <a:ext uri="{FF2B5EF4-FFF2-40B4-BE49-F238E27FC236}">
                <a16:creationId xmlns:a16="http://schemas.microsoft.com/office/drawing/2014/main" id="{AB551DB0-F78D-08C1-CBB9-1C0B087834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45" y="8438111"/>
            <a:ext cx="3409516" cy="5277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The Fog of War (2003) - IMDb">
            <a:extLst>
              <a:ext uri="{FF2B5EF4-FFF2-40B4-BE49-F238E27FC236}">
                <a16:creationId xmlns:a16="http://schemas.microsoft.com/office/drawing/2014/main" id="{F0CC74CE-F146-699A-6BB3-1EFC8392B4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24481" y="8479327"/>
            <a:ext cx="3570673" cy="5195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2065992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/>
              <a:t>Make it Measurable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4042441" cy="840936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48261BEC-DEAD-6A58-F6DD-ABE1BF9E1A97}"/>
              </a:ext>
            </a:extLst>
          </p:cNvPr>
          <p:cNvSpPr txBox="1">
            <a:spLocks/>
          </p:cNvSpPr>
          <p:nvPr/>
        </p:nvSpPr>
        <p:spPr>
          <a:xfrm>
            <a:off x="2167378" y="3260663"/>
            <a:ext cx="11465496" cy="85832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0" indent="0" algn="r">
              <a:buNone/>
            </a:pPr>
            <a:r>
              <a:rPr lang="en-ID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“Measure what is measurable and make measurable what is not so.”</a:t>
            </a:r>
          </a:p>
          <a:p>
            <a:pPr marL="0" indent="0" algn="r">
              <a:buNone/>
            </a:pPr>
            <a:r>
              <a:rPr lang="en-ID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-Galileo Galilei</a:t>
            </a:r>
          </a:p>
        </p:txBody>
      </p:sp>
      <p:pic>
        <p:nvPicPr>
          <p:cNvPr id="4098" name="Picture 2" descr="Galileo Galilei">
            <a:extLst>
              <a:ext uri="{FF2B5EF4-FFF2-40B4-BE49-F238E27FC236}">
                <a16:creationId xmlns:a16="http://schemas.microsoft.com/office/drawing/2014/main" id="{5447B482-4B09-6910-6110-25CF3B2FF2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90253" y="4975357"/>
            <a:ext cx="9162473" cy="51538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445932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/>
              <a:t>Everything is measurable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2082023" cy="840935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295058" cy="8583279"/>
          </a:xfrm>
        </p:spPr>
        <p:txBody>
          <a:bodyPr anchor="ctr">
            <a:normAutofit/>
          </a:bodyPr>
          <a:lstStyle/>
          <a:p>
            <a:pPr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If X is something we care about, then X, by definition, must be detectable</a:t>
            </a:r>
          </a:p>
          <a:p>
            <a:pPr lvl="1"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How could we care about things like “quality,” “risk,” “security,” or “public image” if these things were totally undetectable, directly or indirectly? </a:t>
            </a:r>
          </a:p>
          <a:p>
            <a:pPr lvl="1"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If we have reason to care about some unknown quantity, it is because we think it corresponds to desirable or undesirable results in some way. </a:t>
            </a:r>
          </a:p>
          <a:p>
            <a:pPr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If X is detectable, then it must be detectable in some amount. </a:t>
            </a:r>
          </a:p>
          <a:p>
            <a:pPr lvl="1"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If you can observe a thing at all, you can observe more of it or less of it </a:t>
            </a:r>
          </a:p>
          <a:p>
            <a:pPr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If we can observe it in some amount, then it must be measurable. </a:t>
            </a:r>
          </a:p>
        </p:txBody>
      </p:sp>
    </p:spTree>
    <p:extLst>
      <p:ext uri="{BB962C8B-B14F-4D97-AF65-F5344CB8AC3E}">
        <p14:creationId xmlns:p14="http://schemas.microsoft.com/office/powerpoint/2010/main" val="3523840960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dirty="0"/>
              <a:t>Examples: </a:t>
            </a:r>
            <a:r>
              <a:rPr lang="en-US" sz="4000" b="1" dirty="0"/>
              <a:t>Metrics for Source Code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2082023" cy="840935"/>
          </a:xfrm>
        </p:spPr>
        <p:txBody>
          <a:bodyPr>
            <a:normAutofit/>
          </a:bodyPr>
          <a:lstStyle/>
          <a:p>
            <a:r>
              <a:rPr lang="en-US" dirty="0"/>
              <a:t>Code Complexity: Lines of Code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295058" cy="8583279"/>
          </a:xfrm>
        </p:spPr>
        <p:txBody>
          <a:bodyPr anchor="t">
            <a:normAutofit/>
          </a:bodyPr>
          <a:lstStyle/>
          <a:p>
            <a:pPr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Easy to measure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DE76A2D-296D-ABBD-2EC6-D55AC8925B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2536560"/>
              </p:ext>
            </p:extLst>
          </p:nvPr>
        </p:nvGraphicFramePr>
        <p:xfrm>
          <a:off x="2167377" y="4991982"/>
          <a:ext cx="20295058" cy="576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64696">
                  <a:extLst>
                    <a:ext uri="{9D8B030D-6E8A-4147-A177-3AD203B41FA5}">
                      <a16:colId xmlns:a16="http://schemas.microsoft.com/office/drawing/2014/main" val="1947440625"/>
                    </a:ext>
                  </a:extLst>
                </a:gridCol>
                <a:gridCol w="15230362">
                  <a:extLst>
                    <a:ext uri="{9D8B030D-6E8A-4147-A177-3AD203B41FA5}">
                      <a16:colId xmlns:a16="http://schemas.microsoft.com/office/drawing/2014/main" val="34070352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LOC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projects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49658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450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Expression Evaluator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47662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2,000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Sudoku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24883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Apache Maven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16289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500,000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Git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88889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3,000,000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MySQL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92261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15,000,000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36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gcc</a:t>
                      </a:r>
                      <a:endParaRPr lang="en-US" sz="3600" dirty="0">
                        <a:solidFill>
                          <a:schemeClr val="bg2">
                            <a:lumMod val="10000"/>
                          </a:schemeClr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06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50,000,000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Windows 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19385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2,000,000,000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Google (</a:t>
                      </a:r>
                      <a:r>
                        <a:rPr lang="en-US" sz="360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MonoRepo</a:t>
                      </a:r>
                      <a:r>
                        <a:rPr lang="en-US" sz="360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653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2152361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/>
              <a:t>Metrics for Source Code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2082023" cy="840935"/>
          </a:xfrm>
        </p:spPr>
        <p:txBody>
          <a:bodyPr>
            <a:normAutofit/>
          </a:bodyPr>
          <a:lstStyle/>
          <a:p>
            <a:r>
              <a:rPr lang="en-US" dirty="0"/>
              <a:t>Halstead’s Software Science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295058" cy="8583279"/>
          </a:xfrm>
        </p:spPr>
        <p:txBody>
          <a:bodyPr anchor="ctr">
            <a:normAutofit/>
          </a:bodyPr>
          <a:lstStyle/>
          <a:p>
            <a:pPr marL="0" indent="0" algn="just">
              <a:spcBef>
                <a:spcPts val="0"/>
              </a:spcBef>
              <a:buNone/>
            </a:pPr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Halstead’s Software Science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 a comprehensive collection of metrics all predicated on the number (count and occurrence) of operators and operands within a component or program</a:t>
            </a:r>
          </a:p>
          <a:p>
            <a:pPr algn="just">
              <a:spcBef>
                <a:spcPts val="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Introduced by Maurice Howard Halstead in 1977</a:t>
            </a:r>
          </a:p>
          <a:p>
            <a:pPr algn="just">
              <a:spcBef>
                <a:spcPts val="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It should be noted that Halstead’s “laws” have generated substantial controversy, and many believe that the underlying theory has flaws.</a:t>
            </a:r>
          </a:p>
          <a:p>
            <a:pPr algn="just">
              <a:spcBef>
                <a:spcPts val="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However, experimental verification for selected programming languages has been performed.</a:t>
            </a:r>
          </a:p>
        </p:txBody>
      </p:sp>
    </p:spTree>
    <p:extLst>
      <p:ext uri="{BB962C8B-B14F-4D97-AF65-F5344CB8AC3E}">
        <p14:creationId xmlns:p14="http://schemas.microsoft.com/office/powerpoint/2010/main" val="1413198904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/>
              <a:t>Metrics for Source Code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2082023" cy="840935"/>
          </a:xfrm>
        </p:spPr>
        <p:txBody>
          <a:bodyPr>
            <a:normAutofit/>
          </a:bodyPr>
          <a:lstStyle/>
          <a:p>
            <a:r>
              <a:rPr lang="en-US" dirty="0"/>
              <a:t>Code Complexity: Halstead Volume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295058" cy="8583279"/>
          </a:xfrm>
        </p:spPr>
        <p:txBody>
          <a:bodyPr anchor="ctr">
            <a:normAutofit/>
          </a:bodyPr>
          <a:lstStyle/>
          <a:p>
            <a:pPr algn="just">
              <a:spcBef>
                <a:spcPts val="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Halstead Volume = number of operators/operands * log</a:t>
            </a:r>
            <a:r>
              <a:rPr lang="en-US" sz="3600" baseline="-250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(number of distinct operators/operands)</a:t>
            </a:r>
          </a:p>
          <a:p>
            <a:pPr algn="just">
              <a:spcBef>
                <a:spcPts val="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Approximates size of elements and vocabulary</a:t>
            </a:r>
          </a:p>
          <a:p>
            <a:pPr marL="0" indent="0" algn="just">
              <a:spcBef>
                <a:spcPts val="0"/>
              </a:spcBef>
              <a:buNone/>
            </a:pPr>
            <a:endParaRPr lang="en-US" sz="3600" dirty="0">
              <a:solidFill>
                <a:schemeClr val="bg2">
                  <a:lumMod val="1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indent="0" algn="just">
              <a:spcBef>
                <a:spcPts val="0"/>
              </a:spcBef>
              <a:buNone/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Example: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main() {</a:t>
            </a:r>
          </a:p>
          <a:p>
            <a:pPr marL="623888" lvl="1" indent="0" algn="just">
              <a:spcBef>
                <a:spcPts val="0"/>
              </a:spcBef>
              <a:buNone/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int a, b, c, avg;   </a:t>
            </a:r>
          </a:p>
          <a:p>
            <a:pPr marL="623888" lvl="1" indent="0" algn="just">
              <a:spcBef>
                <a:spcPts val="0"/>
              </a:spcBef>
              <a:buNone/>
            </a:pPr>
            <a:r>
              <a:rPr lang="en-US" sz="3600" dirty="0" err="1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scanf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("%d %d %d", &amp;a, &amp;b, &amp;c);</a:t>
            </a:r>
          </a:p>
          <a:p>
            <a:pPr marL="623888" lvl="1" indent="0" algn="just">
              <a:spcBef>
                <a:spcPts val="0"/>
              </a:spcBef>
              <a:buNone/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avg = (a + b + c) / 3; </a:t>
            </a:r>
          </a:p>
          <a:p>
            <a:pPr marL="623888" lvl="1" indent="0" algn="just">
              <a:spcBef>
                <a:spcPts val="0"/>
              </a:spcBef>
              <a:buNone/>
            </a:pPr>
            <a:r>
              <a:rPr lang="en-US" sz="3600" dirty="0" err="1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printf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("avg = %d", avg);   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} </a:t>
            </a:r>
          </a:p>
          <a:p>
            <a:pPr marL="0" indent="0" algn="just">
              <a:spcBef>
                <a:spcPts val="0"/>
              </a:spcBef>
              <a:buNone/>
            </a:pPr>
            <a:endParaRPr lang="en-US" sz="3600" dirty="0">
              <a:solidFill>
                <a:schemeClr val="bg2">
                  <a:lumMod val="1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indent="0" algn="just">
              <a:spcBef>
                <a:spcPts val="0"/>
              </a:spcBef>
              <a:buNone/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Operators/Operands: main, (), {}, int, a, b, c, avg, </a:t>
            </a:r>
            <a:r>
              <a:rPr lang="en-US" sz="3600" dirty="0" err="1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scanf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(), "...", &amp;, a, &amp;, b, &amp;, c, avg, =, a, +, b, +, c, (), /, 3, </a:t>
            </a:r>
            <a:r>
              <a:rPr lang="en-US" sz="3600" dirty="0" err="1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printf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(), "...", avg</a:t>
            </a:r>
          </a:p>
        </p:txBody>
      </p:sp>
    </p:spTree>
    <p:extLst>
      <p:ext uri="{BB962C8B-B14F-4D97-AF65-F5344CB8AC3E}">
        <p14:creationId xmlns:p14="http://schemas.microsoft.com/office/powerpoint/2010/main" val="2741161326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/>
              <a:t>Metrics for Source Code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2082023" cy="840935"/>
          </a:xfrm>
        </p:spPr>
        <p:txBody>
          <a:bodyPr>
            <a:normAutofit/>
          </a:bodyPr>
          <a:lstStyle/>
          <a:p>
            <a:r>
              <a:rPr lang="en-US" dirty="0"/>
              <a:t>Code Complexity: Cyclomatic Complexity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295058" cy="8583279"/>
          </a:xfrm>
        </p:spPr>
        <p:txBody>
          <a:bodyPr anchor="ctr">
            <a:normAutofit/>
          </a:bodyPr>
          <a:lstStyle/>
          <a:p>
            <a:pPr algn="just">
              <a:spcBef>
                <a:spcPts val="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Proposed by McCabe 1976</a:t>
            </a:r>
          </a:p>
          <a:p>
            <a:pPr algn="just">
              <a:spcBef>
                <a:spcPts val="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Based on control flow graph, measures linearly independent paths through a program </a:t>
            </a:r>
          </a:p>
          <a:p>
            <a:pPr lvl="1" algn="just">
              <a:spcBef>
                <a:spcPts val="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~= number of decisions </a:t>
            </a:r>
          </a:p>
          <a:p>
            <a:pPr lvl="1" algn="just">
              <a:spcBef>
                <a:spcPts val="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Number of test cases needed to achieve branch coverage </a:t>
            </a:r>
          </a:p>
          <a:p>
            <a:pPr lvl="1" algn="just">
              <a:spcBef>
                <a:spcPts val="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 = edges of CFG – nodes of CFG + 2*connected components </a:t>
            </a:r>
          </a:p>
          <a:p>
            <a:pPr algn="just">
              <a:spcBef>
                <a:spcPts val="0"/>
              </a:spcBef>
            </a:pPr>
            <a:endParaRPr lang="en-US" sz="3600" dirty="0">
              <a:solidFill>
                <a:schemeClr val="bg2">
                  <a:lumMod val="1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“For each module, either limit cyclomatic complexity to [X] or provide a written explanation of why the limit was exceeded.” </a:t>
            </a:r>
          </a:p>
        </p:txBody>
      </p:sp>
    </p:spTree>
    <p:extLst>
      <p:ext uri="{BB962C8B-B14F-4D97-AF65-F5344CB8AC3E}">
        <p14:creationId xmlns:p14="http://schemas.microsoft.com/office/powerpoint/2010/main" val="4075120364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/>
              <a:t>Metrics for Source Code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2082023" cy="840935"/>
          </a:xfrm>
        </p:spPr>
        <p:txBody>
          <a:bodyPr>
            <a:normAutofit/>
          </a:bodyPr>
          <a:lstStyle/>
          <a:p>
            <a:r>
              <a:rPr lang="en-US" dirty="0"/>
              <a:t>Code Complexity: Object-Oriented Metrics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295058" cy="10455337"/>
          </a:xfrm>
        </p:spPr>
        <p:txBody>
          <a:bodyPr anchor="ctr">
            <a:normAutofit/>
          </a:bodyPr>
          <a:lstStyle/>
          <a:p>
            <a:pPr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Number of Methods per Class</a:t>
            </a:r>
          </a:p>
          <a:p>
            <a:pPr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Depth of the Inheritance Tree</a:t>
            </a:r>
          </a:p>
          <a:p>
            <a:pPr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Number of Child Classes</a:t>
            </a:r>
          </a:p>
          <a:p>
            <a:pPr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Coupling between Object Classes</a:t>
            </a:r>
          </a:p>
          <a:p>
            <a:pPr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Calls to Methods in Unrelated Classes</a:t>
            </a:r>
          </a:p>
          <a:p>
            <a:pPr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789417654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/>
              <a:t>Metrics for Source Code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2082023" cy="840935"/>
          </a:xfrm>
        </p:spPr>
        <p:txBody>
          <a:bodyPr>
            <a:normAutofit/>
          </a:bodyPr>
          <a:lstStyle/>
          <a:p>
            <a:r>
              <a:rPr lang="en-US" dirty="0"/>
              <a:t>Code Complexity: “Allowable Mass” Proxy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295058" cy="8583279"/>
          </a:xfrm>
        </p:spPr>
        <p:txBody>
          <a:bodyPr anchor="ctr">
            <a:normAutofit/>
          </a:bodyPr>
          <a:lstStyle/>
          <a:p>
            <a:pPr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More complex the software task 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Wingdings" pitchFamily="2" charset="2"/>
              </a:rPr>
              <a:t> consumes bigger part of the mass budget (in grams)</a:t>
            </a:r>
          </a:p>
          <a:p>
            <a:pPr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Wingdings" pitchFamily="2" charset="2"/>
              </a:rPr>
              <a:t>Keeps the software from growing unconstrained and ensuring maintainability and quality by existing staff</a:t>
            </a:r>
            <a:endParaRPr lang="en-US" sz="3600" dirty="0">
              <a:solidFill>
                <a:schemeClr val="bg2">
                  <a:lumMod val="1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5872669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/>
              <a:t>Measurement Scales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2082023" cy="840935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295058" cy="8583279"/>
          </a:xfrm>
        </p:spPr>
        <p:txBody>
          <a:bodyPr anchor="ctr">
            <a:normAutofit/>
          </a:bodyPr>
          <a:lstStyle/>
          <a:p>
            <a:pPr marL="390525" marR="0" lvl="0" indent="-390525" algn="just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Scale: the type of data being measured</a:t>
            </a:r>
          </a:p>
          <a:p>
            <a:pPr marL="390525" marR="0" lvl="0" indent="-390525" algn="just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The scale dictates what sorts of analysis/arithmetic is legitimate or meaningful</a:t>
            </a:r>
          </a:p>
          <a:p>
            <a:pPr marL="0" marR="0" lvl="0" indent="0" algn="just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tabLst/>
              <a:defRPr/>
            </a:pP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en Sans"/>
              <a:ea typeface="MS PGothic" pitchFamily="34" charset="-128"/>
              <a:cs typeface="Open Sans"/>
            </a:endParaRPr>
          </a:p>
          <a:p>
            <a:pPr marL="390525" marR="0" lvl="0" indent="-390525" algn="just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Your options are: </a:t>
            </a:r>
          </a:p>
          <a:p>
            <a:pPr marL="1014413" lvl="1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Nominal: categories </a:t>
            </a:r>
          </a:p>
          <a:p>
            <a:pPr marL="1014413" lvl="1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Ordinal: order, but no magnitude. </a:t>
            </a:r>
          </a:p>
          <a:p>
            <a:pPr marL="1014413" lvl="1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Interval: order, magnitude, but no zero. </a:t>
            </a:r>
          </a:p>
          <a:p>
            <a:pPr marL="1014413" lvl="1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Ratio: Order, magnitude, and zero. </a:t>
            </a:r>
          </a:p>
          <a:p>
            <a:pPr marL="1014413" lvl="1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Absolute: special case of ratio. </a:t>
            </a:r>
          </a:p>
        </p:txBody>
      </p:sp>
    </p:spTree>
    <p:extLst>
      <p:ext uri="{BB962C8B-B14F-4D97-AF65-F5344CB8AC3E}">
        <p14:creationId xmlns:p14="http://schemas.microsoft.com/office/powerpoint/2010/main" val="1495901896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/>
              <a:t>Measurement Scales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2082023" cy="840935"/>
          </a:xfrm>
        </p:spPr>
        <p:txBody>
          <a:bodyPr>
            <a:normAutofit/>
          </a:bodyPr>
          <a:lstStyle/>
          <a:p>
            <a:r>
              <a:rPr lang="en-US" dirty="0"/>
              <a:t>Nominal/Categorical Scale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295058" cy="8583279"/>
          </a:xfrm>
        </p:spPr>
        <p:txBody>
          <a:bodyPr anchor="ctr">
            <a:normAutofit/>
          </a:bodyPr>
          <a:lstStyle/>
          <a:p>
            <a:pPr marL="390525" marR="0" lvl="0" indent="-390525" algn="just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Entities classified with respect to a certain attribute. Categories are jointly exhaustive and mutually exclusive. </a:t>
            </a:r>
          </a:p>
          <a:p>
            <a:pPr marL="1014413" lvl="1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No implied order between categories! </a:t>
            </a:r>
          </a:p>
          <a:p>
            <a:pPr marL="390525" marR="0" lvl="0" indent="-390525" algn="just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Categories can be represented by labels or numbers; however, they do not represent a magnitude, arithmetic operation have no meaning. </a:t>
            </a:r>
          </a:p>
          <a:p>
            <a:pPr marL="390525" marR="0" lvl="0" indent="-390525" algn="just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Can be compared for identity or distinction, and measurements can be obtained by counting the frequencies in each category. Data can also be aggregated. </a:t>
            </a:r>
          </a:p>
        </p:txBody>
      </p:sp>
      <p:pic>
        <p:nvPicPr>
          <p:cNvPr id="8" name="Picture 7" descr="A close-up of a computer code&#10;&#10;Description automatically generated">
            <a:extLst>
              <a:ext uri="{FF2B5EF4-FFF2-40B4-BE49-F238E27FC236}">
                <a16:creationId xmlns:a16="http://schemas.microsoft.com/office/drawing/2014/main" id="{6E3C98E9-5168-D2B8-B57F-1E916553C2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1009" y="9953310"/>
            <a:ext cx="15161982" cy="278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8201407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/>
              <a:t>Measurement Scales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2082023" cy="840935"/>
          </a:xfrm>
        </p:spPr>
        <p:txBody>
          <a:bodyPr>
            <a:normAutofit/>
          </a:bodyPr>
          <a:lstStyle/>
          <a:p>
            <a:r>
              <a:rPr lang="en-US" dirty="0"/>
              <a:t>Ordinal Scale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295058" cy="8583279"/>
          </a:xfrm>
        </p:spPr>
        <p:txBody>
          <a:bodyPr anchor="t">
            <a:normAutofit/>
          </a:bodyPr>
          <a:lstStyle/>
          <a:p>
            <a:pPr marL="390525" marR="0" lvl="0" indent="-390525" algn="just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Ordered categories: maps a measured attribute to an ordered set of values, but no information about the magnitude of the differences between elements. </a:t>
            </a:r>
          </a:p>
          <a:p>
            <a:pPr marL="390525" marR="0" lvl="0" indent="-390525" algn="just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Measurements can be represented by labels or numbers, BUT: if numbers are used, </a:t>
            </a:r>
            <a:r>
              <a:rPr kumimoji="0" lang="en-US" sz="3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they do not represent a magnitude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. </a:t>
            </a:r>
          </a:p>
          <a:p>
            <a:pPr marL="1014413" lvl="1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Honestly, try not to do that. It eliminates temptation. </a:t>
            </a:r>
          </a:p>
          <a:p>
            <a:pPr marL="390525" marR="0" lvl="0" indent="-390525" algn="just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You cannot: add, subtract, perform averages, </a:t>
            </a:r>
            <a:r>
              <a:rPr kumimoji="0" lang="en-US" sz="3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etc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 (arithmetic operations are out). </a:t>
            </a:r>
          </a:p>
          <a:p>
            <a:pPr marL="390525" marR="0" lvl="0" indent="-390525" algn="just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You can: compare with operators (like “less than” or “greater than”), create ranks for the purposes of rank correlations (Spearman’s coefficient, Kendall’s </a:t>
            </a:r>
            <a:r>
              <a:rPr kumimoji="0" lang="el-GR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τ). </a:t>
            </a:r>
          </a:p>
        </p:txBody>
      </p:sp>
      <p:pic>
        <p:nvPicPr>
          <p:cNvPr id="6" name="Picture 5" descr="A close up of a text&#10;&#10;Description automatically generated">
            <a:extLst>
              <a:ext uri="{FF2B5EF4-FFF2-40B4-BE49-F238E27FC236}">
                <a16:creationId xmlns:a16="http://schemas.microsoft.com/office/drawing/2014/main" id="{C56324A8-5429-3A6A-5372-A93E2DCDB0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1119" y="9120169"/>
            <a:ext cx="20201316" cy="2723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617764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/>
              <a:t>Measurement Scales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2082023" cy="840935"/>
          </a:xfrm>
        </p:spPr>
        <p:txBody>
          <a:bodyPr>
            <a:normAutofit/>
          </a:bodyPr>
          <a:lstStyle/>
          <a:p>
            <a:r>
              <a:rPr lang="en-US" dirty="0"/>
              <a:t>Interval Scale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295058" cy="8583279"/>
          </a:xfrm>
        </p:spPr>
        <p:txBody>
          <a:bodyPr anchor="ctr">
            <a:normAutofit/>
          </a:bodyPr>
          <a:lstStyle/>
          <a:p>
            <a:pPr marL="390525" marR="0" lvl="0" indent="-390525" algn="just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ID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Has order (like ordinal scale) and magnitude. </a:t>
            </a:r>
          </a:p>
          <a:p>
            <a:pPr marL="1014413" lvl="1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kumimoji="0" lang="en-ID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The intervals between two consecutive integers represent equal amounts of the attribute being measured. </a:t>
            </a:r>
          </a:p>
          <a:p>
            <a:pPr marL="390525" marR="0" lvl="0" indent="-390525" algn="just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ID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Does NOT have a zero: 0 is an arbitrary point, and doesn’t correspond to the absence of a quantity. </a:t>
            </a:r>
          </a:p>
          <a:p>
            <a:pPr marL="390525" marR="0" lvl="0" indent="-390525" algn="just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ID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Most arithmetic (addition, subtraction) is OK, as are mean and dispersion measurements, as are Pearson correlations. Ratios are not meaningful. </a:t>
            </a:r>
          </a:p>
          <a:p>
            <a:pPr marL="1014413" lvl="1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kumimoji="0" lang="en-ID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Ex: The temperature yesterday was 32 C, and today is 16 C. Was it twice as warm yesterday? </a:t>
            </a:r>
          </a:p>
          <a:p>
            <a:pPr marL="390525" marR="0" lvl="0" indent="-390525" algn="just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ID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Incremental variables (quantity as of today – quantity at an earlier time) and preferences are commonly measured in interval scales. </a:t>
            </a:r>
          </a:p>
        </p:txBody>
      </p:sp>
    </p:spTree>
    <p:extLst>
      <p:ext uri="{BB962C8B-B14F-4D97-AF65-F5344CB8AC3E}">
        <p14:creationId xmlns:p14="http://schemas.microsoft.com/office/powerpoint/2010/main" val="2219026337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/>
              <a:t>Measurement Scales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2082023" cy="840935"/>
          </a:xfrm>
        </p:spPr>
        <p:txBody>
          <a:bodyPr>
            <a:normAutofit/>
          </a:bodyPr>
          <a:lstStyle/>
          <a:p>
            <a:r>
              <a:rPr lang="en-US" dirty="0"/>
              <a:t>Ratio Scale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295058" cy="8583279"/>
          </a:xfrm>
        </p:spPr>
        <p:txBody>
          <a:bodyPr anchor="ctr">
            <a:normAutofit/>
          </a:bodyPr>
          <a:lstStyle/>
          <a:p>
            <a:pPr marL="390525" marR="0" lvl="0" indent="-390525" algn="just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ID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An interval scale that has a true zero that actually represents the absence of the quantity being measured. </a:t>
            </a:r>
          </a:p>
          <a:p>
            <a:pPr marL="390525" marR="0" lvl="0" indent="-390525" algn="just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ID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All arithmetic is meaningful. </a:t>
            </a:r>
          </a:p>
          <a:p>
            <a:pPr marL="390525" marR="0" lvl="0" indent="-390525" algn="just" defTabSz="5207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ID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Absolute scale is a special case, measurement simply made by counting the number of elements in the object. </a:t>
            </a:r>
          </a:p>
          <a:p>
            <a:pPr marL="1014413" lvl="1" indent="-390525" algn="just" defTabSz="520700" eaLnBrk="0" fontAlgn="base" hangingPunct="0">
              <a:spcBef>
                <a:spcPct val="20000"/>
              </a:spcBef>
              <a:spcAft>
                <a:spcPct val="0"/>
              </a:spcAft>
              <a:buSzTx/>
              <a:buFont typeface="Arial" pitchFamily="34" charset="0"/>
              <a:buChar char="•"/>
              <a:defRPr/>
            </a:pPr>
            <a:r>
              <a:rPr kumimoji="0" lang="en-ID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MS PGothic" pitchFamily="34" charset="-128"/>
                <a:cs typeface="Open Sans"/>
              </a:rPr>
              <a:t>Takes the form “number of occurrences of X in the entity.” </a:t>
            </a:r>
          </a:p>
        </p:txBody>
      </p:sp>
      <p:pic>
        <p:nvPicPr>
          <p:cNvPr id="6" name="Picture 5" descr="A yellow and white rectangular box with black text&#10;&#10;Description automatically generated">
            <a:extLst>
              <a:ext uri="{FF2B5EF4-FFF2-40B4-BE49-F238E27FC236}">
                <a16:creationId xmlns:a16="http://schemas.microsoft.com/office/drawing/2014/main" id="{95C460CA-22EE-D1D9-DCEC-89E4D3DBFD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2438" y="9659200"/>
            <a:ext cx="19359123" cy="2827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2226222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/>
              <a:t>How to use Measurements and Metrics?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2082023" cy="840935"/>
          </a:xfrm>
        </p:spPr>
        <p:txBody>
          <a:bodyPr>
            <a:normAutofit/>
          </a:bodyPr>
          <a:lstStyle/>
          <a:p>
            <a:r>
              <a:rPr lang="en-US" dirty="0"/>
              <a:t>A Goal-based Framework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13709932" cy="8583279"/>
          </a:xfrm>
        </p:spPr>
        <p:txBody>
          <a:bodyPr anchor="ctr">
            <a:normAutofit/>
          </a:bodyPr>
          <a:lstStyle/>
          <a:p>
            <a:pPr algn="just"/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Goal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What do you want to achieve?</a:t>
            </a:r>
          </a:p>
          <a:p>
            <a:pPr algn="just"/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Questions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What do you need to answer to know whether your goal is met?</a:t>
            </a:r>
          </a:p>
          <a:p>
            <a:pPr algn="just"/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Metrics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What measurements do you need in order to answer each question?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F9D80E-542A-C98E-2220-9DAB94394D3F}"/>
              </a:ext>
            </a:extLst>
          </p:cNvPr>
          <p:cNvSpPr txBox="1"/>
          <p:nvPr/>
        </p:nvSpPr>
        <p:spPr>
          <a:xfrm>
            <a:off x="2167377" y="3260662"/>
            <a:ext cx="20049246" cy="15799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ID" sz="32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“Every measurement action must be motivated by a particular goal or need that is clearly defined and easily understandable.”</a:t>
            </a:r>
          </a:p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ID" sz="32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Software Metrics: A Rigorous and Practical Approach. </a:t>
            </a:r>
            <a:r>
              <a:rPr lang="en-ID" sz="3200" dirty="0" err="1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N.Fenton</a:t>
            </a:r>
            <a:r>
              <a:rPr lang="en-ID" sz="32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ID" sz="3200" dirty="0" err="1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J.Bieman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bg2">
                  <a:lumMod val="10000"/>
                </a:schemeClr>
              </a:solidFill>
              <a:effectLst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Helvetica Neue"/>
            </a:endParaRPr>
          </a:p>
        </p:txBody>
      </p:sp>
      <p:pic>
        <p:nvPicPr>
          <p:cNvPr id="7" name="Picture 6" descr="A close-up of a questionnaire&#10;&#10;Description automatically generated">
            <a:extLst>
              <a:ext uri="{FF2B5EF4-FFF2-40B4-BE49-F238E27FC236}">
                <a16:creationId xmlns:a16="http://schemas.microsoft.com/office/drawing/2014/main" id="{EE99AD01-465E-8D53-F541-A835D8F6DE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82946" y="7089704"/>
            <a:ext cx="6612724" cy="357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1126433"/>
      </p:ext>
    </p:ext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/>
              <a:t>Goal Questions Metrics (GQM)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2082023" cy="840935"/>
          </a:xfrm>
        </p:spPr>
        <p:txBody>
          <a:bodyPr>
            <a:normAutofit/>
          </a:bodyPr>
          <a:lstStyle/>
          <a:p>
            <a:r>
              <a:rPr lang="en-US" dirty="0"/>
              <a:t>Defining Goals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13709932" cy="8583279"/>
          </a:xfrm>
        </p:spPr>
        <p:txBody>
          <a:bodyPr anchor="ctr">
            <a:normAutofit/>
          </a:bodyPr>
          <a:lstStyle/>
          <a:p>
            <a:pPr algn="just"/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P: Purpose 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(improve, evaluate, monitor, …)</a:t>
            </a:r>
          </a:p>
          <a:p>
            <a:pPr algn="just"/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I: Issue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(reliability, usability, effectiveness, …)</a:t>
            </a:r>
          </a:p>
          <a:p>
            <a:pPr algn="just"/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O: Object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(final product, component, process, activity)</a:t>
            </a:r>
          </a:p>
          <a:p>
            <a:pPr algn="just"/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V: Viewpoint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(any stakeholder)</a:t>
            </a:r>
          </a:p>
        </p:txBody>
      </p:sp>
    </p:spTree>
    <p:extLst>
      <p:ext uri="{BB962C8B-B14F-4D97-AF65-F5344CB8AC3E}">
        <p14:creationId xmlns:p14="http://schemas.microsoft.com/office/powerpoint/2010/main" val="237213214"/>
      </p:ext>
    </p:ext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/>
              <a:t>Goal Questions Metrics (GQM)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2082023" cy="840935"/>
          </a:xfrm>
        </p:spPr>
        <p:txBody>
          <a:bodyPr>
            <a:normAutofit/>
          </a:bodyPr>
          <a:lstStyle/>
          <a:p>
            <a:r>
              <a:rPr lang="en-US" dirty="0"/>
              <a:t>Examples (1)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3194332" cy="8583279"/>
          </a:xfrm>
        </p:spPr>
        <p:txBody>
          <a:bodyPr anchor="t">
            <a:normAutofit/>
          </a:bodyPr>
          <a:lstStyle/>
          <a:p>
            <a:pPr algn="just"/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Goal:</a:t>
            </a:r>
          </a:p>
          <a:p>
            <a:pPr algn="just"/>
            <a:endParaRPr lang="en-US" sz="3600" b="1" dirty="0">
              <a:solidFill>
                <a:schemeClr val="bg2">
                  <a:lumMod val="1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just"/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Questions:</a:t>
            </a:r>
          </a:p>
          <a:p>
            <a:pPr algn="just"/>
            <a:endParaRPr lang="en-US" sz="3600" b="1" dirty="0">
              <a:solidFill>
                <a:schemeClr val="bg2">
                  <a:lumMod val="1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just"/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Metrics:</a:t>
            </a:r>
            <a:endParaRPr lang="en-US" sz="3600" dirty="0">
              <a:solidFill>
                <a:schemeClr val="bg2">
                  <a:lumMod val="1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3F457FA9-65A2-07E0-A503-069DDF9022C8}"/>
              </a:ext>
            </a:extLst>
          </p:cNvPr>
          <p:cNvSpPr txBox="1">
            <a:spLocks/>
          </p:cNvSpPr>
          <p:nvPr/>
        </p:nvSpPr>
        <p:spPr>
          <a:xfrm>
            <a:off x="5361709" y="2840194"/>
            <a:ext cx="15960436" cy="1685411"/>
          </a:xfrm>
          <a:prstGeom prst="rect">
            <a:avLst/>
          </a:prstGeom>
          <a:ln w="12700">
            <a:solidFill>
              <a:schemeClr val="bg2">
                <a:lumMod val="10000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0" indent="0" algn="just">
              <a:buNone/>
            </a:pPr>
            <a:r>
              <a:rPr lang="en-ID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Evaluate</a:t>
            </a:r>
            <a:r>
              <a:rPr lang="en-ID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the </a:t>
            </a:r>
            <a:r>
              <a:rPr lang="en-ID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effectiveness</a:t>
            </a:r>
            <a:r>
              <a:rPr lang="en-ID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of the </a:t>
            </a:r>
            <a:r>
              <a:rPr lang="en-ID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organization’s coding standard</a:t>
            </a:r>
            <a:r>
              <a:rPr lang="en-ID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from the </a:t>
            </a:r>
            <a:r>
              <a:rPr lang="en-ID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team’s</a:t>
            </a:r>
            <a:r>
              <a:rPr lang="en-ID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perspective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7D0FBA04-D0E5-D54E-7F71-36DD5837251B}"/>
              </a:ext>
            </a:extLst>
          </p:cNvPr>
          <p:cNvSpPr txBox="1">
            <a:spLocks/>
          </p:cNvSpPr>
          <p:nvPr/>
        </p:nvSpPr>
        <p:spPr>
          <a:xfrm>
            <a:off x="5361709" y="5234419"/>
            <a:ext cx="6830291" cy="1685411"/>
          </a:xfrm>
          <a:prstGeom prst="rect">
            <a:avLst/>
          </a:prstGeom>
          <a:ln w="12700">
            <a:solidFill>
              <a:schemeClr val="bg2">
                <a:lumMod val="10000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0" indent="0" algn="just">
              <a:buNone/>
            </a:pPr>
            <a:r>
              <a:rPr lang="en-ID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How comprehensible are the coding standards?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3A84FD7-B798-29A9-E85E-F3DF0C5ABE05}"/>
              </a:ext>
            </a:extLst>
          </p:cNvPr>
          <p:cNvSpPr txBox="1">
            <a:spLocks/>
          </p:cNvSpPr>
          <p:nvPr/>
        </p:nvSpPr>
        <p:spPr>
          <a:xfrm>
            <a:off x="13341927" y="5234419"/>
            <a:ext cx="7980218" cy="1685411"/>
          </a:xfrm>
          <a:prstGeom prst="rect">
            <a:avLst/>
          </a:prstGeom>
          <a:ln w="12700">
            <a:solidFill>
              <a:schemeClr val="bg2">
                <a:lumMod val="10000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 lnSpcReduction="10000"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0" indent="0" algn="just">
              <a:buNone/>
            </a:pPr>
            <a:r>
              <a:rPr lang="en-ID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What is the impact of coding standards on the efficiency and productivity of the team?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8EDD236F-6100-37FD-341F-FAEC3CA90284}"/>
              </a:ext>
            </a:extLst>
          </p:cNvPr>
          <p:cNvSpPr txBox="1">
            <a:spLocks/>
          </p:cNvSpPr>
          <p:nvPr/>
        </p:nvSpPr>
        <p:spPr>
          <a:xfrm>
            <a:off x="5361708" y="7696474"/>
            <a:ext cx="4322619" cy="4147468"/>
          </a:xfrm>
          <a:prstGeom prst="rect">
            <a:avLst/>
          </a:prstGeom>
          <a:ln w="12700">
            <a:solidFill>
              <a:schemeClr val="bg2">
                <a:lumMod val="10000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0" indent="0" algn="just">
              <a:buNone/>
            </a:pPr>
            <a:r>
              <a:rPr lang="en-ID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Survey results measuring team members’ understanding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46EE6986-0FC7-E6A1-155E-9E31A450B1E5}"/>
              </a:ext>
            </a:extLst>
          </p:cNvPr>
          <p:cNvSpPr txBox="1">
            <a:spLocks/>
          </p:cNvSpPr>
          <p:nvPr/>
        </p:nvSpPr>
        <p:spPr>
          <a:xfrm>
            <a:off x="11180617" y="7696474"/>
            <a:ext cx="4322619" cy="4147468"/>
          </a:xfrm>
          <a:prstGeom prst="rect">
            <a:avLst/>
          </a:prstGeom>
          <a:ln w="12700">
            <a:solidFill>
              <a:schemeClr val="bg2">
                <a:lumMod val="10000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0" indent="0" algn="just">
              <a:buNone/>
            </a:pPr>
            <a:r>
              <a:rPr lang="en-ID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Number of revisions required to achieve standard compliance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CC1E2724-5E76-A41B-6666-5C6ED5F05D09}"/>
              </a:ext>
            </a:extLst>
          </p:cNvPr>
          <p:cNvSpPr txBox="1">
            <a:spLocks/>
          </p:cNvSpPr>
          <p:nvPr/>
        </p:nvSpPr>
        <p:spPr>
          <a:xfrm>
            <a:off x="16999526" y="7696474"/>
            <a:ext cx="4322619" cy="4147468"/>
          </a:xfrm>
          <a:prstGeom prst="rect">
            <a:avLst/>
          </a:prstGeom>
          <a:ln w="12700">
            <a:solidFill>
              <a:schemeClr val="bg2">
                <a:lumMod val="10000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0" indent="0" algn="just">
              <a:buNone/>
            </a:pPr>
            <a:r>
              <a:rPr lang="en-ID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Code size: LOC, number of classes, number of functions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C6D4B6F-5DB0-9CC7-9055-828BDB4A7C3F}"/>
              </a:ext>
            </a:extLst>
          </p:cNvPr>
          <p:cNvCxnSpPr>
            <a:stCxn id="5" idx="2"/>
            <a:endCxn id="6" idx="0"/>
          </p:cNvCxnSpPr>
          <p:nvPr/>
        </p:nvCxnSpPr>
        <p:spPr>
          <a:xfrm flipH="1">
            <a:off x="8776855" y="4525605"/>
            <a:ext cx="4565072" cy="70881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D4A6ADE-5D7D-8D41-1FD1-B02065F3328A}"/>
              </a:ext>
            </a:extLst>
          </p:cNvPr>
          <p:cNvCxnSpPr>
            <a:cxnSpLocks/>
            <a:stCxn id="5" idx="2"/>
            <a:endCxn id="7" idx="0"/>
          </p:cNvCxnSpPr>
          <p:nvPr/>
        </p:nvCxnSpPr>
        <p:spPr>
          <a:xfrm>
            <a:off x="13341927" y="4525605"/>
            <a:ext cx="3990109" cy="70881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8D77939-E808-5F5B-9FFF-85451FFE1ACA}"/>
              </a:ext>
            </a:extLst>
          </p:cNvPr>
          <p:cNvCxnSpPr>
            <a:cxnSpLocks/>
            <a:stCxn id="6" idx="2"/>
          </p:cNvCxnSpPr>
          <p:nvPr/>
        </p:nvCxnSpPr>
        <p:spPr>
          <a:xfrm flipH="1">
            <a:off x="7523017" y="6919830"/>
            <a:ext cx="1253838" cy="77664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D8E07D4-5506-3A9A-928D-D195B2661D73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8776855" y="6919830"/>
            <a:ext cx="4565071" cy="77664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F889F78-F196-0A34-D860-77DA5F618384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13341926" y="6919830"/>
            <a:ext cx="3990110" cy="77664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E246D7B-F681-3731-3ECD-148D41B92DD6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17332036" y="6919830"/>
            <a:ext cx="1828799" cy="77664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463463"/>
      </p:ext>
    </p:extLst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/>
              <a:t>Goal Questions Metrics (GQM)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2082023" cy="840935"/>
          </a:xfrm>
        </p:spPr>
        <p:txBody>
          <a:bodyPr>
            <a:normAutofit/>
          </a:bodyPr>
          <a:lstStyle/>
          <a:p>
            <a:r>
              <a:rPr lang="en-US" dirty="0"/>
              <a:t>Examples (2)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3194332" cy="8583279"/>
          </a:xfrm>
        </p:spPr>
        <p:txBody>
          <a:bodyPr anchor="t">
            <a:normAutofit/>
          </a:bodyPr>
          <a:lstStyle/>
          <a:p>
            <a:pPr algn="just"/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Goal:</a:t>
            </a:r>
          </a:p>
          <a:p>
            <a:pPr algn="just"/>
            <a:endParaRPr lang="en-US" sz="3600" b="1" dirty="0">
              <a:solidFill>
                <a:schemeClr val="bg2">
                  <a:lumMod val="1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just"/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Questions:</a:t>
            </a:r>
          </a:p>
          <a:p>
            <a:pPr algn="just"/>
            <a:endParaRPr lang="en-US" sz="3600" b="1" dirty="0">
              <a:solidFill>
                <a:schemeClr val="bg2">
                  <a:lumMod val="1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just"/>
            <a:r>
              <a:rPr lang="en-US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Metrics:</a:t>
            </a:r>
            <a:endParaRPr lang="en-US" sz="3600" dirty="0">
              <a:solidFill>
                <a:schemeClr val="bg2">
                  <a:lumMod val="1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3F457FA9-65A2-07E0-A503-069DDF9022C8}"/>
              </a:ext>
            </a:extLst>
          </p:cNvPr>
          <p:cNvSpPr txBox="1">
            <a:spLocks/>
          </p:cNvSpPr>
          <p:nvPr/>
        </p:nvSpPr>
        <p:spPr>
          <a:xfrm>
            <a:off x="5361709" y="2840194"/>
            <a:ext cx="15960436" cy="1685411"/>
          </a:xfrm>
          <a:prstGeom prst="rect">
            <a:avLst/>
          </a:prstGeom>
          <a:ln w="12700">
            <a:solidFill>
              <a:schemeClr val="bg2">
                <a:lumMod val="10000"/>
              </a:schemeClr>
            </a:solidFill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0" indent="0" algn="just">
              <a:buNone/>
            </a:pPr>
            <a:r>
              <a:rPr lang="en-ID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Monitor </a:t>
            </a:r>
            <a:r>
              <a:rPr lang="en-ID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</a:t>
            </a:r>
            <a:r>
              <a:rPr lang="en-ID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performance</a:t>
            </a:r>
            <a:r>
              <a:rPr lang="en-ID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of the </a:t>
            </a:r>
            <a:r>
              <a:rPr lang="en-ID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web server</a:t>
            </a:r>
            <a:r>
              <a:rPr lang="en-ID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to enable the </a:t>
            </a:r>
            <a:r>
              <a:rPr lang="en-ID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ops team</a:t>
            </a:r>
            <a:r>
              <a:rPr lang="en-ID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to make decisions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7D0FBA04-D0E5-D54E-7F71-36DD5837251B}"/>
              </a:ext>
            </a:extLst>
          </p:cNvPr>
          <p:cNvSpPr txBox="1">
            <a:spLocks/>
          </p:cNvSpPr>
          <p:nvPr/>
        </p:nvSpPr>
        <p:spPr>
          <a:xfrm>
            <a:off x="5361709" y="5234419"/>
            <a:ext cx="6830291" cy="1685411"/>
          </a:xfrm>
          <a:prstGeom prst="rect">
            <a:avLst/>
          </a:prstGeom>
          <a:ln w="12700">
            <a:solidFill>
              <a:schemeClr val="bg2">
                <a:lumMod val="10000"/>
              </a:schemeClr>
            </a:solidFill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0" indent="0" algn="just">
              <a:buNone/>
            </a:pPr>
            <a:r>
              <a:rPr lang="en-ID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How quickly can users complete their tasks?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3A84FD7-B798-29A9-E85E-F3DF0C5ABE05}"/>
              </a:ext>
            </a:extLst>
          </p:cNvPr>
          <p:cNvSpPr txBox="1">
            <a:spLocks/>
          </p:cNvSpPr>
          <p:nvPr/>
        </p:nvSpPr>
        <p:spPr>
          <a:xfrm>
            <a:off x="13341927" y="5234419"/>
            <a:ext cx="7980218" cy="1685411"/>
          </a:xfrm>
          <a:prstGeom prst="rect">
            <a:avLst/>
          </a:prstGeom>
          <a:ln w="12700">
            <a:solidFill>
              <a:schemeClr val="bg2">
                <a:lumMod val="10000"/>
              </a:schemeClr>
            </a:solidFill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0" indent="0" algn="just">
              <a:buNone/>
            </a:pPr>
            <a:r>
              <a:rPr lang="en-ID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How many concurrent users can we support?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8EDD236F-6100-37FD-341F-FAEC3CA90284}"/>
              </a:ext>
            </a:extLst>
          </p:cNvPr>
          <p:cNvSpPr txBox="1">
            <a:spLocks/>
          </p:cNvSpPr>
          <p:nvPr/>
        </p:nvSpPr>
        <p:spPr>
          <a:xfrm>
            <a:off x="5361708" y="7696474"/>
            <a:ext cx="4322619" cy="4147468"/>
          </a:xfrm>
          <a:prstGeom prst="rect">
            <a:avLst/>
          </a:prstGeom>
          <a:ln w="12700">
            <a:solidFill>
              <a:schemeClr val="bg2">
                <a:lumMod val="10000"/>
              </a:schemeClr>
            </a:solidFill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0" indent="0" algn="just">
              <a:buNone/>
            </a:pPr>
            <a:r>
              <a:rPr lang="en-ID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Average latency per request in milliseconds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46EE6986-0FC7-E6A1-155E-9E31A450B1E5}"/>
              </a:ext>
            </a:extLst>
          </p:cNvPr>
          <p:cNvSpPr txBox="1">
            <a:spLocks/>
          </p:cNvSpPr>
          <p:nvPr/>
        </p:nvSpPr>
        <p:spPr>
          <a:xfrm>
            <a:off x="11180617" y="7696474"/>
            <a:ext cx="4322619" cy="4147468"/>
          </a:xfrm>
          <a:prstGeom prst="rect">
            <a:avLst/>
          </a:prstGeom>
          <a:ln w="12700">
            <a:solidFill>
              <a:schemeClr val="bg2">
                <a:lumMod val="10000"/>
              </a:schemeClr>
            </a:solidFill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0" indent="0" algn="just">
              <a:buNone/>
            </a:pPr>
            <a:r>
              <a:rPr lang="en-ID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Throughput: Number of requests served per second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CC1E2724-5E76-A41B-6666-5C6ED5F05D09}"/>
              </a:ext>
            </a:extLst>
          </p:cNvPr>
          <p:cNvSpPr txBox="1">
            <a:spLocks/>
          </p:cNvSpPr>
          <p:nvPr/>
        </p:nvSpPr>
        <p:spPr>
          <a:xfrm>
            <a:off x="16999526" y="7696474"/>
            <a:ext cx="4322619" cy="4147468"/>
          </a:xfrm>
          <a:prstGeom prst="rect">
            <a:avLst/>
          </a:prstGeom>
          <a:ln w="12700">
            <a:solidFill>
              <a:schemeClr val="bg2">
                <a:lumMod val="10000"/>
              </a:schemeClr>
            </a:solidFill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0" indent="0" algn="just">
              <a:buNone/>
            </a:pPr>
            <a:r>
              <a:rPr lang="en-ID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Peak memory consumption, as a % of max available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C6D4B6F-5DB0-9CC7-9055-828BDB4A7C3F}"/>
              </a:ext>
            </a:extLst>
          </p:cNvPr>
          <p:cNvCxnSpPr>
            <a:stCxn id="5" idx="2"/>
            <a:endCxn id="6" idx="0"/>
          </p:cNvCxnSpPr>
          <p:nvPr/>
        </p:nvCxnSpPr>
        <p:spPr>
          <a:xfrm flipH="1">
            <a:off x="8776855" y="4525605"/>
            <a:ext cx="4565072" cy="70881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D4A6ADE-5D7D-8D41-1FD1-B02065F3328A}"/>
              </a:ext>
            </a:extLst>
          </p:cNvPr>
          <p:cNvCxnSpPr>
            <a:cxnSpLocks/>
            <a:stCxn id="5" idx="2"/>
            <a:endCxn id="7" idx="0"/>
          </p:cNvCxnSpPr>
          <p:nvPr/>
        </p:nvCxnSpPr>
        <p:spPr>
          <a:xfrm>
            <a:off x="13341927" y="4525605"/>
            <a:ext cx="3990109" cy="70881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8D77939-E808-5F5B-9FFF-85451FFE1ACA}"/>
              </a:ext>
            </a:extLst>
          </p:cNvPr>
          <p:cNvCxnSpPr>
            <a:cxnSpLocks/>
            <a:stCxn id="6" idx="2"/>
          </p:cNvCxnSpPr>
          <p:nvPr/>
        </p:nvCxnSpPr>
        <p:spPr>
          <a:xfrm flipH="1">
            <a:off x="7523017" y="6919830"/>
            <a:ext cx="1253838" cy="77664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D8E07D4-5506-3A9A-928D-D195B2661D73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8776855" y="6919830"/>
            <a:ext cx="4565071" cy="77664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F889F78-F196-0A34-D860-77DA5F618384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13341926" y="6919830"/>
            <a:ext cx="3990110" cy="77664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E246D7B-F681-3731-3ECD-148D41B92DD6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17332036" y="6919830"/>
            <a:ext cx="1828799" cy="77664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5408016"/>
      </p:ext>
    </p:extLst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Measurement for decision making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2082023" cy="840935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295058" cy="8583279"/>
          </a:xfrm>
        </p:spPr>
        <p:txBody>
          <a:bodyPr anchor="ctr">
            <a:normAutofit/>
          </a:bodyPr>
          <a:lstStyle/>
          <a:p>
            <a:pPr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Fund project? </a:t>
            </a:r>
          </a:p>
          <a:p>
            <a:pPr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More testing? </a:t>
            </a:r>
          </a:p>
          <a:p>
            <a:pPr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Fast enough? Secure enough? </a:t>
            </a:r>
          </a:p>
          <a:p>
            <a:pPr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Code quality sufficient? </a:t>
            </a:r>
          </a:p>
          <a:p>
            <a:pPr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Which feature to focus on? </a:t>
            </a:r>
          </a:p>
          <a:p>
            <a:pPr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Developer bonus? </a:t>
            </a:r>
          </a:p>
          <a:p>
            <a:pPr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Time and cost estimation? Predictions reliable? </a:t>
            </a:r>
          </a:p>
        </p:txBody>
      </p:sp>
    </p:spTree>
    <p:extLst>
      <p:ext uri="{BB962C8B-B14F-4D97-AF65-F5344CB8AC3E}">
        <p14:creationId xmlns:p14="http://schemas.microsoft.com/office/powerpoint/2010/main" val="3958033305"/>
      </p:ext>
    </p:extLst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/>
              <a:t>Why Should we measure engineering productivity?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2082023" cy="840935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295058" cy="8583279"/>
          </a:xfrm>
        </p:spPr>
        <p:txBody>
          <a:bodyPr anchor="ctr">
            <a:normAutofit/>
          </a:bodyPr>
          <a:lstStyle/>
          <a:p>
            <a:pPr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To increase the scope of business without commensurate increase in communication overhead 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Wingdings" pitchFamily="2" charset="2"/>
              </a:rPr>
              <a:t>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increase the productivity of individual engineers in the organization</a:t>
            </a:r>
          </a:p>
          <a:p>
            <a:pPr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Is it even worth measuring?</a:t>
            </a:r>
          </a:p>
          <a:p>
            <a:pPr lvl="1" algn="just">
              <a:spcBef>
                <a:spcPts val="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Measurement is expensive: it takes people to measure the process, analyze the results, and disseminate them to the rest of the company</a:t>
            </a:r>
          </a:p>
          <a:p>
            <a:pPr lvl="1" algn="just">
              <a:spcBef>
                <a:spcPts val="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Furthermore, the measurement process itself might be onerous and slow down the rest of the engineering organization</a:t>
            </a:r>
          </a:p>
          <a:p>
            <a:pPr lvl="1" algn="just">
              <a:spcBef>
                <a:spcPts val="0"/>
              </a:spcBef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Need to measure and estimate smartly</a:t>
            </a:r>
          </a:p>
          <a:p>
            <a:pPr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Successful at measuring software process means giving a stakeholder the data they need to make a decision</a:t>
            </a:r>
          </a:p>
        </p:txBody>
      </p:sp>
    </p:spTree>
    <p:extLst>
      <p:ext uri="{BB962C8B-B14F-4D97-AF65-F5344CB8AC3E}">
        <p14:creationId xmlns:p14="http://schemas.microsoft.com/office/powerpoint/2010/main" val="2282186919"/>
      </p:ext>
    </p:extLst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/>
              <a:t>Risk and Challenges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2082023" cy="840935"/>
          </a:xfrm>
        </p:spPr>
        <p:txBody>
          <a:bodyPr>
            <a:normAutofit/>
          </a:bodyPr>
          <a:lstStyle/>
          <a:p>
            <a:r>
              <a:rPr lang="en-US" dirty="0"/>
              <a:t>Measurement is difficult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295058" cy="8583279"/>
          </a:xfrm>
        </p:spPr>
        <p:txBody>
          <a:bodyPr anchor="ctr">
            <a:normAutofit/>
          </a:bodyPr>
          <a:lstStyle/>
          <a:p>
            <a:pPr marL="0" indent="0" algn="just">
              <a:buNone/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streetlight effect</a:t>
            </a:r>
          </a:p>
          <a:p>
            <a:pPr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 known observational bias.</a:t>
            </a:r>
          </a:p>
          <a:p>
            <a:pPr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People tend to look for something only where it’s easiest to do so.</a:t>
            </a:r>
          </a:p>
          <a:p>
            <a:pPr lvl="1"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If you drop your keys at night, you’ll tend to look for it under streetlights. </a:t>
            </a:r>
          </a:p>
        </p:txBody>
      </p:sp>
      <p:pic>
        <p:nvPicPr>
          <p:cNvPr id="5122" name="Picture 2" descr="The “Streetlight Effect”: a metaphor for knowledge and ignorance – Axis,  Praxis">
            <a:extLst>
              <a:ext uri="{FF2B5EF4-FFF2-40B4-BE49-F238E27FC236}">
                <a16:creationId xmlns:a16="http://schemas.microsoft.com/office/drawing/2014/main" id="{38FA8EA5-4155-52C2-6642-EE7E0265C3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043" y="2419726"/>
            <a:ext cx="12375483" cy="51032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5701038"/>
      </p:ext>
    </p:extLst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/>
              <a:t>Risk and challenges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2082023" cy="840935"/>
          </a:xfrm>
        </p:spPr>
        <p:txBody>
          <a:bodyPr>
            <a:normAutofit/>
          </a:bodyPr>
          <a:lstStyle/>
          <a:p>
            <a:r>
              <a:rPr lang="en-US" dirty="0"/>
              <a:t>What Could Possibly Go Wrong?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12082024" cy="8583279"/>
          </a:xfrm>
        </p:spPr>
        <p:txBody>
          <a:bodyPr anchor="ctr">
            <a:normAutofit/>
          </a:bodyPr>
          <a:lstStyle/>
          <a:p>
            <a:pPr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Bad statistics: A basic misunderstanding of measurement theory and what is being measured. </a:t>
            </a:r>
          </a:p>
          <a:p>
            <a:pPr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Bad decisions: The incorrect use of measurement data, leading to unintended side effects. </a:t>
            </a:r>
          </a:p>
          <a:p>
            <a:pPr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Bad incentives: Disregard for the human factors, or how the cultural change of taking measurements will affect people. </a:t>
            </a:r>
          </a:p>
        </p:txBody>
      </p:sp>
      <p:pic>
        <p:nvPicPr>
          <p:cNvPr id="6" name="Picture 5" descr="A cartoon of a person falling into a hole&#10;&#10;Description automatically generated">
            <a:extLst>
              <a:ext uri="{FF2B5EF4-FFF2-40B4-BE49-F238E27FC236}">
                <a16:creationId xmlns:a16="http://schemas.microsoft.com/office/drawing/2014/main" id="{41B0186A-2C7B-2BF9-86A2-9F946AA0E3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0596" y="3916331"/>
            <a:ext cx="9493568" cy="5883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147219"/>
      </p:ext>
    </p:extLst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/>
              <a:t>Risk and challenges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2082023" cy="840935"/>
          </a:xfrm>
        </p:spPr>
        <p:txBody>
          <a:bodyPr>
            <a:normAutofit/>
          </a:bodyPr>
          <a:lstStyle/>
          <a:p>
            <a:r>
              <a:rPr lang="en-US" dirty="0"/>
              <a:t>Making inferences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7315200"/>
            <a:ext cx="20360114" cy="4528742"/>
          </a:xfrm>
        </p:spPr>
        <p:txBody>
          <a:bodyPr anchor="ctr">
            <a:normAutofit/>
          </a:bodyPr>
          <a:lstStyle/>
          <a:p>
            <a:pPr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To infer causation:</a:t>
            </a:r>
          </a:p>
          <a:p>
            <a:pPr lvl="1"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Provide a theory (from domain knowledge, independent of data)</a:t>
            </a:r>
          </a:p>
          <a:p>
            <a:pPr lvl="1"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Show correlation</a:t>
            </a:r>
          </a:p>
          <a:p>
            <a:pPr lvl="1"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Demonstrate ability to predict new cases (replicate/validate)</a:t>
            </a:r>
          </a:p>
        </p:txBody>
      </p:sp>
      <p:pic>
        <p:nvPicPr>
          <p:cNvPr id="6146" name="Picture 2" descr="Correlation does not imply causation">
            <a:extLst>
              <a:ext uri="{FF2B5EF4-FFF2-40B4-BE49-F238E27FC236}">
                <a16:creationId xmlns:a16="http://schemas.microsoft.com/office/drawing/2014/main" id="{030E68A4-A3A3-F4E3-ABDF-2DA5DE07A6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2157" y="3300947"/>
            <a:ext cx="9959686" cy="4014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7855723"/>
      </p:ext>
    </p:extLst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/>
              <a:t>Risk and challenges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2082023" cy="840935"/>
          </a:xfrm>
        </p:spPr>
        <p:txBody>
          <a:bodyPr>
            <a:normAutofit/>
          </a:bodyPr>
          <a:lstStyle/>
          <a:p>
            <a:r>
              <a:rPr lang="en-US" dirty="0"/>
              <a:t>Spurious Correlations</a:t>
            </a:r>
          </a:p>
        </p:txBody>
      </p:sp>
      <p:pic>
        <p:nvPicPr>
          <p:cNvPr id="8194" name="Picture 2" descr="Spurious Correlations">
            <a:extLst>
              <a:ext uri="{FF2B5EF4-FFF2-40B4-BE49-F238E27FC236}">
                <a16:creationId xmlns:a16="http://schemas.microsoft.com/office/drawing/2014/main" id="{47E4ACF6-D9B6-8DB5-F0EF-80C518552F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166" y="3772628"/>
            <a:ext cx="11685834" cy="75761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Anyone else enjoy looking at graphs with spurious correlations?| Off-Topic  Discussion forum |">
            <a:extLst>
              <a:ext uri="{FF2B5EF4-FFF2-40B4-BE49-F238E27FC236}">
                <a16:creationId xmlns:a16="http://schemas.microsoft.com/office/drawing/2014/main" id="{1C1E9E8D-D396-A2CB-0BB5-90CF902B74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87798" y="3772628"/>
            <a:ext cx="11596202" cy="75761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9037266"/>
      </p:ext>
    </p:extLst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/>
              <a:t>Risk and challenges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2082023" cy="840935"/>
          </a:xfrm>
        </p:spPr>
        <p:txBody>
          <a:bodyPr>
            <a:normAutofit/>
          </a:bodyPr>
          <a:lstStyle/>
          <a:p>
            <a:r>
              <a:rPr lang="en-US" dirty="0"/>
              <a:t>Spurious Correlations: Confounding variables</a:t>
            </a:r>
          </a:p>
        </p:txBody>
      </p:sp>
      <p:pic>
        <p:nvPicPr>
          <p:cNvPr id="10242" name="Picture 2" descr="Confounding - Wikipedia">
            <a:extLst>
              <a:ext uri="{FF2B5EF4-FFF2-40B4-BE49-F238E27FC236}">
                <a16:creationId xmlns:a16="http://schemas.microsoft.com/office/drawing/2014/main" id="{61770E9E-3B46-BE54-6C70-C233625890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7377" y="3298050"/>
            <a:ext cx="9744700" cy="5180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4" name="Picture 4" descr="Understanding Confounding in Epidemiology and Biostatistics: Its Impact on  Data Collection and Analysis">
            <a:extLst>
              <a:ext uri="{FF2B5EF4-FFF2-40B4-BE49-F238E27FC236}">
                <a16:creationId xmlns:a16="http://schemas.microsoft.com/office/drawing/2014/main" id="{63371CDE-08CE-4736-FDCC-20499ED601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30571" y="3298050"/>
            <a:ext cx="9744701" cy="5624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9AC03A-EC3A-5990-48FB-280CF409300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8959972"/>
            <a:ext cx="20360114" cy="2883970"/>
          </a:xfrm>
        </p:spPr>
        <p:txBody>
          <a:bodyPr anchor="ctr">
            <a:normAutofit/>
          </a:bodyPr>
          <a:lstStyle/>
          <a:p>
            <a:pPr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If you look only at the coffee consumption </a:t>
            </a: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Wingdings" pitchFamily="2" charset="2"/>
              </a:rPr>
              <a:t> cancer relationship, you can get very misleading results</a:t>
            </a:r>
          </a:p>
          <a:p>
            <a:pPr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Wingdings" pitchFamily="2" charset="2"/>
              </a:rPr>
              <a:t>Smoking is a confounder</a:t>
            </a:r>
            <a:endParaRPr lang="en-US" sz="3600" dirty="0">
              <a:solidFill>
                <a:schemeClr val="bg2">
                  <a:lumMod val="1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4368736"/>
      </p:ext>
    </p:extLst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/>
              <a:t>Risk and challenges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2082023" cy="840935"/>
          </a:xfrm>
        </p:spPr>
        <p:txBody>
          <a:bodyPr>
            <a:normAutofit/>
          </a:bodyPr>
          <a:lstStyle/>
          <a:p>
            <a:r>
              <a:rPr lang="en-US" dirty="0"/>
              <a:t>Spurious Correlations: </a:t>
            </a:r>
            <a:r>
              <a:rPr lang="en-US" dirty="0" err="1"/>
              <a:t>Berkson’s</a:t>
            </a:r>
            <a:r>
              <a:rPr lang="en-US" dirty="0"/>
              <a:t> Paradox</a:t>
            </a:r>
          </a:p>
        </p:txBody>
      </p:sp>
      <p:pic>
        <p:nvPicPr>
          <p:cNvPr id="6" name="Picture 5" descr="A screen shot of a graph&#10;&#10;Description automatically generated">
            <a:extLst>
              <a:ext uri="{FF2B5EF4-FFF2-40B4-BE49-F238E27FC236}">
                <a16:creationId xmlns:a16="http://schemas.microsoft.com/office/drawing/2014/main" id="{48FFCE9D-5549-9EA5-4416-3887BFDC42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8741" y="3298050"/>
            <a:ext cx="18726517" cy="9586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8700149"/>
      </p:ext>
    </p:extLst>
  </p:cSld>
  <p:clrMapOvr>
    <a:masterClrMapping/>
  </p:clrMapOvr>
  <p:transition spd="med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/>
              <a:t>Risk and challenges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2082023" cy="840935"/>
          </a:xfrm>
        </p:spPr>
        <p:txBody>
          <a:bodyPr>
            <a:normAutofit/>
          </a:bodyPr>
          <a:lstStyle/>
          <a:p>
            <a:r>
              <a:rPr lang="en-US" dirty="0"/>
              <a:t>Survivorship bias</a:t>
            </a:r>
          </a:p>
        </p:txBody>
      </p:sp>
      <p:pic>
        <p:nvPicPr>
          <p:cNvPr id="12294" name="Picture 6" descr="undefined">
            <a:extLst>
              <a:ext uri="{FF2B5EF4-FFF2-40B4-BE49-F238E27FC236}">
                <a16:creationId xmlns:a16="http://schemas.microsoft.com/office/drawing/2014/main" id="{D337F48B-83C0-4EA1-769A-9CA8BCF586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7377" y="3364960"/>
            <a:ext cx="11320202" cy="8437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6" name="Picture 8" descr="Survivorship Bias: Why Reading Too Many Stories of Success is Bad For You">
            <a:extLst>
              <a:ext uri="{FF2B5EF4-FFF2-40B4-BE49-F238E27FC236}">
                <a16:creationId xmlns:a16="http://schemas.microsoft.com/office/drawing/2014/main" id="{C6929BF7-228B-B67E-9051-C9E4D616CC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57804" y="2618893"/>
            <a:ext cx="6758819" cy="1005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2557306"/>
      </p:ext>
    </p:extLst>
  </p:cSld>
  <p:clrMapOvr>
    <a:masterClrMapping/>
  </p:clrMapOvr>
  <p:transition spd="med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/>
              <a:t>Risk and Challenges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2082023" cy="840935"/>
          </a:xfrm>
        </p:spPr>
        <p:txBody>
          <a:bodyPr>
            <a:normAutofit/>
          </a:bodyPr>
          <a:lstStyle/>
          <a:p>
            <a:r>
              <a:rPr lang="en-US" dirty="0"/>
              <a:t>Measurement reliability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295058" cy="8583279"/>
          </a:xfrm>
        </p:spPr>
        <p:txBody>
          <a:bodyPr anchor="ctr">
            <a:normAutofit/>
          </a:bodyPr>
          <a:lstStyle/>
          <a:p>
            <a:pPr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Extent to which a measurement yields similar results when applied multiple times</a:t>
            </a:r>
          </a:p>
          <a:p>
            <a:pPr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Goal is to reduce uncertainty, increase consistency</a:t>
            </a:r>
          </a:p>
          <a:p>
            <a:pPr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Example: Performance</a:t>
            </a:r>
          </a:p>
          <a:p>
            <a:pPr lvl="1"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Time, memory usage</a:t>
            </a:r>
          </a:p>
          <a:p>
            <a:pPr lvl="1"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Cache misses, I/O operations, instruction execution count, etc.</a:t>
            </a:r>
          </a:p>
          <a:p>
            <a:pPr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Law of large numbers</a:t>
            </a:r>
          </a:p>
          <a:p>
            <a:pPr lvl="1"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Taking multiple measurements to reduce error</a:t>
            </a:r>
          </a:p>
          <a:p>
            <a:pPr lvl="1"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Trade-off with cost</a:t>
            </a:r>
          </a:p>
        </p:txBody>
      </p:sp>
    </p:spTree>
    <p:extLst>
      <p:ext uri="{BB962C8B-B14F-4D97-AF65-F5344CB8AC3E}">
        <p14:creationId xmlns:p14="http://schemas.microsoft.com/office/powerpoint/2010/main" val="2325514442"/>
      </p:ext>
    </p:extLst>
  </p:cSld>
  <p:clrMapOvr>
    <a:masterClrMapping/>
  </p:clrMapOvr>
  <p:transition spd="med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/>
              <a:t>Metrics and incentives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2082023" cy="840935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4322618"/>
            <a:ext cx="20295058" cy="7521324"/>
          </a:xfrm>
        </p:spPr>
        <p:txBody>
          <a:bodyPr anchor="t">
            <a:normAutofit/>
          </a:bodyPr>
          <a:lstStyle/>
          <a:p>
            <a:pPr marL="0" indent="0" algn="just">
              <a:buNone/>
            </a:pPr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Goodhart’s law: “When a measure becomes a target, it ceases to be a good measure.”</a:t>
            </a:r>
          </a:p>
        </p:txBody>
      </p:sp>
      <p:pic>
        <p:nvPicPr>
          <p:cNvPr id="15362" name="Picture 2">
            <a:extLst>
              <a:ext uri="{FF2B5EF4-FFF2-40B4-BE49-F238E27FC236}">
                <a16:creationId xmlns:a16="http://schemas.microsoft.com/office/drawing/2014/main" id="{F69B9B6D-766A-A8F3-3C77-56DDC6FDFA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8149" y="5644573"/>
            <a:ext cx="18647702" cy="61993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0063701"/>
      </p:ext>
    </p:extLst>
  </p:cSld>
  <p:clrMapOvr>
    <a:masterClrMapping/>
  </p:clrMapOvr>
  <p:transition spd="med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/>
              <a:t>Metrics and incentives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2082023" cy="840935"/>
          </a:xfrm>
        </p:spPr>
        <p:txBody>
          <a:bodyPr>
            <a:normAutofit/>
          </a:bodyPr>
          <a:lstStyle/>
          <a:p>
            <a:r>
              <a:rPr lang="en-US" dirty="0"/>
              <a:t>Incentivizing productivity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52849-CE2C-39CE-0303-4B296CF1F9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2"/>
            <a:ext cx="20295058" cy="8583280"/>
          </a:xfrm>
        </p:spPr>
        <p:txBody>
          <a:bodyPr anchor="ctr">
            <a:normAutofit/>
          </a:bodyPr>
          <a:lstStyle/>
          <a:p>
            <a:pPr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What happens when developer bonuses are based on</a:t>
            </a:r>
          </a:p>
          <a:p>
            <a:pPr lvl="1"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Lines of code per day?</a:t>
            </a:r>
          </a:p>
          <a:p>
            <a:pPr lvl="1"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Amount of documentation written?</a:t>
            </a:r>
          </a:p>
          <a:p>
            <a:pPr lvl="1"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Low number of reported bugs in their code?</a:t>
            </a:r>
          </a:p>
          <a:p>
            <a:pPr lvl="1"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Low number of open bugs in their code?</a:t>
            </a:r>
          </a:p>
          <a:p>
            <a:pPr lvl="1"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High number of fixed bugs?</a:t>
            </a:r>
          </a:p>
          <a:p>
            <a:pPr lvl="1" algn="just"/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Accuracy of time estimates?</a:t>
            </a:r>
          </a:p>
        </p:txBody>
      </p:sp>
    </p:spTree>
    <p:extLst>
      <p:ext uri="{BB962C8B-B14F-4D97-AF65-F5344CB8AC3E}">
        <p14:creationId xmlns:p14="http://schemas.microsoft.com/office/powerpoint/2010/main" val="4058169063"/>
      </p:ext>
    </p:extLst>
  </p:cSld>
  <p:clrMapOvr>
    <a:masterClrMapping/>
  </p:clrMapOvr>
  <p:transition spd="med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/>
              <a:t>Case Study: Autonomous Vehicle Software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4715569" cy="840935"/>
          </a:xfrm>
        </p:spPr>
        <p:txBody>
          <a:bodyPr>
            <a:normAutofit/>
          </a:bodyPr>
          <a:lstStyle/>
          <a:p>
            <a:r>
              <a:rPr lang="en-US" dirty="0"/>
              <a:t>By What Metrics can we judge AV software (e.g., Safety)</a:t>
            </a:r>
          </a:p>
        </p:txBody>
      </p:sp>
      <p:pic>
        <p:nvPicPr>
          <p:cNvPr id="17410" name="Picture 2" descr="Pertama di Indonesia, Autonomous Vehicle Akan Beroperasi di Kabupaten  Tangerang">
            <a:extLst>
              <a:ext uri="{FF2B5EF4-FFF2-40B4-BE49-F238E27FC236}">
                <a16:creationId xmlns:a16="http://schemas.microsoft.com/office/drawing/2014/main" id="{CC4F5FB2-9792-38C5-27FA-9D814AEBBF33}"/>
              </a:ext>
            </a:extLst>
          </p:cNvPr>
          <p:cNvPicPr>
            <a:picLocks noGrp="1" noChangeAspect="1" noChangeArrowheads="1"/>
          </p:cNvPicPr>
          <p:nvPr>
            <p:ph sz="quarter" idx="1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5306" y="3298050"/>
            <a:ext cx="14333387" cy="10252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0696604"/>
      </p:ext>
    </p:extLst>
  </p:cSld>
  <p:clrMapOvr>
    <a:masterClrMapping/>
  </p:clrMapOvr>
  <p:transition spd="med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/>
              <a:t>Case Study: Autonomous Vehicle Software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4715569" cy="840935"/>
          </a:xfrm>
        </p:spPr>
        <p:txBody>
          <a:bodyPr>
            <a:normAutofit/>
          </a:bodyPr>
          <a:lstStyle/>
          <a:p>
            <a:r>
              <a:rPr lang="en-US" dirty="0"/>
              <a:t>(1) Code coverage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A9E19481-81CB-F021-7001-C5BA086C75C2}"/>
              </a:ext>
            </a:extLst>
          </p:cNvPr>
          <p:cNvSpPr txBox="1">
            <a:spLocks/>
          </p:cNvSpPr>
          <p:nvPr/>
        </p:nvSpPr>
        <p:spPr>
          <a:xfrm>
            <a:off x="2167377" y="3260662"/>
            <a:ext cx="10024623" cy="85832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algn="just"/>
            <a:r>
              <a:rPr lang="en-ID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Amount of code executed during testing</a:t>
            </a:r>
          </a:p>
          <a:p>
            <a:pPr algn="just"/>
            <a:r>
              <a:rPr lang="en-ID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Statement coverage, line coverage, branch coverage, etc.</a:t>
            </a:r>
          </a:p>
          <a:p>
            <a:pPr algn="just"/>
            <a:r>
              <a:rPr lang="en-ID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E.g., 75% branch coverage / ¾ if-else outcomes have been executed</a:t>
            </a:r>
          </a:p>
        </p:txBody>
      </p:sp>
      <p:pic>
        <p:nvPicPr>
          <p:cNvPr id="7" name="Picture 6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E0F1D569-737F-6ACB-D4CC-C3376373C2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85945" y="4175062"/>
            <a:ext cx="10072841" cy="6756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582762"/>
      </p:ext>
    </p:extLst>
  </p:cSld>
  <p:clrMapOvr>
    <a:masterClrMapping/>
  </p:clrMapOvr>
  <p:transition spd="med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/>
              <a:t>Case Study: Autonomous Vehicle Software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4715569" cy="840935"/>
          </a:xfrm>
        </p:spPr>
        <p:txBody>
          <a:bodyPr>
            <a:normAutofit/>
          </a:bodyPr>
          <a:lstStyle/>
          <a:p>
            <a:r>
              <a:rPr lang="en-US" dirty="0"/>
              <a:t>(2) Model accuracy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A9E19481-81CB-F021-7001-C5BA086C75C2}"/>
              </a:ext>
            </a:extLst>
          </p:cNvPr>
          <p:cNvSpPr txBox="1">
            <a:spLocks/>
          </p:cNvSpPr>
          <p:nvPr/>
        </p:nvSpPr>
        <p:spPr>
          <a:xfrm>
            <a:off x="2167377" y="3260662"/>
            <a:ext cx="10024623" cy="85832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algn="just"/>
            <a:r>
              <a:rPr lang="en-ID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Train machine-learning models on labelled data (sensor data + ground truth)</a:t>
            </a:r>
          </a:p>
          <a:p>
            <a:pPr algn="just"/>
            <a:r>
              <a:rPr lang="en-ID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Compute accuracy on a separate labelled test set</a:t>
            </a:r>
          </a:p>
          <a:p>
            <a:pPr algn="just"/>
            <a:r>
              <a:rPr lang="en-ID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E.g., 90% accuracy implies that object recognition is right for 90% of the test inputs</a:t>
            </a:r>
          </a:p>
        </p:txBody>
      </p:sp>
      <p:pic>
        <p:nvPicPr>
          <p:cNvPr id="6" name="Picture 5" descr="A diagram of a computer flowchart&#10;&#10;Description automatically generated">
            <a:extLst>
              <a:ext uri="{FF2B5EF4-FFF2-40B4-BE49-F238E27FC236}">
                <a16:creationId xmlns:a16="http://schemas.microsoft.com/office/drawing/2014/main" id="{F2701861-9148-35B2-2079-B3E805EC60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61787" y="4046882"/>
            <a:ext cx="10621818" cy="7249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3050066"/>
      </p:ext>
    </p:extLst>
  </p:cSld>
  <p:clrMapOvr>
    <a:masterClrMapping/>
  </p:clrMapOvr>
  <p:transition spd="med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/>
              <a:t>Case Study: Autonomous Vehicle Software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4715569" cy="840935"/>
          </a:xfrm>
        </p:spPr>
        <p:txBody>
          <a:bodyPr>
            <a:normAutofit/>
          </a:bodyPr>
          <a:lstStyle/>
          <a:p>
            <a:r>
              <a:rPr lang="en-US" dirty="0"/>
              <a:t>(3) Failure Rate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A9E19481-81CB-F021-7001-C5BA086C75C2}"/>
              </a:ext>
            </a:extLst>
          </p:cNvPr>
          <p:cNvSpPr txBox="1">
            <a:spLocks/>
          </p:cNvSpPr>
          <p:nvPr/>
        </p:nvSpPr>
        <p:spPr>
          <a:xfrm>
            <a:off x="2167377" y="3260662"/>
            <a:ext cx="10024623" cy="85832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algn="just"/>
            <a:r>
              <a:rPr lang="en-ID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Frequency of crashes / fatalities</a:t>
            </a:r>
          </a:p>
          <a:p>
            <a:pPr algn="just"/>
            <a:r>
              <a:rPr lang="en-ID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Per 1,000 rides, per million miles, per month (in the news)</a:t>
            </a:r>
          </a:p>
        </p:txBody>
      </p:sp>
    </p:spTree>
    <p:extLst>
      <p:ext uri="{BB962C8B-B14F-4D97-AF65-F5344CB8AC3E}">
        <p14:creationId xmlns:p14="http://schemas.microsoft.com/office/powerpoint/2010/main" val="1246513872"/>
      </p:ext>
    </p:extLst>
  </p:cSld>
  <p:clrMapOvr>
    <a:masterClrMapping/>
  </p:clrMapOvr>
  <p:transition spd="med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/>
              <a:t>Case Study: Autonomous Vehicle Software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4715569" cy="840935"/>
          </a:xfrm>
        </p:spPr>
        <p:txBody>
          <a:bodyPr>
            <a:normAutofit/>
          </a:bodyPr>
          <a:lstStyle/>
          <a:p>
            <a:r>
              <a:rPr lang="en-US" dirty="0"/>
              <a:t>(4) Mileage</a:t>
            </a:r>
          </a:p>
        </p:txBody>
      </p:sp>
      <p:pic>
        <p:nvPicPr>
          <p:cNvPr id="6" name="Picture 5" descr="A graph of a driving test&#10;&#10;Description automatically generated with medium confidence">
            <a:extLst>
              <a:ext uri="{FF2B5EF4-FFF2-40B4-BE49-F238E27FC236}">
                <a16:creationId xmlns:a16="http://schemas.microsoft.com/office/drawing/2014/main" id="{745C492A-6D8F-0A77-2C96-920596807A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9416" y="3298050"/>
            <a:ext cx="10925168" cy="10009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9337142"/>
      </p:ext>
    </p:extLst>
  </p:cSld>
  <p:clrMapOvr>
    <a:masterClrMapping/>
  </p:clrMapOvr>
  <p:transition spd="med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4C09-62A6-4EAD-480F-E66422499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/>
              <a:t>Case Study: Autonomous Vehicle Software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851F2-9100-FF53-F123-D4F65FF84A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7"/>
            <a:ext cx="14715569" cy="840935"/>
          </a:xfrm>
        </p:spPr>
        <p:txBody>
          <a:bodyPr>
            <a:normAutofit/>
          </a:bodyPr>
          <a:lstStyle/>
          <a:p>
            <a:r>
              <a:rPr lang="en-US" dirty="0"/>
              <a:t>Activity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A9E19481-81CB-F021-7001-C5BA086C75C2}"/>
              </a:ext>
            </a:extLst>
          </p:cNvPr>
          <p:cNvSpPr txBox="1">
            <a:spLocks/>
          </p:cNvSpPr>
          <p:nvPr/>
        </p:nvSpPr>
        <p:spPr>
          <a:xfrm>
            <a:off x="2167377" y="3260662"/>
            <a:ext cx="10024623" cy="85832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algn="just"/>
            <a:r>
              <a:rPr lang="en-ID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Work in groups</a:t>
            </a:r>
          </a:p>
          <a:p>
            <a:pPr algn="just"/>
            <a:r>
              <a:rPr lang="en-ID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Apply the </a:t>
            </a:r>
            <a:r>
              <a:rPr lang="en-ID" sz="3600" b="1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Goal-Question-Metric</a:t>
            </a:r>
            <a:r>
              <a:rPr lang="en-ID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framework to explore various aspects of AV software</a:t>
            </a:r>
          </a:p>
          <a:p>
            <a:pPr algn="just"/>
            <a:r>
              <a:rPr lang="en-ID" sz="3600" dirty="0">
                <a:solidFill>
                  <a:schemeClr val="bg2">
                    <a:lumMod val="1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Define one goal, two questions, and at least one metric per question</a:t>
            </a:r>
          </a:p>
        </p:txBody>
      </p:sp>
      <p:pic>
        <p:nvPicPr>
          <p:cNvPr id="6" name="Picture 5" descr="A list of words on a white background&#10;&#10;Description automatically generated">
            <a:extLst>
              <a:ext uri="{FF2B5EF4-FFF2-40B4-BE49-F238E27FC236}">
                <a16:creationId xmlns:a16="http://schemas.microsoft.com/office/drawing/2014/main" id="{BDA88781-1DF1-3BE8-BBC8-2A19D5B83A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77188" y="2840194"/>
            <a:ext cx="8639435" cy="10276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9798102"/>
      </p:ext>
    </p:extLst>
  </p:cSld>
  <p:clrMapOvr>
    <a:masterClrMapping/>
  </p:clrMapOvr>
  <p:transition spd="med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CC9A3-FB6E-DB3A-36BC-1DB5FA6C0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References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3E2DA4-F8BE-01AB-0C23-B97B20B1AE7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AE9782-3C02-FAD4-699A-C827BC99AC35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pPr algn="just"/>
            <a:r>
              <a:rPr lang="id-ID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Titus </a:t>
            </a:r>
            <a:r>
              <a:rPr lang="id-ID" sz="36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Winters</a:t>
            </a:r>
            <a:r>
              <a:rPr lang="id-ID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Tom </a:t>
            </a:r>
            <a:r>
              <a:rPr lang="id-ID" sz="36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Manshreck</a:t>
            </a:r>
            <a:r>
              <a:rPr lang="id-ID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id-ID" sz="36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and</a:t>
            </a:r>
            <a:r>
              <a:rPr lang="id-ID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id-ID" sz="36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Hyrum</a:t>
            </a:r>
            <a:r>
              <a:rPr lang="id-ID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id-ID" sz="36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Wright</a:t>
            </a:r>
            <a:r>
              <a:rPr lang="id-ID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(2020). </a:t>
            </a:r>
            <a:r>
              <a:rPr lang="id-ID" sz="3600" b="1" i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Software</a:t>
            </a:r>
            <a:r>
              <a:rPr lang="id-ID" sz="3600" b="1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Engineering </a:t>
            </a:r>
            <a:r>
              <a:rPr lang="id-ID" sz="3600" b="1" i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at</a:t>
            </a:r>
            <a:r>
              <a:rPr lang="id-ID" sz="3600" b="1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Google: </a:t>
            </a:r>
            <a:r>
              <a:rPr lang="id-ID" sz="3600" b="1" i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Lesson</a:t>
            </a:r>
            <a:r>
              <a:rPr lang="id-ID" sz="3600" b="1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id-ID" sz="3600" b="1" i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Learned</a:t>
            </a:r>
            <a:r>
              <a:rPr lang="id-ID" sz="3600" b="1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id-ID" sz="3600" b="1" i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from</a:t>
            </a:r>
            <a:r>
              <a:rPr lang="id-ID" sz="3600" b="1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id-ID" sz="3600" b="1" i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Programming</a:t>
            </a:r>
            <a:r>
              <a:rPr lang="id-ID" sz="3600" b="1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Over </a:t>
            </a:r>
            <a:r>
              <a:rPr lang="id-ID" sz="3600" b="1" i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Time</a:t>
            </a:r>
            <a:r>
              <a:rPr lang="id-ID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1st. </a:t>
            </a:r>
            <a:r>
              <a:rPr lang="id-ID" sz="36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O’Reilly</a:t>
            </a:r>
            <a:r>
              <a:rPr lang="id-ID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Media. California. ISBN: 978-1492082798.</a:t>
            </a:r>
          </a:p>
          <a:p>
            <a:pPr algn="just"/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Roger Pressman and Bruce Maxim. (2020). </a:t>
            </a:r>
            <a:r>
              <a:rPr lang="en-US" sz="3600" b="1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Software Engineering: A Practitioner's Approach</a:t>
            </a:r>
            <a:r>
              <a:rPr lang="en-US" sz="3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9th E. McGraw- Hill. New York. ISBN: 9781259872976. </a:t>
            </a:r>
          </a:p>
        </p:txBody>
      </p:sp>
    </p:spTree>
    <p:extLst>
      <p:ext uri="{BB962C8B-B14F-4D97-AF65-F5344CB8AC3E}">
        <p14:creationId xmlns:p14="http://schemas.microsoft.com/office/powerpoint/2010/main" val="1976124244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BINUS Learning Object Slide Template 2022" id="{91EC78B4-BE4F-3B4D-B302-CF3E80410C1C}" vid="{48571482-A7A2-E44B-AA81-515161122809}"/>
    </a:ext>
  </a:extLst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Version xmlns="http://schemas.microsoft.com/sharepoint/v3/fields" xsi:nil="true"/>
    <TaxCatchAll xmlns="9fdf624c-fedc-4f6c-b928-0c7bf4c9e100" xsi:nil="true"/>
    <_Flow_SignoffStatus xmlns="47793baa-3cbb-486e-a055-4d42ce3882d7" xsi:nil="true"/>
    <_dlc_DocId xmlns="9fdf624c-fedc-4f6c-b928-0c7bf4c9e100">J56STF5CZXNR-2061195910-875156</_dlc_DocId>
    <_dlc_DocIdUrl xmlns="9fdf624c-fedc-4f6c-b928-0c7bf4c9e100">
      <Url>https://binusianorg.sharepoint.com/sites/arc/_layouts/15/DocIdRedir.aspx?ID=J56STF5CZXNR-2061195910-875156</Url>
      <Description>J56STF5CZXNR-2061195910-875156</Description>
    </_dlc_DocIdUrl>
  </documentManagement>
</p:propertie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44340CFFCDDB44F9904404F1FA9688C" ma:contentTypeVersion="18" ma:contentTypeDescription="Create a new document." ma:contentTypeScope="" ma:versionID="2a43a3a40365f9eee60928e1a48d8e8a">
  <xsd:schema xmlns:xsd="http://www.w3.org/2001/XMLSchema" xmlns:xs="http://www.w3.org/2001/XMLSchema" xmlns:p="http://schemas.microsoft.com/office/2006/metadata/properties" xmlns:ns2="9fdf624c-fedc-4f6c-b928-0c7bf4c9e100" xmlns:ns3="47793baa-3cbb-486e-a055-4d42ce3882d7" xmlns:ns4="http://schemas.microsoft.com/sharepoint/v3/fields" targetNamespace="http://schemas.microsoft.com/office/2006/metadata/properties" ma:root="true" ma:fieldsID="b55bbfde6f7dd5be9fcb8a553256df6e" ns2:_="" ns3:_="" ns4:_="">
    <xsd:import namespace="9fdf624c-fedc-4f6c-b928-0c7bf4c9e100"/>
    <xsd:import namespace="47793baa-3cbb-486e-a055-4d42ce3882d7"/>
    <xsd:import namespace="http://schemas.microsoft.com/sharepoint/v3/fields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2:SharedWithUsers" minOccurs="0"/>
                <xsd:element ref="ns2:SharedWithDetails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3:_Flow_SignoffStatus" minOccurs="0"/>
                <xsd:element ref="ns4:_Version" minOccurs="0"/>
                <xsd:element ref="ns3:MediaLengthInSeconds" minOccurs="0"/>
                <xsd:element ref="ns2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df624c-fedc-4f6c-b928-0c7bf4c9e100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7" nillable="true" ma:displayName="Taxonomy Catch All Column" ma:hidden="true" ma:list="{131959e2-2cf4-437e-858a-61f1b162208b}" ma:internalName="TaxCatchAll" ma:showField="CatchAllData" ma:web="9fdf624c-fedc-4f6c-b928-0c7bf4c9e10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7793baa-3cbb-486e-a055-4d42ce3882d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MediaServiceAutoKeyPoints" ma:index="2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Flow_SignoffStatus" ma:index="23" nillable="true" ma:displayName="Sign-off status" ma:internalName="Sign_x002d_off_x0020_status">
      <xsd:simpleType>
        <xsd:restriction base="dms:Text"/>
      </xsd:simpleType>
    </xsd:element>
    <xsd:element name="MediaLengthInSeconds" ma:index="25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/fields" elementFormDefault="qualified">
    <xsd:import namespace="http://schemas.microsoft.com/office/2006/documentManagement/types"/>
    <xsd:import namespace="http://schemas.microsoft.com/office/infopath/2007/PartnerControls"/>
    <xsd:element name="_Version" ma:index="24" nillable="true" ma:displayName="Version" ma:internalName="_Version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E0FE671-25D8-4116-9472-BF9297986CC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DDAE38A-8264-43C3-9B01-B7FA25F10602}">
  <ds:schemaRefs>
    <ds:schemaRef ds:uri="http://schemas.microsoft.com/sharepoint/events"/>
  </ds:schemaRefs>
</ds:datastoreItem>
</file>

<file path=customXml/itemProps3.xml><?xml version="1.0" encoding="utf-8"?>
<ds:datastoreItem xmlns:ds="http://schemas.openxmlformats.org/officeDocument/2006/customXml" ds:itemID="{C2252D89-D1E6-488A-B078-4573BAE073F6}">
  <ds:schemaRefs>
    <ds:schemaRef ds:uri="http://purl.org/dc/terms/"/>
    <ds:schemaRef ds:uri="2661c1c1-ed05-4275-a33d-64e31eb1ea69"/>
    <ds:schemaRef ds:uri="http://schemas.microsoft.com/office/infopath/2007/PartnerControls"/>
    <ds:schemaRef ds:uri="http://www.w3.org/XML/1998/namespace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4f26481f-d1e8-4452-9a9a-b303515fd2b7"/>
    <ds:schemaRef ds:uri="http://schemas.microsoft.com/office/2006/metadata/properties"/>
    <ds:schemaRef ds:uri="http://purl.org/dc/dcmitype/"/>
    <ds:schemaRef ds:uri="http://schemas.microsoft.com/sharepoint/v3/fields"/>
    <ds:schemaRef ds:uri="9fdf624c-fedc-4f6c-b928-0c7bf4c9e100"/>
    <ds:schemaRef ds:uri="47793baa-3cbb-486e-a055-4d42ce3882d7"/>
  </ds:schemaRefs>
</ds:datastoreItem>
</file>

<file path=customXml/itemProps4.xml><?xml version="1.0" encoding="utf-8"?>
<ds:datastoreItem xmlns:ds="http://schemas.openxmlformats.org/officeDocument/2006/customXml" ds:itemID="{90A97211-242D-415A-8ADE-6F44C1D92C7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fdf624c-fedc-4f6c-b928-0c7bf4c9e100"/>
    <ds:schemaRef ds:uri="47793baa-3cbb-486e-a055-4d42ce3882d7"/>
    <ds:schemaRef ds:uri="http://schemas.microsoft.com/sharepoint/v3/field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BINUS Learning Object Slide Template 2022</Template>
  <TotalTime>12459</TotalTime>
  <Words>2648</Words>
  <Application>Microsoft Office PowerPoint</Application>
  <PresentationFormat>Custom</PresentationFormat>
  <Paragraphs>344</Paragraphs>
  <Slides>50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8" baseType="lpstr">
      <vt:lpstr>Open Sans Light</vt:lpstr>
      <vt:lpstr>Open Sans Semibold</vt:lpstr>
      <vt:lpstr>Cambria Math</vt:lpstr>
      <vt:lpstr>Arial</vt:lpstr>
      <vt:lpstr>Open Sans ExtraBold</vt:lpstr>
      <vt:lpstr>Open Sans</vt:lpstr>
      <vt:lpstr>OCRB</vt:lpstr>
      <vt:lpstr>21_BasicWhite</vt:lpstr>
      <vt:lpstr>Metrics and Measurement</vt:lpstr>
      <vt:lpstr>Session 23 – Metrics and Measurement</vt:lpstr>
      <vt:lpstr>Session 23 – Metrics and Measurement</vt:lpstr>
      <vt:lpstr>What is Measurement?</vt:lpstr>
      <vt:lpstr>”To measure is to know;  if you cannot measure it, you cannot improve it”  - William Thomson, Lord Kelvin</vt:lpstr>
      <vt:lpstr>Software Engineering: Principles, practices (technical and non-technical) for confidently building high-quality software.</vt:lpstr>
      <vt:lpstr>What is Measurement?</vt:lpstr>
      <vt:lpstr>Software Quality Metrics</vt:lpstr>
      <vt:lpstr>Software Quality Metrics</vt:lpstr>
      <vt:lpstr>Software Quality</vt:lpstr>
      <vt:lpstr>Process Quality</vt:lpstr>
      <vt:lpstr>People Quality</vt:lpstr>
      <vt:lpstr>Non-Trivial Qualities</vt:lpstr>
      <vt:lpstr>McNamara Fallacy</vt:lpstr>
      <vt:lpstr>Make it Measurable</vt:lpstr>
      <vt:lpstr>Everything is measurable</vt:lpstr>
      <vt:lpstr>Examples: Metrics for Source Code</vt:lpstr>
      <vt:lpstr>Metrics for Source Code</vt:lpstr>
      <vt:lpstr>Metrics for Source Code</vt:lpstr>
      <vt:lpstr>Metrics for Source Code</vt:lpstr>
      <vt:lpstr>Metrics for Source Code</vt:lpstr>
      <vt:lpstr>Metrics for Source Code</vt:lpstr>
      <vt:lpstr>Measurement Scales</vt:lpstr>
      <vt:lpstr>Measurement Scales</vt:lpstr>
      <vt:lpstr>Measurement Scales</vt:lpstr>
      <vt:lpstr>Measurement Scales</vt:lpstr>
      <vt:lpstr>Measurement Scales</vt:lpstr>
      <vt:lpstr>How to use Measurements and Metrics?</vt:lpstr>
      <vt:lpstr>Goal Questions Metrics (GQM)</vt:lpstr>
      <vt:lpstr>Goal Questions Metrics (GQM)</vt:lpstr>
      <vt:lpstr>Goal Questions Metrics (GQM)</vt:lpstr>
      <vt:lpstr>Measurement for decision making </vt:lpstr>
      <vt:lpstr>Why Should we measure engineering productivity?</vt:lpstr>
      <vt:lpstr>Risk and Challenges</vt:lpstr>
      <vt:lpstr>Risk and challenges</vt:lpstr>
      <vt:lpstr>Risk and challenges</vt:lpstr>
      <vt:lpstr>Risk and challenges</vt:lpstr>
      <vt:lpstr>Risk and challenges</vt:lpstr>
      <vt:lpstr>Risk and challenges</vt:lpstr>
      <vt:lpstr>Risk and challenges</vt:lpstr>
      <vt:lpstr>Risk and Challenges</vt:lpstr>
      <vt:lpstr>Metrics and incentives</vt:lpstr>
      <vt:lpstr>Metrics and incentives</vt:lpstr>
      <vt:lpstr>Case Study: Autonomous Vehicle Software</vt:lpstr>
      <vt:lpstr>Case Study: Autonomous Vehicle Software</vt:lpstr>
      <vt:lpstr>Case Study: Autonomous Vehicle Software</vt:lpstr>
      <vt:lpstr>Case Study: Autonomous Vehicle Software</vt:lpstr>
      <vt:lpstr>Case Study: Autonomous Vehicle Software</vt:lpstr>
      <vt:lpstr>Case Study: Autonomous Vehicle Software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Aris Priyanto</dc:creator>
  <cp:lastModifiedBy>Maulin Nasari</cp:lastModifiedBy>
  <cp:revision>78</cp:revision>
  <dcterms:created xsi:type="dcterms:W3CDTF">2023-04-06T08:40:27Z</dcterms:created>
  <dcterms:modified xsi:type="dcterms:W3CDTF">2025-12-25T09:20:57Z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0x010100144340CFFCDDB44F9904404F1FA9688C</vt:lpwstr>
  </property>
  <property fmtid="{D5CDD505-2E9C-101B-9397-08002B2CF9AE}" pid="3" name="_dlc_DocIdItemGuid">
    <vt:lpwstr>a8e96856-29d3-47af-8f22-9a1c34492d36</vt:lpwstr>
  </property>
</Properties>
</file>