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5"/>
  </p:sldMasterIdLst>
  <p:notesMasterIdLst>
    <p:notesMasterId r:id="rId42"/>
  </p:notesMasterIdLst>
  <p:sldIdLst>
    <p:sldId id="256" r:id="rId6"/>
    <p:sldId id="257" r:id="rId7"/>
    <p:sldId id="258" r:id="rId8"/>
    <p:sldId id="259" r:id="rId9"/>
    <p:sldId id="260" r:id="rId10"/>
    <p:sldId id="266" r:id="rId11"/>
    <p:sldId id="269" r:id="rId12"/>
    <p:sldId id="293" r:id="rId13"/>
    <p:sldId id="294" r:id="rId14"/>
    <p:sldId id="267" r:id="rId15"/>
    <p:sldId id="270" r:id="rId16"/>
    <p:sldId id="295" r:id="rId17"/>
    <p:sldId id="262" r:id="rId18"/>
    <p:sldId id="264" r:id="rId19"/>
    <p:sldId id="265" r:id="rId20"/>
    <p:sldId id="285" r:id="rId21"/>
    <p:sldId id="286" r:id="rId22"/>
    <p:sldId id="292"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7" r:id="rId37"/>
    <p:sldId id="288" r:id="rId38"/>
    <p:sldId id="289" r:id="rId39"/>
    <p:sldId id="290" r:id="rId40"/>
    <p:sldId id="284" r:id="rId41"/>
  </p:sldIdLst>
  <p:sldSz cx="24384000" cy="13716000"/>
  <p:notesSz cx="6858000" cy="9144000"/>
  <p:embeddedFontLst>
    <p:embeddedFont>
      <p:font typeface="OCRB" panose="020B0609020202020204" pitchFamily="49" charset="0"/>
      <p:regular r:id="rId43"/>
    </p:embeddedFont>
    <p:embeddedFont>
      <p:font typeface="Open Sans" panose="020B0606030504020204" pitchFamily="34" charset="0"/>
      <p:regular r:id="rId44"/>
      <p:bold r:id="rId45"/>
      <p:italic r:id="rId46"/>
      <p:boldItalic r:id="rId47"/>
    </p:embeddedFont>
    <p:embeddedFont>
      <p:font typeface="Open Sans ExtraBold" panose="020B0906030804020204" pitchFamily="34" charset="0"/>
      <p:bold r:id="rId48"/>
      <p:italic r:id="rId49"/>
      <p:boldItalic r:id="rId50"/>
    </p:embeddedFont>
    <p:embeddedFont>
      <p:font typeface="Open Sans Light" panose="020B0306030504020204" pitchFamily="34" charset="0"/>
      <p:regular r:id="rId51"/>
      <p:italic r:id="rId52"/>
    </p:embeddedFont>
    <p:embeddedFont>
      <p:font typeface="Open Sans Semibold" panose="020B0706030804020204" pitchFamily="34" charset="0"/>
      <p:regular r:id="rId53"/>
      <p:bold r:id="rId54"/>
      <p:italic r:id="rId55"/>
      <p:boldItalic r:id="rId56"/>
    </p:embeddedFont>
  </p:embeddedFontLst>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2FF"/>
    <a:srgbClr val="F5AF36"/>
    <a:srgbClr val="314F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02BC5E7-0219-456A-AE74-924955DBD17E}" v="284" dt="2025-12-25T21:58:32.889"/>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632" autoAdjust="0"/>
    <p:restoredTop sz="61314" autoAdjust="0"/>
  </p:normalViewPr>
  <p:slideViewPr>
    <p:cSldViewPr snapToGrid="0" snapToObjects="1">
      <p:cViewPr varScale="1">
        <p:scale>
          <a:sx n="23" d="100"/>
          <a:sy n="23" d="100"/>
        </p:scale>
        <p:origin x="53" y="77"/>
      </p:cViewPr>
      <p:guideLst>
        <p:guide orient="horz" pos="4320"/>
        <p:guide pos="76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notesMaster" Target="notesMasters/notesMaster1.xml"/><Relationship Id="rId47" Type="http://schemas.openxmlformats.org/officeDocument/2006/relationships/font" Target="fonts/font5.fntdata"/><Relationship Id="rId50" Type="http://schemas.openxmlformats.org/officeDocument/2006/relationships/font" Target="fonts/font8.fntdata"/><Relationship Id="rId55" Type="http://schemas.openxmlformats.org/officeDocument/2006/relationships/font" Target="fonts/font13.fntdata"/><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font" Target="fonts/font3.fntdata"/><Relationship Id="rId53" Type="http://schemas.openxmlformats.org/officeDocument/2006/relationships/font" Target="fonts/font11.fntdata"/><Relationship Id="rId58" Type="http://schemas.openxmlformats.org/officeDocument/2006/relationships/viewProps" Target="viewProps.xml"/><Relationship Id="rId5" Type="http://schemas.openxmlformats.org/officeDocument/2006/relationships/slideMaster" Target="slideMasters/slideMaster1.xml"/><Relationship Id="rId61" Type="http://schemas.microsoft.com/office/2016/11/relationships/changesInfo" Target="changesInfos/changesInfo1.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font" Target="fonts/font1.fntdata"/><Relationship Id="rId48" Type="http://schemas.openxmlformats.org/officeDocument/2006/relationships/font" Target="fonts/font6.fntdata"/><Relationship Id="rId56" Type="http://schemas.openxmlformats.org/officeDocument/2006/relationships/font" Target="fonts/font14.fntdata"/><Relationship Id="rId8" Type="http://schemas.openxmlformats.org/officeDocument/2006/relationships/slide" Target="slides/slide3.xml"/><Relationship Id="rId51" Type="http://schemas.openxmlformats.org/officeDocument/2006/relationships/font" Target="fonts/font9.fntdata"/><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font" Target="fonts/font4.fntdata"/><Relationship Id="rId59" Type="http://schemas.openxmlformats.org/officeDocument/2006/relationships/theme" Target="theme/theme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font" Target="fonts/font12.fntdata"/><Relationship Id="rId62"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font" Target="fonts/font7.fntdata"/><Relationship Id="rId57" Type="http://schemas.openxmlformats.org/officeDocument/2006/relationships/presProps" Target="presProps.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font" Target="fonts/font2.fntdata"/><Relationship Id="rId52" Type="http://schemas.openxmlformats.org/officeDocument/2006/relationships/font" Target="fonts/font10.fntdata"/><Relationship Id="rId60" Type="http://schemas.openxmlformats.org/officeDocument/2006/relationships/tableStyles" Target="tableStyles.xml"/><Relationship Id="rId4" Type="http://schemas.openxmlformats.org/officeDocument/2006/relationships/customXml" Target="../customXml/item4.xml"/><Relationship Id="rId9"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ulin Nasari" userId="2c02bce8-14a6-4f73-b14a-299518f8dfce" providerId="ADAL" clId="{973AE700-8634-4AC6-A10B-DFA7AFECB9DA}"/>
    <pc:docChg chg="undo custSel addSld delSld modSld">
      <pc:chgData name="Maulin Nasari" userId="2c02bce8-14a6-4f73-b14a-299518f8dfce" providerId="ADAL" clId="{973AE700-8634-4AC6-A10B-DFA7AFECB9DA}" dt="2025-12-25T21:58:34.481" v="450" actId="27636"/>
      <pc:docMkLst>
        <pc:docMk/>
      </pc:docMkLst>
      <pc:sldChg chg="addSp delSp modSp mod">
        <pc:chgData name="Maulin Nasari" userId="2c02bce8-14a6-4f73-b14a-299518f8dfce" providerId="ADAL" clId="{973AE700-8634-4AC6-A10B-DFA7AFECB9DA}" dt="2025-12-24T04:52:24.918" v="432"/>
        <pc:sldMkLst>
          <pc:docMk/>
          <pc:sldMk cId="3487223446" sldId="256"/>
        </pc:sldMkLst>
        <pc:spChg chg="del">
          <ac:chgData name="Maulin Nasari" userId="2c02bce8-14a6-4f73-b14a-299518f8dfce" providerId="ADAL" clId="{973AE700-8634-4AC6-A10B-DFA7AFECB9DA}" dt="2025-12-24T04:52:22.660" v="431" actId="478"/>
          <ac:spMkLst>
            <pc:docMk/>
            <pc:sldMk cId="3487223446" sldId="256"/>
            <ac:spMk id="4" creationId="{9E9B89E2-412C-8945-F692-CD51460D9806}"/>
          </ac:spMkLst>
        </pc:spChg>
        <pc:spChg chg="add del mod">
          <ac:chgData name="Maulin Nasari" userId="2c02bce8-14a6-4f73-b14a-299518f8dfce" providerId="ADAL" clId="{973AE700-8634-4AC6-A10B-DFA7AFECB9DA}" dt="2025-12-24T04:52:24.918" v="432"/>
          <ac:spMkLst>
            <pc:docMk/>
            <pc:sldMk cId="3487223446" sldId="256"/>
            <ac:spMk id="6" creationId="{D619185A-DC32-CF55-C322-FF3B7E58BB2E}"/>
          </ac:spMkLst>
        </pc:spChg>
        <pc:spChg chg="add mod">
          <ac:chgData name="Maulin Nasari" userId="2c02bce8-14a6-4f73-b14a-299518f8dfce" providerId="ADAL" clId="{973AE700-8634-4AC6-A10B-DFA7AFECB9DA}" dt="2025-12-24T04:52:24.918" v="432"/>
          <ac:spMkLst>
            <pc:docMk/>
            <pc:sldMk cId="3487223446" sldId="256"/>
            <ac:spMk id="7" creationId="{FB75318F-CE59-DB0C-2554-0A5FA4B88FA4}"/>
          </ac:spMkLst>
        </pc:spChg>
      </pc:sldChg>
      <pc:sldChg chg="modSp mod">
        <pc:chgData name="Maulin Nasari" userId="2c02bce8-14a6-4f73-b14a-299518f8dfce" providerId="ADAL" clId="{973AE700-8634-4AC6-A10B-DFA7AFECB9DA}" dt="2025-12-25T21:58:34.481" v="450" actId="27636"/>
        <pc:sldMkLst>
          <pc:docMk/>
          <pc:sldMk cId="481981883" sldId="258"/>
        </pc:sldMkLst>
        <pc:spChg chg="mod">
          <ac:chgData name="Maulin Nasari" userId="2c02bce8-14a6-4f73-b14a-299518f8dfce" providerId="ADAL" clId="{973AE700-8634-4AC6-A10B-DFA7AFECB9DA}" dt="2025-12-25T21:58:34.481" v="450" actId="27636"/>
          <ac:spMkLst>
            <pc:docMk/>
            <pc:sldMk cId="481981883" sldId="258"/>
            <ac:spMk id="4" creationId="{76E358E3-B24E-F7A5-ECF8-12101774A9ED}"/>
          </ac:spMkLst>
        </pc:spChg>
      </pc:sldChg>
      <pc:sldChg chg="addSp modSp mod">
        <pc:chgData name="Maulin Nasari" userId="2c02bce8-14a6-4f73-b14a-299518f8dfce" providerId="ADAL" clId="{973AE700-8634-4AC6-A10B-DFA7AFECB9DA}" dt="2025-12-24T02:05:32.578" v="4" actId="1076"/>
        <pc:sldMkLst>
          <pc:docMk/>
          <pc:sldMk cId="2896605244" sldId="259"/>
        </pc:sldMkLst>
        <pc:spChg chg="add mod">
          <ac:chgData name="Maulin Nasari" userId="2c02bce8-14a6-4f73-b14a-299518f8dfce" providerId="ADAL" clId="{973AE700-8634-4AC6-A10B-DFA7AFECB9DA}" dt="2025-12-24T02:05:32.578" v="4" actId="1076"/>
          <ac:spMkLst>
            <pc:docMk/>
            <pc:sldMk cId="2896605244" sldId="259"/>
            <ac:spMk id="4" creationId="{7CD67B2A-5801-D8E6-0348-7CB577AA4369}"/>
          </ac:spMkLst>
        </pc:spChg>
      </pc:sldChg>
      <pc:sldChg chg="addSp delSp modSp modNotesTx">
        <pc:chgData name="Maulin Nasari" userId="2c02bce8-14a6-4f73-b14a-299518f8dfce" providerId="ADAL" clId="{973AE700-8634-4AC6-A10B-DFA7AFECB9DA}" dt="2025-12-24T02:57:45.351" v="208" actId="20577"/>
        <pc:sldMkLst>
          <pc:docMk/>
          <pc:sldMk cId="842496811" sldId="269"/>
        </pc:sldMkLst>
        <pc:spChg chg="add del mod">
          <ac:chgData name="Maulin Nasari" userId="2c02bce8-14a6-4f73-b14a-299518f8dfce" providerId="ADAL" clId="{973AE700-8634-4AC6-A10B-DFA7AFECB9DA}" dt="2025-12-24T02:54:02.045" v="160" actId="478"/>
          <ac:spMkLst>
            <pc:docMk/>
            <pc:sldMk cId="842496811" sldId="269"/>
            <ac:spMk id="5" creationId="{7D2A9752-095A-728B-F0E0-6E1E7A5F1C66}"/>
          </ac:spMkLst>
        </pc:spChg>
        <pc:picChg chg="add mod">
          <ac:chgData name="Maulin Nasari" userId="2c02bce8-14a6-4f73-b14a-299518f8dfce" providerId="ADAL" clId="{973AE700-8634-4AC6-A10B-DFA7AFECB9DA}" dt="2025-12-24T02:50:25.704" v="132" actId="1076"/>
          <ac:picMkLst>
            <pc:docMk/>
            <pc:sldMk cId="842496811" sldId="269"/>
            <ac:picMk id="1026" creationId="{93DD24F5-323D-3282-4EA3-383B123E3D06}"/>
          </ac:picMkLst>
        </pc:picChg>
        <pc:picChg chg="add mod">
          <ac:chgData name="Maulin Nasari" userId="2c02bce8-14a6-4f73-b14a-299518f8dfce" providerId="ADAL" clId="{973AE700-8634-4AC6-A10B-DFA7AFECB9DA}" dt="2025-12-24T02:50:06.012" v="126" actId="1076"/>
          <ac:picMkLst>
            <pc:docMk/>
            <pc:sldMk cId="842496811" sldId="269"/>
            <ac:picMk id="1028" creationId="{6DA6CDDC-FA8C-AF3F-2E5B-E4ABA75F6A5F}"/>
          </ac:picMkLst>
        </pc:picChg>
        <pc:picChg chg="add mod">
          <ac:chgData name="Maulin Nasari" userId="2c02bce8-14a6-4f73-b14a-299518f8dfce" providerId="ADAL" clId="{973AE700-8634-4AC6-A10B-DFA7AFECB9DA}" dt="2025-12-24T02:50:21.850" v="131" actId="1076"/>
          <ac:picMkLst>
            <pc:docMk/>
            <pc:sldMk cId="842496811" sldId="269"/>
            <ac:picMk id="1030" creationId="{CD8B8230-05E0-AB0C-6217-2545479643FF}"/>
          </ac:picMkLst>
        </pc:picChg>
        <pc:picChg chg="add mod">
          <ac:chgData name="Maulin Nasari" userId="2c02bce8-14a6-4f73-b14a-299518f8dfce" providerId="ADAL" clId="{973AE700-8634-4AC6-A10B-DFA7AFECB9DA}" dt="2025-12-24T02:50:51.172" v="138" actId="1076"/>
          <ac:picMkLst>
            <pc:docMk/>
            <pc:sldMk cId="842496811" sldId="269"/>
            <ac:picMk id="1032" creationId="{70300641-05CE-07F2-3D4D-0FC2D333C222}"/>
          </ac:picMkLst>
        </pc:picChg>
        <pc:picChg chg="add mod">
          <ac:chgData name="Maulin Nasari" userId="2c02bce8-14a6-4f73-b14a-299518f8dfce" providerId="ADAL" clId="{973AE700-8634-4AC6-A10B-DFA7AFECB9DA}" dt="2025-12-24T02:53:02.653" v="157" actId="1038"/>
          <ac:picMkLst>
            <pc:docMk/>
            <pc:sldMk cId="842496811" sldId="269"/>
            <ac:picMk id="1034" creationId="{2709E703-9354-C31C-58C4-F7D78EC07F2A}"/>
          </ac:picMkLst>
        </pc:picChg>
        <pc:picChg chg="add mod">
          <ac:chgData name="Maulin Nasari" userId="2c02bce8-14a6-4f73-b14a-299518f8dfce" providerId="ADAL" clId="{973AE700-8634-4AC6-A10B-DFA7AFECB9DA}" dt="2025-12-24T02:52:57.289" v="149" actId="1076"/>
          <ac:picMkLst>
            <pc:docMk/>
            <pc:sldMk cId="842496811" sldId="269"/>
            <ac:picMk id="1036" creationId="{7FA1422B-BB56-0992-07A0-CB325631AE0A}"/>
          </ac:picMkLst>
        </pc:picChg>
        <pc:picChg chg="add mod">
          <ac:chgData name="Maulin Nasari" userId="2c02bce8-14a6-4f73-b14a-299518f8dfce" providerId="ADAL" clId="{973AE700-8634-4AC6-A10B-DFA7AFECB9DA}" dt="2025-12-24T02:57:08.532" v="206" actId="1038"/>
          <ac:picMkLst>
            <pc:docMk/>
            <pc:sldMk cId="842496811" sldId="269"/>
            <ac:picMk id="1040" creationId="{B0112833-703F-6E9A-C52D-77C0A2B0A528}"/>
          </ac:picMkLst>
        </pc:picChg>
        <pc:picChg chg="add mod">
          <ac:chgData name="Maulin Nasari" userId="2c02bce8-14a6-4f73-b14a-299518f8dfce" providerId="ADAL" clId="{973AE700-8634-4AC6-A10B-DFA7AFECB9DA}" dt="2025-12-24T02:57:08.532" v="206" actId="1038"/>
          <ac:picMkLst>
            <pc:docMk/>
            <pc:sldMk cId="842496811" sldId="269"/>
            <ac:picMk id="1042" creationId="{9C556492-1AAA-59BC-F49C-13FE0E449506}"/>
          </ac:picMkLst>
        </pc:picChg>
        <pc:picChg chg="add mod">
          <ac:chgData name="Maulin Nasari" userId="2c02bce8-14a6-4f73-b14a-299518f8dfce" providerId="ADAL" clId="{973AE700-8634-4AC6-A10B-DFA7AFECB9DA}" dt="2025-12-24T02:57:08.532" v="206" actId="1038"/>
          <ac:picMkLst>
            <pc:docMk/>
            <pc:sldMk cId="842496811" sldId="269"/>
            <ac:picMk id="1044" creationId="{ED8D0288-37C0-8B92-4561-9731B2E0DBD2}"/>
          </ac:picMkLst>
        </pc:picChg>
      </pc:sldChg>
      <pc:sldChg chg="modSp mod">
        <pc:chgData name="Maulin Nasari" userId="2c02bce8-14a6-4f73-b14a-299518f8dfce" providerId="ADAL" clId="{973AE700-8634-4AC6-A10B-DFA7AFECB9DA}" dt="2025-12-24T02:15:57.875" v="29" actId="1076"/>
        <pc:sldMkLst>
          <pc:docMk/>
          <pc:sldMk cId="2360099575" sldId="272"/>
        </pc:sldMkLst>
        <pc:spChg chg="mod">
          <ac:chgData name="Maulin Nasari" userId="2c02bce8-14a6-4f73-b14a-299518f8dfce" providerId="ADAL" clId="{973AE700-8634-4AC6-A10B-DFA7AFECB9DA}" dt="2025-12-24T02:15:57.875" v="29" actId="1076"/>
          <ac:spMkLst>
            <pc:docMk/>
            <pc:sldMk cId="2360099575" sldId="272"/>
            <ac:spMk id="4" creationId="{B5552849-CE2C-39CE-0303-4B296CF1F9CD}"/>
          </ac:spMkLst>
        </pc:spChg>
      </pc:sldChg>
      <pc:sldChg chg="modSp mod">
        <pc:chgData name="Maulin Nasari" userId="2c02bce8-14a6-4f73-b14a-299518f8dfce" providerId="ADAL" clId="{973AE700-8634-4AC6-A10B-DFA7AFECB9DA}" dt="2025-12-24T02:17:27.533" v="32" actId="20577"/>
        <pc:sldMkLst>
          <pc:docMk/>
          <pc:sldMk cId="4093088402" sldId="273"/>
        </pc:sldMkLst>
        <pc:spChg chg="mod">
          <ac:chgData name="Maulin Nasari" userId="2c02bce8-14a6-4f73-b14a-299518f8dfce" providerId="ADAL" clId="{973AE700-8634-4AC6-A10B-DFA7AFECB9DA}" dt="2025-12-24T02:17:27.533" v="32" actId="20577"/>
          <ac:spMkLst>
            <pc:docMk/>
            <pc:sldMk cId="4093088402" sldId="273"/>
            <ac:spMk id="4" creationId="{B5552849-CE2C-39CE-0303-4B296CF1F9CD}"/>
          </ac:spMkLst>
        </pc:spChg>
      </pc:sldChg>
      <pc:sldChg chg="addSp modSp mod">
        <pc:chgData name="Maulin Nasari" userId="2c02bce8-14a6-4f73-b14a-299518f8dfce" providerId="ADAL" clId="{973AE700-8634-4AC6-A10B-DFA7AFECB9DA}" dt="2025-12-24T02:37:47.435" v="105" actId="1035"/>
        <pc:sldMkLst>
          <pc:docMk/>
          <pc:sldMk cId="1323100308" sldId="278"/>
        </pc:sldMkLst>
        <pc:spChg chg="mod">
          <ac:chgData name="Maulin Nasari" userId="2c02bce8-14a6-4f73-b14a-299518f8dfce" providerId="ADAL" clId="{973AE700-8634-4AC6-A10B-DFA7AFECB9DA}" dt="2025-12-24T02:37:42.390" v="100" actId="1036"/>
          <ac:spMkLst>
            <pc:docMk/>
            <pc:sldMk cId="1323100308" sldId="278"/>
            <ac:spMk id="4" creationId="{B5552849-CE2C-39CE-0303-4B296CF1F9CD}"/>
          </ac:spMkLst>
        </pc:spChg>
        <pc:spChg chg="add mod">
          <ac:chgData name="Maulin Nasari" userId="2c02bce8-14a6-4f73-b14a-299518f8dfce" providerId="ADAL" clId="{973AE700-8634-4AC6-A10B-DFA7AFECB9DA}" dt="2025-12-24T02:37:38.509" v="94" actId="1076"/>
          <ac:spMkLst>
            <pc:docMk/>
            <pc:sldMk cId="1323100308" sldId="278"/>
            <ac:spMk id="6" creationId="{0246521E-6FAD-58A7-5EF2-3806B0FDD088}"/>
          </ac:spMkLst>
        </pc:spChg>
        <pc:picChg chg="mod">
          <ac:chgData name="Maulin Nasari" userId="2c02bce8-14a6-4f73-b14a-299518f8dfce" providerId="ADAL" clId="{973AE700-8634-4AC6-A10B-DFA7AFECB9DA}" dt="2025-12-24T02:37:47.435" v="105" actId="1035"/>
          <ac:picMkLst>
            <pc:docMk/>
            <pc:sldMk cId="1323100308" sldId="278"/>
            <ac:picMk id="5" creationId="{2BC8B2FA-84AF-383C-16E6-FFA2D56AF12F}"/>
          </ac:picMkLst>
        </pc:picChg>
      </pc:sldChg>
      <pc:sldChg chg="modSp mod">
        <pc:chgData name="Maulin Nasari" userId="2c02bce8-14a6-4f73-b14a-299518f8dfce" providerId="ADAL" clId="{973AE700-8634-4AC6-A10B-DFA7AFECB9DA}" dt="2025-12-24T02:42:03.391" v="115" actId="5793"/>
        <pc:sldMkLst>
          <pc:docMk/>
          <pc:sldMk cId="2064673714" sldId="281"/>
        </pc:sldMkLst>
        <pc:spChg chg="mod">
          <ac:chgData name="Maulin Nasari" userId="2c02bce8-14a6-4f73-b14a-299518f8dfce" providerId="ADAL" clId="{973AE700-8634-4AC6-A10B-DFA7AFECB9DA}" dt="2025-12-24T02:42:03.391" v="115" actId="5793"/>
          <ac:spMkLst>
            <pc:docMk/>
            <pc:sldMk cId="2064673714" sldId="281"/>
            <ac:spMk id="4" creationId="{B5552849-CE2C-39CE-0303-4B296CF1F9CD}"/>
          </ac:spMkLst>
        </pc:spChg>
      </pc:sldChg>
      <pc:sldChg chg="modSp mod">
        <pc:chgData name="Maulin Nasari" userId="2c02bce8-14a6-4f73-b14a-299518f8dfce" providerId="ADAL" clId="{973AE700-8634-4AC6-A10B-DFA7AFECB9DA}" dt="2025-12-24T02:44:02.957" v="117" actId="27636"/>
        <pc:sldMkLst>
          <pc:docMk/>
          <pc:sldMk cId="1861062036" sldId="288"/>
        </pc:sldMkLst>
        <pc:spChg chg="mod">
          <ac:chgData name="Maulin Nasari" userId="2c02bce8-14a6-4f73-b14a-299518f8dfce" providerId="ADAL" clId="{973AE700-8634-4AC6-A10B-DFA7AFECB9DA}" dt="2025-12-24T02:44:02.957" v="117" actId="27636"/>
          <ac:spMkLst>
            <pc:docMk/>
            <pc:sldMk cId="1861062036" sldId="288"/>
            <ac:spMk id="4" creationId="{B5552849-CE2C-39CE-0303-4B296CF1F9CD}"/>
          </ac:spMkLst>
        </pc:spChg>
      </pc:sldChg>
      <pc:sldChg chg="addSp modSp modNotesTx">
        <pc:chgData name="Maulin Nasari" userId="2c02bce8-14a6-4f73-b14a-299518f8dfce" providerId="ADAL" clId="{973AE700-8634-4AC6-A10B-DFA7AFECB9DA}" dt="2025-12-24T03:05:37.085" v="296" actId="1076"/>
        <pc:sldMkLst>
          <pc:docMk/>
          <pc:sldMk cId="4044297918" sldId="293"/>
        </pc:sldMkLst>
        <pc:picChg chg="add mod">
          <ac:chgData name="Maulin Nasari" userId="2c02bce8-14a6-4f73-b14a-299518f8dfce" providerId="ADAL" clId="{973AE700-8634-4AC6-A10B-DFA7AFECB9DA}" dt="2025-12-24T03:01:32.439" v="249" actId="1076"/>
          <ac:picMkLst>
            <pc:docMk/>
            <pc:sldMk cId="4044297918" sldId="293"/>
            <ac:picMk id="2050" creationId="{8D4B6B2C-BE9D-46BB-C5D3-9EB366C6203E}"/>
          </ac:picMkLst>
        </pc:picChg>
        <pc:picChg chg="add mod">
          <ac:chgData name="Maulin Nasari" userId="2c02bce8-14a6-4f73-b14a-299518f8dfce" providerId="ADAL" clId="{973AE700-8634-4AC6-A10B-DFA7AFECB9DA}" dt="2025-12-24T03:01:27.295" v="246" actId="1076"/>
          <ac:picMkLst>
            <pc:docMk/>
            <pc:sldMk cId="4044297918" sldId="293"/>
            <ac:picMk id="2052" creationId="{002BD0E5-124B-4DE7-4E96-EB3CBA5465A6}"/>
          </ac:picMkLst>
        </pc:picChg>
        <pc:picChg chg="add mod">
          <ac:chgData name="Maulin Nasari" userId="2c02bce8-14a6-4f73-b14a-299518f8dfce" providerId="ADAL" clId="{973AE700-8634-4AC6-A10B-DFA7AFECB9DA}" dt="2025-12-24T03:02:34.485" v="263" actId="14100"/>
          <ac:picMkLst>
            <pc:docMk/>
            <pc:sldMk cId="4044297918" sldId="293"/>
            <ac:picMk id="2054" creationId="{0AB38C02-2E8D-D20C-1324-CD6575E0478C}"/>
          </ac:picMkLst>
        </pc:picChg>
        <pc:picChg chg="add mod">
          <ac:chgData name="Maulin Nasari" userId="2c02bce8-14a6-4f73-b14a-299518f8dfce" providerId="ADAL" clId="{973AE700-8634-4AC6-A10B-DFA7AFECB9DA}" dt="2025-12-24T03:04:29.821" v="286" actId="1076"/>
          <ac:picMkLst>
            <pc:docMk/>
            <pc:sldMk cId="4044297918" sldId="293"/>
            <ac:picMk id="2056" creationId="{FD25FA20-5E61-CE80-A4E6-62937F6CCA40}"/>
          </ac:picMkLst>
        </pc:picChg>
        <pc:picChg chg="add mod">
          <ac:chgData name="Maulin Nasari" userId="2c02bce8-14a6-4f73-b14a-299518f8dfce" providerId="ADAL" clId="{973AE700-8634-4AC6-A10B-DFA7AFECB9DA}" dt="2025-12-24T03:05:37.085" v="296" actId="1076"/>
          <ac:picMkLst>
            <pc:docMk/>
            <pc:sldMk cId="4044297918" sldId="293"/>
            <ac:picMk id="2058" creationId="{09BF834C-F521-728A-0722-D1494C67C3DE}"/>
          </ac:picMkLst>
        </pc:picChg>
        <pc:picChg chg="add mod">
          <ac:chgData name="Maulin Nasari" userId="2c02bce8-14a6-4f73-b14a-299518f8dfce" providerId="ADAL" clId="{973AE700-8634-4AC6-A10B-DFA7AFECB9DA}" dt="2025-12-24T03:05:33.498" v="295" actId="1076"/>
          <ac:picMkLst>
            <pc:docMk/>
            <pc:sldMk cId="4044297918" sldId="293"/>
            <ac:picMk id="2060" creationId="{DDB71A60-7490-321D-7A43-E91E84097610}"/>
          </ac:picMkLst>
        </pc:picChg>
      </pc:sldChg>
      <pc:sldChg chg="addSp delSp modSp mod modNotesTx">
        <pc:chgData name="Maulin Nasari" userId="2c02bce8-14a6-4f73-b14a-299518f8dfce" providerId="ADAL" clId="{973AE700-8634-4AC6-A10B-DFA7AFECB9DA}" dt="2025-12-24T03:12:12.808" v="430" actId="20577"/>
        <pc:sldMkLst>
          <pc:docMk/>
          <pc:sldMk cId="18899247" sldId="294"/>
        </pc:sldMkLst>
        <pc:spChg chg="add del">
          <ac:chgData name="Maulin Nasari" userId="2c02bce8-14a6-4f73-b14a-299518f8dfce" providerId="ADAL" clId="{973AE700-8634-4AC6-A10B-DFA7AFECB9DA}" dt="2025-12-24T03:06:18.891" v="305" actId="478"/>
          <ac:spMkLst>
            <pc:docMk/>
            <pc:sldMk cId="18899247" sldId="294"/>
            <ac:spMk id="5" creationId="{2AD591AC-8717-120D-7BD9-A047884E14C8}"/>
          </ac:spMkLst>
        </pc:spChg>
        <pc:spChg chg="add del mod">
          <ac:chgData name="Maulin Nasari" userId="2c02bce8-14a6-4f73-b14a-299518f8dfce" providerId="ADAL" clId="{973AE700-8634-4AC6-A10B-DFA7AFECB9DA}" dt="2025-12-24T03:06:30.141" v="308" actId="478"/>
          <ac:spMkLst>
            <pc:docMk/>
            <pc:sldMk cId="18899247" sldId="294"/>
            <ac:spMk id="6" creationId="{EE932EF8-C280-2738-A9D5-AE9C5390CD7E}"/>
          </ac:spMkLst>
        </pc:spChg>
        <pc:spChg chg="add del">
          <ac:chgData name="Maulin Nasari" userId="2c02bce8-14a6-4f73-b14a-299518f8dfce" providerId="ADAL" clId="{973AE700-8634-4AC6-A10B-DFA7AFECB9DA}" dt="2025-12-24T03:06:39.712" v="310" actId="478"/>
          <ac:spMkLst>
            <pc:docMk/>
            <pc:sldMk cId="18899247" sldId="294"/>
            <ac:spMk id="8" creationId="{D7F39954-914A-71CC-6830-6BC6491D8A79}"/>
          </ac:spMkLst>
        </pc:spChg>
        <pc:spChg chg="add del">
          <ac:chgData name="Maulin Nasari" userId="2c02bce8-14a6-4f73-b14a-299518f8dfce" providerId="ADAL" clId="{973AE700-8634-4AC6-A10B-DFA7AFECB9DA}" dt="2025-12-24T03:07:52.799" v="326" actId="478"/>
          <ac:spMkLst>
            <pc:docMk/>
            <pc:sldMk cId="18899247" sldId="294"/>
            <ac:spMk id="11" creationId="{BBBA8855-70D8-4E69-517B-3109C9C43384}"/>
          </ac:spMkLst>
        </pc:spChg>
        <pc:spChg chg="add del">
          <ac:chgData name="Maulin Nasari" userId="2c02bce8-14a6-4f73-b14a-299518f8dfce" providerId="ADAL" clId="{973AE700-8634-4AC6-A10B-DFA7AFECB9DA}" dt="2025-12-24T03:07:58.477" v="328" actId="478"/>
          <ac:spMkLst>
            <pc:docMk/>
            <pc:sldMk cId="18899247" sldId="294"/>
            <ac:spMk id="12" creationId="{7188DA97-73AB-43FC-B0CF-FB7303F6231B}"/>
          </ac:spMkLst>
        </pc:spChg>
        <pc:spChg chg="add del">
          <ac:chgData name="Maulin Nasari" userId="2c02bce8-14a6-4f73-b14a-299518f8dfce" providerId="ADAL" clId="{973AE700-8634-4AC6-A10B-DFA7AFECB9DA}" dt="2025-12-24T03:09:15.936" v="340" actId="478"/>
          <ac:spMkLst>
            <pc:docMk/>
            <pc:sldMk cId="18899247" sldId="294"/>
            <ac:spMk id="19" creationId="{7CB9022C-C227-CF39-7D20-7A09A760C5EB}"/>
          </ac:spMkLst>
        </pc:spChg>
        <pc:picChg chg="add mod">
          <ac:chgData name="Maulin Nasari" userId="2c02bce8-14a6-4f73-b14a-299518f8dfce" providerId="ADAL" clId="{973AE700-8634-4AC6-A10B-DFA7AFECB9DA}" dt="2025-12-24T03:07:32.336" v="323" actId="1076"/>
          <ac:picMkLst>
            <pc:docMk/>
            <pc:sldMk cId="18899247" sldId="294"/>
            <ac:picMk id="10" creationId="{196A4AC5-2D39-CEF8-770A-09D510F5C50A}"/>
          </ac:picMkLst>
        </pc:picChg>
        <pc:picChg chg="add mod">
          <ac:chgData name="Maulin Nasari" userId="2c02bce8-14a6-4f73-b14a-299518f8dfce" providerId="ADAL" clId="{973AE700-8634-4AC6-A10B-DFA7AFECB9DA}" dt="2025-12-24T03:08:18.687" v="329"/>
          <ac:picMkLst>
            <pc:docMk/>
            <pc:sldMk cId="18899247" sldId="294"/>
            <ac:picMk id="14" creationId="{02E09ABD-6041-4E9E-FE73-E4CE24067911}"/>
          </ac:picMkLst>
        </pc:picChg>
        <pc:picChg chg="add mod">
          <ac:chgData name="Maulin Nasari" userId="2c02bce8-14a6-4f73-b14a-299518f8dfce" providerId="ADAL" clId="{973AE700-8634-4AC6-A10B-DFA7AFECB9DA}" dt="2025-12-24T03:08:46.294" v="336" actId="1076"/>
          <ac:picMkLst>
            <pc:docMk/>
            <pc:sldMk cId="18899247" sldId="294"/>
            <ac:picMk id="16" creationId="{AE647624-AC33-F2E4-5167-E7B04A715B7C}"/>
          </ac:picMkLst>
        </pc:picChg>
        <pc:picChg chg="add del mod">
          <ac:chgData name="Maulin Nasari" userId="2c02bce8-14a6-4f73-b14a-299518f8dfce" providerId="ADAL" clId="{973AE700-8634-4AC6-A10B-DFA7AFECB9DA}" dt="2025-12-24T03:09:09.865" v="338" actId="478"/>
          <ac:picMkLst>
            <pc:docMk/>
            <pc:sldMk cId="18899247" sldId="294"/>
            <ac:picMk id="18" creationId="{DBD02B93-EB19-AFCF-5F75-31785C669F63}"/>
          </ac:picMkLst>
        </pc:picChg>
        <pc:picChg chg="add mod">
          <ac:chgData name="Maulin Nasari" userId="2c02bce8-14a6-4f73-b14a-299518f8dfce" providerId="ADAL" clId="{973AE700-8634-4AC6-A10B-DFA7AFECB9DA}" dt="2025-12-24T03:07:11.132" v="315" actId="1076"/>
          <ac:picMkLst>
            <pc:docMk/>
            <pc:sldMk cId="18899247" sldId="294"/>
            <ac:picMk id="3074" creationId="{06FB0B65-9A50-FCE0-1453-4159CCF08DBA}"/>
          </ac:picMkLst>
        </pc:picChg>
        <pc:picChg chg="add mod">
          <ac:chgData name="Maulin Nasari" userId="2c02bce8-14a6-4f73-b14a-299518f8dfce" providerId="ADAL" clId="{973AE700-8634-4AC6-A10B-DFA7AFECB9DA}" dt="2025-12-24T03:07:34.938" v="324" actId="1076"/>
          <ac:picMkLst>
            <pc:docMk/>
            <pc:sldMk cId="18899247" sldId="294"/>
            <ac:picMk id="3082" creationId="{26E78BF0-53CB-2D87-0C69-97729D86040A}"/>
          </ac:picMkLst>
        </pc:picChg>
        <pc:picChg chg="add mod">
          <ac:chgData name="Maulin Nasari" userId="2c02bce8-14a6-4f73-b14a-299518f8dfce" providerId="ADAL" clId="{973AE700-8634-4AC6-A10B-DFA7AFECB9DA}" dt="2025-12-24T03:11:47.847" v="398"/>
          <ac:picMkLst>
            <pc:docMk/>
            <pc:sldMk cId="18899247" sldId="294"/>
            <ac:picMk id="3090" creationId="{EF1B65FC-E272-CD78-C624-7B386F3AC89B}"/>
          </ac:picMkLst>
        </pc:picChg>
        <pc:picChg chg="add mod">
          <ac:chgData name="Maulin Nasari" userId="2c02bce8-14a6-4f73-b14a-299518f8dfce" providerId="ADAL" clId="{973AE700-8634-4AC6-A10B-DFA7AFECB9DA}" dt="2025-12-24T03:10:44.986" v="373"/>
          <ac:picMkLst>
            <pc:docMk/>
            <pc:sldMk cId="18899247" sldId="294"/>
            <ac:picMk id="3092" creationId="{EA16A868-667F-AD3C-B906-465DCEE48BEB}"/>
          </ac:picMkLst>
        </pc:picChg>
      </pc:sldChg>
      <pc:sldChg chg="addSp delSp modSp add del mod">
        <pc:chgData name="Maulin Nasari" userId="2c02bce8-14a6-4f73-b14a-299518f8dfce" providerId="ADAL" clId="{973AE700-8634-4AC6-A10B-DFA7AFECB9DA}" dt="2025-12-24T02:10:40.323" v="26" actId="47"/>
        <pc:sldMkLst>
          <pc:docMk/>
          <pc:sldMk cId="17232435" sldId="296"/>
        </pc:sldMkLst>
        <pc:spChg chg="add mod">
          <ac:chgData name="Maulin Nasari" userId="2c02bce8-14a6-4f73-b14a-299518f8dfce" providerId="ADAL" clId="{973AE700-8634-4AC6-A10B-DFA7AFECB9DA}" dt="2025-12-24T02:10:07.590" v="25" actId="1076"/>
          <ac:spMkLst>
            <pc:docMk/>
            <pc:sldMk cId="17232435" sldId="296"/>
            <ac:spMk id="4" creationId="{67CFA59C-D3DF-942D-48BD-936EEA14FC5F}"/>
          </ac:spMkLst>
        </pc:spChg>
        <pc:spChg chg="add del mod ord">
          <ac:chgData name="Maulin Nasari" userId="2c02bce8-14a6-4f73-b14a-299518f8dfce" providerId="ADAL" clId="{973AE700-8634-4AC6-A10B-DFA7AFECB9DA}" dt="2025-12-24T02:10:04.996" v="24" actId="478"/>
          <ac:spMkLst>
            <pc:docMk/>
            <pc:sldMk cId="17232435" sldId="296"/>
            <ac:spMk id="5" creationId="{3E68C7CD-ED97-8A70-B65B-8CC52D8AE25B}"/>
          </ac:spMkLst>
        </pc:spChg>
      </pc:sldChg>
    </pc:docChg>
  </pc:docChgLst>
  <pc:docChgLst>
    <pc:chgData name="Maulin Nasari" userId="2c02bce8-14a6-4f73-b14a-299518f8dfce" providerId="ADAL" clId="{C4B013A1-4C0E-4DA3-9C33-C6BA9809F49E}"/>
    <pc:docChg chg="undo custSel addSld delSld modSld sldOrd">
      <pc:chgData name="Maulin Nasari" userId="2c02bce8-14a6-4f73-b14a-299518f8dfce" providerId="ADAL" clId="{C4B013A1-4C0E-4DA3-9C33-C6BA9809F49E}" dt="2025-12-19T08:32:38.004" v="734" actId="5793"/>
      <pc:docMkLst>
        <pc:docMk/>
      </pc:docMkLst>
      <pc:sldChg chg="modSp mod">
        <pc:chgData name="Maulin Nasari" userId="2c02bce8-14a6-4f73-b14a-299518f8dfce" providerId="ADAL" clId="{C4B013A1-4C0E-4DA3-9C33-C6BA9809F49E}" dt="2025-12-19T08:15:32.933" v="615" actId="20577"/>
        <pc:sldMkLst>
          <pc:docMk/>
          <pc:sldMk cId="3487223446" sldId="256"/>
        </pc:sldMkLst>
      </pc:sldChg>
      <pc:sldChg chg="addSp delSp modSp mod">
        <pc:chgData name="Maulin Nasari" userId="2c02bce8-14a6-4f73-b14a-299518f8dfce" providerId="ADAL" clId="{C4B013A1-4C0E-4DA3-9C33-C6BA9809F49E}" dt="2025-12-19T06:28:59.912" v="94" actId="1035"/>
        <pc:sldMkLst>
          <pc:docMk/>
          <pc:sldMk cId="2181325466" sldId="260"/>
        </pc:sldMkLst>
        <pc:spChg chg="mod">
          <ac:chgData name="Maulin Nasari" userId="2c02bce8-14a6-4f73-b14a-299518f8dfce" providerId="ADAL" clId="{C4B013A1-4C0E-4DA3-9C33-C6BA9809F49E}" dt="2025-12-19T06:18:30.262" v="46" actId="1076"/>
          <ac:spMkLst>
            <pc:docMk/>
            <pc:sldMk cId="2181325466" sldId="260"/>
            <ac:spMk id="9" creationId="{7DF1F8DD-667A-5C17-C35A-51E4A853B47E}"/>
          </ac:spMkLst>
        </pc:spChg>
        <pc:spChg chg="mod">
          <ac:chgData name="Maulin Nasari" userId="2c02bce8-14a6-4f73-b14a-299518f8dfce" providerId="ADAL" clId="{C4B013A1-4C0E-4DA3-9C33-C6BA9809F49E}" dt="2025-12-19T06:20:40.211" v="77" actId="14100"/>
          <ac:spMkLst>
            <pc:docMk/>
            <pc:sldMk cId="2181325466" sldId="260"/>
            <ac:spMk id="11" creationId="{EDA94DCE-FAF1-696B-9A60-294F37D06C00}"/>
          </ac:spMkLst>
        </pc:spChg>
        <pc:spChg chg="add mod">
          <ac:chgData name="Maulin Nasari" userId="2c02bce8-14a6-4f73-b14a-299518f8dfce" providerId="ADAL" clId="{C4B013A1-4C0E-4DA3-9C33-C6BA9809F49E}" dt="2025-12-19T06:20:27.465" v="76" actId="1076"/>
          <ac:spMkLst>
            <pc:docMk/>
            <pc:sldMk cId="2181325466" sldId="260"/>
            <ac:spMk id="14" creationId="{2899CC2C-646B-E831-1706-9B1F87647F3E}"/>
          </ac:spMkLst>
        </pc:spChg>
        <pc:spChg chg="mod">
          <ac:chgData name="Maulin Nasari" userId="2c02bce8-14a6-4f73-b14a-299518f8dfce" providerId="ADAL" clId="{C4B013A1-4C0E-4DA3-9C33-C6BA9809F49E}" dt="2025-12-19T06:18:43.520" v="49" actId="14100"/>
          <ac:spMkLst>
            <pc:docMk/>
            <pc:sldMk cId="2181325466" sldId="260"/>
            <ac:spMk id="15" creationId="{3DE7626F-EA58-99BB-2BB4-00188906675D}"/>
          </ac:spMkLst>
        </pc:spChg>
        <pc:spChg chg="add mod">
          <ac:chgData name="Maulin Nasari" userId="2c02bce8-14a6-4f73-b14a-299518f8dfce" providerId="ADAL" clId="{C4B013A1-4C0E-4DA3-9C33-C6BA9809F49E}" dt="2025-12-19T06:28:59.912" v="94" actId="1035"/>
          <ac:spMkLst>
            <pc:docMk/>
            <pc:sldMk cId="2181325466" sldId="260"/>
            <ac:spMk id="19" creationId="{02AFFB73-7D4C-ADB8-CE94-9B40FC92C7A4}"/>
          </ac:spMkLst>
        </pc:spChg>
        <pc:picChg chg="mod">
          <ac:chgData name="Maulin Nasari" userId="2c02bce8-14a6-4f73-b14a-299518f8dfce" providerId="ADAL" clId="{C4B013A1-4C0E-4DA3-9C33-C6BA9809F49E}" dt="2025-12-19T06:18:30.262" v="46" actId="1076"/>
          <ac:picMkLst>
            <pc:docMk/>
            <pc:sldMk cId="2181325466" sldId="260"/>
            <ac:picMk id="6" creationId="{5281F445-88AE-53CD-845A-83A92586EE88}"/>
          </ac:picMkLst>
        </pc:picChg>
        <pc:picChg chg="add mod">
          <ac:chgData name="Maulin Nasari" userId="2c02bce8-14a6-4f73-b14a-299518f8dfce" providerId="ADAL" clId="{C4B013A1-4C0E-4DA3-9C33-C6BA9809F49E}" dt="2025-12-19T06:19:45.430" v="64" actId="14100"/>
          <ac:picMkLst>
            <pc:docMk/>
            <pc:sldMk cId="2181325466" sldId="260"/>
            <ac:picMk id="7" creationId="{C0515DDF-F39C-D67D-C53F-63F12E7B4A26}"/>
          </ac:picMkLst>
        </pc:picChg>
        <pc:picChg chg="mod">
          <ac:chgData name="Maulin Nasari" userId="2c02bce8-14a6-4f73-b14a-299518f8dfce" providerId="ADAL" clId="{C4B013A1-4C0E-4DA3-9C33-C6BA9809F49E}" dt="2025-12-19T06:18:51.690" v="51" actId="1076"/>
          <ac:picMkLst>
            <pc:docMk/>
            <pc:sldMk cId="2181325466" sldId="260"/>
            <ac:picMk id="8" creationId="{378F32DC-871C-EDB5-FA47-0AB5B6ACBBA9}"/>
          </ac:picMkLst>
        </pc:picChg>
        <pc:picChg chg="add mod">
          <ac:chgData name="Maulin Nasari" userId="2c02bce8-14a6-4f73-b14a-299518f8dfce" providerId="ADAL" clId="{C4B013A1-4C0E-4DA3-9C33-C6BA9809F49E}" dt="2025-12-19T06:19:39.042" v="62" actId="14100"/>
          <ac:picMkLst>
            <pc:docMk/>
            <pc:sldMk cId="2181325466" sldId="260"/>
            <ac:picMk id="12" creationId="{76F1F03A-FA1F-FD03-DB93-2200964BBC07}"/>
          </ac:picMkLst>
        </pc:picChg>
        <pc:picChg chg="mod">
          <ac:chgData name="Maulin Nasari" userId="2c02bce8-14a6-4f73-b14a-299518f8dfce" providerId="ADAL" clId="{C4B013A1-4C0E-4DA3-9C33-C6BA9809F49E}" dt="2025-12-19T06:18:33.830" v="47" actId="1076"/>
          <ac:picMkLst>
            <pc:docMk/>
            <pc:sldMk cId="2181325466" sldId="260"/>
            <ac:picMk id="13" creationId="{A1264401-460C-7EEF-81B0-6B6A868588AA}"/>
          </ac:picMkLst>
        </pc:picChg>
        <pc:picChg chg="add mod modCrop">
          <ac:chgData name="Maulin Nasari" userId="2c02bce8-14a6-4f73-b14a-299518f8dfce" providerId="ADAL" clId="{C4B013A1-4C0E-4DA3-9C33-C6BA9809F49E}" dt="2025-12-19T06:28:22.032" v="86" actId="1076"/>
          <ac:picMkLst>
            <pc:docMk/>
            <pc:sldMk cId="2181325466" sldId="260"/>
            <ac:picMk id="17" creationId="{D44EE844-895F-83E3-EDE9-81E1F73EBA0B}"/>
          </ac:picMkLst>
        </pc:picChg>
      </pc:sldChg>
      <pc:sldChg chg="addSp delSp modSp mod ord modNotesTx">
        <pc:chgData name="Maulin Nasari" userId="2c02bce8-14a6-4f73-b14a-299518f8dfce" providerId="ADAL" clId="{C4B013A1-4C0E-4DA3-9C33-C6BA9809F49E}" dt="2025-12-19T08:19:05.869" v="651" actId="20577"/>
        <pc:sldMkLst>
          <pc:docMk/>
          <pc:sldMk cId="2643638529" sldId="262"/>
        </pc:sldMkLst>
        <pc:spChg chg="add mod">
          <ac:chgData name="Maulin Nasari" userId="2c02bce8-14a6-4f73-b14a-299518f8dfce" providerId="ADAL" clId="{C4B013A1-4C0E-4DA3-9C33-C6BA9809F49E}" dt="2025-12-19T08:13:25.737" v="580" actId="1076"/>
          <ac:spMkLst>
            <pc:docMk/>
            <pc:sldMk cId="2643638529" sldId="262"/>
            <ac:spMk id="10" creationId="{2551BDAF-7BFD-B964-085A-5BD97AD64578}"/>
          </ac:spMkLst>
        </pc:spChg>
        <pc:spChg chg="add mod">
          <ac:chgData name="Maulin Nasari" userId="2c02bce8-14a6-4f73-b14a-299518f8dfce" providerId="ADAL" clId="{C4B013A1-4C0E-4DA3-9C33-C6BA9809F49E}" dt="2025-12-19T08:17:13.223" v="637" actId="1076"/>
          <ac:spMkLst>
            <pc:docMk/>
            <pc:sldMk cId="2643638529" sldId="262"/>
            <ac:spMk id="11" creationId="{F863CCE9-FDB7-0A7F-62C3-15F0A00411BB}"/>
          </ac:spMkLst>
        </pc:spChg>
        <pc:picChg chg="add mod modCrop">
          <ac:chgData name="Maulin Nasari" userId="2c02bce8-14a6-4f73-b14a-299518f8dfce" providerId="ADAL" clId="{C4B013A1-4C0E-4DA3-9C33-C6BA9809F49E}" dt="2025-12-19T08:17:31.280" v="646" actId="1038"/>
          <ac:picMkLst>
            <pc:docMk/>
            <pc:sldMk cId="2643638529" sldId="262"/>
            <ac:picMk id="8" creationId="{4F29A156-03FA-AF06-EBE5-26F3847C9770}"/>
          </ac:picMkLst>
        </pc:picChg>
      </pc:sldChg>
      <pc:sldChg chg="modSp mod ord">
        <pc:chgData name="Maulin Nasari" userId="2c02bce8-14a6-4f73-b14a-299518f8dfce" providerId="ADAL" clId="{C4B013A1-4C0E-4DA3-9C33-C6BA9809F49E}" dt="2025-12-19T08:18:44.865" v="649" actId="12"/>
        <pc:sldMkLst>
          <pc:docMk/>
          <pc:sldMk cId="2486063432" sldId="264"/>
        </pc:sldMkLst>
        <pc:spChg chg="mod">
          <ac:chgData name="Maulin Nasari" userId="2c02bce8-14a6-4f73-b14a-299518f8dfce" providerId="ADAL" clId="{C4B013A1-4C0E-4DA3-9C33-C6BA9809F49E}" dt="2025-12-19T08:18:44.865" v="649" actId="12"/>
          <ac:spMkLst>
            <pc:docMk/>
            <pc:sldMk cId="2486063432" sldId="264"/>
            <ac:spMk id="4" creationId="{B5552849-CE2C-39CE-0303-4B296CF1F9CD}"/>
          </ac:spMkLst>
        </pc:spChg>
      </pc:sldChg>
      <pc:sldChg chg="ord">
        <pc:chgData name="Maulin Nasari" userId="2c02bce8-14a6-4f73-b14a-299518f8dfce" providerId="ADAL" clId="{C4B013A1-4C0E-4DA3-9C33-C6BA9809F49E}" dt="2025-12-19T08:03:43.252" v="524"/>
        <pc:sldMkLst>
          <pc:docMk/>
          <pc:sldMk cId="3246647878" sldId="265"/>
        </pc:sldMkLst>
      </pc:sldChg>
      <pc:sldChg chg="addSp delSp modSp mod ord">
        <pc:chgData name="Maulin Nasari" userId="2c02bce8-14a6-4f73-b14a-299518f8dfce" providerId="ADAL" clId="{C4B013A1-4C0E-4DA3-9C33-C6BA9809F49E}" dt="2025-12-19T07:14:27.340" v="293" actId="1076"/>
        <pc:sldMkLst>
          <pc:docMk/>
          <pc:sldMk cId="3670670812" sldId="266"/>
        </pc:sldMkLst>
        <pc:spChg chg="mod">
          <ac:chgData name="Maulin Nasari" userId="2c02bce8-14a6-4f73-b14a-299518f8dfce" providerId="ADAL" clId="{C4B013A1-4C0E-4DA3-9C33-C6BA9809F49E}" dt="2025-12-19T07:03:38.004" v="210" actId="1076"/>
          <ac:spMkLst>
            <pc:docMk/>
            <pc:sldMk cId="3670670812" sldId="266"/>
            <ac:spMk id="2" creationId="{549C4C09-62A6-4EAD-480F-E66422499F9C}"/>
          </ac:spMkLst>
        </pc:spChg>
        <pc:spChg chg="mod">
          <ac:chgData name="Maulin Nasari" userId="2c02bce8-14a6-4f73-b14a-299518f8dfce" providerId="ADAL" clId="{C4B013A1-4C0E-4DA3-9C33-C6BA9809F49E}" dt="2025-12-19T07:14:27.340" v="293" actId="1076"/>
          <ac:spMkLst>
            <pc:docMk/>
            <pc:sldMk cId="3670670812" sldId="266"/>
            <ac:spMk id="4" creationId="{B5552849-CE2C-39CE-0303-4B296CF1F9CD}"/>
          </ac:spMkLst>
        </pc:spChg>
        <pc:spChg chg="add mod">
          <ac:chgData name="Maulin Nasari" userId="2c02bce8-14a6-4f73-b14a-299518f8dfce" providerId="ADAL" clId="{C4B013A1-4C0E-4DA3-9C33-C6BA9809F49E}" dt="2025-12-19T07:14:27.340" v="293" actId="1076"/>
          <ac:spMkLst>
            <pc:docMk/>
            <pc:sldMk cId="3670670812" sldId="266"/>
            <ac:spMk id="7" creationId="{B5552849-CE2C-39CE-0303-4B296CF1F9CD}"/>
          </ac:spMkLst>
        </pc:spChg>
      </pc:sldChg>
      <pc:sldChg chg="addSp modSp mod ord">
        <pc:chgData name="Maulin Nasari" userId="2c02bce8-14a6-4f73-b14a-299518f8dfce" providerId="ADAL" clId="{C4B013A1-4C0E-4DA3-9C33-C6BA9809F49E}" dt="2025-12-19T07:33:49.664" v="460" actId="113"/>
        <pc:sldMkLst>
          <pc:docMk/>
          <pc:sldMk cId="2905336741" sldId="267"/>
        </pc:sldMkLst>
        <pc:spChg chg="mod">
          <ac:chgData name="Maulin Nasari" userId="2c02bce8-14a6-4f73-b14a-299518f8dfce" providerId="ADAL" clId="{C4B013A1-4C0E-4DA3-9C33-C6BA9809F49E}" dt="2025-12-19T07:29:22.129" v="442" actId="1076"/>
          <ac:spMkLst>
            <pc:docMk/>
            <pc:sldMk cId="2905336741" sldId="267"/>
            <ac:spMk id="4" creationId="{B5552849-CE2C-39CE-0303-4B296CF1F9CD}"/>
          </ac:spMkLst>
        </pc:spChg>
        <pc:graphicFrameChg chg="add mod modGraphic">
          <ac:chgData name="Maulin Nasari" userId="2c02bce8-14a6-4f73-b14a-299518f8dfce" providerId="ADAL" clId="{C4B013A1-4C0E-4DA3-9C33-C6BA9809F49E}" dt="2025-12-19T07:33:49.664" v="460" actId="113"/>
          <ac:graphicFrameMkLst>
            <pc:docMk/>
            <pc:sldMk cId="2905336741" sldId="267"/>
            <ac:graphicFrameMk id="5" creationId="{7D0B01CC-D033-84EE-E30D-2CF261CF1347}"/>
          </ac:graphicFrameMkLst>
        </pc:graphicFrameChg>
      </pc:sldChg>
      <pc:sldChg chg="addSp delSp modSp mod ord">
        <pc:chgData name="Maulin Nasari" userId="2c02bce8-14a6-4f73-b14a-299518f8dfce" providerId="ADAL" clId="{C4B013A1-4C0E-4DA3-9C33-C6BA9809F49E}" dt="2025-12-19T07:24:07.732" v="420" actId="20577"/>
        <pc:sldMkLst>
          <pc:docMk/>
          <pc:sldMk cId="842496811" sldId="269"/>
        </pc:sldMkLst>
        <pc:spChg chg="mod">
          <ac:chgData name="Maulin Nasari" userId="2c02bce8-14a6-4f73-b14a-299518f8dfce" providerId="ADAL" clId="{C4B013A1-4C0E-4DA3-9C33-C6BA9809F49E}" dt="2025-12-19T07:24:07.732" v="420" actId="20577"/>
          <ac:spMkLst>
            <pc:docMk/>
            <pc:sldMk cId="842496811" sldId="269"/>
            <ac:spMk id="3" creationId="{39E851F2-9100-FF53-F123-D4F65FF84AF7}"/>
          </ac:spMkLst>
        </pc:spChg>
        <pc:spChg chg="mod">
          <ac:chgData name="Maulin Nasari" userId="2c02bce8-14a6-4f73-b14a-299518f8dfce" providerId="ADAL" clId="{C4B013A1-4C0E-4DA3-9C33-C6BA9809F49E}" dt="2025-12-19T07:12:08.209" v="281" actId="14100"/>
          <ac:spMkLst>
            <pc:docMk/>
            <pc:sldMk cId="842496811" sldId="269"/>
            <ac:spMk id="4" creationId="{B5552849-CE2C-39CE-0303-4B296CF1F9CD}"/>
          </ac:spMkLst>
        </pc:spChg>
        <pc:spChg chg="add mod">
          <ac:chgData name="Maulin Nasari" userId="2c02bce8-14a6-4f73-b14a-299518f8dfce" providerId="ADAL" clId="{C4B013A1-4C0E-4DA3-9C33-C6BA9809F49E}" dt="2025-12-19T07:12:29.619" v="285" actId="5793"/>
          <ac:spMkLst>
            <pc:docMk/>
            <pc:sldMk cId="842496811" sldId="269"/>
            <ac:spMk id="7" creationId="{E5AC2351-5840-2FDB-5FAD-783CFF1A5FF1}"/>
          </ac:spMkLst>
        </pc:spChg>
        <pc:spChg chg="add mod">
          <ac:chgData name="Maulin Nasari" userId="2c02bce8-14a6-4f73-b14a-299518f8dfce" providerId="ADAL" clId="{C4B013A1-4C0E-4DA3-9C33-C6BA9809F49E}" dt="2025-12-19T07:18:45.340" v="341" actId="14100"/>
          <ac:spMkLst>
            <pc:docMk/>
            <pc:sldMk cId="842496811" sldId="269"/>
            <ac:spMk id="8" creationId="{09C4ECA0-EA93-B6F4-7DA2-7EC22615FBE3}"/>
          </ac:spMkLst>
        </pc:spChg>
      </pc:sldChg>
      <pc:sldChg chg="addSp delSp modSp mod ord">
        <pc:chgData name="Maulin Nasari" userId="2c02bce8-14a6-4f73-b14a-299518f8dfce" providerId="ADAL" clId="{C4B013A1-4C0E-4DA3-9C33-C6BA9809F49E}" dt="2025-12-19T08:03:56.724" v="526"/>
        <pc:sldMkLst>
          <pc:docMk/>
          <pc:sldMk cId="4062326829" sldId="270"/>
        </pc:sldMkLst>
        <pc:spChg chg="add mod">
          <ac:chgData name="Maulin Nasari" userId="2c02bce8-14a6-4f73-b14a-299518f8dfce" providerId="ADAL" clId="{C4B013A1-4C0E-4DA3-9C33-C6BA9809F49E}" dt="2025-12-19T07:49:30.389" v="519" actId="1035"/>
          <ac:spMkLst>
            <pc:docMk/>
            <pc:sldMk cId="4062326829" sldId="270"/>
            <ac:spMk id="10" creationId="{AC38B670-8C95-24DD-B103-518C4D26BE1A}"/>
          </ac:spMkLst>
        </pc:spChg>
        <pc:graphicFrameChg chg="add del mod modGraphic">
          <ac:chgData name="Maulin Nasari" userId="2c02bce8-14a6-4f73-b14a-299518f8dfce" providerId="ADAL" clId="{C4B013A1-4C0E-4DA3-9C33-C6BA9809F49E}" dt="2025-12-19T07:49:30.389" v="519" actId="1035"/>
          <ac:graphicFrameMkLst>
            <pc:docMk/>
            <pc:sldMk cId="4062326829" sldId="270"/>
            <ac:graphicFrameMk id="8" creationId="{6F836C94-4D3C-C46B-09C1-8FEF90C65C65}"/>
          </ac:graphicFrameMkLst>
        </pc:graphicFrameChg>
        <pc:picChg chg="mod">
          <ac:chgData name="Maulin Nasari" userId="2c02bce8-14a6-4f73-b14a-299518f8dfce" providerId="ADAL" clId="{C4B013A1-4C0E-4DA3-9C33-C6BA9809F49E}" dt="2025-12-19T07:49:30.389" v="519" actId="1035"/>
          <ac:picMkLst>
            <pc:docMk/>
            <pc:sldMk cId="4062326829" sldId="270"/>
            <ac:picMk id="5" creationId="{2A80BD3D-4DF0-20D2-436E-94E601D74A1D}"/>
          </ac:picMkLst>
        </pc:picChg>
      </pc:sldChg>
      <pc:sldChg chg="modSp mod ord">
        <pc:chgData name="Maulin Nasari" userId="2c02bce8-14a6-4f73-b14a-299518f8dfce" providerId="ADAL" clId="{C4B013A1-4C0E-4DA3-9C33-C6BA9809F49E}" dt="2025-12-19T08:32:38.004" v="734" actId="5793"/>
        <pc:sldMkLst>
          <pc:docMk/>
          <pc:sldMk cId="164565121" sldId="271"/>
        </pc:sldMkLst>
        <pc:spChg chg="mod">
          <ac:chgData name="Maulin Nasari" userId="2c02bce8-14a6-4f73-b14a-299518f8dfce" providerId="ADAL" clId="{C4B013A1-4C0E-4DA3-9C33-C6BA9809F49E}" dt="2025-12-19T08:32:38.004" v="734" actId="5793"/>
          <ac:spMkLst>
            <pc:docMk/>
            <pc:sldMk cId="164565121" sldId="271"/>
            <ac:spMk id="4" creationId="{B5552849-CE2C-39CE-0303-4B296CF1F9CD}"/>
          </ac:spMkLst>
        </pc:spChg>
      </pc:sldChg>
      <pc:sldChg chg="ord">
        <pc:chgData name="Maulin Nasari" userId="2c02bce8-14a6-4f73-b14a-299518f8dfce" providerId="ADAL" clId="{C4B013A1-4C0E-4DA3-9C33-C6BA9809F49E}" dt="2025-12-19T07:01:41.320" v="176"/>
        <pc:sldMkLst>
          <pc:docMk/>
          <pc:sldMk cId="2360099575" sldId="272"/>
        </pc:sldMkLst>
      </pc:sldChg>
      <pc:sldChg chg="addSp modSp mod ord">
        <pc:chgData name="Maulin Nasari" userId="2c02bce8-14a6-4f73-b14a-299518f8dfce" providerId="ADAL" clId="{C4B013A1-4C0E-4DA3-9C33-C6BA9809F49E}" dt="2025-12-19T08:29:27.941" v="729" actId="1076"/>
        <pc:sldMkLst>
          <pc:docMk/>
          <pc:sldMk cId="26944588" sldId="285"/>
        </pc:sldMkLst>
        <pc:spChg chg="mod">
          <ac:chgData name="Maulin Nasari" userId="2c02bce8-14a6-4f73-b14a-299518f8dfce" providerId="ADAL" clId="{C4B013A1-4C0E-4DA3-9C33-C6BA9809F49E}" dt="2025-12-19T08:28:19.138" v="712" actId="1076"/>
          <ac:spMkLst>
            <pc:docMk/>
            <pc:sldMk cId="26944588" sldId="285"/>
            <ac:spMk id="18" creationId="{27AAA6A3-C402-E3FC-AF47-58C4F5C5A8C6}"/>
          </ac:spMkLst>
        </pc:spChg>
        <pc:spChg chg="mod">
          <ac:chgData name="Maulin Nasari" userId="2c02bce8-14a6-4f73-b14a-299518f8dfce" providerId="ADAL" clId="{C4B013A1-4C0E-4DA3-9C33-C6BA9809F49E}" dt="2025-12-19T08:29:27.941" v="729" actId="1076"/>
          <ac:spMkLst>
            <pc:docMk/>
            <pc:sldMk cId="26944588" sldId="285"/>
            <ac:spMk id="22" creationId="{AD2DEBDD-CF76-98BD-6F76-5263E7B737D5}"/>
          </ac:spMkLst>
        </pc:spChg>
        <pc:spChg chg="mod">
          <ac:chgData name="Maulin Nasari" userId="2c02bce8-14a6-4f73-b14a-299518f8dfce" providerId="ADAL" clId="{C4B013A1-4C0E-4DA3-9C33-C6BA9809F49E}" dt="2025-12-19T08:29:13.228" v="726" actId="14100"/>
          <ac:spMkLst>
            <pc:docMk/>
            <pc:sldMk cId="26944588" sldId="285"/>
            <ac:spMk id="26" creationId="{C8FB5C93-06F6-5A87-13E1-CD27698D3C6F}"/>
          </ac:spMkLst>
        </pc:spChg>
        <pc:picChg chg="add mod modCrop">
          <ac:chgData name="Maulin Nasari" userId="2c02bce8-14a6-4f73-b14a-299518f8dfce" providerId="ADAL" clId="{C4B013A1-4C0E-4DA3-9C33-C6BA9809F49E}" dt="2025-12-19T08:28:49.728" v="721" actId="1076"/>
          <ac:picMkLst>
            <pc:docMk/>
            <pc:sldMk cId="26944588" sldId="285"/>
            <ac:picMk id="4" creationId="{B3188643-45AE-0352-F48F-CC53E04ABE3B}"/>
          </ac:picMkLst>
        </pc:picChg>
        <pc:picChg chg="mod">
          <ac:chgData name="Maulin Nasari" userId="2c02bce8-14a6-4f73-b14a-299518f8dfce" providerId="ADAL" clId="{C4B013A1-4C0E-4DA3-9C33-C6BA9809F49E}" dt="2025-12-19T08:27:47.191" v="704" actId="1076"/>
          <ac:picMkLst>
            <pc:docMk/>
            <pc:sldMk cId="26944588" sldId="285"/>
            <ac:picMk id="16" creationId="{4A30B159-0822-D28E-2872-F9BAF261A987}"/>
          </ac:picMkLst>
        </pc:picChg>
        <pc:picChg chg="mod modCrop">
          <ac:chgData name="Maulin Nasari" userId="2c02bce8-14a6-4f73-b14a-299518f8dfce" providerId="ADAL" clId="{C4B013A1-4C0E-4DA3-9C33-C6BA9809F49E}" dt="2025-12-19T08:29:17.149" v="727" actId="1076"/>
          <ac:picMkLst>
            <pc:docMk/>
            <pc:sldMk cId="26944588" sldId="285"/>
            <ac:picMk id="20" creationId="{868B5C1A-7A25-0C99-6F5F-5C92FCAEA72D}"/>
          </ac:picMkLst>
        </pc:picChg>
        <pc:picChg chg="mod modCrop">
          <ac:chgData name="Maulin Nasari" userId="2c02bce8-14a6-4f73-b14a-299518f8dfce" providerId="ADAL" clId="{C4B013A1-4C0E-4DA3-9C33-C6BA9809F49E}" dt="2025-12-19T08:28:59.643" v="723" actId="732"/>
          <ac:picMkLst>
            <pc:docMk/>
            <pc:sldMk cId="26944588" sldId="285"/>
            <ac:picMk id="24" creationId="{EAD8C45E-61F2-8B9A-9C30-98F4B5AB7E4D}"/>
          </ac:picMkLst>
        </pc:picChg>
      </pc:sldChg>
      <pc:sldChg chg="ord">
        <pc:chgData name="Maulin Nasari" userId="2c02bce8-14a6-4f73-b14a-299518f8dfce" providerId="ADAL" clId="{C4B013A1-4C0E-4DA3-9C33-C6BA9809F49E}" dt="2025-12-19T08:03:43.252" v="524"/>
        <pc:sldMkLst>
          <pc:docMk/>
          <pc:sldMk cId="3317902404" sldId="286"/>
        </pc:sldMkLst>
      </pc:sldChg>
      <pc:sldChg chg="addSp delSp modSp add mod ord">
        <pc:chgData name="Maulin Nasari" userId="2c02bce8-14a6-4f73-b14a-299518f8dfce" providerId="ADAL" clId="{C4B013A1-4C0E-4DA3-9C33-C6BA9809F49E}" dt="2025-12-19T08:03:28.957" v="522"/>
        <pc:sldMkLst>
          <pc:docMk/>
          <pc:sldMk cId="2782308716" sldId="292"/>
        </pc:sldMkLst>
        <pc:spChg chg="mod">
          <ac:chgData name="Maulin Nasari" userId="2c02bce8-14a6-4f73-b14a-299518f8dfce" providerId="ADAL" clId="{C4B013A1-4C0E-4DA3-9C33-C6BA9809F49E}" dt="2025-12-19T08:03:28.957" v="522"/>
          <ac:spMkLst>
            <pc:docMk/>
            <pc:sldMk cId="2782308716" sldId="292"/>
            <ac:spMk id="2" creationId="{8C493D9D-8AE7-61CD-0186-BCCC7CF95003}"/>
          </ac:spMkLst>
        </pc:spChg>
        <pc:spChg chg="mod">
          <ac:chgData name="Maulin Nasari" userId="2c02bce8-14a6-4f73-b14a-299518f8dfce" providerId="ADAL" clId="{C4B013A1-4C0E-4DA3-9C33-C6BA9809F49E}" dt="2025-12-19T07:15:04.440" v="305" actId="1076"/>
          <ac:spMkLst>
            <pc:docMk/>
            <pc:sldMk cId="2782308716" sldId="292"/>
            <ac:spMk id="6" creationId="{71322B2E-04DD-A8AB-3B8B-491523E6817C}"/>
          </ac:spMkLst>
        </pc:spChg>
        <pc:spChg chg="add mod">
          <ac:chgData name="Maulin Nasari" userId="2c02bce8-14a6-4f73-b14a-299518f8dfce" providerId="ADAL" clId="{C4B013A1-4C0E-4DA3-9C33-C6BA9809F49E}" dt="2025-12-19T07:16:42.014" v="331" actId="1076"/>
          <ac:spMkLst>
            <pc:docMk/>
            <pc:sldMk cId="2782308716" sldId="292"/>
            <ac:spMk id="10" creationId="{65572D94-E083-70A2-8FED-4153289971B6}"/>
          </ac:spMkLst>
        </pc:spChg>
        <pc:spChg chg="add mod">
          <ac:chgData name="Maulin Nasari" userId="2c02bce8-14a6-4f73-b14a-299518f8dfce" providerId="ADAL" clId="{C4B013A1-4C0E-4DA3-9C33-C6BA9809F49E}" dt="2025-12-19T07:25:49.713" v="435" actId="478"/>
          <ac:spMkLst>
            <pc:docMk/>
            <pc:sldMk cId="2782308716" sldId="292"/>
            <ac:spMk id="12" creationId="{0BACA1EA-F22E-50E8-D1E3-204236106B42}"/>
          </ac:spMkLst>
        </pc:spChg>
        <pc:picChg chg="mod">
          <ac:chgData name="Maulin Nasari" userId="2c02bce8-14a6-4f73-b14a-299518f8dfce" providerId="ADAL" clId="{C4B013A1-4C0E-4DA3-9C33-C6BA9809F49E}" dt="2025-12-19T07:15:12.592" v="308" actId="1076"/>
          <ac:picMkLst>
            <pc:docMk/>
            <pc:sldMk cId="2782308716" sldId="292"/>
            <ac:picMk id="14" creationId="{838D9696-1DF2-89C8-0AAF-79B95EDB1C0E}"/>
          </ac:picMkLst>
        </pc:picChg>
      </pc:sldChg>
      <pc:sldChg chg="addSp delSp modSp add mod">
        <pc:chgData name="Maulin Nasari" userId="2c02bce8-14a6-4f73-b14a-299518f8dfce" providerId="ADAL" clId="{C4B013A1-4C0E-4DA3-9C33-C6BA9809F49E}" dt="2025-12-19T07:24:23.647" v="426" actId="20577"/>
        <pc:sldMkLst>
          <pc:docMk/>
          <pc:sldMk cId="4044297918" sldId="293"/>
        </pc:sldMkLst>
        <pc:spChg chg="mod">
          <ac:chgData name="Maulin Nasari" userId="2c02bce8-14a6-4f73-b14a-299518f8dfce" providerId="ADAL" clId="{C4B013A1-4C0E-4DA3-9C33-C6BA9809F49E}" dt="2025-12-19T07:24:23.647" v="426" actId="20577"/>
          <ac:spMkLst>
            <pc:docMk/>
            <pc:sldMk cId="4044297918" sldId="293"/>
            <ac:spMk id="3" creationId="{56F40160-A5C6-17F8-3A82-2664743F546F}"/>
          </ac:spMkLst>
        </pc:spChg>
        <pc:spChg chg="mod">
          <ac:chgData name="Maulin Nasari" userId="2c02bce8-14a6-4f73-b14a-299518f8dfce" providerId="ADAL" clId="{C4B013A1-4C0E-4DA3-9C33-C6BA9809F49E}" dt="2025-12-19T07:22:38.351" v="397" actId="1076"/>
          <ac:spMkLst>
            <pc:docMk/>
            <pc:sldMk cId="4044297918" sldId="293"/>
            <ac:spMk id="4" creationId="{5B472440-F528-6241-A24F-795945A2E7D3}"/>
          </ac:spMkLst>
        </pc:spChg>
        <pc:spChg chg="add del mod">
          <ac:chgData name="Maulin Nasari" userId="2c02bce8-14a6-4f73-b14a-299518f8dfce" providerId="ADAL" clId="{C4B013A1-4C0E-4DA3-9C33-C6BA9809F49E}" dt="2025-12-19T07:22:38.351" v="397" actId="1076"/>
          <ac:spMkLst>
            <pc:docMk/>
            <pc:sldMk cId="4044297918" sldId="293"/>
            <ac:spMk id="7" creationId="{37018602-5951-72AF-B48D-4D500CF95BEA}"/>
          </ac:spMkLst>
        </pc:spChg>
      </pc:sldChg>
      <pc:sldChg chg="modSp add mod">
        <pc:chgData name="Maulin Nasari" userId="2c02bce8-14a6-4f73-b14a-299518f8dfce" providerId="ADAL" clId="{C4B013A1-4C0E-4DA3-9C33-C6BA9809F49E}" dt="2025-12-19T07:24:39.060" v="434" actId="20577"/>
        <pc:sldMkLst>
          <pc:docMk/>
          <pc:sldMk cId="18899247" sldId="294"/>
        </pc:sldMkLst>
        <pc:spChg chg="mod">
          <ac:chgData name="Maulin Nasari" userId="2c02bce8-14a6-4f73-b14a-299518f8dfce" providerId="ADAL" clId="{C4B013A1-4C0E-4DA3-9C33-C6BA9809F49E}" dt="2025-12-19T07:24:39.060" v="434" actId="20577"/>
          <ac:spMkLst>
            <pc:docMk/>
            <pc:sldMk cId="18899247" sldId="294"/>
            <ac:spMk id="3" creationId="{A0D88FEB-C961-3763-83C9-04B9FF201B45}"/>
          </ac:spMkLst>
        </pc:spChg>
        <pc:spChg chg="mod">
          <ac:chgData name="Maulin Nasari" userId="2c02bce8-14a6-4f73-b14a-299518f8dfce" providerId="ADAL" clId="{C4B013A1-4C0E-4DA3-9C33-C6BA9809F49E}" dt="2025-12-19T07:23:16.498" v="408" actId="1035"/>
          <ac:spMkLst>
            <pc:docMk/>
            <pc:sldMk cId="18899247" sldId="294"/>
            <ac:spMk id="4" creationId="{183B3D11-BEA1-6BDB-132D-905E273FB29D}"/>
          </ac:spMkLst>
        </pc:spChg>
        <pc:spChg chg="mod">
          <ac:chgData name="Maulin Nasari" userId="2c02bce8-14a6-4f73-b14a-299518f8dfce" providerId="ADAL" clId="{C4B013A1-4C0E-4DA3-9C33-C6BA9809F49E}" dt="2025-12-19T07:23:45.705" v="413" actId="1076"/>
          <ac:spMkLst>
            <pc:docMk/>
            <pc:sldMk cId="18899247" sldId="294"/>
            <ac:spMk id="7" creationId="{2B46D4D1-D236-CC32-46B5-20A971F95B56}"/>
          </ac:spMkLst>
        </pc:spChg>
      </pc:sldChg>
      <pc:sldChg chg="modSp new mod">
        <pc:chgData name="Maulin Nasari" userId="2c02bce8-14a6-4f73-b14a-299518f8dfce" providerId="ADAL" clId="{C4B013A1-4C0E-4DA3-9C33-C6BA9809F49E}" dt="2025-12-19T08:06:16.523" v="555" actId="20577"/>
        <pc:sldMkLst>
          <pc:docMk/>
          <pc:sldMk cId="1756884285" sldId="295"/>
        </pc:sldMkLst>
        <pc:spChg chg="mod">
          <ac:chgData name="Maulin Nasari" userId="2c02bce8-14a6-4f73-b14a-299518f8dfce" providerId="ADAL" clId="{C4B013A1-4C0E-4DA3-9C33-C6BA9809F49E}" dt="2025-12-19T08:06:16.523" v="555" actId="20577"/>
          <ac:spMkLst>
            <pc:docMk/>
            <pc:sldMk cId="1756884285" sldId="295"/>
            <ac:spMk id="2" creationId="{7341BA34-B454-512B-0D2A-27C8823CDD8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0" name="Shape 170"/>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71" name="Shape 171"/>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b="0" i="0">
        <a:latin typeface="Open Sans Light" pitchFamily="2" charset="0"/>
        <a:ea typeface="Open Sans Light" pitchFamily="2" charset="0"/>
        <a:cs typeface="Open Sans Light" pitchFamily="2" charset="0"/>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D" dirty="0"/>
          </a:p>
        </p:txBody>
      </p:sp>
    </p:spTree>
    <p:extLst>
      <p:ext uri="{BB962C8B-B14F-4D97-AF65-F5344CB8AC3E}">
        <p14:creationId xmlns:p14="http://schemas.microsoft.com/office/powerpoint/2010/main" val="20921494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D" dirty="0"/>
          </a:p>
        </p:txBody>
      </p:sp>
    </p:spTree>
    <p:extLst>
      <p:ext uri="{BB962C8B-B14F-4D97-AF65-F5344CB8AC3E}">
        <p14:creationId xmlns:p14="http://schemas.microsoft.com/office/powerpoint/2010/main" val="30468788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System Software</a:t>
            </a:r>
          </a:p>
          <a:p>
            <a:r>
              <a:rPr lang="en-US" b="1" dirty="0"/>
              <a:t>Microsoft Windows</a:t>
            </a:r>
            <a:r>
              <a:rPr lang="en-US" dirty="0"/>
              <a:t> — Used to manage computer hardware and run applications on PCs.</a:t>
            </a:r>
          </a:p>
          <a:p>
            <a:r>
              <a:rPr lang="en-US" b="1" dirty="0"/>
              <a:t>Linux</a:t>
            </a:r>
            <a:r>
              <a:rPr lang="en-US" dirty="0"/>
              <a:t> — Used to operate servers, embedded systems, and open-source platforms.</a:t>
            </a:r>
          </a:p>
          <a:p>
            <a:r>
              <a:rPr lang="en-US" b="1" dirty="0"/>
              <a:t>macOS</a:t>
            </a:r>
            <a:r>
              <a:rPr lang="en-US" dirty="0"/>
              <a:t> — Used to run Apple desktop and laptop computers.</a:t>
            </a:r>
          </a:p>
          <a:p>
            <a:endParaRPr lang="en-ID" dirty="0"/>
          </a:p>
          <a:p>
            <a:r>
              <a:rPr lang="en-US" b="1" dirty="0"/>
              <a:t>Application Software</a:t>
            </a:r>
          </a:p>
          <a:p>
            <a:r>
              <a:rPr lang="en-US" b="1" dirty="0"/>
              <a:t>Microsoft Word</a:t>
            </a:r>
            <a:r>
              <a:rPr lang="en-US" dirty="0"/>
              <a:t> — Used to create and edit text documents.</a:t>
            </a:r>
          </a:p>
          <a:p>
            <a:r>
              <a:rPr lang="en-US" b="1" dirty="0"/>
              <a:t>Adobe Photoshop</a:t>
            </a:r>
            <a:r>
              <a:rPr lang="en-US" dirty="0"/>
              <a:t> — Used to edit and manipulate images and graphics.</a:t>
            </a:r>
          </a:p>
          <a:p>
            <a:r>
              <a:rPr lang="en-US" b="1" dirty="0"/>
              <a:t>SAP ERP</a:t>
            </a:r>
            <a:r>
              <a:rPr lang="en-US" dirty="0"/>
              <a:t> — Used to manage business processes such as finance and operations.</a:t>
            </a:r>
          </a:p>
          <a:p>
            <a:endParaRPr lang="en-ID" dirty="0"/>
          </a:p>
          <a:p>
            <a:r>
              <a:rPr lang="en-US" b="1" dirty="0"/>
              <a:t>Engineering / Scientific Software</a:t>
            </a:r>
          </a:p>
          <a:p>
            <a:r>
              <a:rPr lang="en-US" b="1" dirty="0"/>
              <a:t>MATLAB</a:t>
            </a:r>
            <a:r>
              <a:rPr lang="en-US" dirty="0"/>
              <a:t> — Used for numerical computation, data analysis, and simulation.</a:t>
            </a:r>
          </a:p>
          <a:p>
            <a:r>
              <a:rPr lang="en-US" b="1" dirty="0"/>
              <a:t>ANSYS</a:t>
            </a:r>
            <a:r>
              <a:rPr lang="en-US" dirty="0"/>
              <a:t> — Used to simulate physical and engineering systems.</a:t>
            </a:r>
          </a:p>
          <a:p>
            <a:r>
              <a:rPr lang="en-US" b="1" dirty="0"/>
              <a:t>NASA</a:t>
            </a:r>
            <a:r>
              <a:rPr lang="en-US" dirty="0"/>
              <a:t> — Used to support space missions, navigation, and scientific research.</a:t>
            </a:r>
          </a:p>
          <a:p>
            <a:endParaRPr lang="en-ID" dirty="0"/>
          </a:p>
        </p:txBody>
      </p:sp>
    </p:spTree>
    <p:extLst>
      <p:ext uri="{BB962C8B-B14F-4D97-AF65-F5344CB8AC3E}">
        <p14:creationId xmlns:p14="http://schemas.microsoft.com/office/powerpoint/2010/main" val="39630440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7B9229-6236-6582-23AF-8B976548C4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FE3AB0-881C-A518-0932-7B2421C8D41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312AB95-2502-3942-09D6-DEA96282910F}"/>
              </a:ext>
            </a:extLst>
          </p:cNvPr>
          <p:cNvSpPr>
            <a:spLocks noGrp="1"/>
          </p:cNvSpPr>
          <p:nvPr>
            <p:ph type="body" idx="1"/>
          </p:nvPr>
        </p:nvSpPr>
        <p:spPr/>
        <p:txBody>
          <a:bodyPr/>
          <a:lstStyle/>
          <a:p>
            <a:r>
              <a:rPr lang="en-US" b="1" dirty="0"/>
              <a:t>Embedded Software</a:t>
            </a:r>
          </a:p>
          <a:p>
            <a:r>
              <a:rPr lang="en-US" b="1" dirty="0"/>
              <a:t>Tesla Autopilot</a:t>
            </a:r>
            <a:r>
              <a:rPr lang="en-US" dirty="0"/>
              <a:t> — Used to assist and automate vehicle driving functions.</a:t>
            </a:r>
          </a:p>
          <a:p>
            <a:r>
              <a:rPr lang="en-US" b="1" dirty="0"/>
              <a:t>Bosch</a:t>
            </a:r>
            <a:r>
              <a:rPr lang="en-US" dirty="0"/>
              <a:t> — Used to control automotive and industrial hardware systems.</a:t>
            </a:r>
          </a:p>
          <a:p>
            <a:r>
              <a:rPr lang="en-US" b="1" dirty="0"/>
              <a:t>Samsung</a:t>
            </a:r>
            <a:r>
              <a:rPr lang="en-US" dirty="0"/>
              <a:t> — Used to control and operate smart home devices.</a:t>
            </a:r>
          </a:p>
          <a:p>
            <a:endParaRPr lang="en-ID" dirty="0"/>
          </a:p>
          <a:p>
            <a:r>
              <a:rPr lang="en-US" b="1" dirty="0"/>
              <a:t>Product-Line Software</a:t>
            </a:r>
          </a:p>
          <a:p>
            <a:r>
              <a:rPr lang="en-US" b="1" dirty="0"/>
              <a:t>Microsoft Office</a:t>
            </a:r>
            <a:r>
              <a:rPr lang="en-US" dirty="0"/>
              <a:t> — Used for office productivity tasks such as documents and spreadsheets.</a:t>
            </a:r>
          </a:p>
          <a:p>
            <a:r>
              <a:rPr lang="en-US" b="1" dirty="0"/>
              <a:t>Autodesk AutoCAD</a:t>
            </a:r>
            <a:r>
              <a:rPr lang="en-US" dirty="0"/>
              <a:t> — Used for computer-aided design and drafting.</a:t>
            </a:r>
          </a:p>
          <a:p>
            <a:r>
              <a:rPr lang="en-US" b="1" dirty="0"/>
              <a:t>Oracle Database</a:t>
            </a:r>
            <a:r>
              <a:rPr lang="en-US" dirty="0"/>
              <a:t> — Used to store, manage, and query structured data.</a:t>
            </a:r>
          </a:p>
          <a:p>
            <a:endParaRPr lang="en-ID" dirty="0"/>
          </a:p>
        </p:txBody>
      </p:sp>
    </p:spTree>
    <p:extLst>
      <p:ext uri="{BB962C8B-B14F-4D97-AF65-F5344CB8AC3E}">
        <p14:creationId xmlns:p14="http://schemas.microsoft.com/office/powerpoint/2010/main" val="8387011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70F3D8-3356-AB74-56F0-64FFD62FE6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D1E3D2-8F3F-0B83-FADF-45DA6BB7672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32DE3549-5437-6124-9061-DA5575B692E4}"/>
              </a:ext>
            </a:extLst>
          </p:cNvPr>
          <p:cNvSpPr>
            <a:spLocks noGrp="1"/>
          </p:cNvSpPr>
          <p:nvPr>
            <p:ph type="body" idx="1"/>
          </p:nvPr>
        </p:nvSpPr>
        <p:spPr/>
        <p:txBody>
          <a:bodyPr/>
          <a:lstStyle/>
          <a:p>
            <a:r>
              <a:rPr lang="en-US" b="1" dirty="0"/>
              <a:t>Web / Mobile Applications</a:t>
            </a:r>
          </a:p>
          <a:p>
            <a:r>
              <a:rPr lang="en-US" b="1" dirty="0"/>
              <a:t>Google Search</a:t>
            </a:r>
            <a:r>
              <a:rPr lang="en-US" dirty="0"/>
              <a:t> — Used to search information on the internet.</a:t>
            </a:r>
          </a:p>
          <a:p>
            <a:r>
              <a:rPr lang="en-US" b="1" dirty="0"/>
              <a:t>Tokopedia</a:t>
            </a:r>
            <a:r>
              <a:rPr lang="en-US" dirty="0"/>
              <a:t> — Used to buy and sell products online.</a:t>
            </a:r>
          </a:p>
          <a:p>
            <a:r>
              <a:rPr lang="en-US" b="1" dirty="0"/>
              <a:t>Instagram</a:t>
            </a:r>
            <a:r>
              <a:rPr lang="en-US" dirty="0"/>
              <a:t> — Used to share photos, videos, and social content.</a:t>
            </a:r>
          </a:p>
          <a:p>
            <a:endParaRPr lang="en-ID" dirty="0"/>
          </a:p>
          <a:p>
            <a:r>
              <a:rPr lang="en-US" b="1" dirty="0"/>
              <a:t>Artificial Intelligence Software</a:t>
            </a:r>
          </a:p>
          <a:p>
            <a:r>
              <a:rPr lang="en-US" b="1" dirty="0"/>
              <a:t>ChatGPT</a:t>
            </a:r>
            <a:r>
              <a:rPr lang="en-US" dirty="0"/>
              <a:t> — Used to generate and understand natural language.</a:t>
            </a:r>
          </a:p>
          <a:p>
            <a:r>
              <a:rPr lang="en-US" b="1" dirty="0"/>
              <a:t>Google Translate</a:t>
            </a:r>
            <a:r>
              <a:rPr lang="en-US" dirty="0"/>
              <a:t> — Used to translate text between languages.</a:t>
            </a:r>
          </a:p>
          <a:p>
            <a:r>
              <a:rPr lang="en-US" b="1" dirty="0"/>
              <a:t>Gemini</a:t>
            </a:r>
            <a:r>
              <a:rPr lang="en-US" dirty="0"/>
              <a:t> </a:t>
            </a:r>
            <a:r>
              <a:rPr lang="en-US"/>
              <a:t>— Used to generate and understand natural language.</a:t>
            </a:r>
          </a:p>
          <a:p>
            <a:endParaRPr lang="en-ID" dirty="0"/>
          </a:p>
        </p:txBody>
      </p:sp>
    </p:spTree>
    <p:extLst>
      <p:ext uri="{BB962C8B-B14F-4D97-AF65-F5344CB8AC3E}">
        <p14:creationId xmlns:p14="http://schemas.microsoft.com/office/powerpoint/2010/main" val="17129285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just">
              <a:spcBef>
                <a:spcPts val="0"/>
              </a:spcBef>
            </a:pPr>
            <a:r>
              <a:rPr lang="en-US" sz="24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Programming tasks </a:t>
            </a:r>
            <a:r>
              <a:rPr lang="en-US" sz="24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sym typeface="Wingdings" pitchFamily="2" charset="2"/>
              </a:rPr>
              <a:t>focus only on</a:t>
            </a:r>
            <a:r>
              <a:rPr lang="en-US" sz="24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development</a:t>
            </a:r>
          </a:p>
          <a:p>
            <a:pPr algn="just">
              <a:spcBef>
                <a:spcPts val="0"/>
              </a:spcBef>
            </a:pPr>
            <a:r>
              <a:rPr lang="en-US" sz="24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Software engineering tasks </a:t>
            </a:r>
            <a:r>
              <a:rPr lang="en-US" sz="24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sym typeface="Wingdings" pitchFamily="2" charset="2"/>
              </a:rPr>
              <a:t>focus on</a:t>
            </a:r>
            <a:r>
              <a:rPr lang="en-US" sz="24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development, modification, maintenance</a:t>
            </a:r>
          </a:p>
          <a:p>
            <a:pPr algn="just">
              <a:spcBef>
                <a:spcPts val="0"/>
              </a:spcBef>
            </a:pPr>
            <a:endParaRPr lang="en-US" sz="24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algn="just">
              <a:spcBef>
                <a:spcPts val="0"/>
              </a:spcBef>
            </a:pPr>
            <a:r>
              <a:rPr lang="en-US" sz="24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The difference stems from the management of code over time, the impact of time on scale, and decision making in the face of those ideas</a:t>
            </a:r>
          </a:p>
          <a:p>
            <a:pPr algn="just">
              <a:spcBef>
                <a:spcPts val="0"/>
              </a:spcBef>
            </a:pPr>
            <a:r>
              <a:rPr lang="en-US" sz="24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Programming</a:t>
            </a:r>
            <a:r>
              <a:rPr lang="en-US" sz="24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is the immediate act of producing code</a:t>
            </a:r>
          </a:p>
          <a:p>
            <a:pPr algn="just">
              <a:spcBef>
                <a:spcPts val="0"/>
              </a:spcBef>
            </a:pPr>
            <a:r>
              <a:rPr lang="en-US" sz="24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Software engineering </a:t>
            </a:r>
            <a:r>
              <a:rPr lang="en-US" sz="24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is the set of policies, practices, and tools that are necessary to make that code useful for as long as it needs to be used and allowing collaboration across a team</a:t>
            </a:r>
          </a:p>
          <a:p>
            <a:endParaRPr lang="en-ID" dirty="0"/>
          </a:p>
        </p:txBody>
      </p:sp>
    </p:spTree>
    <p:extLst>
      <p:ext uri="{BB962C8B-B14F-4D97-AF65-F5344CB8AC3E}">
        <p14:creationId xmlns:p14="http://schemas.microsoft.com/office/powerpoint/2010/main" val="36899647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2200" b="0" i="0" dirty="0">
                <a:effectLst/>
                <a:latin typeface="Open Sans Light" pitchFamily="2" charset="0"/>
                <a:ea typeface="Open Sans Light" pitchFamily="2" charset="0"/>
                <a:cs typeface="Open Sans Light" pitchFamily="2" charset="0"/>
                <a:sym typeface="Helvetica Neue"/>
              </a:rPr>
              <a:t>The foundation for software engineering is the process layer. The software engineering process is the glue that holds the technology layers together and enables rational and timely development of computer software. Process defines a framework that must be established for effective delivery of software engineering technology. The software process forms the basis for management control of software projects and establishes the context in which technical methods are applied, work products (models, documents, data, reports, forms, etc.) are produced, milestones are established, quality is ensured, and change is properly managed. Software engineering methods provide the technical how-</a:t>
            </a:r>
            <a:r>
              <a:rPr lang="en-US" sz="2200" b="0" i="0" dirty="0" err="1">
                <a:effectLst/>
                <a:latin typeface="Open Sans Light" pitchFamily="2" charset="0"/>
                <a:ea typeface="Open Sans Light" pitchFamily="2" charset="0"/>
                <a:cs typeface="Open Sans Light" pitchFamily="2" charset="0"/>
                <a:sym typeface="Helvetica Neue"/>
              </a:rPr>
              <a:t>to’s</a:t>
            </a:r>
            <a:r>
              <a:rPr lang="en-US" sz="2200" b="0" i="0" dirty="0">
                <a:effectLst/>
                <a:latin typeface="Open Sans Light" pitchFamily="2" charset="0"/>
                <a:ea typeface="Open Sans Light" pitchFamily="2" charset="0"/>
                <a:cs typeface="Open Sans Light" pitchFamily="2" charset="0"/>
                <a:sym typeface="Helvetica Neue"/>
              </a:rPr>
              <a:t> for building software. Methods encompass a broad array of tasks that include communication, requirements analysis, design modeling, program construction, testing, and support. Software engineering methods rely on a set of basic principles that govern each area of the technology and include modeling activities and other descriptive techniques. Software engineering tools provide automated or semi-automated support for the process and the methods. When tools are integrated so that information created by one tool can be used by another, a system for the support of software development, called computer-aided software engineering, is established.</a:t>
            </a:r>
            <a:endParaRPr lang="en-ID" dirty="0"/>
          </a:p>
        </p:txBody>
      </p:sp>
    </p:spTree>
    <p:extLst>
      <p:ext uri="{BB962C8B-B14F-4D97-AF65-F5344CB8AC3E}">
        <p14:creationId xmlns:p14="http://schemas.microsoft.com/office/powerpoint/2010/main" val="4560360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just"/>
            <a:r>
              <a:rPr lang="en-US" sz="24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While the Thirty Years’ War was raging in Europe, King Gustavus Adolphus of Sweden realized he needed a stronger naval presence if he were to retain his dominance in the Baltic.</a:t>
            </a:r>
          </a:p>
          <a:p>
            <a:pPr algn="just"/>
            <a:r>
              <a:rPr lang="en-US" sz="24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He ordered five heavy-duty warships to be built. The Vasa, with two gun-decks, 64 bronze cannons, and a 450-man crew, was to be a mighty vessel; each broadside was capable of hurling some 250 kg (550 </a:t>
            </a:r>
            <a:r>
              <a:rPr lang="en-US" sz="2400" dirty="0" err="1">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lb</a:t>
            </a:r>
            <a:r>
              <a:rPr lang="en-US" sz="24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of shot, which was twice as much as the most powerful European ships of her day.</a:t>
            </a:r>
          </a:p>
          <a:p>
            <a:pPr algn="just"/>
            <a:r>
              <a:rPr lang="en-US" sz="24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But the project became fraught with problems: the King was pressing for quick delivery, yet he kept interfering with the plans, endlessly fiddling with measurements and demanding constant modifications; a shortage of money mid-project led to more delays; and to cap it all the head shipwright suddenly dropped dead.</a:t>
            </a:r>
          </a:p>
          <a:p>
            <a:pPr algn="just"/>
            <a:endParaRPr lang="en-US" sz="24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algn="just"/>
            <a:r>
              <a:rPr lang="en-US" sz="24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At long last the Vasa was ready for her maiden voyage. It was a calm day with a light breeze—perfect sailing weather. The gun ports were opened ready to fire a salute.</a:t>
            </a:r>
          </a:p>
          <a:p>
            <a:pPr algn="just"/>
            <a:r>
              <a:rPr lang="en-US" sz="24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After sailing only 1,130 m (3,700 ft) the sail suddenly billowed and the Vasa heeled violently to port. She immediately righted herself, but at the next gust she leant even further and disaster struck—water poured into the open gun ports.</a:t>
            </a:r>
          </a:p>
          <a:p>
            <a:pPr algn="just"/>
            <a:r>
              <a:rPr lang="en-US" sz="24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The inrush made her heel so far that she collapsed on her side. The pride of the Swedish fleet met her ignominious end a mere 120 m (393 ft) from land in full view of a crowd of thousands.</a:t>
            </a:r>
          </a:p>
          <a:p>
            <a:pPr algn="just"/>
            <a:r>
              <a:rPr lang="en-US" sz="24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Gustavus Adolphus was incandescent with rage. The ship’s captain was immediately arrested while the shipbuilders and the crew blamed each other. It soon became clear that it was the actual construction at fault. There was nobody to blame: the original contractor was dead, and the King himself had personally overseen every measurement. Everyone else had just obeyed orders.</a:t>
            </a:r>
          </a:p>
          <a:p>
            <a:pPr algn="just"/>
            <a:endParaRPr lang="en-US" sz="24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endParaRPr lang="en-ID" dirty="0"/>
          </a:p>
        </p:txBody>
      </p:sp>
    </p:spTree>
    <p:extLst>
      <p:ext uri="{BB962C8B-B14F-4D97-AF65-F5344CB8AC3E}">
        <p14:creationId xmlns:p14="http://schemas.microsoft.com/office/powerpoint/2010/main" val="25201252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22BA4F-06F6-877C-C2F3-66148A15D0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6DAA12-8E6E-7067-A033-E66B8031DFC9}"/>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B827BEB-9010-319F-1C83-F2DA08AA07F7}"/>
              </a:ext>
            </a:extLst>
          </p:cNvPr>
          <p:cNvSpPr>
            <a:spLocks noGrp="1"/>
          </p:cNvSpPr>
          <p:nvPr>
            <p:ph type="body" idx="1"/>
          </p:nvPr>
        </p:nvSpPr>
        <p:spPr/>
        <p:txBody>
          <a:bodyPr/>
          <a:lstStyle/>
          <a:p>
            <a:endParaRPr lang="en-ID" dirty="0"/>
          </a:p>
        </p:txBody>
      </p:sp>
    </p:spTree>
    <p:extLst>
      <p:ext uri="{BB962C8B-B14F-4D97-AF65-F5344CB8AC3E}">
        <p14:creationId xmlns:p14="http://schemas.microsoft.com/office/powerpoint/2010/main" val="10450417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D" dirty="0"/>
          </a:p>
        </p:txBody>
      </p:sp>
    </p:spTree>
    <p:extLst>
      <p:ext uri="{BB962C8B-B14F-4D97-AF65-F5344CB8AC3E}">
        <p14:creationId xmlns:p14="http://schemas.microsoft.com/office/powerpoint/2010/main" val="40152268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D" dirty="0"/>
          </a:p>
        </p:txBody>
      </p:sp>
    </p:spTree>
    <p:extLst>
      <p:ext uri="{BB962C8B-B14F-4D97-AF65-F5344CB8AC3E}">
        <p14:creationId xmlns:p14="http://schemas.microsoft.com/office/powerpoint/2010/main" val="10087483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D" dirty="0"/>
          </a:p>
        </p:txBody>
      </p:sp>
    </p:spTree>
    <p:extLst>
      <p:ext uri="{BB962C8B-B14F-4D97-AF65-F5344CB8AC3E}">
        <p14:creationId xmlns:p14="http://schemas.microsoft.com/office/powerpoint/2010/main" val="40635713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D" dirty="0"/>
          </a:p>
        </p:txBody>
      </p:sp>
    </p:spTree>
    <p:extLst>
      <p:ext uri="{BB962C8B-B14F-4D97-AF65-F5344CB8AC3E}">
        <p14:creationId xmlns:p14="http://schemas.microsoft.com/office/powerpoint/2010/main" val="262952666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4.png"/><Relationship Id="rId7" Type="http://schemas.openxmlformats.org/officeDocument/2006/relationships/image" Target="../media/image9.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8.png"/><Relationship Id="rId11" Type="http://schemas.openxmlformats.org/officeDocument/2006/relationships/image" Target="../media/image13.svg"/><Relationship Id="rId5" Type="http://schemas.openxmlformats.org/officeDocument/2006/relationships/image" Target="../media/image7.sv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15.svg"/><Relationship Id="rId4" Type="http://schemas.openxmlformats.org/officeDocument/2006/relationships/image" Target="../media/image14.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9.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18.png"/><Relationship Id="rId5" Type="http://schemas.openxmlformats.org/officeDocument/2006/relationships/image" Target="../media/image17.svg"/><Relationship Id="rId4" Type="http://schemas.openxmlformats.org/officeDocument/2006/relationships/image" Target="../media/image16.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0.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22.svg"/><Relationship Id="rId4" Type="http://schemas.openxmlformats.org/officeDocument/2006/relationships/image" Target="../media/image21.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type 1">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pic>
        <p:nvPicPr>
          <p:cNvPr id="11" name="Image" descr="Image">
            <a:extLst>
              <a:ext uri="{FF2B5EF4-FFF2-40B4-BE49-F238E27FC236}">
                <a16:creationId xmlns:a16="http://schemas.microsoft.com/office/drawing/2014/main" id="{57BF6916-406C-E944-841A-1BF7394CF104}"/>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15" name="UNIVERSITAS BINA NUSANTARA">
            <a:extLst>
              <a:ext uri="{FF2B5EF4-FFF2-40B4-BE49-F238E27FC236}">
                <a16:creationId xmlns:a16="http://schemas.microsoft.com/office/drawing/2014/main" id="{B2ACCA88-1510-174E-BE16-6E62A96F6E0C}"/>
              </a:ext>
            </a:extLst>
          </p:cNvPr>
          <p:cNvSpPr txBox="1"/>
          <p:nvPr userDrawn="1"/>
        </p:nvSpPr>
        <p:spPr>
          <a:xfrm>
            <a:off x="8706308" y="9680388"/>
            <a:ext cx="6971384" cy="6223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dirty="0"/>
              <a:t>UNIVERSITAS</a:t>
            </a:r>
            <a:r>
              <a:rPr b="1" dirty="0"/>
              <a:t> BINA NUSANTARA</a:t>
            </a:r>
          </a:p>
        </p:txBody>
      </p:sp>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8706308" y="9680388"/>
            <a:ext cx="6971384" cy="6223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dirty="0"/>
              <a:t>UNIVERSITAS</a:t>
            </a:r>
            <a:r>
              <a:rPr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Prese</a:t>
            </a:r>
            <a:r>
              <a:rPr lang="en-ID" dirty="0"/>
              <a:t>n</a:t>
            </a:r>
            <a:r>
              <a:rPr dirty="0" err="1"/>
              <a:t>tation</a:t>
            </a:r>
            <a:r>
              <a:rPr dirty="0"/>
              <a:t> Title</a:t>
            </a:r>
          </a:p>
        </p:txBody>
      </p:sp>
      <p:sp>
        <p:nvSpPr>
          <p:cNvPr id="2" name="Text Placeholder 2">
            <a:extLst>
              <a:ext uri="{FF2B5EF4-FFF2-40B4-BE49-F238E27FC236}">
                <a16:creationId xmlns:a16="http://schemas.microsoft.com/office/drawing/2014/main" id="{D6474C2C-5958-6F6B-1482-E67DED339DDC}"/>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4" name="UNIVERSITAS BINA NUSANTARA">
            <a:extLst>
              <a:ext uri="{FF2B5EF4-FFF2-40B4-BE49-F238E27FC236}">
                <a16:creationId xmlns:a16="http://schemas.microsoft.com/office/drawing/2014/main" id="{5DC7F27E-9CB9-099F-4DA7-367C6ADB411B}"/>
              </a:ext>
            </a:extLst>
          </p:cNvPr>
          <p:cNvSpPr txBox="1"/>
          <p:nvPr userDrawn="1"/>
        </p:nvSpPr>
        <p:spPr>
          <a:xfrm>
            <a:off x="10058192" y="11100823"/>
            <a:ext cx="4212692" cy="3512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spTree>
    <p:extLst>
      <p:ext uri="{BB962C8B-B14F-4D97-AF65-F5344CB8AC3E}">
        <p14:creationId xmlns:p14="http://schemas.microsoft.com/office/powerpoint/2010/main" val="4094124863"/>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1" name="Content Placeholder 7">
            <a:extLst>
              <a:ext uri="{FF2B5EF4-FFF2-40B4-BE49-F238E27FC236}">
                <a16:creationId xmlns:a16="http://schemas.microsoft.com/office/drawing/2014/main" id="{CCD29839-25B4-3D48-8D8C-B1D859A74A9A}"/>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09024523"/>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type 2">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F7BB76AE-A45C-1F43-9E7B-E96439A8D439}"/>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11" name="Image" descr="Image">
            <a:extLst>
              <a:ext uri="{FF2B5EF4-FFF2-40B4-BE49-F238E27FC236}">
                <a16:creationId xmlns:a16="http://schemas.microsoft.com/office/drawing/2014/main" id="{57BF6916-406C-E944-841A-1BF7394CF104}"/>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15" name="UNIVERSITAS BINA NUSANTARA">
            <a:extLst>
              <a:ext uri="{FF2B5EF4-FFF2-40B4-BE49-F238E27FC236}">
                <a16:creationId xmlns:a16="http://schemas.microsoft.com/office/drawing/2014/main" id="{B2ACCA88-1510-174E-BE16-6E62A96F6E0C}"/>
              </a:ext>
            </a:extLst>
          </p:cNvPr>
          <p:cNvSpPr txBox="1"/>
          <p:nvPr userDrawn="1"/>
        </p:nvSpPr>
        <p:spPr>
          <a:xfrm>
            <a:off x="8706308" y="9680388"/>
            <a:ext cx="6971384" cy="6223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dirty="0"/>
              <a:t>UNIVERSITAS</a:t>
            </a:r>
            <a:r>
              <a:rPr b="1" dirty="0"/>
              <a:t> BINA NUSANTARA</a:t>
            </a:r>
          </a:p>
        </p:txBody>
      </p:sp>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8706308" y="9680388"/>
            <a:ext cx="6971384" cy="6223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dirty="0"/>
              <a:t>UNIVERSITAS</a:t>
            </a:r>
            <a:r>
              <a:rPr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Prese</a:t>
            </a:r>
            <a:r>
              <a:rPr lang="en-ID" dirty="0"/>
              <a:t>n</a:t>
            </a:r>
            <a:r>
              <a:rPr dirty="0" err="1"/>
              <a:t>tation</a:t>
            </a:r>
            <a:r>
              <a:rPr dirty="0"/>
              <a:t> Title</a:t>
            </a:r>
          </a:p>
        </p:txBody>
      </p:sp>
      <p:sp>
        <p:nvSpPr>
          <p:cNvPr id="2" name="Text Placeholder 2">
            <a:extLst>
              <a:ext uri="{FF2B5EF4-FFF2-40B4-BE49-F238E27FC236}">
                <a16:creationId xmlns:a16="http://schemas.microsoft.com/office/drawing/2014/main" id="{23DCB9E1-9FF7-C612-AB16-FF6707878307}"/>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3" name="UNIVERSITAS BINA NUSANTARA">
            <a:extLst>
              <a:ext uri="{FF2B5EF4-FFF2-40B4-BE49-F238E27FC236}">
                <a16:creationId xmlns:a16="http://schemas.microsoft.com/office/drawing/2014/main" id="{76287026-42FF-418F-A536-8F52F4949E8D}"/>
              </a:ext>
            </a:extLst>
          </p:cNvPr>
          <p:cNvSpPr txBox="1"/>
          <p:nvPr userDrawn="1"/>
        </p:nvSpPr>
        <p:spPr>
          <a:xfrm>
            <a:off x="10058192" y="11100823"/>
            <a:ext cx="4212692" cy="3512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spTree>
    <p:extLst>
      <p:ext uri="{BB962C8B-B14F-4D97-AF65-F5344CB8AC3E}">
        <p14:creationId xmlns:p14="http://schemas.microsoft.com/office/powerpoint/2010/main" val="500318571"/>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reserve="1">
  <p:cSld name="Section type 1">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pic>
        <p:nvPicPr>
          <p:cNvPr id="6" name="Image" descr="Image">
            <a:extLst>
              <a:ext uri="{FF2B5EF4-FFF2-40B4-BE49-F238E27FC236}">
                <a16:creationId xmlns:a16="http://schemas.microsoft.com/office/drawing/2014/main" id="{BBEE18F9-7EE5-444F-AA57-68A6783A5225}"/>
              </a:ext>
            </a:extLst>
          </p:cNvPr>
          <p:cNvPicPr>
            <a:picLocks noChangeAspect="1"/>
          </p:cNvPicPr>
          <p:nvPr userDrawn="1"/>
        </p:nvPicPr>
        <p:blipFill>
          <a:blip r:embed="rId3"/>
          <a:stretch>
            <a:fillRect/>
          </a:stretch>
        </p:blipFill>
        <p:spPr>
          <a:xfrm>
            <a:off x="766734" y="758207"/>
            <a:ext cx="1914949" cy="1143001"/>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spTree>
    <p:extLst>
      <p:ext uri="{BB962C8B-B14F-4D97-AF65-F5344CB8AC3E}">
        <p14:creationId xmlns:p14="http://schemas.microsoft.com/office/powerpoint/2010/main" val="28262084"/>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Section type 2">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039E3D91-9575-7645-A4DA-1857555C3973}"/>
              </a:ext>
            </a:extLst>
          </p:cNvPr>
          <p:cNvSpPr/>
          <p:nvPr userDrawn="1"/>
        </p:nvSpPr>
        <p:spPr>
          <a:xfrm>
            <a:off x="0" y="0"/>
            <a:ext cx="24384000" cy="13716000"/>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9" name="Image" descr="Image">
            <a:extLst>
              <a:ext uri="{FF2B5EF4-FFF2-40B4-BE49-F238E27FC236}">
                <a16:creationId xmlns:a16="http://schemas.microsoft.com/office/drawing/2014/main" id="{342E0CAD-6F4A-B446-A399-7F1EC0FA30B6}"/>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t>Section Title</a:t>
            </a:r>
          </a:p>
        </p:txBody>
      </p:sp>
    </p:spTree>
    <p:extLst>
      <p:ext uri="{BB962C8B-B14F-4D97-AF65-F5344CB8AC3E}">
        <p14:creationId xmlns:p14="http://schemas.microsoft.com/office/powerpoint/2010/main" val="1821208626"/>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Section type 3">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9B58D5CA-1AEF-754B-9F74-AE29F8DD61D5}"/>
              </a:ext>
            </a:extLst>
          </p:cNvPr>
          <p:cNvSpPr/>
          <p:nvPr userDrawn="1"/>
        </p:nvSpPr>
        <p:spPr>
          <a:xfrm>
            <a:off x="-1" y="0"/>
            <a:ext cx="24384001" cy="13716000"/>
          </a:xfrm>
          <a:prstGeom prst="rect">
            <a:avLst/>
          </a:prstGeom>
          <a:gradFill>
            <a:gsLst>
              <a:gs pos="0">
                <a:srgbClr val="F89620"/>
              </a:gs>
              <a:gs pos="100000">
                <a:srgbClr val="FFB03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9" name="Image" descr="Image">
            <a:extLst>
              <a:ext uri="{FF2B5EF4-FFF2-40B4-BE49-F238E27FC236}">
                <a16:creationId xmlns:a16="http://schemas.microsoft.com/office/drawing/2014/main" id="{342E0CAD-6F4A-B446-A399-7F1EC0FA30B6}"/>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spTree>
    <p:extLst>
      <p:ext uri="{BB962C8B-B14F-4D97-AF65-F5344CB8AC3E}">
        <p14:creationId xmlns:p14="http://schemas.microsoft.com/office/powerpoint/2010/main" val="4029905156"/>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Section type 4">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D74DB4AE-0419-BC41-9D4A-DC2FB6ABAE92}"/>
              </a:ext>
            </a:extLst>
          </p:cNvPr>
          <p:cNvSpPr/>
          <p:nvPr userDrawn="1"/>
        </p:nvSpPr>
        <p:spPr>
          <a:xfrm>
            <a:off x="0" y="0"/>
            <a:ext cx="24384000" cy="13716000"/>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9" name="Image" descr="Image">
            <a:extLst>
              <a:ext uri="{FF2B5EF4-FFF2-40B4-BE49-F238E27FC236}">
                <a16:creationId xmlns:a16="http://schemas.microsoft.com/office/drawing/2014/main" id="{342E0CAD-6F4A-B446-A399-7F1EC0FA30B6}"/>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spTree>
    <p:extLst>
      <p:ext uri="{BB962C8B-B14F-4D97-AF65-F5344CB8AC3E}">
        <p14:creationId xmlns:p14="http://schemas.microsoft.com/office/powerpoint/2010/main" val="2488882905"/>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reserve="1">
  <p:cSld name="Section type 5">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5C668086-F712-8640-8B8D-2424E50E003F}"/>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9" name="Image" descr="Image">
            <a:extLst>
              <a:ext uri="{FF2B5EF4-FFF2-40B4-BE49-F238E27FC236}">
                <a16:creationId xmlns:a16="http://schemas.microsoft.com/office/drawing/2014/main" id="{342E0CAD-6F4A-B446-A399-7F1EC0FA30B6}"/>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spTree>
    <p:extLst>
      <p:ext uri="{BB962C8B-B14F-4D97-AF65-F5344CB8AC3E}">
        <p14:creationId xmlns:p14="http://schemas.microsoft.com/office/powerpoint/2010/main" val="1207302220"/>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p:cSld name="Section type 6">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B6B9E9EC-92F4-2943-BCEE-A17DD1A638A8}"/>
              </a:ext>
            </a:extLst>
          </p:cNvPr>
          <p:cNvSpPr/>
          <p:nvPr userDrawn="1"/>
        </p:nvSpPr>
        <p:spPr>
          <a:xfrm>
            <a:off x="-56844" y="-25400"/>
            <a:ext cx="24497688" cy="13766800"/>
          </a:xfrm>
          <a:prstGeom prst="rect">
            <a:avLst/>
          </a:prstGeom>
          <a:gradFill>
            <a:gsLst>
              <a:gs pos="0">
                <a:srgbClr val="315094"/>
              </a:gs>
              <a:gs pos="100000">
                <a:srgbClr val="293C6E"/>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9" name="Image" descr="Image">
            <a:extLst>
              <a:ext uri="{FF2B5EF4-FFF2-40B4-BE49-F238E27FC236}">
                <a16:creationId xmlns:a16="http://schemas.microsoft.com/office/drawing/2014/main" id="{342E0CAD-6F4A-B446-A399-7F1EC0FA30B6}"/>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spTree>
    <p:extLst>
      <p:ext uri="{BB962C8B-B14F-4D97-AF65-F5344CB8AC3E}">
        <p14:creationId xmlns:p14="http://schemas.microsoft.com/office/powerpoint/2010/main" val="2512683092"/>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Section type 7">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3B0134B8-92DD-5A47-83ED-ED2B1DC0A2FA}"/>
              </a:ext>
            </a:extLst>
          </p:cNvPr>
          <p:cNvSpPr/>
          <p:nvPr userDrawn="1"/>
        </p:nvSpPr>
        <p:spPr>
          <a:xfrm>
            <a:off x="-56844" y="-25400"/>
            <a:ext cx="24497688" cy="13766800"/>
          </a:xfrm>
          <a:prstGeom prst="rect">
            <a:avLst/>
          </a:prstGeom>
          <a:gradFill>
            <a:gsLst>
              <a:gs pos="0">
                <a:srgbClr val="797979"/>
              </a:gs>
              <a:gs pos="100000">
                <a:srgbClr val="A9A9A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9" name="Image" descr="Image">
            <a:extLst>
              <a:ext uri="{FF2B5EF4-FFF2-40B4-BE49-F238E27FC236}">
                <a16:creationId xmlns:a16="http://schemas.microsoft.com/office/drawing/2014/main" id="{342E0CAD-6F4A-B446-A399-7F1EC0FA30B6}"/>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spTree>
    <p:extLst>
      <p:ext uri="{BB962C8B-B14F-4D97-AF65-F5344CB8AC3E}">
        <p14:creationId xmlns:p14="http://schemas.microsoft.com/office/powerpoint/2010/main" val="3579463584"/>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21" name="Rounded Rectangle 20">
            <a:extLst>
              <a:ext uri="{FF2B5EF4-FFF2-40B4-BE49-F238E27FC236}">
                <a16:creationId xmlns:a16="http://schemas.microsoft.com/office/drawing/2014/main" id="{86AB40C6-E41E-9F54-5391-1B969D0CD911}"/>
              </a:ext>
            </a:extLst>
          </p:cNvPr>
          <p:cNvSpPr/>
          <p:nvPr userDrawn="1"/>
        </p:nvSpPr>
        <p:spPr>
          <a:xfrm>
            <a:off x="6181816" y="4686855"/>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4" name="Rounded Rectangle 13">
            <a:extLst>
              <a:ext uri="{FF2B5EF4-FFF2-40B4-BE49-F238E27FC236}">
                <a16:creationId xmlns:a16="http://schemas.microsoft.com/office/drawing/2014/main" id="{080221CE-1DAF-B881-9928-5F7152658A68}"/>
              </a:ext>
            </a:extLst>
          </p:cNvPr>
          <p:cNvSpPr/>
          <p:nvPr userDrawn="1"/>
        </p:nvSpPr>
        <p:spPr>
          <a:xfrm>
            <a:off x="2167377" y="4686855"/>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6" name="Text Placeholder 5">
            <a:extLst>
              <a:ext uri="{FF2B5EF4-FFF2-40B4-BE49-F238E27FC236}">
                <a16:creationId xmlns:a16="http://schemas.microsoft.com/office/drawing/2014/main" id="{769ADC5F-7856-93FC-73B6-D0FD6CF171F7}"/>
              </a:ext>
            </a:extLst>
          </p:cNvPr>
          <p:cNvSpPr>
            <a:spLocks noGrp="1"/>
          </p:cNvSpPr>
          <p:nvPr>
            <p:ph type="body" sz="quarter" idx="15"/>
          </p:nvPr>
        </p:nvSpPr>
        <p:spPr>
          <a:xfrm>
            <a:off x="7051814" y="4995800"/>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9" name="Text Placeholder 5">
            <a:extLst>
              <a:ext uri="{FF2B5EF4-FFF2-40B4-BE49-F238E27FC236}">
                <a16:creationId xmlns:a16="http://schemas.microsoft.com/office/drawing/2014/main" id="{00A99FD3-8026-DED8-6415-E6F86A722F09}"/>
              </a:ext>
            </a:extLst>
          </p:cNvPr>
          <p:cNvSpPr>
            <a:spLocks noGrp="1"/>
          </p:cNvSpPr>
          <p:nvPr>
            <p:ph type="body" sz="quarter" idx="18" hasCustomPrompt="1"/>
          </p:nvPr>
        </p:nvSpPr>
        <p:spPr>
          <a:xfrm>
            <a:off x="2754063" y="4995800"/>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5" name="Rounded Rectangle 4">
            <a:extLst>
              <a:ext uri="{FF2B5EF4-FFF2-40B4-BE49-F238E27FC236}">
                <a16:creationId xmlns:a16="http://schemas.microsoft.com/office/drawing/2014/main" id="{E247E1DC-6698-D91F-6E0F-EE6AA5A0EE44}"/>
              </a:ext>
            </a:extLst>
          </p:cNvPr>
          <p:cNvSpPr/>
          <p:nvPr userDrawn="1"/>
        </p:nvSpPr>
        <p:spPr>
          <a:xfrm>
            <a:off x="6181816" y="7440664"/>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6" name="Rounded Rectangle 5">
            <a:extLst>
              <a:ext uri="{FF2B5EF4-FFF2-40B4-BE49-F238E27FC236}">
                <a16:creationId xmlns:a16="http://schemas.microsoft.com/office/drawing/2014/main" id="{E4546BDD-E691-E2BA-47E5-B549A7229C89}"/>
              </a:ext>
            </a:extLst>
          </p:cNvPr>
          <p:cNvSpPr/>
          <p:nvPr userDrawn="1"/>
        </p:nvSpPr>
        <p:spPr>
          <a:xfrm>
            <a:off x="2167377" y="7440664"/>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Text Placeholder 5">
            <a:extLst>
              <a:ext uri="{FF2B5EF4-FFF2-40B4-BE49-F238E27FC236}">
                <a16:creationId xmlns:a16="http://schemas.microsoft.com/office/drawing/2014/main" id="{260AF2BE-EDAA-B7C2-8580-AB1ACF70EF35}"/>
              </a:ext>
            </a:extLst>
          </p:cNvPr>
          <p:cNvSpPr>
            <a:spLocks noGrp="1"/>
          </p:cNvSpPr>
          <p:nvPr>
            <p:ph type="body" sz="quarter" idx="19"/>
          </p:nvPr>
        </p:nvSpPr>
        <p:spPr>
          <a:xfrm>
            <a:off x="7051814" y="7749609"/>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9" name="Text Placeholder 5">
            <a:extLst>
              <a:ext uri="{FF2B5EF4-FFF2-40B4-BE49-F238E27FC236}">
                <a16:creationId xmlns:a16="http://schemas.microsoft.com/office/drawing/2014/main" id="{0EC36AFE-3A01-B3EC-7E28-B8F97B900365}"/>
              </a:ext>
            </a:extLst>
          </p:cNvPr>
          <p:cNvSpPr>
            <a:spLocks noGrp="1"/>
          </p:cNvSpPr>
          <p:nvPr>
            <p:ph type="body" sz="quarter" idx="20" hasCustomPrompt="1"/>
          </p:nvPr>
        </p:nvSpPr>
        <p:spPr>
          <a:xfrm>
            <a:off x="2754063" y="7749609"/>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1" name="Rounded Rectangle 10">
            <a:extLst>
              <a:ext uri="{FF2B5EF4-FFF2-40B4-BE49-F238E27FC236}">
                <a16:creationId xmlns:a16="http://schemas.microsoft.com/office/drawing/2014/main" id="{CE84B4FD-950C-7E7E-B32E-0106A01D53C4}"/>
              </a:ext>
            </a:extLst>
          </p:cNvPr>
          <p:cNvSpPr/>
          <p:nvPr userDrawn="1"/>
        </p:nvSpPr>
        <p:spPr>
          <a:xfrm>
            <a:off x="6181816" y="10194473"/>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2" name="Rounded Rectangle 11">
            <a:extLst>
              <a:ext uri="{FF2B5EF4-FFF2-40B4-BE49-F238E27FC236}">
                <a16:creationId xmlns:a16="http://schemas.microsoft.com/office/drawing/2014/main" id="{3B266147-1D67-88E4-9FE7-F833346E464A}"/>
              </a:ext>
            </a:extLst>
          </p:cNvPr>
          <p:cNvSpPr/>
          <p:nvPr userDrawn="1"/>
        </p:nvSpPr>
        <p:spPr>
          <a:xfrm>
            <a:off x="2167377" y="10194473"/>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5" name="Text Placeholder 5">
            <a:extLst>
              <a:ext uri="{FF2B5EF4-FFF2-40B4-BE49-F238E27FC236}">
                <a16:creationId xmlns:a16="http://schemas.microsoft.com/office/drawing/2014/main" id="{6248EF39-489B-0AB6-1C39-97964F6585CC}"/>
              </a:ext>
            </a:extLst>
          </p:cNvPr>
          <p:cNvSpPr>
            <a:spLocks noGrp="1"/>
          </p:cNvSpPr>
          <p:nvPr>
            <p:ph type="body" sz="quarter" idx="21"/>
          </p:nvPr>
        </p:nvSpPr>
        <p:spPr>
          <a:xfrm>
            <a:off x="7051814" y="10503418"/>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6" name="Text Placeholder 5">
            <a:extLst>
              <a:ext uri="{FF2B5EF4-FFF2-40B4-BE49-F238E27FC236}">
                <a16:creationId xmlns:a16="http://schemas.microsoft.com/office/drawing/2014/main" id="{E37917F2-61C0-8B23-0D87-2AA3EEB8377A}"/>
              </a:ext>
            </a:extLst>
          </p:cNvPr>
          <p:cNvSpPr>
            <a:spLocks noGrp="1"/>
          </p:cNvSpPr>
          <p:nvPr>
            <p:ph type="body" sz="quarter" idx="22" hasCustomPrompt="1"/>
          </p:nvPr>
        </p:nvSpPr>
        <p:spPr>
          <a:xfrm>
            <a:off x="2754063" y="10503418"/>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7" name="Title 2">
            <a:extLst>
              <a:ext uri="{FF2B5EF4-FFF2-40B4-BE49-F238E27FC236}">
                <a16:creationId xmlns:a16="http://schemas.microsoft.com/office/drawing/2014/main" id="{3F0C4EB7-81AE-6D10-33F3-83A99AC2F3BA}"/>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8" name="Text Placeholder 4">
            <a:extLst>
              <a:ext uri="{FF2B5EF4-FFF2-40B4-BE49-F238E27FC236}">
                <a16:creationId xmlns:a16="http://schemas.microsoft.com/office/drawing/2014/main" id="{043113C8-679B-440C-38CF-27CC1A6FF3A6}"/>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Tree>
    <p:extLst>
      <p:ext uri="{BB962C8B-B14F-4D97-AF65-F5344CB8AC3E}">
        <p14:creationId xmlns:p14="http://schemas.microsoft.com/office/powerpoint/2010/main" val="3998102712"/>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type 3">
    <p:spTree>
      <p:nvGrpSpPr>
        <p:cNvPr id="1" name=""/>
        <p:cNvGrpSpPr/>
        <p:nvPr/>
      </p:nvGrpSpPr>
      <p:grpSpPr>
        <a:xfrm>
          <a:off x="0" y="0"/>
          <a:ext cx="0" cy="0"/>
          <a:chOff x="0" y="0"/>
          <a:chExt cx="0" cy="0"/>
        </a:xfrm>
      </p:grpSpPr>
      <p:sp>
        <p:nvSpPr>
          <p:cNvPr id="99" name="Rectangle">
            <a:extLst>
              <a:ext uri="{FF2B5EF4-FFF2-40B4-BE49-F238E27FC236}">
                <a16:creationId xmlns:a16="http://schemas.microsoft.com/office/drawing/2014/main" id="{5B500D99-BCA8-5A47-AC2D-7A5DFB585C9A}"/>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04" name="Content Placeholder 7">
            <a:extLst>
              <a:ext uri="{FF2B5EF4-FFF2-40B4-BE49-F238E27FC236}">
                <a16:creationId xmlns:a16="http://schemas.microsoft.com/office/drawing/2014/main" id="{A238D5AC-1068-5240-9AFA-91BA1250D945}"/>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34051035"/>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D2A636C9-947E-150D-EB07-22919761FA60}"/>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16737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9405342"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1664330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Picture Placeholder 3">
            <a:extLst>
              <a:ext uri="{FF2B5EF4-FFF2-40B4-BE49-F238E27FC236}">
                <a16:creationId xmlns:a16="http://schemas.microsoft.com/office/drawing/2014/main" id="{3A552A97-F867-374E-B40D-BD84D808047E}"/>
              </a:ext>
            </a:extLst>
          </p:cNvPr>
          <p:cNvSpPr>
            <a:spLocks noGrp="1"/>
          </p:cNvSpPr>
          <p:nvPr>
            <p:ph type="pic" sz="quarter" idx="11"/>
          </p:nvPr>
        </p:nvSpPr>
        <p:spPr>
          <a:xfrm>
            <a:off x="2167377"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29" name="Picture Placeholder 3">
            <a:extLst>
              <a:ext uri="{FF2B5EF4-FFF2-40B4-BE49-F238E27FC236}">
                <a16:creationId xmlns:a16="http://schemas.microsoft.com/office/drawing/2014/main" id="{DB283EA2-01A0-334D-8038-2E3190C1B2B9}"/>
              </a:ext>
            </a:extLst>
          </p:cNvPr>
          <p:cNvSpPr>
            <a:spLocks noGrp="1"/>
          </p:cNvSpPr>
          <p:nvPr>
            <p:ph type="pic" sz="quarter" idx="12"/>
          </p:nvPr>
        </p:nvSpPr>
        <p:spPr>
          <a:xfrm>
            <a:off x="9405342"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30" name="Picture Placeholder 3">
            <a:extLst>
              <a:ext uri="{FF2B5EF4-FFF2-40B4-BE49-F238E27FC236}">
                <a16:creationId xmlns:a16="http://schemas.microsoft.com/office/drawing/2014/main" id="{B5710E30-F50B-2E47-A284-AB9A73F6AB8F}"/>
              </a:ext>
            </a:extLst>
          </p:cNvPr>
          <p:cNvSpPr>
            <a:spLocks noGrp="1"/>
          </p:cNvSpPr>
          <p:nvPr>
            <p:ph type="pic" sz="quarter" idx="13"/>
          </p:nvPr>
        </p:nvSpPr>
        <p:spPr>
          <a:xfrm>
            <a:off x="16643307" y="4297293"/>
            <a:ext cx="4759266" cy="4172342"/>
          </a:xfrm>
        </p:spPr>
        <p:txBody>
          <a:bodyPr/>
          <a:lstStyle>
            <a:lvl1pPr marL="0" indent="0">
              <a:buNone/>
              <a:defRPr>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3505189200"/>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3A325C97-8FC1-69A4-76A6-9BFCCE62D08F}"/>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ight Arrow 3">
            <a:extLst>
              <a:ext uri="{FF2B5EF4-FFF2-40B4-BE49-F238E27FC236}">
                <a16:creationId xmlns:a16="http://schemas.microsoft.com/office/drawing/2014/main" id="{8F28C692-0EE9-7D99-17B4-3313049F0A01}"/>
              </a:ext>
            </a:extLst>
          </p:cNvPr>
          <p:cNvSpPr/>
          <p:nvPr userDrawn="1"/>
        </p:nvSpPr>
        <p:spPr>
          <a:xfrm>
            <a:off x="7398337"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 name="Rounded Rectangle 1">
            <a:extLst>
              <a:ext uri="{FF2B5EF4-FFF2-40B4-BE49-F238E27FC236}">
                <a16:creationId xmlns:a16="http://schemas.microsoft.com/office/drawing/2014/main" id="{01B89336-F494-2062-ED79-0A44623AD4C4}"/>
              </a:ext>
            </a:extLst>
          </p:cNvPr>
          <p:cNvSpPr/>
          <p:nvPr userDrawn="1"/>
        </p:nvSpPr>
        <p:spPr>
          <a:xfrm>
            <a:off x="2167377"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594247"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7" name="Rounded Rectangle 16">
            <a:extLst>
              <a:ext uri="{FF2B5EF4-FFF2-40B4-BE49-F238E27FC236}">
                <a16:creationId xmlns:a16="http://schemas.microsoft.com/office/drawing/2014/main" id="{651AEE51-4476-0347-EE71-4727AC7D90CC}"/>
              </a:ext>
            </a:extLst>
          </p:cNvPr>
          <p:cNvSpPr/>
          <p:nvPr userDrawn="1"/>
        </p:nvSpPr>
        <p:spPr>
          <a:xfrm>
            <a:off x="9278138"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C8DF8073-7CBE-78F8-385D-33EC70507F81}"/>
              </a:ext>
            </a:extLst>
          </p:cNvPr>
          <p:cNvSpPr/>
          <p:nvPr userDrawn="1"/>
        </p:nvSpPr>
        <p:spPr>
          <a:xfrm>
            <a:off x="16388899"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3" name="Text Placeholder 5">
            <a:extLst>
              <a:ext uri="{FF2B5EF4-FFF2-40B4-BE49-F238E27FC236}">
                <a16:creationId xmlns:a16="http://schemas.microsoft.com/office/drawing/2014/main" id="{5D06E93C-E9EF-DAD7-BDE3-8DDAB05CDF90}"/>
              </a:ext>
            </a:extLst>
          </p:cNvPr>
          <p:cNvSpPr>
            <a:spLocks noGrp="1"/>
          </p:cNvSpPr>
          <p:nvPr>
            <p:ph type="body" sz="quarter" idx="15"/>
          </p:nvPr>
        </p:nvSpPr>
        <p:spPr>
          <a:xfrm>
            <a:off x="9719708"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4" name="Text Placeholder 5">
            <a:extLst>
              <a:ext uri="{FF2B5EF4-FFF2-40B4-BE49-F238E27FC236}">
                <a16:creationId xmlns:a16="http://schemas.microsoft.com/office/drawing/2014/main" id="{AB64C3FA-E7EC-73CE-DEC9-E0D1DACCC92F}"/>
              </a:ext>
            </a:extLst>
          </p:cNvPr>
          <p:cNvSpPr>
            <a:spLocks noGrp="1"/>
          </p:cNvSpPr>
          <p:nvPr>
            <p:ph type="body" sz="quarter" idx="16"/>
          </p:nvPr>
        </p:nvSpPr>
        <p:spPr>
          <a:xfrm>
            <a:off x="16882946"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1" name="Text Placeholder 5">
            <a:extLst>
              <a:ext uri="{FF2B5EF4-FFF2-40B4-BE49-F238E27FC236}">
                <a16:creationId xmlns:a16="http://schemas.microsoft.com/office/drawing/2014/main" id="{1B745795-7EE3-42BF-EDBE-49D4FAD835F5}"/>
              </a:ext>
            </a:extLst>
          </p:cNvPr>
          <p:cNvSpPr>
            <a:spLocks noGrp="1"/>
          </p:cNvSpPr>
          <p:nvPr>
            <p:ph type="body" sz="quarter" idx="17"/>
          </p:nvPr>
        </p:nvSpPr>
        <p:spPr>
          <a:xfrm>
            <a:off x="2349891" y="10445295"/>
            <a:ext cx="19038148" cy="1701954"/>
          </a:xfrm>
        </p:spPr>
        <p:txBody>
          <a:bodyPr>
            <a:noAutofit/>
          </a:bodyPr>
          <a:lstStyle>
            <a:lvl1pPr marL="0" indent="0">
              <a:buNone/>
              <a:defRPr kumimoji="0" lang="en-US" sz="28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Right Arrow 32">
            <a:extLst>
              <a:ext uri="{FF2B5EF4-FFF2-40B4-BE49-F238E27FC236}">
                <a16:creationId xmlns:a16="http://schemas.microsoft.com/office/drawing/2014/main" id="{0AE76436-839B-BF36-E19E-893653562EA3}"/>
              </a:ext>
            </a:extLst>
          </p:cNvPr>
          <p:cNvSpPr/>
          <p:nvPr userDrawn="1"/>
        </p:nvSpPr>
        <p:spPr>
          <a:xfrm>
            <a:off x="14509098"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Oval 7">
            <a:extLst>
              <a:ext uri="{FF2B5EF4-FFF2-40B4-BE49-F238E27FC236}">
                <a16:creationId xmlns:a16="http://schemas.microsoft.com/office/drawing/2014/main" id="{DCFF0438-821D-3C18-6D61-1BD73A4DC167}"/>
              </a:ext>
            </a:extLst>
          </p:cNvPr>
          <p:cNvSpPr/>
          <p:nvPr userDrawn="1"/>
        </p:nvSpPr>
        <p:spPr>
          <a:xfrm>
            <a:off x="4241849"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1</a:t>
            </a:r>
          </a:p>
        </p:txBody>
      </p:sp>
      <p:sp>
        <p:nvSpPr>
          <p:cNvPr id="10" name="Oval 9">
            <a:extLst>
              <a:ext uri="{FF2B5EF4-FFF2-40B4-BE49-F238E27FC236}">
                <a16:creationId xmlns:a16="http://schemas.microsoft.com/office/drawing/2014/main" id="{1BC35716-81E4-A54F-3272-89DAA37CF79D}"/>
              </a:ext>
            </a:extLst>
          </p:cNvPr>
          <p:cNvSpPr/>
          <p:nvPr userDrawn="1"/>
        </p:nvSpPr>
        <p:spPr>
          <a:xfrm>
            <a:off x="11279661"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2</a:t>
            </a:r>
          </a:p>
        </p:txBody>
      </p:sp>
      <p:sp>
        <p:nvSpPr>
          <p:cNvPr id="14" name="Oval 13">
            <a:extLst>
              <a:ext uri="{FF2B5EF4-FFF2-40B4-BE49-F238E27FC236}">
                <a16:creationId xmlns:a16="http://schemas.microsoft.com/office/drawing/2014/main" id="{6D587B62-738C-1BE8-E775-FC6EC9D2556E}"/>
              </a:ext>
            </a:extLst>
          </p:cNvPr>
          <p:cNvSpPr/>
          <p:nvPr userDrawn="1"/>
        </p:nvSpPr>
        <p:spPr>
          <a:xfrm>
            <a:off x="18463370"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3</a:t>
            </a:r>
          </a:p>
        </p:txBody>
      </p:sp>
    </p:spTree>
    <p:extLst>
      <p:ext uri="{BB962C8B-B14F-4D97-AF65-F5344CB8AC3E}">
        <p14:creationId xmlns:p14="http://schemas.microsoft.com/office/powerpoint/2010/main" val="1809284995"/>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95F33489-AE64-A520-339D-37FA55DCDDCD}"/>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2167377" y="6556917"/>
            <a:ext cx="9768906" cy="5575610"/>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4" name="Picture Placeholder 3">
            <a:extLst>
              <a:ext uri="{FF2B5EF4-FFF2-40B4-BE49-F238E27FC236}">
                <a16:creationId xmlns:a16="http://schemas.microsoft.com/office/drawing/2014/main" id="{199BEEEC-0D44-544B-A30D-8F854BF4A1E2}"/>
              </a:ext>
            </a:extLst>
          </p:cNvPr>
          <p:cNvSpPr>
            <a:spLocks noGrp="1"/>
          </p:cNvSpPr>
          <p:nvPr>
            <p:ph type="pic" sz="quarter" idx="13"/>
          </p:nvPr>
        </p:nvSpPr>
        <p:spPr>
          <a:xfrm>
            <a:off x="12339930" y="4210629"/>
            <a:ext cx="9099057" cy="7921898"/>
          </a:xfrm>
        </p:spPr>
        <p:txBody>
          <a:bodyPr/>
          <a:lstStyle>
            <a:lvl1pPr marL="0" indent="0">
              <a:buNone/>
              <a:defRPr b="0">
                <a:solidFill>
                  <a:schemeClr val="bg1"/>
                </a:solidFill>
              </a:defRPr>
            </a:lvl1pPr>
          </a:lstStyle>
          <a:p>
            <a:r>
              <a:rPr lang="en-US"/>
              <a:t>Click icon to add picture</a:t>
            </a:r>
            <a:endParaRPr lang="en-US" dirty="0"/>
          </a:p>
        </p:txBody>
      </p:sp>
      <p:sp>
        <p:nvSpPr>
          <p:cNvPr id="6" name="Text Placeholder 5">
            <a:extLst>
              <a:ext uri="{FF2B5EF4-FFF2-40B4-BE49-F238E27FC236}">
                <a16:creationId xmlns:a16="http://schemas.microsoft.com/office/drawing/2014/main" id="{313C6146-DC72-7FB3-6375-B120A24C107F}"/>
              </a:ext>
            </a:extLst>
          </p:cNvPr>
          <p:cNvSpPr>
            <a:spLocks noGrp="1"/>
          </p:cNvSpPr>
          <p:nvPr>
            <p:ph type="body" sz="quarter" idx="17" hasCustomPrompt="1"/>
          </p:nvPr>
        </p:nvSpPr>
        <p:spPr>
          <a:xfrm>
            <a:off x="2166938" y="4210049"/>
            <a:ext cx="9768874" cy="2039112"/>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spTree>
    <p:extLst>
      <p:ext uri="{BB962C8B-B14F-4D97-AF65-F5344CB8AC3E}">
        <p14:creationId xmlns:p14="http://schemas.microsoft.com/office/powerpoint/2010/main" val="2085329813"/>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28F252AD-5DE4-7070-6059-31CB6E8E15CC}"/>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Or 3">
            <a:extLst>
              <a:ext uri="{FF2B5EF4-FFF2-40B4-BE49-F238E27FC236}">
                <a16:creationId xmlns:a16="http://schemas.microsoft.com/office/drawing/2014/main" id="{E68A1B27-C10C-399D-6C52-E0B8F062FF6D}"/>
              </a:ext>
            </a:extLst>
          </p:cNvPr>
          <p:cNvSpPr/>
          <p:nvPr userDrawn="1"/>
        </p:nvSpPr>
        <p:spPr>
          <a:xfrm>
            <a:off x="7481303" y="3712458"/>
            <a:ext cx="9144000" cy="9144000"/>
          </a:xfrm>
          <a:prstGeom prst="flowChartOr">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cxnSp>
        <p:nvCxnSpPr>
          <p:cNvPr id="8" name="Straight Connector 7">
            <a:extLst>
              <a:ext uri="{FF2B5EF4-FFF2-40B4-BE49-F238E27FC236}">
                <a16:creationId xmlns:a16="http://schemas.microsoft.com/office/drawing/2014/main" id="{9AE1FE12-D6E7-CC76-3FE4-BC8F0EC78DF0}"/>
              </a:ext>
            </a:extLst>
          </p:cNvPr>
          <p:cNvCxnSpPr>
            <a:cxnSpLocks/>
            <a:stCxn id="4" idx="0"/>
          </p:cNvCxnSpPr>
          <p:nvPr userDrawn="1"/>
        </p:nvCxnSpPr>
        <p:spPr>
          <a:xfrm>
            <a:off x="12053303" y="3712458"/>
            <a:ext cx="22098" cy="914400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cxnSp>
        <p:nvCxnSpPr>
          <p:cNvPr id="18" name="Straight Connector 17">
            <a:extLst>
              <a:ext uri="{FF2B5EF4-FFF2-40B4-BE49-F238E27FC236}">
                <a16:creationId xmlns:a16="http://schemas.microsoft.com/office/drawing/2014/main" id="{4945EE12-0322-D3C6-8589-1B9554503365}"/>
              </a:ext>
            </a:extLst>
          </p:cNvPr>
          <p:cNvCxnSpPr>
            <a:cxnSpLocks/>
            <a:endCxn id="4" idx="2"/>
          </p:cNvCxnSpPr>
          <p:nvPr userDrawn="1"/>
        </p:nvCxnSpPr>
        <p:spPr>
          <a:xfrm flipH="1">
            <a:off x="7481303" y="8284458"/>
            <a:ext cx="9144000" cy="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9"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25" name="Text Placeholder 15">
            <a:extLst>
              <a:ext uri="{FF2B5EF4-FFF2-40B4-BE49-F238E27FC236}">
                <a16:creationId xmlns:a16="http://schemas.microsoft.com/office/drawing/2014/main" id="{FC4F9637-2BA1-E3F7-1599-2295EF076CCC}"/>
              </a:ext>
            </a:extLst>
          </p:cNvPr>
          <p:cNvSpPr>
            <a:spLocks noGrp="1"/>
          </p:cNvSpPr>
          <p:nvPr>
            <p:ph type="body" sz="quarter" idx="12" hasCustomPrompt="1"/>
          </p:nvPr>
        </p:nvSpPr>
        <p:spPr>
          <a:xfrm>
            <a:off x="8056949" y="7294814"/>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6" name="Text Placeholder 15">
            <a:extLst>
              <a:ext uri="{FF2B5EF4-FFF2-40B4-BE49-F238E27FC236}">
                <a16:creationId xmlns:a16="http://schemas.microsoft.com/office/drawing/2014/main" id="{47270689-CD03-86EE-AD4E-701F61CD37A1}"/>
              </a:ext>
            </a:extLst>
          </p:cNvPr>
          <p:cNvSpPr>
            <a:spLocks noGrp="1"/>
          </p:cNvSpPr>
          <p:nvPr>
            <p:ph type="body" sz="quarter" idx="13" hasCustomPrompt="1"/>
          </p:nvPr>
        </p:nvSpPr>
        <p:spPr>
          <a:xfrm>
            <a:off x="8056949" y="8617313"/>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8" name="Text Placeholder 15">
            <a:extLst>
              <a:ext uri="{FF2B5EF4-FFF2-40B4-BE49-F238E27FC236}">
                <a16:creationId xmlns:a16="http://schemas.microsoft.com/office/drawing/2014/main" id="{B5939A4B-8504-2C32-E90E-9DA4843EF0EF}"/>
              </a:ext>
            </a:extLst>
          </p:cNvPr>
          <p:cNvSpPr>
            <a:spLocks noGrp="1"/>
          </p:cNvSpPr>
          <p:nvPr>
            <p:ph type="body" sz="quarter" idx="14" hasCustomPrompt="1"/>
          </p:nvPr>
        </p:nvSpPr>
        <p:spPr>
          <a:xfrm>
            <a:off x="12365741" y="7298299"/>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9" name="Text Placeholder 15">
            <a:extLst>
              <a:ext uri="{FF2B5EF4-FFF2-40B4-BE49-F238E27FC236}">
                <a16:creationId xmlns:a16="http://schemas.microsoft.com/office/drawing/2014/main" id="{44D6C0A8-7DC7-6F84-E472-8E0CA423C51E}"/>
              </a:ext>
            </a:extLst>
          </p:cNvPr>
          <p:cNvSpPr>
            <a:spLocks noGrp="1"/>
          </p:cNvSpPr>
          <p:nvPr>
            <p:ph type="body" sz="quarter" idx="15" hasCustomPrompt="1"/>
          </p:nvPr>
        </p:nvSpPr>
        <p:spPr>
          <a:xfrm>
            <a:off x="12427997" y="8595891"/>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9"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1" name="Text Placeholder 15">
            <a:extLst>
              <a:ext uri="{FF2B5EF4-FFF2-40B4-BE49-F238E27FC236}">
                <a16:creationId xmlns:a16="http://schemas.microsoft.com/office/drawing/2014/main" id="{6ADBE3FB-D313-E2BC-715C-D8600CF8BD21}"/>
              </a:ext>
            </a:extLst>
          </p:cNvPr>
          <p:cNvSpPr>
            <a:spLocks noGrp="1"/>
          </p:cNvSpPr>
          <p:nvPr>
            <p:ph type="body" sz="quarter" idx="17" hasCustomPrompt="1"/>
          </p:nvPr>
        </p:nvSpPr>
        <p:spPr>
          <a:xfrm>
            <a:off x="17255744"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2" name="Text Placeholder 15">
            <a:extLst>
              <a:ext uri="{FF2B5EF4-FFF2-40B4-BE49-F238E27FC236}">
                <a16:creationId xmlns:a16="http://schemas.microsoft.com/office/drawing/2014/main" id="{A79FD328-17AF-2BB2-5730-3D5CA0EE9704}"/>
              </a:ext>
            </a:extLst>
          </p:cNvPr>
          <p:cNvSpPr>
            <a:spLocks noGrp="1"/>
          </p:cNvSpPr>
          <p:nvPr>
            <p:ph type="body" sz="quarter" idx="18" hasCustomPrompt="1"/>
          </p:nvPr>
        </p:nvSpPr>
        <p:spPr>
          <a:xfrm>
            <a:off x="17255744"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pic>
        <p:nvPicPr>
          <p:cNvPr id="20" name="Graphic 19" descr="Artificial Intelligence with solid fill">
            <a:extLst>
              <a:ext uri="{FF2B5EF4-FFF2-40B4-BE49-F238E27FC236}">
                <a16:creationId xmlns:a16="http://schemas.microsoft.com/office/drawing/2014/main" id="{717E632E-7C2D-8BE2-BA0D-FBA56ED592A2}"/>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328162" y="4999921"/>
            <a:ext cx="1936946" cy="1936946"/>
          </a:xfrm>
          <a:prstGeom prst="rect">
            <a:avLst/>
          </a:prstGeom>
        </p:spPr>
      </p:pic>
      <p:pic>
        <p:nvPicPr>
          <p:cNvPr id="22" name="Graphic 21" descr="Atom with solid fill">
            <a:extLst>
              <a:ext uri="{FF2B5EF4-FFF2-40B4-BE49-F238E27FC236}">
                <a16:creationId xmlns:a16="http://schemas.microsoft.com/office/drawing/2014/main" id="{CCE4C43E-15B3-15EB-CF11-EB3378A3CEF1}"/>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2837038" y="4968699"/>
            <a:ext cx="1958731" cy="1958731"/>
          </a:xfrm>
          <a:prstGeom prst="rect">
            <a:avLst/>
          </a:prstGeom>
        </p:spPr>
      </p:pic>
      <p:pic>
        <p:nvPicPr>
          <p:cNvPr id="24" name="Graphic 23" descr="Bar chart with solid fill">
            <a:extLst>
              <a:ext uri="{FF2B5EF4-FFF2-40B4-BE49-F238E27FC236}">
                <a16:creationId xmlns:a16="http://schemas.microsoft.com/office/drawing/2014/main" id="{0445AAA4-0C9A-80AB-86CE-F91A16FFC29C}"/>
              </a:ext>
            </a:extLst>
          </p:cNvPr>
          <p:cNvPicPr>
            <a:picLocks noChangeAspect="1"/>
          </p:cNvPicPr>
          <p:nvPr userDrawn="1"/>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504135" y="9715514"/>
            <a:ext cx="1696410" cy="1696410"/>
          </a:xfrm>
          <a:prstGeom prst="rect">
            <a:avLst/>
          </a:prstGeom>
        </p:spPr>
      </p:pic>
      <p:pic>
        <p:nvPicPr>
          <p:cNvPr id="35" name="Graphic 34" descr="Blockchain with solid fill">
            <a:extLst>
              <a:ext uri="{FF2B5EF4-FFF2-40B4-BE49-F238E27FC236}">
                <a16:creationId xmlns:a16="http://schemas.microsoft.com/office/drawing/2014/main" id="{CB7D00AA-1C33-1508-6057-E10BDF964F0D}"/>
              </a:ext>
            </a:extLst>
          </p:cNvPr>
          <p:cNvPicPr>
            <a:picLocks noChangeAspect="1"/>
          </p:cNvPicPr>
          <p:nvPr userDrawn="1"/>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2837038" y="9711819"/>
            <a:ext cx="1700105" cy="1700105"/>
          </a:xfrm>
          <a:prstGeom prst="rect">
            <a:avLst/>
          </a:prstGeom>
        </p:spPr>
      </p:pic>
    </p:spTree>
    <p:extLst>
      <p:ext uri="{BB962C8B-B14F-4D97-AF65-F5344CB8AC3E}">
        <p14:creationId xmlns:p14="http://schemas.microsoft.com/office/powerpoint/2010/main" val="1070102926"/>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55631E8-C878-10B3-37B6-B446CE8244F9}"/>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b="0" i="0" dirty="0">
              <a:latin typeface="OCRB" panose="020F0502020204030204" pitchFamily="34" charset="0"/>
              <a:ea typeface="Open Sans Light" pitchFamily="2" charset="0"/>
              <a:cs typeface="OCRB" panose="020F0502020204030204" pitchFamily="34"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8" y="4349750"/>
            <a:ext cx="12097701" cy="3462458"/>
          </a:xfrm>
        </p:spPr>
        <p:txBody>
          <a:bodyPr>
            <a:normAutofit/>
          </a:bodyPr>
          <a:lstStyle>
            <a:lvl1pPr marL="0" indent="0">
              <a:buNone/>
              <a:defRPr sz="4000">
                <a:solidFill>
                  <a:schemeClr val="bg1"/>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8" y="8938684"/>
            <a:ext cx="19839621" cy="3676241"/>
          </a:xfrm>
        </p:spPr>
        <p:txBody>
          <a:bodyPr>
            <a:normAutofit/>
          </a:bodyPr>
          <a:lstStyle>
            <a:lvl1pPr marL="0" indent="0">
              <a:buNone/>
              <a:defRPr sz="3600">
                <a:solidFill>
                  <a:schemeClr val="bg1"/>
                </a:solidFill>
              </a:defRPr>
            </a:lvl1pPr>
            <a:lvl5pPr marL="2438400" indent="0">
              <a:buNone/>
              <a:defRPr/>
            </a:lvl5pPr>
          </a:lstStyle>
          <a:p>
            <a:pPr lvl="0"/>
            <a:r>
              <a:rPr lang="en-US" dirty="0"/>
              <a:t>Click to add text</a:t>
            </a:r>
          </a:p>
        </p:txBody>
      </p:sp>
      <p:pic>
        <p:nvPicPr>
          <p:cNvPr id="5" name="Graphic 4" descr="Checklist with solid fill">
            <a:extLst>
              <a:ext uri="{FF2B5EF4-FFF2-40B4-BE49-F238E27FC236}">
                <a16:creationId xmlns:a16="http://schemas.microsoft.com/office/drawing/2014/main" id="{EEEA3E7D-43D1-BB41-8C28-FEDBD7273D07}"/>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40000" y="4320116"/>
            <a:ext cx="3535680" cy="3535680"/>
          </a:xfrm>
          <a:prstGeom prst="rect">
            <a:avLst/>
          </a:prstGeom>
        </p:spPr>
      </p:pic>
    </p:spTree>
    <p:extLst>
      <p:ext uri="{BB962C8B-B14F-4D97-AF65-F5344CB8AC3E}">
        <p14:creationId xmlns:p14="http://schemas.microsoft.com/office/powerpoint/2010/main" val="2227040866"/>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ntent type 4">
    <p:spTree>
      <p:nvGrpSpPr>
        <p:cNvPr id="1" name=""/>
        <p:cNvGrpSpPr/>
        <p:nvPr/>
      </p:nvGrpSpPr>
      <p:grpSpPr>
        <a:xfrm>
          <a:off x="0" y="0"/>
          <a:ext cx="0" cy="0"/>
          <a:chOff x="0" y="0"/>
          <a:chExt cx="0" cy="0"/>
        </a:xfrm>
      </p:grpSpPr>
      <p:sp>
        <p:nvSpPr>
          <p:cNvPr id="17" name="Rectangle">
            <a:extLst>
              <a:ext uri="{FF2B5EF4-FFF2-40B4-BE49-F238E27FC236}">
                <a16:creationId xmlns:a16="http://schemas.microsoft.com/office/drawing/2014/main" id="{57D6C136-B186-B244-9E34-B1B3CC503956}"/>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3176751" y="10942822"/>
            <a:ext cx="8523218" cy="1444847"/>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12684029" y="10972442"/>
            <a:ext cx="8523218" cy="1444848"/>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Picture Placeholder 3">
            <a:extLst>
              <a:ext uri="{FF2B5EF4-FFF2-40B4-BE49-F238E27FC236}">
                <a16:creationId xmlns:a16="http://schemas.microsoft.com/office/drawing/2014/main" id="{3520A367-5826-4047-8F6E-214336795336}"/>
              </a:ext>
            </a:extLst>
          </p:cNvPr>
          <p:cNvSpPr>
            <a:spLocks noGrp="1"/>
          </p:cNvSpPr>
          <p:nvPr>
            <p:ph type="pic" sz="quarter" idx="11"/>
          </p:nvPr>
        </p:nvSpPr>
        <p:spPr>
          <a:xfrm>
            <a:off x="3176751" y="4582010"/>
            <a:ext cx="8523218" cy="5555977"/>
          </a:xfrm>
        </p:spPr>
        <p:txBody>
          <a:bodyPr/>
          <a:lstStyle>
            <a:lvl1pPr marL="0" indent="0">
              <a:buNone/>
              <a:defRPr>
                <a:solidFill>
                  <a:schemeClr val="bg1"/>
                </a:solidFill>
              </a:defRPr>
            </a:lvl1pPr>
          </a:lstStyle>
          <a:p>
            <a:r>
              <a:rPr lang="en-US"/>
              <a:t>Click icon to add picture</a:t>
            </a:r>
            <a:endParaRPr lang="en-US" dirty="0"/>
          </a:p>
        </p:txBody>
      </p:sp>
      <p:sp>
        <p:nvSpPr>
          <p:cNvPr id="34" name="Picture Placeholder 3">
            <a:extLst>
              <a:ext uri="{FF2B5EF4-FFF2-40B4-BE49-F238E27FC236}">
                <a16:creationId xmlns:a16="http://schemas.microsoft.com/office/drawing/2014/main" id="{09A473F0-3B7E-704A-AA89-F4277FCB9971}"/>
              </a:ext>
            </a:extLst>
          </p:cNvPr>
          <p:cNvSpPr>
            <a:spLocks noGrp="1"/>
          </p:cNvSpPr>
          <p:nvPr>
            <p:ph type="pic" sz="quarter" idx="12"/>
          </p:nvPr>
        </p:nvSpPr>
        <p:spPr>
          <a:xfrm>
            <a:off x="12684029" y="4582010"/>
            <a:ext cx="8523218" cy="5577461"/>
          </a:xfrm>
        </p:spPr>
        <p:txBody>
          <a:bodyPr/>
          <a:lstStyle>
            <a:lvl1pPr marL="0" indent="0">
              <a:buNone/>
              <a:defRPr>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779245570"/>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450F1BD6-0F15-C34E-9F74-50970B5378D2}"/>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Chart Placeholder 3">
            <a:extLst>
              <a:ext uri="{FF2B5EF4-FFF2-40B4-BE49-F238E27FC236}">
                <a16:creationId xmlns:a16="http://schemas.microsoft.com/office/drawing/2014/main" id="{64D80AC6-9CFD-09B5-1CEF-F695884CCD02}"/>
              </a:ext>
            </a:extLst>
          </p:cNvPr>
          <p:cNvSpPr>
            <a:spLocks noGrp="1"/>
          </p:cNvSpPr>
          <p:nvPr>
            <p:ph type="chart" sz="quarter" idx="11" hasCustomPrompt="1"/>
          </p:nvPr>
        </p:nvSpPr>
        <p:spPr>
          <a:xfrm>
            <a:off x="11460163" y="3962400"/>
            <a:ext cx="12118975" cy="9083675"/>
          </a:xfrm>
        </p:spPr>
        <p:txBody>
          <a:bodyPr>
            <a:normAutofit/>
          </a:bodyPr>
          <a:lstStyle>
            <a:lvl1pPr marL="0" indent="0">
              <a:buNone/>
              <a:defRPr sz="4000">
                <a:solidFill>
                  <a:schemeClr val="bg1"/>
                </a:solidFill>
              </a:defRPr>
            </a:lvl1pPr>
          </a:lstStyle>
          <a:p>
            <a:r>
              <a:rPr lang="en-US" dirty="0"/>
              <a:t>Click to insert chart</a:t>
            </a:r>
          </a:p>
        </p:txBody>
      </p:sp>
      <p:sp>
        <p:nvSpPr>
          <p:cNvPr id="6" name="Text Placeholder 5">
            <a:extLst>
              <a:ext uri="{FF2B5EF4-FFF2-40B4-BE49-F238E27FC236}">
                <a16:creationId xmlns:a16="http://schemas.microsoft.com/office/drawing/2014/main" id="{DEA6CC15-DCB9-9ABD-A03B-8B586BD05B11}"/>
              </a:ext>
            </a:extLst>
          </p:cNvPr>
          <p:cNvSpPr>
            <a:spLocks noGrp="1"/>
          </p:cNvSpPr>
          <p:nvPr>
            <p:ph type="body" sz="quarter" idx="12"/>
          </p:nvPr>
        </p:nvSpPr>
        <p:spPr>
          <a:xfrm>
            <a:off x="3902075" y="3962399"/>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9" name="Graphic 8" descr="Blockchain with solid fill">
            <a:extLst>
              <a:ext uri="{FF2B5EF4-FFF2-40B4-BE49-F238E27FC236}">
                <a16:creationId xmlns:a16="http://schemas.microsoft.com/office/drawing/2014/main" id="{C6F9FEE2-3F55-6EBA-4F92-F43ABD638BA7}"/>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137047" y="3962400"/>
            <a:ext cx="1403522" cy="1403522"/>
          </a:xfrm>
          <a:prstGeom prst="rect">
            <a:avLst/>
          </a:prstGeom>
        </p:spPr>
      </p:pic>
      <p:sp>
        <p:nvSpPr>
          <p:cNvPr id="20" name="Text Placeholder 5">
            <a:extLst>
              <a:ext uri="{FF2B5EF4-FFF2-40B4-BE49-F238E27FC236}">
                <a16:creationId xmlns:a16="http://schemas.microsoft.com/office/drawing/2014/main" id="{8597BD3B-4478-8A1D-BD26-1D9EFAA7FCF2}"/>
              </a:ext>
            </a:extLst>
          </p:cNvPr>
          <p:cNvSpPr>
            <a:spLocks noGrp="1"/>
          </p:cNvSpPr>
          <p:nvPr>
            <p:ph type="body" sz="quarter" idx="13"/>
          </p:nvPr>
        </p:nvSpPr>
        <p:spPr>
          <a:xfrm>
            <a:off x="3902075" y="8861383"/>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11" name="Graphic 10" descr="Bullseye with solid fill">
            <a:extLst>
              <a:ext uri="{FF2B5EF4-FFF2-40B4-BE49-F238E27FC236}">
                <a16:creationId xmlns:a16="http://schemas.microsoft.com/office/drawing/2014/main" id="{D6B829BF-9E0D-0105-F75C-8DDD429EFC01}"/>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287110" y="8648744"/>
            <a:ext cx="1403521" cy="1403521"/>
          </a:xfrm>
          <a:prstGeom prst="rect">
            <a:avLst/>
          </a:prstGeom>
        </p:spPr>
      </p:pic>
    </p:spTree>
    <p:extLst>
      <p:ext uri="{BB962C8B-B14F-4D97-AF65-F5344CB8AC3E}">
        <p14:creationId xmlns:p14="http://schemas.microsoft.com/office/powerpoint/2010/main" val="3811012248"/>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ontent type 4">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6D051288-6E3E-A95D-1377-4372C7DC1C4F}"/>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pic>
        <p:nvPicPr>
          <p:cNvPr id="7" name="Image" descr="Image">
            <a:extLst>
              <a:ext uri="{FF2B5EF4-FFF2-40B4-BE49-F238E27FC236}">
                <a16:creationId xmlns:a16="http://schemas.microsoft.com/office/drawing/2014/main" id="{13156DDE-55E0-C14A-879A-962B00D82A08}"/>
              </a:ext>
            </a:extLst>
          </p:cNvPr>
          <p:cNvPicPr>
            <a:picLocks noChangeAspect="1"/>
          </p:cNvPicPr>
          <p:nvPr userDrawn="1"/>
        </p:nvPicPr>
        <p:blipFill>
          <a:blip r:embed="rId4"/>
          <a:stretch>
            <a:fillRect/>
          </a:stretch>
        </p:blipFill>
        <p:spPr>
          <a:xfrm>
            <a:off x="21016357" y="354127"/>
            <a:ext cx="2563550" cy="1083872"/>
          </a:xfrm>
          <a:prstGeom prst="rect">
            <a:avLst/>
          </a:prstGeom>
          <a:ln w="12700">
            <a:miter lim="400000"/>
          </a:ln>
        </p:spPr>
      </p:pic>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3" name="Picture Placeholder 3">
            <a:extLst>
              <a:ext uri="{FF2B5EF4-FFF2-40B4-BE49-F238E27FC236}">
                <a16:creationId xmlns:a16="http://schemas.microsoft.com/office/drawing/2014/main" id="{4D652F67-94A0-0840-AE16-55B87BEAF320}"/>
              </a:ext>
            </a:extLst>
          </p:cNvPr>
          <p:cNvSpPr>
            <a:spLocks noGrp="1"/>
          </p:cNvSpPr>
          <p:nvPr>
            <p:ph type="pic" sz="quarter" idx="11"/>
          </p:nvPr>
        </p:nvSpPr>
        <p:spPr>
          <a:xfrm>
            <a:off x="2167377" y="4120517"/>
            <a:ext cx="9469197" cy="8568593"/>
          </a:xfrm>
        </p:spPr>
        <p:txBody>
          <a:bodyPr/>
          <a:lstStyle>
            <a:lvl1pPr marL="0" indent="0">
              <a:buNone/>
              <a:defRPr>
                <a:solidFill>
                  <a:schemeClr val="bg1"/>
                </a:solidFill>
              </a:defRPr>
            </a:lvl1pPr>
          </a:lstStyle>
          <a:p>
            <a:r>
              <a:rPr lang="en-US"/>
              <a:t>Click icon to add picture</a:t>
            </a:r>
            <a:endParaRPr lang="en-US" dirty="0"/>
          </a:p>
        </p:txBody>
      </p:sp>
      <p:sp>
        <p:nvSpPr>
          <p:cNvPr id="12" name="Text Placeholder 5">
            <a:extLst>
              <a:ext uri="{FF2B5EF4-FFF2-40B4-BE49-F238E27FC236}">
                <a16:creationId xmlns:a16="http://schemas.microsoft.com/office/drawing/2014/main" id="{6A7F952E-8DC5-6A79-9AE3-813B3AE4D1F2}"/>
              </a:ext>
            </a:extLst>
          </p:cNvPr>
          <p:cNvSpPr>
            <a:spLocks noGrp="1"/>
          </p:cNvSpPr>
          <p:nvPr>
            <p:ph type="body" sz="quarter" idx="16"/>
          </p:nvPr>
        </p:nvSpPr>
        <p:spPr>
          <a:xfrm>
            <a:off x="12747867" y="6462508"/>
            <a:ext cx="8024838" cy="6226602"/>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4" name="Text Placeholder 5">
            <a:extLst>
              <a:ext uri="{FF2B5EF4-FFF2-40B4-BE49-F238E27FC236}">
                <a16:creationId xmlns:a16="http://schemas.microsoft.com/office/drawing/2014/main" id="{BA033C1D-E65C-08C9-F39B-80EFE57D65D8}"/>
              </a:ext>
            </a:extLst>
          </p:cNvPr>
          <p:cNvSpPr>
            <a:spLocks noGrp="1"/>
          </p:cNvSpPr>
          <p:nvPr>
            <p:ph type="body" sz="quarter" idx="17" hasCustomPrompt="1"/>
          </p:nvPr>
        </p:nvSpPr>
        <p:spPr>
          <a:xfrm>
            <a:off x="12747428" y="4115640"/>
            <a:ext cx="8024812" cy="1968425"/>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spTree>
    <p:extLst>
      <p:ext uri="{BB962C8B-B14F-4D97-AF65-F5344CB8AC3E}">
        <p14:creationId xmlns:p14="http://schemas.microsoft.com/office/powerpoint/2010/main" val="1134045232"/>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iz layout 1">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ABE8965-C5C7-9C39-4D77-41321DCB42C7}"/>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ound Same Side Corner Rectangle 3">
            <a:extLst>
              <a:ext uri="{FF2B5EF4-FFF2-40B4-BE49-F238E27FC236}">
                <a16:creationId xmlns:a16="http://schemas.microsoft.com/office/drawing/2014/main" id="{FA29A0C7-63A9-37AE-C36E-28D29DB1FC0C}"/>
              </a:ext>
            </a:extLst>
          </p:cNvPr>
          <p:cNvSpPr/>
          <p:nvPr userDrawn="1"/>
        </p:nvSpPr>
        <p:spPr>
          <a:xfrm>
            <a:off x="2124334" y="5228017"/>
            <a:ext cx="7712393" cy="8605898"/>
          </a:xfrm>
          <a:prstGeom prst="round2SameRect">
            <a:avLst>
              <a:gd name="adj1" fmla="val 7123"/>
              <a:gd name="adj2" fmla="val 0"/>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6" name="Text Placeholder 5">
            <a:extLst>
              <a:ext uri="{FF2B5EF4-FFF2-40B4-BE49-F238E27FC236}">
                <a16:creationId xmlns:a16="http://schemas.microsoft.com/office/drawing/2014/main" id="{00BFA553-2EAA-7D5D-66A4-3CB0B3039A4F}"/>
              </a:ext>
            </a:extLst>
          </p:cNvPr>
          <p:cNvSpPr>
            <a:spLocks noGrp="1"/>
          </p:cNvSpPr>
          <p:nvPr>
            <p:ph type="body" sz="quarter" idx="16"/>
          </p:nvPr>
        </p:nvSpPr>
        <p:spPr>
          <a:xfrm>
            <a:off x="2594247" y="7248019"/>
            <a:ext cx="6817382" cy="6226602"/>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6" name="Graphic 5" descr="Help with solid fill">
            <a:extLst>
              <a:ext uri="{FF2B5EF4-FFF2-40B4-BE49-F238E27FC236}">
                <a16:creationId xmlns:a16="http://schemas.microsoft.com/office/drawing/2014/main" id="{5BCC09F5-BEFD-455C-0F2F-F18D468EC78F}"/>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594247" y="5468810"/>
            <a:ext cx="1427671" cy="1427671"/>
          </a:xfrm>
          <a:prstGeom prst="rect">
            <a:avLst/>
          </a:prstGeom>
        </p:spPr>
      </p:pic>
      <p:sp>
        <p:nvSpPr>
          <p:cNvPr id="8" name="Rounded Rectangle 7">
            <a:extLst>
              <a:ext uri="{FF2B5EF4-FFF2-40B4-BE49-F238E27FC236}">
                <a16:creationId xmlns:a16="http://schemas.microsoft.com/office/drawing/2014/main" id="{7A5EDB33-736C-0AA5-C7CD-BDFF535E7A9C}"/>
              </a:ext>
            </a:extLst>
          </p:cNvPr>
          <p:cNvSpPr/>
          <p:nvPr userDrawn="1"/>
        </p:nvSpPr>
        <p:spPr>
          <a:xfrm>
            <a:off x="11485756" y="5237573"/>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9A29247D-C253-CBDD-13EE-F16B85217807}"/>
              </a:ext>
            </a:extLst>
          </p:cNvPr>
          <p:cNvSpPr/>
          <p:nvPr userDrawn="1"/>
        </p:nvSpPr>
        <p:spPr>
          <a:xfrm>
            <a:off x="11485756" y="6937152"/>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0" name="Rounded Rectangle 19">
            <a:extLst>
              <a:ext uri="{FF2B5EF4-FFF2-40B4-BE49-F238E27FC236}">
                <a16:creationId xmlns:a16="http://schemas.microsoft.com/office/drawing/2014/main" id="{640D50B7-0BFF-E456-7675-C96913EC6D02}"/>
              </a:ext>
            </a:extLst>
          </p:cNvPr>
          <p:cNvSpPr/>
          <p:nvPr userDrawn="1"/>
        </p:nvSpPr>
        <p:spPr>
          <a:xfrm>
            <a:off x="11485756" y="8615938"/>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1" name="Rounded Rectangle 20">
            <a:extLst>
              <a:ext uri="{FF2B5EF4-FFF2-40B4-BE49-F238E27FC236}">
                <a16:creationId xmlns:a16="http://schemas.microsoft.com/office/drawing/2014/main" id="{A4EB9AD0-97D9-EA55-1897-8E787ACA18AD}"/>
              </a:ext>
            </a:extLst>
          </p:cNvPr>
          <p:cNvSpPr/>
          <p:nvPr userDrawn="1"/>
        </p:nvSpPr>
        <p:spPr>
          <a:xfrm>
            <a:off x="11485756" y="10294724"/>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2" name="Rounded Rectangle 21">
            <a:extLst>
              <a:ext uri="{FF2B5EF4-FFF2-40B4-BE49-F238E27FC236}">
                <a16:creationId xmlns:a16="http://schemas.microsoft.com/office/drawing/2014/main" id="{1FE4A142-7345-2F27-77AC-6B8D7F3BB8F0}"/>
              </a:ext>
            </a:extLst>
          </p:cNvPr>
          <p:cNvSpPr/>
          <p:nvPr userDrawn="1"/>
        </p:nvSpPr>
        <p:spPr>
          <a:xfrm>
            <a:off x="11485756" y="11973510"/>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4" name="Text Placeholder 5">
            <a:extLst>
              <a:ext uri="{FF2B5EF4-FFF2-40B4-BE49-F238E27FC236}">
                <a16:creationId xmlns:a16="http://schemas.microsoft.com/office/drawing/2014/main" id="{8ED258EB-0A79-0CC4-9AC5-E5BB65095D9B}"/>
              </a:ext>
            </a:extLst>
          </p:cNvPr>
          <p:cNvSpPr>
            <a:spLocks noGrp="1"/>
          </p:cNvSpPr>
          <p:nvPr>
            <p:ph type="body" sz="quarter" idx="17"/>
          </p:nvPr>
        </p:nvSpPr>
        <p:spPr>
          <a:xfrm>
            <a:off x="11936252" y="5437085"/>
            <a:ext cx="10801828" cy="647239"/>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5" name="Text Placeholder 5">
            <a:extLst>
              <a:ext uri="{FF2B5EF4-FFF2-40B4-BE49-F238E27FC236}">
                <a16:creationId xmlns:a16="http://schemas.microsoft.com/office/drawing/2014/main" id="{D7D34A3F-BE3B-171A-71BC-2F827D2C4C80}"/>
              </a:ext>
            </a:extLst>
          </p:cNvPr>
          <p:cNvSpPr>
            <a:spLocks noGrp="1"/>
          </p:cNvSpPr>
          <p:nvPr>
            <p:ph type="body" sz="quarter" idx="18"/>
          </p:nvPr>
        </p:nvSpPr>
        <p:spPr>
          <a:xfrm>
            <a:off x="11936252" y="7136664"/>
            <a:ext cx="10801828" cy="647239"/>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3421587F-10AC-7EBE-6901-E1BA33DF8AE1}"/>
              </a:ext>
            </a:extLst>
          </p:cNvPr>
          <p:cNvSpPr>
            <a:spLocks noGrp="1"/>
          </p:cNvSpPr>
          <p:nvPr>
            <p:ph type="body" sz="quarter" idx="19"/>
          </p:nvPr>
        </p:nvSpPr>
        <p:spPr>
          <a:xfrm>
            <a:off x="11936252" y="8815450"/>
            <a:ext cx="10801828" cy="647239"/>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B1FF3B0B-6113-DB9F-2F3C-96810CE90162}"/>
              </a:ext>
            </a:extLst>
          </p:cNvPr>
          <p:cNvSpPr>
            <a:spLocks noGrp="1"/>
          </p:cNvSpPr>
          <p:nvPr>
            <p:ph type="body" sz="quarter" idx="20"/>
          </p:nvPr>
        </p:nvSpPr>
        <p:spPr>
          <a:xfrm>
            <a:off x="11936252" y="10494236"/>
            <a:ext cx="10801828" cy="647239"/>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Text Placeholder 5">
            <a:extLst>
              <a:ext uri="{FF2B5EF4-FFF2-40B4-BE49-F238E27FC236}">
                <a16:creationId xmlns:a16="http://schemas.microsoft.com/office/drawing/2014/main" id="{1B78CB5C-262B-068C-9251-A2C3C592CF45}"/>
              </a:ext>
            </a:extLst>
          </p:cNvPr>
          <p:cNvSpPr>
            <a:spLocks noGrp="1"/>
          </p:cNvSpPr>
          <p:nvPr>
            <p:ph type="body" sz="quarter" idx="21"/>
          </p:nvPr>
        </p:nvSpPr>
        <p:spPr>
          <a:xfrm>
            <a:off x="11936252" y="12173022"/>
            <a:ext cx="10801828" cy="647239"/>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Tree>
    <p:extLst>
      <p:ext uri="{BB962C8B-B14F-4D97-AF65-F5344CB8AC3E}">
        <p14:creationId xmlns:p14="http://schemas.microsoft.com/office/powerpoint/2010/main" val="1151361529"/>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type 1">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9823213" y="8366096"/>
            <a:ext cx="4727256" cy="3010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sz="2400" dirty="0"/>
              <a:t>UNIVERSITAS</a:t>
            </a:r>
            <a:r>
              <a:rPr sz="2400"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16" name="Image" descr="Image">
            <a:extLst>
              <a:ext uri="{FF2B5EF4-FFF2-40B4-BE49-F238E27FC236}">
                <a16:creationId xmlns:a16="http://schemas.microsoft.com/office/drawing/2014/main" id="{ED3AA748-6163-AF42-8BA4-5A505F8580B0}"/>
              </a:ext>
            </a:extLst>
          </p:cNvPr>
          <p:cNvPicPr>
            <a:picLocks noChangeAspect="1"/>
          </p:cNvPicPr>
          <p:nvPr userDrawn="1"/>
        </p:nvPicPr>
        <p:blipFill>
          <a:blip r:embed="rId3"/>
          <a:stretch>
            <a:fillRect/>
          </a:stretch>
        </p:blipFill>
        <p:spPr>
          <a:xfrm>
            <a:off x="766734" y="758207"/>
            <a:ext cx="1914949" cy="1143001"/>
          </a:xfrm>
          <a:prstGeom prst="rect">
            <a:avLst/>
          </a:prstGeom>
          <a:ln w="12700">
            <a:miter lim="400000"/>
          </a:ln>
        </p:spPr>
      </p:pic>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THANK YOU message</a:t>
            </a:r>
            <a:endParaRPr dirty="0"/>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spTree>
    <p:extLst>
      <p:ext uri="{BB962C8B-B14F-4D97-AF65-F5344CB8AC3E}">
        <p14:creationId xmlns:p14="http://schemas.microsoft.com/office/powerpoint/2010/main" val="2273209878"/>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ing type 2">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BE73ECD8-9761-904C-83FC-7C21B825FC86}"/>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9823213" y="8366096"/>
            <a:ext cx="4727256" cy="30104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sz="2400" dirty="0"/>
              <a:t>UNIVERSITAS</a:t>
            </a:r>
            <a:r>
              <a:rPr sz="2400"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a:t>THANK YOU message</a:t>
            </a:r>
            <a:endParaRPr/>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11" name="Image" descr="Image">
            <a:extLst>
              <a:ext uri="{FF2B5EF4-FFF2-40B4-BE49-F238E27FC236}">
                <a16:creationId xmlns:a16="http://schemas.microsoft.com/office/drawing/2014/main" id="{5C0CB95F-A575-6E40-8A77-71E4C3CE5D20}"/>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Tree>
    <p:extLst>
      <p:ext uri="{BB962C8B-B14F-4D97-AF65-F5344CB8AC3E}">
        <p14:creationId xmlns:p14="http://schemas.microsoft.com/office/powerpoint/2010/main" val="2109941728"/>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a:t>Slide bullet text</a:t>
            </a:r>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989384" y="13076008"/>
            <a:ext cx="392736" cy="379591"/>
          </a:xfrm>
          <a:prstGeom prst="rect">
            <a:avLst/>
          </a:prstGeom>
          <a:ln w="12700">
            <a:miter lim="400000"/>
          </a:ln>
        </p:spPr>
        <p:txBody>
          <a:bodyPr wrap="none" lIns="50800" tIns="50800" rIns="50800" bIns="50800" anchor="b">
            <a:spAutoFit/>
          </a:bodyPr>
          <a:lstStyle>
            <a:lvl1pPr defTabSz="584200">
              <a:defRPr sz="1800">
                <a:solidFill>
                  <a:srgbClr val="000000"/>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fld id="{86CB4B4D-7CA3-9044-876B-883B54F8677D}" type="slidenum">
              <a:rPr lang="en-ID"/>
              <a:pPr/>
              <a:t>‹#›</a:t>
            </a:fld>
            <a:endParaRPr lang="en-ID" dirty="0"/>
          </a:p>
        </p:txBody>
      </p:sp>
    </p:spTree>
  </p:cSld>
  <p:clrMap bg1="lt1" tx1="dk1" bg2="lt2" tx2="dk2" accent1="accent1" accent2="accent2" accent3="accent3" accent4="accent4" accent5="accent5" accent6="accent6" hlink="hlink" folHlink="folHlink"/>
  <p:sldLayoutIdLst>
    <p:sldLayoutId id="2147483672" r:id="rId1"/>
    <p:sldLayoutId id="2147483666" r:id="rId2"/>
    <p:sldLayoutId id="2147483682" r:id="rId3"/>
    <p:sldLayoutId id="2147483673" r:id="rId4"/>
    <p:sldLayoutId id="2147483674" r:id="rId5"/>
    <p:sldLayoutId id="2147483675" r:id="rId6"/>
    <p:sldLayoutId id="2147483676" r:id="rId7"/>
    <p:sldLayoutId id="2147483677" r:id="rId8"/>
    <p:sldLayoutId id="2147483678" r:id="rId9"/>
    <p:sldLayoutId id="2147483679" r:id="rId10"/>
    <p:sldLayoutId id="2147483684" r:id="rId11"/>
    <p:sldLayoutId id="2147483667" r:id="rId12"/>
    <p:sldLayoutId id="2147483668" r:id="rId13"/>
    <p:sldLayoutId id="2147483685" r:id="rId14"/>
    <p:sldLayoutId id="2147483669" r:id="rId15"/>
    <p:sldLayoutId id="2147483683" r:id="rId16"/>
    <p:sldLayoutId id="2147483688" r:id="rId17"/>
    <p:sldLayoutId id="2147483670" r:id="rId18"/>
    <p:sldLayoutId id="2147483687" r:id="rId19"/>
    <p:sldLayoutId id="2147483671" r:id="rId20"/>
    <p:sldLayoutId id="2147483686" r:id="rId21"/>
    <p:sldLayoutId id="2147483680" r:id="rId22"/>
    <p:sldLayoutId id="2147483681" r:id="rId23"/>
  </p:sldLayoutIdLst>
  <p:transition spd="med"/>
  <p:txStyles>
    <p:titleStyle>
      <a:lvl1pPr marL="0" marR="0" indent="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Open Sans ExtraBold" panose="020B0606030504020204" pitchFamily="34" charset="0"/>
          <a:ea typeface="Open Sans ExtraBold" panose="020B0606030504020204" pitchFamily="34" charset="0"/>
          <a:cs typeface="Open Sans ExtraBold" panose="020B0606030504020204" pitchFamily="34"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png"/><Relationship Id="rId12" Type="http://schemas.microsoft.com/office/2007/relationships/hdphoto" Target="../media/hdphoto1.wdp"/><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32.png"/><Relationship Id="rId11" Type="http://schemas.openxmlformats.org/officeDocument/2006/relationships/image" Target="../media/image37.png"/><Relationship Id="rId5" Type="http://schemas.openxmlformats.org/officeDocument/2006/relationships/image" Target="../media/image31.png"/><Relationship Id="rId10" Type="http://schemas.openxmlformats.org/officeDocument/2006/relationships/image" Target="../media/image36.png"/><Relationship Id="rId4" Type="http://schemas.openxmlformats.org/officeDocument/2006/relationships/image" Target="../media/image30.jpeg"/><Relationship Id="rId9" Type="http://schemas.openxmlformats.org/officeDocument/2006/relationships/image" Target="../media/image35.png"/></Relationships>
</file>

<file path=ppt/slides/_rels/slide8.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8.png"/><Relationship Id="rId7" Type="http://schemas.microsoft.com/office/2007/relationships/hdphoto" Target="../media/hdphoto3.wdp"/><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40.png"/><Relationship Id="rId11" Type="http://schemas.openxmlformats.org/officeDocument/2006/relationships/image" Target="../media/image43.png"/><Relationship Id="rId5" Type="http://schemas.openxmlformats.org/officeDocument/2006/relationships/image" Target="../media/image39.png"/><Relationship Id="rId10" Type="http://schemas.openxmlformats.org/officeDocument/2006/relationships/image" Target="../media/image42.jpeg"/><Relationship Id="rId4" Type="http://schemas.microsoft.com/office/2007/relationships/hdphoto" Target="../media/hdphoto2.wdp"/><Relationship Id="rId9" Type="http://schemas.microsoft.com/office/2007/relationships/hdphoto" Target="../media/hdphoto4.wdp"/></Relationships>
</file>

<file path=ppt/slides/_rels/slide9.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4.png"/><Relationship Id="rId7" Type="http://schemas.openxmlformats.org/officeDocument/2006/relationships/image" Target="../media/image48.svg"/><Relationship Id="rId12" Type="http://schemas.microsoft.com/office/2007/relationships/hdphoto" Target="../media/hdphoto6.wdp"/><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47.png"/><Relationship Id="rId11" Type="http://schemas.openxmlformats.org/officeDocument/2006/relationships/image" Target="../media/image51.png"/><Relationship Id="rId5" Type="http://schemas.openxmlformats.org/officeDocument/2006/relationships/image" Target="../media/image46.png"/><Relationship Id="rId10" Type="http://schemas.microsoft.com/office/2007/relationships/hdphoto" Target="../media/hdphoto5.wdp"/><Relationship Id="rId4" Type="http://schemas.openxmlformats.org/officeDocument/2006/relationships/image" Target="../media/image45.png"/><Relationship Id="rId9" Type="http://schemas.openxmlformats.org/officeDocument/2006/relationships/image" Target="../media/image50.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53.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A264C53-F38A-3CAD-0C8A-2BF46116F396}"/>
              </a:ext>
            </a:extLst>
          </p:cNvPr>
          <p:cNvSpPr>
            <a:spLocks noGrp="1"/>
          </p:cNvSpPr>
          <p:nvPr>
            <p:ph type="body" sz="quarter" idx="1"/>
          </p:nvPr>
        </p:nvSpPr>
        <p:spPr/>
        <p:txBody>
          <a:bodyPr/>
          <a:lstStyle/>
          <a:p>
            <a:r>
              <a:rPr lang="en-US" dirty="0"/>
              <a:t>COMP6100001 - Software engineering</a:t>
            </a:r>
          </a:p>
          <a:p>
            <a:r>
              <a:rPr lang="en-US" dirty="0"/>
              <a:t>Session 01</a:t>
            </a:r>
          </a:p>
        </p:txBody>
      </p:sp>
      <p:sp>
        <p:nvSpPr>
          <p:cNvPr id="3" name="Title 2">
            <a:extLst>
              <a:ext uri="{FF2B5EF4-FFF2-40B4-BE49-F238E27FC236}">
                <a16:creationId xmlns:a16="http://schemas.microsoft.com/office/drawing/2014/main" id="{1220BAB2-790F-F74A-024A-FC22D1A3E6EA}"/>
              </a:ext>
            </a:extLst>
          </p:cNvPr>
          <p:cNvSpPr>
            <a:spLocks noGrp="1"/>
          </p:cNvSpPr>
          <p:nvPr>
            <p:ph type="title"/>
          </p:nvPr>
        </p:nvSpPr>
        <p:spPr/>
        <p:txBody>
          <a:bodyPr>
            <a:normAutofit fontScale="90000"/>
          </a:bodyPr>
          <a:lstStyle/>
          <a:p>
            <a:r>
              <a:rPr lang="en-US" dirty="0"/>
              <a:t>The Nature of Software and Software Engineering</a:t>
            </a:r>
          </a:p>
        </p:txBody>
      </p:sp>
      <p:sp>
        <p:nvSpPr>
          <p:cNvPr id="7" name="Text Placeholder 3">
            <a:extLst>
              <a:ext uri="{FF2B5EF4-FFF2-40B4-BE49-F238E27FC236}">
                <a16:creationId xmlns:a16="http://schemas.microsoft.com/office/drawing/2014/main" id="{FB75318F-CE59-DB0C-2554-0A5FA4B88FA4}"/>
              </a:ext>
            </a:extLst>
          </p:cNvPr>
          <p:cNvSpPr>
            <a:spLocks noGrp="1"/>
          </p:cNvSpPr>
          <p:nvPr>
            <p:ph type="body" sz="quarter" idx="11"/>
          </p:nvPr>
        </p:nvSpPr>
        <p:spPr>
          <a:xfrm>
            <a:off x="10058400" y="11537950"/>
            <a:ext cx="4213225" cy="746125"/>
          </a:xfrm>
        </p:spPr>
        <p:txBody>
          <a:bodyPr/>
          <a:lstStyle/>
          <a:p>
            <a:r>
              <a:rPr lang="en-US" dirty="0"/>
              <a:t>Kenny Jingga, </a:t>
            </a:r>
            <a:r>
              <a:rPr lang="en-US" dirty="0" err="1"/>
              <a:t>S.Kom</a:t>
            </a:r>
            <a:r>
              <a:rPr lang="en-US" dirty="0"/>
              <a:t>., M.T.</a:t>
            </a:r>
          </a:p>
        </p:txBody>
      </p:sp>
    </p:spTree>
    <p:extLst>
      <p:ext uri="{BB962C8B-B14F-4D97-AF65-F5344CB8AC3E}">
        <p14:creationId xmlns:p14="http://schemas.microsoft.com/office/powerpoint/2010/main" val="3487223446"/>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F52CD-EA76-003A-7192-0E9167BA3901}"/>
              </a:ext>
            </a:extLst>
          </p:cNvPr>
          <p:cNvSpPr>
            <a:spLocks noGrp="1"/>
          </p:cNvSpPr>
          <p:nvPr>
            <p:ph type="title"/>
          </p:nvPr>
        </p:nvSpPr>
        <p:spPr>
          <a:xfrm>
            <a:off x="2167377" y="1872058"/>
            <a:ext cx="16222223" cy="803546"/>
          </a:xfrm>
        </p:spPr>
        <p:txBody>
          <a:bodyPr>
            <a:normAutofit fontScale="90000"/>
          </a:bodyPr>
          <a:lstStyle/>
          <a:p>
            <a:r>
              <a:rPr lang="en-US" dirty="0"/>
              <a:t>Session 01 – The Nature of Software and Software Engineering</a:t>
            </a:r>
          </a:p>
        </p:txBody>
      </p:sp>
      <p:sp>
        <p:nvSpPr>
          <p:cNvPr id="3" name="Text Placeholder 2">
            <a:extLst>
              <a:ext uri="{FF2B5EF4-FFF2-40B4-BE49-F238E27FC236}">
                <a16:creationId xmlns:a16="http://schemas.microsoft.com/office/drawing/2014/main" id="{C546449C-CB2F-5E63-F63C-D4BAFF341D28}"/>
              </a:ext>
            </a:extLst>
          </p:cNvPr>
          <p:cNvSpPr>
            <a:spLocks noGrp="1"/>
          </p:cNvSpPr>
          <p:nvPr>
            <p:ph type="body" sz="quarter" idx="10"/>
          </p:nvPr>
        </p:nvSpPr>
        <p:spPr/>
        <p:txBody>
          <a:bodyPr/>
          <a:lstStyle/>
          <a:p>
            <a:r>
              <a:rPr lang="en-US" dirty="0"/>
              <a:t>Learning objectives</a:t>
            </a:r>
          </a:p>
        </p:txBody>
      </p:sp>
      <p:sp>
        <p:nvSpPr>
          <p:cNvPr id="4" name="Content Placeholder 3">
            <a:extLst>
              <a:ext uri="{FF2B5EF4-FFF2-40B4-BE49-F238E27FC236}">
                <a16:creationId xmlns:a16="http://schemas.microsoft.com/office/drawing/2014/main" id="{76E358E3-B24E-F7A5-ECF8-12101774A9ED}"/>
              </a:ext>
            </a:extLst>
          </p:cNvPr>
          <p:cNvSpPr>
            <a:spLocks noGrp="1"/>
          </p:cNvSpPr>
          <p:nvPr>
            <p:ph sz="quarter" idx="11"/>
          </p:nvPr>
        </p:nvSpPr>
        <p:spPr>
          <a:xfrm>
            <a:off x="2167377" y="5334432"/>
            <a:ext cx="20711673" cy="5961840"/>
          </a:xfrm>
        </p:spPr>
        <p:txBody>
          <a:bodyPr anchor="ctr">
            <a:normAutofit/>
          </a:bodyPr>
          <a:lstStyle/>
          <a:p>
            <a:pPr marL="0" indent="0" algn="just">
              <a:buNone/>
            </a:pPr>
            <a:r>
              <a:rPr lang="en-US" sz="3600" dirty="0">
                <a:latin typeface="Open Sans" panose="020B0606030504020204" pitchFamily="34" charset="0"/>
                <a:ea typeface="Open Sans" panose="020B0606030504020204" pitchFamily="34" charset="0"/>
                <a:cs typeface="Open Sans" panose="020B0606030504020204" pitchFamily="34" charset="0"/>
              </a:rPr>
              <a:t>At the end of this session, students will be expected to be able to:</a:t>
            </a:r>
          </a:p>
          <a:p>
            <a:pPr marL="0" indent="0" algn="just">
              <a:buNone/>
            </a:pPr>
            <a:endParaRPr lang="en-US" sz="3600" dirty="0">
              <a:latin typeface="Open Sans" panose="020B0606030504020204" pitchFamily="34" charset="0"/>
              <a:ea typeface="Open Sans" panose="020B0606030504020204" pitchFamily="34" charset="0"/>
              <a:cs typeface="Open Sans" panose="020B0606030504020204" pitchFamily="34" charset="0"/>
            </a:endParaRPr>
          </a:p>
          <a:p>
            <a:pPr algn="just">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Understand the Definition and Importance of Software Engineering</a:t>
            </a:r>
          </a:p>
          <a:p>
            <a:pPr algn="just">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Explain Key Characteristics of Software and the Challenges They Present</a:t>
            </a:r>
          </a:p>
          <a:p>
            <a:pPr algn="just">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Identify Core Trade-offs and Costs in Software Development</a:t>
            </a:r>
          </a:p>
          <a:p>
            <a:pPr algn="just">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Explore the Role of Software Engineers in Industry</a:t>
            </a:r>
          </a:p>
        </p:txBody>
      </p:sp>
    </p:spTree>
    <p:extLst>
      <p:ext uri="{BB962C8B-B14F-4D97-AF65-F5344CB8AC3E}">
        <p14:creationId xmlns:p14="http://schemas.microsoft.com/office/powerpoint/2010/main" val="3855785854"/>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F52CD-EA76-003A-7192-0E9167BA3901}"/>
              </a:ext>
            </a:extLst>
          </p:cNvPr>
          <p:cNvSpPr>
            <a:spLocks noGrp="1"/>
          </p:cNvSpPr>
          <p:nvPr>
            <p:ph type="title"/>
          </p:nvPr>
        </p:nvSpPr>
        <p:spPr>
          <a:xfrm>
            <a:off x="2167377" y="1872058"/>
            <a:ext cx="16476223" cy="547670"/>
          </a:xfrm>
        </p:spPr>
        <p:txBody>
          <a:bodyPr>
            <a:normAutofit fontScale="90000"/>
          </a:bodyPr>
          <a:lstStyle/>
          <a:p>
            <a:r>
              <a:rPr lang="en-US" dirty="0"/>
              <a:t>Session 01 – The Nature of Software and Software Engineering</a:t>
            </a:r>
          </a:p>
        </p:txBody>
      </p:sp>
      <p:sp>
        <p:nvSpPr>
          <p:cNvPr id="3" name="Text Placeholder 2">
            <a:extLst>
              <a:ext uri="{FF2B5EF4-FFF2-40B4-BE49-F238E27FC236}">
                <a16:creationId xmlns:a16="http://schemas.microsoft.com/office/drawing/2014/main" id="{C546449C-CB2F-5E63-F63C-D4BAFF341D28}"/>
              </a:ext>
            </a:extLst>
          </p:cNvPr>
          <p:cNvSpPr>
            <a:spLocks noGrp="1"/>
          </p:cNvSpPr>
          <p:nvPr>
            <p:ph type="body" sz="quarter" idx="10"/>
          </p:nvPr>
        </p:nvSpPr>
        <p:spPr/>
        <p:txBody>
          <a:bodyPr/>
          <a:lstStyle/>
          <a:p>
            <a:r>
              <a:rPr lang="en-US" dirty="0"/>
              <a:t>Content outline</a:t>
            </a:r>
          </a:p>
        </p:txBody>
      </p:sp>
      <p:sp>
        <p:nvSpPr>
          <p:cNvPr id="4" name="Content Placeholder 3">
            <a:extLst>
              <a:ext uri="{FF2B5EF4-FFF2-40B4-BE49-F238E27FC236}">
                <a16:creationId xmlns:a16="http://schemas.microsoft.com/office/drawing/2014/main" id="{76E358E3-B24E-F7A5-ECF8-12101774A9ED}"/>
              </a:ext>
            </a:extLst>
          </p:cNvPr>
          <p:cNvSpPr>
            <a:spLocks noGrp="1"/>
          </p:cNvSpPr>
          <p:nvPr>
            <p:ph sz="quarter" idx="11"/>
          </p:nvPr>
        </p:nvSpPr>
        <p:spPr>
          <a:xfrm>
            <a:off x="2167377" y="5334432"/>
            <a:ext cx="20711673" cy="4522264"/>
          </a:xfrm>
        </p:spPr>
        <p:txBody>
          <a:bodyPr>
            <a:normAutofit lnSpcReduction="10000"/>
          </a:bodyPr>
          <a:lstStyle/>
          <a:p>
            <a:pPr lvl="0"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Definition of Software and Software Engineering</a:t>
            </a:r>
          </a:p>
          <a:p>
            <a:pPr lvl="0"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Importance of Software in Modern Society</a:t>
            </a:r>
          </a:p>
          <a:p>
            <a:pPr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Trade-offs and Costs</a:t>
            </a:r>
          </a:p>
          <a:p>
            <a:pPr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Time and Change</a:t>
            </a:r>
          </a:p>
          <a:p>
            <a:pPr lvl="0"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Characteristics of Software Systems</a:t>
            </a:r>
          </a:p>
          <a:p>
            <a:pPr lvl="0"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Scale and Efficiency</a:t>
            </a:r>
          </a:p>
          <a:p>
            <a:pPr lvl="0"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The Software Engineering Profession </a:t>
            </a:r>
          </a:p>
        </p:txBody>
      </p:sp>
    </p:spTree>
    <p:extLst>
      <p:ext uri="{BB962C8B-B14F-4D97-AF65-F5344CB8AC3E}">
        <p14:creationId xmlns:p14="http://schemas.microsoft.com/office/powerpoint/2010/main" val="481981883"/>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6DEAA-1E5D-9297-7D1B-072A83E39A14}"/>
              </a:ext>
            </a:extLst>
          </p:cNvPr>
          <p:cNvSpPr>
            <a:spLocks noGrp="1"/>
          </p:cNvSpPr>
          <p:nvPr>
            <p:ph type="title"/>
          </p:nvPr>
        </p:nvSpPr>
        <p:spPr/>
        <p:txBody>
          <a:bodyPr/>
          <a:lstStyle/>
          <a:p>
            <a:r>
              <a:rPr lang="en-US" dirty="0"/>
              <a:t>Software is everywhere</a:t>
            </a:r>
          </a:p>
        </p:txBody>
      </p:sp>
      <p:sp>
        <p:nvSpPr>
          <p:cNvPr id="4" name="TextBox 3">
            <a:extLst>
              <a:ext uri="{FF2B5EF4-FFF2-40B4-BE49-F238E27FC236}">
                <a16:creationId xmlns:a16="http://schemas.microsoft.com/office/drawing/2014/main" id="{7CD67B2A-5801-D8E6-0348-7CB577AA4369}"/>
              </a:ext>
            </a:extLst>
          </p:cNvPr>
          <p:cNvSpPr txBox="1"/>
          <p:nvPr/>
        </p:nvSpPr>
        <p:spPr>
          <a:xfrm>
            <a:off x="6062132" y="7575434"/>
            <a:ext cx="12259732" cy="5847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3200" b="1" dirty="0">
                <a:solidFill>
                  <a:schemeClr val="bg1"/>
                </a:solidFill>
              </a:rPr>
              <a:t>When software fails, consequences are real.</a:t>
            </a:r>
            <a:endParaRPr lang="en-ID" sz="3200" b="1" dirty="0">
              <a:solidFill>
                <a:schemeClr val="bg1"/>
              </a:solidFill>
            </a:endParaRPr>
          </a:p>
        </p:txBody>
      </p:sp>
    </p:spTree>
    <p:extLst>
      <p:ext uri="{BB962C8B-B14F-4D97-AF65-F5344CB8AC3E}">
        <p14:creationId xmlns:p14="http://schemas.microsoft.com/office/powerpoint/2010/main" val="2896605244"/>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D075E-03B7-4FC6-4FCF-D0C188F97E45}"/>
              </a:ext>
            </a:extLst>
          </p:cNvPr>
          <p:cNvSpPr>
            <a:spLocks noGrp="1"/>
          </p:cNvSpPr>
          <p:nvPr>
            <p:ph type="title"/>
          </p:nvPr>
        </p:nvSpPr>
        <p:spPr/>
        <p:txBody>
          <a:bodyPr>
            <a:normAutofit fontScale="90000"/>
          </a:bodyPr>
          <a:lstStyle/>
          <a:p>
            <a:r>
              <a:rPr lang="en-US" dirty="0"/>
              <a:t>Software is Everywhere</a:t>
            </a:r>
          </a:p>
        </p:txBody>
      </p:sp>
      <p:sp>
        <p:nvSpPr>
          <p:cNvPr id="3" name="Text Placeholder 2">
            <a:extLst>
              <a:ext uri="{FF2B5EF4-FFF2-40B4-BE49-F238E27FC236}">
                <a16:creationId xmlns:a16="http://schemas.microsoft.com/office/drawing/2014/main" id="{50029F04-83ED-514F-ED51-65780627B3AC}"/>
              </a:ext>
            </a:extLst>
          </p:cNvPr>
          <p:cNvSpPr>
            <a:spLocks noGrp="1"/>
          </p:cNvSpPr>
          <p:nvPr>
            <p:ph type="body" sz="quarter" idx="10"/>
          </p:nvPr>
        </p:nvSpPr>
        <p:spPr/>
        <p:txBody>
          <a:bodyPr/>
          <a:lstStyle/>
          <a:p>
            <a:r>
              <a:rPr lang="en-US" dirty="0"/>
              <a:t>Issues in Software or system</a:t>
            </a:r>
          </a:p>
        </p:txBody>
      </p:sp>
      <p:pic>
        <p:nvPicPr>
          <p:cNvPr id="6" name="Content Placeholder 5" descr="A white background with black text&#10;&#10;Description automatically generated">
            <a:extLst>
              <a:ext uri="{FF2B5EF4-FFF2-40B4-BE49-F238E27FC236}">
                <a16:creationId xmlns:a16="http://schemas.microsoft.com/office/drawing/2014/main" id="{5281F445-88AE-53CD-845A-83A92586EE88}"/>
              </a:ext>
            </a:extLst>
          </p:cNvPr>
          <p:cNvPicPr>
            <a:picLocks noGrp="1" noChangeAspect="1"/>
          </p:cNvPicPr>
          <p:nvPr>
            <p:ph sz="quarter" idx="11"/>
          </p:nvPr>
        </p:nvPicPr>
        <p:blipFill>
          <a:blip r:embed="rId2">
            <a:extLst>
              <a:ext uri="{28A0092B-C50C-407E-A947-70E740481C1C}">
                <a14:useLocalDpi xmlns:a14="http://schemas.microsoft.com/office/drawing/2010/main" val="0"/>
              </a:ext>
            </a:extLst>
          </a:blip>
          <a:stretch>
            <a:fillRect/>
          </a:stretch>
        </p:blipFill>
        <p:spPr>
          <a:xfrm>
            <a:off x="572041" y="3180794"/>
            <a:ext cx="8755084" cy="2392152"/>
          </a:xfrm>
        </p:spPr>
      </p:pic>
      <p:pic>
        <p:nvPicPr>
          <p:cNvPr id="8" name="Picture 7" descr="A close up of a race car&#10;&#10;Description automatically generated">
            <a:extLst>
              <a:ext uri="{FF2B5EF4-FFF2-40B4-BE49-F238E27FC236}">
                <a16:creationId xmlns:a16="http://schemas.microsoft.com/office/drawing/2014/main" id="{378F32DC-871C-EDB5-FA47-0AB5B6ACBB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34858" y="6987520"/>
            <a:ext cx="6257142" cy="5081101"/>
          </a:xfrm>
          <a:prstGeom prst="rect">
            <a:avLst/>
          </a:prstGeom>
        </p:spPr>
      </p:pic>
      <p:sp>
        <p:nvSpPr>
          <p:cNvPr id="9" name="TextBox 8">
            <a:extLst>
              <a:ext uri="{FF2B5EF4-FFF2-40B4-BE49-F238E27FC236}">
                <a16:creationId xmlns:a16="http://schemas.microsoft.com/office/drawing/2014/main" id="{7DF1F8DD-667A-5C17-C35A-51E4A853B47E}"/>
              </a:ext>
            </a:extLst>
          </p:cNvPr>
          <p:cNvSpPr txBox="1"/>
          <p:nvPr/>
        </p:nvSpPr>
        <p:spPr>
          <a:xfrm>
            <a:off x="572041" y="5647412"/>
            <a:ext cx="8755084" cy="12105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just" defTabSz="2438338"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chemeClr val="bg2">
                    <a:lumMod val="10000"/>
                  </a:schemeClr>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rPr>
              <a:t>https://</a:t>
            </a:r>
            <a:r>
              <a:rPr kumimoji="0" lang="en-US" b="0" i="0" u="none" strike="noStrike" cap="none" spc="0" normalizeH="0" baseline="0" dirty="0" err="1">
                <a:ln>
                  <a:noFill/>
                </a:ln>
                <a:solidFill>
                  <a:schemeClr val="bg2">
                    <a:lumMod val="10000"/>
                  </a:schemeClr>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rPr>
              <a:t>www.cnbc.com</a:t>
            </a:r>
            <a:r>
              <a:rPr kumimoji="0" lang="en-US" b="0" i="0" u="none" strike="noStrike" cap="none" spc="0" normalizeH="0" baseline="0" dirty="0">
                <a:ln>
                  <a:noFill/>
                </a:ln>
                <a:solidFill>
                  <a:schemeClr val="bg2">
                    <a:lumMod val="10000"/>
                  </a:schemeClr>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rPr>
              <a:t>/2023/02/16/tesla-recalls-362758-vehicles-says-full-self-driving-beta-software-may-cause-crashes.html</a:t>
            </a:r>
          </a:p>
        </p:txBody>
      </p:sp>
      <p:sp>
        <p:nvSpPr>
          <p:cNvPr id="11" name="TextBox 10">
            <a:extLst>
              <a:ext uri="{FF2B5EF4-FFF2-40B4-BE49-F238E27FC236}">
                <a16:creationId xmlns:a16="http://schemas.microsoft.com/office/drawing/2014/main" id="{EDA94DCE-FAF1-696B-9A60-294F37D06C00}"/>
              </a:ext>
            </a:extLst>
          </p:cNvPr>
          <p:cNvSpPr txBox="1"/>
          <p:nvPr/>
        </p:nvSpPr>
        <p:spPr>
          <a:xfrm>
            <a:off x="5934858" y="12133310"/>
            <a:ext cx="6419906" cy="12003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r>
              <a:rPr lang="en-US"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https://www.formula1.com/</a:t>
            </a:r>
            <a:r>
              <a:rPr lang="en-US" dirty="0" err="1">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en</a:t>
            </a:r>
            <a:r>
              <a:rPr lang="en-US"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/latest/article.software-glitch-cost-hamilton-victory-mercedes.6VzyCYpEpauaIYsOWYCqYS.html</a:t>
            </a:r>
          </a:p>
        </p:txBody>
      </p:sp>
      <p:pic>
        <p:nvPicPr>
          <p:cNvPr id="13" name="Picture 12" descr="A person holding two passports&#10;&#10;Description automatically generated">
            <a:extLst>
              <a:ext uri="{FF2B5EF4-FFF2-40B4-BE49-F238E27FC236}">
                <a16:creationId xmlns:a16="http://schemas.microsoft.com/office/drawing/2014/main" id="{A1264401-460C-7EEF-81B0-6B6A868588A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2041" y="6985565"/>
            <a:ext cx="5046223" cy="5083056"/>
          </a:xfrm>
          <a:prstGeom prst="rect">
            <a:avLst/>
          </a:prstGeom>
        </p:spPr>
      </p:pic>
      <p:sp>
        <p:nvSpPr>
          <p:cNvPr id="15" name="TextBox 14">
            <a:extLst>
              <a:ext uri="{FF2B5EF4-FFF2-40B4-BE49-F238E27FC236}">
                <a16:creationId xmlns:a16="http://schemas.microsoft.com/office/drawing/2014/main" id="{3DE7626F-EA58-99BB-2BB4-00188906675D}"/>
              </a:ext>
            </a:extLst>
          </p:cNvPr>
          <p:cNvSpPr txBox="1"/>
          <p:nvPr/>
        </p:nvSpPr>
        <p:spPr>
          <a:xfrm>
            <a:off x="576445" y="12196187"/>
            <a:ext cx="5041819" cy="156966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r>
              <a:rPr lang="en-US"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https://</a:t>
            </a:r>
            <a:r>
              <a:rPr lang="en-US" dirty="0" err="1">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www.thejakartapost.com</a:t>
            </a:r>
            <a:r>
              <a:rPr lang="en-US"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t>
            </a:r>
            <a:r>
              <a:rPr lang="en-US" dirty="0" err="1">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indonesia</a:t>
            </a:r>
            <a:r>
              <a:rPr lang="en-US"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/2023/07/06/hacker-breaches-data-of-34-million-indonesian-passports.html</a:t>
            </a:r>
          </a:p>
        </p:txBody>
      </p:sp>
      <p:pic>
        <p:nvPicPr>
          <p:cNvPr id="7" name="Picture 6" descr="A diagram of a plane&#10;&#10;Description automatically generated">
            <a:extLst>
              <a:ext uri="{FF2B5EF4-FFF2-40B4-BE49-F238E27FC236}">
                <a16:creationId xmlns:a16="http://schemas.microsoft.com/office/drawing/2014/main" id="{C0515DDF-F39C-D67D-C53F-63F12E7B4A2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435449" y="2271567"/>
            <a:ext cx="6761713" cy="4586433"/>
          </a:xfrm>
          <a:prstGeom prst="rect">
            <a:avLst/>
          </a:prstGeom>
        </p:spPr>
      </p:pic>
      <p:pic>
        <p:nvPicPr>
          <p:cNvPr id="12" name="Content Placeholder 11" descr="A collage of a plane&#10;&#10;Description automatically generated">
            <a:extLst>
              <a:ext uri="{FF2B5EF4-FFF2-40B4-BE49-F238E27FC236}">
                <a16:creationId xmlns:a16="http://schemas.microsoft.com/office/drawing/2014/main" id="{76F1F03A-FA1F-FD03-DB93-2200964BBC0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525161" y="2271567"/>
            <a:ext cx="7712252" cy="456601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pic>
      <p:sp>
        <p:nvSpPr>
          <p:cNvPr id="14" name="TextBox 13">
            <a:extLst>
              <a:ext uri="{FF2B5EF4-FFF2-40B4-BE49-F238E27FC236}">
                <a16:creationId xmlns:a16="http://schemas.microsoft.com/office/drawing/2014/main" id="{2899CC2C-646B-E831-1706-9B1F87647F3E}"/>
              </a:ext>
            </a:extLst>
          </p:cNvPr>
          <p:cNvSpPr txBox="1"/>
          <p:nvPr/>
        </p:nvSpPr>
        <p:spPr>
          <a:xfrm>
            <a:off x="12354764" y="7075651"/>
            <a:ext cx="12188756" cy="156966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r>
              <a:rPr lang="en-US"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https://www.seattletimes.com/business/boeing-aerospace/failed-certification-faa-missed-safety-issues-in-the-737-max-system-implicated-in-the-lion-air-crash/</a:t>
            </a:r>
          </a:p>
          <a:p>
            <a:pPr algn="just"/>
            <a:r>
              <a:rPr lang="en-US"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https://www.theverge.com/2019/5/2/18518176/boeing-737-max-crash-problems-human-error-mcas-faa</a:t>
            </a:r>
          </a:p>
        </p:txBody>
      </p:sp>
      <p:pic>
        <p:nvPicPr>
          <p:cNvPr id="17" name="Picture 16" descr="A screenshot of a computer&#10;&#10;AI-generated content may be incorrect.">
            <a:extLst>
              <a:ext uri="{FF2B5EF4-FFF2-40B4-BE49-F238E27FC236}">
                <a16:creationId xmlns:a16="http://schemas.microsoft.com/office/drawing/2014/main" id="{D44EE844-895F-83E3-EDE9-81E1F73EBA0B}"/>
              </a:ext>
            </a:extLst>
          </p:cNvPr>
          <p:cNvPicPr>
            <a:picLocks noChangeAspect="1"/>
          </p:cNvPicPr>
          <p:nvPr/>
        </p:nvPicPr>
        <p:blipFill>
          <a:blip r:embed="rId7"/>
          <a:srcRect b="35349"/>
          <a:stretch>
            <a:fillRect/>
          </a:stretch>
        </p:blipFill>
        <p:spPr>
          <a:xfrm>
            <a:off x="12508594" y="8883378"/>
            <a:ext cx="11732290" cy="2980981"/>
          </a:xfrm>
          <a:prstGeom prst="rect">
            <a:avLst/>
          </a:prstGeom>
        </p:spPr>
      </p:pic>
      <p:sp>
        <p:nvSpPr>
          <p:cNvPr id="19" name="TextBox 18">
            <a:extLst>
              <a:ext uri="{FF2B5EF4-FFF2-40B4-BE49-F238E27FC236}">
                <a16:creationId xmlns:a16="http://schemas.microsoft.com/office/drawing/2014/main" id="{02AFFB73-7D4C-ADB8-CE94-9B40FC92C7A4}"/>
              </a:ext>
            </a:extLst>
          </p:cNvPr>
          <p:cNvSpPr txBox="1"/>
          <p:nvPr/>
        </p:nvSpPr>
        <p:spPr>
          <a:xfrm>
            <a:off x="12508594" y="12145830"/>
            <a:ext cx="11732290" cy="83099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r>
              <a:rPr lang="en-ID"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https://news.ddtc.co.id/berita/nasional/1814552/purbaya-concerned-about-coretax-faulty-design-and-sluggish-revenues</a:t>
            </a:r>
          </a:p>
        </p:txBody>
      </p:sp>
    </p:spTree>
    <p:extLst>
      <p:ext uri="{BB962C8B-B14F-4D97-AF65-F5344CB8AC3E}">
        <p14:creationId xmlns:p14="http://schemas.microsoft.com/office/powerpoint/2010/main" val="2181325466"/>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What is Software Engineering?</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0773371" cy="803546"/>
          </a:xfrm>
        </p:spPr>
        <p:txBody>
          <a:bodyPr>
            <a:normAutofit/>
          </a:bodyPr>
          <a:lstStyle/>
          <a:p>
            <a:r>
              <a:rPr lang="en-US" dirty="0"/>
              <a:t>What is Software?</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9" y="3903903"/>
            <a:ext cx="20228149" cy="5731188"/>
          </a:xfrm>
        </p:spPr>
        <p:txBody>
          <a:bodyPr anchor="ctr">
            <a:noAutofit/>
          </a:bodyPr>
          <a:lstStyle/>
          <a:p>
            <a:pPr marL="0" indent="0" algn="just">
              <a:spcBef>
                <a:spcPts val="0"/>
              </a:spcBef>
              <a:buNone/>
            </a:pPr>
            <a:r>
              <a:rPr lang="en-GB" sz="3600" b="1" dirty="0">
                <a:latin typeface="Open Sans" panose="020B0606030504020204" pitchFamily="34" charset="0"/>
                <a:ea typeface="Open Sans" panose="020B0606030504020204" pitchFamily="34" charset="0"/>
                <a:cs typeface="Open Sans" panose="020B0606030504020204" pitchFamily="34" charset="0"/>
              </a:rPr>
              <a:t>Software is:</a:t>
            </a:r>
          </a:p>
          <a:p>
            <a:pPr marL="0" indent="0" algn="just">
              <a:spcBef>
                <a:spcPts val="0"/>
              </a:spcBef>
              <a:buNone/>
            </a:pPr>
            <a:endParaRPr lang="en-GB" sz="3600" dirty="0">
              <a:latin typeface="Open Sans" panose="020B0606030504020204" pitchFamily="34" charset="0"/>
              <a:ea typeface="Open Sans" panose="020B0606030504020204" pitchFamily="34" charset="0"/>
              <a:cs typeface="Open Sans" panose="020B0606030504020204" pitchFamily="34" charset="0"/>
            </a:endParaRPr>
          </a:p>
          <a:p>
            <a:pPr marL="742950" indent="-742950" algn="just">
              <a:spcBef>
                <a:spcPts val="0"/>
              </a:spcBef>
              <a:buFont typeface="+mj-lt"/>
              <a:buAutoNum type="arabicParenR"/>
            </a:pPr>
            <a:r>
              <a:rPr lang="en-GB" sz="3600" dirty="0">
                <a:latin typeface="Open Sans" panose="020B0606030504020204" pitchFamily="34" charset="0"/>
                <a:ea typeface="Open Sans" panose="020B0606030504020204" pitchFamily="34" charset="0"/>
                <a:cs typeface="Open Sans" panose="020B0606030504020204" pitchFamily="34" charset="0"/>
              </a:rPr>
              <a:t>Instructions (computer programs) that when executed provide desired features, function, and performance;</a:t>
            </a:r>
          </a:p>
          <a:p>
            <a:pPr marL="742950" indent="-742950" algn="just">
              <a:spcBef>
                <a:spcPts val="0"/>
              </a:spcBef>
              <a:buFont typeface="+mj-lt"/>
              <a:buAutoNum type="arabicParenR"/>
            </a:pPr>
            <a:endParaRPr lang="en-GB" sz="3600" dirty="0">
              <a:latin typeface="Open Sans" panose="020B0606030504020204" pitchFamily="34" charset="0"/>
              <a:ea typeface="Open Sans" panose="020B0606030504020204" pitchFamily="34" charset="0"/>
              <a:cs typeface="Open Sans" panose="020B0606030504020204" pitchFamily="34" charset="0"/>
            </a:endParaRPr>
          </a:p>
          <a:p>
            <a:pPr marL="742950" indent="-742950" algn="just">
              <a:spcBef>
                <a:spcPts val="0"/>
              </a:spcBef>
              <a:buFont typeface="+mj-lt"/>
              <a:buAutoNum type="arabicParenR"/>
            </a:pPr>
            <a:r>
              <a:rPr lang="en-GB" sz="3600" dirty="0">
                <a:latin typeface="Open Sans" panose="020B0606030504020204" pitchFamily="34" charset="0"/>
                <a:ea typeface="Open Sans" panose="020B0606030504020204" pitchFamily="34" charset="0"/>
                <a:cs typeface="Open Sans" panose="020B0606030504020204" pitchFamily="34" charset="0"/>
              </a:rPr>
              <a:t>Data structures that enable the programs to adequately manipulate information; and</a:t>
            </a:r>
          </a:p>
          <a:p>
            <a:pPr marL="742950" indent="-742950" algn="just">
              <a:spcBef>
                <a:spcPts val="0"/>
              </a:spcBef>
              <a:buFont typeface="+mj-lt"/>
              <a:buAutoNum type="arabicParenR"/>
            </a:pPr>
            <a:endParaRPr lang="en-GB" sz="3600" dirty="0">
              <a:latin typeface="Open Sans" panose="020B0606030504020204" pitchFamily="34" charset="0"/>
              <a:ea typeface="Open Sans" panose="020B0606030504020204" pitchFamily="34" charset="0"/>
              <a:cs typeface="Open Sans" panose="020B0606030504020204" pitchFamily="34" charset="0"/>
            </a:endParaRPr>
          </a:p>
          <a:p>
            <a:pPr marL="742950" indent="-742950" algn="just">
              <a:spcBef>
                <a:spcPts val="0"/>
              </a:spcBef>
              <a:buFont typeface="+mj-lt"/>
              <a:buAutoNum type="arabicParenR"/>
            </a:pPr>
            <a:r>
              <a:rPr lang="en-GB" sz="3600" dirty="0">
                <a:latin typeface="Open Sans" panose="020B0606030504020204" pitchFamily="34" charset="0"/>
                <a:ea typeface="Open Sans" panose="020B0606030504020204" pitchFamily="34" charset="0"/>
                <a:cs typeface="Open Sans" panose="020B0606030504020204" pitchFamily="34" charset="0"/>
              </a:rPr>
              <a:t>Descriptive information in both hard copy and virtual forms that describes the operation and use of the programs.</a:t>
            </a:r>
          </a:p>
        </p:txBody>
      </p:sp>
      <p:sp>
        <p:nvSpPr>
          <p:cNvPr id="7" name="Content Placeholder 3">
            <a:extLst>
              <a:ext uri="{FF2B5EF4-FFF2-40B4-BE49-F238E27FC236}">
                <a16:creationId xmlns:a16="http://schemas.microsoft.com/office/drawing/2014/main" id="{B5552849-CE2C-39CE-0303-4B296CF1F9CD}"/>
              </a:ext>
            </a:extLst>
          </p:cNvPr>
          <p:cNvSpPr txBox="1">
            <a:spLocks/>
          </p:cNvSpPr>
          <p:nvPr/>
        </p:nvSpPr>
        <p:spPr>
          <a:xfrm>
            <a:off x="2167377" y="9635091"/>
            <a:ext cx="20228149" cy="22088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gn="just">
              <a:spcBef>
                <a:spcPts val="0"/>
              </a:spcBef>
              <a:buFontTx/>
              <a:buNone/>
            </a:pPr>
            <a:r>
              <a:rPr lang="en-GB" sz="3600" b="1" dirty="0">
                <a:latin typeface="Open Sans" panose="020B0606030504020204" pitchFamily="34" charset="0"/>
                <a:ea typeface="Open Sans" panose="020B0606030504020204" pitchFamily="34" charset="0"/>
                <a:cs typeface="Open Sans" panose="020B0606030504020204" pitchFamily="34" charset="0"/>
              </a:rPr>
              <a:t>The IEEE definition: </a:t>
            </a:r>
            <a:r>
              <a:rPr lang="en-GB" sz="3600" dirty="0">
                <a:latin typeface="Open Sans" panose="020B0606030504020204" pitchFamily="34" charset="0"/>
                <a:ea typeface="Open Sans" panose="020B0606030504020204" pitchFamily="34" charset="0"/>
                <a:cs typeface="Open Sans" panose="020B0606030504020204" pitchFamily="34" charset="0"/>
              </a:rPr>
              <a:t>The application of a systematic, disciplined, quantifiable approach to the development, operation, and maintenance of software; that is, the application of engineering to software.</a:t>
            </a:r>
          </a:p>
        </p:txBody>
      </p:sp>
    </p:spTree>
    <p:extLst>
      <p:ext uri="{BB962C8B-B14F-4D97-AF65-F5344CB8AC3E}">
        <p14:creationId xmlns:p14="http://schemas.microsoft.com/office/powerpoint/2010/main" val="3670670812"/>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What is Software Engineering?</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0773371" cy="803546"/>
          </a:xfrm>
        </p:spPr>
        <p:txBody>
          <a:bodyPr>
            <a:normAutofit/>
          </a:bodyPr>
          <a:lstStyle/>
          <a:p>
            <a:r>
              <a:rPr lang="en-US" dirty="0"/>
              <a:t>Software Application Domains (1/3)</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8" y="6858000"/>
            <a:ext cx="9698558" cy="803546"/>
          </a:xfrm>
        </p:spPr>
        <p:txBody>
          <a:bodyPr anchor="ctr">
            <a:noAutofit/>
          </a:bodyPr>
          <a:lstStyle/>
          <a:p>
            <a:pPr marL="0" indent="0" algn="just">
              <a:buNone/>
            </a:pPr>
            <a:r>
              <a:rPr lang="en-ID" sz="3200" b="1" dirty="0">
                <a:effectLst/>
                <a:latin typeface="Open Sans" panose="020B0606030504020204" pitchFamily="34" charset="0"/>
                <a:ea typeface="Open Sans" panose="020B0606030504020204" pitchFamily="34" charset="0"/>
                <a:cs typeface="Open Sans" panose="020B0606030504020204" pitchFamily="34" charset="0"/>
              </a:rPr>
              <a:t>System software. </a:t>
            </a:r>
            <a:r>
              <a:rPr lang="en-ID" sz="3200" dirty="0">
                <a:effectLst/>
                <a:latin typeface="Open Sans" panose="020B0606030504020204" pitchFamily="34" charset="0"/>
                <a:ea typeface="Open Sans" panose="020B0606030504020204" pitchFamily="34" charset="0"/>
                <a:cs typeface="Open Sans" panose="020B0606030504020204" pitchFamily="34" charset="0"/>
              </a:rPr>
              <a:t>A collection of programs written to service other programs.</a:t>
            </a:r>
          </a:p>
        </p:txBody>
      </p:sp>
      <p:sp>
        <p:nvSpPr>
          <p:cNvPr id="7" name="Content Placeholder 3">
            <a:extLst>
              <a:ext uri="{FF2B5EF4-FFF2-40B4-BE49-F238E27FC236}">
                <a16:creationId xmlns:a16="http://schemas.microsoft.com/office/drawing/2014/main" id="{E5AC2351-5840-2FDB-5FAD-783CFF1A5FF1}"/>
              </a:ext>
            </a:extLst>
          </p:cNvPr>
          <p:cNvSpPr txBox="1">
            <a:spLocks/>
          </p:cNvSpPr>
          <p:nvPr/>
        </p:nvSpPr>
        <p:spPr>
          <a:xfrm>
            <a:off x="12518064" y="6850912"/>
            <a:ext cx="9698558" cy="80354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no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gn="just">
              <a:buNone/>
            </a:pPr>
            <a:r>
              <a:rPr lang="en-ID" sz="3200" b="1" dirty="0">
                <a:latin typeface="Open Sans" panose="020B0606030504020204" pitchFamily="34" charset="0"/>
                <a:ea typeface="Open Sans" panose="020B0606030504020204" pitchFamily="34" charset="0"/>
                <a:cs typeface="Open Sans" panose="020B0606030504020204" pitchFamily="34" charset="0"/>
              </a:rPr>
              <a:t>Application software. </a:t>
            </a:r>
            <a:r>
              <a:rPr lang="en-ID" sz="3200" dirty="0">
                <a:latin typeface="Open Sans" panose="020B0606030504020204" pitchFamily="34" charset="0"/>
                <a:ea typeface="Open Sans" panose="020B0606030504020204" pitchFamily="34" charset="0"/>
                <a:cs typeface="Open Sans" panose="020B0606030504020204" pitchFamily="34" charset="0"/>
              </a:rPr>
              <a:t>Stand-alone programs that solve a specific business need.</a:t>
            </a:r>
          </a:p>
        </p:txBody>
      </p:sp>
      <p:sp>
        <p:nvSpPr>
          <p:cNvPr id="8" name="Content Placeholder 3">
            <a:extLst>
              <a:ext uri="{FF2B5EF4-FFF2-40B4-BE49-F238E27FC236}">
                <a16:creationId xmlns:a16="http://schemas.microsoft.com/office/drawing/2014/main" id="{09C4ECA0-EA93-B6F4-7DA2-7EC22615FBE3}"/>
              </a:ext>
            </a:extLst>
          </p:cNvPr>
          <p:cNvSpPr txBox="1">
            <a:spLocks/>
          </p:cNvSpPr>
          <p:nvPr/>
        </p:nvSpPr>
        <p:spPr>
          <a:xfrm>
            <a:off x="2167376" y="10696354"/>
            <a:ext cx="20049245" cy="180753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no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gn="just">
              <a:buNone/>
            </a:pPr>
            <a:r>
              <a:rPr lang="en-ID" sz="3200" b="1" dirty="0">
                <a:latin typeface="Open Sans" panose="020B0606030504020204" pitchFamily="34" charset="0"/>
                <a:ea typeface="Open Sans" panose="020B0606030504020204" pitchFamily="34" charset="0"/>
                <a:cs typeface="Open Sans" panose="020B0606030504020204" pitchFamily="34" charset="0"/>
              </a:rPr>
              <a:t>Engineering/scientific software. </a:t>
            </a:r>
            <a:r>
              <a:rPr lang="en-ID" sz="3200" dirty="0">
                <a:latin typeface="Open Sans" panose="020B0606030504020204" pitchFamily="34" charset="0"/>
                <a:ea typeface="Open Sans" panose="020B0606030504020204" pitchFamily="34" charset="0"/>
                <a:cs typeface="Open Sans" panose="020B0606030504020204" pitchFamily="34" charset="0"/>
              </a:rPr>
              <a:t>A broad array of “number-crunching” or data science programs that range from astronomy to volcanology, from automotive stress analysis to orbital dynamics, from computer-aided design to consumer spending habits, and from genetic analysis to meteorology.</a:t>
            </a:r>
          </a:p>
        </p:txBody>
      </p:sp>
      <p:pic>
        <p:nvPicPr>
          <p:cNvPr id="1026" name="Picture 2">
            <a:extLst>
              <a:ext uri="{FF2B5EF4-FFF2-40B4-BE49-F238E27FC236}">
                <a16:creationId xmlns:a16="http://schemas.microsoft.com/office/drawing/2014/main" id="{93DD24F5-323D-3282-4EA3-383B123E3D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43804" y="4070227"/>
            <a:ext cx="1648694" cy="180753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6DA6CDDC-FA8C-AF3F-2E5B-E4ABA75F6A5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70750" y="4070227"/>
            <a:ext cx="2437207" cy="1946838"/>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CD8B8230-05E0-AB0C-6217-2545479643F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86209" y="4070227"/>
            <a:ext cx="1952856" cy="1952856"/>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70300641-05CE-07F2-3D4D-0FC2D333C22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518064" y="4166023"/>
            <a:ext cx="3471744" cy="1952856"/>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2709E703-9354-C31C-58C4-F7D78EC07F2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662402" y="4166024"/>
            <a:ext cx="2003486" cy="1952856"/>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a:extLst>
              <a:ext uri="{FF2B5EF4-FFF2-40B4-BE49-F238E27FC236}">
                <a16:creationId xmlns:a16="http://schemas.microsoft.com/office/drawing/2014/main" id="{7FA1422B-BB56-0992-07A0-CB325631AE0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087007" y="4171402"/>
            <a:ext cx="3732521" cy="1851681"/>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a:extLst>
              <a:ext uri="{FF2B5EF4-FFF2-40B4-BE49-F238E27FC236}">
                <a16:creationId xmlns:a16="http://schemas.microsoft.com/office/drawing/2014/main" id="{B0112833-703F-6E9A-C52D-77C0A2B0A52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58776" y="8327121"/>
            <a:ext cx="2256701" cy="2020298"/>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a:extLst>
              <a:ext uri="{FF2B5EF4-FFF2-40B4-BE49-F238E27FC236}">
                <a16:creationId xmlns:a16="http://schemas.microsoft.com/office/drawing/2014/main" id="{9C556492-1AAA-59BC-F49C-13FE0E44950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424406" y="8157780"/>
            <a:ext cx="7298099" cy="2358981"/>
          </a:xfrm>
          <a:prstGeom prst="rect">
            <a:avLst/>
          </a:prstGeom>
          <a:noFill/>
          <a:extLst>
            <a:ext uri="{909E8E84-426E-40DD-AFC4-6F175D3DCCD1}">
              <a14:hiddenFill xmlns:a14="http://schemas.microsoft.com/office/drawing/2010/main">
                <a:solidFill>
                  <a:srgbClr val="FFFFFF"/>
                </a:solidFill>
              </a14:hiddenFill>
            </a:ext>
          </a:extLst>
        </p:spPr>
      </p:pic>
      <p:pic>
        <p:nvPicPr>
          <p:cNvPr id="1044" name="Picture 20">
            <a:extLst>
              <a:ext uri="{FF2B5EF4-FFF2-40B4-BE49-F238E27FC236}">
                <a16:creationId xmlns:a16="http://schemas.microsoft.com/office/drawing/2014/main" id="{ED8D0288-37C0-8B92-4561-9731B2E0DBD2}"/>
              </a:ext>
            </a:extLst>
          </p:cNvPr>
          <p:cNvPicPr>
            <a:picLocks noChangeAspect="1" noChangeArrowheads="1"/>
          </p:cNvPicPr>
          <p:nvPr/>
        </p:nvPicPr>
        <p:blipFill>
          <a:blip r:embed="rId11">
            <a:extLst>
              <a:ext uri="{BEBA8EAE-BF5A-486C-A8C5-ECC9F3942E4B}">
                <a14:imgProps xmlns:a14="http://schemas.microsoft.com/office/drawing/2010/main">
                  <a14:imgLayer r:embed="rId12">
                    <a14:imgEffect>
                      <a14:backgroundRemoval t="9979" b="89968" l="10000" r="92864">
                        <a14:foregroundMark x1="20739" y1="47118" x2="20739" y2="47118"/>
                        <a14:foregroundMark x1="80508" y1="38474" x2="80508" y2="38474"/>
                        <a14:foregroundMark x1="92864" y1="81217" x2="92864" y2="81217"/>
                      </a14:backgroundRemoval>
                    </a14:imgEffect>
                  </a14:imgLayer>
                </a14:imgProps>
              </a:ext>
              <a:ext uri="{28A0092B-C50C-407E-A947-70E740481C1C}">
                <a14:useLocalDpi xmlns:a14="http://schemas.microsoft.com/office/drawing/2010/main" val="0"/>
              </a:ext>
            </a:extLst>
          </a:blip>
          <a:srcRect/>
          <a:stretch>
            <a:fillRect/>
          </a:stretch>
        </p:blipFill>
        <p:spPr bwMode="auto">
          <a:xfrm>
            <a:off x="14323059" y="7834051"/>
            <a:ext cx="5942936" cy="25721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2496811"/>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B44D4-A167-D7F3-F926-BEBA503624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6C1605-4ED4-0017-5D82-08FFDFA3EEB8}"/>
              </a:ext>
            </a:extLst>
          </p:cNvPr>
          <p:cNvSpPr>
            <a:spLocks noGrp="1"/>
          </p:cNvSpPr>
          <p:nvPr>
            <p:ph type="title"/>
          </p:nvPr>
        </p:nvSpPr>
        <p:spPr/>
        <p:txBody>
          <a:bodyPr>
            <a:normAutofit fontScale="90000"/>
          </a:bodyPr>
          <a:lstStyle/>
          <a:p>
            <a:r>
              <a:rPr lang="en-US" dirty="0"/>
              <a:t>What is Software Engineering?</a:t>
            </a:r>
          </a:p>
        </p:txBody>
      </p:sp>
      <p:sp>
        <p:nvSpPr>
          <p:cNvPr id="3" name="Text Placeholder 2">
            <a:extLst>
              <a:ext uri="{FF2B5EF4-FFF2-40B4-BE49-F238E27FC236}">
                <a16:creationId xmlns:a16="http://schemas.microsoft.com/office/drawing/2014/main" id="{56F40160-A5C6-17F8-3A82-2664743F546F}"/>
              </a:ext>
            </a:extLst>
          </p:cNvPr>
          <p:cNvSpPr>
            <a:spLocks noGrp="1"/>
          </p:cNvSpPr>
          <p:nvPr>
            <p:ph type="body" sz="quarter" idx="10"/>
          </p:nvPr>
        </p:nvSpPr>
        <p:spPr>
          <a:xfrm>
            <a:off x="2167377" y="2419728"/>
            <a:ext cx="10773371" cy="803546"/>
          </a:xfrm>
        </p:spPr>
        <p:txBody>
          <a:bodyPr>
            <a:normAutofit/>
          </a:bodyPr>
          <a:lstStyle/>
          <a:p>
            <a:r>
              <a:rPr lang="en-US" dirty="0"/>
              <a:t>Software Application Domains (2/3)</a:t>
            </a:r>
          </a:p>
        </p:txBody>
      </p:sp>
      <p:sp>
        <p:nvSpPr>
          <p:cNvPr id="4" name="Content Placeholder 3">
            <a:extLst>
              <a:ext uri="{FF2B5EF4-FFF2-40B4-BE49-F238E27FC236}">
                <a16:creationId xmlns:a16="http://schemas.microsoft.com/office/drawing/2014/main" id="{5B472440-F528-6241-A24F-795945A2E7D3}"/>
              </a:ext>
            </a:extLst>
          </p:cNvPr>
          <p:cNvSpPr>
            <a:spLocks noGrp="1"/>
          </p:cNvSpPr>
          <p:nvPr>
            <p:ph sz="quarter" idx="11"/>
          </p:nvPr>
        </p:nvSpPr>
        <p:spPr>
          <a:xfrm>
            <a:off x="2167378" y="10616815"/>
            <a:ext cx="9698558" cy="803546"/>
          </a:xfrm>
        </p:spPr>
        <p:txBody>
          <a:bodyPr anchor="ctr">
            <a:noAutofit/>
          </a:bodyPr>
          <a:lstStyle/>
          <a:p>
            <a:pPr marL="0" indent="0" algn="just">
              <a:buNone/>
            </a:pPr>
            <a:r>
              <a:rPr lang="en-ID" sz="3200" b="1" dirty="0">
                <a:latin typeface="Open Sans" panose="020B0606030504020204" pitchFamily="34" charset="0"/>
                <a:ea typeface="Open Sans" panose="020B0606030504020204" pitchFamily="34" charset="0"/>
                <a:cs typeface="Open Sans" panose="020B0606030504020204" pitchFamily="34" charset="0"/>
              </a:rPr>
              <a:t>Embedded software. </a:t>
            </a:r>
            <a:r>
              <a:rPr lang="en-ID" sz="3200" dirty="0">
                <a:latin typeface="Open Sans" panose="020B0606030504020204" pitchFamily="34" charset="0"/>
                <a:ea typeface="Open Sans" panose="020B0606030504020204" pitchFamily="34" charset="0"/>
                <a:cs typeface="Open Sans" panose="020B0606030504020204" pitchFamily="34" charset="0"/>
              </a:rPr>
              <a:t>Resides within a product or system and is used to implement and control features and functions for the end user and for the system itself.</a:t>
            </a:r>
            <a:endParaRPr lang="en-ID" sz="3200" dirty="0">
              <a:effectLst/>
              <a:latin typeface="Open Sans" panose="020B0606030504020204" pitchFamily="34" charset="0"/>
              <a:ea typeface="Open Sans" panose="020B0606030504020204" pitchFamily="34" charset="0"/>
              <a:cs typeface="Open Sans" panose="020B0606030504020204" pitchFamily="34" charset="0"/>
            </a:endParaRPr>
          </a:p>
        </p:txBody>
      </p:sp>
      <p:sp>
        <p:nvSpPr>
          <p:cNvPr id="7" name="Content Placeholder 3">
            <a:extLst>
              <a:ext uri="{FF2B5EF4-FFF2-40B4-BE49-F238E27FC236}">
                <a16:creationId xmlns:a16="http://schemas.microsoft.com/office/drawing/2014/main" id="{37018602-5951-72AF-B48D-4D500CF95BEA}"/>
              </a:ext>
            </a:extLst>
          </p:cNvPr>
          <p:cNvSpPr txBox="1">
            <a:spLocks/>
          </p:cNvSpPr>
          <p:nvPr/>
        </p:nvSpPr>
        <p:spPr>
          <a:xfrm>
            <a:off x="12518066" y="9916631"/>
            <a:ext cx="9698558" cy="180753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no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gn="just">
              <a:buNone/>
            </a:pPr>
            <a:r>
              <a:rPr lang="en-ID" sz="3200" b="1" dirty="0">
                <a:latin typeface="Open Sans" panose="020B0606030504020204" pitchFamily="34" charset="0"/>
                <a:ea typeface="Open Sans" panose="020B0606030504020204" pitchFamily="34" charset="0"/>
                <a:cs typeface="Open Sans" panose="020B0606030504020204" pitchFamily="34" charset="0"/>
              </a:rPr>
              <a:t>Product-line software. </a:t>
            </a:r>
            <a:r>
              <a:rPr lang="en-ID" sz="3200" dirty="0">
                <a:latin typeface="Open Sans" panose="020B0606030504020204" pitchFamily="34" charset="0"/>
                <a:ea typeface="Open Sans" panose="020B0606030504020204" pitchFamily="34" charset="0"/>
                <a:cs typeface="Open Sans" panose="020B0606030504020204" pitchFamily="34" charset="0"/>
              </a:rPr>
              <a:t>Composed of reusable components and designed to provide specific capabilities for use by many different customers.</a:t>
            </a:r>
          </a:p>
        </p:txBody>
      </p:sp>
      <p:pic>
        <p:nvPicPr>
          <p:cNvPr id="2050" name="Picture 2">
            <a:extLst>
              <a:ext uri="{FF2B5EF4-FFF2-40B4-BE49-F238E27FC236}">
                <a16:creationId xmlns:a16="http://schemas.microsoft.com/office/drawing/2014/main" id="{8D4B6B2C-BE9D-46BB-C5D3-9EB366C6203E}"/>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10000" b="90000" l="10000" r="90000">
                        <a14:foregroundMark x1="45088" y1="21528" x2="45088" y2="21528"/>
                        <a14:foregroundMark x1="47368" y1="42130" x2="47368" y2="42130"/>
                        <a14:foregroundMark x1="40000" y1="59954" x2="40000" y2="59954"/>
                        <a14:foregroundMark x1="58070" y1="59259" x2="58070" y2="59259"/>
                      </a14:backgroundRemoval>
                    </a14:imgEffect>
                  </a14:imgLayer>
                </a14:imgProps>
              </a:ext>
              <a:ext uri="{28A0092B-C50C-407E-A947-70E740481C1C}">
                <a14:useLocalDpi xmlns:a14="http://schemas.microsoft.com/office/drawing/2010/main" val="0"/>
              </a:ext>
            </a:extLst>
          </a:blip>
          <a:srcRect l="18191" t="14408" r="21013" b="8080"/>
          <a:stretch>
            <a:fillRect/>
          </a:stretch>
        </p:blipFill>
        <p:spPr bwMode="auto">
          <a:xfrm>
            <a:off x="2167377" y="7303075"/>
            <a:ext cx="2285999" cy="2208944"/>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002BD0E5-124B-4DE7-4E96-EB3CBA5465A6}"/>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26862" b="29229"/>
          <a:stretch>
            <a:fillRect/>
          </a:stretch>
        </p:blipFill>
        <p:spPr bwMode="auto">
          <a:xfrm>
            <a:off x="3511788" y="4723543"/>
            <a:ext cx="7342474" cy="1813471"/>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0AB38C02-2E8D-D20C-1324-CD6575E0478C}"/>
              </a:ext>
            </a:extLst>
          </p:cNvPr>
          <p:cNvPicPr>
            <a:picLocks noChangeAspect="1" noChangeArrowheads="1"/>
          </p:cNvPicPr>
          <p:nvPr/>
        </p:nvPicPr>
        <p:blipFill rotWithShape="1">
          <a:blip r:embed="rId6">
            <a:extLst>
              <a:ext uri="{BEBA8EAE-BF5A-486C-A8C5-ECC9F3942E4B}">
                <a14:imgProps xmlns:a14="http://schemas.microsoft.com/office/drawing/2010/main">
                  <a14:imgLayer r:embed="rId7">
                    <a14:imgEffect>
                      <a14:backgroundRemoval t="10000" b="90000" l="10000" r="90000">
                        <a14:foregroundMark x1="16806" y1="47970" x2="16806" y2="47970"/>
                        <a14:foregroundMark x1="24583" y1="47716" x2="24583" y2="47716"/>
                        <a14:foregroundMark x1="50556" y1="47208" x2="50556" y2="47208"/>
                        <a14:foregroundMark x1="58472" y1="48477" x2="58472" y2="48477"/>
                        <a14:foregroundMark x1="68472" y1="42640" x2="68472" y2="42640"/>
                        <a14:foregroundMark x1="81111" y1="47716" x2="81111" y2="47716"/>
                      </a14:backgroundRemoval>
                    </a14:imgEffect>
                  </a14:imgLayer>
                </a14:imgProps>
              </a:ext>
              <a:ext uri="{28A0092B-C50C-407E-A947-70E740481C1C}">
                <a14:useLocalDpi xmlns:a14="http://schemas.microsoft.com/office/drawing/2010/main" val="0"/>
              </a:ext>
            </a:extLst>
          </a:blip>
          <a:srcRect l="10738" t="30802" r="10629" b="29333"/>
          <a:stretch>
            <a:fillRect/>
          </a:stretch>
        </p:blipFill>
        <p:spPr bwMode="auto">
          <a:xfrm>
            <a:off x="4486717" y="7303075"/>
            <a:ext cx="7227135" cy="2005048"/>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a:extLst>
              <a:ext uri="{FF2B5EF4-FFF2-40B4-BE49-F238E27FC236}">
                <a16:creationId xmlns:a16="http://schemas.microsoft.com/office/drawing/2014/main" id="{FD25FA20-5E61-CE80-A4E6-62937F6CCA40}"/>
              </a:ext>
            </a:extLst>
          </p:cNvPr>
          <p:cNvPicPr>
            <a:picLocks noChangeAspect="1" noChangeArrowheads="1"/>
          </p:cNvPicPr>
          <p:nvPr/>
        </p:nvPicPr>
        <p:blipFill rotWithShape="1">
          <a:blip r:embed="rId8">
            <a:extLst>
              <a:ext uri="{BEBA8EAE-BF5A-486C-A8C5-ECC9F3942E4B}">
                <a14:imgProps xmlns:a14="http://schemas.microsoft.com/office/drawing/2010/main">
                  <a14:imgLayer r:embed="rId9">
                    <a14:imgEffect>
                      <a14:backgroundRemoval t="10000" b="90000" l="1927" r="98333">
                        <a14:foregroundMark x1="10417" y1="27639" x2="10417" y2="27639"/>
                        <a14:foregroundMark x1="10964" y1="67639" x2="10964" y2="67639"/>
                        <a14:foregroundMark x1="4036" y1="40000" x2="4036" y2="40000"/>
                        <a14:foregroundMark x1="1953" y1="58287" x2="1953" y2="58287"/>
                        <a14:foregroundMark x1="40286" y1="36065" x2="40286" y2="36065"/>
                        <a14:foregroundMark x1="55964" y1="37269" x2="55964" y2="37269"/>
                        <a14:foregroundMark x1="65130" y1="38287" x2="65130" y2="38287"/>
                        <a14:foregroundMark x1="73047" y1="35324" x2="73047" y2="35324"/>
                        <a14:foregroundMark x1="71953" y1="53102" x2="71953" y2="53102"/>
                        <a14:foregroundMark x1="78047" y1="52593" x2="78047" y2="52593"/>
                        <a14:foregroundMark x1="90000" y1="53333" x2="90000" y2="53333"/>
                        <a14:foregroundMark x1="89583" y1="51620" x2="89583" y2="51620"/>
                        <a14:foregroundMark x1="98333" y1="51620" x2="98333" y2="51620"/>
                      </a14:backgroundRemoval>
                    </a14:imgEffect>
                  </a14:imgLayer>
                </a14:imgProps>
              </a:ext>
              <a:ext uri="{28A0092B-C50C-407E-A947-70E740481C1C}">
                <a14:useLocalDpi xmlns:a14="http://schemas.microsoft.com/office/drawing/2010/main" val="0"/>
              </a:ext>
            </a:extLst>
          </a:blip>
          <a:srcRect t="18940" b="14282"/>
          <a:stretch>
            <a:fillRect/>
          </a:stretch>
        </p:blipFill>
        <p:spPr bwMode="auto">
          <a:xfrm>
            <a:off x="14835546" y="4765547"/>
            <a:ext cx="5063597" cy="1902007"/>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a:extLst>
              <a:ext uri="{FF2B5EF4-FFF2-40B4-BE49-F238E27FC236}">
                <a16:creationId xmlns:a16="http://schemas.microsoft.com/office/drawing/2014/main" id="{09BF834C-F521-728A-0722-D1494C67C3DE}"/>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t="22539" b="20897"/>
          <a:stretch>
            <a:fillRect/>
          </a:stretch>
        </p:blipFill>
        <p:spPr bwMode="auto">
          <a:xfrm>
            <a:off x="12518066" y="7410814"/>
            <a:ext cx="5063597" cy="1762557"/>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a:extLst>
              <a:ext uri="{FF2B5EF4-FFF2-40B4-BE49-F238E27FC236}">
                <a16:creationId xmlns:a16="http://schemas.microsoft.com/office/drawing/2014/main" id="{DDB71A60-7490-321D-7A43-E91E84097610}"/>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7980591" y="7048447"/>
            <a:ext cx="4236033" cy="23021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4297918"/>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DB43C2-6B80-4EC0-9A07-143B054EFB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E31F37-2956-B813-F002-416CD2E46065}"/>
              </a:ext>
            </a:extLst>
          </p:cNvPr>
          <p:cNvSpPr>
            <a:spLocks noGrp="1"/>
          </p:cNvSpPr>
          <p:nvPr>
            <p:ph type="title"/>
          </p:nvPr>
        </p:nvSpPr>
        <p:spPr/>
        <p:txBody>
          <a:bodyPr>
            <a:normAutofit fontScale="90000"/>
          </a:bodyPr>
          <a:lstStyle/>
          <a:p>
            <a:r>
              <a:rPr lang="en-US" dirty="0"/>
              <a:t>What is Software Engineering?</a:t>
            </a:r>
          </a:p>
        </p:txBody>
      </p:sp>
      <p:sp>
        <p:nvSpPr>
          <p:cNvPr id="3" name="Text Placeholder 2">
            <a:extLst>
              <a:ext uri="{FF2B5EF4-FFF2-40B4-BE49-F238E27FC236}">
                <a16:creationId xmlns:a16="http://schemas.microsoft.com/office/drawing/2014/main" id="{A0D88FEB-C961-3763-83C9-04B9FF201B45}"/>
              </a:ext>
            </a:extLst>
          </p:cNvPr>
          <p:cNvSpPr>
            <a:spLocks noGrp="1"/>
          </p:cNvSpPr>
          <p:nvPr>
            <p:ph type="body" sz="quarter" idx="10"/>
          </p:nvPr>
        </p:nvSpPr>
        <p:spPr>
          <a:xfrm>
            <a:off x="2167377" y="2419728"/>
            <a:ext cx="10773371" cy="803546"/>
          </a:xfrm>
        </p:spPr>
        <p:txBody>
          <a:bodyPr>
            <a:normAutofit/>
          </a:bodyPr>
          <a:lstStyle/>
          <a:p>
            <a:r>
              <a:rPr lang="en-US" dirty="0"/>
              <a:t>Software Application Domains (3/3)</a:t>
            </a:r>
          </a:p>
        </p:txBody>
      </p:sp>
      <p:sp>
        <p:nvSpPr>
          <p:cNvPr id="4" name="Content Placeholder 3">
            <a:extLst>
              <a:ext uri="{FF2B5EF4-FFF2-40B4-BE49-F238E27FC236}">
                <a16:creationId xmlns:a16="http://schemas.microsoft.com/office/drawing/2014/main" id="{183B3D11-BEA1-6BDB-132D-905E273FB29D}"/>
              </a:ext>
            </a:extLst>
          </p:cNvPr>
          <p:cNvSpPr>
            <a:spLocks noGrp="1"/>
          </p:cNvSpPr>
          <p:nvPr>
            <p:ph sz="quarter" idx="11"/>
          </p:nvPr>
        </p:nvSpPr>
        <p:spPr>
          <a:xfrm>
            <a:off x="2167376" y="9705934"/>
            <a:ext cx="9698558" cy="3234304"/>
          </a:xfrm>
        </p:spPr>
        <p:txBody>
          <a:bodyPr anchor="ctr">
            <a:noAutofit/>
          </a:bodyPr>
          <a:lstStyle/>
          <a:p>
            <a:pPr marL="0" indent="0" algn="just">
              <a:buNone/>
            </a:pPr>
            <a:r>
              <a:rPr lang="en-ID" sz="3200" b="1" dirty="0">
                <a:latin typeface="Open Sans" panose="020B0606030504020204" pitchFamily="34" charset="0"/>
                <a:ea typeface="Open Sans" panose="020B0606030504020204" pitchFamily="34" charset="0"/>
                <a:cs typeface="Open Sans" panose="020B0606030504020204" pitchFamily="34" charset="0"/>
              </a:rPr>
              <a:t>Web/mobile applications. </a:t>
            </a:r>
            <a:r>
              <a:rPr lang="en-ID" sz="3200" dirty="0">
                <a:latin typeface="Open Sans" panose="020B0606030504020204" pitchFamily="34" charset="0"/>
                <a:ea typeface="Open Sans" panose="020B0606030504020204" pitchFamily="34" charset="0"/>
                <a:cs typeface="Open Sans" panose="020B0606030504020204" pitchFamily="34" charset="0"/>
              </a:rPr>
              <a:t>This network-centric software category spans a wide array of applications and encompasses browser-based apps, cloud computing, service-based computing, and software that resides on mobile devices. </a:t>
            </a:r>
          </a:p>
        </p:txBody>
      </p:sp>
      <p:sp>
        <p:nvSpPr>
          <p:cNvPr id="7" name="Content Placeholder 3">
            <a:extLst>
              <a:ext uri="{FF2B5EF4-FFF2-40B4-BE49-F238E27FC236}">
                <a16:creationId xmlns:a16="http://schemas.microsoft.com/office/drawing/2014/main" id="{2B46D4D1-D236-CC32-46B5-20A971F95B56}"/>
              </a:ext>
            </a:extLst>
          </p:cNvPr>
          <p:cNvSpPr txBox="1">
            <a:spLocks/>
          </p:cNvSpPr>
          <p:nvPr/>
        </p:nvSpPr>
        <p:spPr>
          <a:xfrm>
            <a:off x="12518068" y="9957172"/>
            <a:ext cx="9698558" cy="27318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no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gn="just">
              <a:buNone/>
            </a:pPr>
            <a:r>
              <a:rPr lang="en-ID" sz="3200" b="1" dirty="0">
                <a:latin typeface="Open Sans" panose="020B0606030504020204" pitchFamily="34" charset="0"/>
                <a:ea typeface="Open Sans" panose="020B0606030504020204" pitchFamily="34" charset="0"/>
                <a:cs typeface="Open Sans" panose="020B0606030504020204" pitchFamily="34" charset="0"/>
              </a:rPr>
              <a:t>Artificial intelligence software. </a:t>
            </a:r>
            <a:r>
              <a:rPr lang="en-ID" sz="3200" dirty="0">
                <a:latin typeface="Open Sans" panose="020B0606030504020204" pitchFamily="34" charset="0"/>
                <a:ea typeface="Open Sans" panose="020B0606030504020204" pitchFamily="34" charset="0"/>
                <a:cs typeface="Open Sans" panose="020B0606030504020204" pitchFamily="34" charset="0"/>
              </a:rPr>
              <a:t>Applications within this area include robotics, decision-making systems, pattern recognition (image and voice), machine learning, theorem proving, and game playing.</a:t>
            </a:r>
          </a:p>
        </p:txBody>
      </p:sp>
      <p:pic>
        <p:nvPicPr>
          <p:cNvPr id="3074" name="Picture 2">
            <a:extLst>
              <a:ext uri="{FF2B5EF4-FFF2-40B4-BE49-F238E27FC236}">
                <a16:creationId xmlns:a16="http://schemas.microsoft.com/office/drawing/2014/main" id="{06FB0B65-9A50-FCE0-1453-4159CCF08D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44780" y="4522993"/>
            <a:ext cx="6259998" cy="2117966"/>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196A4AC5-2D39-CEF8-770A-09D510F5C50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83447" y="7075041"/>
            <a:ext cx="2531434" cy="2531434"/>
          </a:xfrm>
          <a:prstGeom prst="rect">
            <a:avLst/>
          </a:prstGeom>
        </p:spPr>
      </p:pic>
      <p:pic>
        <p:nvPicPr>
          <p:cNvPr id="3082" name="Picture 10">
            <a:extLst>
              <a:ext uri="{FF2B5EF4-FFF2-40B4-BE49-F238E27FC236}">
                <a16:creationId xmlns:a16="http://schemas.microsoft.com/office/drawing/2014/main" id="{26E78BF0-53CB-2D87-0C69-97729D86040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16655" y="7075041"/>
            <a:ext cx="2531434" cy="2531434"/>
          </a:xfrm>
          <a:prstGeom prst="rect">
            <a:avLst/>
          </a:prstGeom>
          <a:noFill/>
          <a:extLst>
            <a:ext uri="{909E8E84-426E-40DD-AFC4-6F175D3DCCD1}">
              <a14:hiddenFill xmlns:a14="http://schemas.microsoft.com/office/drawing/2010/main">
                <a:solidFill>
                  <a:srgbClr val="FFFFFF"/>
                </a:solidFill>
              </a14:hiddenFill>
            </a:ext>
          </a:extLst>
        </p:spPr>
      </p:pic>
      <p:pic>
        <p:nvPicPr>
          <p:cNvPr id="14" name="Graphic 13">
            <a:extLst>
              <a:ext uri="{FF2B5EF4-FFF2-40B4-BE49-F238E27FC236}">
                <a16:creationId xmlns:a16="http://schemas.microsoft.com/office/drawing/2014/main" id="{02E09ABD-6041-4E9E-FE73-E4CE2406791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334000" y="0"/>
            <a:ext cx="13716000" cy="13716000"/>
          </a:xfrm>
          <a:prstGeom prst="rect">
            <a:avLst/>
          </a:prstGeom>
        </p:spPr>
      </p:pic>
      <p:pic>
        <p:nvPicPr>
          <p:cNvPr id="16" name="Picture 15">
            <a:extLst>
              <a:ext uri="{FF2B5EF4-FFF2-40B4-BE49-F238E27FC236}">
                <a16:creationId xmlns:a16="http://schemas.microsoft.com/office/drawing/2014/main" id="{AE647624-AC33-F2E4-5167-E7B04A715B7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6101267" y="4315896"/>
            <a:ext cx="2532160" cy="2532160"/>
          </a:xfrm>
          <a:prstGeom prst="rect">
            <a:avLst/>
          </a:prstGeom>
        </p:spPr>
      </p:pic>
      <p:pic>
        <p:nvPicPr>
          <p:cNvPr id="3090" name="Picture 18">
            <a:extLst>
              <a:ext uri="{FF2B5EF4-FFF2-40B4-BE49-F238E27FC236}">
                <a16:creationId xmlns:a16="http://schemas.microsoft.com/office/drawing/2014/main" id="{EF1B65FC-E272-CD78-C624-7B386F3AC89B}"/>
              </a:ext>
            </a:extLst>
          </p:cNvPr>
          <p:cNvPicPr>
            <a:picLocks noChangeAspect="1" noChangeArrowheads="1"/>
          </p:cNvPicPr>
          <p:nvPr/>
        </p:nvPicPr>
        <p:blipFill>
          <a:blip r:embed="rId9">
            <a:extLst>
              <a:ext uri="{BEBA8EAE-BF5A-486C-A8C5-ECC9F3942E4B}">
                <a14:imgProps xmlns:a14="http://schemas.microsoft.com/office/drawing/2010/main">
                  <a14:imgLayer r:embed="rId10">
                    <a14:imgEffect>
                      <a14:backgroundRemoval t="0" b="96622" l="4054" r="97973">
                        <a14:foregroundMark x1="76351" y1="14189" x2="76351" y2="14189"/>
                        <a14:foregroundMark x1="64865" y1="10811" x2="64865" y2="10811"/>
                        <a14:foregroundMark x1="48649" y1="3378" x2="48649" y2="3378"/>
                        <a14:foregroundMark x1="28378" y1="6081" x2="28378" y2="6081"/>
                        <a14:foregroundMark x1="13514" y1="19595" x2="13514" y2="19595"/>
                        <a14:foregroundMark x1="9459" y1="44595" x2="9459" y2="44595"/>
                        <a14:foregroundMark x1="12162" y1="59459" x2="12162" y2="81081"/>
                        <a14:foregroundMark x1="12162" y1="81081" x2="14865" y2="82432"/>
                        <a14:foregroundMark x1="83108" y1="4730" x2="93243" y2="22973"/>
                        <a14:foregroundMark x1="93243" y1="22973" x2="81081" y2="82432"/>
                        <a14:foregroundMark x1="81081" y1="82432" x2="57432" y2="99324"/>
                        <a14:foregroundMark x1="57432" y1="99324" x2="17568" y2="93919"/>
                        <a14:foregroundMark x1="17568" y1="93919" x2="2027" y2="82432"/>
                        <a14:foregroundMark x1="2027" y1="82432" x2="8108" y2="16216"/>
                        <a14:foregroundMark x1="8108" y1="16216" x2="29730" y2="0"/>
                        <a14:foregroundMark x1="29730" y1="0" x2="81757" y2="8108"/>
                        <a14:foregroundMark x1="81757" y1="8108" x2="86486" y2="10135"/>
                        <a14:foregroundMark x1="97973" y1="27027" x2="97973" y2="27027"/>
                        <a14:foregroundMark x1="93919" y1="68243" x2="93919" y2="68243"/>
                        <a14:foregroundMark x1="85135" y1="97297" x2="85135" y2="97297"/>
                        <a14:foregroundMark x1="4054" y1="26351" x2="4054" y2="26351"/>
                        <a14:foregroundMark x1="39189" y1="23649" x2="39189" y2="23649"/>
                        <a14:foregroundMark x1="23649" y1="43919" x2="23649" y2="43919"/>
                        <a14:foregroundMark x1="70270" y1="29054" x2="70270" y2="29054"/>
                        <a14:foregroundMark x1="77027" y1="54730" x2="77027" y2="54730"/>
                        <a14:foregroundMark x1="64189" y1="72297" x2="64189" y2="72297"/>
                        <a14:foregroundMark x1="50000" y1="51351" x2="50000" y2="51351"/>
                        <a14:foregroundMark x1="30405" y1="71622" x2="30405" y2="71622"/>
                        <a14:backgroundMark x1="4054" y1="3378" x2="4054" y2="3378"/>
                        <a14:backgroundMark x1="97297" y1="4730" x2="97297" y2="4730"/>
                        <a14:backgroundMark x1="2703" y1="97973" x2="2703" y2="97973"/>
                      </a14:backgroundRemoval>
                    </a14:imgEffect>
                  </a14:imgLayer>
                </a14:imgProps>
              </a:ext>
              <a:ext uri="{28A0092B-C50C-407E-A947-70E740481C1C}">
                <a14:useLocalDpi xmlns:a14="http://schemas.microsoft.com/office/drawing/2010/main" val="0"/>
              </a:ext>
            </a:extLst>
          </a:blip>
          <a:srcRect/>
          <a:stretch>
            <a:fillRect/>
          </a:stretch>
        </p:blipFill>
        <p:spPr bwMode="auto">
          <a:xfrm>
            <a:off x="14585837" y="7075041"/>
            <a:ext cx="2532160" cy="2532160"/>
          </a:xfrm>
          <a:prstGeom prst="rect">
            <a:avLst/>
          </a:prstGeom>
          <a:noFill/>
          <a:extLst>
            <a:ext uri="{909E8E84-426E-40DD-AFC4-6F175D3DCCD1}">
              <a14:hiddenFill xmlns:a14="http://schemas.microsoft.com/office/drawing/2010/main">
                <a:solidFill>
                  <a:srgbClr val="FFFFFF"/>
                </a:solidFill>
              </a14:hiddenFill>
            </a:ext>
          </a:extLst>
        </p:spPr>
      </p:pic>
      <p:pic>
        <p:nvPicPr>
          <p:cNvPr id="3092" name="Picture 20" descr="Gemini Icon Logo PNG Vector (SVG) Free ...">
            <a:extLst>
              <a:ext uri="{FF2B5EF4-FFF2-40B4-BE49-F238E27FC236}">
                <a16:creationId xmlns:a16="http://schemas.microsoft.com/office/drawing/2014/main" id="{EA16A868-667F-AD3C-B906-465DCEE48BEB}"/>
              </a:ext>
            </a:extLst>
          </p:cNvPr>
          <p:cNvPicPr>
            <a:picLocks noChangeAspect="1" noChangeArrowheads="1"/>
          </p:cNvPicPr>
          <p:nvPr/>
        </p:nvPicPr>
        <p:blipFill>
          <a:blip r:embed="rId11">
            <a:extLst>
              <a:ext uri="{BEBA8EAE-BF5A-486C-A8C5-ECC9F3942E4B}">
                <a14:imgProps xmlns:a14="http://schemas.microsoft.com/office/drawing/2010/main">
                  <a14:imgLayer r:embed="rId12">
                    <a14:imgEffect>
                      <a14:backgroundRemoval t="10000" b="90000" l="10000" r="90000">
                        <a14:foregroundMark x1="44000" y1="50222" x2="44000" y2="50222"/>
                      </a14:backgroundRemoval>
                    </a14:imgEffect>
                  </a14:imgLayer>
                </a14:imgProps>
              </a:ext>
              <a:ext uri="{28A0092B-C50C-407E-A947-70E740481C1C}">
                <a14:useLocalDpi xmlns:a14="http://schemas.microsoft.com/office/drawing/2010/main" val="0"/>
              </a:ext>
            </a:extLst>
          </a:blip>
          <a:srcRect/>
          <a:stretch>
            <a:fillRect/>
          </a:stretch>
        </p:blipFill>
        <p:spPr bwMode="auto">
          <a:xfrm>
            <a:off x="17750416" y="7075041"/>
            <a:ext cx="2531434" cy="25314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99247"/>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What is Software Engineering?</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0773371" cy="803546"/>
          </a:xfrm>
        </p:spPr>
        <p:txBody>
          <a:bodyPr>
            <a:normAutofit/>
          </a:bodyPr>
          <a:lstStyle/>
          <a:p>
            <a:r>
              <a:rPr lang="en-US" dirty="0"/>
              <a:t>Software Engineering vs Programming</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469550"/>
            <a:ext cx="20295058" cy="1438337"/>
          </a:xfrm>
        </p:spPr>
        <p:txBody>
          <a:bodyPr anchor="ctr">
            <a:normAutofit/>
          </a:bodyPr>
          <a:lstStyle/>
          <a:p>
            <a:pPr marL="0" indent="0" algn="ctr">
              <a:spcBef>
                <a:spcPts val="0"/>
              </a:spcBef>
              <a:buNone/>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“Software engineering is programming integrated over time”</a:t>
            </a:r>
          </a:p>
        </p:txBody>
      </p:sp>
      <p:graphicFrame>
        <p:nvGraphicFramePr>
          <p:cNvPr id="5" name="Table 4">
            <a:extLst>
              <a:ext uri="{FF2B5EF4-FFF2-40B4-BE49-F238E27FC236}">
                <a16:creationId xmlns:a16="http://schemas.microsoft.com/office/drawing/2014/main" id="{7D0B01CC-D033-84EE-E30D-2CF261CF1347}"/>
              </a:ext>
            </a:extLst>
          </p:cNvPr>
          <p:cNvGraphicFramePr>
            <a:graphicFrameLocks noGrp="1"/>
          </p:cNvGraphicFramePr>
          <p:nvPr>
            <p:extLst>
              <p:ext uri="{D42A27DB-BD31-4B8C-83A1-F6EECF244321}">
                <p14:modId xmlns:p14="http://schemas.microsoft.com/office/powerpoint/2010/main" val="395822124"/>
              </p:ext>
            </p:extLst>
          </p:nvPr>
        </p:nvGraphicFramePr>
        <p:xfrm>
          <a:off x="1206499" y="4918634"/>
          <a:ext cx="21971001" cy="6278880"/>
        </p:xfrm>
        <a:graphic>
          <a:graphicData uri="http://schemas.openxmlformats.org/drawingml/2006/table">
            <a:tbl>
              <a:tblPr/>
              <a:tblGrid>
                <a:gridCol w="4939120">
                  <a:extLst>
                    <a:ext uri="{9D8B030D-6E8A-4147-A177-3AD203B41FA5}">
                      <a16:colId xmlns:a16="http://schemas.microsoft.com/office/drawing/2014/main" val="3773390381"/>
                    </a:ext>
                  </a:extLst>
                </a:gridCol>
                <a:gridCol w="6889897">
                  <a:extLst>
                    <a:ext uri="{9D8B030D-6E8A-4147-A177-3AD203B41FA5}">
                      <a16:colId xmlns:a16="http://schemas.microsoft.com/office/drawing/2014/main" val="3662527549"/>
                    </a:ext>
                  </a:extLst>
                </a:gridCol>
                <a:gridCol w="10141984">
                  <a:extLst>
                    <a:ext uri="{9D8B030D-6E8A-4147-A177-3AD203B41FA5}">
                      <a16:colId xmlns:a16="http://schemas.microsoft.com/office/drawing/2014/main" val="1129375445"/>
                    </a:ext>
                  </a:extLst>
                </a:gridCol>
              </a:tblGrid>
              <a:tr h="365760">
                <a:tc>
                  <a:txBody>
                    <a:bodyPr/>
                    <a:lstStyle/>
                    <a:p>
                      <a:pPr>
                        <a:buNone/>
                      </a:pPr>
                      <a:endParaRPr lang="en-ID" sz="2800" dirty="0">
                        <a:solidFill>
                          <a:schemeClr val="bg2">
                            <a:lumMod val="10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D" sz="2800" b="1" dirty="0">
                          <a:solidFill>
                            <a:schemeClr val="bg2">
                              <a:lumMod val="10000"/>
                            </a:schemeClr>
                          </a:solidFill>
                        </a:rPr>
                        <a:t>Programming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D" sz="2800" b="1" dirty="0">
                          <a:solidFill>
                            <a:schemeClr val="bg2">
                              <a:lumMod val="10000"/>
                            </a:schemeClr>
                          </a:solidFill>
                        </a:rPr>
                        <a:t>Software Engineering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72457669"/>
                  </a:ext>
                </a:extLst>
              </a:tr>
              <a:tr h="365760">
                <a:tc>
                  <a:txBody>
                    <a:bodyPr/>
                    <a:lstStyle/>
                    <a:p>
                      <a:pPr algn="l">
                        <a:buNone/>
                      </a:pPr>
                      <a:r>
                        <a:rPr lang="en-ID" sz="2800" dirty="0">
                          <a:solidFill>
                            <a:schemeClr val="bg2">
                              <a:lumMod val="10000"/>
                            </a:schemeClr>
                          </a:solidFill>
                        </a:rPr>
                        <a:t>Core idea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2800" dirty="0">
                          <a:solidFill>
                            <a:schemeClr val="bg2">
                              <a:lumMod val="10000"/>
                            </a:schemeClr>
                          </a:solidFill>
                        </a:rPr>
                        <a:t>Immediate act of producing code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2800">
                          <a:solidFill>
                            <a:schemeClr val="bg2">
                              <a:lumMod val="10000"/>
                            </a:schemeClr>
                          </a:solidFill>
                        </a:rPr>
                        <a:t>“Programming integrated over time” (building + sustaining software)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49961915"/>
                  </a:ext>
                </a:extLst>
              </a:tr>
              <a:tr h="365760">
                <a:tc>
                  <a:txBody>
                    <a:bodyPr/>
                    <a:lstStyle/>
                    <a:p>
                      <a:pPr algn="l">
                        <a:buNone/>
                      </a:pPr>
                      <a:r>
                        <a:rPr lang="en-ID" sz="2800">
                          <a:solidFill>
                            <a:schemeClr val="bg2">
                              <a:lumMod val="10000"/>
                            </a:schemeClr>
                          </a:solidFill>
                        </a:rPr>
                        <a:t>Primary focus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2800" dirty="0">
                          <a:solidFill>
                            <a:schemeClr val="bg2">
                              <a:lumMod val="10000"/>
                            </a:schemeClr>
                          </a:solidFill>
                        </a:rPr>
                        <a:t>Development (write code to make it work)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fr-FR" sz="2800" dirty="0" err="1">
                          <a:solidFill>
                            <a:schemeClr val="bg2">
                              <a:lumMod val="10000"/>
                            </a:schemeClr>
                          </a:solidFill>
                        </a:rPr>
                        <a:t>Development</a:t>
                      </a:r>
                      <a:r>
                        <a:rPr lang="fr-FR" sz="2800" dirty="0">
                          <a:solidFill>
                            <a:schemeClr val="bg2">
                              <a:lumMod val="10000"/>
                            </a:schemeClr>
                          </a:solidFill>
                        </a:rPr>
                        <a:t> </a:t>
                      </a:r>
                      <a:r>
                        <a:rPr lang="fr-FR" sz="2800" b="1" dirty="0">
                          <a:solidFill>
                            <a:schemeClr val="bg2">
                              <a:lumMod val="10000"/>
                            </a:schemeClr>
                          </a:solidFill>
                        </a:rPr>
                        <a:t>plus</a:t>
                      </a:r>
                      <a:r>
                        <a:rPr lang="fr-FR" sz="2800" dirty="0">
                          <a:solidFill>
                            <a:schemeClr val="bg2">
                              <a:lumMod val="10000"/>
                            </a:schemeClr>
                          </a:solidFill>
                        </a:rPr>
                        <a:t> modification, maintenance, </a:t>
                      </a:r>
                      <a:r>
                        <a:rPr lang="fr-FR" sz="2800" dirty="0" err="1">
                          <a:solidFill>
                            <a:schemeClr val="bg2">
                              <a:lumMod val="10000"/>
                            </a:schemeClr>
                          </a:solidFill>
                        </a:rPr>
                        <a:t>evolution</a:t>
                      </a:r>
                      <a:endParaRPr lang="fr-FR" sz="2800" dirty="0">
                        <a:solidFill>
                          <a:schemeClr val="bg2">
                            <a:lumMod val="10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71378115"/>
                  </a:ext>
                </a:extLst>
              </a:tr>
              <a:tr h="640080">
                <a:tc>
                  <a:txBody>
                    <a:bodyPr/>
                    <a:lstStyle/>
                    <a:p>
                      <a:pPr algn="l">
                        <a:buNone/>
                      </a:pPr>
                      <a:r>
                        <a:rPr lang="en-ID" sz="2800">
                          <a:solidFill>
                            <a:schemeClr val="bg2">
                              <a:lumMod val="10000"/>
                            </a:schemeClr>
                          </a:solidFill>
                        </a:rPr>
                        <a:t>Typical activities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D" sz="2800" dirty="0">
                          <a:solidFill>
                            <a:schemeClr val="bg2">
                              <a:lumMod val="10000"/>
                            </a:schemeClr>
                          </a:solidFill>
                        </a:rPr>
                        <a:t>Coding, debugging, small refactors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D" sz="2800" dirty="0">
                          <a:solidFill>
                            <a:schemeClr val="bg2">
                              <a:lumMod val="10000"/>
                            </a:schemeClr>
                          </a:solidFill>
                        </a:rPr>
                        <a:t>Requirements, architecture/design, coding, testing, CI/CD, documentation, reviews, monitoring, maintenance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59548007"/>
                  </a:ext>
                </a:extLst>
              </a:tr>
              <a:tr h="365760">
                <a:tc>
                  <a:txBody>
                    <a:bodyPr/>
                    <a:lstStyle/>
                    <a:p>
                      <a:pPr algn="l">
                        <a:buNone/>
                      </a:pPr>
                      <a:r>
                        <a:rPr lang="en-ID" sz="2800">
                          <a:solidFill>
                            <a:schemeClr val="bg2">
                              <a:lumMod val="10000"/>
                            </a:schemeClr>
                          </a:solidFill>
                        </a:rPr>
                        <a:t>Team collaboration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2800">
                          <a:solidFill>
                            <a:schemeClr val="bg2">
                              <a:lumMod val="10000"/>
                            </a:schemeClr>
                          </a:solidFill>
                        </a:rPr>
                        <a:t>Can be solo or small team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2800">
                          <a:solidFill>
                            <a:schemeClr val="bg2">
                              <a:lumMod val="10000"/>
                            </a:schemeClr>
                          </a:solidFill>
                        </a:rPr>
                        <a:t>Designed for teamwork: standards, processes, shared tooling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9083405"/>
                  </a:ext>
                </a:extLst>
              </a:tr>
              <a:tr h="365760">
                <a:tc>
                  <a:txBody>
                    <a:bodyPr/>
                    <a:lstStyle/>
                    <a:p>
                      <a:pPr algn="l">
                        <a:buNone/>
                      </a:pPr>
                      <a:r>
                        <a:rPr lang="en-ID" sz="2800">
                          <a:solidFill>
                            <a:schemeClr val="bg2">
                              <a:lumMod val="10000"/>
                            </a:schemeClr>
                          </a:solidFill>
                        </a:rPr>
                        <a:t>Quality attributes emphasized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D" sz="2800" dirty="0">
                          <a:solidFill>
                            <a:schemeClr val="bg2">
                              <a:lumMod val="10000"/>
                            </a:schemeClr>
                          </a:solidFill>
                        </a:rPr>
                        <a:t>Functionality, basic correctness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2800" dirty="0">
                          <a:solidFill>
                            <a:schemeClr val="bg2">
                              <a:lumMod val="10000"/>
                            </a:schemeClr>
                          </a:solidFill>
                        </a:rPr>
                        <a:t>Maintainability, reliability, scalability, security, usability, performance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33467546"/>
                  </a:ext>
                </a:extLst>
              </a:tr>
              <a:tr h="640080">
                <a:tc>
                  <a:txBody>
                    <a:bodyPr/>
                    <a:lstStyle/>
                    <a:p>
                      <a:pPr algn="l">
                        <a:buNone/>
                      </a:pPr>
                      <a:r>
                        <a:rPr lang="en-ID" sz="2800">
                          <a:solidFill>
                            <a:schemeClr val="bg2">
                              <a:lumMod val="10000"/>
                            </a:schemeClr>
                          </a:solidFill>
                        </a:rPr>
                        <a:t>Deliverable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D" sz="2800">
                          <a:solidFill>
                            <a:schemeClr val="bg2">
                              <a:lumMod val="10000"/>
                            </a:schemeClr>
                          </a:solidFill>
                        </a:rPr>
                        <a:t>Working code / feature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2800" dirty="0">
                          <a:solidFill>
                            <a:schemeClr val="bg2">
                              <a:lumMod val="10000"/>
                            </a:schemeClr>
                          </a:solidFill>
                        </a:rPr>
                        <a:t>Working </a:t>
                      </a:r>
                      <a:r>
                        <a:rPr lang="en-US" sz="2800" b="1" dirty="0">
                          <a:solidFill>
                            <a:schemeClr val="bg2">
                              <a:lumMod val="10000"/>
                            </a:schemeClr>
                          </a:solidFill>
                        </a:rPr>
                        <a:t>product/service</a:t>
                      </a:r>
                      <a:r>
                        <a:rPr lang="en-US" sz="2800" dirty="0">
                          <a:solidFill>
                            <a:schemeClr val="bg2">
                              <a:lumMod val="10000"/>
                            </a:schemeClr>
                          </a:solidFill>
                        </a:rPr>
                        <a:t> + </a:t>
                      </a:r>
                      <a:r>
                        <a:rPr lang="en-US" sz="2800" b="1" dirty="0">
                          <a:solidFill>
                            <a:schemeClr val="bg2">
                              <a:lumMod val="10000"/>
                            </a:schemeClr>
                          </a:solidFill>
                        </a:rPr>
                        <a:t>lifecycle support </a:t>
                      </a:r>
                      <a:r>
                        <a:rPr lang="en-US" sz="2800" dirty="0">
                          <a:solidFill>
                            <a:schemeClr val="bg2">
                              <a:lumMod val="10000"/>
                            </a:schemeClr>
                          </a:solidFill>
                        </a:rPr>
                        <a:t>(updates, fixes, operations)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99480582"/>
                  </a:ext>
                </a:extLst>
              </a:tr>
              <a:tr h="640080">
                <a:tc>
                  <a:txBody>
                    <a:bodyPr/>
                    <a:lstStyle/>
                    <a:p>
                      <a:pPr algn="l">
                        <a:buNone/>
                      </a:pPr>
                      <a:r>
                        <a:rPr lang="en-ID" sz="2800">
                          <a:solidFill>
                            <a:schemeClr val="bg2">
                              <a:lumMod val="10000"/>
                            </a:schemeClr>
                          </a:solidFill>
                        </a:rPr>
                        <a:t>Success metric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D" sz="2800">
                          <a:solidFill>
                            <a:schemeClr val="bg2">
                              <a:lumMod val="10000"/>
                            </a:schemeClr>
                          </a:solidFill>
                        </a:rPr>
                        <a:t>Feature works / passes tests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2800" dirty="0">
                          <a:solidFill>
                            <a:schemeClr val="bg2">
                              <a:lumMod val="10000"/>
                            </a:schemeClr>
                          </a:solidFill>
                        </a:rPr>
                        <a:t>Software stays valuable: fewer regressions, easier change, stable delivery, manageable cost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66984868"/>
                  </a:ext>
                </a:extLst>
              </a:tr>
            </a:tbl>
          </a:graphicData>
        </a:graphic>
      </p:graphicFrame>
    </p:spTree>
    <p:extLst>
      <p:ext uri="{BB962C8B-B14F-4D97-AF65-F5344CB8AC3E}">
        <p14:creationId xmlns:p14="http://schemas.microsoft.com/office/powerpoint/2010/main" val="2905336741"/>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What is Software Engineering?</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0773371" cy="803546"/>
          </a:xfrm>
        </p:spPr>
        <p:txBody>
          <a:bodyPr>
            <a:normAutofit/>
          </a:bodyPr>
          <a:lstStyle/>
          <a:p>
            <a:r>
              <a:rPr lang="en-US" dirty="0"/>
              <a:t>Software Engineering Layers</a:t>
            </a:r>
          </a:p>
        </p:txBody>
      </p:sp>
      <p:pic>
        <p:nvPicPr>
          <p:cNvPr id="5" name="Picture 4" descr="A diagram of a quality focus&#10;&#10;Description automatically generated">
            <a:extLst>
              <a:ext uri="{FF2B5EF4-FFF2-40B4-BE49-F238E27FC236}">
                <a16:creationId xmlns:a16="http://schemas.microsoft.com/office/drawing/2014/main" id="{2A80BD3D-4DF0-20D2-436E-94E601D74A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6498" y="4624567"/>
            <a:ext cx="10033085" cy="2941354"/>
          </a:xfrm>
          <a:prstGeom prst="rect">
            <a:avLst/>
          </a:prstGeom>
        </p:spPr>
      </p:pic>
      <p:graphicFrame>
        <p:nvGraphicFramePr>
          <p:cNvPr id="8" name="Table 7">
            <a:extLst>
              <a:ext uri="{FF2B5EF4-FFF2-40B4-BE49-F238E27FC236}">
                <a16:creationId xmlns:a16="http://schemas.microsoft.com/office/drawing/2014/main" id="{6F836C94-4D3C-C46B-09C1-8FEF90C65C65}"/>
              </a:ext>
            </a:extLst>
          </p:cNvPr>
          <p:cNvGraphicFramePr>
            <a:graphicFrameLocks noGrp="1"/>
          </p:cNvGraphicFramePr>
          <p:nvPr>
            <p:extLst>
              <p:ext uri="{D42A27DB-BD31-4B8C-83A1-F6EECF244321}">
                <p14:modId xmlns:p14="http://schemas.microsoft.com/office/powerpoint/2010/main" val="184021663"/>
              </p:ext>
            </p:extLst>
          </p:nvPr>
        </p:nvGraphicFramePr>
        <p:xfrm>
          <a:off x="11584862" y="4571295"/>
          <a:ext cx="11592642" cy="5730240"/>
        </p:xfrm>
        <a:graphic>
          <a:graphicData uri="http://schemas.openxmlformats.org/drawingml/2006/table">
            <a:tbl>
              <a:tblPr/>
              <a:tblGrid>
                <a:gridCol w="2455604">
                  <a:extLst>
                    <a:ext uri="{9D8B030D-6E8A-4147-A177-3AD203B41FA5}">
                      <a16:colId xmlns:a16="http://schemas.microsoft.com/office/drawing/2014/main" val="108788450"/>
                    </a:ext>
                  </a:extLst>
                </a:gridCol>
                <a:gridCol w="3716593">
                  <a:extLst>
                    <a:ext uri="{9D8B030D-6E8A-4147-A177-3AD203B41FA5}">
                      <a16:colId xmlns:a16="http://schemas.microsoft.com/office/drawing/2014/main" val="2807339928"/>
                    </a:ext>
                  </a:extLst>
                </a:gridCol>
                <a:gridCol w="5420445">
                  <a:extLst>
                    <a:ext uri="{9D8B030D-6E8A-4147-A177-3AD203B41FA5}">
                      <a16:colId xmlns:a16="http://schemas.microsoft.com/office/drawing/2014/main" val="3542943569"/>
                    </a:ext>
                  </a:extLst>
                </a:gridCol>
              </a:tblGrid>
              <a:tr h="0">
                <a:tc>
                  <a:txBody>
                    <a:bodyPr/>
                    <a:lstStyle/>
                    <a:p>
                      <a:pPr>
                        <a:buNone/>
                      </a:pPr>
                      <a:r>
                        <a:rPr lang="en-ID" sz="3200" b="1" dirty="0">
                          <a:solidFill>
                            <a:schemeClr val="bg2">
                              <a:lumMod val="10000"/>
                            </a:schemeClr>
                          </a:solidFill>
                        </a:rPr>
                        <a:t>Layer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D" sz="3200" b="1" dirty="0">
                          <a:solidFill>
                            <a:schemeClr val="bg2">
                              <a:lumMod val="10000"/>
                            </a:schemeClr>
                          </a:solidFill>
                        </a:rPr>
                        <a:t>What it 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D" sz="3200" b="1" dirty="0">
                          <a:solidFill>
                            <a:schemeClr val="bg2">
                              <a:lumMod val="10000"/>
                            </a:schemeClr>
                          </a:solidFill>
                        </a:rPr>
                        <a:t>What it does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15088619"/>
                  </a:ext>
                </a:extLst>
              </a:tr>
              <a:tr h="0">
                <a:tc>
                  <a:txBody>
                    <a:bodyPr/>
                    <a:lstStyle/>
                    <a:p>
                      <a:pPr>
                        <a:buNone/>
                      </a:pPr>
                      <a:r>
                        <a:rPr lang="en-ID" sz="3200" b="1" dirty="0">
                          <a:solidFill>
                            <a:schemeClr val="bg2">
                              <a:lumMod val="10000"/>
                            </a:schemeClr>
                          </a:solidFill>
                        </a:rPr>
                        <a:t>Process</a:t>
                      </a:r>
                      <a:r>
                        <a:rPr lang="en-ID" sz="3200" dirty="0">
                          <a:solidFill>
                            <a:schemeClr val="bg2">
                              <a:lumMod val="10000"/>
                            </a:schemeClr>
                          </a:solidFill>
                        </a:rPr>
                        <a:t> </a:t>
                      </a:r>
                    </a:p>
                    <a:p>
                      <a:pPr>
                        <a:buNone/>
                      </a:pPr>
                      <a:r>
                        <a:rPr lang="en-ID" sz="3200" i="1" dirty="0">
                          <a:solidFill>
                            <a:schemeClr val="bg2">
                              <a:lumMod val="10000"/>
                            </a:schemeClr>
                          </a:solidFill>
                        </a:rPr>
                        <a:t>(foundation)</a:t>
                      </a:r>
                      <a:endParaRPr lang="en-ID" sz="3200" dirty="0">
                        <a:solidFill>
                          <a:schemeClr val="bg2">
                            <a:lumMod val="10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a:solidFill>
                            <a:schemeClr val="bg2">
                              <a:lumMod val="10000"/>
                            </a:schemeClr>
                          </a:solidFill>
                        </a:rPr>
                        <a:t>The framework for doing and managing the work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a:solidFill>
                            <a:schemeClr val="bg2">
                              <a:lumMod val="10000"/>
                            </a:schemeClr>
                          </a:solidFill>
                        </a:rPr>
                        <a:t>Defines activities, milestones, roles, and change control to deliver software effectively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5226261"/>
                  </a:ext>
                </a:extLst>
              </a:tr>
              <a:tr h="0">
                <a:tc>
                  <a:txBody>
                    <a:bodyPr/>
                    <a:lstStyle/>
                    <a:p>
                      <a:pPr>
                        <a:buNone/>
                      </a:pPr>
                      <a:r>
                        <a:rPr lang="en-ID" sz="3200" b="1">
                          <a:solidFill>
                            <a:schemeClr val="bg2">
                              <a:lumMod val="10000"/>
                            </a:schemeClr>
                          </a:solidFill>
                        </a:rPr>
                        <a:t>Methods</a:t>
                      </a:r>
                      <a:endParaRPr lang="en-ID" sz="3200">
                        <a:solidFill>
                          <a:schemeClr val="bg2">
                            <a:lumMod val="10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a:solidFill>
                            <a:schemeClr val="bg2">
                              <a:lumMod val="10000"/>
                            </a:schemeClr>
                          </a:solidFill>
                        </a:rPr>
                        <a:t>Technical “how-to” for building software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a:solidFill>
                            <a:schemeClr val="bg2">
                              <a:lumMod val="10000"/>
                            </a:schemeClr>
                          </a:solidFill>
                        </a:rPr>
                        <a:t>Guides communication, requirements, design, coding, testing, and support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9502071"/>
                  </a:ext>
                </a:extLst>
              </a:tr>
              <a:tr h="0">
                <a:tc>
                  <a:txBody>
                    <a:bodyPr/>
                    <a:lstStyle/>
                    <a:p>
                      <a:pPr>
                        <a:buNone/>
                      </a:pPr>
                      <a:r>
                        <a:rPr lang="en-ID" sz="3200" b="1">
                          <a:solidFill>
                            <a:schemeClr val="bg2">
                              <a:lumMod val="10000"/>
                            </a:schemeClr>
                          </a:solidFill>
                        </a:rPr>
                        <a:t>Tools</a:t>
                      </a:r>
                      <a:endParaRPr lang="en-ID" sz="3200">
                        <a:solidFill>
                          <a:schemeClr val="bg2">
                            <a:lumMod val="10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D" sz="3200">
                          <a:solidFill>
                            <a:schemeClr val="bg2">
                              <a:lumMod val="10000"/>
                            </a:schemeClr>
                          </a:solidFill>
                        </a:rPr>
                        <a:t>Automated/semi-automated support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dirty="0">
                          <a:solidFill>
                            <a:schemeClr val="bg2">
                              <a:lumMod val="10000"/>
                            </a:schemeClr>
                          </a:solidFill>
                        </a:rPr>
                        <a:t>Helps execute the process &amp; methods efficiently; integrates workflows (CASE)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64751731"/>
                  </a:ext>
                </a:extLst>
              </a:tr>
            </a:tbl>
          </a:graphicData>
        </a:graphic>
      </p:graphicFrame>
      <p:sp>
        <p:nvSpPr>
          <p:cNvPr id="10" name="TextBox 9">
            <a:extLst>
              <a:ext uri="{FF2B5EF4-FFF2-40B4-BE49-F238E27FC236}">
                <a16:creationId xmlns:a16="http://schemas.microsoft.com/office/drawing/2014/main" id="{AC38B670-8C95-24DD-B103-518C4D26BE1A}"/>
              </a:ext>
            </a:extLst>
          </p:cNvPr>
          <p:cNvSpPr txBox="1"/>
          <p:nvPr/>
        </p:nvSpPr>
        <p:spPr>
          <a:xfrm>
            <a:off x="1206497" y="8315398"/>
            <a:ext cx="10033086" cy="156966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3200" b="1" dirty="0">
                <a:solidFill>
                  <a:schemeClr val="bg2">
                    <a:lumMod val="10000"/>
                  </a:schemeClr>
                </a:solidFill>
              </a:rPr>
              <a:t>Process</a:t>
            </a:r>
            <a:r>
              <a:rPr lang="en-US" sz="3200" dirty="0">
                <a:solidFill>
                  <a:schemeClr val="bg2">
                    <a:lumMod val="10000"/>
                  </a:schemeClr>
                </a:solidFill>
              </a:rPr>
              <a:t> holds everything together → </a:t>
            </a:r>
            <a:r>
              <a:rPr lang="en-US" sz="3200" b="1" dirty="0">
                <a:solidFill>
                  <a:schemeClr val="bg2">
                    <a:lumMod val="10000"/>
                  </a:schemeClr>
                </a:solidFill>
              </a:rPr>
              <a:t>Methods</a:t>
            </a:r>
            <a:r>
              <a:rPr lang="en-US" sz="3200" dirty="0">
                <a:solidFill>
                  <a:schemeClr val="bg2">
                    <a:lumMod val="10000"/>
                  </a:schemeClr>
                </a:solidFill>
              </a:rPr>
              <a:t> tell </a:t>
            </a:r>
            <a:r>
              <a:rPr lang="en-US" sz="3200" i="1" dirty="0">
                <a:solidFill>
                  <a:schemeClr val="bg2">
                    <a:lumMod val="10000"/>
                  </a:schemeClr>
                </a:solidFill>
              </a:rPr>
              <a:t>how to build</a:t>
            </a:r>
            <a:r>
              <a:rPr lang="en-US" sz="3200" dirty="0">
                <a:solidFill>
                  <a:schemeClr val="bg2">
                    <a:lumMod val="10000"/>
                  </a:schemeClr>
                </a:solidFill>
              </a:rPr>
              <a:t> → </a:t>
            </a:r>
            <a:r>
              <a:rPr lang="en-US" sz="3200" b="1" dirty="0">
                <a:solidFill>
                  <a:schemeClr val="bg2">
                    <a:lumMod val="10000"/>
                  </a:schemeClr>
                </a:solidFill>
              </a:rPr>
              <a:t>Tools</a:t>
            </a:r>
            <a:r>
              <a:rPr lang="en-US" sz="3200" dirty="0">
                <a:solidFill>
                  <a:schemeClr val="bg2">
                    <a:lumMod val="10000"/>
                  </a:schemeClr>
                </a:solidFill>
              </a:rPr>
              <a:t> help you do it faster &amp; consistently — all under a </a:t>
            </a:r>
            <a:r>
              <a:rPr lang="en-US" sz="3200" b="1" dirty="0">
                <a:solidFill>
                  <a:schemeClr val="bg2">
                    <a:lumMod val="10000"/>
                  </a:schemeClr>
                </a:solidFill>
              </a:rPr>
              <a:t>Quality Focus</a:t>
            </a:r>
            <a:r>
              <a:rPr lang="en-US" sz="3200" dirty="0">
                <a:solidFill>
                  <a:schemeClr val="bg2">
                    <a:lumMod val="10000"/>
                  </a:schemeClr>
                </a:solidFill>
              </a:rPr>
              <a:t>.</a:t>
            </a:r>
            <a:endParaRPr lang="en-ID" sz="3200" dirty="0">
              <a:solidFill>
                <a:schemeClr val="bg2">
                  <a:lumMod val="10000"/>
                </a:schemeClr>
              </a:solidFill>
            </a:endParaRPr>
          </a:p>
        </p:txBody>
      </p:sp>
    </p:spTree>
    <p:extLst>
      <p:ext uri="{BB962C8B-B14F-4D97-AF65-F5344CB8AC3E}">
        <p14:creationId xmlns:p14="http://schemas.microsoft.com/office/powerpoint/2010/main" val="4062326829"/>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1BA34-B454-512B-0D2A-27C8823CDD8D}"/>
              </a:ext>
            </a:extLst>
          </p:cNvPr>
          <p:cNvSpPr>
            <a:spLocks noGrp="1"/>
          </p:cNvSpPr>
          <p:nvPr>
            <p:ph type="title"/>
          </p:nvPr>
        </p:nvSpPr>
        <p:spPr>
          <a:xfrm>
            <a:off x="1206498" y="4533900"/>
            <a:ext cx="21971004" cy="4648200"/>
          </a:xfrm>
        </p:spPr>
        <p:txBody>
          <a:bodyPr>
            <a:noAutofit/>
          </a:bodyPr>
          <a:lstStyle/>
          <a:p>
            <a:r>
              <a:rPr lang="en-US" sz="6000" cap="none" dirty="0"/>
              <a:t>We’ve Seen The Layers. Now Here’s What Happens When Process/Requirements/Change Control Are Weak</a:t>
            </a:r>
            <a:br>
              <a:rPr lang="en-US" sz="6000" cap="none" dirty="0"/>
            </a:br>
            <a:br>
              <a:rPr lang="en-US" sz="6000" cap="none" dirty="0"/>
            </a:br>
            <a:r>
              <a:rPr lang="en-US" sz="6000" cap="none" dirty="0"/>
              <a:t>- Vasa Syndrome -</a:t>
            </a:r>
            <a:endParaRPr lang="en-ID" sz="6000" cap="none" dirty="0"/>
          </a:p>
        </p:txBody>
      </p:sp>
    </p:spTree>
    <p:extLst>
      <p:ext uri="{BB962C8B-B14F-4D97-AF65-F5344CB8AC3E}">
        <p14:creationId xmlns:p14="http://schemas.microsoft.com/office/powerpoint/2010/main" val="1756884285"/>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Vasa Syndrome</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p:txBody>
          <a:bodyPr/>
          <a:lstStyle/>
          <a:p>
            <a:r>
              <a:rPr lang="en-US" dirty="0"/>
              <a:t>Story of Vasa</a:t>
            </a:r>
          </a:p>
        </p:txBody>
      </p:sp>
      <p:pic>
        <p:nvPicPr>
          <p:cNvPr id="8" name="Picture 7" descr="A close-up of a ship&#10;&#10;AI-generated content may be incorrect.">
            <a:extLst>
              <a:ext uri="{FF2B5EF4-FFF2-40B4-BE49-F238E27FC236}">
                <a16:creationId xmlns:a16="http://schemas.microsoft.com/office/drawing/2014/main" id="{4F29A156-03FA-AF06-EBE5-26F3847C9770}"/>
              </a:ext>
            </a:extLst>
          </p:cNvPr>
          <p:cNvPicPr>
            <a:picLocks noChangeAspect="1"/>
          </p:cNvPicPr>
          <p:nvPr/>
        </p:nvPicPr>
        <p:blipFill>
          <a:blip r:embed="rId3">
            <a:extLst>
              <a:ext uri="{28A0092B-C50C-407E-A947-70E740481C1C}">
                <a14:useLocalDpi xmlns:a14="http://schemas.microsoft.com/office/drawing/2010/main" val="0"/>
              </a:ext>
            </a:extLst>
          </a:blip>
          <a:srcRect l="41928" t="38132" r="5013" b="22573"/>
          <a:stretch>
            <a:fillRect/>
          </a:stretch>
        </p:blipFill>
        <p:spPr>
          <a:xfrm>
            <a:off x="2268978" y="5504184"/>
            <a:ext cx="6656962" cy="4930027"/>
          </a:xfrm>
          <a:prstGeom prst="rect">
            <a:avLst/>
          </a:prstGeom>
        </p:spPr>
      </p:pic>
      <p:sp>
        <p:nvSpPr>
          <p:cNvPr id="10" name="TextBox 9">
            <a:extLst>
              <a:ext uri="{FF2B5EF4-FFF2-40B4-BE49-F238E27FC236}">
                <a16:creationId xmlns:a16="http://schemas.microsoft.com/office/drawing/2014/main" id="{2551BDAF-7BFD-B964-085A-5BD97AD64578}"/>
              </a:ext>
            </a:extLst>
          </p:cNvPr>
          <p:cNvSpPr txBox="1"/>
          <p:nvPr/>
        </p:nvSpPr>
        <p:spPr>
          <a:xfrm>
            <a:off x="2167377" y="3678897"/>
            <a:ext cx="20049246" cy="12003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Vasa, 17th-century vessel, the mightiest warship of its day, that sank on its maiden voyage, on 10</a:t>
            </a:r>
            <a:r>
              <a:rPr lang="en-US" sz="3600" baseline="300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th</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August 1628 in Baltic Sea</a:t>
            </a:r>
          </a:p>
        </p:txBody>
      </p:sp>
      <p:sp>
        <p:nvSpPr>
          <p:cNvPr id="11" name="Rectangle 5">
            <a:extLst>
              <a:ext uri="{FF2B5EF4-FFF2-40B4-BE49-F238E27FC236}">
                <a16:creationId xmlns:a16="http://schemas.microsoft.com/office/drawing/2014/main" id="{F863CCE9-FDB7-0A7F-62C3-15F0A00411BB}"/>
              </a:ext>
            </a:extLst>
          </p:cNvPr>
          <p:cNvSpPr>
            <a:spLocks noChangeArrowheads="1"/>
          </p:cNvSpPr>
          <p:nvPr/>
        </p:nvSpPr>
        <p:spPr bwMode="auto">
          <a:xfrm>
            <a:off x="9310255" y="5334849"/>
            <a:ext cx="12906368" cy="7294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71500" lvl="0" indent="-571500" algn="just" defTabSz="914400" eaLnBrk="0" fontAlgn="base">
              <a:spcBef>
                <a:spcPct val="0"/>
              </a:spcBef>
              <a:spcAft>
                <a:spcPct val="0"/>
              </a:spcAft>
              <a:buFont typeface="Arial" panose="020B0604020202020204" pitchFamily="34" charset="0"/>
              <a:buChar char="•"/>
            </a:pPr>
            <a:r>
              <a:rPr lang="en-US" alt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Vasa (1628)</a:t>
            </a:r>
            <a:r>
              <a:rPr lang="en-US" alt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Sweden’s flagship warship, sank on its </a:t>
            </a:r>
            <a:r>
              <a:rPr lang="en-US" alt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maiden voyage</a:t>
            </a:r>
            <a:r>
              <a:rPr lang="en-US" alt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in the Baltic Sea.</a:t>
            </a:r>
          </a:p>
          <a:p>
            <a:pPr marL="571500" lvl="0" indent="-571500" algn="just" defTabSz="914400" eaLnBrk="0" fontAlgn="base">
              <a:spcBef>
                <a:spcPct val="0"/>
              </a:spcBef>
              <a:spcAft>
                <a:spcPct val="0"/>
              </a:spcAft>
              <a:buFont typeface="Arial" panose="020B0604020202020204" pitchFamily="34" charset="0"/>
              <a:buChar char="•"/>
            </a:pPr>
            <a:r>
              <a:rPr lang="en-US" alt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Built during wartime pressure: the King wanted a </a:t>
            </a:r>
            <a:r>
              <a:rPr lang="en-US" alt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stronger naval presence</a:t>
            </a:r>
            <a:r>
              <a:rPr lang="en-US" alt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fast.</a:t>
            </a:r>
          </a:p>
          <a:p>
            <a:pPr marL="571500" lvl="0" indent="-571500" algn="just" defTabSz="914400" eaLnBrk="0" fontAlgn="base">
              <a:spcBef>
                <a:spcPct val="0"/>
              </a:spcBef>
              <a:spcAft>
                <a:spcPct val="0"/>
              </a:spcAft>
              <a:buFont typeface="Arial" panose="020B0604020202020204" pitchFamily="34" charset="0"/>
              <a:buChar char="•"/>
            </a:pPr>
            <a:r>
              <a:rPr lang="en-US" alt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Design kept changing: </a:t>
            </a:r>
            <a:r>
              <a:rPr lang="en-US" alt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more weapons / bigger ship</a:t>
            </a:r>
            <a:r>
              <a:rPr lang="en-US" alt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while deadlines stayed tight.</a:t>
            </a:r>
          </a:p>
          <a:p>
            <a:pPr marL="571500" lvl="0" indent="-571500" algn="just" defTabSz="914400" eaLnBrk="0" fontAlgn="base">
              <a:spcBef>
                <a:spcPct val="0"/>
              </a:spcBef>
              <a:spcAft>
                <a:spcPct val="0"/>
              </a:spcAft>
              <a:buFont typeface="Arial" panose="020B0604020202020204" pitchFamily="34" charset="0"/>
              <a:buChar char="•"/>
            </a:pPr>
            <a:r>
              <a:rPr lang="en-US" alt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Problems piled up: </a:t>
            </a:r>
            <a:r>
              <a:rPr lang="en-US" alt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constant modifications</a:t>
            </a:r>
            <a:r>
              <a:rPr lang="en-US" alt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a:t>
            </a:r>
            <a:r>
              <a:rPr lang="en-US" alt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budget delays</a:t>
            </a:r>
            <a:r>
              <a:rPr lang="en-US" alt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and </a:t>
            </a:r>
            <a:r>
              <a:rPr lang="en-US" alt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loss of key expert(s)</a:t>
            </a:r>
            <a:r>
              <a:rPr lang="en-US" alt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 unstable final design.</a:t>
            </a:r>
          </a:p>
          <a:p>
            <a:pPr marL="571500" lvl="0" indent="-571500" algn="just" defTabSz="914400" eaLnBrk="0" fontAlgn="base">
              <a:spcBef>
                <a:spcPct val="0"/>
              </a:spcBef>
              <a:spcAft>
                <a:spcPct val="0"/>
              </a:spcAft>
              <a:buFont typeface="Arial" panose="020B0604020202020204" pitchFamily="34" charset="0"/>
              <a:buChar char="•"/>
            </a:pPr>
            <a:r>
              <a:rPr lang="en-US" alt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On launch day, with gun ports open, a gust caused heavy </a:t>
            </a:r>
            <a:r>
              <a:rPr lang="en-US" alt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heel (tilt)</a:t>
            </a:r>
            <a:r>
              <a:rPr lang="en-US" alt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 </a:t>
            </a:r>
            <a:r>
              <a:rPr lang="en-US" alt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water entered</a:t>
            </a:r>
            <a:r>
              <a:rPr lang="en-US" alt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 the ship sank near shore.</a:t>
            </a:r>
          </a:p>
          <a:p>
            <a:pPr marL="571500" lvl="0" indent="-571500" algn="just" defTabSz="914400" eaLnBrk="0" fontAlgn="base">
              <a:spcBef>
                <a:spcPct val="0"/>
              </a:spcBef>
              <a:spcAft>
                <a:spcPct val="0"/>
              </a:spcAft>
              <a:buFont typeface="Arial" panose="020B0604020202020204" pitchFamily="34" charset="0"/>
              <a:buChar char="•"/>
            </a:pPr>
            <a:r>
              <a:rPr lang="en-US" alt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Afterward, blame was unclear: decisions were spread across many people, including leadership changes.</a:t>
            </a:r>
          </a:p>
        </p:txBody>
      </p:sp>
    </p:spTree>
    <p:extLst>
      <p:ext uri="{BB962C8B-B14F-4D97-AF65-F5344CB8AC3E}">
        <p14:creationId xmlns:p14="http://schemas.microsoft.com/office/powerpoint/2010/main" val="2643638529"/>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Vasa Syndrome</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1219439" cy="840935"/>
          </a:xfrm>
        </p:spPr>
        <p:txBody>
          <a:bodyPr>
            <a:noAutofit/>
          </a:bodyPr>
          <a:lstStyle/>
          <a:p>
            <a:r>
              <a:rPr lang="en-US" dirty="0"/>
              <a:t>What happened is now called “vasa Syndrome”</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8583279"/>
          </a:xfrm>
        </p:spPr>
        <p:txBody>
          <a:bodyPr anchor="ctr">
            <a:normAutofit/>
          </a:bodyPr>
          <a:lstStyle/>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Changing shipbuilding orders</a:t>
            </a:r>
          </a:p>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No specifications for modified keel</a:t>
            </a:r>
          </a:p>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Shifting armaments requirements</a:t>
            </a:r>
          </a:p>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Shipwright’s death</a:t>
            </a:r>
          </a:p>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No way to calculate stability, stiffness, or sailing characteristics</a:t>
            </a:r>
          </a:p>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Failed pre-launch stability tests</a:t>
            </a:r>
          </a:p>
        </p:txBody>
      </p:sp>
    </p:spTree>
    <p:extLst>
      <p:ext uri="{BB962C8B-B14F-4D97-AF65-F5344CB8AC3E}">
        <p14:creationId xmlns:p14="http://schemas.microsoft.com/office/powerpoint/2010/main" val="2486063432"/>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ounded Rectangle 8">
            <a:extLst>
              <a:ext uri="{FF2B5EF4-FFF2-40B4-BE49-F238E27FC236}">
                <a16:creationId xmlns:a16="http://schemas.microsoft.com/office/drawing/2014/main" id="{1124F78D-8A5E-4BDB-A574-14BE4C245AC6}"/>
              </a:ext>
            </a:extLst>
          </p:cNvPr>
          <p:cNvSpPr/>
          <p:nvPr/>
        </p:nvSpPr>
        <p:spPr>
          <a:xfrm>
            <a:off x="1921564" y="9924536"/>
            <a:ext cx="17037491" cy="909032"/>
          </a:xfrm>
          <a:prstGeom prst="roundRect">
            <a:avLst/>
          </a:prstGeom>
          <a:solidFill>
            <a:schemeClr val="accent1">
              <a:lumMod val="40000"/>
              <a:lumOff val="60000"/>
            </a:schemeClr>
          </a:solidFill>
          <a:ln w="12700" cap="flat">
            <a:solidFill>
              <a:srgbClr val="7030A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panose="020B0606030504020204" pitchFamily="34" charset="0"/>
              <a:ea typeface="Open Sans" panose="020B0606030504020204" pitchFamily="34" charset="0"/>
              <a:cs typeface="Open Sans" panose="020B0606030504020204" pitchFamily="34" charset="0"/>
              <a:sym typeface="Helvetica Neue Medium"/>
            </a:endParaRPr>
          </a:p>
        </p:txBody>
      </p:sp>
      <p:sp>
        <p:nvSpPr>
          <p:cNvPr id="8" name="Rounded Rectangle 7">
            <a:extLst>
              <a:ext uri="{FF2B5EF4-FFF2-40B4-BE49-F238E27FC236}">
                <a16:creationId xmlns:a16="http://schemas.microsoft.com/office/drawing/2014/main" id="{9F87D8E7-09F2-B18B-F1B3-DD43D27ADD29}"/>
              </a:ext>
            </a:extLst>
          </p:cNvPr>
          <p:cNvSpPr/>
          <p:nvPr/>
        </p:nvSpPr>
        <p:spPr>
          <a:xfrm>
            <a:off x="1927139" y="8778539"/>
            <a:ext cx="17037491" cy="909032"/>
          </a:xfrm>
          <a:prstGeom prst="roundRect">
            <a:avLst/>
          </a:prstGeom>
          <a:solidFill>
            <a:schemeClr val="accent1">
              <a:lumMod val="40000"/>
              <a:lumOff val="60000"/>
            </a:schemeClr>
          </a:solidFill>
          <a:ln w="12700" cap="flat">
            <a:solidFill>
              <a:srgbClr val="7030A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panose="020B0606030504020204" pitchFamily="34" charset="0"/>
              <a:ea typeface="Open Sans" panose="020B0606030504020204" pitchFamily="34" charset="0"/>
              <a:cs typeface="Open Sans" panose="020B0606030504020204" pitchFamily="34" charset="0"/>
              <a:sym typeface="Helvetica Neue Medium"/>
            </a:endParaRPr>
          </a:p>
        </p:txBody>
      </p:sp>
      <p:sp>
        <p:nvSpPr>
          <p:cNvPr id="7" name="Rounded Rectangle 6">
            <a:extLst>
              <a:ext uri="{FF2B5EF4-FFF2-40B4-BE49-F238E27FC236}">
                <a16:creationId xmlns:a16="http://schemas.microsoft.com/office/drawing/2014/main" id="{2CD1F245-A37C-FAF0-9A39-A43C4CC660F0}"/>
              </a:ext>
            </a:extLst>
          </p:cNvPr>
          <p:cNvSpPr/>
          <p:nvPr/>
        </p:nvSpPr>
        <p:spPr>
          <a:xfrm>
            <a:off x="1921565" y="7639257"/>
            <a:ext cx="17043066" cy="909032"/>
          </a:xfrm>
          <a:prstGeom prst="roundRect">
            <a:avLst/>
          </a:prstGeom>
          <a:solidFill>
            <a:schemeClr val="accent1">
              <a:lumMod val="40000"/>
              <a:lumOff val="60000"/>
            </a:schemeClr>
          </a:solidFill>
          <a:ln w="12700" cap="flat">
            <a:solidFill>
              <a:srgbClr val="7030A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panose="020B0606030504020204" pitchFamily="34" charset="0"/>
              <a:ea typeface="Open Sans" panose="020B0606030504020204" pitchFamily="34" charset="0"/>
              <a:cs typeface="Open Sans" panose="020B0606030504020204" pitchFamily="34" charset="0"/>
              <a:sym typeface="Helvetica Neue Medium"/>
            </a:endParaRPr>
          </a:p>
        </p:txBody>
      </p:sp>
      <p:sp>
        <p:nvSpPr>
          <p:cNvPr id="5" name="Rounded Rectangle 4">
            <a:extLst>
              <a:ext uri="{FF2B5EF4-FFF2-40B4-BE49-F238E27FC236}">
                <a16:creationId xmlns:a16="http://schemas.microsoft.com/office/drawing/2014/main" id="{F55FFBD6-377D-89BA-8243-E1BD93CB375E}"/>
              </a:ext>
            </a:extLst>
          </p:cNvPr>
          <p:cNvSpPr/>
          <p:nvPr/>
        </p:nvSpPr>
        <p:spPr>
          <a:xfrm>
            <a:off x="1921565" y="4101599"/>
            <a:ext cx="17043066" cy="3402498"/>
          </a:xfrm>
          <a:prstGeom prst="roundRect">
            <a:avLst/>
          </a:prstGeom>
          <a:solidFill>
            <a:schemeClr val="accent1">
              <a:lumMod val="40000"/>
              <a:lumOff val="60000"/>
            </a:schemeClr>
          </a:solidFill>
          <a:ln w="12700" cap="flat">
            <a:solidFill>
              <a:srgbClr val="7030A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panose="020B0606030504020204" pitchFamily="34" charset="0"/>
              <a:ea typeface="Open Sans" panose="020B0606030504020204" pitchFamily="34" charset="0"/>
              <a:cs typeface="Open Sans" panose="020B0606030504020204" pitchFamily="34" charset="0"/>
              <a:sym typeface="Helvetica Neue Medium"/>
            </a:endParaRPr>
          </a:p>
        </p:txBody>
      </p:sp>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Vasa Syndrome</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2170415" cy="840935"/>
          </a:xfrm>
        </p:spPr>
        <p:txBody>
          <a:bodyPr>
            <a:normAutofit/>
          </a:bodyPr>
          <a:lstStyle/>
          <a:p>
            <a:r>
              <a:rPr lang="en-US" dirty="0"/>
              <a:t>What happened is now called “vasa Syndrome”</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8583279"/>
          </a:xfrm>
        </p:spPr>
        <p:txBody>
          <a:bodyPr anchor="ctr">
            <a:normAutofit/>
          </a:bodyPr>
          <a:lstStyle/>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Changing shipbuilding orders</a:t>
            </a:r>
          </a:p>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No specifications for modified keel</a:t>
            </a:r>
          </a:p>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Shifting armaments requirements</a:t>
            </a:r>
          </a:p>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Shipwright’s death</a:t>
            </a:r>
          </a:p>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No way to calculate stability, stiffness, or sailing characteristics</a:t>
            </a:r>
          </a:p>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Failed pre-launch stability tests</a:t>
            </a:r>
          </a:p>
        </p:txBody>
      </p:sp>
      <p:sp>
        <p:nvSpPr>
          <p:cNvPr id="10" name="TextBox 9">
            <a:extLst>
              <a:ext uri="{FF2B5EF4-FFF2-40B4-BE49-F238E27FC236}">
                <a16:creationId xmlns:a16="http://schemas.microsoft.com/office/drawing/2014/main" id="{1857B764-E946-0F37-4FA2-803720D40909}"/>
              </a:ext>
            </a:extLst>
          </p:cNvPr>
          <p:cNvSpPr txBox="1"/>
          <p:nvPr/>
        </p:nvSpPr>
        <p:spPr>
          <a:xfrm>
            <a:off x="15718550" y="5474553"/>
            <a:ext cx="3356689" cy="65659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3600" b="1" i="0" u="none" strike="noStrike" cap="none" spc="0" normalizeH="0" baseline="0" dirty="0">
                <a:ln>
                  <a:noFill/>
                </a:ln>
                <a:solidFill>
                  <a:schemeClr val="bg2">
                    <a:lumMod val="10000"/>
                  </a:schemeClr>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rPr>
              <a:t>Requirements</a:t>
            </a:r>
          </a:p>
        </p:txBody>
      </p:sp>
      <p:sp>
        <p:nvSpPr>
          <p:cNvPr id="11" name="TextBox 10">
            <a:extLst>
              <a:ext uri="{FF2B5EF4-FFF2-40B4-BE49-F238E27FC236}">
                <a16:creationId xmlns:a16="http://schemas.microsoft.com/office/drawing/2014/main" id="{60015090-CD33-CC8C-65CD-B05A568AE747}"/>
              </a:ext>
            </a:extLst>
          </p:cNvPr>
          <p:cNvSpPr txBox="1"/>
          <p:nvPr/>
        </p:nvSpPr>
        <p:spPr>
          <a:xfrm>
            <a:off x="16594592" y="7765478"/>
            <a:ext cx="1604606" cy="65659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3600" b="1" i="0" u="none" strike="noStrike" cap="none" spc="0" normalizeH="0" baseline="0" dirty="0">
                <a:ln>
                  <a:noFill/>
                </a:ln>
                <a:solidFill>
                  <a:schemeClr val="bg2">
                    <a:lumMod val="10000"/>
                  </a:schemeClr>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rPr>
              <a:t>Teams</a:t>
            </a:r>
          </a:p>
        </p:txBody>
      </p:sp>
      <p:sp>
        <p:nvSpPr>
          <p:cNvPr id="12" name="TextBox 11">
            <a:extLst>
              <a:ext uri="{FF2B5EF4-FFF2-40B4-BE49-F238E27FC236}">
                <a16:creationId xmlns:a16="http://schemas.microsoft.com/office/drawing/2014/main" id="{1B6CF2F8-7104-C6BE-A206-A37672EAC5BB}"/>
              </a:ext>
            </a:extLst>
          </p:cNvPr>
          <p:cNvSpPr txBox="1"/>
          <p:nvPr/>
        </p:nvSpPr>
        <p:spPr>
          <a:xfrm>
            <a:off x="16482382" y="8920957"/>
            <a:ext cx="1829027" cy="65659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3600" b="1" i="0" u="none" strike="noStrike" cap="none" spc="0" normalizeH="0" baseline="0" dirty="0">
                <a:ln>
                  <a:noFill/>
                </a:ln>
                <a:solidFill>
                  <a:schemeClr val="bg2">
                    <a:lumMod val="10000"/>
                  </a:schemeClr>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rPr>
              <a:t>Metrics</a:t>
            </a:r>
          </a:p>
        </p:txBody>
      </p:sp>
      <p:sp>
        <p:nvSpPr>
          <p:cNvPr id="13" name="TextBox 12">
            <a:extLst>
              <a:ext uri="{FF2B5EF4-FFF2-40B4-BE49-F238E27FC236}">
                <a16:creationId xmlns:a16="http://schemas.microsoft.com/office/drawing/2014/main" id="{4DAA82FD-2EC0-A3A7-231B-2579413D301D}"/>
              </a:ext>
            </a:extLst>
          </p:cNvPr>
          <p:cNvSpPr txBox="1"/>
          <p:nvPr/>
        </p:nvSpPr>
        <p:spPr>
          <a:xfrm>
            <a:off x="17002555" y="10032201"/>
            <a:ext cx="788678" cy="65659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3600" b="1" i="0" u="none" strike="noStrike" cap="none" spc="0" normalizeH="0" baseline="0" dirty="0">
                <a:ln>
                  <a:noFill/>
                </a:ln>
                <a:solidFill>
                  <a:schemeClr val="bg2">
                    <a:lumMod val="10000"/>
                  </a:schemeClr>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rPr>
              <a:t>QA</a:t>
            </a:r>
          </a:p>
        </p:txBody>
      </p:sp>
    </p:spTree>
    <p:extLst>
      <p:ext uri="{BB962C8B-B14F-4D97-AF65-F5344CB8AC3E}">
        <p14:creationId xmlns:p14="http://schemas.microsoft.com/office/powerpoint/2010/main" val="3246647878"/>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The </a:t>
            </a:r>
            <a:r>
              <a:rPr lang="en-US" dirty="0" err="1"/>
              <a:t>Crowdstrike</a:t>
            </a:r>
            <a:r>
              <a:rPr lang="en-US" dirty="0"/>
              <a:t> incident</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0773371" cy="803546"/>
          </a:xfrm>
        </p:spPr>
        <p:txBody>
          <a:bodyPr>
            <a:normAutofit/>
          </a:bodyPr>
          <a:lstStyle/>
          <a:p>
            <a:r>
              <a:rPr lang="en-US" dirty="0"/>
              <a:t>Latest issue in software (2024)</a:t>
            </a:r>
          </a:p>
        </p:txBody>
      </p:sp>
      <p:pic>
        <p:nvPicPr>
          <p:cNvPr id="16" name="Content Placeholder 15" descr="A close-up of a white background&#10;&#10;Description automatically generated">
            <a:extLst>
              <a:ext uri="{FF2B5EF4-FFF2-40B4-BE49-F238E27FC236}">
                <a16:creationId xmlns:a16="http://schemas.microsoft.com/office/drawing/2014/main" id="{4A30B159-0822-D28E-2872-F9BAF261A987}"/>
              </a:ext>
            </a:extLst>
          </p:cNvPr>
          <p:cNvPicPr>
            <a:picLocks noGrp="1" noChangeAspect="1"/>
          </p:cNvPicPr>
          <p:nvPr>
            <p:ph sz="quarter" idx="11"/>
          </p:nvPr>
        </p:nvPicPr>
        <p:blipFill>
          <a:blip r:embed="rId2">
            <a:extLst>
              <a:ext uri="{28A0092B-C50C-407E-A947-70E740481C1C}">
                <a14:useLocalDpi xmlns:a14="http://schemas.microsoft.com/office/drawing/2010/main" val="0"/>
              </a:ext>
            </a:extLst>
          </a:blip>
          <a:stretch>
            <a:fillRect/>
          </a:stretch>
        </p:blipFill>
        <p:spPr>
          <a:xfrm>
            <a:off x="2167377" y="3347385"/>
            <a:ext cx="10331353" cy="3625335"/>
          </a:xfrm>
        </p:spPr>
      </p:pic>
      <p:sp>
        <p:nvSpPr>
          <p:cNvPr id="18" name="TextBox 17">
            <a:extLst>
              <a:ext uri="{FF2B5EF4-FFF2-40B4-BE49-F238E27FC236}">
                <a16:creationId xmlns:a16="http://schemas.microsoft.com/office/drawing/2014/main" id="{27AAA6A3-C402-E3FC-AF47-58C4F5C5A8C6}"/>
              </a:ext>
            </a:extLst>
          </p:cNvPr>
          <p:cNvSpPr txBox="1"/>
          <p:nvPr/>
        </p:nvSpPr>
        <p:spPr>
          <a:xfrm>
            <a:off x="2039415" y="7246830"/>
            <a:ext cx="10343074" cy="12003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r>
              <a:rPr lang="en-US"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https://www.liputan6.com/</a:t>
            </a:r>
            <a:r>
              <a:rPr lang="en-US" dirty="0" err="1">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bisnis</a:t>
            </a:r>
            <a:r>
              <a:rPr lang="en-US"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/read/5649816/insiden-crowdstrike-ganggu-operasional-maskapai-citilink-dan-airasia-paling-terdampak?page=2</a:t>
            </a:r>
          </a:p>
        </p:txBody>
      </p:sp>
      <p:pic>
        <p:nvPicPr>
          <p:cNvPr id="20" name="Picture 19" descr="A large sign in a airport&#10;&#10;Description automatically generated">
            <a:extLst>
              <a:ext uri="{FF2B5EF4-FFF2-40B4-BE49-F238E27FC236}">
                <a16:creationId xmlns:a16="http://schemas.microsoft.com/office/drawing/2014/main" id="{868B5C1A-7A25-0C99-6F5F-5C92FCAEA72D}"/>
              </a:ext>
            </a:extLst>
          </p:cNvPr>
          <p:cNvPicPr>
            <a:picLocks noChangeAspect="1"/>
          </p:cNvPicPr>
          <p:nvPr/>
        </p:nvPicPr>
        <p:blipFill>
          <a:blip r:embed="rId3">
            <a:extLst>
              <a:ext uri="{28A0092B-C50C-407E-A947-70E740481C1C}">
                <a14:useLocalDpi xmlns:a14="http://schemas.microsoft.com/office/drawing/2010/main" val="0"/>
              </a:ext>
            </a:extLst>
          </a:blip>
          <a:srcRect t="4847" b="3453"/>
          <a:stretch>
            <a:fillRect/>
          </a:stretch>
        </p:blipFill>
        <p:spPr>
          <a:xfrm>
            <a:off x="12999754" y="1194094"/>
            <a:ext cx="9706170" cy="6679811"/>
          </a:xfrm>
          <a:prstGeom prst="rect">
            <a:avLst/>
          </a:prstGeom>
        </p:spPr>
      </p:pic>
      <p:sp>
        <p:nvSpPr>
          <p:cNvPr id="22" name="TextBox 21">
            <a:extLst>
              <a:ext uri="{FF2B5EF4-FFF2-40B4-BE49-F238E27FC236}">
                <a16:creationId xmlns:a16="http://schemas.microsoft.com/office/drawing/2014/main" id="{AD2DEBDD-CF76-98BD-6F76-5263E7B737D5}"/>
              </a:ext>
            </a:extLst>
          </p:cNvPr>
          <p:cNvSpPr txBox="1"/>
          <p:nvPr/>
        </p:nvSpPr>
        <p:spPr>
          <a:xfrm>
            <a:off x="17204311" y="8208627"/>
            <a:ext cx="5501613" cy="23083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r>
              <a:rPr lang="en-ID"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LaGuardia Airport, New York City</a:t>
            </a:r>
          </a:p>
          <a:p>
            <a:pPr algn="l"/>
            <a:endParaRPr lang="en-ID"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algn="l"/>
            <a:r>
              <a:rPr lang="en-ID"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Photo by Smishra1 - Own work, CC BY-SA 4.0, https://</a:t>
            </a:r>
            <a:r>
              <a:rPr lang="en-ID" dirty="0" err="1">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commons.wikimedia.org</a:t>
            </a:r>
            <a:r>
              <a:rPr lang="en-ID"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/w/</a:t>
            </a:r>
            <a:r>
              <a:rPr lang="en-ID" dirty="0" err="1">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index.php?curid</a:t>
            </a:r>
            <a:r>
              <a:rPr lang="en-ID"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=150535443</a:t>
            </a:r>
            <a:endParaRPr lang="en-US"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24" name="Picture 23" descr="A group of people in a large room&#10;&#10;Description automatically generated">
            <a:extLst>
              <a:ext uri="{FF2B5EF4-FFF2-40B4-BE49-F238E27FC236}">
                <a16:creationId xmlns:a16="http://schemas.microsoft.com/office/drawing/2014/main" id="{EAD8C45E-61F2-8B9A-9C30-98F4B5AB7E4D}"/>
              </a:ext>
            </a:extLst>
          </p:cNvPr>
          <p:cNvPicPr>
            <a:picLocks noChangeAspect="1"/>
          </p:cNvPicPr>
          <p:nvPr/>
        </p:nvPicPr>
        <p:blipFill>
          <a:blip r:embed="rId4">
            <a:extLst>
              <a:ext uri="{28A0092B-C50C-407E-A947-70E740481C1C}">
                <a14:useLocalDpi xmlns:a14="http://schemas.microsoft.com/office/drawing/2010/main" val="0"/>
              </a:ext>
            </a:extLst>
          </a:blip>
          <a:srcRect t="56298"/>
          <a:stretch>
            <a:fillRect/>
          </a:stretch>
        </p:blipFill>
        <p:spPr>
          <a:xfrm>
            <a:off x="9525161" y="8775090"/>
            <a:ext cx="7061885" cy="4164619"/>
          </a:xfrm>
          <a:prstGeom prst="rect">
            <a:avLst/>
          </a:prstGeom>
        </p:spPr>
      </p:pic>
      <p:sp>
        <p:nvSpPr>
          <p:cNvPr id="26" name="TextBox 25">
            <a:extLst>
              <a:ext uri="{FF2B5EF4-FFF2-40B4-BE49-F238E27FC236}">
                <a16:creationId xmlns:a16="http://schemas.microsoft.com/office/drawing/2014/main" id="{C8FB5C93-06F6-5A87-13E1-CD27698D3C6F}"/>
              </a:ext>
            </a:extLst>
          </p:cNvPr>
          <p:cNvSpPr txBox="1"/>
          <p:nvPr/>
        </p:nvSpPr>
        <p:spPr>
          <a:xfrm>
            <a:off x="2167376" y="13159998"/>
            <a:ext cx="14419669"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r>
              <a:rPr lang="en-US"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https://</a:t>
            </a:r>
            <a:r>
              <a:rPr lang="en-US" dirty="0" err="1">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www.nytimes.com</a:t>
            </a:r>
            <a:r>
              <a:rPr lang="en-US"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/2024/07/19/business/</a:t>
            </a:r>
            <a:r>
              <a:rPr lang="en-US" dirty="0" err="1">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microsoft</a:t>
            </a:r>
            <a:r>
              <a:rPr lang="en-US"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-outage-cause-azure-</a:t>
            </a:r>
            <a:r>
              <a:rPr lang="en-US" dirty="0" err="1">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crowdstrike.html</a:t>
            </a:r>
            <a:endParaRPr lang="en-US"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4" name="Picture 3" descr="A group of people in a large room&#10;&#10;Description automatically generated">
            <a:extLst>
              <a:ext uri="{FF2B5EF4-FFF2-40B4-BE49-F238E27FC236}">
                <a16:creationId xmlns:a16="http://schemas.microsoft.com/office/drawing/2014/main" id="{B3188643-45AE-0352-F48F-CC53E04ABE3B}"/>
              </a:ext>
            </a:extLst>
          </p:cNvPr>
          <p:cNvPicPr>
            <a:picLocks noChangeAspect="1"/>
          </p:cNvPicPr>
          <p:nvPr/>
        </p:nvPicPr>
        <p:blipFill>
          <a:blip r:embed="rId4">
            <a:extLst>
              <a:ext uri="{28A0092B-C50C-407E-A947-70E740481C1C}">
                <a14:useLocalDpi xmlns:a14="http://schemas.microsoft.com/office/drawing/2010/main" val="0"/>
              </a:ext>
            </a:extLst>
          </a:blip>
          <a:srcRect b="56298"/>
          <a:stretch>
            <a:fillRect/>
          </a:stretch>
        </p:blipFill>
        <p:spPr>
          <a:xfrm>
            <a:off x="2167377" y="8721269"/>
            <a:ext cx="7061885" cy="4164619"/>
          </a:xfrm>
          <a:prstGeom prst="rect">
            <a:avLst/>
          </a:prstGeom>
        </p:spPr>
      </p:pic>
    </p:spTree>
    <p:extLst>
      <p:ext uri="{BB962C8B-B14F-4D97-AF65-F5344CB8AC3E}">
        <p14:creationId xmlns:p14="http://schemas.microsoft.com/office/powerpoint/2010/main" val="26944588"/>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ounded Rectangle 13">
            <a:extLst>
              <a:ext uri="{FF2B5EF4-FFF2-40B4-BE49-F238E27FC236}">
                <a16:creationId xmlns:a16="http://schemas.microsoft.com/office/drawing/2014/main" id="{21E243B4-D3F8-84FB-EA02-B5F5CDC157E2}"/>
              </a:ext>
            </a:extLst>
          </p:cNvPr>
          <p:cNvSpPr/>
          <p:nvPr/>
        </p:nvSpPr>
        <p:spPr>
          <a:xfrm>
            <a:off x="1921563" y="10756387"/>
            <a:ext cx="17037491" cy="909032"/>
          </a:xfrm>
          <a:prstGeom prst="roundRect">
            <a:avLst/>
          </a:prstGeom>
          <a:solidFill>
            <a:schemeClr val="accent1">
              <a:lumMod val="40000"/>
              <a:lumOff val="60000"/>
            </a:schemeClr>
          </a:solidFill>
          <a:ln w="12700" cap="flat">
            <a:solidFill>
              <a:srgbClr val="7030A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panose="020B0606030504020204" pitchFamily="34" charset="0"/>
              <a:ea typeface="Open Sans" panose="020B0606030504020204" pitchFamily="34" charset="0"/>
              <a:cs typeface="Open Sans" panose="020B0606030504020204" pitchFamily="34" charset="0"/>
              <a:sym typeface="Helvetica Neue Medium"/>
            </a:endParaRPr>
          </a:p>
        </p:txBody>
      </p:sp>
      <p:sp>
        <p:nvSpPr>
          <p:cNvPr id="15" name="TextBox 14">
            <a:extLst>
              <a:ext uri="{FF2B5EF4-FFF2-40B4-BE49-F238E27FC236}">
                <a16:creationId xmlns:a16="http://schemas.microsoft.com/office/drawing/2014/main" id="{2F02AA43-CA05-7BD4-76B6-EDC11623CCA2}"/>
              </a:ext>
            </a:extLst>
          </p:cNvPr>
          <p:cNvSpPr txBox="1"/>
          <p:nvPr/>
        </p:nvSpPr>
        <p:spPr>
          <a:xfrm>
            <a:off x="15303975" y="10928428"/>
            <a:ext cx="2048638" cy="65659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3600" b="1" i="0" u="none" strike="noStrike" cap="none" spc="0" normalizeH="0" baseline="0" dirty="0">
                <a:ln>
                  <a:noFill/>
                </a:ln>
                <a:solidFill>
                  <a:schemeClr val="bg2">
                    <a:lumMod val="10000"/>
                  </a:schemeClr>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rPr>
              <a:t>Licenses</a:t>
            </a:r>
          </a:p>
        </p:txBody>
      </p:sp>
      <p:sp>
        <p:nvSpPr>
          <p:cNvPr id="6" name="Rounded Rectangle 5">
            <a:extLst>
              <a:ext uri="{FF2B5EF4-FFF2-40B4-BE49-F238E27FC236}">
                <a16:creationId xmlns:a16="http://schemas.microsoft.com/office/drawing/2014/main" id="{59E4645F-391E-9732-84A0-7EBB1F48DE9B}"/>
              </a:ext>
            </a:extLst>
          </p:cNvPr>
          <p:cNvSpPr/>
          <p:nvPr/>
        </p:nvSpPr>
        <p:spPr>
          <a:xfrm>
            <a:off x="1921564" y="3516931"/>
            <a:ext cx="17043066" cy="2520000"/>
          </a:xfrm>
          <a:prstGeom prst="roundRect">
            <a:avLst/>
          </a:prstGeom>
          <a:solidFill>
            <a:schemeClr val="accent1">
              <a:lumMod val="40000"/>
              <a:lumOff val="60000"/>
            </a:schemeClr>
          </a:solidFill>
          <a:ln w="12700" cap="flat">
            <a:solidFill>
              <a:srgbClr val="7030A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panose="020B0606030504020204" pitchFamily="34" charset="0"/>
              <a:ea typeface="Open Sans" panose="020B0606030504020204" pitchFamily="34" charset="0"/>
              <a:cs typeface="Open Sans" panose="020B0606030504020204" pitchFamily="34" charset="0"/>
              <a:sym typeface="Helvetica Neue Medium"/>
            </a:endParaRPr>
          </a:p>
        </p:txBody>
      </p:sp>
      <p:sp>
        <p:nvSpPr>
          <p:cNvPr id="9" name="Rounded Rectangle 8">
            <a:extLst>
              <a:ext uri="{FF2B5EF4-FFF2-40B4-BE49-F238E27FC236}">
                <a16:creationId xmlns:a16="http://schemas.microsoft.com/office/drawing/2014/main" id="{1124F78D-8A5E-4BDB-A574-14BE4C245AC6}"/>
              </a:ext>
            </a:extLst>
          </p:cNvPr>
          <p:cNvSpPr/>
          <p:nvPr/>
        </p:nvSpPr>
        <p:spPr>
          <a:xfrm>
            <a:off x="1921563" y="6212599"/>
            <a:ext cx="17037491" cy="909032"/>
          </a:xfrm>
          <a:prstGeom prst="roundRect">
            <a:avLst/>
          </a:prstGeom>
          <a:solidFill>
            <a:schemeClr val="accent1">
              <a:lumMod val="40000"/>
              <a:lumOff val="60000"/>
            </a:schemeClr>
          </a:solidFill>
          <a:ln w="12700" cap="flat">
            <a:solidFill>
              <a:srgbClr val="7030A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panose="020B0606030504020204" pitchFamily="34" charset="0"/>
              <a:ea typeface="Open Sans" panose="020B0606030504020204" pitchFamily="34" charset="0"/>
              <a:cs typeface="Open Sans" panose="020B0606030504020204" pitchFamily="34" charset="0"/>
              <a:sym typeface="Helvetica Neue Medium"/>
            </a:endParaRPr>
          </a:p>
        </p:txBody>
      </p:sp>
      <p:sp>
        <p:nvSpPr>
          <p:cNvPr id="8" name="Rounded Rectangle 7">
            <a:extLst>
              <a:ext uri="{FF2B5EF4-FFF2-40B4-BE49-F238E27FC236}">
                <a16:creationId xmlns:a16="http://schemas.microsoft.com/office/drawing/2014/main" id="{9F87D8E7-09F2-B18B-F1B3-DD43D27ADD29}"/>
              </a:ext>
            </a:extLst>
          </p:cNvPr>
          <p:cNvSpPr/>
          <p:nvPr/>
        </p:nvSpPr>
        <p:spPr>
          <a:xfrm>
            <a:off x="1921563" y="9641866"/>
            <a:ext cx="17037491" cy="909032"/>
          </a:xfrm>
          <a:prstGeom prst="roundRect">
            <a:avLst/>
          </a:prstGeom>
          <a:solidFill>
            <a:schemeClr val="accent1">
              <a:lumMod val="40000"/>
              <a:lumOff val="60000"/>
            </a:schemeClr>
          </a:solidFill>
          <a:ln w="12700" cap="flat">
            <a:solidFill>
              <a:srgbClr val="7030A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panose="020B0606030504020204" pitchFamily="34" charset="0"/>
              <a:ea typeface="Open Sans" panose="020B0606030504020204" pitchFamily="34" charset="0"/>
              <a:cs typeface="Open Sans" panose="020B0606030504020204" pitchFamily="34" charset="0"/>
              <a:sym typeface="Helvetica Neue Medium"/>
            </a:endParaRPr>
          </a:p>
        </p:txBody>
      </p:sp>
      <p:sp>
        <p:nvSpPr>
          <p:cNvPr id="7" name="Rounded Rectangle 6">
            <a:extLst>
              <a:ext uri="{FF2B5EF4-FFF2-40B4-BE49-F238E27FC236}">
                <a16:creationId xmlns:a16="http://schemas.microsoft.com/office/drawing/2014/main" id="{2CD1F245-A37C-FAF0-9A39-A43C4CC660F0}"/>
              </a:ext>
            </a:extLst>
          </p:cNvPr>
          <p:cNvSpPr/>
          <p:nvPr/>
        </p:nvSpPr>
        <p:spPr>
          <a:xfrm>
            <a:off x="1921565" y="7456377"/>
            <a:ext cx="17043066" cy="1980000"/>
          </a:xfrm>
          <a:prstGeom prst="roundRect">
            <a:avLst/>
          </a:prstGeom>
          <a:solidFill>
            <a:schemeClr val="accent1">
              <a:lumMod val="40000"/>
              <a:lumOff val="60000"/>
            </a:schemeClr>
          </a:solidFill>
          <a:ln w="12700" cap="flat">
            <a:solidFill>
              <a:srgbClr val="7030A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panose="020B0606030504020204" pitchFamily="34" charset="0"/>
              <a:ea typeface="Open Sans" panose="020B0606030504020204" pitchFamily="34" charset="0"/>
              <a:cs typeface="Open Sans" panose="020B0606030504020204" pitchFamily="34" charset="0"/>
              <a:sym typeface="Helvetica Neue Medium"/>
            </a:endParaRPr>
          </a:p>
        </p:txBody>
      </p:sp>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The </a:t>
            </a:r>
            <a:r>
              <a:rPr lang="en-US" dirty="0" err="1"/>
              <a:t>Crowdstrike</a:t>
            </a:r>
            <a:r>
              <a:rPr lang="en-US" dirty="0"/>
              <a:t> incident</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2353295" cy="840935"/>
          </a:xfrm>
        </p:spPr>
        <p:txBody>
          <a:bodyPr>
            <a:normAutofit/>
          </a:bodyPr>
          <a:lstStyle/>
          <a:p>
            <a:r>
              <a:rPr lang="en-US" dirty="0"/>
              <a:t>Complex Software Engineering issues involved</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8" y="3260663"/>
            <a:ext cx="12896358" cy="8583279"/>
          </a:xfrm>
        </p:spPr>
        <p:txBody>
          <a:bodyPr anchor="ctr">
            <a:normAutofit/>
          </a:bodyPr>
          <a:lstStyle/>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Software running with kernel-level privilege can crash the system (BSOD) and prevent booting</a:t>
            </a:r>
          </a:p>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Content updates more continuous than software updates</a:t>
            </a:r>
          </a:p>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Insufficient testing of content *and* parser</a:t>
            </a:r>
          </a:p>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No staged roll-outs</a:t>
            </a:r>
          </a:p>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No way to fix issue remotely after impact</a:t>
            </a:r>
          </a:p>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Skewed incentives</a:t>
            </a:r>
          </a:p>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Limited liability</a:t>
            </a:r>
          </a:p>
        </p:txBody>
      </p:sp>
      <p:sp>
        <p:nvSpPr>
          <p:cNvPr id="10" name="TextBox 9">
            <a:extLst>
              <a:ext uri="{FF2B5EF4-FFF2-40B4-BE49-F238E27FC236}">
                <a16:creationId xmlns:a16="http://schemas.microsoft.com/office/drawing/2014/main" id="{1857B764-E946-0F37-4FA2-803720D40909}"/>
              </a:ext>
            </a:extLst>
          </p:cNvPr>
          <p:cNvSpPr txBox="1"/>
          <p:nvPr/>
        </p:nvSpPr>
        <p:spPr>
          <a:xfrm>
            <a:off x="15303975" y="3872062"/>
            <a:ext cx="3655079" cy="17645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2438338" rtl="0" fontAlgn="auto" latinLnBrk="0" hangingPunct="0">
              <a:lnSpc>
                <a:spcPct val="100000"/>
              </a:lnSpc>
              <a:spcBef>
                <a:spcPts val="0"/>
              </a:spcBef>
              <a:spcAft>
                <a:spcPts val="0"/>
              </a:spcAft>
              <a:buClrTx/>
              <a:buSzTx/>
              <a:buFontTx/>
              <a:buNone/>
              <a:tabLst/>
            </a:pPr>
            <a:r>
              <a:rPr kumimoji="0" lang="en-US" sz="3600" b="1" i="0" u="none" strike="noStrike" cap="none" spc="0" normalizeH="0" baseline="0" dirty="0">
                <a:ln>
                  <a:noFill/>
                </a:ln>
                <a:solidFill>
                  <a:schemeClr val="bg2">
                    <a:lumMod val="10000"/>
                  </a:schemeClr>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rPr>
              <a:t>Requirements</a:t>
            </a:r>
          </a:p>
          <a:p>
            <a:pPr marL="0" marR="0" indent="0" algn="l" defTabSz="2438338" rtl="0" fontAlgn="auto" latinLnBrk="0" hangingPunct="0">
              <a:lnSpc>
                <a:spcPct val="100000"/>
              </a:lnSpc>
              <a:spcBef>
                <a:spcPts val="0"/>
              </a:spcBef>
              <a:spcAft>
                <a:spcPts val="0"/>
              </a:spcAft>
              <a:buClrTx/>
              <a:buSzTx/>
              <a:buFontTx/>
              <a:buNone/>
              <a:tabLst/>
            </a:pPr>
            <a:r>
              <a:rPr kumimoji="0" lang="en-US" sz="3600" b="1" i="0" u="none" strike="noStrike" cap="none" spc="0" normalizeH="0" baseline="0" dirty="0">
                <a:ln>
                  <a:noFill/>
                </a:ln>
                <a:solidFill>
                  <a:schemeClr val="bg2">
                    <a:lumMod val="10000"/>
                  </a:schemeClr>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rPr>
              <a:t>(Architecture &amp; Design)</a:t>
            </a:r>
          </a:p>
        </p:txBody>
      </p:sp>
      <p:sp>
        <p:nvSpPr>
          <p:cNvPr id="11" name="TextBox 10">
            <a:extLst>
              <a:ext uri="{FF2B5EF4-FFF2-40B4-BE49-F238E27FC236}">
                <a16:creationId xmlns:a16="http://schemas.microsoft.com/office/drawing/2014/main" id="{60015090-CD33-CC8C-65CD-B05A568AE747}"/>
              </a:ext>
            </a:extLst>
          </p:cNvPr>
          <p:cNvSpPr txBox="1"/>
          <p:nvPr/>
        </p:nvSpPr>
        <p:spPr>
          <a:xfrm>
            <a:off x="15264015" y="8145044"/>
            <a:ext cx="1867499" cy="65659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3600" b="1" i="0" u="none" strike="noStrike" cap="none" spc="0" normalizeH="0" baseline="0" dirty="0">
                <a:ln>
                  <a:noFill/>
                </a:ln>
                <a:solidFill>
                  <a:schemeClr val="bg2">
                    <a:lumMod val="10000"/>
                  </a:schemeClr>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rPr>
              <a:t>DevOps</a:t>
            </a:r>
          </a:p>
        </p:txBody>
      </p:sp>
      <p:sp>
        <p:nvSpPr>
          <p:cNvPr id="12" name="TextBox 11">
            <a:extLst>
              <a:ext uri="{FF2B5EF4-FFF2-40B4-BE49-F238E27FC236}">
                <a16:creationId xmlns:a16="http://schemas.microsoft.com/office/drawing/2014/main" id="{1B6CF2F8-7104-C6BE-A206-A37672EAC5BB}"/>
              </a:ext>
            </a:extLst>
          </p:cNvPr>
          <p:cNvSpPr txBox="1"/>
          <p:nvPr/>
        </p:nvSpPr>
        <p:spPr>
          <a:xfrm>
            <a:off x="15303975" y="9796749"/>
            <a:ext cx="1829027" cy="65659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3600" b="1" i="0" u="none" strike="noStrike" cap="none" spc="0" normalizeH="0" baseline="0" dirty="0">
                <a:ln>
                  <a:noFill/>
                </a:ln>
                <a:solidFill>
                  <a:schemeClr val="bg2">
                    <a:lumMod val="10000"/>
                  </a:schemeClr>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rPr>
              <a:t>Metrics</a:t>
            </a:r>
          </a:p>
        </p:txBody>
      </p:sp>
      <p:sp>
        <p:nvSpPr>
          <p:cNvPr id="13" name="TextBox 12">
            <a:extLst>
              <a:ext uri="{FF2B5EF4-FFF2-40B4-BE49-F238E27FC236}">
                <a16:creationId xmlns:a16="http://schemas.microsoft.com/office/drawing/2014/main" id="{4DAA82FD-2EC0-A3A7-231B-2579413D301D}"/>
              </a:ext>
            </a:extLst>
          </p:cNvPr>
          <p:cNvSpPr txBox="1"/>
          <p:nvPr/>
        </p:nvSpPr>
        <p:spPr>
          <a:xfrm>
            <a:off x="15303975" y="6355158"/>
            <a:ext cx="788678" cy="65659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3600" b="1" i="0" u="none" strike="noStrike" cap="none" spc="0" normalizeH="0" baseline="0" dirty="0">
                <a:ln>
                  <a:noFill/>
                </a:ln>
                <a:solidFill>
                  <a:schemeClr val="bg2">
                    <a:lumMod val="10000"/>
                  </a:schemeClr>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rPr>
              <a:t>QA</a:t>
            </a:r>
          </a:p>
        </p:txBody>
      </p:sp>
    </p:spTree>
    <p:extLst>
      <p:ext uri="{BB962C8B-B14F-4D97-AF65-F5344CB8AC3E}">
        <p14:creationId xmlns:p14="http://schemas.microsoft.com/office/powerpoint/2010/main" val="3317902404"/>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659061-93C0-8970-2E20-6F44045451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493D9D-8AE7-61CD-0186-BCCC7CF95003}"/>
              </a:ext>
            </a:extLst>
          </p:cNvPr>
          <p:cNvSpPr>
            <a:spLocks noGrp="1"/>
          </p:cNvSpPr>
          <p:nvPr>
            <p:ph type="title"/>
          </p:nvPr>
        </p:nvSpPr>
        <p:spPr/>
        <p:txBody>
          <a:bodyPr>
            <a:normAutofit fontScale="90000"/>
          </a:bodyPr>
          <a:lstStyle/>
          <a:p>
            <a:r>
              <a:rPr lang="en-US" dirty="0"/>
              <a:t>Time And Change</a:t>
            </a:r>
          </a:p>
        </p:txBody>
      </p:sp>
      <p:pic>
        <p:nvPicPr>
          <p:cNvPr id="14" name="Picture 13" descr="A graph showing the difference between time and time&#10;&#10;Description automatically generated">
            <a:extLst>
              <a:ext uri="{FF2B5EF4-FFF2-40B4-BE49-F238E27FC236}">
                <a16:creationId xmlns:a16="http://schemas.microsoft.com/office/drawing/2014/main" id="{838D9696-1DF2-89C8-0AAF-79B95EDB1C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65820" y="4859663"/>
            <a:ext cx="9885300" cy="7051515"/>
          </a:xfrm>
          <a:prstGeom prst="rect">
            <a:avLst/>
          </a:prstGeom>
        </p:spPr>
      </p:pic>
      <p:sp>
        <p:nvSpPr>
          <p:cNvPr id="6" name="TextBox 5">
            <a:extLst>
              <a:ext uri="{FF2B5EF4-FFF2-40B4-BE49-F238E27FC236}">
                <a16:creationId xmlns:a16="http://schemas.microsoft.com/office/drawing/2014/main" id="{71322B2E-04DD-A8AB-3B8B-491523E6817C}"/>
              </a:ext>
            </a:extLst>
          </p:cNvPr>
          <p:cNvSpPr txBox="1"/>
          <p:nvPr/>
        </p:nvSpPr>
        <p:spPr>
          <a:xfrm>
            <a:off x="2165820" y="3718303"/>
            <a:ext cx="17268939"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spcBef>
                <a:spcPts val="0"/>
              </a:spcBef>
            </a:pPr>
            <a:r>
              <a:rPr lang="en-GB"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Unlike hardware, software doesn’t wear out. It </a:t>
            </a:r>
            <a:r>
              <a:rPr lang="en-GB"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deteriorates</a:t>
            </a:r>
            <a:r>
              <a:rPr lang="en-GB"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instead!</a:t>
            </a:r>
          </a:p>
        </p:txBody>
      </p:sp>
      <p:sp>
        <p:nvSpPr>
          <p:cNvPr id="10" name="TextBox 9">
            <a:extLst>
              <a:ext uri="{FF2B5EF4-FFF2-40B4-BE49-F238E27FC236}">
                <a16:creationId xmlns:a16="http://schemas.microsoft.com/office/drawing/2014/main" id="{65572D94-E083-70A2-8FED-4153289971B6}"/>
              </a:ext>
            </a:extLst>
          </p:cNvPr>
          <p:cNvSpPr txBox="1"/>
          <p:nvPr/>
        </p:nvSpPr>
        <p:spPr>
          <a:xfrm>
            <a:off x="13088047" y="5754345"/>
            <a:ext cx="9128052" cy="452431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buNone/>
            </a:pPr>
            <a:r>
              <a:rPr lang="en-US" sz="3600" b="1" dirty="0">
                <a:solidFill>
                  <a:schemeClr val="bg2">
                    <a:lumMod val="10000"/>
                  </a:schemeClr>
                </a:solidFill>
              </a:rPr>
              <a:t>what “deteriorates” means:</a:t>
            </a:r>
          </a:p>
          <a:p>
            <a:pPr algn="l">
              <a:buNone/>
            </a:pPr>
            <a:endParaRPr lang="en-US" sz="3600" dirty="0">
              <a:solidFill>
                <a:schemeClr val="bg2">
                  <a:lumMod val="10000"/>
                </a:schemeClr>
              </a:solidFill>
            </a:endParaRPr>
          </a:p>
          <a:p>
            <a:pPr marL="571500" indent="-571500" algn="l">
              <a:buFont typeface="Arial" panose="020B0604020202020204" pitchFamily="34" charset="0"/>
              <a:buChar char="•"/>
            </a:pPr>
            <a:r>
              <a:rPr lang="en-US" sz="3600" dirty="0">
                <a:solidFill>
                  <a:schemeClr val="bg2">
                    <a:lumMod val="10000"/>
                  </a:schemeClr>
                </a:solidFill>
              </a:rPr>
              <a:t>Environment changes (OS, dependencies, APIs)</a:t>
            </a:r>
          </a:p>
          <a:p>
            <a:pPr marL="571500" indent="-571500" algn="l">
              <a:buFont typeface="Arial" panose="020B0604020202020204" pitchFamily="34" charset="0"/>
              <a:buChar char="•"/>
            </a:pPr>
            <a:endParaRPr lang="en-US" sz="3600" dirty="0">
              <a:solidFill>
                <a:schemeClr val="bg2">
                  <a:lumMod val="10000"/>
                </a:schemeClr>
              </a:solidFill>
            </a:endParaRPr>
          </a:p>
          <a:p>
            <a:pPr marL="571500" indent="-571500" algn="l">
              <a:buFont typeface="Arial" panose="020B0604020202020204" pitchFamily="34" charset="0"/>
              <a:buChar char="•"/>
            </a:pPr>
            <a:r>
              <a:rPr lang="en-US" sz="3600" dirty="0">
                <a:solidFill>
                  <a:schemeClr val="bg2">
                    <a:lumMod val="10000"/>
                  </a:schemeClr>
                </a:solidFill>
              </a:rPr>
              <a:t>Evolving requirements</a:t>
            </a:r>
          </a:p>
          <a:p>
            <a:pPr marL="571500" indent="-571500" algn="l">
              <a:buFont typeface="Arial" panose="020B0604020202020204" pitchFamily="34" charset="0"/>
              <a:buChar char="•"/>
            </a:pPr>
            <a:endParaRPr lang="en-US" sz="3600" dirty="0">
              <a:solidFill>
                <a:schemeClr val="bg2">
                  <a:lumMod val="10000"/>
                </a:schemeClr>
              </a:solidFill>
            </a:endParaRPr>
          </a:p>
          <a:p>
            <a:pPr marL="571500" indent="-571500" algn="l">
              <a:buFont typeface="Arial" panose="020B0604020202020204" pitchFamily="34" charset="0"/>
              <a:buChar char="•"/>
            </a:pPr>
            <a:r>
              <a:rPr lang="en-US" sz="3600" dirty="0" err="1">
                <a:solidFill>
                  <a:schemeClr val="bg2">
                    <a:lumMod val="10000"/>
                  </a:schemeClr>
                </a:solidFill>
              </a:rPr>
              <a:t>Eccumulated</a:t>
            </a:r>
            <a:r>
              <a:rPr lang="en-US" sz="3600" dirty="0">
                <a:solidFill>
                  <a:schemeClr val="bg2">
                    <a:lumMod val="10000"/>
                  </a:schemeClr>
                </a:solidFill>
              </a:rPr>
              <a:t> complexity/technical debt</a:t>
            </a:r>
          </a:p>
        </p:txBody>
      </p:sp>
      <p:sp>
        <p:nvSpPr>
          <p:cNvPr id="12" name="Text Placeholder 11">
            <a:extLst>
              <a:ext uri="{FF2B5EF4-FFF2-40B4-BE49-F238E27FC236}">
                <a16:creationId xmlns:a16="http://schemas.microsoft.com/office/drawing/2014/main" id="{0BACA1EA-F22E-50E8-D1E3-204236106B42}"/>
              </a:ext>
            </a:extLst>
          </p:cNvPr>
          <p:cNvSpPr>
            <a:spLocks noGrp="1"/>
          </p:cNvSpPr>
          <p:nvPr>
            <p:ph type="body" sz="quarter" idx="10"/>
          </p:nvPr>
        </p:nvSpPr>
        <p:spPr/>
        <p:txBody>
          <a:bodyPr/>
          <a:lstStyle/>
          <a:p>
            <a:endParaRPr lang="en-ID"/>
          </a:p>
        </p:txBody>
      </p:sp>
    </p:spTree>
    <p:extLst>
      <p:ext uri="{BB962C8B-B14F-4D97-AF65-F5344CB8AC3E}">
        <p14:creationId xmlns:p14="http://schemas.microsoft.com/office/powerpoint/2010/main" val="2782308716"/>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Time And Change</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0773371" cy="803546"/>
          </a:xfrm>
        </p:spPr>
        <p:txBody>
          <a:bodyPr>
            <a:normAutofit/>
          </a:bodyPr>
          <a:lstStyle/>
          <a:p>
            <a:r>
              <a:rPr lang="en-US" dirty="0"/>
              <a:t>Time</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8583279"/>
          </a:xfrm>
        </p:spPr>
        <p:txBody>
          <a:bodyPr anchor="ctr">
            <a:normAutofit/>
          </a:bodyPr>
          <a:lstStyle/>
          <a:p>
            <a:pPr algn="just">
              <a:spcBef>
                <a:spcPts val="0"/>
              </a:spcBef>
            </a:pPr>
            <a:r>
              <a:rPr lang="en-GB" sz="3600" dirty="0">
                <a:latin typeface="Open Sans" panose="020B0606030504020204" pitchFamily="34" charset="0"/>
                <a:ea typeface="Open Sans" panose="020B0606030504020204" pitchFamily="34" charset="0"/>
                <a:cs typeface="Open Sans" panose="020B0606030504020204" pitchFamily="34" charset="0"/>
              </a:rPr>
              <a:t>Successful projects have an effectively unbounded life span</a:t>
            </a:r>
          </a:p>
          <a:p>
            <a:pPr marL="0" indent="0" algn="just">
              <a:spcBef>
                <a:spcPts val="0"/>
              </a:spcBef>
              <a:buNone/>
            </a:pPr>
            <a:endParaRPr lang="en-GB" sz="3600" dirty="0">
              <a:latin typeface="Open Sans" panose="020B0606030504020204" pitchFamily="34" charset="0"/>
              <a:ea typeface="Open Sans" panose="020B0606030504020204" pitchFamily="34" charset="0"/>
              <a:cs typeface="Open Sans" panose="020B0606030504020204" pitchFamily="34" charset="0"/>
            </a:endParaRPr>
          </a:p>
          <a:p>
            <a:pPr algn="just">
              <a:spcBef>
                <a:spcPts val="0"/>
              </a:spcBef>
            </a:pPr>
            <a:r>
              <a:rPr lang="en-GB" sz="3600" b="1" dirty="0">
                <a:latin typeface="Open Sans" panose="020B0606030504020204" pitchFamily="34" charset="0"/>
                <a:ea typeface="Open Sans" panose="020B0606030504020204" pitchFamily="34" charset="0"/>
                <a:cs typeface="Open Sans" panose="020B0606030504020204" pitchFamily="34" charset="0"/>
              </a:rPr>
              <a:t>Example: </a:t>
            </a:r>
            <a:r>
              <a:rPr lang="en-GB" sz="3600" dirty="0">
                <a:latin typeface="Open Sans" panose="020B0606030504020204" pitchFamily="34" charset="0"/>
                <a:ea typeface="Open Sans" panose="020B0606030504020204" pitchFamily="34" charset="0"/>
                <a:cs typeface="Open Sans" panose="020B0606030504020204" pitchFamily="34" charset="0"/>
              </a:rPr>
              <a:t>It is impossible to reasonably predict an endpoint for Google Search, the Linux kernel, or the Apache HTTP Server project</a:t>
            </a:r>
          </a:p>
          <a:p>
            <a:pPr algn="just">
              <a:spcBef>
                <a:spcPts val="0"/>
              </a:spcBef>
            </a:pPr>
            <a:endParaRPr lang="en-GB" sz="3600" dirty="0">
              <a:latin typeface="Open Sans" panose="020B0606030504020204" pitchFamily="34" charset="0"/>
              <a:ea typeface="Open Sans" panose="020B0606030504020204" pitchFamily="34" charset="0"/>
              <a:cs typeface="Open Sans" panose="020B0606030504020204" pitchFamily="34" charset="0"/>
            </a:endParaRPr>
          </a:p>
          <a:p>
            <a:pPr algn="just">
              <a:spcBef>
                <a:spcPts val="0"/>
              </a:spcBef>
            </a:pPr>
            <a:r>
              <a:rPr lang="en-GB" sz="3600" dirty="0">
                <a:latin typeface="Open Sans" panose="020B0606030504020204" pitchFamily="34" charset="0"/>
                <a:ea typeface="Open Sans" panose="020B0606030504020204" pitchFamily="34" charset="0"/>
                <a:cs typeface="Open Sans" panose="020B0606030504020204" pitchFamily="34" charset="0"/>
              </a:rPr>
              <a:t>In developing projects </a:t>
            </a:r>
            <a:r>
              <a:rPr lang="en-GB" sz="360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a:t>
            </a:r>
            <a:r>
              <a:rPr lang="en-GB" sz="3600" dirty="0">
                <a:latin typeface="Open Sans" panose="020B0606030504020204" pitchFamily="34" charset="0"/>
                <a:ea typeface="Open Sans" panose="020B0606030504020204" pitchFamily="34" charset="0"/>
                <a:cs typeface="Open Sans" panose="020B0606030504020204" pitchFamily="34" charset="0"/>
              </a:rPr>
              <a:t> assume that projects will live indefinitely—we cannot predict when we won’t need to upgrade our dependencies, language versions, and </a:t>
            </a:r>
            <a:r>
              <a:rPr lang="en-GB" sz="3600">
                <a:latin typeface="Open Sans" panose="020B0606030504020204" pitchFamily="34" charset="0"/>
                <a:ea typeface="Open Sans" panose="020B0606030504020204" pitchFamily="34" charset="0"/>
                <a:cs typeface="Open Sans" panose="020B0606030504020204" pitchFamily="34" charset="0"/>
              </a:rPr>
              <a:t>so on</a:t>
            </a:r>
          </a:p>
          <a:p>
            <a:pPr marL="0" indent="0" algn="just">
              <a:spcBef>
                <a:spcPts val="0"/>
              </a:spcBef>
              <a:buNone/>
            </a:pPr>
            <a:endParaRPr lang="en-GB" sz="3600" dirty="0">
              <a:latin typeface="Open Sans" panose="020B0606030504020204" pitchFamily="34" charset="0"/>
              <a:ea typeface="Open Sans" panose="020B0606030504020204" pitchFamily="34" charset="0"/>
              <a:cs typeface="Open Sans" panose="020B0606030504020204" pitchFamily="34" charset="0"/>
            </a:endParaRPr>
          </a:p>
          <a:p>
            <a:pPr algn="just">
              <a:spcBef>
                <a:spcPts val="0"/>
              </a:spcBef>
            </a:pPr>
            <a:r>
              <a:rPr lang="en-GB" sz="3600" dirty="0">
                <a:latin typeface="Open Sans" panose="020B0606030504020204" pitchFamily="34" charset="0"/>
                <a:ea typeface="Open Sans" panose="020B0606030504020204" pitchFamily="34" charset="0"/>
                <a:cs typeface="Open Sans" panose="020B0606030504020204" pitchFamily="34" charset="0"/>
              </a:rPr>
              <a:t>As their lifetimes grow, these long-lived projects eventually have a different feel to them than programming assignments or start-up development</a:t>
            </a:r>
          </a:p>
        </p:txBody>
      </p:sp>
    </p:spTree>
    <p:extLst>
      <p:ext uri="{BB962C8B-B14F-4D97-AF65-F5344CB8AC3E}">
        <p14:creationId xmlns:p14="http://schemas.microsoft.com/office/powerpoint/2010/main" val="164565121"/>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Time And Change</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0773371" cy="803546"/>
          </a:xfrm>
        </p:spPr>
        <p:txBody>
          <a:bodyPr>
            <a:normAutofit/>
          </a:bodyPr>
          <a:lstStyle/>
          <a:p>
            <a:r>
              <a:rPr lang="en-US" dirty="0"/>
              <a:t>Lifespan and importance of upgrade</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4111061"/>
            <a:ext cx="20295058" cy="8583279"/>
          </a:xfrm>
        </p:spPr>
        <p:txBody>
          <a:bodyPr anchor="b">
            <a:normAutofit/>
          </a:bodyPr>
          <a:lstStyle/>
          <a:p>
            <a:pPr algn="just">
              <a:spcBef>
                <a:spcPts val="0"/>
              </a:spcBef>
            </a:pPr>
            <a:r>
              <a:rPr lang="en-GB" sz="3600" dirty="0">
                <a:latin typeface="Open Sans" panose="020B0606030504020204" pitchFamily="34" charset="0"/>
                <a:ea typeface="Open Sans" panose="020B0606030504020204" pitchFamily="34" charset="0"/>
                <a:cs typeface="Open Sans" panose="020B0606030504020204" pitchFamily="34" charset="0"/>
              </a:rPr>
              <a:t>The low and high points on the expected life span spectrum suggest that there’s a transition somewhere</a:t>
            </a:r>
          </a:p>
          <a:p>
            <a:pPr marL="0" indent="0" algn="just">
              <a:spcBef>
                <a:spcPts val="0"/>
              </a:spcBef>
              <a:buNone/>
            </a:pPr>
            <a:endParaRPr lang="en-GB" sz="3600" dirty="0">
              <a:latin typeface="Open Sans" panose="020B0606030504020204" pitchFamily="34" charset="0"/>
              <a:ea typeface="Open Sans" panose="020B0606030504020204" pitchFamily="34" charset="0"/>
              <a:cs typeface="Open Sans" panose="020B0606030504020204" pitchFamily="34" charset="0"/>
            </a:endParaRPr>
          </a:p>
          <a:p>
            <a:pPr algn="just">
              <a:spcBef>
                <a:spcPts val="0"/>
              </a:spcBef>
            </a:pPr>
            <a:r>
              <a:rPr lang="en-GB" sz="3600" dirty="0">
                <a:latin typeface="Open Sans" panose="020B0606030504020204" pitchFamily="34" charset="0"/>
                <a:ea typeface="Open Sans" panose="020B0606030504020204" pitchFamily="34" charset="0"/>
                <a:cs typeface="Open Sans" panose="020B0606030504020204" pitchFamily="34" charset="0"/>
              </a:rPr>
              <a:t>Somewhere along the line between a one-off program and a project that lasts for decades, a transition happens: a project must begin to react to changing externalities</a:t>
            </a:r>
          </a:p>
        </p:txBody>
      </p:sp>
      <p:pic>
        <p:nvPicPr>
          <p:cNvPr id="6" name="Picture 5">
            <a:extLst>
              <a:ext uri="{FF2B5EF4-FFF2-40B4-BE49-F238E27FC236}">
                <a16:creationId xmlns:a16="http://schemas.microsoft.com/office/drawing/2014/main" id="{BA2915E7-8542-A83E-4A4C-B02B884A7389}"/>
              </a:ext>
            </a:extLst>
          </p:cNvPr>
          <p:cNvPicPr>
            <a:picLocks noChangeAspect="1"/>
          </p:cNvPicPr>
          <p:nvPr/>
        </p:nvPicPr>
        <p:blipFill>
          <a:blip r:embed="rId3"/>
          <a:stretch>
            <a:fillRect/>
          </a:stretch>
        </p:blipFill>
        <p:spPr>
          <a:xfrm>
            <a:off x="5787192" y="3260663"/>
            <a:ext cx="12809615" cy="5801456"/>
          </a:xfrm>
          <a:prstGeom prst="rect">
            <a:avLst/>
          </a:prstGeom>
        </p:spPr>
      </p:pic>
    </p:spTree>
    <p:extLst>
      <p:ext uri="{BB962C8B-B14F-4D97-AF65-F5344CB8AC3E}">
        <p14:creationId xmlns:p14="http://schemas.microsoft.com/office/powerpoint/2010/main" val="2360099575"/>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Time And Change</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0773371" cy="803546"/>
          </a:xfrm>
        </p:spPr>
        <p:txBody>
          <a:bodyPr>
            <a:normAutofit/>
          </a:bodyPr>
          <a:lstStyle/>
          <a:p>
            <a:r>
              <a:rPr lang="en-US" dirty="0"/>
              <a:t>Project Sustainability</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8583279"/>
          </a:xfrm>
        </p:spPr>
        <p:txBody>
          <a:bodyPr anchor="ctr">
            <a:normAutofit/>
          </a:bodyPr>
          <a:lstStyle/>
          <a:p>
            <a:pPr algn="just">
              <a:spcBef>
                <a:spcPts val="0"/>
              </a:spcBef>
            </a:pPr>
            <a:r>
              <a:rPr lang="en-GB" sz="3600" dirty="0">
                <a:latin typeface="Open Sans" panose="020B0606030504020204" pitchFamily="34" charset="0"/>
                <a:ea typeface="Open Sans" panose="020B0606030504020204" pitchFamily="34" charset="0"/>
                <a:cs typeface="Open Sans" panose="020B0606030504020204" pitchFamily="34" charset="0"/>
              </a:rPr>
              <a:t>Reliably stay current going forward </a:t>
            </a:r>
            <a:r>
              <a:rPr lang="en-GB" sz="360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a:t>
            </a:r>
            <a:r>
              <a:rPr lang="en-GB" sz="3600" dirty="0">
                <a:latin typeface="Open Sans" panose="020B0606030504020204" pitchFamily="34" charset="0"/>
                <a:ea typeface="Open Sans" panose="020B0606030504020204" pitchFamily="34" charset="0"/>
                <a:cs typeface="Open Sans" panose="020B0606030504020204" pitchFamily="34" charset="0"/>
              </a:rPr>
              <a:t> essence of long-term sustainability for your project</a:t>
            </a:r>
          </a:p>
          <a:p>
            <a:pPr marL="0" indent="0" algn="just">
              <a:spcBef>
                <a:spcPts val="0"/>
              </a:spcBef>
              <a:buNone/>
            </a:pPr>
            <a:endParaRPr lang="en-GB" sz="3600" dirty="0">
              <a:latin typeface="Open Sans" panose="020B0606030504020204" pitchFamily="34" charset="0"/>
              <a:ea typeface="Open Sans" panose="020B0606030504020204" pitchFamily="34" charset="0"/>
              <a:cs typeface="Open Sans" panose="020B0606030504020204" pitchFamily="34" charset="0"/>
            </a:endParaRPr>
          </a:p>
          <a:p>
            <a:pPr algn="just">
              <a:spcBef>
                <a:spcPts val="0"/>
              </a:spcBef>
            </a:pPr>
            <a:r>
              <a:rPr lang="en-GB" sz="3600" dirty="0">
                <a:latin typeface="Open Sans" panose="020B0606030504020204" pitchFamily="34" charset="0"/>
                <a:ea typeface="Open Sans" panose="020B0606030504020204" pitchFamily="34" charset="0"/>
                <a:cs typeface="Open Sans" panose="020B0606030504020204" pitchFamily="34" charset="0"/>
              </a:rPr>
              <a:t>Sustainability requires planning and managing the impact of required change</a:t>
            </a:r>
          </a:p>
          <a:p>
            <a:pPr algn="just">
              <a:spcBef>
                <a:spcPts val="0"/>
              </a:spcBef>
            </a:pPr>
            <a:r>
              <a:rPr lang="en-GB" sz="3600" dirty="0">
                <a:latin typeface="Open Sans" panose="020B0606030504020204" pitchFamily="34" charset="0"/>
                <a:ea typeface="Open Sans" panose="020B0606030504020204" pitchFamily="34" charset="0"/>
                <a:cs typeface="Open Sans" panose="020B0606030504020204" pitchFamily="34" charset="0"/>
              </a:rPr>
              <a:t>Achieve sustainability, largely through trial and error</a:t>
            </a:r>
          </a:p>
          <a:p>
            <a:pPr marL="0" indent="0" algn="just">
              <a:spcBef>
                <a:spcPts val="0"/>
              </a:spcBef>
              <a:buNone/>
            </a:pPr>
            <a:endParaRPr lang="en-GB" sz="3600" dirty="0">
              <a:latin typeface="Open Sans" panose="020B0606030504020204" pitchFamily="34" charset="0"/>
              <a:ea typeface="Open Sans" panose="020B0606030504020204" pitchFamily="34" charset="0"/>
              <a:cs typeface="Open Sans" panose="020B0606030504020204" pitchFamily="34" charset="0"/>
            </a:endParaRPr>
          </a:p>
          <a:p>
            <a:pPr algn="just">
              <a:spcBef>
                <a:spcPts val="0"/>
              </a:spcBef>
            </a:pPr>
            <a:r>
              <a:rPr lang="en-GB" sz="3600" dirty="0">
                <a:latin typeface="Open Sans" panose="020B0606030504020204" pitchFamily="34" charset="0"/>
                <a:ea typeface="Open Sans" panose="020B0606030504020204" pitchFamily="34" charset="0"/>
                <a:cs typeface="Open Sans" panose="020B0606030504020204" pitchFamily="34" charset="0"/>
              </a:rPr>
              <a:t>Concretely, how does short-term programming differ from producing code with a much longer expected life span?</a:t>
            </a:r>
          </a:p>
          <a:p>
            <a:pPr marL="0" indent="0" algn="just">
              <a:spcBef>
                <a:spcPts val="0"/>
              </a:spcBef>
              <a:buNone/>
            </a:pPr>
            <a:endParaRPr lang="en-GB" sz="3600" dirty="0">
              <a:latin typeface="Open Sans" panose="020B0606030504020204" pitchFamily="34" charset="0"/>
              <a:ea typeface="Open Sans" panose="020B0606030504020204" pitchFamily="34" charset="0"/>
              <a:cs typeface="Open Sans" panose="020B0606030504020204" pitchFamily="34" charset="0"/>
            </a:endParaRPr>
          </a:p>
          <a:p>
            <a:pPr algn="just">
              <a:spcBef>
                <a:spcPts val="0"/>
              </a:spcBef>
            </a:pPr>
            <a:r>
              <a:rPr lang="en-GB" sz="3600" dirty="0">
                <a:latin typeface="Open Sans" panose="020B0606030504020204" pitchFamily="34" charset="0"/>
                <a:ea typeface="Open Sans" panose="020B0606030504020204" pitchFamily="34" charset="0"/>
                <a:cs typeface="Open Sans" panose="020B0606030504020204" pitchFamily="34" charset="0"/>
              </a:rPr>
              <a:t>Need to be much more aware of the difference between “happens to work” and “is maintainable.”</a:t>
            </a:r>
          </a:p>
          <a:p>
            <a:pPr algn="just">
              <a:spcBef>
                <a:spcPts val="0"/>
              </a:spcBef>
            </a:pPr>
            <a:r>
              <a:rPr lang="en-GB" sz="3600" dirty="0">
                <a:latin typeface="Open Sans" panose="020B0606030504020204" pitchFamily="34" charset="0"/>
                <a:ea typeface="Open Sans" panose="020B0606030504020204" pitchFamily="34" charset="0"/>
                <a:cs typeface="Open Sans" panose="020B0606030504020204" pitchFamily="34" charset="0"/>
              </a:rPr>
              <a:t>There is no perfect solution for identifying these issues</a:t>
            </a:r>
          </a:p>
          <a:p>
            <a:pPr algn="just">
              <a:spcBef>
                <a:spcPts val="0"/>
              </a:spcBef>
            </a:pPr>
            <a:r>
              <a:rPr lang="en-GB" sz="3600" dirty="0">
                <a:latin typeface="Open Sans" panose="020B0606030504020204" pitchFamily="34" charset="0"/>
                <a:ea typeface="Open Sans" panose="020B0606030504020204" pitchFamily="34" charset="0"/>
                <a:cs typeface="Open Sans" panose="020B0606030504020204" pitchFamily="34" charset="0"/>
              </a:rPr>
              <a:t>Keeping software maintainable for the long-term is a constant battle</a:t>
            </a:r>
          </a:p>
        </p:txBody>
      </p:sp>
    </p:spTree>
    <p:extLst>
      <p:ext uri="{BB962C8B-B14F-4D97-AF65-F5344CB8AC3E}">
        <p14:creationId xmlns:p14="http://schemas.microsoft.com/office/powerpoint/2010/main" val="4093088402"/>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Time And Change</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0773371" cy="803546"/>
          </a:xfrm>
        </p:spPr>
        <p:txBody>
          <a:bodyPr>
            <a:normAutofit/>
          </a:bodyPr>
          <a:lstStyle/>
          <a:p>
            <a:r>
              <a:rPr lang="en-US" dirty="0"/>
              <a:t>Hyrum’s Law</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8583279"/>
          </a:xfrm>
        </p:spPr>
        <p:txBody>
          <a:bodyPr anchor="ctr">
            <a:normAutofit/>
          </a:bodyPr>
          <a:lstStyle/>
          <a:p>
            <a:pPr marL="0" indent="0" algn="just">
              <a:spcBef>
                <a:spcPts val="0"/>
              </a:spcBef>
              <a:buNone/>
            </a:pPr>
            <a:r>
              <a:rPr lang="en-GB" sz="3600" dirty="0">
                <a:latin typeface="Open Sans" panose="020B0606030504020204" pitchFamily="34" charset="0"/>
                <a:ea typeface="Open Sans" panose="020B0606030504020204" pitchFamily="34" charset="0"/>
                <a:cs typeface="Open Sans" panose="020B0606030504020204" pitchFamily="34" charset="0"/>
              </a:rPr>
              <a:t>“With a sufficient number of users of an API, it does not matter what you promise in the contract: all observable behaviours of your system will be depended on by somebody.”</a:t>
            </a:r>
          </a:p>
          <a:p>
            <a:pPr algn="just">
              <a:spcBef>
                <a:spcPts val="0"/>
              </a:spcBef>
            </a:pPr>
            <a:endParaRPr lang="en-GB" sz="3600" dirty="0">
              <a:latin typeface="Open Sans" panose="020B0606030504020204" pitchFamily="34" charset="0"/>
              <a:ea typeface="Open Sans" panose="020B0606030504020204" pitchFamily="34" charset="0"/>
              <a:cs typeface="Open Sans" panose="020B0606030504020204" pitchFamily="34" charset="0"/>
            </a:endParaRPr>
          </a:p>
          <a:p>
            <a:pPr algn="just">
              <a:spcBef>
                <a:spcPts val="0"/>
              </a:spcBef>
            </a:pPr>
            <a:r>
              <a:rPr lang="en-GB" sz="3600" dirty="0">
                <a:latin typeface="Open Sans" panose="020B0606030504020204" pitchFamily="34" charset="0"/>
                <a:ea typeface="Open Sans" panose="020B0606030504020204" pitchFamily="34" charset="0"/>
                <a:cs typeface="Open Sans" panose="020B0606030504020204" pitchFamily="34" charset="0"/>
              </a:rPr>
              <a:t>“it works” vs “it is maintainable”, which to choose?</a:t>
            </a:r>
          </a:p>
          <a:p>
            <a:pPr marL="0" indent="0" algn="just">
              <a:spcBef>
                <a:spcPts val="0"/>
              </a:spcBef>
              <a:buNone/>
            </a:pPr>
            <a:endParaRPr lang="en-GB" sz="3600" dirty="0">
              <a:latin typeface="Open Sans" panose="020B0606030504020204" pitchFamily="34" charset="0"/>
              <a:ea typeface="Open Sans" panose="020B0606030504020204" pitchFamily="34" charset="0"/>
              <a:cs typeface="Open Sans" panose="020B0606030504020204" pitchFamily="34" charset="0"/>
            </a:endParaRPr>
          </a:p>
          <a:p>
            <a:pPr algn="just">
              <a:spcBef>
                <a:spcPts val="0"/>
              </a:spcBef>
            </a:pPr>
            <a:r>
              <a:rPr lang="en-GB" sz="3600" dirty="0">
                <a:latin typeface="Open Sans" panose="020B0606030504020204" pitchFamily="34" charset="0"/>
                <a:ea typeface="Open Sans" panose="020B0606030504020204" pitchFamily="34" charset="0"/>
                <a:cs typeface="Open Sans" panose="020B0606030504020204" pitchFamily="34" charset="0"/>
              </a:rPr>
              <a:t>Discussions of change and maintenance over time must be aware of Hyrum’s Law</a:t>
            </a:r>
          </a:p>
          <a:p>
            <a:pPr algn="just">
              <a:spcBef>
                <a:spcPts val="0"/>
              </a:spcBef>
            </a:pPr>
            <a:r>
              <a:rPr lang="en-GB" sz="3600" dirty="0">
                <a:latin typeface="Open Sans" panose="020B0606030504020204" pitchFamily="34" charset="0"/>
                <a:ea typeface="Open Sans" panose="020B0606030504020204" pitchFamily="34" charset="0"/>
                <a:cs typeface="Open Sans" panose="020B0606030504020204" pitchFamily="34" charset="0"/>
              </a:rPr>
              <a:t>Depends crucially on the expected life span of the code in question</a:t>
            </a:r>
          </a:p>
        </p:txBody>
      </p:sp>
    </p:spTree>
    <p:extLst>
      <p:ext uri="{BB962C8B-B14F-4D97-AF65-F5344CB8AC3E}">
        <p14:creationId xmlns:p14="http://schemas.microsoft.com/office/powerpoint/2010/main" val="993235109"/>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Time And Change</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0773371" cy="803546"/>
          </a:xfrm>
        </p:spPr>
        <p:txBody>
          <a:bodyPr>
            <a:normAutofit/>
          </a:bodyPr>
          <a:lstStyle/>
          <a:p>
            <a:r>
              <a:rPr lang="en-US" sz="3200" b="1" dirty="0"/>
              <a:t>Why Not Just Aim for “Nothing Changes”?</a:t>
            </a:r>
            <a:endParaRPr lang="en-US" dirty="0"/>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8583279"/>
          </a:xfrm>
        </p:spPr>
        <p:txBody>
          <a:bodyPr anchor="ctr">
            <a:normAutofit/>
          </a:bodyPr>
          <a:lstStyle/>
          <a:p>
            <a:pPr algn="just">
              <a:spcBef>
                <a:spcPts val="0"/>
              </a:spcBef>
            </a:pPr>
            <a:r>
              <a:rPr lang="en-GB" sz="3600" dirty="0">
                <a:latin typeface="Open Sans" panose="020B0606030504020204" pitchFamily="34" charset="0"/>
                <a:ea typeface="Open Sans" panose="020B0606030504020204" pitchFamily="34" charset="0"/>
                <a:cs typeface="Open Sans" panose="020B0606030504020204" pitchFamily="34" charset="0"/>
              </a:rPr>
              <a:t>For most projects, over a long enough time period, everything underneath them might need to be changed</a:t>
            </a:r>
          </a:p>
          <a:p>
            <a:pPr marL="0" indent="0" algn="just">
              <a:spcBef>
                <a:spcPts val="0"/>
              </a:spcBef>
              <a:buNone/>
            </a:pPr>
            <a:endParaRPr lang="en-GB" sz="3600" dirty="0">
              <a:latin typeface="Open Sans" panose="020B0606030504020204" pitchFamily="34" charset="0"/>
              <a:ea typeface="Open Sans" panose="020B0606030504020204" pitchFamily="34" charset="0"/>
              <a:cs typeface="Open Sans" panose="020B0606030504020204" pitchFamily="34" charset="0"/>
            </a:endParaRPr>
          </a:p>
          <a:p>
            <a:pPr algn="just">
              <a:spcBef>
                <a:spcPts val="0"/>
              </a:spcBef>
            </a:pPr>
            <a:r>
              <a:rPr lang="en-GB" sz="3600" dirty="0">
                <a:latin typeface="Open Sans" panose="020B0606030504020204" pitchFamily="34" charset="0"/>
                <a:ea typeface="Open Sans" panose="020B0606030504020204" pitchFamily="34" charset="0"/>
                <a:cs typeface="Open Sans" panose="020B0606030504020204" pitchFamily="34" charset="0"/>
              </a:rPr>
              <a:t>Most projects have far more exposure to shifting underlying technology</a:t>
            </a:r>
          </a:p>
          <a:p>
            <a:pPr marL="0" indent="0" algn="just">
              <a:spcBef>
                <a:spcPts val="0"/>
              </a:spcBef>
              <a:buNone/>
            </a:pPr>
            <a:endParaRPr lang="en-GB" sz="3600" dirty="0">
              <a:latin typeface="Open Sans" panose="020B0606030504020204" pitchFamily="34" charset="0"/>
              <a:ea typeface="Open Sans" panose="020B0606030504020204" pitchFamily="34" charset="0"/>
              <a:cs typeface="Open Sans" panose="020B0606030504020204" pitchFamily="34" charset="0"/>
            </a:endParaRPr>
          </a:p>
          <a:p>
            <a:pPr algn="just">
              <a:spcBef>
                <a:spcPts val="0"/>
              </a:spcBef>
            </a:pPr>
            <a:r>
              <a:rPr lang="en-GB" sz="3600" dirty="0">
                <a:latin typeface="Open Sans" panose="020B0606030504020204" pitchFamily="34" charset="0"/>
                <a:ea typeface="Open Sans" panose="020B0606030504020204" pitchFamily="34" charset="0"/>
                <a:cs typeface="Open Sans" panose="020B0606030504020204" pitchFamily="34" charset="0"/>
              </a:rPr>
              <a:t>Efficiency concerns are particularly subtle: the original design might have been perfectly logical and following reasonable best practices</a:t>
            </a:r>
          </a:p>
          <a:p>
            <a:pPr marL="0" indent="0" algn="just">
              <a:spcBef>
                <a:spcPts val="0"/>
              </a:spcBef>
              <a:buNone/>
            </a:pPr>
            <a:endParaRPr lang="en-GB" sz="3600" dirty="0">
              <a:latin typeface="Open Sans" panose="020B0606030504020204" pitchFamily="34" charset="0"/>
              <a:ea typeface="Open Sans" panose="020B0606030504020204" pitchFamily="34" charset="0"/>
              <a:cs typeface="Open Sans" panose="020B0606030504020204" pitchFamily="34" charset="0"/>
            </a:endParaRPr>
          </a:p>
          <a:p>
            <a:pPr algn="just">
              <a:spcBef>
                <a:spcPts val="0"/>
              </a:spcBef>
            </a:pPr>
            <a:r>
              <a:rPr lang="en-GB" sz="3600" dirty="0">
                <a:latin typeface="Open Sans" panose="020B0606030504020204" pitchFamily="34" charset="0"/>
                <a:ea typeface="Open Sans" panose="020B0606030504020204" pitchFamily="34" charset="0"/>
                <a:cs typeface="Open Sans" panose="020B0606030504020204" pitchFamily="34" charset="0"/>
              </a:rPr>
              <a:t>It’s only after an evolution of backward-compatible changes that a new, more efficient option becomes important.</a:t>
            </a:r>
          </a:p>
          <a:p>
            <a:pPr marL="0" indent="0" algn="just">
              <a:spcBef>
                <a:spcPts val="0"/>
              </a:spcBef>
              <a:buNone/>
            </a:pPr>
            <a:endParaRPr lang="en-GB" sz="3600" dirty="0">
              <a:latin typeface="Open Sans" panose="020B0606030504020204" pitchFamily="34" charset="0"/>
              <a:ea typeface="Open Sans" panose="020B0606030504020204" pitchFamily="34" charset="0"/>
              <a:cs typeface="Open Sans" panose="020B0606030504020204" pitchFamily="34" charset="0"/>
            </a:endParaRPr>
          </a:p>
          <a:p>
            <a:pPr algn="just">
              <a:spcBef>
                <a:spcPts val="0"/>
              </a:spcBef>
            </a:pPr>
            <a:r>
              <a:rPr lang="en-GB" sz="3600" dirty="0">
                <a:latin typeface="Open Sans" panose="020B0606030504020204" pitchFamily="34" charset="0"/>
                <a:ea typeface="Open Sans" panose="020B0606030504020204" pitchFamily="34" charset="0"/>
                <a:cs typeface="Open Sans" panose="020B0606030504020204" pitchFamily="34" charset="0"/>
              </a:rPr>
              <a:t>No mistakes were made, but the passage of time still made change valuable.</a:t>
            </a:r>
          </a:p>
        </p:txBody>
      </p:sp>
    </p:spTree>
    <p:extLst>
      <p:ext uri="{BB962C8B-B14F-4D97-AF65-F5344CB8AC3E}">
        <p14:creationId xmlns:p14="http://schemas.microsoft.com/office/powerpoint/2010/main" val="4153414836"/>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Scale and Efficiency</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0773371" cy="803546"/>
          </a:xfrm>
        </p:spPr>
        <p:txBody>
          <a:bodyPr>
            <a:normAutofit/>
          </a:bodyPr>
          <a:lstStyle/>
          <a:p>
            <a:r>
              <a:rPr lang="en-US" sz="3200" b="1" dirty="0"/>
              <a:t>Scale</a:t>
            </a:r>
            <a:endParaRPr lang="en-US" dirty="0"/>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8583279"/>
          </a:xfrm>
        </p:spPr>
        <p:txBody>
          <a:bodyPr anchor="ctr">
            <a:normAutofit/>
          </a:bodyPr>
          <a:lstStyle/>
          <a:p>
            <a:pPr algn="just">
              <a:spcBef>
                <a:spcPts val="0"/>
              </a:spcBef>
            </a:pPr>
            <a:r>
              <a:rPr lang="en-GB" sz="3600" dirty="0">
                <a:latin typeface="Open Sans" panose="020B0606030504020204" pitchFamily="34" charset="0"/>
                <a:ea typeface="Open Sans" panose="020B0606030504020204" pitchFamily="34" charset="0"/>
                <a:cs typeface="Open Sans" panose="020B0606030504020204" pitchFamily="34" charset="0"/>
              </a:rPr>
              <a:t>If changing something comes at inordinate cost, it will likely be deferred</a:t>
            </a:r>
          </a:p>
          <a:p>
            <a:pPr algn="just">
              <a:spcBef>
                <a:spcPts val="0"/>
              </a:spcBef>
            </a:pPr>
            <a:r>
              <a:rPr lang="en-GB" sz="3600" dirty="0">
                <a:latin typeface="Open Sans" panose="020B0606030504020204" pitchFamily="34" charset="0"/>
                <a:ea typeface="Open Sans" panose="020B0606030504020204" pitchFamily="34" charset="0"/>
                <a:cs typeface="Open Sans" panose="020B0606030504020204" pitchFamily="34" charset="0"/>
              </a:rPr>
              <a:t>If costs grow super linearly over time, the operation clearly is not scalable</a:t>
            </a:r>
          </a:p>
          <a:p>
            <a:pPr marL="0" indent="0" algn="just">
              <a:spcBef>
                <a:spcPts val="0"/>
              </a:spcBef>
              <a:buNone/>
            </a:pPr>
            <a:endParaRPr lang="en-GB" sz="3600" dirty="0">
              <a:latin typeface="Open Sans" panose="020B0606030504020204" pitchFamily="34" charset="0"/>
              <a:ea typeface="Open Sans" panose="020B0606030504020204" pitchFamily="34" charset="0"/>
              <a:cs typeface="Open Sans" panose="020B0606030504020204" pitchFamily="34" charset="0"/>
            </a:endParaRPr>
          </a:p>
          <a:p>
            <a:pPr algn="just">
              <a:spcBef>
                <a:spcPts val="0"/>
              </a:spcBef>
            </a:pPr>
            <a:r>
              <a:rPr lang="en-GB" sz="3600" dirty="0">
                <a:latin typeface="Open Sans" panose="020B0606030504020204" pitchFamily="34" charset="0"/>
                <a:ea typeface="Open Sans" panose="020B0606030504020204" pitchFamily="34" charset="0"/>
                <a:cs typeface="Open Sans" panose="020B0606030504020204" pitchFamily="34" charset="0"/>
              </a:rPr>
              <a:t>Eventually, time will take hold and something unexpected will arise that you absolutely must change</a:t>
            </a:r>
          </a:p>
          <a:p>
            <a:pPr algn="just">
              <a:spcBef>
                <a:spcPts val="0"/>
              </a:spcBef>
            </a:pPr>
            <a:r>
              <a:rPr lang="en-GB" sz="3600" dirty="0">
                <a:latin typeface="Open Sans" panose="020B0606030504020204" pitchFamily="34" charset="0"/>
                <a:ea typeface="Open Sans" panose="020B0606030504020204" pitchFamily="34" charset="0"/>
                <a:cs typeface="Open Sans" panose="020B0606030504020204" pitchFamily="34" charset="0"/>
              </a:rPr>
              <a:t>Everything your organization relies upon to produce and maintain code should be scalable in terms of overall cost and resource consumption. Example: human costs, traditional resources, the development of that software, codebase.</a:t>
            </a:r>
          </a:p>
          <a:p>
            <a:pPr marL="0" indent="0" algn="just">
              <a:spcBef>
                <a:spcPts val="0"/>
              </a:spcBef>
              <a:buNone/>
            </a:pPr>
            <a:endParaRPr lang="en-GB" sz="3600" dirty="0">
              <a:latin typeface="Open Sans" panose="020B0606030504020204" pitchFamily="34" charset="0"/>
              <a:ea typeface="Open Sans" panose="020B0606030504020204" pitchFamily="34" charset="0"/>
              <a:cs typeface="Open Sans" panose="020B0606030504020204" pitchFamily="34" charset="0"/>
            </a:endParaRPr>
          </a:p>
          <a:p>
            <a:pPr algn="just">
              <a:spcBef>
                <a:spcPts val="0"/>
              </a:spcBef>
            </a:pPr>
            <a:r>
              <a:rPr lang="en-GB" sz="3600" dirty="0">
                <a:latin typeface="Open Sans" panose="020B0606030504020204" pitchFamily="34" charset="0"/>
                <a:ea typeface="Open Sans" panose="020B0606030504020204" pitchFamily="34" charset="0"/>
                <a:cs typeface="Open Sans" panose="020B0606030504020204" pitchFamily="34" charset="0"/>
              </a:rPr>
              <a:t>In particular, everything your organization must do repeatedly should be scalable in terms of human effort</a:t>
            </a:r>
          </a:p>
        </p:txBody>
      </p:sp>
    </p:spTree>
    <p:extLst>
      <p:ext uri="{BB962C8B-B14F-4D97-AF65-F5344CB8AC3E}">
        <p14:creationId xmlns:p14="http://schemas.microsoft.com/office/powerpoint/2010/main" val="1544250745"/>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Scale and Efficiency</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0773371" cy="803546"/>
          </a:xfrm>
        </p:spPr>
        <p:txBody>
          <a:bodyPr>
            <a:normAutofit fontScale="92500"/>
          </a:bodyPr>
          <a:lstStyle/>
          <a:p>
            <a:r>
              <a:rPr lang="en-GB" sz="3200" b="1" dirty="0"/>
              <a:t>Factors that Affect the Flexibility of a Codebase</a:t>
            </a:r>
            <a:endParaRPr lang="en-US" dirty="0"/>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2"/>
            <a:ext cx="20295058" cy="10455337"/>
          </a:xfrm>
        </p:spPr>
        <p:txBody>
          <a:bodyPr anchor="ctr">
            <a:normAutofit/>
          </a:bodyPr>
          <a:lstStyle/>
          <a:p>
            <a:pPr algn="just">
              <a:spcBef>
                <a:spcPts val="0"/>
              </a:spcBef>
            </a:pPr>
            <a:r>
              <a:rPr lang="en-GB" sz="3600" b="1" dirty="0">
                <a:latin typeface="Open Sans" panose="020B0606030504020204" pitchFamily="34" charset="0"/>
                <a:ea typeface="Open Sans" panose="020B0606030504020204" pitchFamily="34" charset="0"/>
                <a:cs typeface="Open Sans" panose="020B0606030504020204" pitchFamily="34" charset="0"/>
              </a:rPr>
              <a:t>Expertise</a:t>
            </a:r>
          </a:p>
          <a:p>
            <a:pPr lvl="1" algn="just">
              <a:spcBef>
                <a:spcPts val="0"/>
              </a:spcBef>
            </a:pPr>
            <a:r>
              <a:rPr lang="en-GB" sz="3600" dirty="0">
                <a:latin typeface="Open Sans" panose="020B0606030504020204" pitchFamily="34" charset="0"/>
                <a:ea typeface="Open Sans" panose="020B0606030504020204" pitchFamily="34" charset="0"/>
                <a:cs typeface="Open Sans" panose="020B0606030504020204" pitchFamily="34" charset="0"/>
              </a:rPr>
              <a:t>Know how to do. Example: Have done hundreds of compiler upgrades across many platforms</a:t>
            </a:r>
          </a:p>
          <a:p>
            <a:pPr marL="609600" lvl="1" indent="0" algn="just">
              <a:spcBef>
                <a:spcPts val="0"/>
              </a:spcBef>
              <a:buNone/>
            </a:pPr>
            <a:endParaRPr lang="en-GB" sz="3600" dirty="0">
              <a:latin typeface="Open Sans" panose="020B0606030504020204" pitchFamily="34" charset="0"/>
              <a:ea typeface="Open Sans" panose="020B0606030504020204" pitchFamily="34" charset="0"/>
              <a:cs typeface="Open Sans" panose="020B0606030504020204" pitchFamily="34" charset="0"/>
            </a:endParaRPr>
          </a:p>
          <a:p>
            <a:pPr algn="just">
              <a:spcBef>
                <a:spcPts val="0"/>
              </a:spcBef>
            </a:pPr>
            <a:r>
              <a:rPr lang="en-GB" sz="3600" b="1" dirty="0">
                <a:latin typeface="Open Sans" panose="020B0606030504020204" pitchFamily="34" charset="0"/>
                <a:ea typeface="Open Sans" panose="020B0606030504020204" pitchFamily="34" charset="0"/>
                <a:cs typeface="Open Sans" panose="020B0606030504020204" pitchFamily="34" charset="0"/>
              </a:rPr>
              <a:t>Stability</a:t>
            </a:r>
          </a:p>
          <a:p>
            <a:pPr lvl="1" algn="just">
              <a:spcBef>
                <a:spcPts val="0"/>
              </a:spcBef>
            </a:pPr>
            <a:r>
              <a:rPr lang="en-GB" sz="3600" dirty="0">
                <a:latin typeface="Open Sans" panose="020B0606030504020204" pitchFamily="34" charset="0"/>
                <a:ea typeface="Open Sans" panose="020B0606030504020204" pitchFamily="34" charset="0"/>
                <a:cs typeface="Open Sans" panose="020B0606030504020204" pitchFamily="34" charset="0"/>
              </a:rPr>
              <a:t>Less change between releases by adopting releases more regularly</a:t>
            </a:r>
          </a:p>
          <a:p>
            <a:pPr marL="609600" lvl="1" indent="0" algn="just">
              <a:spcBef>
                <a:spcPts val="0"/>
              </a:spcBef>
              <a:buNone/>
            </a:pPr>
            <a:endParaRPr lang="en-GB" sz="3600" dirty="0">
              <a:latin typeface="Open Sans" panose="020B0606030504020204" pitchFamily="34" charset="0"/>
              <a:ea typeface="Open Sans" panose="020B0606030504020204" pitchFamily="34" charset="0"/>
              <a:cs typeface="Open Sans" panose="020B0606030504020204" pitchFamily="34" charset="0"/>
            </a:endParaRPr>
          </a:p>
          <a:p>
            <a:pPr algn="just">
              <a:spcBef>
                <a:spcPts val="0"/>
              </a:spcBef>
            </a:pPr>
            <a:r>
              <a:rPr lang="en-GB" sz="3600" b="1" dirty="0">
                <a:latin typeface="Open Sans" panose="020B0606030504020204" pitchFamily="34" charset="0"/>
                <a:ea typeface="Open Sans" panose="020B0606030504020204" pitchFamily="34" charset="0"/>
                <a:cs typeface="Open Sans" panose="020B0606030504020204" pitchFamily="34" charset="0"/>
              </a:rPr>
              <a:t>Conformity</a:t>
            </a:r>
          </a:p>
          <a:p>
            <a:pPr lvl="1" algn="just">
              <a:spcBef>
                <a:spcPts val="0"/>
              </a:spcBef>
            </a:pPr>
            <a:r>
              <a:rPr lang="en-GB" sz="3600" dirty="0">
                <a:latin typeface="Open Sans" panose="020B0606030504020204" pitchFamily="34" charset="0"/>
                <a:ea typeface="Open Sans" panose="020B0606030504020204" pitchFamily="34" charset="0"/>
                <a:cs typeface="Open Sans" panose="020B0606030504020204" pitchFamily="34" charset="0"/>
              </a:rPr>
              <a:t>Less code that hasn’t been through an upgrade already</a:t>
            </a:r>
          </a:p>
          <a:p>
            <a:pPr marL="609600" lvl="1" indent="0" algn="just">
              <a:spcBef>
                <a:spcPts val="0"/>
              </a:spcBef>
              <a:buNone/>
            </a:pPr>
            <a:endParaRPr lang="en-GB" sz="3600" dirty="0">
              <a:latin typeface="Open Sans" panose="020B0606030504020204" pitchFamily="34" charset="0"/>
              <a:ea typeface="Open Sans" panose="020B0606030504020204" pitchFamily="34" charset="0"/>
              <a:cs typeface="Open Sans" panose="020B0606030504020204" pitchFamily="34" charset="0"/>
            </a:endParaRPr>
          </a:p>
          <a:p>
            <a:pPr algn="just">
              <a:spcBef>
                <a:spcPts val="0"/>
              </a:spcBef>
            </a:pPr>
            <a:r>
              <a:rPr lang="en-GB" sz="3600" b="1" dirty="0">
                <a:latin typeface="Open Sans" panose="020B0606030504020204" pitchFamily="34" charset="0"/>
                <a:ea typeface="Open Sans" panose="020B0606030504020204" pitchFamily="34" charset="0"/>
                <a:cs typeface="Open Sans" panose="020B0606030504020204" pitchFamily="34" charset="0"/>
              </a:rPr>
              <a:t>Familiarity</a:t>
            </a:r>
          </a:p>
          <a:p>
            <a:pPr lvl="1" algn="just">
              <a:spcBef>
                <a:spcPts val="0"/>
              </a:spcBef>
            </a:pPr>
            <a:r>
              <a:rPr lang="en-GB" sz="3600" dirty="0">
                <a:latin typeface="Open Sans" panose="020B0606030504020204" pitchFamily="34" charset="0"/>
                <a:ea typeface="Open Sans" panose="020B0606030504020204" pitchFamily="34" charset="0"/>
                <a:cs typeface="Open Sans" panose="020B0606030504020204" pitchFamily="34" charset="0"/>
              </a:rPr>
              <a:t>Because of the regularity, redundancies can be spotted easily in the process of performing an upgrade and attempt to automate</a:t>
            </a:r>
          </a:p>
          <a:p>
            <a:pPr marL="609600" lvl="1" indent="0" algn="just">
              <a:spcBef>
                <a:spcPts val="0"/>
              </a:spcBef>
              <a:buNone/>
            </a:pPr>
            <a:endParaRPr lang="en-GB" sz="3600" dirty="0">
              <a:latin typeface="Open Sans" panose="020B0606030504020204" pitchFamily="34" charset="0"/>
              <a:ea typeface="Open Sans" panose="020B0606030504020204" pitchFamily="34" charset="0"/>
              <a:cs typeface="Open Sans" panose="020B0606030504020204" pitchFamily="34" charset="0"/>
            </a:endParaRPr>
          </a:p>
          <a:p>
            <a:pPr algn="just">
              <a:spcBef>
                <a:spcPts val="0"/>
              </a:spcBef>
            </a:pPr>
            <a:r>
              <a:rPr lang="en-GB" sz="3600" b="1" dirty="0">
                <a:latin typeface="Open Sans" panose="020B0606030504020204" pitchFamily="34" charset="0"/>
                <a:ea typeface="Open Sans" panose="020B0606030504020204" pitchFamily="34" charset="0"/>
                <a:cs typeface="Open Sans" panose="020B0606030504020204" pitchFamily="34" charset="0"/>
              </a:rPr>
              <a:t>Policy</a:t>
            </a:r>
          </a:p>
          <a:p>
            <a:pPr lvl="1" algn="just">
              <a:spcBef>
                <a:spcPts val="0"/>
              </a:spcBef>
            </a:pPr>
            <a:r>
              <a:rPr lang="en-GB" sz="3600" dirty="0">
                <a:latin typeface="Open Sans" panose="020B0606030504020204" pitchFamily="34" charset="0"/>
                <a:ea typeface="Open Sans" panose="020B0606030504020204" pitchFamily="34" charset="0"/>
                <a:cs typeface="Open Sans" panose="020B0606030504020204" pitchFamily="34" charset="0"/>
              </a:rPr>
              <a:t>The net effect of these processes is that upgrades remain feasible because infrastructure teams do not need to worry about every unknown usage, only the ones that are visible in our CI systems.</a:t>
            </a:r>
          </a:p>
        </p:txBody>
      </p:sp>
    </p:spTree>
    <p:extLst>
      <p:ext uri="{BB962C8B-B14F-4D97-AF65-F5344CB8AC3E}">
        <p14:creationId xmlns:p14="http://schemas.microsoft.com/office/powerpoint/2010/main" val="270535506"/>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Scale and Efficiency</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0773371" cy="803546"/>
          </a:xfrm>
        </p:spPr>
        <p:txBody>
          <a:bodyPr>
            <a:normAutofit/>
          </a:bodyPr>
          <a:lstStyle/>
          <a:p>
            <a:r>
              <a:rPr lang="en-GB" sz="3200" b="1" dirty="0"/>
              <a:t>Shifting left</a:t>
            </a:r>
            <a:endParaRPr lang="en-US" dirty="0"/>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4513728"/>
            <a:ext cx="20295058" cy="8583280"/>
          </a:xfrm>
        </p:spPr>
        <p:txBody>
          <a:bodyPr anchor="b">
            <a:normAutofit/>
          </a:bodyPr>
          <a:lstStyle/>
          <a:p>
            <a:pPr algn="just">
              <a:spcBef>
                <a:spcPts val="0"/>
              </a:spcBef>
            </a:pPr>
            <a:r>
              <a:rPr lang="en-GB" sz="3600" dirty="0">
                <a:latin typeface="Open Sans" panose="020B0606030504020204" pitchFamily="34" charset="0"/>
                <a:ea typeface="Open Sans" panose="020B0606030504020204" pitchFamily="34" charset="0"/>
                <a:cs typeface="Open Sans" panose="020B0606030504020204" pitchFamily="34" charset="0"/>
              </a:rPr>
              <a:t>Shifting problem detection to the “left” earlier on this timeline makes it cheaper to fix than waiting longer</a:t>
            </a:r>
          </a:p>
        </p:txBody>
      </p:sp>
      <p:pic>
        <p:nvPicPr>
          <p:cNvPr id="5" name="Picture 4" descr="A picture containing shape&#10;&#10;Description automatically generated">
            <a:extLst>
              <a:ext uri="{FF2B5EF4-FFF2-40B4-BE49-F238E27FC236}">
                <a16:creationId xmlns:a16="http://schemas.microsoft.com/office/drawing/2014/main" id="{2BC8B2FA-84AF-383C-16E6-FFA2D56AF12F}"/>
              </a:ext>
            </a:extLst>
          </p:cNvPr>
          <p:cNvPicPr>
            <a:picLocks noChangeAspect="1"/>
          </p:cNvPicPr>
          <p:nvPr/>
        </p:nvPicPr>
        <p:blipFill>
          <a:blip r:embed="rId3"/>
          <a:stretch>
            <a:fillRect/>
          </a:stretch>
        </p:blipFill>
        <p:spPr>
          <a:xfrm>
            <a:off x="4092677" y="3934477"/>
            <a:ext cx="16198646" cy="7232063"/>
          </a:xfrm>
          <a:prstGeom prst="rect">
            <a:avLst/>
          </a:prstGeom>
          <a:ln>
            <a:solidFill>
              <a:schemeClr val="tx1"/>
            </a:solidFill>
          </a:ln>
        </p:spPr>
      </p:pic>
      <p:sp>
        <p:nvSpPr>
          <p:cNvPr id="6" name="Content Placeholder 3">
            <a:extLst>
              <a:ext uri="{FF2B5EF4-FFF2-40B4-BE49-F238E27FC236}">
                <a16:creationId xmlns:a16="http://schemas.microsoft.com/office/drawing/2014/main" id="{0246521E-6FAD-58A7-5EF2-3806B0FDD088}"/>
              </a:ext>
            </a:extLst>
          </p:cNvPr>
          <p:cNvSpPr txBox="1">
            <a:spLocks/>
          </p:cNvSpPr>
          <p:nvPr/>
        </p:nvSpPr>
        <p:spPr>
          <a:xfrm>
            <a:off x="2044471" y="1614540"/>
            <a:ext cx="20295058" cy="191353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b">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gn="ctr">
              <a:spcBef>
                <a:spcPts val="0"/>
              </a:spcBef>
              <a:buNone/>
            </a:pPr>
            <a:r>
              <a:rPr lang="en-US" sz="3600" b="1" dirty="0"/>
              <a:t>“Earlier mistakes are cheaper mistakes.”</a:t>
            </a:r>
            <a:endParaRPr lang="en-GB" sz="3600" b="1"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323100308"/>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Trade-offs and costs</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0773371" cy="803546"/>
          </a:xfrm>
        </p:spPr>
        <p:txBody>
          <a:bodyPr>
            <a:normAutofit/>
          </a:bodyPr>
          <a:lstStyle/>
          <a:p>
            <a:r>
              <a:rPr lang="en-GB" sz="3200" b="1" dirty="0"/>
              <a:t>Trade-offs</a:t>
            </a:r>
            <a:endParaRPr lang="en-US" dirty="0"/>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8583280"/>
          </a:xfrm>
        </p:spPr>
        <p:txBody>
          <a:bodyPr anchor="ctr">
            <a:normAutofit/>
          </a:bodyPr>
          <a:lstStyle/>
          <a:p>
            <a:pPr algn="just">
              <a:spcBef>
                <a:spcPts val="0"/>
              </a:spcBef>
            </a:pPr>
            <a:r>
              <a:rPr lang="en-GB" sz="3600" dirty="0">
                <a:latin typeface="Open Sans" panose="020B0606030504020204" pitchFamily="34" charset="0"/>
                <a:ea typeface="Open Sans" panose="020B0606030504020204" pitchFamily="34" charset="0"/>
                <a:cs typeface="Open Sans" panose="020B0606030504020204" pitchFamily="34" charset="0"/>
              </a:rPr>
              <a:t>Understand how to program, understand the lifetime of the maintained software, and understand how to maintain as scaling up with more engineers producing and maintaining new features</a:t>
            </a:r>
          </a:p>
          <a:p>
            <a:pPr marL="0" indent="0" algn="just">
              <a:spcBef>
                <a:spcPts val="0"/>
              </a:spcBef>
              <a:buNone/>
            </a:pPr>
            <a:endParaRPr lang="en-GB" sz="3600" dirty="0">
              <a:latin typeface="Open Sans" panose="020B0606030504020204" pitchFamily="34" charset="0"/>
              <a:ea typeface="Open Sans" panose="020B0606030504020204" pitchFamily="34" charset="0"/>
              <a:cs typeface="Open Sans" panose="020B0606030504020204" pitchFamily="34" charset="0"/>
            </a:endParaRPr>
          </a:p>
          <a:p>
            <a:pPr algn="just">
              <a:spcBef>
                <a:spcPts val="0"/>
              </a:spcBef>
            </a:pPr>
            <a:r>
              <a:rPr lang="en-GB" sz="3600" dirty="0">
                <a:latin typeface="Open Sans" panose="020B0606030504020204" pitchFamily="34" charset="0"/>
                <a:ea typeface="Open Sans" panose="020B0606030504020204" pitchFamily="34" charset="0"/>
                <a:cs typeface="Open Sans" panose="020B0606030504020204" pitchFamily="34" charset="0"/>
              </a:rPr>
              <a:t>All that is left is to </a:t>
            </a:r>
            <a:r>
              <a:rPr lang="en-GB" sz="3600" b="1" dirty="0">
                <a:latin typeface="Open Sans" panose="020B0606030504020204" pitchFamily="34" charset="0"/>
                <a:ea typeface="Open Sans" panose="020B0606030504020204" pitchFamily="34" charset="0"/>
                <a:cs typeface="Open Sans" panose="020B0606030504020204" pitchFamily="34" charset="0"/>
              </a:rPr>
              <a:t>make good decisions</a:t>
            </a:r>
          </a:p>
          <a:p>
            <a:pPr algn="just">
              <a:spcBef>
                <a:spcPts val="0"/>
              </a:spcBef>
            </a:pPr>
            <a:r>
              <a:rPr lang="en-GB" sz="3600" dirty="0">
                <a:latin typeface="Open Sans" panose="020B0606030504020204" pitchFamily="34" charset="0"/>
                <a:ea typeface="Open Sans" panose="020B0606030504020204" pitchFamily="34" charset="0"/>
                <a:cs typeface="Open Sans" panose="020B0606030504020204" pitchFamily="34" charset="0"/>
              </a:rPr>
              <a:t>Decisions </a:t>
            </a:r>
            <a:r>
              <a:rPr lang="en-GB" sz="360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a:t>
            </a:r>
            <a:r>
              <a:rPr lang="en-GB" sz="3600" dirty="0">
                <a:latin typeface="Open Sans" panose="020B0606030504020204" pitchFamily="34" charset="0"/>
                <a:ea typeface="Open Sans" panose="020B0606030504020204" pitchFamily="34" charset="0"/>
                <a:cs typeface="Open Sans" panose="020B0606030504020204" pitchFamily="34" charset="0"/>
              </a:rPr>
              <a:t> impact </a:t>
            </a:r>
            <a:r>
              <a:rPr lang="en-GB" sz="3600" b="1" dirty="0">
                <a:latin typeface="Open Sans" panose="020B0606030504020204" pitchFamily="34" charset="0"/>
                <a:ea typeface="Open Sans" panose="020B0606030504020204" pitchFamily="34" charset="0"/>
                <a:cs typeface="Open Sans" panose="020B0606030504020204" pitchFamily="34" charset="0"/>
              </a:rPr>
              <a:t>costs</a:t>
            </a:r>
          </a:p>
          <a:p>
            <a:pPr marL="0" indent="0" algn="just">
              <a:spcBef>
                <a:spcPts val="0"/>
              </a:spcBef>
              <a:buNone/>
            </a:pPr>
            <a:endParaRPr lang="en-GB" sz="3600" dirty="0">
              <a:latin typeface="Open Sans" panose="020B0606030504020204" pitchFamily="34" charset="0"/>
              <a:ea typeface="Open Sans" panose="020B0606030504020204" pitchFamily="34" charset="0"/>
              <a:cs typeface="Open Sans" panose="020B0606030504020204" pitchFamily="34" charset="0"/>
            </a:endParaRPr>
          </a:p>
          <a:p>
            <a:pPr algn="just">
              <a:spcBef>
                <a:spcPts val="0"/>
              </a:spcBef>
            </a:pPr>
            <a:r>
              <a:rPr lang="en-GB" sz="3600" dirty="0">
                <a:latin typeface="Open Sans" panose="020B0606030504020204" pitchFamily="34" charset="0"/>
                <a:ea typeface="Open Sans" panose="020B0606030504020204" pitchFamily="34" charset="0"/>
                <a:cs typeface="Open Sans" panose="020B0606030504020204" pitchFamily="34" charset="0"/>
              </a:rPr>
              <a:t>Cost </a:t>
            </a:r>
            <a:r>
              <a:rPr lang="en-GB" sz="360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 </a:t>
            </a:r>
            <a:r>
              <a:rPr lang="en-GB" sz="3600" dirty="0">
                <a:latin typeface="Open Sans" panose="020B0606030504020204" pitchFamily="34" charset="0"/>
                <a:ea typeface="Open Sans" panose="020B0606030504020204" pitchFamily="34" charset="0"/>
                <a:cs typeface="Open Sans" panose="020B0606030504020204" pitchFamily="34" charset="0"/>
              </a:rPr>
              <a:t>effort and can involve any or all of these factors:</a:t>
            </a:r>
          </a:p>
          <a:p>
            <a:pPr lvl="1" algn="just">
              <a:spcBef>
                <a:spcPts val="0"/>
              </a:spcBef>
            </a:pPr>
            <a:r>
              <a:rPr lang="en-GB" sz="3600" dirty="0">
                <a:latin typeface="Open Sans" panose="020B0606030504020204" pitchFamily="34" charset="0"/>
                <a:ea typeface="Open Sans" panose="020B0606030504020204" pitchFamily="34" charset="0"/>
                <a:cs typeface="Open Sans" panose="020B0606030504020204" pitchFamily="34" charset="0"/>
              </a:rPr>
              <a:t>Financial costs </a:t>
            </a:r>
            <a:r>
              <a:rPr lang="en-GB" sz="360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a:t>
            </a:r>
            <a:r>
              <a:rPr lang="en-GB" sz="3600" dirty="0">
                <a:latin typeface="Open Sans" panose="020B0606030504020204" pitchFamily="34" charset="0"/>
                <a:ea typeface="Open Sans" panose="020B0606030504020204" pitchFamily="34" charset="0"/>
                <a:cs typeface="Open Sans" panose="020B0606030504020204" pitchFamily="34" charset="0"/>
              </a:rPr>
              <a:t> money</a:t>
            </a:r>
          </a:p>
          <a:p>
            <a:pPr lvl="1" algn="just">
              <a:spcBef>
                <a:spcPts val="0"/>
              </a:spcBef>
            </a:pPr>
            <a:r>
              <a:rPr lang="en-GB" sz="3600" dirty="0">
                <a:latin typeface="Open Sans" panose="020B0606030504020204" pitchFamily="34" charset="0"/>
                <a:ea typeface="Open Sans" panose="020B0606030504020204" pitchFamily="34" charset="0"/>
                <a:cs typeface="Open Sans" panose="020B0606030504020204" pitchFamily="34" charset="0"/>
              </a:rPr>
              <a:t>Resource costs </a:t>
            </a:r>
            <a:r>
              <a:rPr lang="en-GB" sz="360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a:t>
            </a:r>
            <a:r>
              <a:rPr lang="en-GB" sz="3600" dirty="0">
                <a:latin typeface="Open Sans" panose="020B0606030504020204" pitchFamily="34" charset="0"/>
                <a:ea typeface="Open Sans" panose="020B0606030504020204" pitchFamily="34" charset="0"/>
                <a:cs typeface="Open Sans" panose="020B0606030504020204" pitchFamily="34" charset="0"/>
              </a:rPr>
              <a:t> CPU time</a:t>
            </a:r>
          </a:p>
          <a:p>
            <a:pPr lvl="1" algn="just">
              <a:spcBef>
                <a:spcPts val="0"/>
              </a:spcBef>
            </a:pPr>
            <a:r>
              <a:rPr lang="en-GB" sz="3600" dirty="0">
                <a:latin typeface="Open Sans" panose="020B0606030504020204" pitchFamily="34" charset="0"/>
                <a:ea typeface="Open Sans" panose="020B0606030504020204" pitchFamily="34" charset="0"/>
                <a:cs typeface="Open Sans" panose="020B0606030504020204" pitchFamily="34" charset="0"/>
              </a:rPr>
              <a:t>Personnel costs </a:t>
            </a:r>
            <a:r>
              <a:rPr lang="en-GB" sz="360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a:t>
            </a:r>
            <a:r>
              <a:rPr lang="en-GB" sz="3600" dirty="0">
                <a:latin typeface="Open Sans" panose="020B0606030504020204" pitchFamily="34" charset="0"/>
                <a:ea typeface="Open Sans" panose="020B0606030504020204" pitchFamily="34" charset="0"/>
                <a:cs typeface="Open Sans" panose="020B0606030504020204" pitchFamily="34" charset="0"/>
              </a:rPr>
              <a:t> engineering effort</a:t>
            </a:r>
          </a:p>
          <a:p>
            <a:pPr lvl="1" algn="just">
              <a:spcBef>
                <a:spcPts val="0"/>
              </a:spcBef>
            </a:pPr>
            <a:r>
              <a:rPr lang="en-GB" sz="3600" dirty="0">
                <a:latin typeface="Open Sans" panose="020B0606030504020204" pitchFamily="34" charset="0"/>
                <a:ea typeface="Open Sans" panose="020B0606030504020204" pitchFamily="34" charset="0"/>
                <a:cs typeface="Open Sans" panose="020B0606030504020204" pitchFamily="34" charset="0"/>
              </a:rPr>
              <a:t>Transaction costs </a:t>
            </a:r>
            <a:r>
              <a:rPr lang="en-GB" sz="360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a:t>
            </a:r>
            <a:r>
              <a:rPr lang="en-GB" sz="3600" dirty="0">
                <a:latin typeface="Open Sans" panose="020B0606030504020204" pitchFamily="34" charset="0"/>
                <a:ea typeface="Open Sans" panose="020B0606030504020204" pitchFamily="34" charset="0"/>
                <a:cs typeface="Open Sans" panose="020B0606030504020204" pitchFamily="34" charset="0"/>
              </a:rPr>
              <a:t> what does it cost to take action?</a:t>
            </a:r>
          </a:p>
          <a:p>
            <a:pPr lvl="1" algn="just">
              <a:spcBef>
                <a:spcPts val="0"/>
              </a:spcBef>
            </a:pPr>
            <a:r>
              <a:rPr lang="en-GB" sz="3600" dirty="0">
                <a:latin typeface="Open Sans" panose="020B0606030504020204" pitchFamily="34" charset="0"/>
                <a:ea typeface="Open Sans" panose="020B0606030504020204" pitchFamily="34" charset="0"/>
                <a:cs typeface="Open Sans" panose="020B0606030504020204" pitchFamily="34" charset="0"/>
              </a:rPr>
              <a:t>Opportunity costs </a:t>
            </a:r>
            <a:r>
              <a:rPr lang="en-GB" sz="360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a:t>
            </a:r>
            <a:r>
              <a:rPr lang="en-GB" sz="3600" dirty="0">
                <a:latin typeface="Open Sans" panose="020B0606030504020204" pitchFamily="34" charset="0"/>
                <a:ea typeface="Open Sans" panose="020B0606030504020204" pitchFamily="34" charset="0"/>
                <a:cs typeface="Open Sans" panose="020B0606030504020204" pitchFamily="34" charset="0"/>
              </a:rPr>
              <a:t> what does it cost to not take action?</a:t>
            </a:r>
          </a:p>
          <a:p>
            <a:pPr lvl="1" algn="just">
              <a:spcBef>
                <a:spcPts val="0"/>
              </a:spcBef>
            </a:pPr>
            <a:r>
              <a:rPr lang="en-GB" sz="3600" dirty="0">
                <a:latin typeface="Open Sans" panose="020B0606030504020204" pitchFamily="34" charset="0"/>
                <a:ea typeface="Open Sans" panose="020B0606030504020204" pitchFamily="34" charset="0"/>
                <a:cs typeface="Open Sans" panose="020B0606030504020204" pitchFamily="34" charset="0"/>
              </a:rPr>
              <a:t>Societal costs </a:t>
            </a:r>
            <a:r>
              <a:rPr lang="en-GB" sz="360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a:t>
            </a:r>
            <a:r>
              <a:rPr lang="en-GB" sz="3600" dirty="0">
                <a:latin typeface="Open Sans" panose="020B0606030504020204" pitchFamily="34" charset="0"/>
                <a:ea typeface="Open Sans" panose="020B0606030504020204" pitchFamily="34" charset="0"/>
                <a:cs typeface="Open Sans" panose="020B0606030504020204" pitchFamily="34" charset="0"/>
              </a:rPr>
              <a:t> what impact will this choice have on society at large?</a:t>
            </a:r>
          </a:p>
        </p:txBody>
      </p:sp>
    </p:spTree>
    <p:extLst>
      <p:ext uri="{BB962C8B-B14F-4D97-AF65-F5344CB8AC3E}">
        <p14:creationId xmlns:p14="http://schemas.microsoft.com/office/powerpoint/2010/main" val="1155129120"/>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Trade-offs and costs</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0773371" cy="803546"/>
          </a:xfrm>
        </p:spPr>
        <p:txBody>
          <a:bodyPr>
            <a:normAutofit/>
          </a:bodyPr>
          <a:lstStyle/>
          <a:p>
            <a:r>
              <a:rPr lang="en-GB" sz="3200" b="1" dirty="0"/>
              <a:t>Decision making</a:t>
            </a:r>
            <a:endParaRPr lang="en-US" dirty="0"/>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8583280"/>
          </a:xfrm>
        </p:spPr>
        <p:txBody>
          <a:bodyPr anchor="ctr">
            <a:normAutofit/>
          </a:bodyPr>
          <a:lstStyle/>
          <a:p>
            <a:pPr algn="just">
              <a:spcBef>
                <a:spcPts val="0"/>
              </a:spcBef>
            </a:pPr>
            <a:r>
              <a:rPr lang="en-GB" sz="3600" dirty="0">
                <a:latin typeface="Open Sans" panose="020B0606030504020204" pitchFamily="34" charset="0"/>
                <a:ea typeface="Open Sans" panose="020B0606030504020204" pitchFamily="34" charset="0"/>
                <a:cs typeface="Open Sans" panose="020B0606030504020204" pitchFamily="34" charset="0"/>
              </a:rPr>
              <a:t>Decisions in an engineering group should come down to very few things:</a:t>
            </a:r>
          </a:p>
          <a:p>
            <a:pPr lvl="1" algn="just">
              <a:spcBef>
                <a:spcPts val="0"/>
              </a:spcBef>
            </a:pPr>
            <a:r>
              <a:rPr lang="en-GB" sz="3600" dirty="0">
                <a:latin typeface="Open Sans" panose="020B0606030504020204" pitchFamily="34" charset="0"/>
                <a:ea typeface="Open Sans" panose="020B0606030504020204" pitchFamily="34" charset="0"/>
                <a:cs typeface="Open Sans" panose="020B0606030504020204" pitchFamily="34" charset="0"/>
              </a:rPr>
              <a:t>We are doing this because we must (legal requirements, customer requirements).</a:t>
            </a:r>
          </a:p>
          <a:p>
            <a:pPr lvl="1" algn="just">
              <a:spcBef>
                <a:spcPts val="0"/>
              </a:spcBef>
            </a:pPr>
            <a:r>
              <a:rPr lang="en-GB" sz="3600" dirty="0">
                <a:latin typeface="Open Sans" panose="020B0606030504020204" pitchFamily="34" charset="0"/>
                <a:ea typeface="Open Sans" panose="020B0606030504020204" pitchFamily="34" charset="0"/>
                <a:cs typeface="Open Sans" panose="020B0606030504020204" pitchFamily="34" charset="0"/>
              </a:rPr>
              <a:t>We are doing this because it is the best option (as determined by some appropriate decider) we can see at the time, based on current evidence.</a:t>
            </a:r>
          </a:p>
          <a:p>
            <a:pPr marL="609600" lvl="1" indent="0" algn="just">
              <a:spcBef>
                <a:spcPts val="0"/>
              </a:spcBef>
              <a:buNone/>
            </a:pPr>
            <a:endParaRPr lang="en-GB" sz="3600" dirty="0">
              <a:latin typeface="Open Sans" panose="020B0606030504020204" pitchFamily="34" charset="0"/>
              <a:ea typeface="Open Sans" panose="020B0606030504020204" pitchFamily="34" charset="0"/>
              <a:cs typeface="Open Sans" panose="020B0606030504020204" pitchFamily="34" charset="0"/>
            </a:endParaRPr>
          </a:p>
          <a:p>
            <a:pPr algn="just">
              <a:spcBef>
                <a:spcPts val="0"/>
              </a:spcBef>
            </a:pPr>
            <a:r>
              <a:rPr lang="en-GB" sz="3600" dirty="0">
                <a:latin typeface="Open Sans" panose="020B0606030504020204" pitchFamily="34" charset="0"/>
                <a:ea typeface="Open Sans" panose="020B0606030504020204" pitchFamily="34" charset="0"/>
                <a:cs typeface="Open Sans" panose="020B0606030504020204" pitchFamily="34" charset="0"/>
              </a:rPr>
              <a:t>Decisions should not be “We are doing this because I said so.”</a:t>
            </a:r>
          </a:p>
        </p:txBody>
      </p:sp>
    </p:spTree>
    <p:extLst>
      <p:ext uri="{BB962C8B-B14F-4D97-AF65-F5344CB8AC3E}">
        <p14:creationId xmlns:p14="http://schemas.microsoft.com/office/powerpoint/2010/main" val="579919455"/>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Trade-offs and costs</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0773371" cy="803546"/>
          </a:xfrm>
        </p:spPr>
        <p:txBody>
          <a:bodyPr>
            <a:normAutofit/>
          </a:bodyPr>
          <a:lstStyle/>
          <a:p>
            <a:r>
              <a:rPr lang="en-GB" sz="3200" b="1" dirty="0"/>
              <a:t>Inputs to Decision making</a:t>
            </a:r>
            <a:endParaRPr lang="en-US" dirty="0"/>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8583280"/>
          </a:xfrm>
        </p:spPr>
        <p:txBody>
          <a:bodyPr anchor="ctr">
            <a:normAutofit/>
          </a:bodyPr>
          <a:lstStyle/>
          <a:p>
            <a:pPr algn="just">
              <a:spcBef>
                <a:spcPts val="0"/>
              </a:spcBef>
            </a:pPr>
            <a:r>
              <a:rPr lang="en-GB" sz="3600" dirty="0">
                <a:latin typeface="Open Sans" panose="020B0606030504020204" pitchFamily="34" charset="0"/>
                <a:ea typeface="Open Sans" panose="020B0606030504020204" pitchFamily="34" charset="0"/>
                <a:cs typeface="Open Sans" panose="020B0606030504020204" pitchFamily="34" charset="0"/>
              </a:rPr>
              <a:t>Based on data </a:t>
            </a:r>
            <a:r>
              <a:rPr lang="en-GB" sz="360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a:t>
            </a:r>
            <a:r>
              <a:rPr lang="en-GB" sz="3600" dirty="0">
                <a:latin typeface="Open Sans" panose="020B0606030504020204" pitchFamily="34" charset="0"/>
                <a:ea typeface="Open Sans" panose="020B0606030504020204" pitchFamily="34" charset="0"/>
                <a:cs typeface="Open Sans" panose="020B0606030504020204" pitchFamily="34" charset="0"/>
              </a:rPr>
              <a:t> two common scenarios:</a:t>
            </a:r>
          </a:p>
          <a:p>
            <a:pPr marL="0" indent="0" algn="just">
              <a:spcBef>
                <a:spcPts val="0"/>
              </a:spcBef>
              <a:buNone/>
            </a:pPr>
            <a:endParaRPr lang="en-GB" sz="3600" dirty="0">
              <a:latin typeface="Open Sans" panose="020B0606030504020204" pitchFamily="34" charset="0"/>
              <a:ea typeface="Open Sans" panose="020B0606030504020204" pitchFamily="34" charset="0"/>
              <a:cs typeface="Open Sans" panose="020B0606030504020204" pitchFamily="34" charset="0"/>
            </a:endParaRPr>
          </a:p>
          <a:p>
            <a:pPr lvl="1" algn="just">
              <a:spcBef>
                <a:spcPts val="0"/>
              </a:spcBef>
            </a:pPr>
            <a:r>
              <a:rPr lang="en-GB" sz="3600" dirty="0">
                <a:latin typeface="Open Sans" panose="020B0606030504020204" pitchFamily="34" charset="0"/>
                <a:ea typeface="Open Sans" panose="020B0606030504020204" pitchFamily="34" charset="0"/>
                <a:cs typeface="Open Sans" panose="020B0606030504020204" pitchFamily="34" charset="0"/>
              </a:rPr>
              <a:t>All of the quantities involved are measurable or can at least be estimated. </a:t>
            </a:r>
          </a:p>
          <a:p>
            <a:pPr marL="1219200" lvl="2" indent="0" algn="just">
              <a:spcBef>
                <a:spcPts val="0"/>
              </a:spcBef>
              <a:buNone/>
            </a:pPr>
            <a:r>
              <a:rPr lang="en-GB" sz="3600" dirty="0">
                <a:latin typeface="Open Sans" panose="020B0606030504020204" pitchFamily="34" charset="0"/>
                <a:ea typeface="Open Sans" panose="020B0606030504020204" pitchFamily="34" charset="0"/>
                <a:cs typeface="Open Sans" panose="020B0606030504020204" pitchFamily="34" charset="0"/>
              </a:rPr>
              <a:t>Example: evaluating trade-offs between CPU and network, or dollars and RAM, or considering whether to spend two weeks of engineer-time in order to save N CPUs across our datacentres.</a:t>
            </a:r>
          </a:p>
          <a:p>
            <a:pPr marL="609600" lvl="1" indent="0" algn="just">
              <a:spcBef>
                <a:spcPts val="0"/>
              </a:spcBef>
              <a:buNone/>
            </a:pPr>
            <a:endParaRPr lang="en-GB" sz="3600" dirty="0">
              <a:latin typeface="Open Sans" panose="020B0606030504020204" pitchFamily="34" charset="0"/>
              <a:ea typeface="Open Sans" panose="020B0606030504020204" pitchFamily="34" charset="0"/>
              <a:cs typeface="Open Sans" panose="020B0606030504020204" pitchFamily="34" charset="0"/>
            </a:endParaRPr>
          </a:p>
          <a:p>
            <a:pPr lvl="1" algn="just">
              <a:spcBef>
                <a:spcPts val="0"/>
              </a:spcBef>
            </a:pPr>
            <a:r>
              <a:rPr lang="en-GB" sz="3600" dirty="0">
                <a:latin typeface="Open Sans" panose="020B0606030504020204" pitchFamily="34" charset="0"/>
                <a:ea typeface="Open Sans" panose="020B0606030504020204" pitchFamily="34" charset="0"/>
                <a:cs typeface="Open Sans" panose="020B0606030504020204" pitchFamily="34" charset="0"/>
              </a:rPr>
              <a:t>Some of the quantities are subtle, or unable to measure them. </a:t>
            </a:r>
          </a:p>
          <a:p>
            <a:pPr marL="1219200" lvl="2" indent="0" algn="just">
              <a:spcBef>
                <a:spcPts val="0"/>
              </a:spcBef>
              <a:buNone/>
            </a:pPr>
            <a:r>
              <a:rPr lang="en-GB" sz="3600" dirty="0">
                <a:latin typeface="Open Sans" panose="020B0606030504020204" pitchFamily="34" charset="0"/>
                <a:ea typeface="Open Sans" panose="020B0606030504020204" pitchFamily="34" charset="0"/>
                <a:cs typeface="Open Sans" panose="020B0606030504020204" pitchFamily="34" charset="0"/>
              </a:rPr>
              <a:t>Example: “We don’t know how much engineer-time this will take”, even more nebulous: how do you measure the engineering cost of a poorly designed API? Or the societal impact of a product choice?</a:t>
            </a:r>
          </a:p>
        </p:txBody>
      </p:sp>
    </p:spTree>
    <p:extLst>
      <p:ext uri="{BB962C8B-B14F-4D97-AF65-F5344CB8AC3E}">
        <p14:creationId xmlns:p14="http://schemas.microsoft.com/office/powerpoint/2010/main" val="2064673714"/>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Trade-offs and costs</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0773371" cy="803546"/>
          </a:xfrm>
        </p:spPr>
        <p:txBody>
          <a:bodyPr>
            <a:normAutofit/>
          </a:bodyPr>
          <a:lstStyle/>
          <a:p>
            <a:r>
              <a:rPr lang="en-GB" sz="3200" b="1" dirty="0"/>
              <a:t>Deciding: time vs Scale</a:t>
            </a:r>
            <a:endParaRPr lang="en-US" dirty="0"/>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8583280"/>
          </a:xfrm>
        </p:spPr>
        <p:txBody>
          <a:bodyPr anchor="ctr">
            <a:normAutofit/>
          </a:bodyPr>
          <a:lstStyle/>
          <a:p>
            <a:pPr algn="just">
              <a:spcBef>
                <a:spcPts val="0"/>
              </a:spcBef>
            </a:pPr>
            <a:r>
              <a:rPr lang="en-GB" sz="3600" dirty="0">
                <a:latin typeface="Open Sans" panose="020B0606030504020204" pitchFamily="34" charset="0"/>
                <a:ea typeface="Open Sans" panose="020B0606030504020204" pitchFamily="34" charset="0"/>
                <a:cs typeface="Open Sans" panose="020B0606030504020204" pitchFamily="34" charset="0"/>
              </a:rPr>
              <a:t>Occasionally time and scale come into conflict</a:t>
            </a:r>
          </a:p>
          <a:p>
            <a:pPr marL="0" indent="0" algn="just">
              <a:spcBef>
                <a:spcPts val="0"/>
              </a:spcBef>
              <a:buNone/>
            </a:pPr>
            <a:endParaRPr lang="en-GB" sz="3600" dirty="0">
              <a:latin typeface="Open Sans" panose="020B0606030504020204" pitchFamily="34" charset="0"/>
              <a:ea typeface="Open Sans" panose="020B0606030504020204" pitchFamily="34" charset="0"/>
              <a:cs typeface="Open Sans" panose="020B0606030504020204" pitchFamily="34" charset="0"/>
            </a:endParaRPr>
          </a:p>
          <a:p>
            <a:pPr algn="just">
              <a:spcBef>
                <a:spcPts val="0"/>
              </a:spcBef>
            </a:pPr>
            <a:r>
              <a:rPr lang="en-GB" sz="3600" dirty="0">
                <a:latin typeface="Open Sans" panose="020B0606030504020204" pitchFamily="34" charset="0"/>
                <a:ea typeface="Open Sans" panose="020B0606030504020204" pitchFamily="34" charset="0"/>
                <a:cs typeface="Open Sans" panose="020B0606030504020204" pitchFamily="34" charset="0"/>
              </a:rPr>
              <a:t>As with most software engineering decisions, there isn’t a one-size-fits-all answer</a:t>
            </a:r>
          </a:p>
          <a:p>
            <a:pPr marL="0" indent="0" algn="just">
              <a:spcBef>
                <a:spcPts val="0"/>
              </a:spcBef>
              <a:buNone/>
            </a:pPr>
            <a:endParaRPr lang="en-GB" sz="3600" dirty="0">
              <a:latin typeface="Open Sans" panose="020B0606030504020204" pitchFamily="34" charset="0"/>
              <a:ea typeface="Open Sans" panose="020B0606030504020204" pitchFamily="34" charset="0"/>
              <a:cs typeface="Open Sans" panose="020B0606030504020204" pitchFamily="34" charset="0"/>
            </a:endParaRPr>
          </a:p>
          <a:p>
            <a:pPr algn="just">
              <a:spcBef>
                <a:spcPts val="0"/>
              </a:spcBef>
            </a:pPr>
            <a:r>
              <a:rPr lang="en-GB" sz="3600" dirty="0">
                <a:latin typeface="Open Sans" panose="020B0606030504020204" pitchFamily="34" charset="0"/>
                <a:ea typeface="Open Sans" panose="020B0606030504020204" pitchFamily="34" charset="0"/>
                <a:cs typeface="Open Sans" panose="020B0606030504020204" pitchFamily="34" charset="0"/>
              </a:rPr>
              <a:t>Consistency has great value, but generality comes with its own costs</a:t>
            </a:r>
          </a:p>
          <a:p>
            <a:pPr algn="just">
              <a:spcBef>
                <a:spcPts val="0"/>
              </a:spcBef>
            </a:pPr>
            <a:endParaRPr lang="en-GB" sz="36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376422192"/>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Trade-offs and costs</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0773371" cy="803546"/>
          </a:xfrm>
        </p:spPr>
        <p:txBody>
          <a:bodyPr>
            <a:normAutofit/>
          </a:bodyPr>
          <a:lstStyle/>
          <a:p>
            <a:r>
              <a:rPr lang="en-GB" sz="3200" b="1" dirty="0"/>
              <a:t>Revisiting Decisions, Making Mistakes</a:t>
            </a:r>
            <a:endParaRPr lang="en-US" dirty="0"/>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8583280"/>
          </a:xfrm>
        </p:spPr>
        <p:txBody>
          <a:bodyPr anchor="ctr">
            <a:normAutofit/>
          </a:bodyPr>
          <a:lstStyle/>
          <a:p>
            <a:pPr algn="just">
              <a:spcBef>
                <a:spcPts val="0"/>
              </a:spcBef>
            </a:pPr>
            <a:r>
              <a:rPr lang="en-GB" sz="3600" dirty="0">
                <a:latin typeface="Open Sans" panose="020B0606030504020204" pitchFamily="34" charset="0"/>
                <a:ea typeface="Open Sans" panose="020B0606030504020204" pitchFamily="34" charset="0"/>
                <a:cs typeface="Open Sans" panose="020B0606030504020204" pitchFamily="34" charset="0"/>
              </a:rPr>
              <a:t>One of the unsung benefits of committing to a data-driven culture is the combined ability and necessity of admitting to mistakes</a:t>
            </a:r>
          </a:p>
          <a:p>
            <a:pPr marL="0" indent="0" algn="just">
              <a:spcBef>
                <a:spcPts val="0"/>
              </a:spcBef>
              <a:buNone/>
            </a:pPr>
            <a:endParaRPr lang="en-GB" sz="3600" dirty="0">
              <a:latin typeface="Open Sans" panose="020B0606030504020204" pitchFamily="34" charset="0"/>
              <a:ea typeface="Open Sans" panose="020B0606030504020204" pitchFamily="34" charset="0"/>
              <a:cs typeface="Open Sans" panose="020B0606030504020204" pitchFamily="34" charset="0"/>
            </a:endParaRPr>
          </a:p>
          <a:p>
            <a:pPr algn="just">
              <a:spcBef>
                <a:spcPts val="0"/>
              </a:spcBef>
            </a:pPr>
            <a:r>
              <a:rPr lang="en-GB" sz="3600" dirty="0">
                <a:latin typeface="Open Sans" panose="020B0606030504020204" pitchFamily="34" charset="0"/>
                <a:ea typeface="Open Sans" panose="020B0606030504020204" pitchFamily="34" charset="0"/>
                <a:cs typeface="Open Sans" panose="020B0606030504020204" pitchFamily="34" charset="0"/>
              </a:rPr>
              <a:t>Time doesn’t only trigger changes in technical dependencies and software systems, but in data used to drive decisions</a:t>
            </a:r>
          </a:p>
          <a:p>
            <a:pPr marL="0" indent="0" algn="just">
              <a:spcBef>
                <a:spcPts val="0"/>
              </a:spcBef>
              <a:buNone/>
            </a:pPr>
            <a:endParaRPr lang="en-GB" sz="3600" dirty="0">
              <a:latin typeface="Open Sans" panose="020B0606030504020204" pitchFamily="34" charset="0"/>
              <a:ea typeface="Open Sans" panose="020B0606030504020204" pitchFamily="34" charset="0"/>
              <a:cs typeface="Open Sans" panose="020B0606030504020204" pitchFamily="34" charset="0"/>
            </a:endParaRPr>
          </a:p>
          <a:p>
            <a:pPr algn="just">
              <a:spcBef>
                <a:spcPts val="0"/>
              </a:spcBef>
            </a:pPr>
            <a:r>
              <a:rPr lang="en-GB" sz="3600" dirty="0">
                <a:latin typeface="Open Sans" panose="020B0606030504020204" pitchFamily="34" charset="0"/>
                <a:ea typeface="Open Sans" panose="020B0606030504020204" pitchFamily="34" charset="0"/>
                <a:cs typeface="Open Sans" panose="020B0606030504020204" pitchFamily="34" charset="0"/>
              </a:rPr>
              <a:t>Data informs decisions, but data will change over time, and new data may present itself </a:t>
            </a:r>
            <a:r>
              <a:rPr lang="en-GB" sz="360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a:t>
            </a:r>
            <a:r>
              <a:rPr lang="en-GB" sz="3600" dirty="0">
                <a:latin typeface="Open Sans" panose="020B0606030504020204" pitchFamily="34" charset="0"/>
                <a:ea typeface="Open Sans" panose="020B0606030504020204" pitchFamily="34" charset="0"/>
                <a:cs typeface="Open Sans" panose="020B0606030504020204" pitchFamily="34" charset="0"/>
              </a:rPr>
              <a:t> decisions will need to be revisited from time to time over the life span of the system in question</a:t>
            </a:r>
          </a:p>
          <a:p>
            <a:pPr marL="0" indent="0" algn="just">
              <a:spcBef>
                <a:spcPts val="0"/>
              </a:spcBef>
              <a:buNone/>
            </a:pPr>
            <a:endParaRPr lang="en-GB" sz="3600" dirty="0">
              <a:latin typeface="Open Sans" panose="020B0606030504020204" pitchFamily="34" charset="0"/>
              <a:ea typeface="Open Sans" panose="020B0606030504020204" pitchFamily="34" charset="0"/>
              <a:cs typeface="Open Sans" panose="020B0606030504020204" pitchFamily="34" charset="0"/>
            </a:endParaRPr>
          </a:p>
          <a:p>
            <a:pPr algn="just">
              <a:spcBef>
                <a:spcPts val="0"/>
              </a:spcBef>
            </a:pPr>
            <a:r>
              <a:rPr lang="en-GB" sz="3600" dirty="0">
                <a:latin typeface="Open Sans" panose="020B0606030504020204" pitchFamily="34" charset="0"/>
                <a:ea typeface="Open Sans" panose="020B0606030504020204" pitchFamily="34" charset="0"/>
                <a:cs typeface="Open Sans" panose="020B0606030504020204" pitchFamily="34" charset="0"/>
              </a:rPr>
              <a:t>For long-lived projects </a:t>
            </a:r>
            <a:r>
              <a:rPr lang="en-GB" sz="360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a:t>
            </a:r>
            <a:r>
              <a:rPr lang="en-GB" sz="3600" dirty="0">
                <a:latin typeface="Open Sans" panose="020B0606030504020204" pitchFamily="34" charset="0"/>
                <a:ea typeface="Open Sans" panose="020B0606030504020204" pitchFamily="34" charset="0"/>
                <a:cs typeface="Open Sans" panose="020B0606030504020204" pitchFamily="34" charset="0"/>
              </a:rPr>
              <a:t> it’s critical to have the ability to change directions after an initial decision is made and, importantly, the deciders need to have the right to admit mistakes</a:t>
            </a:r>
          </a:p>
        </p:txBody>
      </p:sp>
    </p:spTree>
    <p:extLst>
      <p:ext uri="{BB962C8B-B14F-4D97-AF65-F5344CB8AC3E}">
        <p14:creationId xmlns:p14="http://schemas.microsoft.com/office/powerpoint/2010/main" val="62256998"/>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The software Engineering Profession</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3735232" cy="840935"/>
          </a:xfrm>
        </p:spPr>
        <p:txBody>
          <a:bodyPr>
            <a:normAutofit/>
          </a:bodyPr>
          <a:lstStyle/>
          <a:p>
            <a:r>
              <a:rPr lang="en-ID" dirty="0"/>
              <a:t>Characteristics of the Software Engineering Profession</a:t>
            </a:r>
            <a:endParaRPr lang="en-US" dirty="0"/>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8583280"/>
          </a:xfrm>
        </p:spPr>
        <p:txBody>
          <a:bodyPr anchor="ctr">
            <a:normAutofit/>
          </a:bodyPr>
          <a:lstStyle/>
          <a:p>
            <a:pPr algn="just">
              <a:spcBef>
                <a:spcPts val="0"/>
              </a:spcBef>
            </a:pPr>
            <a:r>
              <a:rPr lang="en-GB" sz="3600" b="1" dirty="0">
                <a:latin typeface="Open Sans" panose="020B0606030504020204" pitchFamily="34" charset="0"/>
                <a:ea typeface="Open Sans" panose="020B0606030504020204" pitchFamily="34" charset="0"/>
                <a:cs typeface="Open Sans" panose="020B0606030504020204" pitchFamily="34" charset="0"/>
              </a:rPr>
              <a:t>Specialized Knowledge and Education</a:t>
            </a:r>
            <a:r>
              <a:rPr lang="en-GB" sz="3600" dirty="0">
                <a:latin typeface="Open Sans" panose="020B0606030504020204" pitchFamily="34" charset="0"/>
                <a:ea typeface="Open Sans" panose="020B0606030504020204" pitchFamily="34" charset="0"/>
                <a:cs typeface="Open Sans" panose="020B0606030504020204" pitchFamily="34" charset="0"/>
              </a:rPr>
              <a:t>: Software Engineering requires a deep understanding of both theoretical and practical aspects of software development, including algorithms, data structures, system design, and project management</a:t>
            </a:r>
          </a:p>
          <a:p>
            <a:pPr marL="0" indent="0" algn="just">
              <a:spcBef>
                <a:spcPts val="0"/>
              </a:spcBef>
              <a:buNone/>
            </a:pPr>
            <a:endParaRPr lang="en-GB" sz="3600" dirty="0">
              <a:latin typeface="Open Sans" panose="020B0606030504020204" pitchFamily="34" charset="0"/>
              <a:ea typeface="Open Sans" panose="020B0606030504020204" pitchFamily="34" charset="0"/>
              <a:cs typeface="Open Sans" panose="020B0606030504020204" pitchFamily="34" charset="0"/>
            </a:endParaRPr>
          </a:p>
          <a:p>
            <a:pPr algn="just">
              <a:spcBef>
                <a:spcPts val="0"/>
              </a:spcBef>
            </a:pPr>
            <a:r>
              <a:rPr lang="en-GB" sz="3600" b="1" dirty="0">
                <a:latin typeface="Open Sans" panose="020B0606030504020204" pitchFamily="34" charset="0"/>
                <a:ea typeface="Open Sans" panose="020B0606030504020204" pitchFamily="34" charset="0"/>
                <a:cs typeface="Open Sans" panose="020B0606030504020204" pitchFamily="34" charset="0"/>
              </a:rPr>
              <a:t>Adherence to Ethical Standards</a:t>
            </a:r>
            <a:r>
              <a:rPr lang="en-GB" sz="3600" dirty="0">
                <a:latin typeface="Open Sans" panose="020B0606030504020204" pitchFamily="34" charset="0"/>
                <a:ea typeface="Open Sans" panose="020B0606030504020204" pitchFamily="34" charset="0"/>
                <a:cs typeface="Open Sans" panose="020B0606030504020204" pitchFamily="34" charset="0"/>
              </a:rPr>
              <a:t>: Professional software engineers must adhere to ethical guidelines to ensure the responsible development and deployment of software.</a:t>
            </a:r>
          </a:p>
          <a:p>
            <a:pPr marL="0" indent="0" algn="just">
              <a:spcBef>
                <a:spcPts val="0"/>
              </a:spcBef>
              <a:buNone/>
            </a:pPr>
            <a:endParaRPr lang="en-GB" sz="3600" dirty="0">
              <a:latin typeface="Open Sans" panose="020B0606030504020204" pitchFamily="34" charset="0"/>
              <a:ea typeface="Open Sans" panose="020B0606030504020204" pitchFamily="34" charset="0"/>
              <a:cs typeface="Open Sans" panose="020B0606030504020204" pitchFamily="34" charset="0"/>
            </a:endParaRPr>
          </a:p>
          <a:p>
            <a:pPr algn="just">
              <a:spcBef>
                <a:spcPts val="0"/>
              </a:spcBef>
            </a:pPr>
            <a:r>
              <a:rPr lang="en-GB" sz="3600" b="1" dirty="0">
                <a:latin typeface="Open Sans" panose="020B0606030504020204" pitchFamily="34" charset="0"/>
                <a:ea typeface="Open Sans" panose="020B0606030504020204" pitchFamily="34" charset="0"/>
                <a:cs typeface="Open Sans" panose="020B0606030504020204" pitchFamily="34" charset="0"/>
              </a:rPr>
              <a:t>Commitment to Quality and Best Practices</a:t>
            </a:r>
            <a:r>
              <a:rPr lang="en-GB" sz="3600" dirty="0">
                <a:latin typeface="Open Sans" panose="020B0606030504020204" pitchFamily="34" charset="0"/>
                <a:ea typeface="Open Sans" panose="020B0606030504020204" pitchFamily="34" charset="0"/>
                <a:cs typeface="Open Sans" panose="020B0606030504020204" pitchFamily="34" charset="0"/>
              </a:rPr>
              <a:t>: Ensuring the quality of software through best practices is a hallmark of the profession.</a:t>
            </a:r>
          </a:p>
          <a:p>
            <a:pPr marL="0" indent="0" algn="just">
              <a:spcBef>
                <a:spcPts val="0"/>
              </a:spcBef>
              <a:buNone/>
            </a:pPr>
            <a:endParaRPr lang="en-GB" sz="3600" dirty="0">
              <a:latin typeface="Open Sans" panose="020B0606030504020204" pitchFamily="34" charset="0"/>
              <a:ea typeface="Open Sans" panose="020B0606030504020204" pitchFamily="34" charset="0"/>
              <a:cs typeface="Open Sans" panose="020B0606030504020204" pitchFamily="34" charset="0"/>
            </a:endParaRPr>
          </a:p>
          <a:p>
            <a:pPr algn="just">
              <a:spcBef>
                <a:spcPts val="0"/>
              </a:spcBef>
            </a:pPr>
            <a:r>
              <a:rPr lang="en-GB" sz="3600" b="1" dirty="0">
                <a:latin typeface="Open Sans" panose="020B0606030504020204" pitchFamily="34" charset="0"/>
                <a:ea typeface="Open Sans" panose="020B0606030504020204" pitchFamily="34" charset="0"/>
                <a:cs typeface="Open Sans" panose="020B0606030504020204" pitchFamily="34" charset="0"/>
              </a:rPr>
              <a:t>Professional Development and Lifelong Learning</a:t>
            </a:r>
            <a:r>
              <a:rPr lang="en-GB" sz="3600" dirty="0">
                <a:latin typeface="Open Sans" panose="020B0606030504020204" pitchFamily="34" charset="0"/>
                <a:ea typeface="Open Sans" panose="020B0606030504020204" pitchFamily="34" charset="0"/>
                <a:cs typeface="Open Sans" panose="020B0606030504020204" pitchFamily="34" charset="0"/>
              </a:rPr>
              <a:t>: The dynamic nature of technology requires software engineers to engage in lifelong learning to stay current with advancements.</a:t>
            </a:r>
            <a:endParaRPr lang="en-GB" sz="3600" b="1" dirty="0">
              <a:latin typeface="Open Sans" panose="020B0606030504020204" pitchFamily="34" charset="0"/>
              <a:ea typeface="Open Sans" panose="020B0606030504020204" pitchFamily="34" charset="0"/>
              <a:cs typeface="Open Sans" panose="020B0606030504020204" pitchFamily="34" charset="0"/>
            </a:endParaRPr>
          </a:p>
          <a:p>
            <a:pPr algn="just">
              <a:spcBef>
                <a:spcPts val="0"/>
              </a:spcBef>
            </a:pPr>
            <a:endParaRPr lang="en-GB" sz="36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70048655"/>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The software Engineering Profession</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3735232" cy="840935"/>
          </a:xfrm>
        </p:spPr>
        <p:txBody>
          <a:bodyPr>
            <a:normAutofit/>
          </a:bodyPr>
          <a:lstStyle/>
          <a:p>
            <a:r>
              <a:rPr lang="en-ID" dirty="0"/>
              <a:t>Roles and Responsibilities in Software Engineering</a:t>
            </a:r>
            <a:endParaRPr lang="en-US" dirty="0"/>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2"/>
            <a:ext cx="20295058" cy="10455337"/>
          </a:xfrm>
        </p:spPr>
        <p:txBody>
          <a:bodyPr anchor="ctr">
            <a:normAutofit lnSpcReduction="10000"/>
          </a:bodyPr>
          <a:lstStyle/>
          <a:p>
            <a:pPr algn="just">
              <a:spcBef>
                <a:spcPts val="0"/>
              </a:spcBef>
            </a:pPr>
            <a:r>
              <a:rPr lang="en-GB" sz="3600" b="1" dirty="0">
                <a:latin typeface="Open Sans" panose="020B0606030504020204" pitchFamily="34" charset="0"/>
                <a:ea typeface="Open Sans" panose="020B0606030504020204" pitchFamily="34" charset="0"/>
                <a:cs typeface="Open Sans" panose="020B0606030504020204" pitchFamily="34" charset="0"/>
              </a:rPr>
              <a:t>Software Developer/Engineer</a:t>
            </a:r>
          </a:p>
          <a:p>
            <a:pPr lvl="1" algn="just">
              <a:spcBef>
                <a:spcPts val="0"/>
              </a:spcBef>
            </a:pPr>
            <a:r>
              <a:rPr lang="en-GB" sz="3600" b="1" dirty="0">
                <a:latin typeface="Open Sans" panose="020B0606030504020204" pitchFamily="34" charset="0"/>
                <a:ea typeface="Open Sans" panose="020B0606030504020204" pitchFamily="34" charset="0"/>
                <a:cs typeface="Open Sans" panose="020B0606030504020204" pitchFamily="34" charset="0"/>
              </a:rPr>
              <a:t>Design and Implementation</a:t>
            </a:r>
            <a:r>
              <a:rPr lang="en-GB" sz="3600" dirty="0">
                <a:latin typeface="Open Sans" panose="020B0606030504020204" pitchFamily="34" charset="0"/>
                <a:ea typeface="Open Sans" panose="020B0606030504020204" pitchFamily="34" charset="0"/>
                <a:cs typeface="Open Sans" panose="020B0606030504020204" pitchFamily="34" charset="0"/>
              </a:rPr>
              <a:t>: Writing code, designing system architecture, and implementing software solutions</a:t>
            </a:r>
          </a:p>
          <a:p>
            <a:pPr lvl="1" algn="just">
              <a:spcBef>
                <a:spcPts val="0"/>
              </a:spcBef>
            </a:pPr>
            <a:r>
              <a:rPr lang="en-GB" sz="3600" b="1" dirty="0">
                <a:latin typeface="Open Sans" panose="020B0606030504020204" pitchFamily="34" charset="0"/>
                <a:ea typeface="Open Sans" panose="020B0606030504020204" pitchFamily="34" charset="0"/>
                <a:cs typeface="Open Sans" panose="020B0606030504020204" pitchFamily="34" charset="0"/>
              </a:rPr>
              <a:t>Maintenance</a:t>
            </a:r>
            <a:r>
              <a:rPr lang="en-GB" sz="3600" dirty="0">
                <a:latin typeface="Open Sans" panose="020B0606030504020204" pitchFamily="34" charset="0"/>
                <a:ea typeface="Open Sans" panose="020B0606030504020204" pitchFamily="34" charset="0"/>
                <a:cs typeface="Open Sans" panose="020B0606030504020204" pitchFamily="34" charset="0"/>
              </a:rPr>
              <a:t>: Updating and improving existing software systems to enhance functionality and performance</a:t>
            </a:r>
          </a:p>
          <a:p>
            <a:pPr marL="609600" lvl="1" indent="0" algn="just">
              <a:spcBef>
                <a:spcPts val="0"/>
              </a:spcBef>
              <a:buNone/>
            </a:pPr>
            <a:endParaRPr lang="en-GB" sz="3600" dirty="0">
              <a:latin typeface="Open Sans" panose="020B0606030504020204" pitchFamily="34" charset="0"/>
              <a:ea typeface="Open Sans" panose="020B0606030504020204" pitchFamily="34" charset="0"/>
              <a:cs typeface="Open Sans" panose="020B0606030504020204" pitchFamily="34" charset="0"/>
            </a:endParaRPr>
          </a:p>
          <a:p>
            <a:pPr algn="just">
              <a:spcBef>
                <a:spcPts val="0"/>
              </a:spcBef>
            </a:pPr>
            <a:r>
              <a:rPr lang="en-GB" sz="3600" b="1" dirty="0">
                <a:latin typeface="Open Sans" panose="020B0606030504020204" pitchFamily="34" charset="0"/>
                <a:ea typeface="Open Sans" panose="020B0606030504020204" pitchFamily="34" charset="0"/>
                <a:cs typeface="Open Sans" panose="020B0606030504020204" pitchFamily="34" charset="0"/>
              </a:rPr>
              <a:t>Project Manager</a:t>
            </a:r>
          </a:p>
          <a:p>
            <a:pPr lvl="1" algn="just">
              <a:spcBef>
                <a:spcPts val="0"/>
              </a:spcBef>
            </a:pPr>
            <a:r>
              <a:rPr lang="en-GB" sz="3600" b="1" dirty="0">
                <a:latin typeface="Open Sans" panose="020B0606030504020204" pitchFamily="34" charset="0"/>
                <a:ea typeface="Open Sans" panose="020B0606030504020204" pitchFamily="34" charset="0"/>
                <a:cs typeface="Open Sans" panose="020B0606030504020204" pitchFamily="34" charset="0"/>
              </a:rPr>
              <a:t>Planning and Coordination</a:t>
            </a:r>
            <a:r>
              <a:rPr lang="en-GB" sz="3600" dirty="0">
                <a:latin typeface="Open Sans" panose="020B0606030504020204" pitchFamily="34" charset="0"/>
                <a:ea typeface="Open Sans" panose="020B0606030504020204" pitchFamily="34" charset="0"/>
                <a:cs typeface="Open Sans" panose="020B0606030504020204" pitchFamily="34" charset="0"/>
              </a:rPr>
              <a:t>: Defining project scope, timelines, and resource allocation.</a:t>
            </a:r>
          </a:p>
          <a:p>
            <a:pPr lvl="1" algn="just">
              <a:spcBef>
                <a:spcPts val="0"/>
              </a:spcBef>
            </a:pPr>
            <a:r>
              <a:rPr lang="en-GB" sz="3600" b="1" dirty="0">
                <a:latin typeface="Open Sans" panose="020B0606030504020204" pitchFamily="34" charset="0"/>
                <a:ea typeface="Open Sans" panose="020B0606030504020204" pitchFamily="34" charset="0"/>
                <a:cs typeface="Open Sans" panose="020B0606030504020204" pitchFamily="34" charset="0"/>
              </a:rPr>
              <a:t>Risk Management</a:t>
            </a:r>
            <a:r>
              <a:rPr lang="en-GB" sz="3600" dirty="0">
                <a:latin typeface="Open Sans" panose="020B0606030504020204" pitchFamily="34" charset="0"/>
                <a:ea typeface="Open Sans" panose="020B0606030504020204" pitchFamily="34" charset="0"/>
                <a:cs typeface="Open Sans" panose="020B0606030504020204" pitchFamily="34" charset="0"/>
              </a:rPr>
              <a:t>: Identifying potential risks and implementing mitigation strategies.</a:t>
            </a:r>
          </a:p>
          <a:p>
            <a:pPr marL="0" indent="0" algn="just">
              <a:spcBef>
                <a:spcPts val="0"/>
              </a:spcBef>
              <a:buNone/>
            </a:pPr>
            <a:endParaRPr lang="en-GB" sz="3600" dirty="0">
              <a:latin typeface="Open Sans" panose="020B0606030504020204" pitchFamily="34" charset="0"/>
              <a:ea typeface="Open Sans" panose="020B0606030504020204" pitchFamily="34" charset="0"/>
              <a:cs typeface="Open Sans" panose="020B0606030504020204" pitchFamily="34" charset="0"/>
            </a:endParaRPr>
          </a:p>
          <a:p>
            <a:pPr algn="just">
              <a:spcBef>
                <a:spcPts val="0"/>
              </a:spcBef>
            </a:pPr>
            <a:r>
              <a:rPr lang="en-GB" sz="3600" b="1" dirty="0">
                <a:latin typeface="Open Sans" panose="020B0606030504020204" pitchFamily="34" charset="0"/>
                <a:ea typeface="Open Sans" panose="020B0606030504020204" pitchFamily="34" charset="0"/>
                <a:cs typeface="Open Sans" panose="020B0606030504020204" pitchFamily="34" charset="0"/>
              </a:rPr>
              <a:t>Quality Assurance (QA) Engineer</a:t>
            </a:r>
          </a:p>
          <a:p>
            <a:pPr lvl="1" algn="just">
              <a:spcBef>
                <a:spcPts val="0"/>
              </a:spcBef>
            </a:pPr>
            <a:r>
              <a:rPr lang="en-GB" sz="3600" b="1" dirty="0">
                <a:latin typeface="Open Sans" panose="020B0606030504020204" pitchFamily="34" charset="0"/>
                <a:ea typeface="Open Sans" panose="020B0606030504020204" pitchFamily="34" charset="0"/>
                <a:cs typeface="Open Sans" panose="020B0606030504020204" pitchFamily="34" charset="0"/>
              </a:rPr>
              <a:t>Testing</a:t>
            </a:r>
            <a:r>
              <a:rPr lang="en-GB" sz="3600" dirty="0">
                <a:latin typeface="Open Sans" panose="020B0606030504020204" pitchFamily="34" charset="0"/>
                <a:ea typeface="Open Sans" panose="020B0606030504020204" pitchFamily="34" charset="0"/>
                <a:cs typeface="Open Sans" panose="020B0606030504020204" pitchFamily="34" charset="0"/>
              </a:rPr>
              <a:t>: Developing and executing test plans to identify and resolve defects.</a:t>
            </a:r>
          </a:p>
          <a:p>
            <a:pPr lvl="1" algn="just">
              <a:spcBef>
                <a:spcPts val="0"/>
              </a:spcBef>
            </a:pPr>
            <a:r>
              <a:rPr lang="en-GB" sz="3600" b="1" dirty="0">
                <a:latin typeface="Open Sans" panose="020B0606030504020204" pitchFamily="34" charset="0"/>
                <a:ea typeface="Open Sans" panose="020B0606030504020204" pitchFamily="34" charset="0"/>
                <a:cs typeface="Open Sans" panose="020B0606030504020204" pitchFamily="34" charset="0"/>
              </a:rPr>
              <a:t>Process Improvement</a:t>
            </a:r>
            <a:r>
              <a:rPr lang="en-GB" sz="3600" dirty="0">
                <a:latin typeface="Open Sans" panose="020B0606030504020204" pitchFamily="34" charset="0"/>
                <a:ea typeface="Open Sans" panose="020B0606030504020204" pitchFamily="34" charset="0"/>
                <a:cs typeface="Open Sans" panose="020B0606030504020204" pitchFamily="34" charset="0"/>
              </a:rPr>
              <a:t>: Establishing quality standards and improving testing methodologies.</a:t>
            </a:r>
          </a:p>
          <a:p>
            <a:pPr marL="0" indent="0" algn="just">
              <a:spcBef>
                <a:spcPts val="0"/>
              </a:spcBef>
              <a:buNone/>
            </a:pPr>
            <a:endParaRPr lang="en-GB" sz="3600" dirty="0">
              <a:latin typeface="Open Sans" panose="020B0606030504020204" pitchFamily="34" charset="0"/>
              <a:ea typeface="Open Sans" panose="020B0606030504020204" pitchFamily="34" charset="0"/>
              <a:cs typeface="Open Sans" panose="020B0606030504020204" pitchFamily="34" charset="0"/>
            </a:endParaRPr>
          </a:p>
          <a:p>
            <a:pPr algn="just">
              <a:spcBef>
                <a:spcPts val="0"/>
              </a:spcBef>
            </a:pPr>
            <a:r>
              <a:rPr lang="en-GB" sz="3600" b="1" dirty="0">
                <a:latin typeface="Open Sans" panose="020B0606030504020204" pitchFamily="34" charset="0"/>
                <a:ea typeface="Open Sans" panose="020B0606030504020204" pitchFamily="34" charset="0"/>
                <a:cs typeface="Open Sans" panose="020B0606030504020204" pitchFamily="34" charset="0"/>
              </a:rPr>
              <a:t>Systems Analyst</a:t>
            </a:r>
          </a:p>
          <a:p>
            <a:pPr lvl="1" algn="just">
              <a:spcBef>
                <a:spcPts val="0"/>
              </a:spcBef>
            </a:pPr>
            <a:r>
              <a:rPr lang="en-GB" sz="3600" b="1" dirty="0">
                <a:latin typeface="Open Sans" panose="020B0606030504020204" pitchFamily="34" charset="0"/>
                <a:ea typeface="Open Sans" panose="020B0606030504020204" pitchFamily="34" charset="0"/>
                <a:cs typeface="Open Sans" panose="020B0606030504020204" pitchFamily="34" charset="0"/>
              </a:rPr>
              <a:t>Requirements Gathering</a:t>
            </a:r>
            <a:r>
              <a:rPr lang="en-GB" sz="3600" dirty="0">
                <a:latin typeface="Open Sans" panose="020B0606030504020204" pitchFamily="34" charset="0"/>
                <a:ea typeface="Open Sans" panose="020B0606030504020204" pitchFamily="34" charset="0"/>
                <a:cs typeface="Open Sans" panose="020B0606030504020204" pitchFamily="34" charset="0"/>
              </a:rPr>
              <a:t>: Understanding and documenting user requirements and system specifications.</a:t>
            </a:r>
          </a:p>
          <a:p>
            <a:pPr lvl="1" algn="just">
              <a:spcBef>
                <a:spcPts val="0"/>
              </a:spcBef>
            </a:pPr>
            <a:r>
              <a:rPr lang="en-GB" sz="3600" b="1" dirty="0">
                <a:latin typeface="Open Sans" panose="020B0606030504020204" pitchFamily="34" charset="0"/>
                <a:ea typeface="Open Sans" panose="020B0606030504020204" pitchFamily="34" charset="0"/>
                <a:cs typeface="Open Sans" panose="020B0606030504020204" pitchFamily="34" charset="0"/>
              </a:rPr>
              <a:t>System Design</a:t>
            </a:r>
            <a:r>
              <a:rPr lang="en-GB" sz="3600" dirty="0">
                <a:latin typeface="Open Sans" panose="020B0606030504020204" pitchFamily="34" charset="0"/>
                <a:ea typeface="Open Sans" panose="020B0606030504020204" pitchFamily="34" charset="0"/>
                <a:cs typeface="Open Sans" panose="020B0606030504020204" pitchFamily="34" charset="0"/>
              </a:rPr>
              <a:t>: Translating requirements into technical specifications and system designs.</a:t>
            </a:r>
          </a:p>
        </p:txBody>
      </p:sp>
    </p:spTree>
    <p:extLst>
      <p:ext uri="{BB962C8B-B14F-4D97-AF65-F5344CB8AC3E}">
        <p14:creationId xmlns:p14="http://schemas.microsoft.com/office/powerpoint/2010/main" val="1861062036"/>
      </p:ext>
    </p:ext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The software Engineering Profession</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3735232" cy="840935"/>
          </a:xfrm>
        </p:spPr>
        <p:txBody>
          <a:bodyPr>
            <a:normAutofit/>
          </a:bodyPr>
          <a:lstStyle/>
          <a:p>
            <a:r>
              <a:rPr lang="en-ID" dirty="0"/>
              <a:t>Career Paths in Software Engineering: Specializations</a:t>
            </a:r>
            <a:endParaRPr lang="en-US" dirty="0"/>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2"/>
            <a:ext cx="20295058" cy="10455337"/>
          </a:xfrm>
        </p:spPr>
        <p:txBody>
          <a:bodyPr anchor="ctr">
            <a:normAutofit/>
          </a:bodyPr>
          <a:lstStyle/>
          <a:p>
            <a:pPr algn="just">
              <a:spcBef>
                <a:spcPts val="0"/>
              </a:spcBef>
            </a:pPr>
            <a:r>
              <a:rPr lang="en-GB" sz="3600" b="1" dirty="0">
                <a:latin typeface="Open Sans" panose="020B0606030504020204" pitchFamily="34" charset="0"/>
                <a:ea typeface="Open Sans" panose="020B0606030504020204" pitchFamily="34" charset="0"/>
                <a:cs typeface="Open Sans" panose="020B0606030504020204" pitchFamily="34" charset="0"/>
              </a:rPr>
              <a:t>Frontend Development</a:t>
            </a:r>
            <a:r>
              <a:rPr lang="en-GB" sz="3600" dirty="0">
                <a:latin typeface="Open Sans" panose="020B0606030504020204" pitchFamily="34" charset="0"/>
                <a:ea typeface="Open Sans" panose="020B0606030504020204" pitchFamily="34" charset="0"/>
                <a:cs typeface="Open Sans" panose="020B0606030504020204" pitchFamily="34" charset="0"/>
              </a:rPr>
              <a:t>: Focuses on user interface and user experience design.</a:t>
            </a:r>
          </a:p>
          <a:p>
            <a:pPr marL="0" indent="0" algn="just">
              <a:spcBef>
                <a:spcPts val="0"/>
              </a:spcBef>
              <a:buNone/>
            </a:pPr>
            <a:endParaRPr lang="en-GB" sz="3600" dirty="0">
              <a:latin typeface="Open Sans" panose="020B0606030504020204" pitchFamily="34" charset="0"/>
              <a:ea typeface="Open Sans" panose="020B0606030504020204" pitchFamily="34" charset="0"/>
              <a:cs typeface="Open Sans" panose="020B0606030504020204" pitchFamily="34" charset="0"/>
            </a:endParaRPr>
          </a:p>
          <a:p>
            <a:pPr algn="just">
              <a:spcBef>
                <a:spcPts val="0"/>
              </a:spcBef>
            </a:pPr>
            <a:r>
              <a:rPr lang="en-GB" sz="3600" b="1" dirty="0">
                <a:latin typeface="Open Sans" panose="020B0606030504020204" pitchFamily="34" charset="0"/>
                <a:ea typeface="Open Sans" panose="020B0606030504020204" pitchFamily="34" charset="0"/>
                <a:cs typeface="Open Sans" panose="020B0606030504020204" pitchFamily="34" charset="0"/>
              </a:rPr>
              <a:t>Backend Development</a:t>
            </a:r>
            <a:r>
              <a:rPr lang="en-GB" sz="3600" dirty="0">
                <a:latin typeface="Open Sans" panose="020B0606030504020204" pitchFamily="34" charset="0"/>
                <a:ea typeface="Open Sans" panose="020B0606030504020204" pitchFamily="34" charset="0"/>
                <a:cs typeface="Open Sans" panose="020B0606030504020204" pitchFamily="34" charset="0"/>
              </a:rPr>
              <a:t>: Involves server-side logic, databases, and application integration.</a:t>
            </a:r>
          </a:p>
          <a:p>
            <a:pPr marL="0" indent="0" algn="just">
              <a:spcBef>
                <a:spcPts val="0"/>
              </a:spcBef>
              <a:buNone/>
            </a:pPr>
            <a:endParaRPr lang="en-GB" sz="3600" dirty="0">
              <a:latin typeface="Open Sans" panose="020B0606030504020204" pitchFamily="34" charset="0"/>
              <a:ea typeface="Open Sans" panose="020B0606030504020204" pitchFamily="34" charset="0"/>
              <a:cs typeface="Open Sans" panose="020B0606030504020204" pitchFamily="34" charset="0"/>
            </a:endParaRPr>
          </a:p>
          <a:p>
            <a:pPr algn="just">
              <a:spcBef>
                <a:spcPts val="0"/>
              </a:spcBef>
            </a:pPr>
            <a:r>
              <a:rPr lang="en-GB" sz="3600" b="1" dirty="0">
                <a:latin typeface="Open Sans" panose="020B0606030504020204" pitchFamily="34" charset="0"/>
                <a:ea typeface="Open Sans" panose="020B0606030504020204" pitchFamily="34" charset="0"/>
                <a:cs typeface="Open Sans" panose="020B0606030504020204" pitchFamily="34" charset="0"/>
              </a:rPr>
              <a:t>DevOps Engineering</a:t>
            </a:r>
            <a:r>
              <a:rPr lang="en-GB" sz="3600" dirty="0">
                <a:latin typeface="Open Sans" panose="020B0606030504020204" pitchFamily="34" charset="0"/>
                <a:ea typeface="Open Sans" panose="020B0606030504020204" pitchFamily="34" charset="0"/>
                <a:cs typeface="Open Sans" panose="020B0606030504020204" pitchFamily="34" charset="0"/>
              </a:rPr>
              <a:t>: Combines software development with IT operations to streamline the development lifecycle.</a:t>
            </a:r>
          </a:p>
          <a:p>
            <a:pPr marL="0" indent="0" algn="just">
              <a:spcBef>
                <a:spcPts val="0"/>
              </a:spcBef>
              <a:buNone/>
            </a:pPr>
            <a:endParaRPr lang="en-GB" sz="3600" dirty="0">
              <a:latin typeface="Open Sans" panose="020B0606030504020204" pitchFamily="34" charset="0"/>
              <a:ea typeface="Open Sans" panose="020B0606030504020204" pitchFamily="34" charset="0"/>
              <a:cs typeface="Open Sans" panose="020B0606030504020204" pitchFamily="34" charset="0"/>
            </a:endParaRPr>
          </a:p>
          <a:p>
            <a:pPr algn="just">
              <a:spcBef>
                <a:spcPts val="0"/>
              </a:spcBef>
            </a:pPr>
            <a:r>
              <a:rPr lang="en-GB" sz="3600" b="1" dirty="0">
                <a:latin typeface="Open Sans" panose="020B0606030504020204" pitchFamily="34" charset="0"/>
                <a:ea typeface="Open Sans" panose="020B0606030504020204" pitchFamily="34" charset="0"/>
                <a:cs typeface="Open Sans" panose="020B0606030504020204" pitchFamily="34" charset="0"/>
              </a:rPr>
              <a:t>Data Engineering</a:t>
            </a:r>
            <a:r>
              <a:rPr lang="en-GB" sz="3600" dirty="0">
                <a:latin typeface="Open Sans" panose="020B0606030504020204" pitchFamily="34" charset="0"/>
                <a:ea typeface="Open Sans" panose="020B0606030504020204" pitchFamily="34" charset="0"/>
                <a:cs typeface="Open Sans" panose="020B0606030504020204" pitchFamily="34" charset="0"/>
              </a:rPr>
              <a:t>: Deals with designing and managing data pipelines and architectures.</a:t>
            </a:r>
          </a:p>
          <a:p>
            <a:pPr marL="0" indent="0" algn="just">
              <a:spcBef>
                <a:spcPts val="0"/>
              </a:spcBef>
              <a:buNone/>
            </a:pPr>
            <a:endParaRPr lang="en-GB" sz="3600" dirty="0">
              <a:latin typeface="Open Sans" panose="020B0606030504020204" pitchFamily="34" charset="0"/>
              <a:ea typeface="Open Sans" panose="020B0606030504020204" pitchFamily="34" charset="0"/>
              <a:cs typeface="Open Sans" panose="020B0606030504020204" pitchFamily="34" charset="0"/>
            </a:endParaRPr>
          </a:p>
          <a:p>
            <a:pPr algn="just">
              <a:spcBef>
                <a:spcPts val="0"/>
              </a:spcBef>
            </a:pPr>
            <a:r>
              <a:rPr lang="en-GB" sz="3600" b="1" dirty="0">
                <a:latin typeface="Open Sans" panose="020B0606030504020204" pitchFamily="34" charset="0"/>
                <a:ea typeface="Open Sans" panose="020B0606030504020204" pitchFamily="34" charset="0"/>
                <a:cs typeface="Open Sans" panose="020B0606030504020204" pitchFamily="34" charset="0"/>
              </a:rPr>
              <a:t>Machine Learning Engineering</a:t>
            </a:r>
            <a:r>
              <a:rPr lang="en-GB" sz="3600" dirty="0">
                <a:latin typeface="Open Sans" panose="020B0606030504020204" pitchFamily="34" charset="0"/>
                <a:ea typeface="Open Sans" panose="020B0606030504020204" pitchFamily="34" charset="0"/>
                <a:cs typeface="Open Sans" panose="020B0606030504020204" pitchFamily="34" charset="0"/>
              </a:rPr>
              <a:t>: Specializes in developing and deploying machine learning models.</a:t>
            </a:r>
          </a:p>
        </p:txBody>
      </p:sp>
    </p:spTree>
    <p:extLst>
      <p:ext uri="{BB962C8B-B14F-4D97-AF65-F5344CB8AC3E}">
        <p14:creationId xmlns:p14="http://schemas.microsoft.com/office/powerpoint/2010/main" val="620011175"/>
      </p:ext>
    </p:ext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The software Engineering Profession</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7273562" cy="840935"/>
          </a:xfrm>
        </p:spPr>
        <p:txBody>
          <a:bodyPr>
            <a:normAutofit/>
          </a:bodyPr>
          <a:lstStyle/>
          <a:p>
            <a:r>
              <a:rPr lang="en-ID" dirty="0"/>
              <a:t>Career Paths in Software Engineering: Advancement Opportunities</a:t>
            </a:r>
            <a:endParaRPr lang="en-US" dirty="0"/>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2"/>
            <a:ext cx="20295058" cy="10455337"/>
          </a:xfrm>
        </p:spPr>
        <p:txBody>
          <a:bodyPr anchor="ctr">
            <a:normAutofit/>
          </a:bodyPr>
          <a:lstStyle/>
          <a:p>
            <a:pPr algn="just">
              <a:spcBef>
                <a:spcPts val="0"/>
              </a:spcBef>
            </a:pPr>
            <a:r>
              <a:rPr lang="en-GB" sz="3600" b="1" dirty="0">
                <a:latin typeface="Open Sans" panose="020B0606030504020204" pitchFamily="34" charset="0"/>
                <a:ea typeface="Open Sans" panose="020B0606030504020204" pitchFamily="34" charset="0"/>
                <a:cs typeface="Open Sans" panose="020B0606030504020204" pitchFamily="34" charset="0"/>
              </a:rPr>
              <a:t>Senior Software Engineer</a:t>
            </a:r>
            <a:r>
              <a:rPr lang="en-GB" sz="3600" dirty="0">
                <a:latin typeface="Open Sans" panose="020B0606030504020204" pitchFamily="34" charset="0"/>
                <a:ea typeface="Open Sans" panose="020B0606030504020204" pitchFamily="34" charset="0"/>
                <a:cs typeface="Open Sans" panose="020B0606030504020204" pitchFamily="34" charset="0"/>
              </a:rPr>
              <a:t>: Takes on more complex projects and mentors junior engineers.</a:t>
            </a:r>
          </a:p>
          <a:p>
            <a:pPr marL="0" indent="0" algn="just">
              <a:spcBef>
                <a:spcPts val="0"/>
              </a:spcBef>
              <a:buNone/>
            </a:pPr>
            <a:endParaRPr lang="en-GB" sz="3600" dirty="0">
              <a:latin typeface="Open Sans" panose="020B0606030504020204" pitchFamily="34" charset="0"/>
              <a:ea typeface="Open Sans" panose="020B0606030504020204" pitchFamily="34" charset="0"/>
              <a:cs typeface="Open Sans" panose="020B0606030504020204" pitchFamily="34" charset="0"/>
            </a:endParaRPr>
          </a:p>
          <a:p>
            <a:pPr algn="just">
              <a:spcBef>
                <a:spcPts val="0"/>
              </a:spcBef>
            </a:pPr>
            <a:r>
              <a:rPr lang="en-GB" sz="3600" b="1" dirty="0">
                <a:latin typeface="Open Sans" panose="020B0606030504020204" pitchFamily="34" charset="0"/>
                <a:ea typeface="Open Sans" panose="020B0606030504020204" pitchFamily="34" charset="0"/>
                <a:cs typeface="Open Sans" panose="020B0606030504020204" pitchFamily="34" charset="0"/>
              </a:rPr>
              <a:t>Technical Lead/Team Lead</a:t>
            </a:r>
            <a:r>
              <a:rPr lang="en-GB" sz="3600" dirty="0">
                <a:latin typeface="Open Sans" panose="020B0606030504020204" pitchFamily="34" charset="0"/>
                <a:ea typeface="Open Sans" panose="020B0606030504020204" pitchFamily="34" charset="0"/>
                <a:cs typeface="Open Sans" panose="020B0606030504020204" pitchFamily="34" charset="0"/>
              </a:rPr>
              <a:t>: Manages a team of developers, oversees project progress, and ensures technical standards.</a:t>
            </a:r>
          </a:p>
          <a:p>
            <a:pPr marL="0" indent="0" algn="just">
              <a:spcBef>
                <a:spcPts val="0"/>
              </a:spcBef>
              <a:buNone/>
            </a:pPr>
            <a:endParaRPr lang="en-GB" sz="3600" dirty="0">
              <a:latin typeface="Open Sans" panose="020B0606030504020204" pitchFamily="34" charset="0"/>
              <a:ea typeface="Open Sans" panose="020B0606030504020204" pitchFamily="34" charset="0"/>
              <a:cs typeface="Open Sans" panose="020B0606030504020204" pitchFamily="34" charset="0"/>
            </a:endParaRPr>
          </a:p>
          <a:p>
            <a:pPr algn="just">
              <a:spcBef>
                <a:spcPts val="0"/>
              </a:spcBef>
            </a:pPr>
            <a:r>
              <a:rPr lang="en-GB" sz="3600" b="1" dirty="0">
                <a:latin typeface="Open Sans" panose="020B0606030504020204" pitchFamily="34" charset="0"/>
                <a:ea typeface="Open Sans" panose="020B0606030504020204" pitchFamily="34" charset="0"/>
                <a:cs typeface="Open Sans" panose="020B0606030504020204" pitchFamily="34" charset="0"/>
              </a:rPr>
              <a:t>Software Architect</a:t>
            </a:r>
            <a:r>
              <a:rPr lang="en-GB" sz="3600" dirty="0">
                <a:latin typeface="Open Sans" panose="020B0606030504020204" pitchFamily="34" charset="0"/>
                <a:ea typeface="Open Sans" panose="020B0606030504020204" pitchFamily="34" charset="0"/>
                <a:cs typeface="Open Sans" panose="020B0606030504020204" pitchFamily="34" charset="0"/>
              </a:rPr>
              <a:t>: Designs high-level software structures and frameworks.</a:t>
            </a:r>
          </a:p>
          <a:p>
            <a:pPr marL="0" indent="0" algn="just">
              <a:spcBef>
                <a:spcPts val="0"/>
              </a:spcBef>
              <a:buNone/>
            </a:pPr>
            <a:endParaRPr lang="en-GB" sz="3600" dirty="0">
              <a:latin typeface="Open Sans" panose="020B0606030504020204" pitchFamily="34" charset="0"/>
              <a:ea typeface="Open Sans" panose="020B0606030504020204" pitchFamily="34" charset="0"/>
              <a:cs typeface="Open Sans" panose="020B0606030504020204" pitchFamily="34" charset="0"/>
            </a:endParaRPr>
          </a:p>
          <a:p>
            <a:pPr algn="just">
              <a:spcBef>
                <a:spcPts val="0"/>
              </a:spcBef>
            </a:pPr>
            <a:r>
              <a:rPr lang="en-GB" sz="3600" b="1" dirty="0">
                <a:latin typeface="Open Sans" panose="020B0606030504020204" pitchFamily="34" charset="0"/>
                <a:ea typeface="Open Sans" panose="020B0606030504020204" pitchFamily="34" charset="0"/>
                <a:cs typeface="Open Sans" panose="020B0606030504020204" pitchFamily="34" charset="0"/>
              </a:rPr>
              <a:t>Engineering Manager</a:t>
            </a:r>
            <a:r>
              <a:rPr lang="en-GB" sz="3600" dirty="0">
                <a:latin typeface="Open Sans" panose="020B0606030504020204" pitchFamily="34" charset="0"/>
                <a:ea typeface="Open Sans" panose="020B0606030504020204" pitchFamily="34" charset="0"/>
                <a:cs typeface="Open Sans" panose="020B0606030504020204" pitchFamily="34" charset="0"/>
              </a:rPr>
              <a:t>: Focuses on team management, project coordination, and strategic planning.</a:t>
            </a:r>
          </a:p>
          <a:p>
            <a:pPr algn="just">
              <a:spcBef>
                <a:spcPts val="0"/>
              </a:spcBef>
            </a:pPr>
            <a:endParaRPr lang="en-GB" sz="3600" dirty="0">
              <a:latin typeface="Open Sans" panose="020B0606030504020204" pitchFamily="34" charset="0"/>
              <a:ea typeface="Open Sans" panose="020B0606030504020204" pitchFamily="34" charset="0"/>
              <a:cs typeface="Open Sans" panose="020B0606030504020204" pitchFamily="34" charset="0"/>
            </a:endParaRPr>
          </a:p>
          <a:p>
            <a:pPr algn="just">
              <a:spcBef>
                <a:spcPts val="0"/>
              </a:spcBef>
            </a:pPr>
            <a:r>
              <a:rPr lang="en-GB" sz="3600" b="1" dirty="0">
                <a:latin typeface="Open Sans" panose="020B0606030504020204" pitchFamily="34" charset="0"/>
                <a:ea typeface="Open Sans" panose="020B0606030504020204" pitchFamily="34" charset="0"/>
                <a:cs typeface="Open Sans" panose="020B0606030504020204" pitchFamily="34" charset="0"/>
              </a:rPr>
              <a:t>Chief Technology Officer (CTO)</a:t>
            </a:r>
            <a:r>
              <a:rPr lang="en-GB" sz="3600" dirty="0">
                <a:latin typeface="Open Sans" panose="020B0606030504020204" pitchFamily="34" charset="0"/>
                <a:ea typeface="Open Sans" panose="020B0606030504020204" pitchFamily="34" charset="0"/>
                <a:cs typeface="Open Sans" panose="020B0606030504020204" pitchFamily="34" charset="0"/>
              </a:rPr>
              <a:t>: Oversees the technological direction of an organization.</a:t>
            </a:r>
          </a:p>
        </p:txBody>
      </p:sp>
    </p:spTree>
    <p:extLst>
      <p:ext uri="{BB962C8B-B14F-4D97-AF65-F5344CB8AC3E}">
        <p14:creationId xmlns:p14="http://schemas.microsoft.com/office/powerpoint/2010/main" val="2761214808"/>
      </p:ext>
    </p:ext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CC9A3-FB6E-DB3A-36BC-1DB5FA6C0129}"/>
              </a:ext>
            </a:extLst>
          </p:cNvPr>
          <p:cNvSpPr>
            <a:spLocks noGrp="1"/>
          </p:cNvSpPr>
          <p:nvPr>
            <p:ph type="title"/>
          </p:nvPr>
        </p:nvSpPr>
        <p:spPr/>
        <p:txBody>
          <a:bodyPr>
            <a:normAutofit fontScale="90000"/>
          </a:bodyPr>
          <a:lstStyle/>
          <a:p>
            <a:r>
              <a:rPr lang="en-US" dirty="0"/>
              <a:t>References</a:t>
            </a:r>
          </a:p>
        </p:txBody>
      </p:sp>
      <p:sp>
        <p:nvSpPr>
          <p:cNvPr id="3" name="Text Placeholder 2">
            <a:extLst>
              <a:ext uri="{FF2B5EF4-FFF2-40B4-BE49-F238E27FC236}">
                <a16:creationId xmlns:a16="http://schemas.microsoft.com/office/drawing/2014/main" id="{053E2DA4-F8BE-01AB-0C23-B97B20B1AE79}"/>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0EAE9782-3C02-FAD4-699A-C827BC99AC35}"/>
              </a:ext>
            </a:extLst>
          </p:cNvPr>
          <p:cNvSpPr>
            <a:spLocks noGrp="1"/>
          </p:cNvSpPr>
          <p:nvPr>
            <p:ph sz="quarter" idx="11"/>
          </p:nvPr>
        </p:nvSpPr>
        <p:spPr/>
        <p:txBody>
          <a:bodyPr>
            <a:normAutofit/>
          </a:bodyPr>
          <a:lstStyle/>
          <a:p>
            <a:pPr algn="just"/>
            <a:r>
              <a:rPr lang="id-ID" sz="3600" dirty="0">
                <a:latin typeface="Open Sans" panose="020B0606030504020204" pitchFamily="34" charset="0"/>
                <a:ea typeface="Open Sans" panose="020B0606030504020204" pitchFamily="34" charset="0"/>
                <a:cs typeface="Open Sans" panose="020B0606030504020204" pitchFamily="34" charset="0"/>
              </a:rPr>
              <a:t>Titus </a:t>
            </a:r>
            <a:r>
              <a:rPr lang="id-ID" sz="3600" dirty="0" err="1">
                <a:latin typeface="Open Sans" panose="020B0606030504020204" pitchFamily="34" charset="0"/>
                <a:ea typeface="Open Sans" panose="020B0606030504020204" pitchFamily="34" charset="0"/>
                <a:cs typeface="Open Sans" panose="020B0606030504020204" pitchFamily="34" charset="0"/>
              </a:rPr>
              <a:t>Winters</a:t>
            </a:r>
            <a:r>
              <a:rPr lang="id-ID" sz="3600" dirty="0">
                <a:latin typeface="Open Sans" panose="020B0606030504020204" pitchFamily="34" charset="0"/>
                <a:ea typeface="Open Sans" panose="020B0606030504020204" pitchFamily="34" charset="0"/>
                <a:cs typeface="Open Sans" panose="020B0606030504020204" pitchFamily="34" charset="0"/>
              </a:rPr>
              <a:t>, Tom </a:t>
            </a:r>
            <a:r>
              <a:rPr lang="id-ID" sz="3600" dirty="0" err="1">
                <a:latin typeface="Open Sans" panose="020B0606030504020204" pitchFamily="34" charset="0"/>
                <a:ea typeface="Open Sans" panose="020B0606030504020204" pitchFamily="34" charset="0"/>
                <a:cs typeface="Open Sans" panose="020B0606030504020204" pitchFamily="34" charset="0"/>
              </a:rPr>
              <a:t>Manshreck</a:t>
            </a:r>
            <a:r>
              <a:rPr lang="id-ID" sz="3600" dirty="0">
                <a:latin typeface="Open Sans" panose="020B0606030504020204" pitchFamily="34" charset="0"/>
                <a:ea typeface="Open Sans" panose="020B0606030504020204" pitchFamily="34" charset="0"/>
                <a:cs typeface="Open Sans" panose="020B0606030504020204" pitchFamily="34" charset="0"/>
              </a:rPr>
              <a:t>, </a:t>
            </a:r>
            <a:r>
              <a:rPr lang="id-ID" sz="3600" dirty="0" err="1">
                <a:latin typeface="Open Sans" panose="020B0606030504020204" pitchFamily="34" charset="0"/>
                <a:ea typeface="Open Sans" panose="020B0606030504020204" pitchFamily="34" charset="0"/>
                <a:cs typeface="Open Sans" panose="020B0606030504020204" pitchFamily="34" charset="0"/>
              </a:rPr>
              <a:t>and</a:t>
            </a:r>
            <a:r>
              <a:rPr lang="id-ID" sz="3600" dirty="0">
                <a:latin typeface="Open Sans" panose="020B0606030504020204" pitchFamily="34" charset="0"/>
                <a:ea typeface="Open Sans" panose="020B0606030504020204" pitchFamily="34" charset="0"/>
                <a:cs typeface="Open Sans" panose="020B0606030504020204" pitchFamily="34" charset="0"/>
              </a:rPr>
              <a:t> </a:t>
            </a:r>
            <a:r>
              <a:rPr lang="id-ID" sz="3600" dirty="0" err="1">
                <a:latin typeface="Open Sans" panose="020B0606030504020204" pitchFamily="34" charset="0"/>
                <a:ea typeface="Open Sans" panose="020B0606030504020204" pitchFamily="34" charset="0"/>
                <a:cs typeface="Open Sans" panose="020B0606030504020204" pitchFamily="34" charset="0"/>
              </a:rPr>
              <a:t>Hyrum</a:t>
            </a:r>
            <a:r>
              <a:rPr lang="id-ID" sz="3600" dirty="0">
                <a:latin typeface="Open Sans" panose="020B0606030504020204" pitchFamily="34" charset="0"/>
                <a:ea typeface="Open Sans" panose="020B0606030504020204" pitchFamily="34" charset="0"/>
                <a:cs typeface="Open Sans" panose="020B0606030504020204" pitchFamily="34" charset="0"/>
              </a:rPr>
              <a:t> </a:t>
            </a:r>
            <a:r>
              <a:rPr lang="id-ID" sz="3600" dirty="0" err="1">
                <a:latin typeface="Open Sans" panose="020B0606030504020204" pitchFamily="34" charset="0"/>
                <a:ea typeface="Open Sans" panose="020B0606030504020204" pitchFamily="34" charset="0"/>
                <a:cs typeface="Open Sans" panose="020B0606030504020204" pitchFamily="34" charset="0"/>
              </a:rPr>
              <a:t>Wright</a:t>
            </a:r>
            <a:r>
              <a:rPr lang="id-ID" sz="3600" dirty="0">
                <a:latin typeface="Open Sans" panose="020B0606030504020204" pitchFamily="34" charset="0"/>
                <a:ea typeface="Open Sans" panose="020B0606030504020204" pitchFamily="34" charset="0"/>
                <a:cs typeface="Open Sans" panose="020B0606030504020204" pitchFamily="34" charset="0"/>
              </a:rPr>
              <a:t>. (2020). </a:t>
            </a:r>
            <a:r>
              <a:rPr lang="id-ID" sz="3600" b="1" i="1" dirty="0" err="1">
                <a:latin typeface="Open Sans" panose="020B0606030504020204" pitchFamily="34" charset="0"/>
                <a:ea typeface="Open Sans" panose="020B0606030504020204" pitchFamily="34" charset="0"/>
                <a:cs typeface="Open Sans" panose="020B0606030504020204" pitchFamily="34" charset="0"/>
              </a:rPr>
              <a:t>Software</a:t>
            </a:r>
            <a:r>
              <a:rPr lang="id-ID" sz="3600" b="1" i="1" dirty="0">
                <a:latin typeface="Open Sans" panose="020B0606030504020204" pitchFamily="34" charset="0"/>
                <a:ea typeface="Open Sans" panose="020B0606030504020204" pitchFamily="34" charset="0"/>
                <a:cs typeface="Open Sans" panose="020B0606030504020204" pitchFamily="34" charset="0"/>
              </a:rPr>
              <a:t> Engineering </a:t>
            </a:r>
            <a:r>
              <a:rPr lang="id-ID" sz="3600" b="1" i="1" dirty="0" err="1">
                <a:latin typeface="Open Sans" panose="020B0606030504020204" pitchFamily="34" charset="0"/>
                <a:ea typeface="Open Sans" panose="020B0606030504020204" pitchFamily="34" charset="0"/>
                <a:cs typeface="Open Sans" panose="020B0606030504020204" pitchFamily="34" charset="0"/>
              </a:rPr>
              <a:t>at</a:t>
            </a:r>
            <a:r>
              <a:rPr lang="id-ID" sz="3600" b="1" i="1" dirty="0">
                <a:latin typeface="Open Sans" panose="020B0606030504020204" pitchFamily="34" charset="0"/>
                <a:ea typeface="Open Sans" panose="020B0606030504020204" pitchFamily="34" charset="0"/>
                <a:cs typeface="Open Sans" panose="020B0606030504020204" pitchFamily="34" charset="0"/>
              </a:rPr>
              <a:t> Google: </a:t>
            </a:r>
            <a:r>
              <a:rPr lang="id-ID" sz="3600" b="1" i="1" dirty="0" err="1">
                <a:latin typeface="Open Sans" panose="020B0606030504020204" pitchFamily="34" charset="0"/>
                <a:ea typeface="Open Sans" panose="020B0606030504020204" pitchFamily="34" charset="0"/>
                <a:cs typeface="Open Sans" panose="020B0606030504020204" pitchFamily="34" charset="0"/>
              </a:rPr>
              <a:t>Lesson</a:t>
            </a:r>
            <a:r>
              <a:rPr lang="id-ID" sz="3600" b="1" i="1" dirty="0">
                <a:latin typeface="Open Sans" panose="020B0606030504020204" pitchFamily="34" charset="0"/>
                <a:ea typeface="Open Sans" panose="020B0606030504020204" pitchFamily="34" charset="0"/>
                <a:cs typeface="Open Sans" panose="020B0606030504020204" pitchFamily="34" charset="0"/>
              </a:rPr>
              <a:t> </a:t>
            </a:r>
            <a:r>
              <a:rPr lang="id-ID" sz="3600" b="1" i="1" dirty="0" err="1">
                <a:latin typeface="Open Sans" panose="020B0606030504020204" pitchFamily="34" charset="0"/>
                <a:ea typeface="Open Sans" panose="020B0606030504020204" pitchFamily="34" charset="0"/>
                <a:cs typeface="Open Sans" panose="020B0606030504020204" pitchFamily="34" charset="0"/>
              </a:rPr>
              <a:t>Learned</a:t>
            </a:r>
            <a:r>
              <a:rPr lang="id-ID" sz="3600" b="1" i="1" dirty="0">
                <a:latin typeface="Open Sans" panose="020B0606030504020204" pitchFamily="34" charset="0"/>
                <a:ea typeface="Open Sans" panose="020B0606030504020204" pitchFamily="34" charset="0"/>
                <a:cs typeface="Open Sans" panose="020B0606030504020204" pitchFamily="34" charset="0"/>
              </a:rPr>
              <a:t> </a:t>
            </a:r>
            <a:r>
              <a:rPr lang="id-ID" sz="3600" b="1" i="1" dirty="0" err="1">
                <a:latin typeface="Open Sans" panose="020B0606030504020204" pitchFamily="34" charset="0"/>
                <a:ea typeface="Open Sans" panose="020B0606030504020204" pitchFamily="34" charset="0"/>
                <a:cs typeface="Open Sans" panose="020B0606030504020204" pitchFamily="34" charset="0"/>
              </a:rPr>
              <a:t>from</a:t>
            </a:r>
            <a:r>
              <a:rPr lang="id-ID" sz="3600" b="1" i="1" dirty="0">
                <a:latin typeface="Open Sans" panose="020B0606030504020204" pitchFamily="34" charset="0"/>
                <a:ea typeface="Open Sans" panose="020B0606030504020204" pitchFamily="34" charset="0"/>
                <a:cs typeface="Open Sans" panose="020B0606030504020204" pitchFamily="34" charset="0"/>
              </a:rPr>
              <a:t> </a:t>
            </a:r>
            <a:r>
              <a:rPr lang="id-ID" sz="3600" b="1" i="1" dirty="0" err="1">
                <a:latin typeface="Open Sans" panose="020B0606030504020204" pitchFamily="34" charset="0"/>
                <a:ea typeface="Open Sans" panose="020B0606030504020204" pitchFamily="34" charset="0"/>
                <a:cs typeface="Open Sans" panose="020B0606030504020204" pitchFamily="34" charset="0"/>
              </a:rPr>
              <a:t>Programming</a:t>
            </a:r>
            <a:r>
              <a:rPr lang="id-ID" sz="3600" b="1" i="1" dirty="0">
                <a:latin typeface="Open Sans" panose="020B0606030504020204" pitchFamily="34" charset="0"/>
                <a:ea typeface="Open Sans" panose="020B0606030504020204" pitchFamily="34" charset="0"/>
                <a:cs typeface="Open Sans" panose="020B0606030504020204" pitchFamily="34" charset="0"/>
              </a:rPr>
              <a:t> Over </a:t>
            </a:r>
            <a:r>
              <a:rPr lang="id-ID" sz="3600" b="1" i="1" dirty="0" err="1">
                <a:latin typeface="Open Sans" panose="020B0606030504020204" pitchFamily="34" charset="0"/>
                <a:ea typeface="Open Sans" panose="020B0606030504020204" pitchFamily="34" charset="0"/>
                <a:cs typeface="Open Sans" panose="020B0606030504020204" pitchFamily="34" charset="0"/>
              </a:rPr>
              <a:t>Time</a:t>
            </a:r>
            <a:r>
              <a:rPr lang="id-ID" sz="3600" dirty="0">
                <a:latin typeface="Open Sans" panose="020B0606030504020204" pitchFamily="34" charset="0"/>
                <a:ea typeface="Open Sans" panose="020B0606030504020204" pitchFamily="34" charset="0"/>
                <a:cs typeface="Open Sans" panose="020B0606030504020204" pitchFamily="34" charset="0"/>
              </a:rPr>
              <a:t>. 1st. </a:t>
            </a:r>
            <a:r>
              <a:rPr lang="id-ID" sz="3600" dirty="0" err="1">
                <a:latin typeface="Open Sans" panose="020B0606030504020204" pitchFamily="34" charset="0"/>
                <a:ea typeface="Open Sans" panose="020B0606030504020204" pitchFamily="34" charset="0"/>
                <a:cs typeface="Open Sans" panose="020B0606030504020204" pitchFamily="34" charset="0"/>
              </a:rPr>
              <a:t>O’Reilly</a:t>
            </a:r>
            <a:r>
              <a:rPr lang="id-ID" sz="3600" dirty="0">
                <a:latin typeface="Open Sans" panose="020B0606030504020204" pitchFamily="34" charset="0"/>
                <a:ea typeface="Open Sans" panose="020B0606030504020204" pitchFamily="34" charset="0"/>
                <a:cs typeface="Open Sans" panose="020B0606030504020204" pitchFamily="34" charset="0"/>
              </a:rPr>
              <a:t> Media. California. ISBN: 978-1492082798. </a:t>
            </a:r>
            <a:r>
              <a:rPr lang="id-ID" sz="3600" dirty="0" err="1">
                <a:latin typeface="Open Sans" panose="020B0606030504020204" pitchFamily="34" charset="0"/>
                <a:ea typeface="Open Sans" panose="020B0606030504020204" pitchFamily="34" charset="0"/>
                <a:cs typeface="Open Sans" panose="020B0606030504020204" pitchFamily="34" charset="0"/>
              </a:rPr>
              <a:t>Page</a:t>
            </a:r>
            <a:r>
              <a:rPr lang="id-ID" sz="3600" dirty="0">
                <a:latin typeface="Open Sans" panose="020B0606030504020204" pitchFamily="34" charset="0"/>
                <a:ea typeface="Open Sans" panose="020B0606030504020204" pitchFamily="34" charset="0"/>
                <a:cs typeface="Open Sans" panose="020B0606030504020204" pitchFamily="34" charset="0"/>
              </a:rPr>
              <a:t> 5-24.</a:t>
            </a:r>
          </a:p>
          <a:p>
            <a:pPr algn="just"/>
            <a:r>
              <a:rPr lang="en-US" sz="3600" dirty="0">
                <a:latin typeface="Open Sans" panose="020B0606030504020204" pitchFamily="34" charset="0"/>
                <a:ea typeface="Open Sans" panose="020B0606030504020204" pitchFamily="34" charset="0"/>
                <a:cs typeface="Open Sans" panose="020B0606030504020204" pitchFamily="34" charset="0"/>
              </a:rPr>
              <a:t>Roger Pressman and Bruce Maxim. (2020). </a:t>
            </a:r>
            <a:r>
              <a:rPr lang="en-US" sz="3600" b="1" i="1" dirty="0">
                <a:latin typeface="Open Sans" panose="020B0606030504020204" pitchFamily="34" charset="0"/>
                <a:ea typeface="Open Sans" panose="020B0606030504020204" pitchFamily="34" charset="0"/>
                <a:cs typeface="Open Sans" panose="020B0606030504020204" pitchFamily="34" charset="0"/>
              </a:rPr>
              <a:t>Software Engineering: A Practitioner's Approach</a:t>
            </a:r>
            <a:r>
              <a:rPr lang="en-US" sz="3600" dirty="0">
                <a:latin typeface="Open Sans" panose="020B0606030504020204" pitchFamily="34" charset="0"/>
                <a:ea typeface="Open Sans" panose="020B0606030504020204" pitchFamily="34" charset="0"/>
                <a:cs typeface="Open Sans" panose="020B0606030504020204" pitchFamily="34" charset="0"/>
              </a:rPr>
              <a:t>. 9th E. McGraw- Hill. New York. ISBN: 9781259872976. </a:t>
            </a:r>
          </a:p>
        </p:txBody>
      </p:sp>
    </p:spTree>
    <p:extLst>
      <p:ext uri="{BB962C8B-B14F-4D97-AF65-F5344CB8AC3E}">
        <p14:creationId xmlns:p14="http://schemas.microsoft.com/office/powerpoint/2010/main" val="1976124244"/>
      </p:ext>
    </p:extLst>
  </p:cSld>
  <p:clrMapOvr>
    <a:masterClrMapping/>
  </p:clrMapOvr>
  <p:transition spd="med"/>
</p:sld>
</file>

<file path=ppt/theme/theme1.xml><?xml version="1.0" encoding="utf-8"?>
<a:theme xmlns:a="http://schemas.openxmlformats.org/drawingml/2006/main"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BINUS Learning Object Slide Template 2022" id="{91EC78B4-BE4F-3B4D-B302-CF3E80410C1C}" vid="{48571482-A7A2-E44B-AA81-515161122809}"/>
    </a:ext>
  </a:ext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2.xml><?xml version="1.0" encoding="utf-8"?>
<ct:contentTypeSchema xmlns:ct="http://schemas.microsoft.com/office/2006/metadata/contentType" xmlns:ma="http://schemas.microsoft.com/office/2006/metadata/properties/metaAttributes" ct:_="" ma:_="" ma:contentTypeName="Document" ma:contentTypeID="0x010100144340CFFCDDB44F9904404F1FA9688C" ma:contentTypeVersion="18" ma:contentTypeDescription="Create a new document." ma:contentTypeScope="" ma:versionID="2a43a3a40365f9eee60928e1a48d8e8a">
  <xsd:schema xmlns:xsd="http://www.w3.org/2001/XMLSchema" xmlns:xs="http://www.w3.org/2001/XMLSchema" xmlns:p="http://schemas.microsoft.com/office/2006/metadata/properties" xmlns:ns2="9fdf624c-fedc-4f6c-b928-0c7bf4c9e100" xmlns:ns3="47793baa-3cbb-486e-a055-4d42ce3882d7" xmlns:ns4="http://schemas.microsoft.com/sharepoint/v3/fields" targetNamespace="http://schemas.microsoft.com/office/2006/metadata/properties" ma:root="true" ma:fieldsID="b55bbfde6f7dd5be9fcb8a553256df6e" ns2:_="" ns3:_="" ns4:_="">
    <xsd:import namespace="9fdf624c-fedc-4f6c-b928-0c7bf4c9e100"/>
    <xsd:import namespace="47793baa-3cbb-486e-a055-4d42ce3882d7"/>
    <xsd:import namespace="http://schemas.microsoft.com/sharepoint/v3/fields"/>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2:SharedWithUsers" minOccurs="0"/>
                <xsd:element ref="ns2:SharedWithDetails" minOccurs="0"/>
                <xsd:element ref="ns3:MediaServiceLocation" minOccurs="0"/>
                <xsd:element ref="ns3:MediaServiceAutoKeyPoints" minOccurs="0"/>
                <xsd:element ref="ns3:MediaServiceKeyPoints" minOccurs="0"/>
                <xsd:element ref="ns3:_Flow_SignoffStatus" minOccurs="0"/>
                <xsd:element ref="ns4:_Version" minOccurs="0"/>
                <xsd:element ref="ns3:MediaLengthInSeconds" minOccurs="0"/>
                <xsd:element ref="ns2: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fdf624c-fedc-4f6c-b928-0c7bf4c9e100"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7" nillable="true" ma:displayName="Taxonomy Catch All Column" ma:hidden="true" ma:list="{131959e2-2cf4-437e-858a-61f1b162208b}" ma:internalName="TaxCatchAll" ma:showField="CatchAllData" ma:web="9fdf624c-fedc-4f6c-b928-0c7bf4c9e100">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47793baa-3cbb-486e-a055-4d42ce3882d7"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element name="_Flow_SignoffStatus" ma:index="23" nillable="true" ma:displayName="Sign-off status" ma:internalName="Sign_x002d_off_x0020_status">
      <xsd:simpleType>
        <xsd:restriction base="dms:Text"/>
      </xsd:simpleType>
    </xsd:element>
    <xsd:element name="MediaLengthInSeconds" ma:index="25"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Version" ma:index="24" nillable="true" ma:displayName="Version" ma:internalName="_Version">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p:properties xmlns:p="http://schemas.microsoft.com/office/2006/metadata/properties" xmlns:xsi="http://www.w3.org/2001/XMLSchema-instance" xmlns:pc="http://schemas.microsoft.com/office/infopath/2007/PartnerControls">
  <documentManagement>
    <_Version xmlns="http://schemas.microsoft.com/sharepoint/v3/fields" xsi:nil="true"/>
    <TaxCatchAll xmlns="9fdf624c-fedc-4f6c-b928-0c7bf4c9e100" xsi:nil="true"/>
    <_Flow_SignoffStatus xmlns="47793baa-3cbb-486e-a055-4d42ce3882d7" xsi:nil="true"/>
    <_dlc_DocId xmlns="9fdf624c-fedc-4f6c-b928-0c7bf4c9e100">J56STF5CZXNR-2061195910-875156</_dlc_DocId>
    <_dlc_DocIdUrl xmlns="9fdf624c-fedc-4f6c-b928-0c7bf4c9e100">
      <Url>https://binusianorg.sharepoint.com/sites/arc/_layouts/15/DocIdRedir.aspx?ID=J56STF5CZXNR-2061195910-875156</Url>
      <Description>J56STF5CZXNR-2061195910-875156</Description>
    </_dlc_DocIdUrl>
  </documentManagement>
</p:properties>
</file>

<file path=customXml/itemProps1.xml><?xml version="1.0" encoding="utf-8"?>
<ds:datastoreItem xmlns:ds="http://schemas.openxmlformats.org/officeDocument/2006/customXml" ds:itemID="{CDDAE38A-8264-43C3-9B01-B7FA25F10602}">
  <ds:schemaRefs>
    <ds:schemaRef ds:uri="http://schemas.microsoft.com/sharepoint/events"/>
  </ds:schemaRefs>
</ds:datastoreItem>
</file>

<file path=customXml/itemProps2.xml><?xml version="1.0" encoding="utf-8"?>
<ds:datastoreItem xmlns:ds="http://schemas.openxmlformats.org/officeDocument/2006/customXml" ds:itemID="{90A97211-242D-415A-8ADE-6F44C1D92C7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fdf624c-fedc-4f6c-b928-0c7bf4c9e100"/>
    <ds:schemaRef ds:uri="47793baa-3cbb-486e-a055-4d42ce3882d7"/>
    <ds:schemaRef ds:uri="http://schemas.microsoft.com/sharepoint/v3/field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E0FE671-25D8-4116-9472-BF9297986CC6}">
  <ds:schemaRefs>
    <ds:schemaRef ds:uri="http://schemas.microsoft.com/sharepoint/v3/contenttype/forms"/>
  </ds:schemaRefs>
</ds:datastoreItem>
</file>

<file path=customXml/itemProps4.xml><?xml version="1.0" encoding="utf-8"?>
<ds:datastoreItem xmlns:ds="http://schemas.openxmlformats.org/officeDocument/2006/customXml" ds:itemID="{C2252D89-D1E6-488A-B078-4573BAE073F6}">
  <ds:schemaRefs>
    <ds:schemaRef ds:uri="http://purl.org/dc/terms/"/>
    <ds:schemaRef ds:uri="2661c1c1-ed05-4275-a33d-64e31eb1ea69"/>
    <ds:schemaRef ds:uri="http://schemas.microsoft.com/office/infopath/2007/PartnerControls"/>
    <ds:schemaRef ds:uri="http://www.w3.org/XML/1998/namespace"/>
    <ds:schemaRef ds:uri="http://schemas.microsoft.com/office/2006/documentManagement/types"/>
    <ds:schemaRef ds:uri="http://purl.org/dc/elements/1.1/"/>
    <ds:schemaRef ds:uri="http://schemas.openxmlformats.org/package/2006/metadata/core-properties"/>
    <ds:schemaRef ds:uri="4f26481f-d1e8-4452-9a9a-b303515fd2b7"/>
    <ds:schemaRef ds:uri="http://schemas.microsoft.com/office/2006/metadata/properties"/>
    <ds:schemaRef ds:uri="http://purl.org/dc/dcmitype/"/>
    <ds:schemaRef ds:uri="http://schemas.microsoft.com/sharepoint/v3/fields"/>
    <ds:schemaRef ds:uri="9fdf624c-fedc-4f6c-b928-0c7bf4c9e100"/>
    <ds:schemaRef ds:uri="47793baa-3cbb-486e-a055-4d42ce3882d7"/>
  </ds:schemaRefs>
</ds:datastoreItem>
</file>

<file path=docMetadata/LabelInfo.xml><?xml version="1.0" encoding="utf-8"?>
<clbl:labelList xmlns:clbl="http://schemas.microsoft.com/office/2020/mipLabelMetadata">
  <clbl:label id="{3485b963-82ba-4a6f-810f-b5cc226ff898}" enabled="0" method="" siteId="{3485b963-82ba-4a6f-810f-b5cc226ff898}" removed="1"/>
</clbl:labelList>
</file>

<file path=docProps/app.xml><?xml version="1.0" encoding="utf-8"?>
<Properties xmlns="http://schemas.openxmlformats.org/officeDocument/2006/extended-properties" xmlns:vt="http://schemas.openxmlformats.org/officeDocument/2006/docPropsVTypes">
  <Template>BINUS Learning Object Slide Template 2022</Template>
  <TotalTime>2689</TotalTime>
  <Words>3732</Words>
  <Application>Microsoft Office PowerPoint</Application>
  <PresentationFormat>Custom</PresentationFormat>
  <Paragraphs>375</Paragraphs>
  <Slides>36</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36</vt:i4>
      </vt:variant>
    </vt:vector>
  </HeadingPairs>
  <TitlesOfParts>
    <vt:vector size="43" baseType="lpstr">
      <vt:lpstr>Arial</vt:lpstr>
      <vt:lpstr>Open Sans ExtraBold</vt:lpstr>
      <vt:lpstr>Open Sans Light</vt:lpstr>
      <vt:lpstr>OCRB</vt:lpstr>
      <vt:lpstr>Open Sans Semibold</vt:lpstr>
      <vt:lpstr>Open Sans</vt:lpstr>
      <vt:lpstr>21_BasicWhite</vt:lpstr>
      <vt:lpstr>The Nature of Software and Software Engineering</vt:lpstr>
      <vt:lpstr>Session 01 – The Nature of Software and Software Engineering</vt:lpstr>
      <vt:lpstr>Session 01 – The Nature of Software and Software Engineering</vt:lpstr>
      <vt:lpstr>Software is everywhere</vt:lpstr>
      <vt:lpstr>Software is Everywhere</vt:lpstr>
      <vt:lpstr>What is Software Engineering?</vt:lpstr>
      <vt:lpstr>What is Software Engineering?</vt:lpstr>
      <vt:lpstr>What is Software Engineering?</vt:lpstr>
      <vt:lpstr>What is Software Engineering?</vt:lpstr>
      <vt:lpstr>What is Software Engineering?</vt:lpstr>
      <vt:lpstr>What is Software Engineering?</vt:lpstr>
      <vt:lpstr>We’ve Seen The Layers. Now Here’s What Happens When Process/Requirements/Change Control Are Weak  - Vasa Syndrome -</vt:lpstr>
      <vt:lpstr>Vasa Syndrome</vt:lpstr>
      <vt:lpstr>Vasa Syndrome</vt:lpstr>
      <vt:lpstr>Vasa Syndrome</vt:lpstr>
      <vt:lpstr>The Crowdstrike incident</vt:lpstr>
      <vt:lpstr>The Crowdstrike incident</vt:lpstr>
      <vt:lpstr>Time And Change</vt:lpstr>
      <vt:lpstr>Time And Change</vt:lpstr>
      <vt:lpstr>Time And Change</vt:lpstr>
      <vt:lpstr>Time And Change</vt:lpstr>
      <vt:lpstr>Time And Change</vt:lpstr>
      <vt:lpstr>Time And Change</vt:lpstr>
      <vt:lpstr>Scale and Efficiency</vt:lpstr>
      <vt:lpstr>Scale and Efficiency</vt:lpstr>
      <vt:lpstr>Scale and Efficiency</vt:lpstr>
      <vt:lpstr>Trade-offs and costs</vt:lpstr>
      <vt:lpstr>Trade-offs and costs</vt:lpstr>
      <vt:lpstr>Trade-offs and costs</vt:lpstr>
      <vt:lpstr>Trade-offs and costs</vt:lpstr>
      <vt:lpstr>Trade-offs and costs</vt:lpstr>
      <vt:lpstr>The software Engineering Profession</vt:lpstr>
      <vt:lpstr>The software Engineering Profession</vt:lpstr>
      <vt:lpstr>The software Engineering Profession</vt:lpstr>
      <vt:lpstr>The software Engineering Profession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Aris Priyanto</dc:creator>
  <cp:lastModifiedBy>Maulin Nasari</cp:lastModifiedBy>
  <cp:revision>36</cp:revision>
  <dcterms:created xsi:type="dcterms:W3CDTF">2023-04-06T08:40:27Z</dcterms:created>
  <dcterms:modified xsi:type="dcterms:W3CDTF">2025-12-25T21:58:43Z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0x010100144340CFFCDDB44F9904404F1FA9688C</vt:lpwstr>
  </property>
  <property fmtid="{D5CDD505-2E9C-101B-9397-08002B2CF9AE}" pid="3" name="_dlc_DocIdItemGuid">
    <vt:lpwstr>a8e96856-29d3-47af-8f22-9a1c34492d36</vt:lpwstr>
  </property>
</Properties>
</file>