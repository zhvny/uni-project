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31"/>
  </p:notesMasterIdLst>
  <p:sldIdLst>
    <p:sldId id="256" r:id="rId6"/>
    <p:sldId id="257" r:id="rId7"/>
    <p:sldId id="258" r:id="rId8"/>
    <p:sldId id="262" r:id="rId9"/>
    <p:sldId id="304" r:id="rId10"/>
    <p:sldId id="303" r:id="rId11"/>
    <p:sldId id="285" r:id="rId12"/>
    <p:sldId id="286" r:id="rId13"/>
    <p:sldId id="287" r:id="rId14"/>
    <p:sldId id="288" r:id="rId15"/>
    <p:sldId id="289" r:id="rId16"/>
    <p:sldId id="290" r:id="rId17"/>
    <p:sldId id="300" r:id="rId18"/>
    <p:sldId id="301" r:id="rId19"/>
    <p:sldId id="291" r:id="rId20"/>
    <p:sldId id="292" r:id="rId21"/>
    <p:sldId id="293" r:id="rId22"/>
    <p:sldId id="294" r:id="rId23"/>
    <p:sldId id="295" r:id="rId24"/>
    <p:sldId id="296" r:id="rId25"/>
    <p:sldId id="297" r:id="rId26"/>
    <p:sldId id="298" r:id="rId27"/>
    <p:sldId id="299" r:id="rId28"/>
    <p:sldId id="302" r:id="rId29"/>
    <p:sldId id="284" r:id="rId30"/>
  </p:sldIdLst>
  <p:sldSz cx="24384000" cy="13716000"/>
  <p:notesSz cx="6858000" cy="9144000"/>
  <p:embeddedFontLst>
    <p:embeddedFont>
      <p:font typeface="OCRB" panose="020B0609020202020204" pitchFamily="49" charset="0"/>
      <p:regular r:id="rId32"/>
    </p:embeddedFont>
    <p:embeddedFont>
      <p:font typeface="Open Sans" panose="020B0606030504020204" pitchFamily="34" charset="0"/>
      <p:regular r:id="rId33"/>
      <p:bold r:id="rId34"/>
      <p:italic r:id="rId35"/>
      <p:boldItalic r:id="rId36"/>
    </p:embeddedFont>
    <p:embeddedFont>
      <p:font typeface="Open Sans ExtraBold" panose="020B0906030804020204" pitchFamily="34" charset="0"/>
      <p:bold r:id="rId37"/>
      <p:italic r:id="rId38"/>
      <p:boldItalic r:id="rId39"/>
    </p:embeddedFont>
    <p:embeddedFont>
      <p:font typeface="Open Sans Light" panose="020B0306030504020204" pitchFamily="34" charset="0"/>
      <p:regular r:id="rId40"/>
      <p:italic r:id="rId41"/>
    </p:embeddedFont>
    <p:embeddedFont>
      <p:font typeface="Open Sans Semibold" panose="020B0706030804020204" pitchFamily="34" charset="0"/>
      <p:regular r:id="rId42"/>
      <p:bold r:id="rId43"/>
      <p:italic r:id="rId44"/>
      <p:boldItalic r:id="rId45"/>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1515"/>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5EF3D7-1400-4A79-9659-DCAB79CEA9AF}" v="1" dt="2025-12-25T22:54:40.17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14" autoAdjust="0"/>
    <p:restoredTop sz="96197"/>
  </p:normalViewPr>
  <p:slideViewPr>
    <p:cSldViewPr snapToGrid="0" snapToObjects="1">
      <p:cViewPr varScale="1">
        <p:scale>
          <a:sx n="23" d="100"/>
          <a:sy n="23" d="100"/>
        </p:scale>
        <p:origin x="120" y="787"/>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8.fntdata"/><Relationship Id="rId21" Type="http://schemas.openxmlformats.org/officeDocument/2006/relationships/slide" Target="slides/slide16.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5.fntdata"/><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theme" Target="theme/theme1.xml"/><Relationship Id="rId8" Type="http://schemas.openxmlformats.org/officeDocument/2006/relationships/slide" Target="slides/slide3.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ulin Nasari" userId="2c02bce8-14a6-4f73-b14a-299518f8dfce" providerId="ADAL" clId="{973AE700-8634-4AC6-A10B-DFA7AFECB9DA}"/>
    <pc:docChg chg="modSld">
      <pc:chgData name="Maulin Nasari" userId="2c02bce8-14a6-4f73-b14a-299518f8dfce" providerId="ADAL" clId="{973AE700-8634-4AC6-A10B-DFA7AFECB9DA}" dt="2025-12-25T22:54:40.179" v="0"/>
      <pc:docMkLst>
        <pc:docMk/>
      </pc:docMkLst>
      <pc:sldChg chg="modSp">
        <pc:chgData name="Maulin Nasari" userId="2c02bce8-14a6-4f73-b14a-299518f8dfce" providerId="ADAL" clId="{973AE700-8634-4AC6-A10B-DFA7AFECB9DA}" dt="2025-12-25T22:54:40.179" v="0"/>
        <pc:sldMkLst>
          <pc:docMk/>
          <pc:sldMk cId="481981883" sldId="258"/>
        </pc:sldMkLst>
        <pc:spChg chg="mod">
          <ac:chgData name="Maulin Nasari" userId="2c02bce8-14a6-4f73-b14a-299518f8dfce" providerId="ADAL" clId="{973AE700-8634-4AC6-A10B-DFA7AFECB9DA}" dt="2025-12-25T22:54:40.179" v="0"/>
          <ac:spMkLst>
            <pc:docMk/>
            <pc:sldMk cId="481981883" sldId="258"/>
            <ac:spMk id="4" creationId="{76E358E3-B24E-F7A5-ECF8-12101774A9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6" name="Image" descr="Image">
            <a:extLst>
              <a:ext uri="{FF2B5EF4-FFF2-40B4-BE49-F238E27FC236}">
                <a16:creationId xmlns:a16="http://schemas.microsoft.com/office/drawing/2014/main" id="{BBEE18F9-7EE5-444F-AA57-68A6783A5225}"/>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837038" y="9711819"/>
            <a:ext cx="1700105" cy="1700105"/>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40000" y="4320116"/>
            <a:ext cx="3535680" cy="353568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87110" y="8648744"/>
            <a:ext cx="1403521" cy="1403521"/>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4"/>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437085"/>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136664"/>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815450"/>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494236"/>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173022"/>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6" name="Image" descr="Image">
            <a:extLst>
              <a:ext uri="{FF2B5EF4-FFF2-40B4-BE49-F238E27FC236}">
                <a16:creationId xmlns:a16="http://schemas.microsoft.com/office/drawing/2014/main" id="{ED3AA748-6163-AF42-8BA4-5A505F8580B0}"/>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11" name="Image" descr="Image">
            <a:extLst>
              <a:ext uri="{FF2B5EF4-FFF2-40B4-BE49-F238E27FC236}">
                <a16:creationId xmlns:a16="http://schemas.microsoft.com/office/drawing/2014/main" id="{5C0CB95F-A575-6E40-8A77-71E4C3CE5D20}"/>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3" name="Picture 1" descr="Background 02.jpg">
            <a:extLst>
              <a:ext uri="{FF2B5EF4-FFF2-40B4-BE49-F238E27FC236}">
                <a16:creationId xmlns:a16="http://schemas.microsoft.com/office/drawing/2014/main" id="{5E9439D9-58CE-C438-5024-900918FA24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8575"/>
            <a:ext cx="24384000" cy="12928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9">
            <a:extLst>
              <a:ext uri="{FF2B5EF4-FFF2-40B4-BE49-F238E27FC236}">
                <a16:creationId xmlns:a16="http://schemas.microsoft.com/office/drawing/2014/main" id="{7A8C25BD-F319-4C45-1231-698E123EA6A3}"/>
              </a:ext>
            </a:extLst>
          </p:cNvPr>
          <p:cNvSpPr/>
          <p:nvPr userDrawn="1"/>
        </p:nvSpPr>
        <p:spPr>
          <a:xfrm>
            <a:off x="0" y="10315576"/>
            <a:ext cx="24384000" cy="3400424"/>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ltLang="en-US" sz="4800" b="0" i="0" dirty="0">
              <a:solidFill>
                <a:srgbClr val="FFFFFF"/>
              </a:solidFill>
              <a:latin typeface="Open Sans" panose="020B0606030504020204" pitchFamily="34" charset="0"/>
              <a:ea typeface="Open Sans" panose="020B0606030504020204" pitchFamily="34" charset="0"/>
              <a:cs typeface="Arial" pitchFamily="34" charset="0"/>
            </a:endParaRPr>
          </a:p>
        </p:txBody>
      </p:sp>
      <p:sp>
        <p:nvSpPr>
          <p:cNvPr id="2" name="Title 1"/>
          <p:cNvSpPr>
            <a:spLocks noGrp="1"/>
          </p:cNvSpPr>
          <p:nvPr>
            <p:ph type="title"/>
          </p:nvPr>
        </p:nvSpPr>
        <p:spPr>
          <a:xfrm>
            <a:off x="5096933" y="4121696"/>
            <a:ext cx="18232304" cy="1584176"/>
          </a:xfrm>
        </p:spPr>
        <p:txBody>
          <a:bodyPr>
            <a:normAutofit/>
          </a:bodyPr>
          <a:lstStyle>
            <a:lvl1pPr algn="l">
              <a:defRPr sz="6000" b="1">
                <a:solidFill>
                  <a:srgbClr val="0079B8"/>
                </a:solidFill>
                <a:latin typeface="Open Sans"/>
              </a:defRPr>
            </a:lvl1pPr>
          </a:lstStyle>
          <a:p>
            <a:r>
              <a:rPr lang="en-US"/>
              <a:t>Click to edit Master title style</a:t>
            </a:r>
            <a:endParaRPr lang="id-ID" dirty="0"/>
          </a:p>
        </p:txBody>
      </p:sp>
      <p:sp>
        <p:nvSpPr>
          <p:cNvPr id="14" name="Content Placeholder 2"/>
          <p:cNvSpPr>
            <a:spLocks noGrp="1"/>
          </p:cNvSpPr>
          <p:nvPr>
            <p:ph idx="1"/>
          </p:nvPr>
        </p:nvSpPr>
        <p:spPr>
          <a:xfrm>
            <a:off x="5096933" y="6858002"/>
            <a:ext cx="18232304" cy="6080844"/>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16" name="Subtitle 2"/>
          <p:cNvSpPr>
            <a:spLocks noGrp="1"/>
          </p:cNvSpPr>
          <p:nvPr>
            <p:ph type="subTitle" idx="13"/>
          </p:nvPr>
        </p:nvSpPr>
        <p:spPr>
          <a:xfrm>
            <a:off x="5087211" y="5705872"/>
            <a:ext cx="18242027" cy="1008112"/>
          </a:xfrm>
        </p:spPr>
        <p:txBody>
          <a:bodyPr rtlCol="0" anchor="ctr">
            <a:normAutofit/>
          </a:bodyPr>
          <a:lstStyle>
            <a:lvl1pPr>
              <a:defRPr lang="id-ID" sz="4400" b="0" i="0" dirty="0">
                <a:solidFill>
                  <a:srgbClr val="0079B8"/>
                </a:solidFill>
                <a:latin typeface="Open Sans"/>
                <a:ea typeface="Open Sans" panose="020B0606030504020204" pitchFamily="34" charset="0"/>
                <a:cs typeface="Open Sans" panose="020B0606030504020204" pitchFamily="34" charset="0"/>
              </a:defRPr>
            </a:lvl1pPr>
          </a:lstStyle>
          <a:p>
            <a:pPr lvl="0"/>
            <a:r>
              <a:rPr lang="en-US" dirty="0"/>
              <a:t>Click to edit Master subtitle style</a:t>
            </a:r>
            <a:endParaRPr lang="id-ID" dirty="0"/>
          </a:p>
        </p:txBody>
      </p:sp>
      <p:sp>
        <p:nvSpPr>
          <p:cNvPr id="5" name="Date Placeholder 3">
            <a:extLst>
              <a:ext uri="{FF2B5EF4-FFF2-40B4-BE49-F238E27FC236}">
                <a16:creationId xmlns:a16="http://schemas.microsoft.com/office/drawing/2014/main" id="{3844FF92-AFAA-0F6A-9AEF-114DE9CF2866}"/>
              </a:ext>
            </a:extLst>
          </p:cNvPr>
          <p:cNvSpPr>
            <a:spLocks noGrp="1"/>
          </p:cNvSpPr>
          <p:nvPr>
            <p:ph type="dt" sz="half" idx="14"/>
          </p:nvPr>
        </p:nvSpPr>
        <p:spPr/>
        <p:txBody>
          <a:bodyPr/>
          <a:lstStyle>
            <a:lvl1pPr>
              <a:defRPr b="0" i="0">
                <a:latin typeface="Open Sans" panose="020B0606030504020204" pitchFamily="34" charset="0"/>
                <a:ea typeface="Open Sans" panose="020B0606030504020204" pitchFamily="34" charset="0"/>
                <a:cs typeface="Open Sans" panose="020B0606030504020204" pitchFamily="34" charset="0"/>
              </a:defRPr>
            </a:lvl1pPr>
          </a:lstStyle>
          <a:p>
            <a:pPr>
              <a:defRPr/>
            </a:pPr>
            <a:fld id="{B314F4A9-3917-40E8-BD28-C0DD49686833}" type="datetimeFigureOut">
              <a:rPr lang="id-ID" altLang="en-US" smtClean="0"/>
              <a:pPr>
                <a:defRPr/>
              </a:pPr>
              <a:t>26/12/2025</a:t>
            </a:fld>
            <a:endParaRPr lang="id-ID" altLang="en-US"/>
          </a:p>
        </p:txBody>
      </p:sp>
      <p:sp>
        <p:nvSpPr>
          <p:cNvPr id="6" name="Footer Placeholder 4">
            <a:extLst>
              <a:ext uri="{FF2B5EF4-FFF2-40B4-BE49-F238E27FC236}">
                <a16:creationId xmlns:a16="http://schemas.microsoft.com/office/drawing/2014/main" id="{AF5E07CC-C0C3-C8A2-0275-D753706EAE2E}"/>
              </a:ext>
            </a:extLst>
          </p:cNvPr>
          <p:cNvSpPr>
            <a:spLocks noGrp="1"/>
          </p:cNvSpPr>
          <p:nvPr>
            <p:ph type="ftr" sz="quarter" idx="15"/>
          </p:nvPr>
        </p:nvSpPr>
        <p:spPr/>
        <p:txBody>
          <a:bodyPr/>
          <a:lstStyle>
            <a:lvl1pPr>
              <a:defRPr b="0" i="0">
                <a:latin typeface="Open Sans" panose="020B0606030504020204" pitchFamily="34" charset="0"/>
                <a:ea typeface="Open Sans" panose="020B0606030504020204" pitchFamily="34" charset="0"/>
                <a:cs typeface="Open Sans" panose="020B0606030504020204" pitchFamily="34" charset="0"/>
              </a:defRPr>
            </a:lvl1pPr>
          </a:lstStyle>
          <a:p>
            <a:pPr>
              <a:defRPr/>
            </a:pPr>
            <a:endParaRPr lang="en-US" altLang="en-US"/>
          </a:p>
        </p:txBody>
      </p:sp>
      <p:sp>
        <p:nvSpPr>
          <p:cNvPr id="7" name="Slide Number Placeholder 5">
            <a:extLst>
              <a:ext uri="{FF2B5EF4-FFF2-40B4-BE49-F238E27FC236}">
                <a16:creationId xmlns:a16="http://schemas.microsoft.com/office/drawing/2014/main" id="{7B7828D9-9E07-C21B-8C4E-ECBFDA05A34C}"/>
              </a:ext>
            </a:extLst>
          </p:cNvPr>
          <p:cNvSpPr>
            <a:spLocks noGrp="1"/>
          </p:cNvSpPr>
          <p:nvPr>
            <p:ph type="sldNum" sz="quarter" idx="16"/>
          </p:nvPr>
        </p:nvSpPr>
        <p:spPr>
          <a:xfrm>
            <a:off x="12000605" y="13076008"/>
            <a:ext cx="370294" cy="379591"/>
          </a:xfrm>
        </p:spPr>
        <p:txBody>
          <a:bodyPr/>
          <a:lstStyle>
            <a:lvl1pPr>
              <a:defRPr/>
            </a:lvl1pPr>
          </a:lstStyle>
          <a:p>
            <a:pPr>
              <a:defRPr/>
            </a:pPr>
            <a:fld id="{3EB5C4D3-5B9B-4333-A046-65E8E2318A8F}" type="slidenum">
              <a:rPr lang="id-ID" altLang="en-US"/>
              <a:pPr>
                <a:defRPr/>
              </a:pPr>
              <a:t>‹#›</a:t>
            </a:fld>
            <a:endParaRPr lang="id-ID" altLang="en-US"/>
          </a:p>
        </p:txBody>
      </p:sp>
    </p:spTree>
    <p:extLst>
      <p:ext uri="{BB962C8B-B14F-4D97-AF65-F5344CB8AC3E}">
        <p14:creationId xmlns:p14="http://schemas.microsoft.com/office/powerpoint/2010/main" val="64564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 id="2147483689" r:id="rId24"/>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264C53-F38A-3CAD-0C8A-2BF46116F396}"/>
              </a:ext>
            </a:extLst>
          </p:cNvPr>
          <p:cNvSpPr>
            <a:spLocks noGrp="1"/>
          </p:cNvSpPr>
          <p:nvPr>
            <p:ph type="body" sz="quarter" idx="1"/>
          </p:nvPr>
        </p:nvSpPr>
        <p:spPr/>
        <p:txBody>
          <a:bodyPr/>
          <a:lstStyle/>
          <a:p>
            <a:r>
              <a:rPr lang="en-US" dirty="0"/>
              <a:t>COMP6100001 - Software engineering</a:t>
            </a:r>
          </a:p>
          <a:p>
            <a:r>
              <a:rPr lang="en-US"/>
              <a:t>Session 14</a:t>
            </a:r>
            <a:endParaRPr lang="en-US" dirty="0"/>
          </a:p>
        </p:txBody>
      </p:sp>
      <p:sp>
        <p:nvSpPr>
          <p:cNvPr id="3" name="Title 2">
            <a:extLst>
              <a:ext uri="{FF2B5EF4-FFF2-40B4-BE49-F238E27FC236}">
                <a16:creationId xmlns:a16="http://schemas.microsoft.com/office/drawing/2014/main" id="{1220BAB2-790F-F74A-024A-FC22D1A3E6EA}"/>
              </a:ext>
            </a:extLst>
          </p:cNvPr>
          <p:cNvSpPr>
            <a:spLocks noGrp="1"/>
          </p:cNvSpPr>
          <p:nvPr>
            <p:ph type="title"/>
          </p:nvPr>
        </p:nvSpPr>
        <p:spPr/>
        <p:txBody>
          <a:bodyPr/>
          <a:lstStyle/>
          <a:p>
            <a:r>
              <a:rPr lang="en-US" dirty="0"/>
              <a:t>RISK Analysis and</a:t>
            </a:r>
            <a:br>
              <a:rPr lang="en-US" dirty="0"/>
            </a:br>
            <a:r>
              <a:rPr lang="en-US" dirty="0"/>
              <a:t>MANAGEMENT</a:t>
            </a:r>
          </a:p>
        </p:txBody>
      </p:sp>
      <p:sp>
        <p:nvSpPr>
          <p:cNvPr id="4" name="Text Placeholder 3">
            <a:extLst>
              <a:ext uri="{FF2B5EF4-FFF2-40B4-BE49-F238E27FC236}">
                <a16:creationId xmlns:a16="http://schemas.microsoft.com/office/drawing/2014/main" id="{9E9B89E2-412C-8945-F692-CD51460D9806}"/>
              </a:ext>
            </a:extLst>
          </p:cNvPr>
          <p:cNvSpPr>
            <a:spLocks noGrp="1"/>
          </p:cNvSpPr>
          <p:nvPr>
            <p:ph type="body" sz="quarter" idx="11"/>
          </p:nvPr>
        </p:nvSpPr>
        <p:spPr/>
        <p:txBody>
          <a:bodyPr/>
          <a:lstStyle/>
          <a:p>
            <a:r>
              <a:rPr lang="en-US" dirty="0"/>
              <a:t>Kenny Jingga, </a:t>
            </a:r>
            <a:r>
              <a:rPr lang="en-US" dirty="0" err="1"/>
              <a:t>S.Kom</a:t>
            </a:r>
            <a:r>
              <a:rPr lang="en-US" dirty="0"/>
              <a:t>., M.T.</a:t>
            </a:r>
          </a:p>
        </p:txBody>
      </p:sp>
    </p:spTree>
    <p:extLst>
      <p:ext uri="{BB962C8B-B14F-4D97-AF65-F5344CB8AC3E}">
        <p14:creationId xmlns:p14="http://schemas.microsoft.com/office/powerpoint/2010/main" val="348722344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p:txBody>
          <a:bodyPr>
            <a:normAutofit fontScale="90000"/>
          </a:bodyPr>
          <a:lstStyle/>
          <a:p>
            <a:r>
              <a:rPr lang="en-US" dirty="0"/>
              <a:t>Session 14 – risk Analysis and management</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Learning objectives</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5334432"/>
            <a:ext cx="20711673" cy="4522264"/>
          </a:xfrm>
        </p:spPr>
        <p:txBody>
          <a:bodyPr anchor="ctr">
            <a:normAutofit/>
          </a:bodyPr>
          <a:lstStyle/>
          <a:p>
            <a:pPr marL="0" indent="0" algn="just">
              <a:buNone/>
            </a:pPr>
            <a:r>
              <a:rPr lang="en-US" sz="3600" dirty="0">
                <a:latin typeface="Open Sans" panose="020B0606030504020204" pitchFamily="34" charset="0"/>
                <a:ea typeface="Open Sans" panose="020B0606030504020204" pitchFamily="34" charset="0"/>
                <a:cs typeface="Open Sans" panose="020B0606030504020204" pitchFamily="34" charset="0"/>
              </a:rPr>
              <a:t>At the end of this session, students will be expected to be able to:</a:t>
            </a:r>
          </a:p>
          <a:p>
            <a:pPr marL="0" indent="0" algn="just">
              <a:buNone/>
            </a:pPr>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Understand the definition of risks</a:t>
            </a:r>
          </a:p>
          <a:p>
            <a:pPr algn="just">
              <a:spcBef>
                <a:spcPts val="0"/>
              </a:spcBef>
            </a:pPr>
            <a:r>
              <a:rPr lang="en-US" sz="3600" dirty="0">
                <a:latin typeface="Open Sans" panose="020B0606030504020204" pitchFamily="34" charset="0"/>
                <a:ea typeface="Open Sans" panose="020B0606030504020204" pitchFamily="34" charset="0"/>
                <a:cs typeface="Open Sans" panose="020B0606030504020204" pitchFamily="34" charset="0"/>
              </a:rPr>
              <a:t>Understand the risk management concepts and the proposed potential business project</a:t>
            </a:r>
          </a:p>
        </p:txBody>
      </p:sp>
    </p:spTree>
    <p:extLst>
      <p:ext uri="{BB962C8B-B14F-4D97-AF65-F5344CB8AC3E}">
        <p14:creationId xmlns:p14="http://schemas.microsoft.com/office/powerpoint/2010/main" val="385578585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p:txBody>
          <a:bodyPr>
            <a:normAutofit fontScale="90000"/>
          </a:bodyPr>
          <a:lstStyle/>
          <a:p>
            <a:r>
              <a:rPr lang="en-US" dirty="0"/>
              <a:t>Session 14 – RISK analysis and MANAGEMENT</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Content outline</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5334432"/>
            <a:ext cx="20711673" cy="4522264"/>
          </a:xfrm>
        </p:spPr>
        <p:txBody>
          <a:bodyPr>
            <a:normAutofit/>
          </a:bodyPr>
          <a:lstStyle/>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 definition</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Reactive vs proactive strategies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risks</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 identification</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 assessment &amp; prioritization</a:t>
            </a:r>
          </a:p>
          <a:p>
            <a:pPr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 mitigation &amp; monitoring</a:t>
            </a:r>
          </a:p>
        </p:txBody>
      </p:sp>
    </p:spTree>
    <p:extLst>
      <p:ext uri="{BB962C8B-B14F-4D97-AF65-F5344CB8AC3E}">
        <p14:creationId xmlns:p14="http://schemas.microsoft.com/office/powerpoint/2010/main" val="48198188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Risk Definition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Risk</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11577398"/>
            <a:ext cx="20295058" cy="2138602"/>
          </a:xfrm>
        </p:spPr>
        <p:txBody>
          <a:bodyP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 a measure of the potential inability to achieve overall program objectives within defined cost, schedule, and technical constraints</a:t>
            </a:r>
          </a:p>
        </p:txBody>
      </p:sp>
      <p:pic>
        <p:nvPicPr>
          <p:cNvPr id="6" name="Picture 5" descr="A screenshot of a social media account&#10;&#10;Description automatically generated">
            <a:extLst>
              <a:ext uri="{FF2B5EF4-FFF2-40B4-BE49-F238E27FC236}">
                <a16:creationId xmlns:a16="http://schemas.microsoft.com/office/drawing/2014/main" id="{6C7C2073-B52A-572D-2156-FD947AF932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0468" y="2193457"/>
            <a:ext cx="9768875" cy="9102815"/>
          </a:xfrm>
          <a:prstGeom prst="rect">
            <a:avLst/>
          </a:prstGeom>
        </p:spPr>
      </p:pic>
    </p:spTree>
    <p:extLst>
      <p:ext uri="{BB962C8B-B14F-4D97-AF65-F5344CB8AC3E}">
        <p14:creationId xmlns:p14="http://schemas.microsoft.com/office/powerpoint/2010/main" val="264363852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Risk Definition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Two key components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23274"/>
            <a:ext cx="20295058" cy="8620668"/>
          </a:xfrm>
        </p:spPr>
        <p:txBody>
          <a:bodyPr>
            <a:normAutofit/>
          </a:bodyPr>
          <a:lstStyle/>
          <a:p>
            <a:pPr marL="0" indent="0" algn="just">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 is defined by two key components:</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probability (or likelihood) of failing to achieve a particular outcome </a:t>
            </a:r>
          </a:p>
          <a:p>
            <a:pPr algn="just"/>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consequences (or impact) of failing to achieve that outcomes </a:t>
            </a:r>
          </a:p>
          <a:p>
            <a:pPr marL="0" indent="0" algn="just">
              <a:buNone/>
            </a:pPr>
            <a:endPar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gn="just">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Internal vs. External Risk</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Internal: Risks that we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can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control</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External: Risks that we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cannot</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control</a:t>
            </a:r>
          </a:p>
        </p:txBody>
      </p:sp>
    </p:spTree>
    <p:extLst>
      <p:ext uri="{BB962C8B-B14F-4D97-AF65-F5344CB8AC3E}">
        <p14:creationId xmlns:p14="http://schemas.microsoft.com/office/powerpoint/2010/main" val="119521272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Reactive versus Proactive Risk Strategies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Reactive Risk Management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project team reacts to risks when they occur</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mitigation—plan for additional resources in anticipation of fire fighting</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fix on failure—resource are found and applied when the risk strikes</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crisis management—failure does not respond to applied resources and project is in jeopardy</a:t>
            </a:r>
          </a:p>
        </p:txBody>
      </p:sp>
    </p:spTree>
    <p:extLst>
      <p:ext uri="{BB962C8B-B14F-4D97-AF65-F5344CB8AC3E}">
        <p14:creationId xmlns:p14="http://schemas.microsoft.com/office/powerpoint/2010/main" val="419144673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Reactive versus Proactive Risk Strategies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Proactive Risk Management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rmAutofit/>
          </a:bodyPr>
          <a:lstStyle/>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formal risk analysis is performed</a:t>
            </a:r>
          </a:p>
          <a:p>
            <a:pPr algn="just"/>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organization corrects the root causes of risk</a:t>
            </a:r>
          </a:p>
          <a:p>
            <a:pPr lvl="1" algn="just">
              <a:buFont typeface="Open Sans" panose="020B0606030504020204" pitchFamily="34" charset="0"/>
              <a:buChar char="–"/>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TQM concepts and statistical SQA</a:t>
            </a:r>
          </a:p>
          <a:p>
            <a:pPr lvl="1" algn="just">
              <a:buFont typeface="Open Sans" panose="020B0606030504020204" pitchFamily="34" charset="0"/>
              <a:buChar char="–"/>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examining risk sources that lie beyond the bounds of the software</a:t>
            </a:r>
          </a:p>
          <a:p>
            <a:pPr lvl="1" algn="just">
              <a:buFont typeface="Open Sans" panose="020B0606030504020204" pitchFamily="34" charset="0"/>
              <a:buChar char="–"/>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developing the skill to manage change </a:t>
            </a:r>
          </a:p>
        </p:txBody>
      </p:sp>
    </p:spTree>
    <p:extLst>
      <p:ext uri="{BB962C8B-B14F-4D97-AF65-F5344CB8AC3E}">
        <p14:creationId xmlns:p14="http://schemas.microsoft.com/office/powerpoint/2010/main" val="94670383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Seven Principles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Maintain a global perspective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—view software risks within the context of system and the business problem </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Take a forward-looking view</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—think about the risks that may arise in the future;  establish contingency plans </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Encourage open communication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—if someone states a potential risk, don’t discount it. </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Integrate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consideration of risk must be integrated into the software process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Emphasize a continuous process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team must be vigilant throughout the software process, modifying identified risks as more information is known and adding new ones as better insight is achieved.</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Develop a shared product vision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—if all stakeholders share the same vision of the software, it likely that better risk identification and assessment will occur.</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Encourage teamwork</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talents, skills and knowledge of all stakeholder should be pooled</a:t>
            </a:r>
          </a:p>
        </p:txBody>
      </p:sp>
    </p:spTree>
    <p:extLst>
      <p:ext uri="{BB962C8B-B14F-4D97-AF65-F5344CB8AC3E}">
        <p14:creationId xmlns:p14="http://schemas.microsoft.com/office/powerpoint/2010/main" val="310588214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Risk Management Paradigm</a:t>
            </a:r>
          </a:p>
        </p:txBody>
      </p:sp>
      <p:pic>
        <p:nvPicPr>
          <p:cNvPr id="25" name="Gambar 24">
            <a:extLst>
              <a:ext uri="{FF2B5EF4-FFF2-40B4-BE49-F238E27FC236}">
                <a16:creationId xmlns:a16="http://schemas.microsoft.com/office/drawing/2014/main" id="{0685E28A-3907-8152-74A2-92921518DE54}"/>
              </a:ext>
            </a:extLst>
          </p:cNvPr>
          <p:cNvPicPr>
            <a:picLocks noChangeAspect="1"/>
          </p:cNvPicPr>
          <p:nvPr/>
        </p:nvPicPr>
        <p:blipFill>
          <a:blip r:embed="rId2"/>
          <a:stretch>
            <a:fillRect/>
          </a:stretch>
        </p:blipFill>
        <p:spPr>
          <a:xfrm>
            <a:off x="6351526" y="3893233"/>
            <a:ext cx="11680948" cy="8754537"/>
          </a:xfrm>
          <a:prstGeom prst="rect">
            <a:avLst/>
          </a:prstGeom>
        </p:spPr>
      </p:pic>
    </p:spTree>
    <p:extLst>
      <p:ext uri="{BB962C8B-B14F-4D97-AF65-F5344CB8AC3E}">
        <p14:creationId xmlns:p14="http://schemas.microsoft.com/office/powerpoint/2010/main" val="27436537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Risk Identification</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Product size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—risks associated with the overall size of the software to be built or modified.</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Business impact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—risks associated with constraints imposed by management or the marketplace.</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Customer characteristics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—risks associated with the sophistication of the customer and the developer's ability to communicate with the customer in a timely manner.</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Process definition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—risks associated with the degree to which the software process has been defined and is followed by the development organization.</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Development environment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—risks associated with the availability and quality of the tools to be used to build the product.</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Technology to be built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—risks associated with the complexity of the system to be built and the "newness" of the technology that is packaged by the system.</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Staff size and experience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—risks associated with the overall technical and project experience of the software engineers who will do the work.</a:t>
            </a:r>
          </a:p>
        </p:txBody>
      </p:sp>
    </p:spTree>
    <p:extLst>
      <p:ext uri="{BB962C8B-B14F-4D97-AF65-F5344CB8AC3E}">
        <p14:creationId xmlns:p14="http://schemas.microsoft.com/office/powerpoint/2010/main" val="222233716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Assessing Project Risk-I</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Have top software and customer managers formally committed to support the project?</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Are end-users enthusiastically committed to the project and the system/product to be built?</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Are requirements fully understood by the software engineering team and their customers?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Have customers been involved fully in the definition of requirements?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Do end-users have realistic expectations?</a:t>
            </a:r>
          </a:p>
        </p:txBody>
      </p:sp>
    </p:spTree>
    <p:extLst>
      <p:ext uri="{BB962C8B-B14F-4D97-AF65-F5344CB8AC3E}">
        <p14:creationId xmlns:p14="http://schemas.microsoft.com/office/powerpoint/2010/main" val="185869579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Assessing Project Risk-II</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Is project scope stable?</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Does the software engineering team have the right mix of skills?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Are project requirements stable?</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Does the project team have experience with the technology to be implemented?</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Is the number of people on the project team adequate to do the job?</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Do all customer/user constituencies agree on the importance of the project and on the requirements for the system/product to be built?</a:t>
            </a:r>
          </a:p>
        </p:txBody>
      </p:sp>
    </p:spTree>
    <p:extLst>
      <p:ext uri="{BB962C8B-B14F-4D97-AF65-F5344CB8AC3E}">
        <p14:creationId xmlns:p14="http://schemas.microsoft.com/office/powerpoint/2010/main" val="355914194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Levels of Risk Management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Autofit/>
          </a:bodyPr>
          <a:lstStyle/>
          <a:p>
            <a:pPr marL="742950" indent="-742950" algn="just">
              <a:spcBef>
                <a:spcPts val="1800"/>
              </a:spcBef>
              <a:buFont typeface="+mj-lt"/>
              <a:buAutoNum type="arabicPeriod"/>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Crisis management</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Fire fighting; address risks only after they have become problems. </a:t>
            </a:r>
          </a:p>
          <a:p>
            <a:pPr marL="742950" indent="-742950" algn="just">
              <a:spcBef>
                <a:spcPts val="1800"/>
              </a:spcBef>
              <a:buFont typeface="+mj-lt"/>
              <a:buAutoNum type="arabicPeriod"/>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Fix on failure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Detect and react to risks quickly, but only after they have occurred. </a:t>
            </a:r>
          </a:p>
          <a:p>
            <a:pPr marL="742950" indent="-742950" algn="just">
              <a:spcBef>
                <a:spcPts val="1800"/>
              </a:spcBef>
              <a:buFont typeface="+mj-lt"/>
              <a:buAutoNum type="arabicPeriod"/>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 mitigation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Plan ahead of time to provide resources to cover risks if they occur, but do nothing to eliminate them in the first place. </a:t>
            </a:r>
          </a:p>
          <a:p>
            <a:pPr marL="742950" indent="-742950" algn="just">
              <a:spcBef>
                <a:spcPts val="1800"/>
              </a:spcBef>
              <a:buFont typeface="+mj-lt"/>
              <a:buAutoNum type="arabicPeriod"/>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Prevention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Implement and execute a plan as part of the software project to identify risks and prevent them from becoming problems. </a:t>
            </a:r>
          </a:p>
          <a:p>
            <a:pPr marL="742950" indent="-742950" algn="just">
              <a:spcBef>
                <a:spcPts val="1800"/>
              </a:spcBef>
              <a:buFont typeface="+mj-lt"/>
              <a:buAutoNum type="arabicPeriod"/>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Elimination of root causes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Identify and eliminate factors that make it possible for risks to exist at all. </a:t>
            </a:r>
          </a:p>
        </p:txBody>
      </p:sp>
    </p:spTree>
    <p:extLst>
      <p:ext uri="{BB962C8B-B14F-4D97-AF65-F5344CB8AC3E}">
        <p14:creationId xmlns:p14="http://schemas.microsoft.com/office/powerpoint/2010/main" val="360638357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Risk Management</a:t>
            </a:r>
          </a:p>
        </p:txBody>
      </p:sp>
      <p:pic>
        <p:nvPicPr>
          <p:cNvPr id="6" name="Content Placeholder 5" descr="A diagram of a risk control system&#10;&#10;Description automatically generated">
            <a:extLst>
              <a:ext uri="{FF2B5EF4-FFF2-40B4-BE49-F238E27FC236}">
                <a16:creationId xmlns:a16="http://schemas.microsoft.com/office/drawing/2014/main" id="{E32F3C64-DF9A-2D93-5C5E-E838101B6979}"/>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3424089" y="3846433"/>
            <a:ext cx="17535822" cy="7997509"/>
          </a:xfrm>
        </p:spPr>
      </p:pic>
    </p:spTree>
    <p:extLst>
      <p:ext uri="{BB962C8B-B14F-4D97-AF65-F5344CB8AC3E}">
        <p14:creationId xmlns:p14="http://schemas.microsoft.com/office/powerpoint/2010/main" val="159797137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RISK COMPONENTs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performance risk</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degree of uncertainty that the product will meet its requirements and be fit for its intended use.</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cost risk</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degree of uncertainty that the project budget will be maintained.</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support risk</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degree of uncertainty that the resultant software will be easy to correct, adapt, and enhance.</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schedule risk</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degree of uncertainty that the project schedule will be maintained and that the product will be delivered on time.</a:t>
            </a:r>
          </a:p>
        </p:txBody>
      </p:sp>
    </p:spTree>
    <p:extLst>
      <p:ext uri="{BB962C8B-B14F-4D97-AF65-F5344CB8AC3E}">
        <p14:creationId xmlns:p14="http://schemas.microsoft.com/office/powerpoint/2010/main" val="355247209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Risk Projection</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 projection, also called risk estimation, attempts to rate each risk in two ways</a:t>
            </a:r>
          </a:p>
          <a:p>
            <a:pPr lvl="1" algn="just">
              <a:spcBef>
                <a:spcPts val="1800"/>
              </a:spcBef>
              <a:buFont typeface="Open Sans" panose="020B0606030504020204" pitchFamily="34" charset="0"/>
              <a:buChar char="–"/>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the likelihood or probability that the risk is real </a:t>
            </a:r>
          </a:p>
          <a:p>
            <a:pPr lvl="1" algn="just">
              <a:spcBef>
                <a:spcPts val="1800"/>
              </a:spcBef>
              <a:buFont typeface="Open Sans" panose="020B0606030504020204" pitchFamily="34" charset="0"/>
              <a:buChar char="–"/>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the consequences of the problems associated with the risk, should it occur. </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are four risk projection steps:</a:t>
            </a:r>
          </a:p>
          <a:p>
            <a:pPr lvl="1" algn="just">
              <a:spcBef>
                <a:spcPts val="1800"/>
              </a:spcBef>
              <a:buFont typeface="Open Sans" panose="020B0606030504020204" pitchFamily="34" charset="0"/>
              <a:buChar char="–"/>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establish a scale that reflects the perceived likelihood of a risk</a:t>
            </a:r>
          </a:p>
          <a:p>
            <a:pPr lvl="1" algn="just">
              <a:spcBef>
                <a:spcPts val="1800"/>
              </a:spcBef>
              <a:buFont typeface="Open Sans" panose="020B0606030504020204" pitchFamily="34" charset="0"/>
              <a:buChar char="–"/>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delineate the consequences of the risk</a:t>
            </a:r>
          </a:p>
          <a:p>
            <a:pPr lvl="1" algn="just">
              <a:spcBef>
                <a:spcPts val="1800"/>
              </a:spcBef>
              <a:buFont typeface="Open Sans" panose="020B0606030504020204" pitchFamily="34" charset="0"/>
              <a:buChar char="–"/>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estimate the impact of the risk on the project and the product,</a:t>
            </a:r>
          </a:p>
          <a:p>
            <a:pPr lvl="1" algn="just">
              <a:spcBef>
                <a:spcPts val="1800"/>
              </a:spcBef>
              <a:buFont typeface="Open Sans" panose="020B0606030504020204" pitchFamily="34" charset="0"/>
              <a:buChar char="–"/>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note the overall accuracy of the risk projection so that there will be no misunderstandings.</a:t>
            </a:r>
          </a:p>
        </p:txBody>
      </p:sp>
    </p:spTree>
    <p:extLst>
      <p:ext uri="{BB962C8B-B14F-4D97-AF65-F5344CB8AC3E}">
        <p14:creationId xmlns:p14="http://schemas.microsoft.com/office/powerpoint/2010/main" val="229978758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Impact assessment</a:t>
            </a:r>
          </a:p>
        </p:txBody>
      </p:sp>
      <p:sp>
        <p:nvSpPr>
          <p:cNvPr id="6" name="Tampungan Konten 5">
            <a:extLst>
              <a:ext uri="{FF2B5EF4-FFF2-40B4-BE49-F238E27FC236}">
                <a16:creationId xmlns:a16="http://schemas.microsoft.com/office/drawing/2014/main" id="{264D8DE3-0A79-FAA0-0E9A-D2C71C2B2197}"/>
              </a:ext>
            </a:extLst>
          </p:cNvPr>
          <p:cNvSpPr>
            <a:spLocks noGrp="1"/>
          </p:cNvSpPr>
          <p:nvPr>
            <p:ph sz="quarter" idx="11"/>
          </p:nvPr>
        </p:nvSpPr>
        <p:spPr/>
        <p:txBody>
          <a:bodyPr/>
          <a:lstStyle/>
          <a:p>
            <a:endParaRPr lang="en-US"/>
          </a:p>
        </p:txBody>
      </p:sp>
      <p:pic>
        <p:nvPicPr>
          <p:cNvPr id="7" name="Picture 14">
            <a:extLst>
              <a:ext uri="{FF2B5EF4-FFF2-40B4-BE49-F238E27FC236}">
                <a16:creationId xmlns:a16="http://schemas.microsoft.com/office/drawing/2014/main" id="{03B914A5-4EDD-68BC-CC58-03BF067CDB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530" y="3417810"/>
            <a:ext cx="13714940" cy="9585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298245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Building the Risk Table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Estimate the probability of occurrence</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Estimate the impact on the project on a scale of 1 to 4, where</a:t>
            </a:r>
          </a:p>
          <a:p>
            <a:pPr lvl="1" algn="just">
              <a:spcBef>
                <a:spcPts val="1800"/>
              </a:spcBef>
              <a:buFont typeface="Open Sans" panose="020B0606030504020204" pitchFamily="34" charset="0"/>
              <a:buChar char="–"/>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1 = catastrophic </a:t>
            </a:r>
          </a:p>
          <a:p>
            <a:pPr lvl="1" algn="just">
              <a:spcBef>
                <a:spcPts val="1800"/>
              </a:spcBef>
              <a:buFont typeface="Open Sans" panose="020B0606030504020204" pitchFamily="34" charset="0"/>
              <a:buChar char="–"/>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2 = critical</a:t>
            </a:r>
          </a:p>
          <a:p>
            <a:pPr lvl="1" algn="just">
              <a:spcBef>
                <a:spcPts val="1800"/>
              </a:spcBef>
              <a:buFont typeface="Open Sans" panose="020B0606030504020204" pitchFamily="34" charset="0"/>
              <a:buChar char="–"/>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3 = marginal</a:t>
            </a:r>
          </a:p>
          <a:p>
            <a:pPr lvl="1" algn="just">
              <a:spcBef>
                <a:spcPts val="1800"/>
              </a:spcBef>
              <a:buFont typeface="Open Sans" panose="020B0606030504020204" pitchFamily="34" charset="0"/>
              <a:buChar char="–"/>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4 = negligible</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sort the table by probability and impact</a:t>
            </a:r>
          </a:p>
        </p:txBody>
      </p:sp>
    </p:spTree>
    <p:extLst>
      <p:ext uri="{BB962C8B-B14F-4D97-AF65-F5344CB8AC3E}">
        <p14:creationId xmlns:p14="http://schemas.microsoft.com/office/powerpoint/2010/main" val="77176674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Sample risk table prior to sorting</a:t>
            </a:r>
          </a:p>
        </p:txBody>
      </p:sp>
      <p:sp>
        <p:nvSpPr>
          <p:cNvPr id="6" name="Tampungan Konten 5">
            <a:extLst>
              <a:ext uri="{FF2B5EF4-FFF2-40B4-BE49-F238E27FC236}">
                <a16:creationId xmlns:a16="http://schemas.microsoft.com/office/drawing/2014/main" id="{264D8DE3-0A79-FAA0-0E9A-D2C71C2B2197}"/>
              </a:ext>
            </a:extLst>
          </p:cNvPr>
          <p:cNvSpPr>
            <a:spLocks noGrp="1"/>
          </p:cNvSpPr>
          <p:nvPr>
            <p:ph sz="quarter" idx="11"/>
          </p:nvPr>
        </p:nvSpPr>
        <p:spPr/>
        <p:txBody>
          <a:bodyPr/>
          <a:lstStyle/>
          <a:p>
            <a:endParaRPr lang="en-US"/>
          </a:p>
        </p:txBody>
      </p:sp>
      <p:pic>
        <p:nvPicPr>
          <p:cNvPr id="4" name="Picture 2">
            <a:extLst>
              <a:ext uri="{FF2B5EF4-FFF2-40B4-BE49-F238E27FC236}">
                <a16:creationId xmlns:a16="http://schemas.microsoft.com/office/drawing/2014/main" id="{EED5F6EC-9EDF-A668-3308-F9F78D1186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1745" y="3498861"/>
            <a:ext cx="16420509" cy="901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640822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Risk Exposure (Impact)</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Autofit/>
          </a:bodyPr>
          <a:lstStyle/>
          <a:p>
            <a:pPr marL="0" indent="0" algn="just">
              <a:spcBef>
                <a:spcPts val="180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overall risk exposure, RE, is determined using the following relationship [Hal98]:</a:t>
            </a:r>
          </a:p>
          <a:p>
            <a:pPr marL="0" indent="0" algn="just">
              <a:spcBef>
                <a:spcPts val="180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 = P x C</a:t>
            </a:r>
          </a:p>
          <a:p>
            <a:pPr marL="0" indent="0" algn="just">
              <a:spcBef>
                <a:spcPts val="180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where </a:t>
            </a:r>
          </a:p>
          <a:p>
            <a:pPr marL="0" indent="0" algn="just">
              <a:spcBef>
                <a:spcPts val="180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is the probability of occurrence for a risk, and </a:t>
            </a:r>
          </a:p>
          <a:p>
            <a:pPr marL="0" indent="0" algn="just">
              <a:spcBef>
                <a:spcPts val="180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is the cost to the project should the risk occur.</a:t>
            </a:r>
          </a:p>
          <a:p>
            <a:pPr algn="just">
              <a:spcBef>
                <a:spcPts val="1800"/>
              </a:spcBef>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71107844"/>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Risk Exposure Example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 identification.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Only 70 percent of the software components scheduled for reuse will, in fact, be integrated into the application. The remaining functionality will have to be custom developed.</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 probability.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80% (likely).</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 impact.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60 reusable software components were planned. If only 70 percent can be used, 18 components would have to be developed from scratch (in addition to other custom software that has been scheduled for development). Since the average component is 100 LOC and local data indicate that the software engineering cost for each LOC is $14.00, the overall cost (impact) to develop the components would be 18 x 100 x 14 = $25,200.</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 exposure.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 = 0.80 x 25,200 ~ $20,200.</a:t>
            </a:r>
          </a:p>
        </p:txBody>
      </p:sp>
    </p:spTree>
    <p:extLst>
      <p:ext uri="{BB962C8B-B14F-4D97-AF65-F5344CB8AC3E}">
        <p14:creationId xmlns:p14="http://schemas.microsoft.com/office/powerpoint/2010/main" val="2617014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382339"/>
            <a:ext cx="14715569" cy="840935"/>
          </a:xfrm>
        </p:spPr>
        <p:txBody>
          <a:bodyPr>
            <a:normAutofit/>
          </a:bodyPr>
          <a:lstStyle/>
          <a:p>
            <a:r>
              <a:rPr lang="en-US" dirty="0"/>
              <a:t>Risk Mitigation, Monitoring, and Management </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Mitigation —how can we avoid the risk?</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Monitoring —what factors can we track that will enable us to determine if the risk is becoming more or less likely?</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Management —what contingency plans do we have if the risk becomes a reality?</a:t>
            </a:r>
          </a:p>
        </p:txBody>
      </p:sp>
    </p:spTree>
    <p:extLst>
      <p:ext uri="{BB962C8B-B14F-4D97-AF65-F5344CB8AC3E}">
        <p14:creationId xmlns:p14="http://schemas.microsoft.com/office/powerpoint/2010/main" val="427928339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382339"/>
            <a:ext cx="14715569" cy="840935"/>
          </a:xfrm>
        </p:spPr>
        <p:txBody>
          <a:bodyPr>
            <a:normAutofit/>
          </a:bodyPr>
          <a:lstStyle/>
          <a:p>
            <a:r>
              <a:rPr lang="en-US" dirty="0"/>
              <a:t>RISK INFORMATION SHEET</a:t>
            </a:r>
          </a:p>
        </p:txBody>
      </p:sp>
      <p:pic>
        <p:nvPicPr>
          <p:cNvPr id="7" name="Picture 10">
            <a:extLst>
              <a:ext uri="{FF2B5EF4-FFF2-40B4-BE49-F238E27FC236}">
                <a16:creationId xmlns:a16="http://schemas.microsoft.com/office/drawing/2014/main" id="{0C26505F-7D10-6E3E-B96C-6F95A8CB6C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8320" y="3520195"/>
            <a:ext cx="13533120" cy="960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817960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risk</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382339"/>
            <a:ext cx="14715569" cy="840935"/>
          </a:xfrm>
        </p:spPr>
        <p:txBody>
          <a:bodyPr>
            <a:normAutofit/>
          </a:bodyPr>
          <a:lstStyle/>
          <a:p>
            <a:r>
              <a:rPr lang="en-US" dirty="0"/>
              <a:t>Observation</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CI helps us catch errors before others see them</a:t>
            </a:r>
          </a:p>
          <a:p>
            <a:pPr algn="just">
              <a:spcBef>
                <a:spcPts val="1800"/>
              </a:spcBef>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Probability a human makes a mistake: Very Likely </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Severity: ranges, but could be extensive</a:t>
            </a:r>
          </a:p>
          <a:p>
            <a:pPr marL="0" indent="0" algn="just">
              <a:spcBef>
                <a:spcPts val="180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Solution:</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 CI to catch your mistakes, make you look better, and mitigate your risks! </a:t>
            </a:r>
          </a:p>
          <a:p>
            <a:pPr algn="just">
              <a:spcBef>
                <a:spcPts val="1800"/>
              </a:spcBef>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1771701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C9A3-FB6E-DB3A-36BC-1DB5FA6C0129}"/>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053E2DA4-F8BE-01AB-0C23-B97B20B1AE7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0EAE9782-3C02-FAD4-699A-C827BC99AC35}"/>
              </a:ext>
            </a:extLst>
          </p:cNvPr>
          <p:cNvSpPr>
            <a:spLocks noGrp="1"/>
          </p:cNvSpPr>
          <p:nvPr>
            <p:ph sz="quarter" idx="11"/>
          </p:nvPr>
        </p:nvSpPr>
        <p:spPr/>
        <p:txBody>
          <a:bodyPr>
            <a:normAutofit/>
          </a:bodyPr>
          <a:lstStyle/>
          <a:p>
            <a:pPr algn="just"/>
            <a:r>
              <a:rPr lang="en-US" sz="3600" dirty="0">
                <a:latin typeface="Open Sans" panose="020B0606030504020204" pitchFamily="34" charset="0"/>
                <a:ea typeface="Open Sans" panose="020B0606030504020204" pitchFamily="34" charset="0"/>
                <a:cs typeface="Open Sans" panose="020B0606030504020204" pitchFamily="34" charset="0"/>
              </a:rPr>
              <a:t>Roger Pressman and Bruce Maxim. (2020). Software Engineering: A Practitioner's Approach. 9th. McGraw Hill. New York. ISBN: 978- 1259872976.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Risk Management &amp; operational Risk http://www.grafp.com/products/risk-manage.html</a:t>
            </a:r>
          </a:p>
          <a:p>
            <a:pPr algn="just"/>
            <a:endParaRPr lang="en-US" sz="3600" dirty="0">
              <a:latin typeface="Open Sans" panose="020B0606030504020204" pitchFamily="34" charset="0"/>
              <a:ea typeface="Open Sans" panose="020B0606030504020204" pitchFamily="34" charset="0"/>
              <a:cs typeface="Open Sans" panose="020B0606030504020204" pitchFamily="34" charset="0"/>
            </a:endParaRPr>
          </a:p>
          <a:p>
            <a:pPr algn="just"/>
            <a:endParaRPr lang="en-US" sz="3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97612424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2" id="{91EC78B4-BE4F-3B4D-B302-CF3E80410C1C}" vid="{48571482-A7A2-E44B-AA81-515161122809}"/>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TaxCatchAll xmlns="9fdf624c-fedc-4f6c-b928-0c7bf4c9e100" xsi:nil="true"/>
    <_Flow_SignoffStatus xmlns="47793baa-3cbb-486e-a055-4d42ce3882d7" xsi:nil="true"/>
    <_dlc_DocId xmlns="9fdf624c-fedc-4f6c-b928-0c7bf4c9e100">J56STF5CZXNR-2061195910-875156</_dlc_DocId>
    <_dlc_DocIdUrl xmlns="9fdf624c-fedc-4f6c-b928-0c7bf4c9e100">
      <Url>https://binusianorg.sharepoint.com/sites/arc/_layouts/15/DocIdRedir.aspx?ID=J56STF5CZXNR-2061195910-875156</Url>
      <Description>J56STF5CZXNR-2061195910-875156</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DAE38A-8264-43C3-9B01-B7FA25F10602}">
  <ds:schemaRefs>
    <ds:schemaRef ds:uri="http://schemas.microsoft.com/sharepoint/events"/>
  </ds:schemaRefs>
</ds:datastoreItem>
</file>

<file path=customXml/itemProps2.xml><?xml version="1.0" encoding="utf-8"?>
<ds:datastoreItem xmlns:ds="http://schemas.openxmlformats.org/officeDocument/2006/customXml" ds:itemID="{C2252D89-D1E6-488A-B078-4573BAE073F6}">
  <ds:schemaRefs>
    <ds:schemaRef ds:uri="http://purl.org/dc/terms/"/>
    <ds:schemaRef ds:uri="2661c1c1-ed05-4275-a33d-64e31eb1ea69"/>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4f26481f-d1e8-4452-9a9a-b303515fd2b7"/>
    <ds:schemaRef ds:uri="http://schemas.microsoft.com/office/2006/metadata/properties"/>
    <ds:schemaRef ds:uri="http://purl.org/dc/dcmitype/"/>
    <ds:schemaRef ds:uri="http://schemas.microsoft.com/sharepoint/v3/fields"/>
    <ds:schemaRef ds:uri="9fdf624c-fedc-4f6c-b928-0c7bf4c9e100"/>
    <ds:schemaRef ds:uri="47793baa-3cbb-486e-a055-4d42ce3882d7"/>
  </ds:schemaRefs>
</ds:datastoreItem>
</file>

<file path=customXml/itemProps3.xml><?xml version="1.0" encoding="utf-8"?>
<ds:datastoreItem xmlns:ds="http://schemas.openxmlformats.org/officeDocument/2006/customXml" ds:itemID="{90A97211-242D-415A-8ADE-6F44C1D92C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2E0FE671-25D8-4116-9472-BF9297986C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BINUS Learning Object Slide Template 2022</Template>
  <TotalTime>2498</TotalTime>
  <Words>1440</Words>
  <Application>Microsoft Office PowerPoint</Application>
  <PresentationFormat>Custom</PresentationFormat>
  <Paragraphs>148</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Open Sans ExtraBold</vt:lpstr>
      <vt:lpstr>Open Sans</vt:lpstr>
      <vt:lpstr>Open Sans Semibold</vt:lpstr>
      <vt:lpstr>Open Sans Light</vt:lpstr>
      <vt:lpstr>OCRB</vt:lpstr>
      <vt:lpstr>21_BasicWhite</vt:lpstr>
      <vt:lpstr>RISK Analysis and MANAGEMENT</vt:lpstr>
      <vt:lpstr>Session 14 – risk Analysis and management</vt:lpstr>
      <vt:lpstr>Session 14 – RISK analysis and MANAGEMENT</vt:lpstr>
      <vt:lpstr>Risk Definition</vt:lpstr>
      <vt:lpstr>Risk Definition</vt:lpstr>
      <vt:lpstr>Reactive versus Proactive Risk Strategies</vt:lpstr>
      <vt:lpstr>Reactive versus Proactive Risk Strategies</vt:lpstr>
      <vt:lpstr>Software risk</vt:lpstr>
      <vt:lpstr>Software risk</vt:lpstr>
      <vt:lpstr>Software risk</vt:lpstr>
      <vt:lpstr>Software risk</vt:lpstr>
      <vt:lpstr>Software risk</vt:lpstr>
      <vt:lpstr>Software risk</vt:lpstr>
      <vt:lpstr>Software risk</vt:lpstr>
      <vt:lpstr>Software risk</vt:lpstr>
      <vt:lpstr>Software risk</vt:lpstr>
      <vt:lpstr>Software risk</vt:lpstr>
      <vt:lpstr>Software risk</vt:lpstr>
      <vt:lpstr>Software risk</vt:lpstr>
      <vt:lpstr>Software risk</vt:lpstr>
      <vt:lpstr>Software risk</vt:lpstr>
      <vt:lpstr>Software risk</vt:lpstr>
      <vt:lpstr>Software risk</vt:lpstr>
      <vt:lpstr>Software risk</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Aris Priyanto</dc:creator>
  <cp:lastModifiedBy>Maulin Nasari</cp:lastModifiedBy>
  <cp:revision>52</cp:revision>
  <dcterms:created xsi:type="dcterms:W3CDTF">2023-04-06T08:40:27Z</dcterms:created>
  <dcterms:modified xsi:type="dcterms:W3CDTF">2025-12-25T22:54:42Z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a8e96856-29d3-47af-8f22-9a1c34492d36</vt:lpwstr>
  </property>
</Properties>
</file>