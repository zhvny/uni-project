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47"/>
  </p:notesMasterIdLst>
  <p:sldIdLst>
    <p:sldId id="256" r:id="rId6"/>
    <p:sldId id="257" r:id="rId7"/>
    <p:sldId id="258" r:id="rId8"/>
    <p:sldId id="285" r:id="rId9"/>
    <p:sldId id="296" r:id="rId10"/>
    <p:sldId id="297" r:id="rId11"/>
    <p:sldId id="298" r:id="rId12"/>
    <p:sldId id="303" r:id="rId13"/>
    <p:sldId id="309" r:id="rId14"/>
    <p:sldId id="288" r:id="rId15"/>
    <p:sldId id="289" r:id="rId16"/>
    <p:sldId id="274" r:id="rId17"/>
    <p:sldId id="290" r:id="rId18"/>
    <p:sldId id="291" r:id="rId19"/>
    <p:sldId id="310" r:id="rId20"/>
    <p:sldId id="311" r:id="rId21"/>
    <p:sldId id="312" r:id="rId22"/>
    <p:sldId id="313" r:id="rId23"/>
    <p:sldId id="314" r:id="rId24"/>
    <p:sldId id="315" r:id="rId25"/>
    <p:sldId id="316" r:id="rId26"/>
    <p:sldId id="317" r:id="rId27"/>
    <p:sldId id="318" r:id="rId28"/>
    <p:sldId id="319" r:id="rId29"/>
    <p:sldId id="320" r:id="rId30"/>
    <p:sldId id="295" r:id="rId31"/>
    <p:sldId id="300" r:id="rId32"/>
    <p:sldId id="301" r:id="rId33"/>
    <p:sldId id="302" r:id="rId34"/>
    <p:sldId id="299" r:id="rId35"/>
    <p:sldId id="304" r:id="rId36"/>
    <p:sldId id="305" r:id="rId37"/>
    <p:sldId id="306" r:id="rId38"/>
    <p:sldId id="294" r:id="rId39"/>
    <p:sldId id="321" r:id="rId40"/>
    <p:sldId id="322" r:id="rId41"/>
    <p:sldId id="323" r:id="rId42"/>
    <p:sldId id="324" r:id="rId43"/>
    <p:sldId id="293" r:id="rId44"/>
    <p:sldId id="325" r:id="rId45"/>
    <p:sldId id="284" r:id="rId46"/>
  </p:sldIdLst>
  <p:sldSz cx="24384000" cy="13716000"/>
  <p:notesSz cx="6858000" cy="9144000"/>
  <p:embeddedFontLst>
    <p:embeddedFont>
      <p:font typeface="OCRB" panose="020B0609020202020204" pitchFamily="49" charset="77"/>
      <p:regular r:id="rId48"/>
    </p:embeddedFont>
    <p:embeddedFont>
      <p:font typeface="Open Sans" panose="020B0606030504020204" pitchFamily="34" charset="0"/>
      <p:regular r:id="rId49"/>
      <p:bold r:id="rId50"/>
      <p:italic r:id="rId51"/>
      <p:boldItalic r:id="rId52"/>
    </p:embeddedFont>
    <p:embeddedFont>
      <p:font typeface="Open Sans ExtraBold" panose="020B0606030504020204" pitchFamily="34" charset="0"/>
      <p:bold r:id="rId53"/>
      <p:italic r:id="rId54"/>
      <p:boldItalic r:id="rId55"/>
    </p:embeddedFont>
    <p:embeddedFont>
      <p:font typeface="Open Sans Light" panose="020B0306030504020204" pitchFamily="34" charset="0"/>
      <p:regular r:id="rId56"/>
      <p:italic r:id="rId57"/>
    </p:embeddedFont>
    <p:embeddedFont>
      <p:font typeface="Open Sans Semibold" panose="020B0606030504020204" pitchFamily="34" charset="0"/>
      <p:regular r:id="rId58"/>
      <p:bold r:id="rId59"/>
      <p:italic r:id="rId60"/>
      <p:boldItalic r:id="rId61"/>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9701" autoAdjust="0"/>
    <p:restoredTop sz="96197"/>
  </p:normalViewPr>
  <p:slideViewPr>
    <p:cSldViewPr snapToGrid="0" snapToObjects="1">
      <p:cViewPr varScale="1">
        <p:scale>
          <a:sx n="22" d="100"/>
          <a:sy n="22" d="100"/>
        </p:scale>
        <p:origin x="320" y="1944"/>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font" Target="fonts/font8.fntdata"/><Relationship Id="rId63"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font" Target="fonts/font6.fntdata"/><Relationship Id="rId58" Type="http://schemas.openxmlformats.org/officeDocument/2006/relationships/font" Target="fonts/font11.fntdata"/><Relationship Id="rId5" Type="http://schemas.openxmlformats.org/officeDocument/2006/relationships/slideMaster" Target="slideMasters/slideMaster1.xml"/><Relationship Id="rId61" Type="http://schemas.openxmlformats.org/officeDocument/2006/relationships/font" Target="fonts/font14.fntdata"/><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font" Target="fonts/font4.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font" Target="fonts/font12.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font" Target="fonts/font7.fntdata"/><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packages.ubuntu.com/" TargetMode="External"/><Relationship Id="rId2" Type="http://schemas.openxmlformats.org/officeDocument/2006/relationships/hyperlink" Target="https://repo.maven.apache.org/maven2/" TargetMode="External"/><Relationship Id="rId1" Type="http://schemas.openxmlformats.org/officeDocument/2006/relationships/slideLayout" Target="../slideLayouts/slideLayout2.xml"/><Relationship Id="rId5" Type="http://schemas.openxmlformats.org/officeDocument/2006/relationships/hyperlink" Target="https://registry.npmjs.org/" TargetMode="External"/><Relationship Id="rId4" Type="http://schemas.openxmlformats.org/officeDocument/2006/relationships/hyperlink" Target="https://pypi.org/"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git-scm.com/book/en/v2/Getting-Started-About-Version-Contro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16</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normAutofit fontScale="90000"/>
          </a:bodyPr>
          <a:lstStyle/>
          <a:p>
            <a:r>
              <a:rPr lang="en-US" dirty="0"/>
              <a:t>Version Control Systems and Dependency Management</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7949423" cy="547670"/>
          </a:xfrm>
        </p:spPr>
        <p:txBody>
          <a:bodyPr>
            <a:normAutofit fontScale="90000"/>
          </a:bodyPr>
          <a:lstStyle/>
          <a:p>
            <a:r>
              <a:rPr lang="en-US" dirty="0"/>
              <a:t>Session 16 – Version Control Systems and Dependency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770944"/>
            <a:ext cx="20711673" cy="9945056"/>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the Role and Types of Version Control Systems (VCS)</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Learn Fundamental Git Concepts and Collaborative Workflows</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Explore Advanced Git Features and Best Practices for Team Use</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Dependency Management and the "One-Version" Rule</a:t>
            </a:r>
          </a:p>
          <a:p>
            <a:pPr marL="0" indent="0" algn="just">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6844523" cy="547670"/>
          </a:xfrm>
        </p:spPr>
        <p:txBody>
          <a:bodyPr>
            <a:normAutofit fontScale="90000"/>
          </a:bodyPr>
          <a:lstStyle/>
          <a:p>
            <a:r>
              <a:rPr lang="en-US" dirty="0"/>
              <a:t>Session 16 – Version Control Systems and Dependency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6509510"/>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Preface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Introduction to Version Control Systems (VCS)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Centralized vs Distributed VCS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Git Fundamentals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Collaborative Workflows in Git</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Advanced Git Features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Dependency Management and the “One-Version” Rule</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Best Practices for Using Version Control in Teams</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Preface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Left-pad (March 22, 2016)</a:t>
            </a:r>
          </a:p>
        </p:txBody>
      </p:sp>
      <p:pic>
        <p:nvPicPr>
          <p:cNvPr id="10" name="Content Placeholder 9" descr="A screenshot of a computer&#10;&#10;Description automatically generated">
            <a:extLst>
              <a:ext uri="{FF2B5EF4-FFF2-40B4-BE49-F238E27FC236}">
                <a16:creationId xmlns:a16="http://schemas.microsoft.com/office/drawing/2014/main" id="{3E83F462-0068-BC39-B7B3-6950ADA722E7}"/>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860343" y="3223274"/>
            <a:ext cx="18663314" cy="9938502"/>
          </a:xfrm>
        </p:spPr>
      </p:pic>
    </p:spTree>
    <p:extLst>
      <p:ext uri="{BB962C8B-B14F-4D97-AF65-F5344CB8AC3E}">
        <p14:creationId xmlns:p14="http://schemas.microsoft.com/office/powerpoint/2010/main" val="208404484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Preface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Left-pad (March 22, 2016)</a:t>
            </a:r>
          </a:p>
        </p:txBody>
      </p:sp>
      <p:pic>
        <p:nvPicPr>
          <p:cNvPr id="12" name="Content Placeholder 11" descr="A screenshot of a computer error message&#10;&#10;Description automatically generated">
            <a:extLst>
              <a:ext uri="{FF2B5EF4-FFF2-40B4-BE49-F238E27FC236}">
                <a16:creationId xmlns:a16="http://schemas.microsoft.com/office/drawing/2014/main" id="{BE345BF4-94C4-93EE-6066-E5A5C3B809BD}"/>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920732" y="3260663"/>
            <a:ext cx="12542536" cy="10147837"/>
          </a:xfrm>
        </p:spPr>
      </p:pic>
    </p:spTree>
    <p:extLst>
      <p:ext uri="{BB962C8B-B14F-4D97-AF65-F5344CB8AC3E}">
        <p14:creationId xmlns:p14="http://schemas.microsoft.com/office/powerpoint/2010/main" val="43407332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Preface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Left-pad (Docs)</a:t>
            </a:r>
          </a:p>
        </p:txBody>
      </p:sp>
      <p:pic>
        <p:nvPicPr>
          <p:cNvPr id="12" name="Content Placeholder 11" descr="A screenshot of a computer&#10;&#10;Description automatically generated">
            <a:extLst>
              <a:ext uri="{FF2B5EF4-FFF2-40B4-BE49-F238E27FC236}">
                <a16:creationId xmlns:a16="http://schemas.microsoft.com/office/drawing/2014/main" id="{93EF5074-0579-BA83-EDC0-68DBDD93AB84}"/>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3913027" y="3260663"/>
            <a:ext cx="16557945" cy="10030065"/>
          </a:xfrm>
        </p:spPr>
      </p:pic>
    </p:spTree>
    <p:extLst>
      <p:ext uri="{BB962C8B-B14F-4D97-AF65-F5344CB8AC3E}">
        <p14:creationId xmlns:p14="http://schemas.microsoft.com/office/powerpoint/2010/main" val="411795476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Preface</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Left-pad (Source Code)</a:t>
            </a:r>
          </a:p>
        </p:txBody>
      </p:sp>
      <p:pic>
        <p:nvPicPr>
          <p:cNvPr id="8" name="Content Placeholder 7" descr="A screenshot of a computer program&#10;&#10;Description automatically generated">
            <a:extLst>
              <a:ext uri="{FF2B5EF4-FFF2-40B4-BE49-F238E27FC236}">
                <a16:creationId xmlns:a16="http://schemas.microsoft.com/office/drawing/2014/main" id="{21B90B1F-28AE-2D3F-95BE-F6EC0CAAAD4B}"/>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7968193" y="3260663"/>
            <a:ext cx="8447614" cy="10159591"/>
          </a:xfrm>
        </p:spPr>
      </p:pic>
    </p:spTree>
    <p:extLst>
      <p:ext uri="{BB962C8B-B14F-4D97-AF65-F5344CB8AC3E}">
        <p14:creationId xmlns:p14="http://schemas.microsoft.com/office/powerpoint/2010/main" val="373967693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Version control systems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Definition and Importance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844023" cy="8583279"/>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Version control combines procedures and tools to manage different versions of configuration objects that are created during the software process</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Version Control System (VCS)</a:t>
            </a:r>
            <a:r>
              <a:rPr lang="en-US" sz="3600" dirty="0">
                <a:latin typeface="Open Sans" panose="020B0606030504020204" pitchFamily="34" charset="0"/>
                <a:ea typeface="Open Sans" panose="020B0606030504020204" pitchFamily="34" charset="0"/>
                <a:cs typeface="Open Sans" panose="020B0606030504020204" pitchFamily="34" charset="0"/>
              </a:rPr>
              <a:t>: A tool that helps manage changes to source code over time.</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Importance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Tracks the history of changes.</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Facilitates collaboration among multiple developers.</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Enables rollback to previous versions if necessary.</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Supports branching and merging for parallel development.</a:t>
            </a:r>
          </a:p>
        </p:txBody>
      </p:sp>
      <p:pic>
        <p:nvPicPr>
          <p:cNvPr id="2050" name="Picture 2">
            <a:extLst>
              <a:ext uri="{FF2B5EF4-FFF2-40B4-BE49-F238E27FC236}">
                <a16:creationId xmlns:a16="http://schemas.microsoft.com/office/drawing/2014/main" id="{325E5A3D-1C33-0675-FBF4-5CD989FF07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85723" y="3583552"/>
            <a:ext cx="6350000" cy="793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953402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Introduction to Version control systems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History and Evolution of VCS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1634348" cy="8583279"/>
          </a:xfrm>
        </p:spPr>
        <p:txBody>
          <a:bodyPr anchor="ctr">
            <a:normAutofit/>
          </a:bodyPr>
          <a:lstStyle/>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First Generation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Local VCS like RCS (Revision Control System).</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Second Generation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Centralized VCS like CVS (Concurrent Versions System) and SVN (Subversion).</a:t>
            </a:r>
          </a:p>
          <a:p>
            <a:pPr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Third Generation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Distributed VCS like Git and Mercurial.</a:t>
            </a:r>
          </a:p>
        </p:txBody>
      </p:sp>
      <p:pic>
        <p:nvPicPr>
          <p:cNvPr id="1026" name="Picture 2" descr="CDN media">
            <a:extLst>
              <a:ext uri="{FF2B5EF4-FFF2-40B4-BE49-F238E27FC236}">
                <a16:creationId xmlns:a16="http://schemas.microsoft.com/office/drawing/2014/main" id="{72D41F7E-887B-A764-5836-7D20EB82E0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82946" y="0"/>
            <a:ext cx="4094163" cy="1371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65133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Type of Version Control</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1800"/>
              </a:spcBef>
              <a:spcAft>
                <a:spcPts val="600"/>
              </a:spcAft>
            </a:pPr>
            <a:r>
              <a:rPr lang="en-US" sz="3600" dirty="0">
                <a:latin typeface="Open Sans" panose="020B0606030504020204" pitchFamily="34" charset="0"/>
                <a:ea typeface="Open Sans" panose="020B0606030504020204" pitchFamily="34" charset="0"/>
                <a:cs typeface="Open Sans" panose="020B0606030504020204" pitchFamily="34" charset="0"/>
              </a:rPr>
              <a:t>Centralized Version Control System (CVCS)</a:t>
            </a:r>
          </a:p>
          <a:p>
            <a:pPr algn="just">
              <a:spcBef>
                <a:spcPts val="1800"/>
              </a:spcBef>
              <a:spcAft>
                <a:spcPts val="600"/>
              </a:spcAft>
            </a:pPr>
            <a:r>
              <a:rPr lang="en-US" sz="3600" dirty="0">
                <a:latin typeface="Open Sans" panose="020B0606030504020204" pitchFamily="34" charset="0"/>
                <a:ea typeface="Open Sans" panose="020B0606030504020204" pitchFamily="34" charset="0"/>
                <a:cs typeface="Open Sans" panose="020B0606030504020204" pitchFamily="34" charset="0"/>
              </a:rPr>
              <a:t>Distributed Version Control System (DVCS)</a:t>
            </a:r>
          </a:p>
          <a:p>
            <a:pPr marL="0" indent="0" algn="just">
              <a:spcBef>
                <a:spcPts val="5500"/>
              </a:spcBef>
              <a:spcAft>
                <a:spcPts val="600"/>
              </a:spcAft>
              <a:buNone/>
            </a:pPr>
            <a:r>
              <a:rPr lang="en-US" sz="3600" dirty="0">
                <a:latin typeface="Open Sans" panose="020B0606030504020204" pitchFamily="34" charset="0"/>
                <a:ea typeface="Open Sans" panose="020B0606030504020204" pitchFamily="34" charset="0"/>
                <a:cs typeface="Open Sans" panose="020B0606030504020204" pitchFamily="34" charset="0"/>
              </a:rPr>
              <a:t>Major architectural differences in version control system can make configuration, policy, and scaling decisions easier or more difficult</a:t>
            </a:r>
          </a:p>
          <a:p>
            <a:pPr algn="just">
              <a:spcBef>
                <a:spcPts val="5500"/>
              </a:spcBef>
              <a:spcAft>
                <a:spcPts val="600"/>
              </a:spcAft>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78202932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Centralized Version Control Systems (CVCS)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CVCS</a:t>
            </a:r>
            <a:r>
              <a:rPr lang="en-US" sz="3600" dirty="0">
                <a:latin typeface="Open Sans" panose="020B0606030504020204" pitchFamily="34" charset="0"/>
                <a:ea typeface="Open Sans" panose="020B0606030504020204" pitchFamily="34" charset="0"/>
                <a:cs typeface="Open Sans" panose="020B0606030504020204" pitchFamily="34" charset="0"/>
              </a:rPr>
              <a:t> is a single central repository that all clients synchronize with</a:t>
            </a:r>
          </a:p>
          <a:p>
            <a:pPr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Although a developer can have files checked out and accessible on their local workstation, operations that interact on the version control status of those files need to be communicated to the central server (adding files, syncing, updating existing files, etc.). Any code that is committed by a developer is committed into that central repository</a:t>
            </a:r>
          </a:p>
          <a:p>
            <a:pPr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The first Version Control System implementations were all centralized Version Control Systems.</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Examples</a:t>
            </a:r>
            <a:r>
              <a:rPr lang="en-US" sz="3600" dirty="0">
                <a:latin typeface="Open Sans" panose="020B0606030504020204" pitchFamily="34" charset="0"/>
                <a:ea typeface="Open Sans" panose="020B0606030504020204" pitchFamily="34" charset="0"/>
                <a:cs typeface="Open Sans" panose="020B0606030504020204" pitchFamily="34" charset="0"/>
              </a:rPr>
              <a:t>: SVN, CVS.</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Characteristics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Simplified administration.</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Single point of failure.</a:t>
            </a:r>
          </a:p>
          <a:p>
            <a:pPr lvl="1" algn="just">
              <a:lnSpc>
                <a:spcPct val="12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Requires network access.</a:t>
            </a:r>
          </a:p>
        </p:txBody>
      </p:sp>
    </p:spTree>
    <p:extLst>
      <p:ext uri="{BB962C8B-B14F-4D97-AF65-F5344CB8AC3E}">
        <p14:creationId xmlns:p14="http://schemas.microsoft.com/office/powerpoint/2010/main" val="182372040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Centralized version control system</a:t>
            </a:r>
          </a:p>
        </p:txBody>
      </p:sp>
      <p:pic>
        <p:nvPicPr>
          <p:cNvPr id="4" name="Gambar 3">
            <a:extLst>
              <a:ext uri="{FF2B5EF4-FFF2-40B4-BE49-F238E27FC236}">
                <a16:creationId xmlns:a16="http://schemas.microsoft.com/office/drawing/2014/main" id="{6CBD84F5-73EC-6FC0-69CF-FC319E2CC1F7}"/>
              </a:ext>
            </a:extLst>
          </p:cNvPr>
          <p:cNvPicPr>
            <a:picLocks noChangeAspect="1"/>
          </p:cNvPicPr>
          <p:nvPr/>
        </p:nvPicPr>
        <p:blipFill>
          <a:blip r:embed="rId2"/>
          <a:stretch>
            <a:fillRect/>
          </a:stretch>
        </p:blipFill>
        <p:spPr>
          <a:xfrm>
            <a:off x="5950202" y="3969440"/>
            <a:ext cx="12483595" cy="8668811"/>
          </a:xfrm>
          <a:prstGeom prst="rect">
            <a:avLst/>
          </a:prstGeom>
        </p:spPr>
      </p:pic>
    </p:spTree>
    <p:extLst>
      <p:ext uri="{BB962C8B-B14F-4D97-AF65-F5344CB8AC3E}">
        <p14:creationId xmlns:p14="http://schemas.microsoft.com/office/powerpoint/2010/main" val="289788073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Distributed Version Control System (DVCS)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Each user has a local copy of the entire repository</a:t>
            </a:r>
          </a:p>
          <a:p>
            <a:pPr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A standard workflow is to clone some existing repository, make some edits, commit them locally, and then push some set of commits to another repository, which may or may not be the original source of the clone</a:t>
            </a:r>
          </a:p>
          <a:p>
            <a:pPr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Allows for better offline operation and collaboration without inherently declaring one particular repository to be the source of truth</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Examples</a:t>
            </a:r>
            <a:r>
              <a:rPr lang="en-US" sz="3600" dirty="0">
                <a:latin typeface="Open Sans" panose="020B0606030504020204" pitchFamily="34" charset="0"/>
                <a:ea typeface="Open Sans" panose="020B0606030504020204" pitchFamily="34" charset="0"/>
                <a:cs typeface="Open Sans" panose="020B0606030504020204" pitchFamily="34" charset="0"/>
              </a:rPr>
              <a:t>: Git, Mercurial.</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Characteristics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Full history available locally.</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Supports offline work.</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Complex merging capabilities.</a:t>
            </a:r>
          </a:p>
        </p:txBody>
      </p:sp>
    </p:spTree>
    <p:extLst>
      <p:ext uri="{BB962C8B-B14F-4D97-AF65-F5344CB8AC3E}">
        <p14:creationId xmlns:p14="http://schemas.microsoft.com/office/powerpoint/2010/main" val="983082099"/>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Distributed Version Control System</a:t>
            </a:r>
          </a:p>
        </p:txBody>
      </p:sp>
      <p:pic>
        <p:nvPicPr>
          <p:cNvPr id="5" name="Picture 2">
            <a:extLst>
              <a:ext uri="{FF2B5EF4-FFF2-40B4-BE49-F238E27FC236}">
                <a16:creationId xmlns:a16="http://schemas.microsoft.com/office/drawing/2014/main" id="{3354D22B-D203-9F42-9BBE-712C1EAE0A14}"/>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8752" y="2895028"/>
            <a:ext cx="8526495" cy="1021137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5827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Centralized vs Distributed VCS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Comparison and Use Cases</a:t>
            </a:r>
          </a:p>
        </p:txBody>
      </p:sp>
      <p:graphicFrame>
        <p:nvGraphicFramePr>
          <p:cNvPr id="11" name="Content Placeholder 10">
            <a:extLst>
              <a:ext uri="{FF2B5EF4-FFF2-40B4-BE49-F238E27FC236}">
                <a16:creationId xmlns:a16="http://schemas.microsoft.com/office/drawing/2014/main" id="{FE3EFC57-93D7-3263-2A90-3477E27BBBF9}"/>
              </a:ext>
            </a:extLst>
          </p:cNvPr>
          <p:cNvGraphicFramePr>
            <a:graphicFrameLocks noGrp="1"/>
          </p:cNvGraphicFramePr>
          <p:nvPr>
            <p:ph sz="quarter" idx="11"/>
            <p:extLst>
              <p:ext uri="{D42A27DB-BD31-4B8C-83A1-F6EECF244321}">
                <p14:modId xmlns:p14="http://schemas.microsoft.com/office/powerpoint/2010/main" val="2984517882"/>
              </p:ext>
            </p:extLst>
          </p:nvPr>
        </p:nvGraphicFramePr>
        <p:xfrm>
          <a:off x="2167377" y="4381500"/>
          <a:ext cx="20044923" cy="5562600"/>
        </p:xfrm>
        <a:graphic>
          <a:graphicData uri="http://schemas.openxmlformats.org/drawingml/2006/table">
            <a:tbl>
              <a:tblPr firstRow="1" bandRow="1">
                <a:tableStyleId>{5940675A-B579-460E-94D1-54222C63F5DA}</a:tableStyleId>
              </a:tblPr>
              <a:tblGrid>
                <a:gridCol w="4166187">
                  <a:extLst>
                    <a:ext uri="{9D8B030D-6E8A-4147-A177-3AD203B41FA5}">
                      <a16:colId xmlns:a16="http://schemas.microsoft.com/office/drawing/2014/main" val="1943150963"/>
                    </a:ext>
                  </a:extLst>
                </a:gridCol>
                <a:gridCol w="7939368">
                  <a:extLst>
                    <a:ext uri="{9D8B030D-6E8A-4147-A177-3AD203B41FA5}">
                      <a16:colId xmlns:a16="http://schemas.microsoft.com/office/drawing/2014/main" val="1545989050"/>
                    </a:ext>
                  </a:extLst>
                </a:gridCol>
                <a:gridCol w="7939368">
                  <a:extLst>
                    <a:ext uri="{9D8B030D-6E8A-4147-A177-3AD203B41FA5}">
                      <a16:colId xmlns:a16="http://schemas.microsoft.com/office/drawing/2014/main" val="2808838036"/>
                    </a:ext>
                  </a:extLst>
                </a:gridCol>
              </a:tblGrid>
              <a:tr h="927100">
                <a:tc>
                  <a:txBody>
                    <a:bodyPr/>
                    <a:lstStyle/>
                    <a:p>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Aspect</a:t>
                      </a:r>
                    </a:p>
                  </a:txBody>
                  <a:tcPr/>
                </a:tc>
                <a:tc>
                  <a:txBody>
                    <a:bodyPr/>
                    <a:lstStyle/>
                    <a:p>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Centralized VCS</a:t>
                      </a:r>
                    </a:p>
                  </a:txBody>
                  <a:tcPr/>
                </a:tc>
                <a:tc>
                  <a:txBody>
                    <a:bodyPr/>
                    <a:lstStyle/>
                    <a:p>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Distributed VCS</a:t>
                      </a:r>
                    </a:p>
                  </a:txBody>
                  <a:tcPr/>
                </a:tc>
                <a:extLst>
                  <a:ext uri="{0D108BD9-81ED-4DB2-BD59-A6C34878D82A}">
                    <a16:rowId xmlns:a16="http://schemas.microsoft.com/office/drawing/2014/main" val="3220145686"/>
                  </a:ext>
                </a:extLst>
              </a:tr>
              <a:tr h="927100">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Repository</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Single central server</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Multiple local copies</a:t>
                      </a:r>
                    </a:p>
                  </a:txBody>
                  <a:tcPr/>
                </a:tc>
                <a:extLst>
                  <a:ext uri="{0D108BD9-81ED-4DB2-BD59-A6C34878D82A}">
                    <a16:rowId xmlns:a16="http://schemas.microsoft.com/office/drawing/2014/main" val="3960208840"/>
                  </a:ext>
                </a:extLst>
              </a:tr>
              <a:tr h="927100">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Offline Access</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Limited</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Full</a:t>
                      </a:r>
                    </a:p>
                  </a:txBody>
                  <a:tcPr/>
                </a:tc>
                <a:extLst>
                  <a:ext uri="{0D108BD9-81ED-4DB2-BD59-A6C34878D82A}">
                    <a16:rowId xmlns:a16="http://schemas.microsoft.com/office/drawing/2014/main" val="1973598473"/>
                  </a:ext>
                </a:extLst>
              </a:tr>
              <a:tr h="927100">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Collaboration</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Sequential commits</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Parallel development</a:t>
                      </a:r>
                    </a:p>
                  </a:txBody>
                  <a:tcPr/>
                </a:tc>
                <a:extLst>
                  <a:ext uri="{0D108BD9-81ED-4DB2-BD59-A6C34878D82A}">
                    <a16:rowId xmlns:a16="http://schemas.microsoft.com/office/drawing/2014/main" val="2659284509"/>
                  </a:ext>
                </a:extLst>
              </a:tr>
              <a:tr h="927100">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Performance</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Slower on operations</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Faster due to local ops</a:t>
                      </a:r>
                    </a:p>
                  </a:txBody>
                  <a:tcPr/>
                </a:tc>
                <a:extLst>
                  <a:ext uri="{0D108BD9-81ED-4DB2-BD59-A6C34878D82A}">
                    <a16:rowId xmlns:a16="http://schemas.microsoft.com/office/drawing/2014/main" val="2857686407"/>
                  </a:ext>
                </a:extLst>
              </a:tr>
              <a:tr h="927100">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Cases</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Small teams, simple projects</a:t>
                      </a:r>
                    </a:p>
                  </a:txBody>
                  <a:tcPr/>
                </a:tc>
                <a:tc>
                  <a:txBody>
                    <a:bodyPr/>
                    <a:lstStyle/>
                    <a:p>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Large projects, open source</a:t>
                      </a:r>
                    </a:p>
                  </a:txBody>
                  <a:tcPr/>
                </a:tc>
                <a:extLst>
                  <a:ext uri="{0D108BD9-81ED-4DB2-BD59-A6C34878D82A}">
                    <a16:rowId xmlns:a16="http://schemas.microsoft.com/office/drawing/2014/main" val="1402394688"/>
                  </a:ext>
                </a:extLst>
              </a:tr>
            </a:tbl>
          </a:graphicData>
        </a:graphic>
      </p:graphicFrame>
    </p:spTree>
    <p:extLst>
      <p:ext uri="{BB962C8B-B14F-4D97-AF65-F5344CB8AC3E}">
        <p14:creationId xmlns:p14="http://schemas.microsoft.com/office/powerpoint/2010/main" val="95121774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Git Fundamentals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Repositories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directory that stores your project's files and the entire history of changes.</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Types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Local Repository: The repository on your local machine.</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Remote Repository: A repository hosted on a server (e.g., GitHub, GitLab).</a:t>
            </a:r>
          </a:p>
        </p:txBody>
      </p:sp>
    </p:spTree>
    <p:extLst>
      <p:ext uri="{BB962C8B-B14F-4D97-AF65-F5344CB8AC3E}">
        <p14:creationId xmlns:p14="http://schemas.microsoft.com/office/powerpoint/2010/main" val="323369992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Git Fundamentals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Commits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snapshot of your repository at a specific point in time.</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Components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Commit Message: Describes the changes made.</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Commit Hash: A unique identifier.</a:t>
            </a:r>
          </a:p>
        </p:txBody>
      </p:sp>
    </p:spTree>
    <p:extLst>
      <p:ext uri="{BB962C8B-B14F-4D97-AF65-F5344CB8AC3E}">
        <p14:creationId xmlns:p14="http://schemas.microsoft.com/office/powerpoint/2010/main" val="416346618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Git Fundamentals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Branches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 movable pointer to a commit, allowing parallel development.</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Common Branches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Master/Main: The default branch.</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Feature Branches: For developing new features.</a:t>
            </a:r>
          </a:p>
        </p:txBody>
      </p:sp>
    </p:spTree>
    <p:extLst>
      <p:ext uri="{BB962C8B-B14F-4D97-AF65-F5344CB8AC3E}">
        <p14:creationId xmlns:p14="http://schemas.microsoft.com/office/powerpoint/2010/main" val="329845192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Git Fundamentals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Merges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Combining changes from different branches.</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Types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Fast-Forward Merge: When there are no diverging changes.</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Three-Way Merge: When branches have diverged.</a:t>
            </a:r>
          </a:p>
        </p:txBody>
      </p:sp>
    </p:spTree>
    <p:extLst>
      <p:ext uri="{BB962C8B-B14F-4D97-AF65-F5344CB8AC3E}">
        <p14:creationId xmlns:p14="http://schemas.microsoft.com/office/powerpoint/2010/main" val="380476225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Collaborative Workflows in Git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Forking workflow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Process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Fork the repository.</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Make changes in your fork.</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Submit a pull request to the original repository.</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Use Cases</a:t>
            </a:r>
            <a:r>
              <a:rPr lang="en-US" sz="3600" dirty="0">
                <a:latin typeface="Open Sans" panose="020B0606030504020204" pitchFamily="34" charset="0"/>
                <a:ea typeface="Open Sans" panose="020B0606030504020204" pitchFamily="34" charset="0"/>
                <a:cs typeface="Open Sans" panose="020B0606030504020204" pitchFamily="34" charset="0"/>
              </a:rPr>
              <a:t>: Open-source projects, external contributors.</a:t>
            </a:r>
          </a:p>
        </p:txBody>
      </p:sp>
    </p:spTree>
    <p:extLst>
      <p:ext uri="{BB962C8B-B14F-4D97-AF65-F5344CB8AC3E}">
        <p14:creationId xmlns:p14="http://schemas.microsoft.com/office/powerpoint/2010/main" val="262649819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Collaborative Workflows in Git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Feature Branch Workflow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Process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Create a new branch for each feature.</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Merge back into the main branch after completion.</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 Isolates work, simplifies code reviews.</a:t>
            </a:r>
          </a:p>
        </p:txBody>
      </p:sp>
    </p:spTree>
    <p:extLst>
      <p:ext uri="{BB962C8B-B14F-4D97-AF65-F5344CB8AC3E}">
        <p14:creationId xmlns:p14="http://schemas.microsoft.com/office/powerpoint/2010/main" val="94147443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Collaborative Workflows in Git</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err="1"/>
              <a:t>Gitflow</a:t>
            </a:r>
            <a:r>
              <a:rPr lang="en-US" dirty="0"/>
              <a:t> Workflow</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Structure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Master/Main Branch</a:t>
            </a:r>
            <a:r>
              <a:rPr lang="en-US" sz="3600" dirty="0">
                <a:latin typeface="Open Sans" panose="020B0606030504020204" pitchFamily="34" charset="0"/>
                <a:ea typeface="Open Sans" panose="020B0606030504020204" pitchFamily="34" charset="0"/>
                <a:cs typeface="Open Sans" panose="020B0606030504020204" pitchFamily="34" charset="0"/>
              </a:rPr>
              <a:t>: Contains production-ready code.</a:t>
            </a:r>
          </a:p>
          <a:p>
            <a:pPr lvl="1"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Develop Branch</a:t>
            </a:r>
            <a:r>
              <a:rPr lang="en-US" sz="3600" dirty="0">
                <a:latin typeface="Open Sans" panose="020B0606030504020204" pitchFamily="34" charset="0"/>
                <a:ea typeface="Open Sans" panose="020B0606030504020204" pitchFamily="34" charset="0"/>
                <a:cs typeface="Open Sans" panose="020B0606030504020204" pitchFamily="34" charset="0"/>
              </a:rPr>
              <a:t>: Integrates features for the next release.</a:t>
            </a:r>
          </a:p>
          <a:p>
            <a:pPr lvl="1"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Feature Branches</a:t>
            </a:r>
            <a:r>
              <a:rPr lang="en-US" sz="3600" dirty="0">
                <a:latin typeface="Open Sans" panose="020B0606030504020204" pitchFamily="34" charset="0"/>
                <a:ea typeface="Open Sans" panose="020B0606030504020204" pitchFamily="34" charset="0"/>
                <a:cs typeface="Open Sans" panose="020B0606030504020204" pitchFamily="34" charset="0"/>
              </a:rPr>
              <a:t>: For developing new features.</a:t>
            </a:r>
          </a:p>
          <a:p>
            <a:pPr lvl="1"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Release Branches</a:t>
            </a:r>
            <a:r>
              <a:rPr lang="en-US" sz="3600" dirty="0">
                <a:latin typeface="Open Sans" panose="020B0606030504020204" pitchFamily="34" charset="0"/>
                <a:ea typeface="Open Sans" panose="020B0606030504020204" pitchFamily="34" charset="0"/>
                <a:cs typeface="Open Sans" panose="020B0606030504020204" pitchFamily="34" charset="0"/>
              </a:rPr>
              <a:t>: Prepare for production release.</a:t>
            </a:r>
          </a:p>
          <a:p>
            <a:pPr lvl="1"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Hotfix Branches</a:t>
            </a:r>
            <a:r>
              <a:rPr lang="en-US" sz="3600" dirty="0">
                <a:latin typeface="Open Sans" panose="020B0606030504020204" pitchFamily="34" charset="0"/>
                <a:ea typeface="Open Sans" panose="020B0606030504020204" pitchFamily="34" charset="0"/>
                <a:cs typeface="Open Sans" panose="020B0606030504020204" pitchFamily="34" charset="0"/>
              </a:rPr>
              <a:t>: For critical fixes in production.</a:t>
            </a:r>
          </a:p>
        </p:txBody>
      </p:sp>
    </p:spTree>
    <p:extLst>
      <p:ext uri="{BB962C8B-B14F-4D97-AF65-F5344CB8AC3E}">
        <p14:creationId xmlns:p14="http://schemas.microsoft.com/office/powerpoint/2010/main" val="428898169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Advanced Git Features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Rebasing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Reapply commits on top of another base tip.</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Use Cases</a:t>
            </a:r>
            <a:r>
              <a:rPr lang="en-US" sz="3600" dirty="0">
                <a:latin typeface="Open Sans" panose="020B0606030504020204" pitchFamily="34" charset="0"/>
                <a:ea typeface="Open Sans" panose="020B0606030504020204" pitchFamily="34" charset="0"/>
                <a:cs typeface="Open Sans" panose="020B0606030504020204" pitchFamily="34" charset="0"/>
              </a:rPr>
              <a:t>: Maintain a linear project history.</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Commands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git rebase</a:t>
            </a:r>
          </a:p>
          <a:p>
            <a:pPr algn="just">
              <a:spcBef>
                <a:spcPts val="55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4098" name="Picture 2">
            <a:extLst>
              <a:ext uri="{FF2B5EF4-FFF2-40B4-BE49-F238E27FC236}">
                <a16:creationId xmlns:a16="http://schemas.microsoft.com/office/drawing/2014/main" id="{24D2196C-217E-6F6E-F88D-B065C27A0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800" y="7832637"/>
            <a:ext cx="9334500" cy="524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916915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Advanced Git Features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Stashing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Temporarily save changes that are not ready to be committed.</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Commands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git stash</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git stash apply</a:t>
            </a:r>
          </a:p>
        </p:txBody>
      </p:sp>
    </p:spTree>
    <p:extLst>
      <p:ext uri="{BB962C8B-B14F-4D97-AF65-F5344CB8AC3E}">
        <p14:creationId xmlns:p14="http://schemas.microsoft.com/office/powerpoint/2010/main" val="1868836433"/>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Advanced Git Features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Cherry-Picking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Apply a specific commit from one branch onto another.</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Use Cases</a:t>
            </a:r>
            <a:r>
              <a:rPr lang="en-US" sz="3600" dirty="0">
                <a:latin typeface="Open Sans" panose="020B0606030504020204" pitchFamily="34" charset="0"/>
                <a:ea typeface="Open Sans" panose="020B0606030504020204" pitchFamily="34" charset="0"/>
                <a:cs typeface="Open Sans" panose="020B0606030504020204" pitchFamily="34" charset="0"/>
              </a:rPr>
              <a:t>: Bring bug fixes into other branches.</a:t>
            </a:r>
          </a:p>
          <a:p>
            <a:pPr algn="just">
              <a:spcBef>
                <a:spcPts val="5500"/>
              </a:spcBef>
            </a:pPr>
            <a:r>
              <a:rPr lang="en-US" sz="3600" b="1" dirty="0">
                <a:latin typeface="Open Sans" panose="020B0606030504020204" pitchFamily="34" charset="0"/>
                <a:ea typeface="Open Sans" panose="020B0606030504020204" pitchFamily="34" charset="0"/>
                <a:cs typeface="Open Sans" panose="020B0606030504020204" pitchFamily="34" charset="0"/>
              </a:rPr>
              <a:t>Commands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500"/>
              </a:spcBef>
            </a:pPr>
            <a:r>
              <a:rPr lang="en-US" sz="3600" dirty="0">
                <a:latin typeface="Open Sans" panose="020B0606030504020204" pitchFamily="34" charset="0"/>
                <a:ea typeface="Open Sans" panose="020B0606030504020204" pitchFamily="34" charset="0"/>
                <a:cs typeface="Open Sans" panose="020B0606030504020204" pitchFamily="34" charset="0"/>
              </a:rPr>
              <a:t>git cherry-pick &lt;commit-hash&gt;</a:t>
            </a:r>
          </a:p>
        </p:txBody>
      </p:sp>
    </p:spTree>
    <p:extLst>
      <p:ext uri="{BB962C8B-B14F-4D97-AF65-F5344CB8AC3E}">
        <p14:creationId xmlns:p14="http://schemas.microsoft.com/office/powerpoint/2010/main" val="249768699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a:xfrm>
            <a:off x="2167378" y="1872058"/>
            <a:ext cx="13748898" cy="510281"/>
          </a:xfrm>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Dependency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It’s hard</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It’s mostly a mess (everywhere)</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But it’s critical to modern software development</a:t>
            </a:r>
          </a:p>
        </p:txBody>
      </p:sp>
      <p:pic>
        <p:nvPicPr>
          <p:cNvPr id="6146" name="Picture 2" descr="CDN media">
            <a:extLst>
              <a:ext uri="{FF2B5EF4-FFF2-40B4-BE49-F238E27FC236}">
                <a16:creationId xmlns:a16="http://schemas.microsoft.com/office/drawing/2014/main" id="{9CBCFF00-91D5-2A21-04E3-13481B8E4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16275" y="1824957"/>
            <a:ext cx="7481448" cy="11891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5435459"/>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What is a dependency?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Definition: External code or libraries that a project relies on.</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Core of what most build systems do</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“Compile” and “Run Tests” is just a fraction of their job</a:t>
            </a:r>
          </a:p>
          <a:p>
            <a:pPr algn="just">
              <a:spcBef>
                <a:spcPts val="1800"/>
              </a:spcBef>
            </a:pPr>
            <a:r>
              <a:rPr lang="en-US" sz="3600" b="1" dirty="0" err="1">
                <a:latin typeface="Open Sans" panose="020B0606030504020204" pitchFamily="34" charset="0"/>
                <a:ea typeface="Open Sans" panose="020B0606030504020204" pitchFamily="34" charset="0"/>
                <a:cs typeface="Open Sans" panose="020B0606030504020204" pitchFamily="34" charset="0"/>
              </a:rPr>
              <a:t>Foo</a:t>
            </a:r>
            <a:r>
              <a:rPr lang="en-US" sz="3600" b="1" dirty="0" err="1">
                <a:latin typeface="Open Sans" panose="020B0606030504020204" pitchFamily="34" charset="0"/>
                <a:ea typeface="Open Sans" panose="020B0606030504020204" pitchFamily="34" charset="0"/>
                <a:cs typeface="Open Sans" panose="020B0606030504020204" pitchFamily="34" charset="0"/>
                <a:sym typeface="Wingdings" pitchFamily="2" charset="2"/>
              </a:rPr>
              <a:t></a:t>
            </a:r>
            <a:r>
              <a:rPr lang="en-US" sz="3600" b="1" dirty="0" err="1">
                <a:latin typeface="Open Sans" panose="020B0606030504020204" pitchFamily="34" charset="0"/>
                <a:ea typeface="Open Sans" panose="020B0606030504020204" pitchFamily="34" charset="0"/>
                <a:cs typeface="Open Sans" panose="020B0606030504020204" pitchFamily="34" charset="0"/>
              </a:rPr>
              <a:t>Bar</a:t>
            </a:r>
            <a:r>
              <a:rPr lang="en-US" sz="3600" dirty="0">
                <a:latin typeface="Open Sans" panose="020B0606030504020204" pitchFamily="34" charset="0"/>
                <a:ea typeface="Open Sans" panose="020B0606030504020204" pitchFamily="34" charset="0"/>
                <a:cs typeface="Open Sans" panose="020B0606030504020204" pitchFamily="34" charset="0"/>
              </a:rPr>
              <a:t>: To build Foo, you may need to have a built version of Bar</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Dependency Scopes:</a:t>
            </a:r>
          </a:p>
          <a:p>
            <a:pPr lvl="1"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Compile</a:t>
            </a:r>
            <a:r>
              <a:rPr lang="en-US" sz="3600" dirty="0">
                <a:latin typeface="Open Sans" panose="020B0606030504020204" pitchFamily="34" charset="0"/>
                <a:ea typeface="Open Sans" panose="020B0606030504020204" pitchFamily="34" charset="0"/>
                <a:cs typeface="Open Sans" panose="020B0606030504020204" pitchFamily="34" charset="0"/>
              </a:rPr>
              <a:t>: Foo uses classes, functions, etc. defined by Bar</a:t>
            </a:r>
          </a:p>
          <a:p>
            <a:pPr lvl="1"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Runtime</a:t>
            </a:r>
            <a:r>
              <a:rPr lang="en-US" sz="3600" dirty="0">
                <a:latin typeface="Open Sans" panose="020B0606030504020204" pitchFamily="34" charset="0"/>
                <a:ea typeface="Open Sans" panose="020B0606030504020204" pitchFamily="34" charset="0"/>
                <a:cs typeface="Open Sans" panose="020B0606030504020204" pitchFamily="34" charset="0"/>
              </a:rPr>
              <a:t>: Foo uses an abstract API whose implementation is provided by Bar (e.g. logging, database, network or other I/O)</a:t>
            </a:r>
          </a:p>
          <a:p>
            <a:pPr lvl="1"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Test</a:t>
            </a:r>
            <a:r>
              <a:rPr lang="en-US" sz="3600" dirty="0">
                <a:latin typeface="Open Sans" panose="020B0606030504020204" pitchFamily="34" charset="0"/>
                <a:ea typeface="Open Sans" panose="020B0606030504020204" pitchFamily="34" charset="0"/>
                <a:cs typeface="Open Sans" panose="020B0606030504020204" pitchFamily="34" charset="0"/>
              </a:rPr>
              <a:t>: Foo needs Bar only for tests (e.g. JUnit, mocks)</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Internal vs. External Dependencies</a:t>
            </a:r>
          </a:p>
          <a:p>
            <a:pPr lvl="1"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Is Bar also built/maintained by your org or is it pulled from elsewhere using a package manager?</a:t>
            </a:r>
          </a:p>
          <a:p>
            <a:pPr lvl="1"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Internal Dependencies</a:t>
            </a:r>
            <a:r>
              <a:rPr lang="en-US" sz="3600" dirty="0">
                <a:latin typeface="Open Sans" panose="020B0606030504020204" pitchFamily="34" charset="0"/>
                <a:ea typeface="Open Sans" panose="020B0606030504020204" pitchFamily="34" charset="0"/>
                <a:cs typeface="Open Sans" panose="020B0606030504020204" pitchFamily="34" charset="0"/>
              </a:rPr>
              <a:t>: Code from within the organization.</a:t>
            </a:r>
          </a:p>
          <a:p>
            <a:pPr lvl="1" algn="just">
              <a:spcBef>
                <a:spcPts val="1800"/>
              </a:spcBef>
            </a:pPr>
            <a:r>
              <a:rPr lang="en-US" sz="3600" b="1" dirty="0">
                <a:latin typeface="Open Sans" panose="020B0606030504020204" pitchFamily="34" charset="0"/>
                <a:ea typeface="Open Sans" panose="020B0606030504020204" pitchFamily="34" charset="0"/>
                <a:cs typeface="Open Sans" panose="020B0606030504020204" pitchFamily="34" charset="0"/>
              </a:rPr>
              <a:t>External Dependencies</a:t>
            </a:r>
            <a:r>
              <a:rPr lang="en-US" sz="3600" dirty="0">
                <a:latin typeface="Open Sans" panose="020B0606030504020204" pitchFamily="34" charset="0"/>
                <a:ea typeface="Open Sans" panose="020B0606030504020204" pitchFamily="34" charset="0"/>
                <a:cs typeface="Open Sans" panose="020B0606030504020204" pitchFamily="34" charset="0"/>
              </a:rPr>
              <a:t>: Third-party libraries.</a:t>
            </a:r>
          </a:p>
        </p:txBody>
      </p:sp>
    </p:spTree>
    <p:extLst>
      <p:ext uri="{BB962C8B-B14F-4D97-AF65-F5344CB8AC3E}">
        <p14:creationId xmlns:p14="http://schemas.microsoft.com/office/powerpoint/2010/main" val="190044601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Dependencies: Example</a:t>
            </a:r>
          </a:p>
        </p:txBody>
      </p:sp>
      <p:pic>
        <p:nvPicPr>
          <p:cNvPr id="7" name="Content Placeholder 6" descr="A screenshot of a computer&#10;&#10;Description automatically generated">
            <a:extLst>
              <a:ext uri="{FF2B5EF4-FFF2-40B4-BE49-F238E27FC236}">
                <a16:creationId xmlns:a16="http://schemas.microsoft.com/office/drawing/2014/main" id="{7180491B-382B-E9DF-4630-47407AD34842}"/>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4111810" y="3260663"/>
            <a:ext cx="16160380" cy="10144995"/>
          </a:xfrm>
          <a:prstGeom prst="rect">
            <a:avLst/>
          </a:prstGeom>
        </p:spPr>
      </p:pic>
    </p:spTree>
    <p:extLst>
      <p:ext uri="{BB962C8B-B14F-4D97-AF65-F5344CB8AC3E}">
        <p14:creationId xmlns:p14="http://schemas.microsoft.com/office/powerpoint/2010/main" val="280135335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Where are the Dependencies hosted?</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lnSpcReduction="10000"/>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Typically downloaded from dependency servers: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Maven Central (</a:t>
            </a:r>
            <a:r>
              <a:rPr lang="en-US" sz="3600" dirty="0">
                <a:latin typeface="Open Sans" panose="020B0606030504020204" pitchFamily="34" charset="0"/>
                <a:ea typeface="Open Sans" panose="020B0606030504020204" pitchFamily="34" charset="0"/>
                <a:cs typeface="Open Sans" panose="020B0606030504020204" pitchFamily="34" charset="0"/>
                <a:hlinkClick r:id="rId2"/>
              </a:rPr>
              <a:t>https://repo.maven.apache.org/maven2/</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Ubuntu Packages for Apt (</a:t>
            </a:r>
            <a:r>
              <a:rPr lang="en-US" sz="3600" dirty="0">
                <a:latin typeface="Open Sans" panose="020B0606030504020204" pitchFamily="34" charset="0"/>
                <a:ea typeface="Open Sans" panose="020B0606030504020204" pitchFamily="34" charset="0"/>
                <a:cs typeface="Open Sans" panose="020B0606030504020204" pitchFamily="34" charset="0"/>
                <a:hlinkClick r:id="rId3"/>
              </a:rPr>
              <a:t>https://packages.ubuntu.com/</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Python Package Index (</a:t>
            </a:r>
            <a:r>
              <a:rPr lang="en-US" sz="3600" dirty="0">
                <a:latin typeface="Open Sans" panose="020B0606030504020204" pitchFamily="34" charset="0"/>
                <a:ea typeface="Open Sans" panose="020B0606030504020204" pitchFamily="34" charset="0"/>
                <a:cs typeface="Open Sans" panose="020B0606030504020204" pitchFamily="34" charset="0"/>
                <a:hlinkClick r:id="rId4"/>
              </a:rPr>
              <a:t>https://pypi.org/</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NPM Public Registry (</a:t>
            </a:r>
            <a:r>
              <a:rPr lang="en-US" sz="3600" dirty="0">
                <a:latin typeface="Open Sans" panose="020B0606030504020204" pitchFamily="34" charset="0"/>
                <a:ea typeface="Open Sans" panose="020B0606030504020204" pitchFamily="34" charset="0"/>
                <a:cs typeface="Open Sans" panose="020B0606030504020204" pitchFamily="34" charset="0"/>
                <a:hlinkClick r:id="rId5"/>
              </a:rPr>
              <a:t>https://registry.npmjs.org/</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Packages need a unique identifier</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Typically a package name (sometimes owner name) and version</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Custom repositories allowed by most package managers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Often used for company-internal packages or cache mirroring</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Note problems with duplicates (same package name in different repositories; some priority order is needed)</a:t>
            </a: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Somebody needs to manage repositories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Availability: Repository needs to be running</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Access Control: Packages should only be published by owners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Integrity: Packages should be signed or otherwise verifiable</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Uniqueness and archival: Only one artifact per version</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Traceability: Packages can have metadata pointing to source or tests</a:t>
            </a:r>
          </a:p>
          <a:p>
            <a:pPr lvl="1"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Security: ???</a:t>
            </a:r>
          </a:p>
        </p:txBody>
      </p:sp>
    </p:spTree>
    <p:extLst>
      <p:ext uri="{BB962C8B-B14F-4D97-AF65-F5344CB8AC3E}">
        <p14:creationId xmlns:p14="http://schemas.microsoft.com/office/powerpoint/2010/main" val="3203640427"/>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Transitive Dependencies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Packages can depend on other packages</a:t>
            </a: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Q: Should Git be able to use exports of </a:t>
            </a:r>
            <a:r>
              <a:rPr lang="en-US" sz="3600" dirty="0" err="1">
                <a:latin typeface="Open Sans" panose="020B0606030504020204" pitchFamily="34" charset="0"/>
                <a:ea typeface="Open Sans" panose="020B0606030504020204" pitchFamily="34" charset="0"/>
                <a:cs typeface="Open Sans" panose="020B0606030504020204" pitchFamily="34" charset="0"/>
              </a:rPr>
              <a:t>libSSL</a:t>
            </a:r>
            <a:r>
              <a:rPr lang="en-US" sz="3600" dirty="0">
                <a:latin typeface="Open Sans" panose="020B0606030504020204" pitchFamily="34" charset="0"/>
                <a:ea typeface="Open Sans" panose="020B0606030504020204" pitchFamily="34" charset="0"/>
                <a:cs typeface="Open Sans" panose="020B0606030504020204" pitchFamily="34" charset="0"/>
              </a:rPr>
              <a:t> (e.g. certificate management) or </a:t>
            </a:r>
            <a:r>
              <a:rPr lang="en-US" sz="3600" dirty="0" err="1">
                <a:latin typeface="Open Sans" panose="020B0606030504020204" pitchFamily="34" charset="0"/>
                <a:ea typeface="Open Sans" panose="020B0606030504020204" pitchFamily="34" charset="0"/>
                <a:cs typeface="Open Sans" panose="020B0606030504020204" pitchFamily="34" charset="0"/>
              </a:rPr>
              <a:t>zLib</a:t>
            </a:r>
            <a:r>
              <a:rPr lang="en-US" sz="3600" dirty="0">
                <a:latin typeface="Open Sans" panose="020B0606030504020204" pitchFamily="34" charset="0"/>
                <a:ea typeface="Open Sans" panose="020B0606030504020204" pitchFamily="34" charset="0"/>
                <a:cs typeface="Open Sans" panose="020B0606030504020204" pitchFamily="34" charset="0"/>
              </a:rPr>
              <a:t> (e.g. </a:t>
            </a:r>
            <a:r>
              <a:rPr lang="en-US" sz="3600" dirty="0" err="1">
                <a:latin typeface="Open Sans" panose="020B0606030504020204" pitchFamily="34" charset="0"/>
                <a:ea typeface="Open Sans" panose="020B0606030504020204" pitchFamily="34" charset="0"/>
                <a:cs typeface="Open Sans" panose="020B0606030504020204" pitchFamily="34" charset="0"/>
              </a:rPr>
              <a:t>gzip</a:t>
            </a:r>
            <a:r>
              <a:rPr lang="en-US" sz="3600" dirty="0">
                <a:latin typeface="Open Sans" panose="020B0606030504020204" pitchFamily="34" charset="0"/>
                <a:ea typeface="Open Sans" panose="020B0606030504020204" pitchFamily="34" charset="0"/>
                <a:cs typeface="Open Sans" panose="020B0606030504020204" pitchFamily="34" charset="0"/>
              </a:rPr>
              <a:t> compression)?</a:t>
            </a:r>
          </a:p>
        </p:txBody>
      </p:sp>
      <p:pic>
        <p:nvPicPr>
          <p:cNvPr id="6" name="Picture 5" descr="A grey rectangular sign with white text&#10;&#10;Description automatically generated">
            <a:extLst>
              <a:ext uri="{FF2B5EF4-FFF2-40B4-BE49-F238E27FC236}">
                <a16:creationId xmlns:a16="http://schemas.microsoft.com/office/drawing/2014/main" id="{4558B62F-F777-F7BC-7FE7-22CF47D07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0463" y="5067299"/>
            <a:ext cx="11083074" cy="4365121"/>
          </a:xfrm>
          <a:prstGeom prst="rect">
            <a:avLst/>
          </a:prstGeom>
        </p:spPr>
      </p:pic>
    </p:spTree>
    <p:extLst>
      <p:ext uri="{BB962C8B-B14F-4D97-AF65-F5344CB8AC3E}">
        <p14:creationId xmlns:p14="http://schemas.microsoft.com/office/powerpoint/2010/main" val="23750478"/>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Diamond Dependencies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What are some problems when multiple intermediate dependencies have the same transitive dependency?</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A diagram of a computer network&#10;&#10;Description automatically generated with medium confidence">
            <a:extLst>
              <a:ext uri="{FF2B5EF4-FFF2-40B4-BE49-F238E27FC236}">
                <a16:creationId xmlns:a16="http://schemas.microsoft.com/office/drawing/2014/main" id="{C95C0D9E-2F6D-AADC-37AF-6D552400C8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1201" y="5418929"/>
            <a:ext cx="15961597" cy="7945846"/>
          </a:xfrm>
          <a:prstGeom prst="rect">
            <a:avLst/>
          </a:prstGeom>
        </p:spPr>
      </p:pic>
    </p:spTree>
    <p:extLst>
      <p:ext uri="{BB962C8B-B14F-4D97-AF65-F5344CB8AC3E}">
        <p14:creationId xmlns:p14="http://schemas.microsoft.com/office/powerpoint/2010/main" val="1777930339"/>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Diamond Dependencies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What are some problems when multiple intermediate dependencies have the same transitive dependency?</a:t>
            </a:r>
          </a:p>
          <a:p>
            <a:pPr algn="just">
              <a:spcBef>
                <a:spcPts val="18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6" name="Picture 5" descr="A close-up of a computer screen&#10;&#10;Description automatically generated">
            <a:extLst>
              <a:ext uri="{FF2B5EF4-FFF2-40B4-BE49-F238E27FC236}">
                <a16:creationId xmlns:a16="http://schemas.microsoft.com/office/drawing/2014/main" id="{7A11E407-AF0E-E86A-EE98-7C989A67A1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5881" y="5645876"/>
            <a:ext cx="16072238" cy="5650396"/>
          </a:xfrm>
          <a:prstGeom prst="rect">
            <a:avLst/>
          </a:prstGeom>
        </p:spPr>
      </p:pic>
    </p:spTree>
    <p:extLst>
      <p:ext uri="{BB962C8B-B14F-4D97-AF65-F5344CB8AC3E}">
        <p14:creationId xmlns:p14="http://schemas.microsoft.com/office/powerpoint/2010/main" val="2003563831"/>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Resolutions to the Diamond </a:t>
            </a:r>
            <a:r>
              <a:rPr lang="en-US" dirty="0" err="1"/>
              <a:t>PRoblem</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fontScale="92500" lnSpcReduction="10000"/>
          </a:bodyPr>
          <a:lstStyle/>
          <a:p>
            <a:pPr marL="742950"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Duplicate it!</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Doesn’t work with static linking (e.g. C/C++), but may be doable with Java (e.g. using </a:t>
            </a:r>
            <a:r>
              <a:rPr lang="en-US" sz="3600" dirty="0" err="1">
                <a:latin typeface="Open Sans" panose="020B0606030504020204" pitchFamily="34" charset="0"/>
                <a:ea typeface="Open Sans" panose="020B0606030504020204" pitchFamily="34" charset="0"/>
                <a:cs typeface="Open Sans" panose="020B0606030504020204" pitchFamily="34" charset="0"/>
              </a:rPr>
              <a:t>ClassLoader</a:t>
            </a:r>
            <a:r>
              <a:rPr lang="en-US" sz="3600" dirty="0">
                <a:latin typeface="Open Sans" panose="020B0606030504020204" pitchFamily="34" charset="0"/>
                <a:ea typeface="Open Sans" panose="020B0606030504020204" pitchFamily="34" charset="0"/>
                <a:cs typeface="Open Sans" panose="020B0606030504020204" pitchFamily="34" charset="0"/>
              </a:rPr>
              <a:t> hacking or package renaming)</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Values of types defined by duplicated libraries cannot be exchanged across</a:t>
            </a:r>
          </a:p>
          <a:p>
            <a:pPr marL="742950"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Ban transitive dependencies; just use a global list with one version for each</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Challenge: Keeping things in sync with latest</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Challenge: Deciding which version of transitive deps to keep</a:t>
            </a:r>
          </a:p>
          <a:p>
            <a:pPr marL="742950"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Newest version (keep everything at latest)</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Requires ordering semantics</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Intermediate dependency may break with update to transitive</a:t>
            </a:r>
          </a:p>
          <a:p>
            <a:pPr marL="742950"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Oldest version (lowest denominator)</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Also requires ordering semantics</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Sacrifices new functionality</a:t>
            </a:r>
          </a:p>
          <a:p>
            <a:pPr marL="742950" indent="-742950" algn="just">
              <a:spcBef>
                <a:spcPts val="1800"/>
              </a:spcBef>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Oldest non-breaking version / Newest non-breaking version</a:t>
            </a:r>
          </a:p>
          <a:p>
            <a:pPr marL="1366838" lvl="1" indent="-742950" algn="just">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Requires faith in tests or semantic versioning contract</a:t>
            </a:r>
          </a:p>
        </p:txBody>
      </p:sp>
    </p:spTree>
    <p:extLst>
      <p:ext uri="{BB962C8B-B14F-4D97-AF65-F5344CB8AC3E}">
        <p14:creationId xmlns:p14="http://schemas.microsoft.com/office/powerpoint/2010/main" val="380833965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The “One-Version” Rule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Definition</a:t>
            </a:r>
            <a:r>
              <a:rPr lang="en-US" sz="3600" dirty="0">
                <a:latin typeface="Open Sans" panose="020B0606030504020204" pitchFamily="34" charset="0"/>
                <a:ea typeface="Open Sans" panose="020B0606030504020204" pitchFamily="34" charset="0"/>
                <a:cs typeface="Open Sans" panose="020B0606030504020204" pitchFamily="34" charset="0"/>
              </a:rPr>
              <a:t>: All code in the codebase should depend on exactly one version of any particular dependency.</a:t>
            </a:r>
          </a:p>
          <a:p>
            <a:pPr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Developers must never have a choice of “What version of this component should I depend upon?”</a:t>
            </a:r>
          </a:p>
          <a:p>
            <a:pPr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“One-Version” is not hard and fast, but phrasing this around limiting the versions that can be chosen when adding a new dependency conveys a very powerful understanding</a:t>
            </a:r>
          </a:p>
          <a:p>
            <a:pPr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Consistency has a profound importance at all levels in an organization</a:t>
            </a:r>
          </a:p>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Benefits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Simplifies builds and deployments.</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Reduces conflicts and incompatibilities.</a:t>
            </a:r>
          </a:p>
          <a:p>
            <a:pPr lvl="1" algn="just">
              <a:lnSpc>
                <a:spcPct val="110000"/>
              </a:lnSpc>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Eases maintenance and updates.</a:t>
            </a:r>
          </a:p>
          <a:p>
            <a:pPr algn="just">
              <a:spcBef>
                <a:spcPts val="54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6743864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Dependency Management and the "One-Version" Rule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Applying the Rule in Practice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Strategies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400"/>
              </a:spcBef>
            </a:pPr>
            <a:r>
              <a:rPr lang="en-US" sz="3600" b="1" dirty="0" err="1">
                <a:latin typeface="Open Sans" panose="020B0606030504020204" pitchFamily="34" charset="0"/>
                <a:ea typeface="Open Sans" panose="020B0606030504020204" pitchFamily="34" charset="0"/>
                <a:cs typeface="Open Sans" panose="020B0606030504020204" pitchFamily="34" charset="0"/>
              </a:rPr>
              <a:t>Monorepo</a:t>
            </a:r>
            <a:r>
              <a:rPr lang="en-US" sz="3600" b="1" dirty="0">
                <a:latin typeface="Open Sans" panose="020B0606030504020204" pitchFamily="34" charset="0"/>
                <a:ea typeface="Open Sans" panose="020B0606030504020204" pitchFamily="34" charset="0"/>
                <a:cs typeface="Open Sans" panose="020B0606030504020204" pitchFamily="34" charset="0"/>
              </a:rPr>
              <a:t> Approach</a:t>
            </a:r>
            <a:r>
              <a:rPr lang="en-US" sz="3600" dirty="0">
                <a:latin typeface="Open Sans" panose="020B0606030504020204" pitchFamily="34" charset="0"/>
                <a:ea typeface="Open Sans" panose="020B0606030504020204" pitchFamily="34" charset="0"/>
                <a:cs typeface="Open Sans" panose="020B0606030504020204" pitchFamily="34" charset="0"/>
              </a:rPr>
              <a:t>: Store all code in a single repository.</a:t>
            </a:r>
          </a:p>
          <a:p>
            <a:pPr lvl="1"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Automated Dependency Updates</a:t>
            </a:r>
            <a:r>
              <a:rPr lang="en-US" sz="3600" dirty="0">
                <a:latin typeface="Open Sans" panose="020B0606030504020204" pitchFamily="34" charset="0"/>
                <a:ea typeface="Open Sans" panose="020B0606030504020204" pitchFamily="34" charset="0"/>
                <a:cs typeface="Open Sans" panose="020B0606030504020204" pitchFamily="34" charset="0"/>
              </a:rPr>
              <a:t>: Use tools to keep dependencies up-to-date.</a:t>
            </a:r>
          </a:p>
          <a:p>
            <a:pPr lvl="1"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Consistent Versioning</a:t>
            </a:r>
            <a:r>
              <a:rPr lang="en-US" sz="3600" dirty="0">
                <a:latin typeface="Open Sans" panose="020B0606030504020204" pitchFamily="34" charset="0"/>
                <a:ea typeface="Open Sans" panose="020B0606030504020204" pitchFamily="34" charset="0"/>
                <a:cs typeface="Open Sans" panose="020B0606030504020204" pitchFamily="34" charset="0"/>
              </a:rPr>
              <a:t>: Align versions across projects.</a:t>
            </a:r>
          </a:p>
        </p:txBody>
      </p:sp>
    </p:spTree>
    <p:extLst>
      <p:ext uri="{BB962C8B-B14F-4D97-AF65-F5344CB8AC3E}">
        <p14:creationId xmlns:p14="http://schemas.microsoft.com/office/powerpoint/2010/main" val="427366915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Best Practices for Using Version Control in Teams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Commit Messages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Guidelines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Write clear, descriptive messages.</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Use imperative mood (e.g., "Add feature" not "Added feature").</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Include issue identifiers if applicable.</a:t>
            </a:r>
          </a:p>
        </p:txBody>
      </p:sp>
    </p:spTree>
    <p:extLst>
      <p:ext uri="{BB962C8B-B14F-4D97-AF65-F5344CB8AC3E}">
        <p14:creationId xmlns:p14="http://schemas.microsoft.com/office/powerpoint/2010/main" val="25484138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Best Practices for Using Version Control in Teams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Code Reviews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Purpose</a:t>
            </a:r>
            <a:r>
              <a:rPr lang="en-US" sz="3600" dirty="0">
                <a:latin typeface="Open Sans" panose="020B0606030504020204" pitchFamily="34" charset="0"/>
                <a:ea typeface="Open Sans" panose="020B0606030504020204" pitchFamily="34" charset="0"/>
                <a:cs typeface="Open Sans" panose="020B0606030504020204" pitchFamily="34" charset="0"/>
              </a:rPr>
              <a:t>: Improve code quality and share knowledge.</a:t>
            </a:r>
          </a:p>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Practices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Use pull requests for code reviews.</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Provide constructive feedback.</a:t>
            </a:r>
          </a:p>
        </p:txBody>
      </p:sp>
    </p:spTree>
    <p:extLst>
      <p:ext uri="{BB962C8B-B14F-4D97-AF65-F5344CB8AC3E}">
        <p14:creationId xmlns:p14="http://schemas.microsoft.com/office/powerpoint/2010/main" val="311705457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Best Practices for Using Version Control in Teams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Branching Strategies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Considerations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Choose a workflow that fits the team's needs.</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Keep branches short-lived to minimize conflicts.</a:t>
            </a:r>
          </a:p>
        </p:txBody>
      </p:sp>
    </p:spTree>
    <p:extLst>
      <p:ext uri="{BB962C8B-B14F-4D97-AF65-F5344CB8AC3E}">
        <p14:creationId xmlns:p14="http://schemas.microsoft.com/office/powerpoint/2010/main" val="3890554114"/>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Best Practices for Using Version Control in Teams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8"/>
            <a:ext cx="10773371" cy="803546"/>
          </a:xfrm>
        </p:spPr>
        <p:txBody>
          <a:bodyPr>
            <a:normAutofit/>
          </a:bodyPr>
          <a:lstStyle/>
          <a:p>
            <a:r>
              <a:rPr lang="en-US" dirty="0"/>
              <a:t>Branch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t">
            <a:normAutofit/>
          </a:bodyPr>
          <a:lstStyle/>
          <a:p>
            <a:pPr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Being able to track different revisions in version control opens up a variety of different approaches for how to manage those different versions -&gt; branch management</a:t>
            </a:r>
          </a:p>
          <a:p>
            <a:pPr algn="just">
              <a:spcBef>
                <a:spcPts val="5400"/>
              </a:spcBef>
            </a:pPr>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pic>
        <p:nvPicPr>
          <p:cNvPr id="5" name="Picture 4" descr="Diagram&#10;&#10;Description automatically generated">
            <a:extLst>
              <a:ext uri="{FF2B5EF4-FFF2-40B4-BE49-F238E27FC236}">
                <a16:creationId xmlns:a16="http://schemas.microsoft.com/office/drawing/2014/main" id="{18586FBE-B13D-8A42-B682-393CB9FE156C}"/>
              </a:ext>
            </a:extLst>
          </p:cNvPr>
          <p:cNvPicPr>
            <a:picLocks noChangeAspect="1"/>
          </p:cNvPicPr>
          <p:nvPr/>
        </p:nvPicPr>
        <p:blipFill>
          <a:blip r:embed="rId2"/>
          <a:stretch>
            <a:fillRect/>
          </a:stretch>
        </p:blipFill>
        <p:spPr>
          <a:xfrm>
            <a:off x="4510611" y="4990245"/>
            <a:ext cx="16860274" cy="7506555"/>
          </a:xfrm>
          <a:prstGeom prst="rect">
            <a:avLst/>
          </a:prstGeom>
        </p:spPr>
      </p:pic>
    </p:spTree>
    <p:extLst>
      <p:ext uri="{BB962C8B-B14F-4D97-AF65-F5344CB8AC3E}">
        <p14:creationId xmlns:p14="http://schemas.microsoft.com/office/powerpoint/2010/main" val="957380911"/>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ID" dirty="0"/>
              <a:t>Best Practices for Using Version Control in Teams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5853923" cy="840935"/>
          </a:xfrm>
        </p:spPr>
        <p:txBody>
          <a:bodyPr>
            <a:normAutofit/>
          </a:bodyPr>
          <a:lstStyle/>
          <a:p>
            <a:r>
              <a:rPr lang="en-ID" dirty="0"/>
              <a:t>Continuous Integration and Continuous Deployment (CI/CD)</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rmAutofit/>
          </a:bodyPr>
          <a:lstStyle/>
          <a:p>
            <a:pPr algn="just">
              <a:spcBef>
                <a:spcPts val="5400"/>
              </a:spcBef>
            </a:pPr>
            <a:r>
              <a:rPr lang="en-US" sz="3600" b="1" dirty="0">
                <a:latin typeface="Open Sans" panose="020B0606030504020204" pitchFamily="34" charset="0"/>
                <a:ea typeface="Open Sans" panose="020B0606030504020204" pitchFamily="34" charset="0"/>
                <a:cs typeface="Open Sans" panose="020B0606030504020204" pitchFamily="34" charset="0"/>
              </a:rPr>
              <a:t>Integration with VCS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Trigger builds and tests on commits.</a:t>
            </a:r>
          </a:p>
          <a:p>
            <a:pPr lvl="1" algn="just">
              <a:spcBef>
                <a:spcPts val="5400"/>
              </a:spcBef>
            </a:pPr>
            <a:r>
              <a:rPr lang="en-US" sz="3600" dirty="0">
                <a:latin typeface="Open Sans" panose="020B0606030504020204" pitchFamily="34" charset="0"/>
                <a:ea typeface="Open Sans" panose="020B0606030504020204" pitchFamily="34" charset="0"/>
                <a:cs typeface="Open Sans" panose="020B0606030504020204" pitchFamily="34" charset="0"/>
              </a:rPr>
              <a:t>Automate deployments from the repository.</a:t>
            </a:r>
          </a:p>
        </p:txBody>
      </p:sp>
    </p:spTree>
    <p:extLst>
      <p:ext uri="{BB962C8B-B14F-4D97-AF65-F5344CB8AC3E}">
        <p14:creationId xmlns:p14="http://schemas.microsoft.com/office/powerpoint/2010/main" val="66603805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4290646"/>
            <a:ext cx="13714940" cy="8581291"/>
          </a:xfrm>
        </p:spPr>
        <p:txBody>
          <a:bodyPr>
            <a:noAutofit/>
          </a:bodyPr>
          <a:lstStyle/>
          <a:p>
            <a:pPr>
              <a:spcBef>
                <a:spcPts val="1800"/>
              </a:spcBef>
            </a:pPr>
            <a:r>
              <a:rPr lang="en-US" sz="3600" dirty="0">
                <a:latin typeface="Open Sans" panose="020B0606030504020204" pitchFamily="34" charset="0"/>
                <a:ea typeface="Open Sans" panose="020B0606030504020204" pitchFamily="34" charset="0"/>
                <a:cs typeface="Open Sans" panose="020B0606030504020204" pitchFamily="34" charset="0"/>
              </a:rPr>
              <a:t>Titus </a:t>
            </a: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Tom </a:t>
            </a:r>
            <a:r>
              <a:rPr lang="id-ID" sz="3600" dirty="0" err="1">
                <a:latin typeface="Open Sans" panose="020B0606030504020204" pitchFamily="34" charset="0"/>
                <a:ea typeface="Open Sans" panose="020B0606030504020204" pitchFamily="34" charset="0"/>
                <a:cs typeface="Open Sans" panose="020B0606030504020204" pitchFamily="34" charset="0"/>
              </a:rPr>
              <a:t>Manshreck</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Hyrum</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Wright</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dirty="0">
                <a:latin typeface="Open Sans" panose="020B0606030504020204" pitchFamily="34" charset="0"/>
                <a:ea typeface="Open Sans" panose="020B0606030504020204" pitchFamily="34" charset="0"/>
                <a:cs typeface="Open Sans" panose="020B0606030504020204" pitchFamily="34" charset="0"/>
              </a:rPr>
              <a:t> Engineering </a:t>
            </a:r>
            <a:r>
              <a:rPr lang="id-ID" sz="3600" b="1" dirty="0" err="1">
                <a:latin typeface="Open Sans" panose="020B0606030504020204" pitchFamily="34" charset="0"/>
                <a:ea typeface="Open Sans" panose="020B0606030504020204" pitchFamily="34" charset="0"/>
                <a:cs typeface="Open Sans" panose="020B0606030504020204" pitchFamily="34" charset="0"/>
              </a:rPr>
              <a:t>at</a:t>
            </a:r>
            <a:r>
              <a:rPr lang="id-ID" sz="3600" b="1" dirty="0">
                <a:latin typeface="Open Sans" panose="020B0606030504020204" pitchFamily="34" charset="0"/>
                <a:ea typeface="Open Sans" panose="020B0606030504020204" pitchFamily="34" charset="0"/>
                <a:cs typeface="Open Sans" panose="020B0606030504020204" pitchFamily="34" charset="0"/>
              </a:rPr>
              <a:t> Google: </a:t>
            </a:r>
            <a:r>
              <a:rPr lang="id-ID" sz="3600" b="1" dirty="0" err="1">
                <a:latin typeface="Open Sans" panose="020B0606030504020204" pitchFamily="34" charset="0"/>
                <a:ea typeface="Open Sans" panose="020B0606030504020204" pitchFamily="34" charset="0"/>
                <a:cs typeface="Open Sans" panose="020B0606030504020204" pitchFamily="34" charset="0"/>
              </a:rPr>
              <a:t>Lesson</a:t>
            </a:r>
            <a:r>
              <a:rPr lang="id-ID" sz="3600" b="1" dirty="0">
                <a:latin typeface="Open Sans" panose="020B0606030504020204" pitchFamily="34" charset="0"/>
                <a:ea typeface="Open Sans" panose="020B0606030504020204" pitchFamily="34" charset="0"/>
                <a:cs typeface="Open Sans" panose="020B0606030504020204" pitchFamily="34" charset="0"/>
              </a:rPr>
              <a:t> </a:t>
            </a:r>
            <a:r>
              <a:rPr lang="id-ID" sz="3600" b="1" dirty="0" err="1">
                <a:latin typeface="Open Sans" panose="020B0606030504020204" pitchFamily="34" charset="0"/>
                <a:ea typeface="Open Sans" panose="020B0606030504020204" pitchFamily="34" charset="0"/>
                <a:cs typeface="Open Sans" panose="020B0606030504020204" pitchFamily="34" charset="0"/>
              </a:rPr>
              <a:t>Learned</a:t>
            </a:r>
            <a:r>
              <a:rPr lang="id-ID" sz="3600" b="1" dirty="0">
                <a:latin typeface="Open Sans" panose="020B0606030504020204" pitchFamily="34" charset="0"/>
                <a:ea typeface="Open Sans" panose="020B0606030504020204" pitchFamily="34" charset="0"/>
                <a:cs typeface="Open Sans" panose="020B0606030504020204" pitchFamily="34" charset="0"/>
              </a:rPr>
              <a:t> </a:t>
            </a:r>
            <a:r>
              <a:rPr lang="id-ID" sz="3600" b="1" dirty="0" err="1">
                <a:latin typeface="Open Sans" panose="020B0606030504020204" pitchFamily="34" charset="0"/>
                <a:ea typeface="Open Sans" panose="020B0606030504020204" pitchFamily="34" charset="0"/>
                <a:cs typeface="Open Sans" panose="020B0606030504020204" pitchFamily="34" charset="0"/>
              </a:rPr>
              <a:t>from</a:t>
            </a:r>
            <a:r>
              <a:rPr lang="id-ID" sz="3600" b="1" dirty="0">
                <a:latin typeface="Open Sans" panose="020B0606030504020204" pitchFamily="34" charset="0"/>
                <a:ea typeface="Open Sans" panose="020B0606030504020204" pitchFamily="34" charset="0"/>
                <a:cs typeface="Open Sans" panose="020B0606030504020204" pitchFamily="34" charset="0"/>
              </a:rPr>
              <a:t> </a:t>
            </a:r>
            <a:r>
              <a:rPr lang="id-ID" sz="3600" b="1" dirty="0" err="1">
                <a:latin typeface="Open Sans" panose="020B0606030504020204" pitchFamily="34" charset="0"/>
                <a:ea typeface="Open Sans" panose="020B0606030504020204" pitchFamily="34" charset="0"/>
                <a:cs typeface="Open Sans" panose="020B0606030504020204" pitchFamily="34" charset="0"/>
              </a:rPr>
              <a:t>Programming</a:t>
            </a:r>
            <a:r>
              <a:rPr lang="id-ID" sz="3600" b="1" dirty="0">
                <a:latin typeface="Open Sans" panose="020B0606030504020204" pitchFamily="34" charset="0"/>
                <a:ea typeface="Open Sans" panose="020B0606030504020204" pitchFamily="34" charset="0"/>
                <a:cs typeface="Open Sans" panose="020B0606030504020204" pitchFamily="34" charset="0"/>
              </a:rPr>
              <a:t> Over </a:t>
            </a:r>
            <a:r>
              <a:rPr lang="id-ID" sz="3600" b="1" dirty="0" err="1">
                <a:latin typeface="Open Sans" panose="020B0606030504020204" pitchFamily="34" charset="0"/>
                <a:ea typeface="Open Sans" panose="020B0606030504020204" pitchFamily="34" charset="0"/>
                <a:cs typeface="Open Sans" panose="020B0606030504020204" pitchFamily="34" charset="0"/>
              </a:rPr>
              <a:t>Time</a:t>
            </a:r>
            <a:r>
              <a:rPr lang="id-ID" sz="3600" b="1" dirty="0">
                <a:latin typeface="Open Sans" panose="020B0606030504020204" pitchFamily="34" charset="0"/>
                <a:ea typeface="Open Sans" panose="020B0606030504020204" pitchFamily="34" charset="0"/>
                <a:cs typeface="Open Sans" panose="020B0606030504020204" pitchFamily="34" charset="0"/>
              </a:rPr>
              <a:t>.</a:t>
            </a:r>
            <a:r>
              <a:rPr lang="id-ID" sz="3600" dirty="0">
                <a:latin typeface="Open Sans" panose="020B0606030504020204" pitchFamily="34" charset="0"/>
                <a:ea typeface="Open Sans" panose="020B0606030504020204" pitchFamily="34" charset="0"/>
                <a:cs typeface="Open Sans" panose="020B0606030504020204" pitchFamily="34" charset="0"/>
              </a:rPr>
              <a:t> 1st. </a:t>
            </a:r>
            <a:r>
              <a:rPr lang="id-ID" sz="3600" dirty="0" err="1">
                <a:latin typeface="Open Sans" panose="020B0606030504020204" pitchFamily="34" charset="0"/>
                <a:ea typeface="Open Sans" panose="020B0606030504020204" pitchFamily="34" charset="0"/>
                <a:cs typeface="Open Sans" panose="020B0606030504020204" pitchFamily="34" charset="0"/>
              </a:rPr>
              <a:t>O’Reilly</a:t>
            </a:r>
            <a:r>
              <a:rPr lang="id-ID" sz="3600" dirty="0">
                <a:latin typeface="Open Sans" panose="020B0606030504020204" pitchFamily="34" charset="0"/>
                <a:ea typeface="Open Sans" panose="020B0606030504020204" pitchFamily="34" charset="0"/>
                <a:cs typeface="Open Sans" panose="020B0606030504020204" pitchFamily="34" charset="0"/>
              </a:rPr>
              <a:t> Media. California. ISBN: 978-1492082798.</a:t>
            </a:r>
          </a:p>
          <a:p>
            <a:pPr>
              <a:spcBef>
                <a:spcPts val="1800"/>
              </a:spcBef>
            </a:pPr>
            <a:r>
              <a:rPr lang="id-ID" sz="3600" dirty="0">
                <a:latin typeface="Open Sans" panose="020B0606030504020204" pitchFamily="34" charset="0"/>
                <a:ea typeface="Open Sans" panose="020B0606030504020204" pitchFamily="34" charset="0"/>
                <a:cs typeface="Open Sans" panose="020B0606030504020204" pitchFamily="34" charset="0"/>
              </a:rPr>
              <a:t>Roger </a:t>
            </a:r>
            <a:r>
              <a:rPr lang="id-ID" sz="3600" dirty="0" err="1">
                <a:latin typeface="Open Sans" panose="020B0606030504020204" pitchFamily="34" charset="0"/>
                <a:ea typeface="Open Sans" panose="020B0606030504020204" pitchFamily="34" charset="0"/>
                <a:cs typeface="Open Sans" panose="020B0606030504020204" pitchFamily="34" charset="0"/>
              </a:rPr>
              <a:t>Pressman</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Bruce</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Maxim</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dirty="0">
                <a:latin typeface="Open Sans" panose="020B0606030504020204" pitchFamily="34" charset="0"/>
                <a:ea typeface="Open Sans" panose="020B0606030504020204" pitchFamily="34" charset="0"/>
                <a:cs typeface="Open Sans" panose="020B0606030504020204" pitchFamily="34" charset="0"/>
              </a:rPr>
              <a:t> Engineering: A </a:t>
            </a:r>
            <a:r>
              <a:rPr lang="id-ID" sz="3600" b="1" dirty="0" err="1">
                <a:latin typeface="Open Sans" panose="020B0606030504020204" pitchFamily="34" charset="0"/>
                <a:ea typeface="Open Sans" panose="020B0606030504020204" pitchFamily="34" charset="0"/>
                <a:cs typeface="Open Sans" panose="020B0606030504020204" pitchFamily="34" charset="0"/>
              </a:rPr>
              <a:t>Practitioner's</a:t>
            </a:r>
            <a:r>
              <a:rPr lang="id-ID" sz="3600" b="1" dirty="0">
                <a:latin typeface="Open Sans" panose="020B0606030504020204" pitchFamily="34" charset="0"/>
                <a:ea typeface="Open Sans" panose="020B0606030504020204" pitchFamily="34" charset="0"/>
                <a:cs typeface="Open Sans" panose="020B0606030504020204" pitchFamily="34" charset="0"/>
              </a:rPr>
              <a:t> </a:t>
            </a:r>
            <a:r>
              <a:rPr lang="id-ID" sz="3600" b="1" dirty="0" err="1">
                <a:latin typeface="Open Sans" panose="020B0606030504020204" pitchFamily="34" charset="0"/>
                <a:ea typeface="Open Sans" panose="020B0606030504020204" pitchFamily="34" charset="0"/>
                <a:cs typeface="Open Sans" panose="020B0606030504020204" pitchFamily="34" charset="0"/>
              </a:rPr>
              <a:t>Approach</a:t>
            </a:r>
            <a:r>
              <a:rPr lang="id-ID" sz="3600" dirty="0">
                <a:latin typeface="Open Sans" panose="020B0606030504020204" pitchFamily="34" charset="0"/>
                <a:ea typeface="Open Sans" panose="020B0606030504020204" pitchFamily="34" charset="0"/>
                <a:cs typeface="Open Sans" panose="020B0606030504020204" pitchFamily="34" charset="0"/>
              </a:rPr>
              <a:t>. 9th. </a:t>
            </a:r>
            <a:r>
              <a:rPr lang="id-ID" sz="3600" dirty="0" err="1">
                <a:latin typeface="Open Sans" panose="020B0606030504020204" pitchFamily="34" charset="0"/>
                <a:ea typeface="Open Sans" panose="020B0606030504020204" pitchFamily="34" charset="0"/>
                <a:cs typeface="Open Sans" panose="020B0606030504020204" pitchFamily="34" charset="0"/>
              </a:rPr>
              <a:t>McGraw</a:t>
            </a:r>
            <a:r>
              <a:rPr lang="id-ID" sz="3600" dirty="0">
                <a:latin typeface="Open Sans" panose="020B0606030504020204" pitchFamily="34" charset="0"/>
                <a:ea typeface="Open Sans" panose="020B0606030504020204" pitchFamily="34" charset="0"/>
                <a:cs typeface="Open Sans" panose="020B0606030504020204" pitchFamily="34" charset="0"/>
              </a:rPr>
              <a:t> Hill. New </a:t>
            </a:r>
            <a:r>
              <a:rPr lang="id-ID" sz="3600" dirty="0" err="1">
                <a:latin typeface="Open Sans" panose="020B0606030504020204" pitchFamily="34" charset="0"/>
                <a:ea typeface="Open Sans" panose="020B0606030504020204" pitchFamily="34" charset="0"/>
                <a:cs typeface="Open Sans" panose="020B0606030504020204" pitchFamily="34" charset="0"/>
              </a:rPr>
              <a:t>York</a:t>
            </a:r>
            <a:r>
              <a:rPr lang="id-ID" sz="3600" dirty="0">
                <a:latin typeface="Open Sans" panose="020B0606030504020204" pitchFamily="34" charset="0"/>
                <a:ea typeface="Open Sans" panose="020B0606030504020204" pitchFamily="34" charset="0"/>
                <a:cs typeface="Open Sans" panose="020B0606030504020204" pitchFamily="34" charset="0"/>
              </a:rPr>
              <a:t>. ISBN: 978-1259872976.</a:t>
            </a:r>
          </a:p>
          <a:p>
            <a:pPr>
              <a:spcBef>
                <a:spcPts val="1800"/>
              </a:spcBef>
            </a:pPr>
            <a:r>
              <a:rPr lang="id-ID" sz="3600" dirty="0">
                <a:latin typeface="Open Sans" panose="020B0606030504020204" pitchFamily="34" charset="0"/>
                <a:ea typeface="Open Sans" panose="020B0606030504020204" pitchFamily="34" charset="0"/>
                <a:cs typeface="Open Sans" panose="020B0606030504020204" pitchFamily="34" charset="0"/>
              </a:rPr>
              <a:t>Ian </a:t>
            </a:r>
            <a:r>
              <a:rPr lang="id-ID" sz="3600" dirty="0" err="1">
                <a:latin typeface="Open Sans" panose="020B0606030504020204" pitchFamily="34" charset="0"/>
                <a:ea typeface="Open Sans" panose="020B0606030504020204" pitchFamily="34" charset="0"/>
                <a:cs typeface="Open Sans" panose="020B0606030504020204" pitchFamily="34" charset="0"/>
              </a:rPr>
              <a:t>Sommerville</a:t>
            </a:r>
            <a:r>
              <a:rPr lang="id-ID" sz="3600" dirty="0">
                <a:latin typeface="Open Sans" panose="020B0606030504020204" pitchFamily="34" charset="0"/>
                <a:ea typeface="Open Sans" panose="020B0606030504020204" pitchFamily="34" charset="0"/>
                <a:cs typeface="Open Sans" panose="020B0606030504020204" pitchFamily="34" charset="0"/>
              </a:rPr>
              <a:t>. (2016). </a:t>
            </a:r>
            <a:r>
              <a:rPr lang="id-ID" sz="3600" b="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dirty="0">
                <a:latin typeface="Open Sans" panose="020B0606030504020204" pitchFamily="34" charset="0"/>
                <a:ea typeface="Open Sans" panose="020B0606030504020204" pitchFamily="34" charset="0"/>
                <a:cs typeface="Open Sans" panose="020B0606030504020204" pitchFamily="34" charset="0"/>
              </a:rPr>
              <a:t> Engineering</a:t>
            </a:r>
            <a:r>
              <a:rPr lang="id-ID" sz="3600" dirty="0">
                <a:latin typeface="Open Sans" panose="020B0606030504020204" pitchFamily="34" charset="0"/>
                <a:ea typeface="Open Sans" panose="020B0606030504020204" pitchFamily="34" charset="0"/>
                <a:cs typeface="Open Sans" panose="020B0606030504020204" pitchFamily="34" charset="0"/>
              </a:rPr>
              <a:t>. 10th. Pearson. London. ISBN: 978-1-292-09613-1.</a:t>
            </a:r>
          </a:p>
          <a:p>
            <a:pPr>
              <a:spcBef>
                <a:spcPts val="1800"/>
              </a:spcBef>
            </a:pPr>
            <a:r>
              <a:rPr lang="id-ID" sz="3600" dirty="0">
                <a:latin typeface="Open Sans" panose="020B0606030504020204" pitchFamily="34" charset="0"/>
                <a:ea typeface="Open Sans" panose="020B0606030504020204" pitchFamily="34" charset="0"/>
                <a:cs typeface="Open Sans" panose="020B0606030504020204" pitchFamily="34" charset="0"/>
              </a:rPr>
              <a:t>GIT: </a:t>
            </a:r>
            <a:r>
              <a:rPr lang="id-ID" sz="3600" dirty="0">
                <a:latin typeface="Open Sans" panose="020B0606030504020204" pitchFamily="34" charset="0"/>
                <a:ea typeface="Open Sans" panose="020B0606030504020204" pitchFamily="34" charset="0"/>
                <a:cs typeface="Open Sans" panose="020B0606030504020204" pitchFamily="34" charset="0"/>
                <a:hlinkClick r:id="rId2"/>
              </a:rPr>
              <a:t>https://git-scm.com/book/en/v2/Getting-Started-About-Version-Control</a:t>
            </a:r>
            <a:endParaRPr lang="id-ID" sz="3600" dirty="0">
              <a:latin typeface="Open Sans" panose="020B0606030504020204" pitchFamily="34" charset="0"/>
              <a:ea typeface="Open Sans" panose="020B0606030504020204" pitchFamily="34" charset="0"/>
              <a:cs typeface="Open Sans" panose="020B0606030504020204" pitchFamily="34" charset="0"/>
            </a:endParaRPr>
          </a:p>
          <a:p>
            <a:pPr>
              <a:spcBef>
                <a:spcPts val="1800"/>
              </a:spcBef>
            </a:pPr>
            <a:r>
              <a:rPr lang="id-ID" sz="3600" dirty="0" err="1">
                <a:latin typeface="Open Sans" panose="020B0606030504020204" pitchFamily="34" charset="0"/>
                <a:ea typeface="Open Sans" panose="020B0606030504020204" pitchFamily="34" charset="0"/>
                <a:cs typeface="Open Sans" panose="020B0606030504020204" pitchFamily="34" charset="0"/>
              </a:rPr>
              <a:t>GitHub</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Guides</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https</a:t>
            </a:r>
            <a:r>
              <a:rPr lang="id-ID" sz="3600" dirty="0">
                <a:latin typeface="Open Sans" panose="020B0606030504020204" pitchFamily="34" charset="0"/>
                <a:ea typeface="Open Sans" panose="020B0606030504020204" pitchFamily="34" charset="0"/>
                <a:cs typeface="Open Sans" panose="020B0606030504020204" pitchFamily="34" charset="0"/>
              </a:rPr>
              <a:t>://</a:t>
            </a:r>
            <a:r>
              <a:rPr lang="id-ID" sz="3600" dirty="0" err="1">
                <a:latin typeface="Open Sans" panose="020B0606030504020204" pitchFamily="34" charset="0"/>
                <a:ea typeface="Open Sans" panose="020B0606030504020204" pitchFamily="34" charset="0"/>
                <a:cs typeface="Open Sans" panose="020B0606030504020204" pitchFamily="34" charset="0"/>
              </a:rPr>
              <a:t>guides.github.com</a:t>
            </a:r>
            <a:r>
              <a:rPr lang="id-ID" sz="3600" dirty="0">
                <a:latin typeface="Open Sans" panose="020B0606030504020204" pitchFamily="34" charset="0"/>
                <a:ea typeface="Open Sans" panose="020B0606030504020204" pitchFamily="34" charset="0"/>
                <a:cs typeface="Open Sans" panose="020B0606030504020204" pitchFamily="34" charset="0"/>
              </a:rPr>
              <a:t>/</a:t>
            </a:r>
          </a:p>
          <a:p>
            <a:pPr>
              <a:spcBef>
                <a:spcPts val="1800"/>
              </a:spcBef>
            </a:pPr>
            <a:endParaRPr lang="id-ID" sz="3600" dirty="0">
              <a:latin typeface="Open Sans" panose="020B0606030504020204" pitchFamily="34" charset="0"/>
              <a:ea typeface="Open Sans" panose="020B0606030504020204" pitchFamily="34" charset="0"/>
              <a:cs typeface="Open Sans" panose="020B0606030504020204" pitchFamily="34" charset="0"/>
            </a:endParaRPr>
          </a:p>
          <a:p>
            <a:pPr>
              <a:spcBef>
                <a:spcPts val="1800"/>
              </a:spcBef>
            </a:pPr>
            <a:endParaRPr lang="id-ID"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E0FE671-25D8-4116-9472-BF9297986CC6}">
  <ds:schemaRefs>
    <ds:schemaRef ds:uri="http://schemas.microsoft.com/sharepoint/v3/contenttype/forms"/>
  </ds:schemaRefs>
</ds:datastoreItem>
</file>

<file path=customXml/itemProps2.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4.xml><?xml version="1.0" encoding="utf-8"?>
<ds:datastoreItem xmlns:ds="http://schemas.openxmlformats.org/officeDocument/2006/customXml" ds:itemID="{CDDAE38A-8264-43C3-9B01-B7FA25F1060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2779</TotalTime>
  <Words>2018</Words>
  <Application>Microsoft Macintosh PowerPoint</Application>
  <PresentationFormat>Custom</PresentationFormat>
  <Paragraphs>289</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Open Sans Light</vt:lpstr>
      <vt:lpstr>OCRB</vt:lpstr>
      <vt:lpstr>Open Sans Semibold</vt:lpstr>
      <vt:lpstr>Open Sans</vt:lpstr>
      <vt:lpstr>Arial</vt:lpstr>
      <vt:lpstr>Open Sans ExtraBold</vt:lpstr>
      <vt:lpstr>21_BasicWhite</vt:lpstr>
      <vt:lpstr>Version Control Systems and Dependency Management</vt:lpstr>
      <vt:lpstr>Session 16 – Version Control Systems and Dependency Management</vt:lpstr>
      <vt:lpstr>Session 16 – Version Control Systems and Dependency Management</vt:lpstr>
      <vt:lpstr>Preface</vt:lpstr>
      <vt:lpstr>Preface</vt:lpstr>
      <vt:lpstr>Preface</vt:lpstr>
      <vt:lpstr>Preface</vt:lpstr>
      <vt:lpstr>Introduction to Version control systems (VCS)</vt:lpstr>
      <vt:lpstr>Introduction to Version control systems (VCS)</vt:lpstr>
      <vt:lpstr>Centralized vs Distributed VCS</vt:lpstr>
      <vt:lpstr>Centralized vs Distributed VCS</vt:lpstr>
      <vt:lpstr>Centralized vs Distributed VCS</vt:lpstr>
      <vt:lpstr>Centralized vs Distributed VCS</vt:lpstr>
      <vt:lpstr>Centralized vs Distributed VCS</vt:lpstr>
      <vt:lpstr>Centralized vs Distributed VCS</vt:lpstr>
      <vt:lpstr>Git Fundamentals</vt:lpstr>
      <vt:lpstr>Git Fundamentals</vt:lpstr>
      <vt:lpstr>Git Fundamentals</vt:lpstr>
      <vt:lpstr>Git Fundamentals</vt:lpstr>
      <vt:lpstr>Collaborative Workflows in Git</vt:lpstr>
      <vt:lpstr>Collaborative Workflows in Git</vt:lpstr>
      <vt:lpstr>Collaborative Workflows in Git</vt:lpstr>
      <vt:lpstr>Advanced Git Features</vt:lpstr>
      <vt:lpstr>Advanced Git Features</vt:lpstr>
      <vt:lpstr>Advanced Git Features</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Dependency Management and the "One-Version" Rule</vt:lpstr>
      <vt:lpstr>Best Practices for Using Version Control in Teams</vt:lpstr>
      <vt:lpstr>Best Practices for Using Version Control in Teams</vt:lpstr>
      <vt:lpstr>Best Practices for Using Version Control in Teams</vt:lpstr>
      <vt:lpstr>Best Practices for Using Version Control in Teams</vt:lpstr>
      <vt:lpstr>Best Practices for Using Version Control in Teams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Kenny Jingga</cp:lastModifiedBy>
  <cp:revision>44</cp:revision>
  <dcterms:created xsi:type="dcterms:W3CDTF">2023-04-06T08:40:27Z</dcterms:created>
  <dcterms:modified xsi:type="dcterms:W3CDTF">2024-11-04T17:24:45Z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