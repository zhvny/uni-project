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5"/>
  </p:sldMasterIdLst>
  <p:notesMasterIdLst>
    <p:notesMasterId r:id="rId49"/>
  </p:notesMasterIdLst>
  <p:sldIdLst>
    <p:sldId id="256" r:id="rId6"/>
    <p:sldId id="257" r:id="rId7"/>
    <p:sldId id="258" r:id="rId8"/>
    <p:sldId id="262" r:id="rId9"/>
    <p:sldId id="302" r:id="rId10"/>
    <p:sldId id="304" r:id="rId11"/>
    <p:sldId id="305" r:id="rId12"/>
    <p:sldId id="306" r:id="rId13"/>
    <p:sldId id="307" r:id="rId14"/>
    <p:sldId id="308" r:id="rId15"/>
    <p:sldId id="309" r:id="rId16"/>
    <p:sldId id="310" r:id="rId17"/>
    <p:sldId id="311" r:id="rId18"/>
    <p:sldId id="312" r:id="rId19"/>
    <p:sldId id="313" r:id="rId20"/>
    <p:sldId id="314" r:id="rId21"/>
    <p:sldId id="315" r:id="rId22"/>
    <p:sldId id="316" r:id="rId23"/>
    <p:sldId id="317" r:id="rId24"/>
    <p:sldId id="318" r:id="rId25"/>
    <p:sldId id="319" r:id="rId26"/>
    <p:sldId id="320" r:id="rId27"/>
    <p:sldId id="321" r:id="rId28"/>
    <p:sldId id="285" r:id="rId29"/>
    <p:sldId id="303" r:id="rId30"/>
    <p:sldId id="322" r:id="rId31"/>
    <p:sldId id="323" r:id="rId32"/>
    <p:sldId id="324" r:id="rId33"/>
    <p:sldId id="325" r:id="rId34"/>
    <p:sldId id="326" r:id="rId35"/>
    <p:sldId id="327" r:id="rId36"/>
    <p:sldId id="328" r:id="rId37"/>
    <p:sldId id="329" r:id="rId38"/>
    <p:sldId id="330" r:id="rId39"/>
    <p:sldId id="331" r:id="rId40"/>
    <p:sldId id="332" r:id="rId41"/>
    <p:sldId id="333" r:id="rId42"/>
    <p:sldId id="334" r:id="rId43"/>
    <p:sldId id="343" r:id="rId44"/>
    <p:sldId id="344" r:id="rId45"/>
    <p:sldId id="345" r:id="rId46"/>
    <p:sldId id="346" r:id="rId47"/>
    <p:sldId id="284" r:id="rId48"/>
  </p:sldIdLst>
  <p:sldSz cx="24384000" cy="13716000"/>
  <p:notesSz cx="6858000" cy="9144000"/>
  <p:embeddedFontLst>
    <p:embeddedFont>
      <p:font typeface="OCRB" panose="020B0609020202020204" pitchFamily="49" charset="77"/>
      <p:regular r:id="rId50"/>
    </p:embeddedFont>
    <p:embeddedFont>
      <p:font typeface="Open Sans" panose="020B0606030504020204" pitchFamily="34" charset="0"/>
      <p:regular r:id="rId51"/>
      <p:bold r:id="rId52"/>
      <p:italic r:id="rId53"/>
      <p:boldItalic r:id="rId54"/>
    </p:embeddedFont>
    <p:embeddedFont>
      <p:font typeface="Open Sans ExtraBold" panose="020B0606030504020204" pitchFamily="34" charset="0"/>
      <p:bold r:id="rId55"/>
      <p:italic r:id="rId56"/>
      <p:boldItalic r:id="rId57"/>
    </p:embeddedFont>
    <p:embeddedFont>
      <p:font typeface="Open Sans Light" panose="020B0306030504020204" pitchFamily="34" charset="0"/>
      <p:regular r:id="rId58"/>
      <p:italic r:id="rId59"/>
    </p:embeddedFont>
    <p:embeddedFont>
      <p:font typeface="Open Sans Semibold" panose="020B0606030504020204" pitchFamily="34" charset="0"/>
      <p:regular r:id="rId60"/>
      <p:bold r:id="rId61"/>
      <p:italic r:id="rId62"/>
      <p:boldItalic r:id="rId63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33" autoAdjust="0"/>
    <p:restoredTop sz="96197"/>
  </p:normalViewPr>
  <p:slideViewPr>
    <p:cSldViewPr snapToGrid="0" snapToObjects="1">
      <p:cViewPr varScale="1">
        <p:scale>
          <a:sx n="62" d="100"/>
          <a:sy n="62" d="100"/>
        </p:scale>
        <p:origin x="920" y="200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63" Type="http://schemas.openxmlformats.org/officeDocument/2006/relationships/font" Target="fonts/font14.fntdata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font" Target="fonts/font4.fntdata"/><Relationship Id="rId58" Type="http://schemas.openxmlformats.org/officeDocument/2006/relationships/font" Target="fonts/font9.fntdata"/><Relationship Id="rId66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61" Type="http://schemas.openxmlformats.org/officeDocument/2006/relationships/font" Target="fonts/font12.fntdata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font" Target="fonts/font7.fntdata"/><Relationship Id="rId64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font" Target="fonts/font2.fntdata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font" Target="fonts/font10.fntdata"/><Relationship Id="rId67" Type="http://schemas.openxmlformats.org/officeDocument/2006/relationships/tableStyles" Target="tableStyle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font" Target="fonts/font5.fntdata"/><Relationship Id="rId62" Type="http://schemas.openxmlformats.org/officeDocument/2006/relationships/font" Target="fonts/font13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notesMaster" Target="notesMasters/notesMaster1.xml"/><Relationship Id="rId57" Type="http://schemas.openxmlformats.org/officeDocument/2006/relationships/font" Target="fonts/font8.fntdata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font" Target="fonts/font3.fntdata"/><Relationship Id="rId60" Type="http://schemas.openxmlformats.org/officeDocument/2006/relationships/font" Target="fonts/font11.fntdata"/><Relationship Id="rId65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7BF6916-406C-E944-841A-1BF7394CF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UNIVERSITAS BINA NUSANTARA">
            <a:extLst>
              <a:ext uri="{FF2B5EF4-FFF2-40B4-BE49-F238E27FC236}">
                <a16:creationId xmlns:a16="http://schemas.microsoft.com/office/drawing/2014/main" id="{B2ACCA88-1510-174E-BE16-6E62A96F6E0C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Prese</a:t>
            </a:r>
            <a:r>
              <a:rPr lang="en-ID" dirty="0"/>
              <a:t>n</a:t>
            </a:r>
            <a:r>
              <a:rPr dirty="0" err="1"/>
              <a:t>tation</a:t>
            </a:r>
            <a:r>
              <a:rPr dirty="0"/>
              <a:t>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7BF6916-406C-E944-841A-1BF7394CF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UNIVERSITAS BINA NUSANTARA">
            <a:extLst>
              <a:ext uri="{FF2B5EF4-FFF2-40B4-BE49-F238E27FC236}">
                <a16:creationId xmlns:a16="http://schemas.microsoft.com/office/drawing/2014/main" id="{B2ACCA88-1510-174E-BE16-6E62A96F6E0C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Prese</a:t>
            </a:r>
            <a:r>
              <a:rPr lang="en-ID" dirty="0"/>
              <a:t>n</a:t>
            </a:r>
            <a:r>
              <a:rPr dirty="0" err="1"/>
              <a:t>tation</a:t>
            </a:r>
            <a:r>
              <a:rPr dirty="0"/>
              <a:t>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BBEE18F9-7EE5-444F-AA57-68A6783A522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13156DDE-55E0-C14A-879A-962B00D82A0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016357" y="354127"/>
            <a:ext cx="2563550" cy="108387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437085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136664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815450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494236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173022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16" name="Image" descr="Image">
            <a:extLst>
              <a:ext uri="{FF2B5EF4-FFF2-40B4-BE49-F238E27FC236}">
                <a16:creationId xmlns:a16="http://schemas.microsoft.com/office/drawing/2014/main" id="{ED3AA748-6163-AF42-8BA4-5A505F8580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C0CB95F-A575-6E40-8A77-71E4C3CE5D2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hyperlink" Target="http://mytimes.com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264C53-F38A-3CAD-0C8A-2BF46116F396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COMP6100001 - Software engineering</a:t>
            </a:r>
          </a:p>
          <a:p>
            <a:r>
              <a:rPr lang="en-US" dirty="0"/>
              <a:t>Session 17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20BAB2-790F-F74A-024A-FC22D1A3E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Secure Software Development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9B89E2-412C-8945-F692-CD51460D98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Kenny Jingga, </a:t>
            </a:r>
            <a:r>
              <a:rPr lang="en-US" dirty="0" err="1"/>
              <a:t>S.Kom</a:t>
            </a:r>
            <a:r>
              <a:rPr lang="en-US" dirty="0"/>
              <a:t>., M.T.</a:t>
            </a:r>
          </a:p>
        </p:txBody>
      </p:sp>
    </p:spTree>
    <p:extLst>
      <p:ext uri="{BB962C8B-B14F-4D97-AF65-F5344CB8AC3E}">
        <p14:creationId xmlns:p14="http://schemas.microsoft.com/office/powerpoint/2010/main" val="348722344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52CD-EA76-003A-7192-0E9167BA3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Session 17 – Secure Software Development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6449C-CB2F-5E63-F63C-D4BAFF341D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358E3-B24E-F7A5-ECF8-12101774A9E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5334432"/>
            <a:ext cx="20711673" cy="4522264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 the end of this session, students will be expected to be able to:</a:t>
            </a:r>
          </a:p>
          <a:p>
            <a:pPr marL="0" indent="0" algn="just">
              <a:spcBef>
                <a:spcPts val="0"/>
              </a:spcBef>
              <a:buNone/>
            </a:pPr>
            <a:endParaRPr lang="en-US" sz="3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Understand the Importance of Security in Software Development</a:t>
            </a:r>
          </a:p>
          <a:p>
            <a:pPr algn="just">
              <a:spcBef>
                <a:spcPts val="0"/>
              </a:spcBef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Identify Key Security Vulnerabilities and Secure Development Practices</a:t>
            </a:r>
          </a:p>
          <a:p>
            <a:pPr algn="just">
              <a:spcBef>
                <a:spcPts val="0"/>
              </a:spcBef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Explore the Secure Software Development Life Cycle (SDLC) and Security Testing</a:t>
            </a:r>
          </a:p>
          <a:p>
            <a:pPr algn="just">
              <a:spcBef>
                <a:spcPts val="0"/>
              </a:spcBef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Analyze Real-World Examples of Security Failures and Successes</a:t>
            </a:r>
          </a:p>
        </p:txBody>
      </p:sp>
    </p:spTree>
    <p:extLst>
      <p:ext uri="{BB962C8B-B14F-4D97-AF65-F5344CB8AC3E}">
        <p14:creationId xmlns:p14="http://schemas.microsoft.com/office/powerpoint/2010/main" val="385578585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52CD-EA76-003A-7192-0E9167BA3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Session 17 – Secure Software Development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6449C-CB2F-5E63-F63C-D4BAFF341D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Content outline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358E3-B24E-F7A5-ECF8-12101774A9E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5334432"/>
            <a:ext cx="20711673" cy="4522264"/>
          </a:xfrm>
        </p:spPr>
        <p:txBody>
          <a:bodyPr>
            <a:normAutofit lnSpcReduction="10000"/>
          </a:bodyPr>
          <a:lstStyle/>
          <a:p>
            <a:pPr lvl="0"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Importance of Security in Software Development</a:t>
            </a:r>
          </a:p>
          <a:p>
            <a:pPr lvl="0"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Secure Software Development Life Cycle (SDLC)</a:t>
            </a:r>
          </a:p>
          <a:p>
            <a:pPr lvl="0"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Common Security Vulnerabilities and Threats</a:t>
            </a:r>
          </a:p>
          <a:p>
            <a:pPr lvl="0"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Security Best Practices and Coding Standards</a:t>
            </a:r>
          </a:p>
          <a:p>
            <a:pPr lvl="0"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Implementing Security Testing in the Development Process</a:t>
            </a:r>
          </a:p>
          <a:p>
            <a:pPr lvl="0"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Tools for Secure Software Development</a:t>
            </a:r>
          </a:p>
          <a:p>
            <a:pPr lvl="0"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Case Studies on Security Failures and Successes </a:t>
            </a:r>
          </a:p>
        </p:txBody>
      </p:sp>
    </p:spTree>
    <p:extLst>
      <p:ext uri="{BB962C8B-B14F-4D97-AF65-F5344CB8AC3E}">
        <p14:creationId xmlns:p14="http://schemas.microsoft.com/office/powerpoint/2010/main" val="48198188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Security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2F10955-2DDA-9823-9669-9D5BDFA8BE94}"/>
              </a:ext>
            </a:extLst>
          </p:cNvPr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2949" y="2382339"/>
            <a:ext cx="8718101" cy="11273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363852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Importance of Security in Software Development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Why?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>
            <a:normAutofit/>
          </a:bodyPr>
          <a:lstStyle/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Why Security Matters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Software security is essential to protect data, user privacy, and prevent breaches that could lead to financial loss and reputation damage.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With increasing cyber threats, security must be a priority throughout the development lifecycle.</a:t>
            </a:r>
          </a:p>
        </p:txBody>
      </p:sp>
    </p:spTree>
    <p:extLst>
      <p:ext uri="{BB962C8B-B14F-4D97-AF65-F5344CB8AC3E}">
        <p14:creationId xmlns:p14="http://schemas.microsoft.com/office/powerpoint/2010/main" val="101887842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Secure Software Development Life Cycle (SDLC)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Secure SDLC integrates security practices into each phase of the traditional SDLC.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Phases include requirements gathering, design, coding, testing, deployment, and maintenance with a security focus.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B5B3253-ED30-2227-436B-D4B90D95F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1086" y="6075593"/>
            <a:ext cx="13541828" cy="7075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245383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Secure Software Development Life Cycle (SDLC)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Stages and Security Considerations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>
            <a:normAutofit/>
          </a:bodyPr>
          <a:lstStyle/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Requirements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Define security requirements based on threat models (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Risk Assessment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Design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Design for security with principles like least privilege and defense in depth (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Threat Modeling &amp; Design Review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Coding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Use secure coding standards to prevent vulnerabilities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(Static Analysis)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Testing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Conduct security testing alongside functional testing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(Security Testing &amp; Code Review)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Deployment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Secure configurations and access controls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(Security Assessment &amp; Secure Configuration)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Maintenance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Regularly update and patch software to address new threats.</a:t>
            </a:r>
          </a:p>
        </p:txBody>
      </p:sp>
    </p:spTree>
    <p:extLst>
      <p:ext uri="{BB962C8B-B14F-4D97-AF65-F5344CB8AC3E}">
        <p14:creationId xmlns:p14="http://schemas.microsoft.com/office/powerpoint/2010/main" val="386105254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Common Security Vulnerabilities and Threats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Attacking the Network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>
            <a:normAutofit/>
          </a:bodyPr>
          <a:lstStyle/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Person-in-the-middle attack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Sniffing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Spoofing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must assume the network is not secure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must guard against a compromised network</a:t>
            </a:r>
          </a:p>
        </p:txBody>
      </p:sp>
    </p:spTree>
    <p:extLst>
      <p:ext uri="{BB962C8B-B14F-4D97-AF65-F5344CB8AC3E}">
        <p14:creationId xmlns:p14="http://schemas.microsoft.com/office/powerpoint/2010/main" val="77149955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Common Security Vulnerabilities and Threats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1679252" cy="803546"/>
          </a:xfrm>
        </p:spPr>
        <p:txBody>
          <a:bodyPr>
            <a:normAutofit/>
          </a:bodyPr>
          <a:lstStyle/>
          <a:p>
            <a:r>
              <a:rPr lang="en-US" dirty="0"/>
              <a:t>Attacking the Network: Person-in-The-Middle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Someone that can intercept network traffic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Can read the messages (coming and going)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Can change the messages before sending them on (to the correct or incorrect destination)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74CDC158-7788-1D1A-0036-D2736473F6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5860" y="6433457"/>
            <a:ext cx="1239227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830477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Common Security Vulnerabilities and Threats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4193852" cy="803546"/>
          </a:xfrm>
        </p:spPr>
        <p:txBody>
          <a:bodyPr>
            <a:normAutofit/>
          </a:bodyPr>
          <a:lstStyle/>
          <a:p>
            <a:r>
              <a:rPr lang="en-US" dirty="0"/>
              <a:t>Attacking the Network: Sniffing, eavesdropping, etc.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can listen to the traffic going by on the net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is typically traffic on your subnet</a:t>
            </a:r>
          </a:p>
          <a:p>
            <a:pPr lvl="1" algn="just"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Still it can be most interesting</a:t>
            </a:r>
          </a:p>
          <a:p>
            <a:pPr lvl="1" algn="just"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you can plug in to the backbone…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0026BFE4-D482-0CBC-56A5-10948C4A94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417" y="6442480"/>
            <a:ext cx="10173165" cy="7273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8733605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Common Security Vulnerabilities and Threats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4193852" cy="803546"/>
          </a:xfrm>
        </p:spPr>
        <p:txBody>
          <a:bodyPr>
            <a:normAutofit/>
          </a:bodyPr>
          <a:lstStyle/>
          <a:p>
            <a:r>
              <a:rPr lang="en-US" dirty="0"/>
              <a:t>Attacking the Network: Spoofing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0519422" cy="10455337"/>
          </a:xfrm>
        </p:spPr>
        <p:txBody>
          <a:bodyPr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Pretending to be someone you’re not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IP spoofing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Pretending to a “client” you’re not (with a specific IP address)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E-mail Spoofing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DNS spoofing</a:t>
            </a:r>
          </a:p>
          <a:p>
            <a:pPr lvl="1" algn="just"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Pretending to be a server that you’re not</a:t>
            </a:r>
          </a:p>
          <a:p>
            <a:pPr lvl="1" algn="just"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Fool a DNS server to give out incorrect IP addresses for DNS Names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Note: also be careful of typos or similar characters attacks:</a:t>
            </a:r>
          </a:p>
          <a:p>
            <a:pPr lvl="1" algn="just"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2"/>
              </a:rPr>
              <a:t>http://mytimes.com</a:t>
            </a:r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 algn="just"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http://paypa1.com 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01173564-2C52-4431-1D60-8A06C5715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86799" y="4823970"/>
            <a:ext cx="11697201" cy="5631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5023255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Common Security Vulnerabilities and Threats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4193852" cy="803546"/>
          </a:xfrm>
        </p:spPr>
        <p:txBody>
          <a:bodyPr>
            <a:normAutofit/>
          </a:bodyPr>
          <a:lstStyle/>
          <a:p>
            <a:r>
              <a:rPr lang="en-US" dirty="0"/>
              <a:t>Other Vulnerabilities and threats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10455337"/>
          </a:xfrm>
        </p:spPr>
        <p:txBody>
          <a:bodyPr>
            <a:normAutofit/>
          </a:bodyPr>
          <a:lstStyle/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Injection Attacks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Malicious code is injected, often via user input fields.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Broken Authentication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Weak authentication allows attackers to access unauthorized areas.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Cross-Site Scripting (XSS)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Attackers inject scripts into web pages viewed by others.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Insecure Deserialization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Insecure handling of serialized data that can be exploited.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Insufficient Logging and Monitoring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Lacks detection of and response to breaches.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Insider Threats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Authorized users intentionally or unintentionally cause harm.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Social Engineering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Manipulating users to gain unauthorized access.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Advanced Persistent Threats (APTs)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Continuous hacking processes targeting sensitive data.</a:t>
            </a:r>
          </a:p>
        </p:txBody>
      </p:sp>
    </p:spTree>
    <p:extLst>
      <p:ext uri="{BB962C8B-B14F-4D97-AF65-F5344CB8AC3E}">
        <p14:creationId xmlns:p14="http://schemas.microsoft.com/office/powerpoint/2010/main" val="817388717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Common Security Vulnerabilities and Threats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4193852" cy="803546"/>
          </a:xfrm>
        </p:spPr>
        <p:txBody>
          <a:bodyPr>
            <a:normAutofit/>
          </a:bodyPr>
          <a:lstStyle/>
          <a:p>
            <a:r>
              <a:rPr lang="en-US" dirty="0"/>
              <a:t>Attacks can be Expensive</a:t>
            </a:r>
          </a:p>
        </p:txBody>
      </p:sp>
      <p:pic>
        <p:nvPicPr>
          <p:cNvPr id="6" name="Content Placeholder 5" descr="Screens screenshot of a computer screen&#10;&#10;Description automatically generated">
            <a:extLst>
              <a:ext uri="{FF2B5EF4-FFF2-40B4-BE49-F238E27FC236}">
                <a16:creationId xmlns:a16="http://schemas.microsoft.com/office/drawing/2014/main" id="{12A5A77C-7C5A-A157-367A-EA57EAD8BD10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39" y="3059113"/>
            <a:ext cx="9042400" cy="7289800"/>
          </a:xfrm>
        </p:spPr>
      </p:pic>
      <p:pic>
        <p:nvPicPr>
          <p:cNvPr id="8" name="Picture 7" descr="A close up of a car window&#10;&#10;Description automatically generated">
            <a:extLst>
              <a:ext uri="{FF2B5EF4-FFF2-40B4-BE49-F238E27FC236}">
                <a16:creationId xmlns:a16="http://schemas.microsoft.com/office/drawing/2014/main" id="{2981D589-A6B1-0195-4430-1B8864AC33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3982" y="6039940"/>
            <a:ext cx="8474657" cy="7676060"/>
          </a:xfrm>
          <a:prstGeom prst="rect">
            <a:avLst/>
          </a:prstGeom>
        </p:spPr>
      </p:pic>
      <p:pic>
        <p:nvPicPr>
          <p:cNvPr id="10" name="Picture 9" descr="A blue sphere with silver and silver letters&#10;&#10;Description automatically generated with medium confidence">
            <a:extLst>
              <a:ext uri="{FF2B5EF4-FFF2-40B4-BE49-F238E27FC236}">
                <a16:creationId xmlns:a16="http://schemas.microsoft.com/office/drawing/2014/main" id="{76CDF89E-FF49-75C9-BA4E-C10A3FECB3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4211" y="2382339"/>
            <a:ext cx="7905361" cy="7676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622684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Security Best Practices and Coding Standards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4193852" cy="803546"/>
          </a:xfrm>
        </p:spPr>
        <p:txBody>
          <a:bodyPr>
            <a:normAutofit/>
          </a:bodyPr>
          <a:lstStyle/>
          <a:p>
            <a:r>
              <a:rPr lang="en-US" dirty="0"/>
              <a:t>The ”Big Three” Concepts in Network Security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10455337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Authentication</a:t>
            </a:r>
          </a:p>
          <a:p>
            <a:pPr lvl="1" algn="just"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Knowing with whom you are communicating</a:t>
            </a:r>
          </a:p>
          <a:p>
            <a:pPr lvl="2" algn="just"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User knowing the server and/or server knowing the user</a:t>
            </a:r>
          </a:p>
          <a:p>
            <a:pPr lvl="3" algn="just"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Which is more important??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Authorization</a:t>
            </a:r>
          </a:p>
          <a:p>
            <a:pPr lvl="1" algn="just"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User having privilege to perform an operation on server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Confidentiality</a:t>
            </a:r>
          </a:p>
          <a:p>
            <a:pPr lvl="1" algn="just"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Communicating without others knowing what’s been said</a:t>
            </a:r>
          </a:p>
          <a:p>
            <a:pPr lvl="1" algn="just"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Intermediaries cannot change what was said</a:t>
            </a:r>
          </a:p>
          <a:p>
            <a:pPr lvl="1" algn="just"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Typically includes protection from replay attack</a:t>
            </a:r>
          </a:p>
          <a:p>
            <a:pPr lvl="2" algn="just"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(Typically does *not* provide secrecy of communication. Others can know communication occurred) </a:t>
            </a:r>
          </a:p>
        </p:txBody>
      </p:sp>
    </p:spTree>
    <p:extLst>
      <p:ext uri="{BB962C8B-B14F-4D97-AF65-F5344CB8AC3E}">
        <p14:creationId xmlns:p14="http://schemas.microsoft.com/office/powerpoint/2010/main" val="731910296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Security Best Practices and Coding Standards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4193852" cy="803546"/>
          </a:xfrm>
        </p:spPr>
        <p:txBody>
          <a:bodyPr>
            <a:normAutofit/>
          </a:bodyPr>
          <a:lstStyle/>
          <a:p>
            <a:r>
              <a:rPr lang="en-US" dirty="0"/>
              <a:t>Concepts every Software Engineer need to Know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10455337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One-way Hashing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Secret Key Encryption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Public Key Encryption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Certificates</a:t>
            </a:r>
          </a:p>
        </p:txBody>
      </p:sp>
    </p:spTree>
    <p:extLst>
      <p:ext uri="{BB962C8B-B14F-4D97-AF65-F5344CB8AC3E}">
        <p14:creationId xmlns:p14="http://schemas.microsoft.com/office/powerpoint/2010/main" val="215259769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Security Best Practices and Coding Standards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4193852" cy="803546"/>
          </a:xfrm>
        </p:spPr>
        <p:txBody>
          <a:bodyPr>
            <a:normAutofit/>
          </a:bodyPr>
          <a:lstStyle/>
          <a:p>
            <a:r>
              <a:rPr lang="en-US" dirty="0"/>
              <a:t>Hashing (aka Message Digests, One-Way Hashing)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hash function is a one-way encoding of data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Same input, same output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Different output, different input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Easy (relatively) to compute the hash function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Hard to compute the hash function’s inverse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only store hashed passwords on disk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prevent passwords from being compromised if our servers are broken into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39DB85-220D-1435-6A4E-EF35693EB0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223" y="11510852"/>
            <a:ext cx="20935554" cy="1891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40426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Security Best Practices and Coding Standards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4193852" cy="803546"/>
          </a:xfrm>
        </p:spPr>
        <p:txBody>
          <a:bodyPr>
            <a:normAutofit fontScale="92500"/>
          </a:bodyPr>
          <a:lstStyle/>
          <a:p>
            <a:r>
              <a:rPr lang="en-US" dirty="0"/>
              <a:t>Secret Key Cryptography (aka Symmetric, Private key Crypto)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Like in the old movies and spy books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One key (K)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Shared Secret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Used to encrypt and decrypt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Notation: 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" panose="020B0606030504020204" pitchFamily="34" charset="0"/>
                <a:cs typeface="Courier New" panose="02070309020205020404" pitchFamily="49" charset="0"/>
              </a:rPr>
              <a:t>{data}K</a:t>
            </a: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253A7BFA-168A-8EAB-CEBC-3E151B4A30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7631" y="7208442"/>
            <a:ext cx="9906000" cy="463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0730018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Security Best Practices and Coding Standards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4193852" cy="803546"/>
          </a:xfrm>
        </p:spPr>
        <p:txBody>
          <a:bodyPr>
            <a:normAutofit/>
          </a:bodyPr>
          <a:lstStyle/>
          <a:p>
            <a:r>
              <a:rPr lang="en-US" dirty="0"/>
              <a:t>Public Key Cryptography (aka Asymmetric key Crypto)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10455337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Key Pair (key 1 &amp; key 2)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Either key can be used to encrypt (key 1 or key 2)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can only decrypt using the “other key” (key 2 or key 1)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One key is given out (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public key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other key is kept secret (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private key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Notation: For entity X, we have keys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X</a:t>
            </a:r>
            <a:r>
              <a:rPr lang="en-US" sz="3600" baseline="-25000" dirty="0" err="1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pub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&amp;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X</a:t>
            </a:r>
            <a:r>
              <a:rPr lang="en-US" sz="3600" baseline="-25000" dirty="0" err="1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priv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public key can be given out freely to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Encrypt data sent to the holder (X) of the private key</a:t>
            </a:r>
          </a:p>
          <a:p>
            <a:pPr lvl="2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Notation: 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" panose="020B0606030504020204" pitchFamily="34" charset="0"/>
                <a:cs typeface="Courier New" panose="02070309020205020404" pitchFamily="49" charset="0"/>
              </a:rPr>
              <a:t>{data}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" panose="020B0606030504020204" pitchFamily="34" charset="0"/>
                <a:cs typeface="Courier New" panose="02070309020205020404" pitchFamily="49" charset="0"/>
              </a:rPr>
              <a:t>X</a:t>
            </a:r>
            <a:r>
              <a:rPr lang="en-US" sz="3600" baseline="-25000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" panose="020B0606030504020204" pitchFamily="34" charset="0"/>
                <a:cs typeface="Courier New" panose="02070309020205020404" pitchFamily="49" charset="0"/>
              </a:rPr>
              <a:t>pub</a:t>
            </a:r>
            <a:endParaRPr lang="en-US" sz="3600" baseline="-25000" dirty="0">
              <a:solidFill>
                <a:schemeClr val="bg2">
                  <a:lumMod val="10000"/>
                </a:schemeClr>
              </a:solidFill>
              <a:latin typeface="Courier New" panose="02070309020205020404" pitchFamily="49" charset="0"/>
              <a:ea typeface="Open Sans" panose="020B0606030504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2117490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Security Best Practices and Coding Standards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4193852" cy="803546"/>
          </a:xfrm>
        </p:spPr>
        <p:txBody>
          <a:bodyPr>
            <a:normAutofit/>
          </a:bodyPr>
          <a:lstStyle/>
          <a:p>
            <a:r>
              <a:rPr lang="en-US" dirty="0"/>
              <a:t>Public Key Cryptography (aka Asymmetric key Crypto)</a:t>
            </a:r>
          </a:p>
        </p:txBody>
      </p:sp>
      <p:pic>
        <p:nvPicPr>
          <p:cNvPr id="7" name="Content Placeholder 6" descr="A group of people with different colored objects&#10;&#10;Description automatically generated with medium confidence">
            <a:extLst>
              <a:ext uri="{FF2B5EF4-FFF2-40B4-BE49-F238E27FC236}">
                <a16:creationId xmlns:a16="http://schemas.microsoft.com/office/drawing/2014/main" id="{E12B507A-554D-891B-795B-DBEBEC2C89D7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058" y="3260663"/>
            <a:ext cx="20043883" cy="976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118873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Security Best Practices and Coding Standards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4193852" cy="803546"/>
          </a:xfrm>
        </p:spPr>
        <p:txBody>
          <a:bodyPr>
            <a:normAutofit/>
          </a:bodyPr>
          <a:lstStyle/>
          <a:p>
            <a:r>
              <a:rPr lang="en-US" dirty="0"/>
              <a:t>Certificate Authority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10455337"/>
          </a:xfrm>
        </p:spPr>
        <p:txBody>
          <a:bodyPr anchor="ctr">
            <a:normAutofit lnSpcReduction="10000"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Certificate Authority (CA) confirms an entity’s public key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Usually this will be a server’s public key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Companies get paid to do this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They “check out” the requestor</a:t>
            </a:r>
          </a:p>
          <a:p>
            <a:pPr lvl="2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Now-a-days domain registrars provide this service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They issue a “certificate” with the information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Certificates are signed with the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CA’s private key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CA’s public key 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 “well-known”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It’s in an additional certificate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Pre-installed or added to your configuration</a:t>
            </a:r>
          </a:p>
        </p:txBody>
      </p:sp>
    </p:spTree>
    <p:extLst>
      <p:ext uri="{BB962C8B-B14F-4D97-AF65-F5344CB8AC3E}">
        <p14:creationId xmlns:p14="http://schemas.microsoft.com/office/powerpoint/2010/main" val="3793983944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Security Best Practices and Coding Standards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4193852" cy="803546"/>
          </a:xfrm>
        </p:spPr>
        <p:txBody>
          <a:bodyPr>
            <a:normAutofit/>
          </a:bodyPr>
          <a:lstStyle/>
          <a:p>
            <a:r>
              <a:rPr lang="en-US" dirty="0"/>
              <a:t>Best Practices for Secure Coding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10455337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Input Validation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Sanitize and validate all user input to prevent injection attacks.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 of Secure APIs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Use APIs that avoid common vulnerabilities, such as secure libraries for encryption.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Error Handling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Avoid exposing system information through error messages.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Principle of Least Privilege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Restrict access rights to the minimum necessary.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Regular Code Reviews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Conduct peer reviews focusing on security to detect vulnerabilities early.</a:t>
            </a:r>
          </a:p>
        </p:txBody>
      </p:sp>
    </p:spTree>
    <p:extLst>
      <p:ext uri="{BB962C8B-B14F-4D97-AF65-F5344CB8AC3E}">
        <p14:creationId xmlns:p14="http://schemas.microsoft.com/office/powerpoint/2010/main" val="1660392098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Security Best Practices and Coding Standards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4193852" cy="803546"/>
          </a:xfrm>
        </p:spPr>
        <p:txBody>
          <a:bodyPr>
            <a:normAutofit/>
          </a:bodyPr>
          <a:lstStyle/>
          <a:p>
            <a:r>
              <a:rPr lang="en-US" dirty="0"/>
              <a:t>Coding Standards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10455337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Adopting standardized secure coding practices, such as CERT Secure Coding Standards for languages like Java and C++.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Avoiding hardcoded secrets, using prepared statements, and handling user inputs securely.</a:t>
            </a:r>
          </a:p>
        </p:txBody>
      </p:sp>
    </p:spTree>
    <p:extLst>
      <p:ext uri="{BB962C8B-B14F-4D97-AF65-F5344CB8AC3E}">
        <p14:creationId xmlns:p14="http://schemas.microsoft.com/office/powerpoint/2010/main" val="216778830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Implementing Security Testing in the Development Process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4193852" cy="803546"/>
          </a:xfrm>
        </p:spPr>
        <p:txBody>
          <a:bodyPr>
            <a:normAutofit/>
          </a:bodyPr>
          <a:lstStyle/>
          <a:p>
            <a:r>
              <a:rPr lang="en-US" dirty="0"/>
              <a:t>Types of Security Testing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10455337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Static Analysis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Examines code for security flaws without executing it (e.g., SonarQube).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Dynamic Analysis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Tests running applications to identify vulnerabilities (e.g., Burp Suite).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Penetration Testing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Simulates real-world attacks to identify weak points.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Fuzz Testing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Sends random data to the application to find security loopholes.</a:t>
            </a:r>
          </a:p>
        </p:txBody>
      </p:sp>
    </p:spTree>
    <p:extLst>
      <p:ext uri="{BB962C8B-B14F-4D97-AF65-F5344CB8AC3E}">
        <p14:creationId xmlns:p14="http://schemas.microsoft.com/office/powerpoint/2010/main" val="3086812206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075E-03B7-4FC6-4FCF-D0C188F9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Fuzz Testing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29F04-83ED-514F-ED51-65780627B3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Security and Robustness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D8FBC49-1AA0-2B02-E0D9-409C8B507A5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616423" cy="8583279"/>
          </a:xfrm>
        </p:spPr>
        <p:txBody>
          <a:bodyPr anchor="b"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1990 study found crashes in: </a:t>
            </a:r>
            <a:r>
              <a:rPr lang="en-US" sz="36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adb</a:t>
            </a:r>
            <a:r>
              <a:rPr lang="en-US" sz="36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as, </a:t>
            </a:r>
            <a:r>
              <a:rPr lang="en-US" sz="36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bc</a:t>
            </a:r>
            <a:r>
              <a:rPr lang="en-US" sz="36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36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cb</a:t>
            </a:r>
            <a:r>
              <a:rPr lang="en-US" sz="36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col, diction, emacs, </a:t>
            </a:r>
            <a:r>
              <a:rPr lang="en-US" sz="36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eqn</a:t>
            </a:r>
            <a:r>
              <a:rPr lang="en-US" sz="36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ftp, indent, lex, look, m4, make, </a:t>
            </a:r>
            <a:r>
              <a:rPr lang="en-US" sz="36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nroff</a:t>
            </a:r>
            <a:r>
              <a:rPr lang="en-US" sz="36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plot, prolog, </a:t>
            </a:r>
            <a:r>
              <a:rPr lang="en-US" sz="36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ptx</a:t>
            </a:r>
            <a:r>
              <a:rPr lang="en-US" sz="36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refer!, spell, style, </a:t>
            </a:r>
            <a:r>
              <a:rPr lang="en-US" sz="36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tsort</a:t>
            </a:r>
            <a:r>
              <a:rPr lang="en-US" sz="36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36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uniq</a:t>
            </a:r>
            <a:r>
              <a:rPr lang="en-US" sz="36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36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vgrind</a:t>
            </a:r>
            <a:r>
              <a:rPr lang="en-US" sz="36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vi</a:t>
            </a:r>
          </a:p>
        </p:txBody>
      </p:sp>
      <p:pic>
        <p:nvPicPr>
          <p:cNvPr id="7" name="Content Placeholder 4" descr="A diagram of a computer program&#10;&#10;Description automatically generated">
            <a:extLst>
              <a:ext uri="{FF2B5EF4-FFF2-40B4-BE49-F238E27FC236}">
                <a16:creationId xmlns:a16="http://schemas.microsoft.com/office/drawing/2014/main" id="{44DCA78D-AD12-57F8-2D9D-A5712A1EC1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7874" y="3260663"/>
            <a:ext cx="18988252" cy="6035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</p:pic>
    </p:spTree>
    <p:extLst>
      <p:ext uri="{BB962C8B-B14F-4D97-AF65-F5344CB8AC3E}">
        <p14:creationId xmlns:p14="http://schemas.microsoft.com/office/powerpoint/2010/main" val="345900427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075E-03B7-4FC6-4FCF-D0C188F9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Fuzz Testing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29F04-83ED-514F-ED51-65780627B3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Common </a:t>
            </a:r>
            <a:r>
              <a:rPr lang="en-US" dirty="0" err="1"/>
              <a:t>fuzzer</a:t>
            </a:r>
            <a:r>
              <a:rPr lang="en-US" dirty="0"/>
              <a:t>-found Bugs in C/C++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D8FBC49-1AA0-2B02-E0D9-409C8B507A5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616423" cy="858327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Causes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incorrect </a:t>
            </a:r>
            <a:r>
              <a:rPr lang="en-US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arg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validation, incorrect type casting, executing untrusted code, etc.</a:t>
            </a:r>
          </a:p>
          <a:p>
            <a:pPr marL="0" indent="0">
              <a:buNone/>
            </a:pPr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Effects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buffer-overflows, memory leak, division-by-zero, use-after-free, assertion violation, etc. (“crash”)</a:t>
            </a:r>
          </a:p>
          <a:p>
            <a:pPr marL="0" indent="0">
              <a:buNone/>
            </a:pPr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Impact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security, reliability, performance, correctness</a:t>
            </a:r>
          </a:p>
        </p:txBody>
      </p:sp>
    </p:spTree>
    <p:extLst>
      <p:ext uri="{BB962C8B-B14F-4D97-AF65-F5344CB8AC3E}">
        <p14:creationId xmlns:p14="http://schemas.microsoft.com/office/powerpoint/2010/main" val="1055249940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D03E5-9A6D-87B3-2A7E-13D639312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you make programs “Crash” when a Bug is Encountered?</a:t>
            </a:r>
          </a:p>
        </p:txBody>
      </p:sp>
    </p:spTree>
    <p:extLst>
      <p:ext uri="{BB962C8B-B14F-4D97-AF65-F5344CB8AC3E}">
        <p14:creationId xmlns:p14="http://schemas.microsoft.com/office/powerpoint/2010/main" val="1705008089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075E-03B7-4FC6-4FCF-D0C188F9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Fuzz Testing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29F04-83ED-514F-ED51-65780627B3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Automatic Oracles: Sanitizers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D8FBC49-1AA0-2B02-E0D9-409C8B507A5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616423" cy="8583279"/>
          </a:xfrm>
        </p:spPr>
        <p:txBody>
          <a:bodyPr anchor="ctr">
            <a:normAutofit/>
          </a:bodyPr>
          <a:lstStyle/>
          <a:p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Address Sanitizer (ASAN) ***</a:t>
            </a:r>
          </a:p>
          <a:p>
            <a:r>
              <a:rPr lang="en-US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LeakSanitizer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(comes with ASAN)</a:t>
            </a:r>
          </a:p>
          <a:p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Thread Sanitizer (TSAN)</a:t>
            </a:r>
          </a:p>
          <a:p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Undefined-behavior Sanitizer (UBSAN)</a:t>
            </a:r>
          </a:p>
        </p:txBody>
      </p:sp>
    </p:spTree>
    <p:extLst>
      <p:ext uri="{BB962C8B-B14F-4D97-AF65-F5344CB8AC3E}">
        <p14:creationId xmlns:p14="http://schemas.microsoft.com/office/powerpoint/2010/main" val="3264706424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075E-03B7-4FC6-4FCF-D0C188F9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Sanitizers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29F04-83ED-514F-ED51-65780627B3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AddressSanitizer</a:t>
            </a:r>
            <a:endParaRPr lang="en-US" dirty="0"/>
          </a:p>
        </p:txBody>
      </p:sp>
      <p:pic>
        <p:nvPicPr>
          <p:cNvPr id="6" name="Content Placeholder 5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04CDD022-13C2-DF06-6131-A220F3AB5985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6570" y="3260663"/>
            <a:ext cx="20236136" cy="10455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144666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075E-03B7-4FC6-4FCF-D0C188F9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Sanitizers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29F04-83ED-514F-ED51-65780627B3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AddressSanitizer</a:t>
            </a:r>
            <a:endParaRPr lang="en-US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D8FBC49-1AA0-2B02-E0D9-409C8B507A5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616423" cy="8583279"/>
          </a:xfrm>
        </p:spPr>
        <p:txBody>
          <a:bodyPr anchor="ctr">
            <a:normAutofit/>
          </a:bodyPr>
          <a:lstStyle/>
          <a:p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Asan is a memory error detector for C/C++. It finds:</a:t>
            </a:r>
          </a:p>
          <a:p>
            <a:pPr lvl="1">
              <a:spcBef>
                <a:spcPts val="0"/>
              </a:spcBef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 after free (dangling pointer dereference)</a:t>
            </a:r>
          </a:p>
          <a:p>
            <a:pPr lvl="1">
              <a:spcBef>
                <a:spcPts val="0"/>
              </a:spcBef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Heap buffer overflow</a:t>
            </a:r>
          </a:p>
          <a:p>
            <a:pPr lvl="1">
              <a:spcBef>
                <a:spcPts val="0"/>
              </a:spcBef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Stack buffer overflow</a:t>
            </a:r>
          </a:p>
          <a:p>
            <a:pPr lvl="1">
              <a:spcBef>
                <a:spcPts val="0"/>
              </a:spcBef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Global buffer overflow</a:t>
            </a:r>
          </a:p>
          <a:p>
            <a:pPr lvl="1">
              <a:spcBef>
                <a:spcPts val="0"/>
              </a:spcBef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 after return</a:t>
            </a:r>
          </a:p>
          <a:p>
            <a:pPr lvl="1">
              <a:spcBef>
                <a:spcPts val="0"/>
              </a:spcBef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 after scope</a:t>
            </a:r>
          </a:p>
          <a:p>
            <a:pPr lvl="1">
              <a:spcBef>
                <a:spcPts val="0"/>
              </a:spcBef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Initialization order bugs</a:t>
            </a:r>
          </a:p>
          <a:p>
            <a:pPr lvl="1">
              <a:spcBef>
                <a:spcPts val="0"/>
              </a:spcBef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Memory leaks</a:t>
            </a:r>
          </a:p>
        </p:txBody>
      </p:sp>
    </p:spTree>
    <p:extLst>
      <p:ext uri="{BB962C8B-B14F-4D97-AF65-F5344CB8AC3E}">
        <p14:creationId xmlns:p14="http://schemas.microsoft.com/office/powerpoint/2010/main" val="522673271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075E-03B7-4FC6-4FCF-D0C188F9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Sanitizers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29F04-83ED-514F-ED51-65780627B3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Strengths and Limitations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D8FBC49-1AA0-2B02-E0D9-409C8B507A5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616423" cy="8583279"/>
          </a:xfrm>
        </p:spPr>
        <p:txBody>
          <a:bodyPr anchor="ctr">
            <a:normAutofit lnSpcReduction="10000"/>
          </a:bodyPr>
          <a:lstStyle/>
          <a:p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Strengths:</a:t>
            </a:r>
          </a:p>
          <a:p>
            <a:pPr lvl="1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Cheap to generate inputs</a:t>
            </a:r>
          </a:p>
          <a:p>
            <a:pPr lvl="1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Easy to debug when a failure is identified</a:t>
            </a:r>
          </a:p>
          <a:p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Limitations:</a:t>
            </a:r>
          </a:p>
          <a:p>
            <a:pPr lvl="1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Randomly generated inputs don’t make sense most of the time.</a:t>
            </a:r>
          </a:p>
          <a:p>
            <a:pPr lvl="2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E.g. Imagine testing a browser and providing some ”input” HTML randomly: </a:t>
            </a:r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dgsad5135o </a:t>
            </a:r>
            <a:r>
              <a:rPr lang="en-US" sz="36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gsd;gj</a:t>
            </a:r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lsdkg3125j@!T%#( W+123sd </a:t>
            </a:r>
            <a:r>
              <a:rPr lang="en-US" sz="36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asf</a:t>
            </a:r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j</a:t>
            </a:r>
          </a:p>
          <a:p>
            <a:pPr lvl="2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Unlikely to exercise interesting behavior in the web browser</a:t>
            </a:r>
          </a:p>
          <a:p>
            <a:pPr lvl="2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Can take a long time to find bugs. Not sure when to stop.</a:t>
            </a:r>
          </a:p>
        </p:txBody>
      </p:sp>
    </p:spTree>
    <p:extLst>
      <p:ext uri="{BB962C8B-B14F-4D97-AF65-F5344CB8AC3E}">
        <p14:creationId xmlns:p14="http://schemas.microsoft.com/office/powerpoint/2010/main" val="57925384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075E-03B7-4FC6-4FCF-D0C188F9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Testing performance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29F04-83ED-514F-ED51-65780627B3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Performance Testing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D8FBC49-1AA0-2B02-E0D9-409C8B507A5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616423" cy="8583279"/>
          </a:xfrm>
        </p:spPr>
        <p:txBody>
          <a:bodyPr anchor="ctr">
            <a:normAutofit/>
          </a:bodyPr>
          <a:lstStyle/>
          <a:p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Goal: Identify </a:t>
            </a:r>
            <a:r>
              <a:rPr lang="en-US" sz="36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performance bugs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What are these?</a:t>
            </a:r>
          </a:p>
          <a:p>
            <a:pPr lvl="1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Unexpected bad performance on some subset of inputs</a:t>
            </a:r>
          </a:p>
          <a:p>
            <a:pPr lvl="1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Performance degradation over time</a:t>
            </a:r>
          </a:p>
          <a:p>
            <a:pPr lvl="1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Difference in performance across versions or platforms</a:t>
            </a:r>
          </a:p>
          <a:p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Not as easy as functional testing. What’s the oracle?</a:t>
            </a:r>
          </a:p>
          <a:p>
            <a:pPr lvl="1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Fast = good, slow = bad // but what’s the threshold?</a:t>
            </a:r>
          </a:p>
          <a:p>
            <a:pPr lvl="1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 to get reliable measurements?</a:t>
            </a:r>
          </a:p>
          <a:p>
            <a:pPr lvl="1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 to debug where the issue lies?</a:t>
            </a:r>
          </a:p>
        </p:txBody>
      </p:sp>
    </p:spTree>
    <p:extLst>
      <p:ext uri="{BB962C8B-B14F-4D97-AF65-F5344CB8AC3E}">
        <p14:creationId xmlns:p14="http://schemas.microsoft.com/office/powerpoint/2010/main" val="3279841967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075E-03B7-4FC6-4FCF-D0C188F9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Testing performance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29F04-83ED-514F-ED51-65780627B3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Performance Regression Testing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D8FBC49-1AA0-2B02-E0D9-409C8B507A5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616423" cy="8583279"/>
          </a:xfrm>
        </p:spPr>
        <p:txBody>
          <a:bodyPr anchor="t">
            <a:normAutofit/>
          </a:bodyPr>
          <a:lstStyle/>
          <a:p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Measure execution time of critical components</a:t>
            </a:r>
          </a:p>
          <a:p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Log execution times and compare over time</a:t>
            </a:r>
          </a:p>
        </p:txBody>
      </p:sp>
      <p:pic>
        <p:nvPicPr>
          <p:cNvPr id="7" name="Picture 6" descr="A graph with red lines&#10;&#10;Description automatically generated">
            <a:extLst>
              <a:ext uri="{FF2B5EF4-FFF2-40B4-BE49-F238E27FC236}">
                <a16:creationId xmlns:a16="http://schemas.microsoft.com/office/drawing/2014/main" id="{D6A4718F-8EDB-F0D8-555A-1EC0328E59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712" y="5322137"/>
            <a:ext cx="18724575" cy="7400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594076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075E-03B7-4FC6-4FCF-D0C188F9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Testing performance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29F04-83ED-514F-ED51-65780627B3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Profiling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D8FBC49-1AA0-2B02-E0D9-409C8B507A5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616423" cy="8583279"/>
          </a:xfrm>
        </p:spPr>
        <p:txBody>
          <a:bodyPr anchor="t">
            <a:normAutofit/>
          </a:bodyPr>
          <a:lstStyle/>
          <a:p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Finding bottlenecks in execution time and memory</a:t>
            </a:r>
          </a:p>
          <a:p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Flame graphs are a popular visualization of resource consumption by call stack.</a:t>
            </a:r>
          </a:p>
        </p:txBody>
      </p:sp>
      <p:pic>
        <p:nvPicPr>
          <p:cNvPr id="8" name="Picture 7" descr="A graph of different colors&#10;&#10;Description automatically generated with medium confidence">
            <a:extLst>
              <a:ext uri="{FF2B5EF4-FFF2-40B4-BE49-F238E27FC236}">
                <a16:creationId xmlns:a16="http://schemas.microsoft.com/office/drawing/2014/main" id="{C5F50AC3-D0A1-933F-7B00-6241813BC4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2744" y="5663551"/>
            <a:ext cx="12938511" cy="8052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84977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075E-03B7-4FC6-4FCF-D0C188F9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Testing performance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29F04-83ED-514F-ED51-65780627B3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Domain-specific Perf Testing (e.g. </a:t>
            </a:r>
            <a:r>
              <a:rPr lang="en-US" dirty="0" err="1"/>
              <a:t>Jmeter</a:t>
            </a:r>
            <a:r>
              <a:rPr lang="en-US" dirty="0"/>
              <a:t>)</a:t>
            </a:r>
          </a:p>
        </p:txBody>
      </p:sp>
      <p:pic>
        <p:nvPicPr>
          <p:cNvPr id="10" name="Content Placeholder 9" descr="A screenshot of a computer&#10;&#10;Description automatically generated">
            <a:extLst>
              <a:ext uri="{FF2B5EF4-FFF2-40B4-BE49-F238E27FC236}">
                <a16:creationId xmlns:a16="http://schemas.microsoft.com/office/drawing/2014/main" id="{84656E44-B04D-F3F9-C18A-5AB98851530B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3928" y="3260663"/>
            <a:ext cx="18376143" cy="10087434"/>
          </a:xfrm>
        </p:spPr>
      </p:pic>
    </p:spTree>
    <p:extLst>
      <p:ext uri="{BB962C8B-B14F-4D97-AF65-F5344CB8AC3E}">
        <p14:creationId xmlns:p14="http://schemas.microsoft.com/office/powerpoint/2010/main" val="3989832406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075E-03B7-4FC6-4FCF-D0C188F9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Testing performance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29F04-83ED-514F-ED51-65780627B3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Performance-driven design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D8FBC49-1AA0-2B02-E0D9-409C8B507A5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616423" cy="8583279"/>
          </a:xfrm>
        </p:spPr>
        <p:txBody>
          <a:bodyPr anchor="t">
            <a:normAutofit/>
          </a:bodyPr>
          <a:lstStyle/>
          <a:p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Modeling and simulation</a:t>
            </a:r>
          </a:p>
          <a:p>
            <a:pPr lvl="1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e.g. queuing theory</a:t>
            </a:r>
          </a:p>
          <a:p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Specify load distributions and derive or test configurations</a:t>
            </a:r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55F66EF7-D242-A17C-353B-2245FDBEB7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0617" y="6405045"/>
            <a:ext cx="7942766" cy="731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603364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075E-03B7-4FC6-4FCF-D0C188F9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Testing performance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29F04-83ED-514F-ED51-65780627B3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Stress Testing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D8FBC49-1AA0-2B02-E0D9-409C8B507A5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616423" cy="8583279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Robustness testing technique: test beyond the limits of normal operation.</a:t>
            </a:r>
          </a:p>
          <a:p>
            <a:pPr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Can apply at any level of system granularity.</a:t>
            </a:r>
          </a:p>
          <a:p>
            <a:pPr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Stress tests commonly put a greater emphasis on robustness, availability, and error handling under a heavy load, than on what would be considered “correct” behavior under normal circumstances.</a:t>
            </a:r>
          </a:p>
        </p:txBody>
      </p:sp>
    </p:spTree>
    <p:extLst>
      <p:ext uri="{BB962C8B-B14F-4D97-AF65-F5344CB8AC3E}">
        <p14:creationId xmlns:p14="http://schemas.microsoft.com/office/powerpoint/2010/main" val="3875392528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075E-03B7-4FC6-4FCF-D0C188F9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Testing performance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29F04-83ED-514F-ED51-65780627B3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Soak Testing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D8FBC49-1AA0-2B02-E0D9-409C8B507A5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616423" cy="8583279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Problem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 system may behave exactly as expected under artificially limited execution conditions.</a:t>
            </a:r>
          </a:p>
          <a:p>
            <a:pPr lvl="1"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E.g., Memory leaks may take longer to lead to failure (also motivates static/dynamic analysis, but we’ll talk about that later).</a:t>
            </a:r>
          </a:p>
          <a:p>
            <a:pPr algn="just"/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Soak testing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testing a system with a significant load over a significant period of time (positive).</a:t>
            </a:r>
          </a:p>
          <a:p>
            <a:pPr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Used to check reaction of a subject under test under a possible simulated environment for a given duration and for a given threshold. </a:t>
            </a:r>
          </a:p>
        </p:txBody>
      </p:sp>
    </p:spTree>
    <p:extLst>
      <p:ext uri="{BB962C8B-B14F-4D97-AF65-F5344CB8AC3E}">
        <p14:creationId xmlns:p14="http://schemas.microsoft.com/office/powerpoint/2010/main" val="2325958118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075E-03B7-4FC6-4FCF-D0C188F9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Testing performance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29F04-83ED-514F-ED51-65780627B3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Where Do We Start?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D8FBC49-1AA0-2B02-E0D9-409C8B507A5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616423" cy="8583279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 do we even </a:t>
            </a:r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begin to test these scenarios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?</a:t>
            </a:r>
          </a:p>
          <a:p>
            <a:pPr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 there any </a:t>
            </a:r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software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that can be used to test these types of failures?</a:t>
            </a:r>
          </a:p>
          <a:p>
            <a:pPr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Let’s look at a </a:t>
            </a:r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few ways 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companies do this.</a:t>
            </a:r>
          </a:p>
        </p:txBody>
      </p:sp>
    </p:spTree>
    <p:extLst>
      <p:ext uri="{BB962C8B-B14F-4D97-AF65-F5344CB8AC3E}">
        <p14:creationId xmlns:p14="http://schemas.microsoft.com/office/powerpoint/2010/main" val="1701411384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075E-03B7-4FC6-4FCF-D0C188F9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Security Testing in the Development Process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29F04-83ED-514F-ED51-65780627B3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Integrating Security Testing into CI/CD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D8FBC49-1AA0-2B02-E0D9-409C8B507A5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616423" cy="8583279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Automate security tests in CI/CD pipelines to ensure new code does not introduce vulnerabilities.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 CI/CD pipeline integrates static analysis tools to check for security flaws with each commit.</a:t>
            </a:r>
          </a:p>
        </p:txBody>
      </p:sp>
    </p:spTree>
    <p:extLst>
      <p:ext uri="{BB962C8B-B14F-4D97-AF65-F5344CB8AC3E}">
        <p14:creationId xmlns:p14="http://schemas.microsoft.com/office/powerpoint/2010/main" val="3093233602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075E-03B7-4FC6-4FCF-D0C188F9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Tools for Secure Software Development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29F04-83ED-514F-ED51-65780627B3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D8FBC49-1AA0-2B02-E0D9-409C8B507A5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616423" cy="10455337"/>
          </a:xfrm>
        </p:spPr>
        <p:txBody>
          <a:bodyPr anchor="ctr">
            <a:normAutofit fontScale="92500" lnSpcReduction="20000"/>
          </a:bodyPr>
          <a:lstStyle/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Static Analysis Tools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SonarQube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Analyzes code for security vulnerabilities, code smells, and other issues.</a:t>
            </a:r>
          </a:p>
          <a:p>
            <a:pPr lvl="1" algn="just"/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Checkmarx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Detects vulnerabilities in source code and provides remediation guidance.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Dynamic Analysis Tools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Burp Suite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Widely used for testing web application security, including XSS and SQL injection vulnerabilities.</a:t>
            </a:r>
          </a:p>
          <a:p>
            <a:pPr lvl="1"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OWASP ZAP (Zed Attack Proxy)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An open-source tool for finding vulnerabilities in web applications.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Dependency Management Tools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/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Snyk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Monitors dependencies for known vulnerabilities.</a:t>
            </a:r>
          </a:p>
          <a:p>
            <a:pPr lvl="1" algn="just"/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Dependabot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Automatically updates dependencies with known vulnerabilities.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Demonstrate how to scan a codebase using SonarQube and interpret the results to identify security risks.</a:t>
            </a:r>
          </a:p>
        </p:txBody>
      </p:sp>
    </p:spTree>
    <p:extLst>
      <p:ext uri="{BB962C8B-B14F-4D97-AF65-F5344CB8AC3E}">
        <p14:creationId xmlns:p14="http://schemas.microsoft.com/office/powerpoint/2010/main" val="2796041481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075E-03B7-4FC6-4FCF-D0C188F9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Case Studies on Security Failures and Successes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29F04-83ED-514F-ED51-65780627B3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Case Study on Security Failures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D8FBC49-1AA0-2B02-E0D9-409C8B507A5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616423" cy="10455337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Equifax Data Breach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Due to an unpatched vulnerability in the Apache Struts framework, attackers gained access to sensitive data.</a:t>
            </a:r>
          </a:p>
          <a:p>
            <a:pPr lvl="1"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Key Lessons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Importance of timely patching, regular security testing, and monitoring.</a:t>
            </a:r>
          </a:p>
          <a:p>
            <a:pPr algn="just"/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1925097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075E-03B7-4FC6-4FCF-D0C188F9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Case Studies on Security Failures and Successes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29F04-83ED-514F-ED51-65780627B3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Case Study on Security Successes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D8FBC49-1AA0-2B02-E0D9-409C8B507A5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616423" cy="10455337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Google's Bug Bounty Program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Google’s Vulnerability Reward Program incentivizes ethical hackers to find and report vulnerabilities.</a:t>
            </a:r>
          </a:p>
          <a:p>
            <a:pPr lvl="1"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Key Lessons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Bug bounties and proactive security testing can prevent major breaches.</a:t>
            </a:r>
          </a:p>
        </p:txBody>
      </p:sp>
    </p:spTree>
    <p:extLst>
      <p:ext uri="{BB962C8B-B14F-4D97-AF65-F5344CB8AC3E}">
        <p14:creationId xmlns:p14="http://schemas.microsoft.com/office/powerpoint/2010/main" val="2729742731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CC9A3-FB6E-DB3A-36BC-1DB5FA6C0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3E2DA4-F8BE-01AB-0C23-B97B20B1AE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E9782-3C02-FAD4-699A-C827BC99AC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4337538"/>
            <a:ext cx="13714940" cy="6635262"/>
          </a:xfrm>
        </p:spPr>
        <p:txBody>
          <a:bodyPr>
            <a:noAutofit/>
          </a:bodyPr>
          <a:lstStyle/>
          <a:p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McGraw, G. (2021). Software Security: Building Security In (2nd ed.).</a:t>
            </a:r>
          </a:p>
          <a:p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Viega, J., &amp; McGraw, G. (2020). Building Secure Software: How to Avoid Security Problems the Right Way (3rd ed.).</a:t>
            </a:r>
          </a:p>
        </p:txBody>
      </p:sp>
    </p:spTree>
    <p:extLst>
      <p:ext uri="{BB962C8B-B14F-4D97-AF65-F5344CB8AC3E}">
        <p14:creationId xmlns:p14="http://schemas.microsoft.com/office/powerpoint/2010/main" val="197612424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2" id="{91EC78B4-BE4F-3B4D-B302-CF3E80410C1C}" vid="{48571482-A7A2-E44B-AA81-515161122809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TaxCatchAll xmlns="9fdf624c-fedc-4f6c-b928-0c7bf4c9e100" xsi:nil="true"/>
    <_Flow_SignoffStatus xmlns="47793baa-3cbb-486e-a055-4d42ce3882d7" xsi:nil="true"/>
    <_dlc_DocId xmlns="9fdf624c-fedc-4f6c-b928-0c7bf4c9e100">J56STF5CZXNR-2061195910-875156</_dlc_DocId>
    <_dlc_DocIdUrl xmlns="9fdf624c-fedc-4f6c-b928-0c7bf4c9e100">
      <Url>https://binusianorg.sharepoint.com/sites/arc/_layouts/15/DocIdRedir.aspx?ID=J56STF5CZXNR-2061195910-875156</Url>
      <Description>J56STF5CZXNR-2061195910-875156</Description>
    </_dlc_DocIdUrl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4340CFFCDDB44F9904404F1FA9688C" ma:contentTypeVersion="18" ma:contentTypeDescription="Create a new document." ma:contentTypeScope="" ma:versionID="2a43a3a40365f9eee60928e1a48d8e8a">
  <xsd:schema xmlns:xsd="http://www.w3.org/2001/XMLSchema" xmlns:xs="http://www.w3.org/2001/XMLSchema" xmlns:p="http://schemas.microsoft.com/office/2006/metadata/properties" xmlns:ns2="9fdf624c-fedc-4f6c-b928-0c7bf4c9e100" xmlns:ns3="47793baa-3cbb-486e-a055-4d42ce3882d7" xmlns:ns4="http://schemas.microsoft.com/sharepoint/v3/fields" targetNamespace="http://schemas.microsoft.com/office/2006/metadata/properties" ma:root="true" ma:fieldsID="b55bbfde6f7dd5be9fcb8a553256df6e" ns2:_="" ns3:_="" ns4:_="">
    <xsd:import namespace="9fdf624c-fedc-4f6c-b928-0c7bf4c9e100"/>
    <xsd:import namespace="47793baa-3cbb-486e-a055-4d42ce3882d7"/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2:SharedWithUsers" minOccurs="0"/>
                <xsd:element ref="ns2:SharedWithDetails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_Flow_SignoffStatus" minOccurs="0"/>
                <xsd:element ref="ns4:_Version" minOccurs="0"/>
                <xsd:element ref="ns3:MediaLengthInSeconds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df624c-fedc-4f6c-b928-0c7bf4c9e10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7" nillable="true" ma:displayName="Taxonomy Catch All Column" ma:hidden="true" ma:list="{131959e2-2cf4-437e-858a-61f1b162208b}" ma:internalName="TaxCatchAll" ma:showField="CatchAllData" ma:web="9fdf624c-fedc-4f6c-b928-0c7bf4c9e10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793baa-3cbb-486e-a055-4d42ce3882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23" nillable="true" ma:displayName="Sign-off status" ma:internalName="Sign_x002d_off_x0020_status">
      <xsd:simpleType>
        <xsd:restriction base="dms:Text"/>
      </xsd:simpleType>
    </xsd:element>
    <xsd:element name="MediaLengthInSeconds" ma:index="25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Version" ma:index="24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E0FE671-25D8-4116-9472-BF9297986CC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DDAE38A-8264-43C3-9B01-B7FA25F10602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C2252D89-D1E6-488A-B078-4573BAE073F6}">
  <ds:schemaRefs>
    <ds:schemaRef ds:uri="http://purl.org/dc/terms/"/>
    <ds:schemaRef ds:uri="2661c1c1-ed05-4275-a33d-64e31eb1ea69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4f26481f-d1e8-4452-9a9a-b303515fd2b7"/>
    <ds:schemaRef ds:uri="http://schemas.microsoft.com/office/2006/metadata/properties"/>
    <ds:schemaRef ds:uri="http://purl.org/dc/dcmitype/"/>
    <ds:schemaRef ds:uri="http://schemas.microsoft.com/sharepoint/v3/fields"/>
    <ds:schemaRef ds:uri="9fdf624c-fedc-4f6c-b928-0c7bf4c9e100"/>
    <ds:schemaRef ds:uri="47793baa-3cbb-486e-a055-4d42ce3882d7"/>
  </ds:schemaRefs>
</ds:datastoreItem>
</file>

<file path=customXml/itemProps4.xml><?xml version="1.0" encoding="utf-8"?>
<ds:datastoreItem xmlns:ds="http://schemas.openxmlformats.org/officeDocument/2006/customXml" ds:itemID="{90A97211-242D-415A-8ADE-6F44C1D92C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df624c-fedc-4f6c-b928-0c7bf4c9e100"/>
    <ds:schemaRef ds:uri="47793baa-3cbb-486e-a055-4d42ce3882d7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BINUS Learning Object Slide Template 2022</Template>
  <TotalTime>3724</TotalTime>
  <Words>2201</Words>
  <Application>Microsoft Macintosh PowerPoint</Application>
  <PresentationFormat>Custom</PresentationFormat>
  <Paragraphs>266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Open Sans ExtraBold</vt:lpstr>
      <vt:lpstr>Courier New</vt:lpstr>
      <vt:lpstr>Open Sans Light</vt:lpstr>
      <vt:lpstr>OCRB</vt:lpstr>
      <vt:lpstr>Open Sans Semibold</vt:lpstr>
      <vt:lpstr>Arial</vt:lpstr>
      <vt:lpstr>Open Sans</vt:lpstr>
      <vt:lpstr>21_BasicWhite</vt:lpstr>
      <vt:lpstr>Secure Software Development</vt:lpstr>
      <vt:lpstr>Session 17 – Secure Software Development</vt:lpstr>
      <vt:lpstr>Session 17 – Secure Software Development</vt:lpstr>
      <vt:lpstr>Security</vt:lpstr>
      <vt:lpstr>Importance of Security in Software Development</vt:lpstr>
      <vt:lpstr>Secure Software Development Life Cycle (SDLC)</vt:lpstr>
      <vt:lpstr>Secure Software Development Life Cycle (SDLC)</vt:lpstr>
      <vt:lpstr>Common Security Vulnerabilities and Threats</vt:lpstr>
      <vt:lpstr>Common Security Vulnerabilities and Threats</vt:lpstr>
      <vt:lpstr>Common Security Vulnerabilities and Threats</vt:lpstr>
      <vt:lpstr>Common Security Vulnerabilities and Threats</vt:lpstr>
      <vt:lpstr>Common Security Vulnerabilities and Threats</vt:lpstr>
      <vt:lpstr>Common Security Vulnerabilities and Threats</vt:lpstr>
      <vt:lpstr>Security Best Practices and Coding Standards</vt:lpstr>
      <vt:lpstr>Security Best Practices and Coding Standards</vt:lpstr>
      <vt:lpstr>Security Best Practices and Coding Standards</vt:lpstr>
      <vt:lpstr>Security Best Practices and Coding Standards</vt:lpstr>
      <vt:lpstr>Security Best Practices and Coding Standards</vt:lpstr>
      <vt:lpstr>Security Best Practices and Coding Standards</vt:lpstr>
      <vt:lpstr>Security Best Practices and Coding Standards</vt:lpstr>
      <vt:lpstr>Security Best Practices and Coding Standards</vt:lpstr>
      <vt:lpstr>Security Best Practices and Coding Standards</vt:lpstr>
      <vt:lpstr>Implementing Security Testing in the Development Process</vt:lpstr>
      <vt:lpstr>Fuzz Testing</vt:lpstr>
      <vt:lpstr>Fuzz Testing</vt:lpstr>
      <vt:lpstr>How do you make programs “Crash” when a Bug is Encountered?</vt:lpstr>
      <vt:lpstr>Fuzz Testing</vt:lpstr>
      <vt:lpstr>Sanitizers</vt:lpstr>
      <vt:lpstr>Sanitizers</vt:lpstr>
      <vt:lpstr>Sanitizers</vt:lpstr>
      <vt:lpstr>Testing performance</vt:lpstr>
      <vt:lpstr>Testing performance</vt:lpstr>
      <vt:lpstr>Testing performance</vt:lpstr>
      <vt:lpstr>Testing performance</vt:lpstr>
      <vt:lpstr>Testing performance</vt:lpstr>
      <vt:lpstr>Testing performance</vt:lpstr>
      <vt:lpstr>Testing performance</vt:lpstr>
      <vt:lpstr>Testing performance</vt:lpstr>
      <vt:lpstr>Implementing Security Testing in the Development Process</vt:lpstr>
      <vt:lpstr>Tools for Secure Software Development</vt:lpstr>
      <vt:lpstr>Case Studies on Security Failures and Successes</vt:lpstr>
      <vt:lpstr>Case Studies on Security Failures and Successes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Aris Priyanto</dc:creator>
  <cp:lastModifiedBy>Kenny Jingga</cp:lastModifiedBy>
  <cp:revision>43</cp:revision>
  <dcterms:created xsi:type="dcterms:W3CDTF">2023-04-06T08:40:27Z</dcterms:created>
  <dcterms:modified xsi:type="dcterms:W3CDTF">2024-12-18T14:01:10Z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0x010100144340CFFCDDB44F9904404F1FA9688C</vt:lpwstr>
  </property>
  <property fmtid="{D5CDD505-2E9C-101B-9397-08002B2CF9AE}" pid="3" name="_dlc_DocIdItemGuid">
    <vt:lpwstr>a8e96856-29d3-47af-8f22-9a1c34492d36</vt:lpwstr>
  </property>
</Properties>
</file>