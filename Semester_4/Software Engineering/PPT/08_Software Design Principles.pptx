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28"/>
  </p:notesMasterIdLst>
  <p:sldIdLst>
    <p:sldId id="256" r:id="rId6"/>
    <p:sldId id="257" r:id="rId7"/>
    <p:sldId id="258" r:id="rId8"/>
    <p:sldId id="290" r:id="rId9"/>
    <p:sldId id="317" r:id="rId10"/>
    <p:sldId id="318" r:id="rId11"/>
    <p:sldId id="322" r:id="rId12"/>
    <p:sldId id="295" r:id="rId13"/>
    <p:sldId id="296" r:id="rId14"/>
    <p:sldId id="299" r:id="rId15"/>
    <p:sldId id="300" r:id="rId16"/>
    <p:sldId id="319" r:id="rId17"/>
    <p:sldId id="320" r:id="rId18"/>
    <p:sldId id="321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284" r:id="rId27"/>
  </p:sldIdLst>
  <p:sldSz cx="24384000" cy="13716000"/>
  <p:notesSz cx="6858000" cy="9144000"/>
  <p:embeddedFontLst>
    <p:embeddedFont>
      <p:font typeface="OCRB" panose="020B0609020202020204" pitchFamily="49" charset="0"/>
      <p:regular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pen Sans ExtraBold" panose="020B0906030804020204" pitchFamily="34" charset="0"/>
      <p:bold r:id="rId34"/>
      <p:italic r:id="rId35"/>
      <p:boldItalic r:id="rId36"/>
    </p:embeddedFont>
    <p:embeddedFont>
      <p:font typeface="Open Sans Light" panose="020B0306030504020204" pitchFamily="34" charset="0"/>
      <p:regular r:id="rId37"/>
      <p:italic r:id="rId38"/>
    </p:embeddedFont>
    <p:embeddedFont>
      <p:font typeface="Open Sans Semibold" panose="020B0706030804020204" pitchFamily="34" charset="0"/>
      <p:regular r:id="rId39"/>
      <p:bold r:id="rId40"/>
      <p:italic r:id="rId41"/>
      <p:boldItalic r:id="rId4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F1FFA9-901E-44FD-B607-BA91E8E95A22}" v="1" dt="2025-12-25T22:23:09.24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65" autoAdjust="0"/>
    <p:restoredTop sz="96197"/>
  </p:normalViewPr>
  <p:slideViewPr>
    <p:cSldViewPr snapToGrid="0" snapToObjects="1">
      <p:cViewPr varScale="1">
        <p:scale>
          <a:sx n="21" d="100"/>
          <a:sy n="21" d="100"/>
        </p:scale>
        <p:origin x="58" y="859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11.fntdata"/><Relationship Id="rId21" Type="http://schemas.openxmlformats.org/officeDocument/2006/relationships/slide" Target="slides/slide16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modSld">
      <pc:chgData name="Maulin Nasari" userId="2c02bce8-14a6-4f73-b14a-299518f8dfce" providerId="ADAL" clId="{973AE700-8634-4AC6-A10B-DFA7AFECB9DA}" dt="2025-12-25T22:23:09.245" v="0"/>
      <pc:docMkLst>
        <pc:docMk/>
      </pc:docMkLst>
      <pc:sldChg chg="modSp">
        <pc:chgData name="Maulin Nasari" userId="2c02bce8-14a6-4f73-b14a-299518f8dfce" providerId="ADAL" clId="{973AE700-8634-4AC6-A10B-DFA7AFECB9DA}" dt="2025-12-25T22:23:09.245" v="0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5T22:23:09.245" v="0"/>
          <ac:spMkLst>
            <pc:docMk/>
            <pc:sldMk cId="481981883" sldId="258"/>
            <ac:spMk id="4" creationId="{76E358E3-B24E-F7A5-ECF8-12101774A9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Background 02.jpg">
            <a:extLst>
              <a:ext uri="{FF2B5EF4-FFF2-40B4-BE49-F238E27FC236}">
                <a16:creationId xmlns:a16="http://schemas.microsoft.com/office/drawing/2014/main" id="{5E9439D9-58CE-C438-5024-900918FA24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24384000" cy="1292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7A8C25BD-F319-4C45-1231-698E123EA6A3}"/>
              </a:ext>
            </a:extLst>
          </p:cNvPr>
          <p:cNvSpPr/>
          <p:nvPr userDrawn="1"/>
        </p:nvSpPr>
        <p:spPr>
          <a:xfrm>
            <a:off x="0" y="10315576"/>
            <a:ext cx="24384000" cy="340042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sz="4800" b="0" i="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6933" y="4121696"/>
            <a:ext cx="18232304" cy="1584176"/>
          </a:xfrm>
        </p:spPr>
        <p:txBody>
          <a:bodyPr>
            <a:normAutofit/>
          </a:bodyPr>
          <a:lstStyle>
            <a:lvl1pPr algn="l">
              <a:defRPr sz="6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096933" y="6858002"/>
            <a:ext cx="18232304" cy="6080844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5087211" y="5705872"/>
            <a:ext cx="18242027" cy="1008112"/>
          </a:xfrm>
        </p:spPr>
        <p:txBody>
          <a:bodyPr rtlCol="0" anchor="ctr">
            <a:normAutofit/>
          </a:bodyPr>
          <a:lstStyle>
            <a:lvl1pPr>
              <a:defRPr lang="id-ID" sz="4400" b="0" i="0" dirty="0">
                <a:solidFill>
                  <a:srgbClr val="0079B8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44FF92-AFAA-0F6A-9AEF-114DE9CF286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B314F4A9-3917-40E8-BD28-C0DD49686833}" type="datetimeFigureOut">
              <a:rPr lang="id-ID" altLang="en-US" smtClean="0"/>
              <a:pPr>
                <a:defRPr/>
              </a:pPr>
              <a:t>26/12/2025</a:t>
            </a:fld>
            <a:endParaRPr lang="id-ID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F5E07CC-C0C3-C8A2-0275-D753706EAE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7828D9-9E07-C21B-8C4E-ECBFDA05A3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000605" y="13076008"/>
            <a:ext cx="370294" cy="37959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5C4D3-5B9B-4333-A046-65E8E2318A8F}" type="slidenum">
              <a:rPr lang="id-ID" altLang="en-US"/>
              <a:pPr>
                <a:defRPr/>
              </a:pPr>
              <a:t>‹#›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6456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  <p:sldLayoutId id="2147483689" r:id="rId24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08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DESIGN Principles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08 – Software DESIGN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the Role and Importance of Software Design Principles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Describe Key Software Design Principles, Including SOLID Principles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the Basics of Interface and Experience Design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08 – Software DESIGN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1"/>
            <a:ext cx="20711673" cy="599922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to design principles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SOLID principles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Applying principles to scenarios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434823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Software Design Principles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Software Design?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design is the process of defining the architecture, components, interfaces, and other characteristics of a system or component.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Purpose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 software requirements into a blueprint for constructing the software.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 that the software system meets specified requirements.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Points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Involves problem-solving and planning a software solution.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Aims to produce a model or representation of the software system.</a:t>
            </a:r>
          </a:p>
        </p:txBody>
      </p:sp>
    </p:spTree>
    <p:extLst>
      <p:ext uri="{BB962C8B-B14F-4D97-AF65-F5344CB8AC3E}">
        <p14:creationId xmlns:p14="http://schemas.microsoft.com/office/powerpoint/2010/main" val="17526497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434823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Interface and Experience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User Interface (UI)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design of the interface through which users interact with software applications.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Clarity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Interfaces should be clear and unambiguous.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Consistency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Uniform design elements across the application.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Feedback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Provide users with feedback on their actions.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Affordance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Design elements should suggest their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54893669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434823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Interface and Experience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User Experience (UX)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process of enhancing user satisfaction by improving usability and accessibility.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User-Centered Desi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gn: Focus on users' needs and preferences.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Simplicity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Streamline user tasks to be as straightforward as possible.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Accessibility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Ensure the interface is usable by people with varying abilities.</a:t>
            </a:r>
          </a:p>
        </p:txBody>
      </p:sp>
    </p:spTree>
    <p:extLst>
      <p:ext uri="{BB962C8B-B14F-4D97-AF65-F5344CB8AC3E}">
        <p14:creationId xmlns:p14="http://schemas.microsoft.com/office/powerpoint/2010/main" val="101579641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E3B3-2924-A9FE-006F-72A09534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54A4FDD-6DCF-6B10-88FC-14CDCE6FA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48" y="0"/>
            <a:ext cx="10934700" cy="1366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88066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 and Experience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Typical design error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6828571"/>
            <a:ext cx="10664703" cy="5038817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consistency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 much memorization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guidance / help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context sensitivity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poor response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Arcane/unfriendly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7AF0065C-7856-BFBD-9429-5BC861841B0B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2346" y="4109705"/>
            <a:ext cx="5748454" cy="6051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19E042D8-B1E3-EF2F-BB2B-76BD1EF99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9256" y="4378279"/>
            <a:ext cx="2962348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151515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to use?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0BBAA21E-7B24-D025-7E4E-C41C04100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111" y="5006354"/>
            <a:ext cx="4841068" cy="119776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151515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to understand?</a:t>
            </a:r>
          </a:p>
          <a:p>
            <a:pPr eaLnBrk="1" hangingPunct="1">
              <a:defRPr/>
            </a:pPr>
            <a:endParaRPr lang="en-US" sz="3600" b="1" dirty="0">
              <a:solidFill>
                <a:srgbClr val="151515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6ABE681A-9FB5-3C14-59C9-6E0325AF1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545" y="3745984"/>
            <a:ext cx="3363100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151515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to learn?</a:t>
            </a:r>
          </a:p>
        </p:txBody>
      </p:sp>
    </p:spTree>
    <p:extLst>
      <p:ext uri="{BB962C8B-B14F-4D97-AF65-F5344CB8AC3E}">
        <p14:creationId xmlns:p14="http://schemas.microsoft.com/office/powerpoint/2010/main" val="14820513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 and Experience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Eight GOLDEN RULEs of interface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Strive for consistency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Enable frequent users to use shortcuts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Offer informative feedback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dialogue to yield closure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Offer simple error handling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Permit easy reversal of actions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 internal locus of control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 short-term memory 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4F427-509B-AD4C-B27E-A178AECF7928}"/>
              </a:ext>
            </a:extLst>
          </p:cNvPr>
          <p:cNvSpPr txBox="1"/>
          <p:nvPr/>
        </p:nvSpPr>
        <p:spPr>
          <a:xfrm>
            <a:off x="2167377" y="11465832"/>
            <a:ext cx="2029505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www.interaction-design.org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/literature/article/shneiderman-s-eight-golden-rules-will-help-you-design-better-interfaces</a:t>
            </a:r>
          </a:p>
        </p:txBody>
      </p:sp>
    </p:spTree>
    <p:extLst>
      <p:ext uri="{BB962C8B-B14F-4D97-AF65-F5344CB8AC3E}">
        <p14:creationId xmlns:p14="http://schemas.microsoft.com/office/powerpoint/2010/main" val="21304066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 and Experience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user interface design process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A1F7DAE7-BFEF-85D5-8A39-E7FDF64398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27CE8F1-D15C-6DA6-4719-52A77002E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077" y="3798278"/>
            <a:ext cx="16674564" cy="833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806582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 and Experience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Design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Response time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Help facilities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Error handling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Menu and command labeling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Application accessibility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Internationalization</a:t>
            </a:r>
          </a:p>
        </p:txBody>
      </p:sp>
    </p:spTree>
    <p:extLst>
      <p:ext uri="{BB962C8B-B14F-4D97-AF65-F5344CB8AC3E}">
        <p14:creationId xmlns:p14="http://schemas.microsoft.com/office/powerpoint/2010/main" val="115252437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Design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DRY (Don’t Repeat Yourself)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Avoid duplication of code or functionality.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Reduces maintenance efforts.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Minimizes bugs due to inconsistent changes.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functions or classes to encapsulate reusable code.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194B44-91DD-82C5-524F-4592E8526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3549293"/>
            <a:ext cx="11936250" cy="661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98082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Design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KISS (Keep it Simple, Stupid)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Simplicity should be a key goal; unnecessary complexity should be avoided.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Enhances readability and understandability.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Simplifies debugging and maintenance.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Choosing simple algorithms over complex ones when appropriate.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756F502-426D-FD34-B097-0D0324EBE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2382339"/>
            <a:ext cx="11936250" cy="895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05596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Design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YAGNI (You aren’t </a:t>
            </a:r>
            <a:r>
              <a:rPr lang="en-US" dirty="0" err="1"/>
              <a:t>Gonna</a:t>
            </a:r>
            <a:r>
              <a:rPr lang="en-US" dirty="0"/>
              <a:t> Need It)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not implement functionality until it is necessary.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Saves time and resources.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Prevents code bloat.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Avoid adding features based on speculative future needs.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084FB01-D4E9-F5B3-E9D2-97BF6A2F3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2382339"/>
            <a:ext cx="11936250" cy="1107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52533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SOLID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set of five principles aimed at making object-oriented designs more understandable, flexible, and maintainable.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Principles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 Responsibility Principle (SRP)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Open-Closed Principle (OCP)</a:t>
            </a:r>
          </a:p>
          <a:p>
            <a:pPr algn="just">
              <a:spcBef>
                <a:spcPts val="1800"/>
              </a:spcBef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Liskov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Substitution Principle (LSP)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Segregation Principle (ISP)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Dependency Inversion Principle (DIP)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B18A718-95B1-4909-76D7-B0379659D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5223" y="5550627"/>
            <a:ext cx="8661400" cy="717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5806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SOLID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Single Responsibility Principle (SRP)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class should have one, and only one, reason to change.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Increases cohesion.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Simplifies testing and maintenance.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Separating data handling from user interface logic.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3DBB29E-CAC1-E55A-86B5-3708A2F07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2382339"/>
            <a:ext cx="11936250" cy="954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00115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SOLID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Open-closed Principle (OCP)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entities should be open for extension but closed for modification.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Allows adding new features without changing existing code.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Reduces the risk of introducing new bugs.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abstract classes or interfaces to allow new implementations.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B91E67A-7523-5FD9-D8C1-CC8B72E6E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2953074"/>
            <a:ext cx="11936250" cy="78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47144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SOLID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 (LSP)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Subtypes must be substitutable for their base types.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Ensures that a subclass can stand in for its superclass without unexpected behavior.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class </a:t>
            </a:r>
            <a:r>
              <a:rPr lang="en-US" sz="3600" i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Square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inherits from </a:t>
            </a:r>
            <a:r>
              <a:rPr lang="en-US" sz="3600" i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Rectangle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it should not alter expected behaviors.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AA791BCE-A347-7243-6EF3-DC34E714B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2617826"/>
            <a:ext cx="11936250" cy="848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91128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SOLID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Interface Segregation Principle (ISP)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Clients should not be forced to depend on interfaces they do not use.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Promotes decoupling.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Reduces the impact of changes.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Splitting a large interface into smaller, more specific ones.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34442830-DAB6-B60E-658C-BD6D87A70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2709508"/>
            <a:ext cx="11936250" cy="829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79848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SOLID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Dependency Inversion Principle (DIP)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High-level modules should not depend on low-level modules; both should depend on abstraction.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Enhances modularity and reusability.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Simplifies testing through dependency injection.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Depending on interfaces rather than concrete classes.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4456B9D-3BBE-291E-154D-ADBE622E2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750" y="2613171"/>
            <a:ext cx="11936250" cy="848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13053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Applying Design Principles to Real-World 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Case Study: Online Shopping Platform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2216623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Scenario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Building an e-commerce website with user accounts, product listings, shopping carts, and order processing.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Application of Principles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SRP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Separate classes for User Management, Product Catalog, Shopping Cart, and Order Processing.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OCP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 interfaces for payment processing to allow adding new payment methods without altering existing code.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Centralize input validation logic to avoid repetition.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KISS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Simplify the checkout process to require minimal user steps.</a:t>
            </a:r>
          </a:p>
        </p:txBody>
      </p:sp>
    </p:spTree>
    <p:extLst>
      <p:ext uri="{BB962C8B-B14F-4D97-AF65-F5344CB8AC3E}">
        <p14:creationId xmlns:p14="http://schemas.microsoft.com/office/powerpoint/2010/main" val="19503898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Software Engineering: A Practitioner's Approach. 9th. McGraw Hill. New York. ISBN: 978-1259872976.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4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2539</TotalTime>
  <Words>972</Words>
  <Application>Microsoft Office PowerPoint</Application>
  <PresentationFormat>Custom</PresentationFormat>
  <Paragraphs>166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Open Sans ExtraBold</vt:lpstr>
      <vt:lpstr>Open Sans</vt:lpstr>
      <vt:lpstr>Open Sans Semibold</vt:lpstr>
      <vt:lpstr>Open Sans Light</vt:lpstr>
      <vt:lpstr>OCRB</vt:lpstr>
      <vt:lpstr>21_BasicWhite</vt:lpstr>
      <vt:lpstr>Software DESIGN Principles</vt:lpstr>
      <vt:lpstr>Session 08 – Software DESIGN Principles</vt:lpstr>
      <vt:lpstr>Session 08 – Software DESIGN Principles</vt:lpstr>
      <vt:lpstr>Introduction to Software Design Principles </vt:lpstr>
      <vt:lpstr>Interface and Experience Design</vt:lpstr>
      <vt:lpstr>Interface and Experience Design</vt:lpstr>
      <vt:lpstr>PowerPoint Presentation</vt:lpstr>
      <vt:lpstr>INTERFACE and Experience DESIGN</vt:lpstr>
      <vt:lpstr>INTERFACE and Experience DESIGN</vt:lpstr>
      <vt:lpstr>INTERFACE and Experience DESIGN</vt:lpstr>
      <vt:lpstr>INTERFACE and Experience DESIGN</vt:lpstr>
      <vt:lpstr>Fundamental Design Principles</vt:lpstr>
      <vt:lpstr>Fundamental Design Principles</vt:lpstr>
      <vt:lpstr>Fundamental Design Principles</vt:lpstr>
      <vt:lpstr>SOLID Principles</vt:lpstr>
      <vt:lpstr>SOLID Principles</vt:lpstr>
      <vt:lpstr>SOLID Principles</vt:lpstr>
      <vt:lpstr>SOLID Principles</vt:lpstr>
      <vt:lpstr>SOLID Principles</vt:lpstr>
      <vt:lpstr>SOLID Principles</vt:lpstr>
      <vt:lpstr>Applying Design Principles to Real-World Scenarios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56</cp:revision>
  <dcterms:created xsi:type="dcterms:W3CDTF">2023-04-06T08:40:27Z</dcterms:created>
  <dcterms:modified xsi:type="dcterms:W3CDTF">2025-12-25T22:23:11Z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