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5"/>
  </p:sldMasterIdLst>
  <p:notesMasterIdLst>
    <p:notesMasterId r:id="rId33"/>
  </p:notesMasterIdLst>
  <p:sldIdLst>
    <p:sldId id="256" r:id="rId6"/>
    <p:sldId id="257" r:id="rId7"/>
    <p:sldId id="258" r:id="rId8"/>
    <p:sldId id="262" r:id="rId9"/>
    <p:sldId id="325" r:id="rId10"/>
    <p:sldId id="326" r:id="rId11"/>
    <p:sldId id="327" r:id="rId12"/>
    <p:sldId id="328" r:id="rId13"/>
    <p:sldId id="329" r:id="rId14"/>
    <p:sldId id="330" r:id="rId15"/>
    <p:sldId id="324" r:id="rId16"/>
    <p:sldId id="296" r:id="rId17"/>
    <p:sldId id="297" r:id="rId18"/>
    <p:sldId id="298" r:id="rId19"/>
    <p:sldId id="299" r:id="rId20"/>
    <p:sldId id="300" r:id="rId21"/>
    <p:sldId id="295" r:id="rId22"/>
    <p:sldId id="331" r:id="rId23"/>
    <p:sldId id="320" r:id="rId24"/>
    <p:sldId id="321" r:id="rId25"/>
    <p:sldId id="322" r:id="rId26"/>
    <p:sldId id="332" r:id="rId27"/>
    <p:sldId id="323" r:id="rId28"/>
    <p:sldId id="333" r:id="rId29"/>
    <p:sldId id="334" r:id="rId30"/>
    <p:sldId id="335" r:id="rId31"/>
    <p:sldId id="284" r:id="rId32"/>
  </p:sldIdLst>
  <p:sldSz cx="24384000" cy="13716000"/>
  <p:notesSz cx="6858000" cy="9144000"/>
  <p:embeddedFontLst>
    <p:embeddedFont>
      <p:font typeface="OCRB" panose="020B0609020202020204" pitchFamily="49" charset="0"/>
      <p:regular r:id="rId34"/>
    </p:embeddedFont>
    <p:embeddedFont>
      <p:font typeface="Open Sans" panose="020B0606030504020204" pitchFamily="34" charset="0"/>
      <p:regular r:id="rId35"/>
      <p:bold r:id="rId36"/>
      <p:italic r:id="rId37"/>
      <p:boldItalic r:id="rId38"/>
    </p:embeddedFont>
    <p:embeddedFont>
      <p:font typeface="Open Sans ExtraBold" panose="020B0906030804020204" pitchFamily="34" charset="0"/>
      <p:bold r:id="rId39"/>
      <p:italic r:id="rId40"/>
      <p:boldItalic r:id="rId41"/>
    </p:embeddedFont>
    <p:embeddedFont>
      <p:font typeface="Open Sans Light" panose="020B0306030504020204" pitchFamily="34" charset="0"/>
      <p:regular r:id="rId42"/>
      <p:italic r:id="rId43"/>
    </p:embeddedFont>
    <p:embeddedFont>
      <p:font typeface="Open Sans Semibold" panose="020B0706030804020204" pitchFamily="34" charset="0"/>
      <p:regular r:id="rId44"/>
      <p:bold r:id="rId45"/>
      <p:italic r:id="rId46"/>
      <p:boldItalic r:id="rId47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8A6904-592B-4016-AC55-B2A65AEA106C}" v="1" dt="2025-12-25T23:13:33.10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06" autoAdjust="0"/>
    <p:restoredTop sz="96197"/>
  </p:normalViewPr>
  <p:slideViewPr>
    <p:cSldViewPr snapToGrid="0" snapToObjects="1">
      <p:cViewPr varScale="1">
        <p:scale>
          <a:sx n="23" d="100"/>
          <a:sy n="23" d="100"/>
        </p:scale>
        <p:origin x="77" y="787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6.fntdata"/><Relationship Id="rId21" Type="http://schemas.openxmlformats.org/officeDocument/2006/relationships/slide" Target="slides/slide16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font" Target="fonts/font11.fntdata"/><Relationship Id="rId52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5.xml"/><Relationship Id="rId41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3.fntdata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lin Nasari" userId="2c02bce8-14a6-4f73-b14a-299518f8dfce" providerId="ADAL" clId="{973AE700-8634-4AC6-A10B-DFA7AFECB9DA}"/>
    <pc:docChg chg="modSld">
      <pc:chgData name="Maulin Nasari" userId="2c02bce8-14a6-4f73-b14a-299518f8dfce" providerId="ADAL" clId="{973AE700-8634-4AC6-A10B-DFA7AFECB9DA}" dt="2025-12-25T23:13:42.464" v="1" actId="1076"/>
      <pc:docMkLst>
        <pc:docMk/>
      </pc:docMkLst>
      <pc:sldChg chg="modSp mod">
        <pc:chgData name="Maulin Nasari" userId="2c02bce8-14a6-4f73-b14a-299518f8dfce" providerId="ADAL" clId="{973AE700-8634-4AC6-A10B-DFA7AFECB9DA}" dt="2025-12-25T23:13:42.464" v="1" actId="1076"/>
        <pc:sldMkLst>
          <pc:docMk/>
          <pc:sldMk cId="3855785854" sldId="257"/>
        </pc:sldMkLst>
        <pc:spChg chg="mod">
          <ac:chgData name="Maulin Nasari" userId="2c02bce8-14a6-4f73-b14a-299518f8dfce" providerId="ADAL" clId="{973AE700-8634-4AC6-A10B-DFA7AFECB9DA}" dt="2025-12-25T23:13:42.464" v="1" actId="1076"/>
          <ac:spMkLst>
            <pc:docMk/>
            <pc:sldMk cId="3855785854" sldId="257"/>
            <ac:spMk id="4" creationId="{76E358E3-B24E-F7A5-ECF8-12101774A9ED}"/>
          </ac:spMkLst>
        </pc:spChg>
      </pc:sldChg>
      <pc:sldChg chg="modSp">
        <pc:chgData name="Maulin Nasari" userId="2c02bce8-14a6-4f73-b14a-299518f8dfce" providerId="ADAL" clId="{973AE700-8634-4AC6-A10B-DFA7AFECB9DA}" dt="2025-12-25T23:13:33.107" v="0"/>
        <pc:sldMkLst>
          <pc:docMk/>
          <pc:sldMk cId="481981883" sldId="258"/>
        </pc:sldMkLst>
        <pc:spChg chg="mod">
          <ac:chgData name="Maulin Nasari" userId="2c02bce8-14a6-4f73-b14a-299518f8dfce" providerId="ADAL" clId="{973AE700-8634-4AC6-A10B-DFA7AFECB9DA}" dt="2025-12-25T23:13:33.107" v="0"/>
          <ac:spMkLst>
            <pc:docMk/>
            <pc:sldMk cId="481981883" sldId="258"/>
            <ac:spMk id="4" creationId="{76E358E3-B24E-F7A5-ECF8-12101774A9E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437085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136664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815450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494236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173022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64C53-F38A-3CAD-0C8A-2BF46116F3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COMP6100001 - Software engineering</a:t>
            </a:r>
          </a:p>
          <a:p>
            <a:r>
              <a:rPr lang="en-US" dirty="0"/>
              <a:t>Session 25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Legal Issues, Social Impact, and Professional Ethics in Software </a:t>
            </a:r>
            <a:r>
              <a:rPr lang="en-US" dirty="0" err="1"/>
              <a:t>EngineerinG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Kenny Jingga, </a:t>
            </a:r>
            <a:r>
              <a:rPr lang="en-US" dirty="0" err="1"/>
              <a:t>S.Kom</a:t>
            </a:r>
            <a:r>
              <a:rPr lang="en-US" dirty="0"/>
              <a:t>., M.T.</a:t>
            </a:r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22216623" cy="510281"/>
          </a:xfrm>
        </p:spPr>
        <p:txBody>
          <a:bodyPr>
            <a:normAutofit fontScale="90000"/>
          </a:bodyPr>
          <a:lstStyle/>
          <a:p>
            <a:r>
              <a:rPr lang="en-US" dirty="0"/>
              <a:t>Session 25 – Legal Issues, Social Impact, and Professional Ethics in Software </a:t>
            </a:r>
            <a:r>
              <a:rPr lang="en-US" dirty="0" err="1"/>
              <a:t>EngineerinG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79628"/>
            <a:ext cx="20711673" cy="8381568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the end of this session, students will be expected to be able:</a:t>
            </a:r>
          </a:p>
          <a:p>
            <a:pPr marL="0" indent="0" algn="just">
              <a:buNone/>
            </a:pPr>
            <a:endParaRPr lang="en-US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Understand the legal aspects of software engineering.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Learn about intellectual property rights and licensing models.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Explore privacy laws, data protection, and compliance standards.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Recognize the social implications of software engineering.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 an understanding of professional ethics and ethical frameworks.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Apply ethical decision-making models to real-world scenarios.</a:t>
            </a:r>
          </a:p>
        </p:txBody>
      </p:sp>
    </p:spTree>
    <p:extLst>
      <p:ext uri="{BB962C8B-B14F-4D97-AF65-F5344CB8AC3E}">
        <p14:creationId xmlns:p14="http://schemas.microsoft.com/office/powerpoint/2010/main" val="38557858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22216623" cy="510281"/>
          </a:xfrm>
        </p:spPr>
        <p:txBody>
          <a:bodyPr>
            <a:normAutofit fontScale="90000"/>
          </a:bodyPr>
          <a:lstStyle/>
          <a:p>
            <a:r>
              <a:rPr lang="en-US" dirty="0"/>
              <a:t>Session 25 – Legal Issues, Social Impact, and Professional Ethics in Software </a:t>
            </a:r>
            <a:r>
              <a:rPr lang="en-US" dirty="0" err="1"/>
              <a:t>EngineerinG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Content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20711673" cy="8381568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Legal aspects in software engineering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Intellectual property &amp; licensing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Privacy laws &amp; compliance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Social impact of software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Professional ethics &amp; codes of conduct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Ethical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4819818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Overview of Legal Aspects in Software Engineering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498192" cy="840935"/>
          </a:xfrm>
        </p:spPr>
        <p:txBody>
          <a:bodyPr>
            <a:normAutofit/>
          </a:bodyPr>
          <a:lstStyle/>
          <a:p>
            <a:r>
              <a:rPr lang="en-US" dirty="0"/>
              <a:t>Legal Considerations in Software Development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Legal Considerations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engineers must consider legal constraints throughout the development process to avoid violations and protect both users and the company.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Legal aspects often overlap with issues of intellectual property, data security, and compliance.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Relevance in Software Development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Compliance with laws prevents potential lawsuits, financial loss, and reputational damage.</a:t>
            </a:r>
          </a:p>
        </p:txBody>
      </p:sp>
    </p:spTree>
    <p:extLst>
      <p:ext uri="{BB962C8B-B14F-4D97-AF65-F5344CB8AC3E}">
        <p14:creationId xmlns:p14="http://schemas.microsoft.com/office/powerpoint/2010/main" val="264363852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Intellectual Property Rights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498192" cy="840935"/>
          </a:xfrm>
        </p:spPr>
        <p:txBody>
          <a:bodyPr>
            <a:normAutofit/>
          </a:bodyPr>
          <a:lstStyle/>
          <a:p>
            <a:r>
              <a:rPr lang="en-US" dirty="0"/>
              <a:t>Copyrights, Patents, Trademarks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Copyrights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Protects the software code and documentation as original works.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Source code is protected, making unauthorized copying or distribution illegal.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Patents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Protects new, non-obvious inventions and unique processes in software.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Google’s patent on their page-ranking algorithm.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Trademarks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Protects names, symbols, or logos associated with software or services.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Microsoft’s trademark of the Windows logo.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Importance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Intellectual property rights encourage innovation by allowing creators to benefit from their inventions while protecting against misuse.</a:t>
            </a:r>
          </a:p>
        </p:txBody>
      </p:sp>
    </p:spTree>
    <p:extLst>
      <p:ext uri="{BB962C8B-B14F-4D97-AF65-F5344CB8AC3E}">
        <p14:creationId xmlns:p14="http://schemas.microsoft.com/office/powerpoint/2010/main" val="249294855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Licensing Models for Software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498192" cy="840935"/>
          </a:xfrm>
        </p:spPr>
        <p:txBody>
          <a:bodyPr>
            <a:normAutofit/>
          </a:bodyPr>
          <a:lstStyle/>
          <a:p>
            <a:r>
              <a:rPr lang="en-US" dirty="0"/>
              <a:t>Software Licenses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Types of Software Licenses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Proprietary Licenses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Restrict users from modifying, sharing, or redistributing the software.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Open Source Licenses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Allow users to access, modify, and share the source code (e.g., MIT, GPL).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Freeware and Shareware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Software distributed for free or for a limited trial period before payment.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Licensing Importance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Defines how software can be used, distributed, and modified, impacting how developers can engage with the software.</a:t>
            </a:r>
          </a:p>
        </p:txBody>
      </p:sp>
    </p:spTree>
    <p:extLst>
      <p:ext uri="{BB962C8B-B14F-4D97-AF65-F5344CB8AC3E}">
        <p14:creationId xmlns:p14="http://schemas.microsoft.com/office/powerpoint/2010/main" val="76997049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Privacy Laws and Data Protection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498192" cy="840935"/>
          </a:xfrm>
        </p:spPr>
        <p:txBody>
          <a:bodyPr>
            <a:normAutofit/>
          </a:bodyPr>
          <a:lstStyle/>
          <a:p>
            <a:r>
              <a:rPr lang="en-US" dirty="0"/>
              <a:t>GDPR and CCPA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General Data Protection Regulation (GDPR)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European regulation focusing on user data privacy and security, including the right to be forgotten and consent requirements.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California Consumer Privacy Act (CCPA)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Regulates data collection and sharing practices, especially for companies handling personal data of California residents.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Principles of Privacy Laws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Minimization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Only necessary data should be collected.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Purpose Limitation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Data collected should only be used for specified purposes.</a:t>
            </a:r>
          </a:p>
          <a:p>
            <a:pPr lvl="1"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Security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Ensuring data protection from breaches and misuse.</a:t>
            </a:r>
          </a:p>
        </p:txBody>
      </p:sp>
    </p:spTree>
    <p:extLst>
      <p:ext uri="{BB962C8B-B14F-4D97-AF65-F5344CB8AC3E}">
        <p14:creationId xmlns:p14="http://schemas.microsoft.com/office/powerpoint/2010/main" val="277189595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Software Compliance and Regulatory Standards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498192" cy="84093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Overview of Compliance Standards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Standards like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ISO 27001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security management and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PCI-DSS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payment security.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Compliance Matters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Compliance demonstrates a commitment to safety and security, reducing the risk of legal penalties and enhancing trust.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E-commerce sites comply with PCI-DSS standards to securely handle credit card information.</a:t>
            </a:r>
          </a:p>
        </p:txBody>
      </p:sp>
    </p:spTree>
    <p:extLst>
      <p:ext uri="{BB962C8B-B14F-4D97-AF65-F5344CB8AC3E}">
        <p14:creationId xmlns:p14="http://schemas.microsoft.com/office/powerpoint/2010/main" val="329651189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Social Implications of Software Engineering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498192" cy="840935"/>
          </a:xfrm>
        </p:spPr>
        <p:txBody>
          <a:bodyPr>
            <a:normAutofit/>
          </a:bodyPr>
          <a:lstStyle/>
          <a:p>
            <a:r>
              <a:rPr lang="en-US" dirty="0"/>
              <a:t>The Positive and Negative impacts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Positive Impacts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Innovation in software provides benefits like improved communication, access to information, and automation of tasks.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Negative Impacts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Issues such as job displacement, digital divide, and privacy concerns arise with rapid technological advancement.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Social media platforms impact communication but also raise issues of privacy and mental health.</a:t>
            </a:r>
          </a:p>
        </p:txBody>
      </p:sp>
    </p:spTree>
    <p:extLst>
      <p:ext uri="{BB962C8B-B14F-4D97-AF65-F5344CB8AC3E}">
        <p14:creationId xmlns:p14="http://schemas.microsoft.com/office/powerpoint/2010/main" val="121938053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Case Studies on Legal Issues and Social Impact in Software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498192" cy="84093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Case Study 1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Cambridge Analytica</a:t>
            </a: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Discuss the misuse of Facebook data and the impact on user privacy and trust.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Case Study 2: Microsoft and Open Source</a:t>
            </a: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Explore Microsoft’s shift to support open-source software and the legal and social implications of this move.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Discussion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Analyze the lessons learned from each case in terms of legal compliance, social responsibility, and ethical practices.</a:t>
            </a:r>
          </a:p>
        </p:txBody>
      </p:sp>
    </p:spTree>
    <p:extLst>
      <p:ext uri="{BB962C8B-B14F-4D97-AF65-F5344CB8AC3E}">
        <p14:creationId xmlns:p14="http://schemas.microsoft.com/office/powerpoint/2010/main" val="419786746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Understanding Professional Ethics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is Human Flourishing?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According to Harvard’s Human flourishing program:</a:t>
            </a:r>
          </a:p>
          <a:p>
            <a:pPr marL="0" indent="0" algn="just"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Human flourishing is composed of five central domains: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happiness and life satisfaction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mental and physical health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meaning and purpose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character and virtue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close social relationships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0410127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Understanding Professional Ethics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Why Human Flourishing?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Universal Declaration of Human Rights: “All human beings are born free and equal in dignity and rights.”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Declaration of Independence: “We hold these truths to be self- evident...”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Internal Compass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Faith</a:t>
            </a:r>
          </a:p>
        </p:txBody>
      </p:sp>
    </p:spTree>
    <p:extLst>
      <p:ext uri="{BB962C8B-B14F-4D97-AF65-F5344CB8AC3E}">
        <p14:creationId xmlns:p14="http://schemas.microsoft.com/office/powerpoint/2010/main" val="143846593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Understanding Professional Ethics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(UN)Ethical Situations</a:t>
            </a:r>
          </a:p>
        </p:txBody>
      </p:sp>
      <p:pic>
        <p:nvPicPr>
          <p:cNvPr id="6" name="Content Placeholder 5" descr="A screenshot of a video game&#10;&#10;Description automatically generated">
            <a:extLst>
              <a:ext uri="{FF2B5EF4-FFF2-40B4-BE49-F238E27FC236}">
                <a16:creationId xmlns:a16="http://schemas.microsoft.com/office/drawing/2014/main" id="{2AF4FF9F-3D2E-FEB9-D506-ACE581D0749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6" y="3260662"/>
            <a:ext cx="7196079" cy="6606745"/>
          </a:xfrm>
        </p:spPr>
      </p:pic>
      <p:pic>
        <p:nvPicPr>
          <p:cNvPr id="8" name="Picture 7" descr="A pizza restaurant with a pizza sign&#10;&#10;Description automatically generated with medium confidence">
            <a:extLst>
              <a:ext uri="{FF2B5EF4-FFF2-40B4-BE49-F238E27FC236}">
                <a16:creationId xmlns:a16="http://schemas.microsoft.com/office/drawing/2014/main" id="{348F481C-9464-6190-2E52-0580DFAA90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161" y="6564034"/>
            <a:ext cx="6229828" cy="7024780"/>
          </a:xfrm>
          <a:prstGeom prst="rect">
            <a:avLst/>
          </a:prstGeom>
        </p:spPr>
      </p:pic>
      <p:pic>
        <p:nvPicPr>
          <p:cNvPr id="10" name="Picture 9" descr="A group of people boarding an airplane&#10;&#10;Description automatically generated">
            <a:extLst>
              <a:ext uri="{FF2B5EF4-FFF2-40B4-BE49-F238E27FC236}">
                <a16:creationId xmlns:a16="http://schemas.microsoft.com/office/drawing/2014/main" id="{9DC72B52-1BA2-22E7-8A1B-F93B75D541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6694" y="2821501"/>
            <a:ext cx="8150313" cy="834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1277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Understanding Professional Ethics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(UN)Ethical Situations</a:t>
            </a:r>
          </a:p>
        </p:txBody>
      </p:sp>
      <p:pic>
        <p:nvPicPr>
          <p:cNvPr id="9" name="Content Placeholder 8" descr="A black and white text&#10;&#10;Description automatically generated">
            <a:extLst>
              <a:ext uri="{FF2B5EF4-FFF2-40B4-BE49-F238E27FC236}">
                <a16:creationId xmlns:a16="http://schemas.microsoft.com/office/drawing/2014/main" id="{D8DE9564-0676-5B28-AAE8-034813D3BD6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6" y="3260663"/>
            <a:ext cx="11438895" cy="5379004"/>
          </a:xfrm>
        </p:spPr>
      </p:pic>
      <p:pic>
        <p:nvPicPr>
          <p:cNvPr id="12" name="Picture 11" descr="A car with a self-driving system&#10;&#10;Description automatically generated">
            <a:extLst>
              <a:ext uri="{FF2B5EF4-FFF2-40B4-BE49-F238E27FC236}">
                <a16:creationId xmlns:a16="http://schemas.microsoft.com/office/drawing/2014/main" id="{2ED80F49-DDC9-4F4F-9CA5-2B0149795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0911" y="6367485"/>
            <a:ext cx="11438895" cy="734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5955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Understanding Professional Ethics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(UN)Ethical Situations</a:t>
            </a:r>
          </a:p>
        </p:txBody>
      </p:sp>
      <p:pic>
        <p:nvPicPr>
          <p:cNvPr id="8" name="Content Placeholder 7" descr="A close-up of a website&#10;&#10;Description automatically generated">
            <a:extLst>
              <a:ext uri="{FF2B5EF4-FFF2-40B4-BE49-F238E27FC236}">
                <a16:creationId xmlns:a16="http://schemas.microsoft.com/office/drawing/2014/main" id="{DAF0A11E-BB71-65C7-BA81-DC234553123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215" y="3260663"/>
            <a:ext cx="14715569" cy="1015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93992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Understanding Professional Ethics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(UN)Ethical Situations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6CECF21-1CA6-07E3-C0E6-39A798959671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0453" y="3260663"/>
            <a:ext cx="14703093" cy="1023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36097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Understanding Professional Ethics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Therac-25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Bug (race-condition) in software lead to at least 6 deaths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Traced to: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Lack of reporting bugs 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Lack of proper due diligence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Engineers were overconfident, removed hardware locks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Race condition of 8 seconds could lead to problems </a:t>
            </a:r>
          </a:p>
        </p:txBody>
      </p:sp>
      <p:pic>
        <p:nvPicPr>
          <p:cNvPr id="7" name="Picture 6" descr="A diagram of a house&#10;&#10;Description automatically generated">
            <a:extLst>
              <a:ext uri="{FF2B5EF4-FFF2-40B4-BE49-F238E27FC236}">
                <a16:creationId xmlns:a16="http://schemas.microsoft.com/office/drawing/2014/main" id="{BB821ED7-674E-4DE6-ADDF-0FCF165FA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0346" y="3260662"/>
            <a:ext cx="8753782" cy="1049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64354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Understanding Professional Ethics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 and importance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Ethics refers to a set of moral principles guiding professional behavior and decisions in software engineering.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Ethical practices help protect users, enhance trust, and contribute to a positive societal impact.</a:t>
            </a:r>
          </a:p>
          <a:p>
            <a:pPr algn="just"/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38547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Code of Ethics for Software Engineers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Code of Ethics: ACM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an ACM member I will ....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Contribute to society and human well-being. Avoid harm to others.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 honest and trustworthy.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 fair and take action not to discriminate.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Honor property rights including copyrights and patent.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Give proper credit for intellectual property.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Respect the privacy of others. Honor confidentiality. </a:t>
            </a:r>
          </a:p>
        </p:txBody>
      </p:sp>
      <p:pic>
        <p:nvPicPr>
          <p:cNvPr id="6" name="Picture 5" descr="A blue and black logo&#10;&#10;Description automatically generated">
            <a:extLst>
              <a:ext uri="{FF2B5EF4-FFF2-40B4-BE49-F238E27FC236}">
                <a16:creationId xmlns:a16="http://schemas.microsoft.com/office/drawing/2014/main" id="{F5FBE1E2-014A-B8BF-17A5-1D1150899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1656" y="2328649"/>
            <a:ext cx="4928616" cy="18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7924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Code of Ethics for Software Engineers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Code of Ethics: ACM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Research shows that the code of ethics does not appear to affect the decisions made by software developers.</a:t>
            </a:r>
          </a:p>
        </p:txBody>
      </p:sp>
      <p:pic>
        <p:nvPicPr>
          <p:cNvPr id="7" name="Picture 6" descr="A close-up of a document&#10;&#10;Description automatically generated">
            <a:extLst>
              <a:ext uri="{FF2B5EF4-FFF2-40B4-BE49-F238E27FC236}">
                <a16:creationId xmlns:a16="http://schemas.microsoft.com/office/drawing/2014/main" id="{5A54D821-6081-EA95-ECAB-287FC603E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624" y="5072753"/>
            <a:ext cx="17144751" cy="719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9710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Ethical Responsibilities of Software Professionals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do we apply ethics to a field (Software Engineering) that is changes so often?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Remember the Dominos case? The ADA law was written before the first website (1990)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handle this uncertainty about the future, let’s focus on three questions we can ask to remind ourselves to focus on promoting human flourishing. </a:t>
            </a:r>
          </a:p>
        </p:txBody>
      </p:sp>
    </p:spTree>
    <p:extLst>
      <p:ext uri="{BB962C8B-B14F-4D97-AF65-F5344CB8AC3E}">
        <p14:creationId xmlns:p14="http://schemas.microsoft.com/office/powerpoint/2010/main" val="199069191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Ethical Responsibilities of Software Professionals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Responsibilities to Users and Society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Responsibilities to Users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Ensure software safety, security, and accessibility.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Responsibilities to Society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Consider the broader societal impact, such as environmental effects and social welfare.</a:t>
            </a:r>
          </a:p>
        </p:txBody>
      </p:sp>
    </p:spTree>
    <p:extLst>
      <p:ext uri="{BB962C8B-B14F-4D97-AF65-F5344CB8AC3E}">
        <p14:creationId xmlns:p14="http://schemas.microsoft.com/office/powerpoint/2010/main" val="240831959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Ethical Responsibilities of Software Professionals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645903" cy="840935"/>
          </a:xfrm>
        </p:spPr>
        <p:txBody>
          <a:bodyPr>
            <a:normAutofit/>
          </a:bodyPr>
          <a:lstStyle/>
          <a:p>
            <a:r>
              <a:rPr lang="en-US" dirty="0"/>
              <a:t>Three questions to promote human flourishing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742950" indent="-742950" algn="just">
              <a:buFont typeface="+mj-lt"/>
              <a:buAutoNum type="arabicPeriod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Does my software respect the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humanity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the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 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Does my software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amplify positive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behavior, or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negative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behavior for users and society at large? 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Will my software’s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quality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impact the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humanity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others?</a:t>
            </a:r>
          </a:p>
          <a:p>
            <a:pPr marL="0" indent="0" algn="just">
              <a:buNone/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These questions are the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start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the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conversation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but as technology evolves, we must be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vigilant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ensure we are promoting human flourishing </a:t>
            </a:r>
          </a:p>
        </p:txBody>
      </p:sp>
    </p:spTree>
    <p:extLst>
      <p:ext uri="{BB962C8B-B14F-4D97-AF65-F5344CB8AC3E}">
        <p14:creationId xmlns:p14="http://schemas.microsoft.com/office/powerpoint/2010/main" val="3250782190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Ethical Decision-making Models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645903" cy="840935"/>
          </a:xfrm>
        </p:spPr>
        <p:txBody>
          <a:bodyPr>
            <a:normAutofit/>
          </a:bodyPr>
          <a:lstStyle/>
          <a:p>
            <a:r>
              <a:rPr lang="en-US" dirty="0"/>
              <a:t>Steps in ethical decision-making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Identify the issue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Gather information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Consider the impact on stakeholders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Explore alternatives, and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Make a decision based on ethical principles.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Model applied to decide if certain data collection practices are ethical.</a:t>
            </a:r>
          </a:p>
        </p:txBody>
      </p:sp>
    </p:spTree>
    <p:extLst>
      <p:ext uri="{BB962C8B-B14F-4D97-AF65-F5344CB8AC3E}">
        <p14:creationId xmlns:p14="http://schemas.microsoft.com/office/powerpoint/2010/main" val="2672522375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Addressing Ethical Dilemmas in the Workplace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645903" cy="840935"/>
          </a:xfrm>
        </p:spPr>
        <p:txBody>
          <a:bodyPr>
            <a:normAutofit/>
          </a:bodyPr>
          <a:lstStyle/>
          <a:p>
            <a:r>
              <a:rPr lang="en-US" dirty="0"/>
              <a:t>Handling Dilemmas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Techniques for resolving ethical dilemmas, such as seeking advice from mentors or following organizational guidelines.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Handling an ethical conflict between project deadlines and thorough security testing.</a:t>
            </a:r>
          </a:p>
        </p:txBody>
      </p:sp>
    </p:spTree>
    <p:extLst>
      <p:ext uri="{BB962C8B-B14F-4D97-AF65-F5344CB8AC3E}">
        <p14:creationId xmlns:p14="http://schemas.microsoft.com/office/powerpoint/2010/main" val="52540281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Promoting Ethical Practices in Software Teams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645903" cy="840935"/>
          </a:xfrm>
        </p:spPr>
        <p:txBody>
          <a:bodyPr>
            <a:normAutofit/>
          </a:bodyPr>
          <a:lstStyle/>
          <a:p>
            <a:r>
              <a:rPr lang="en-US" dirty="0"/>
              <a:t>Creating an ethical culture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Encouraging open discussion of ethics, setting up channels for reporting ethical concerns, and recognizing ethical conduct.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Implementing peer review processes that include ethical considerations.</a:t>
            </a:r>
          </a:p>
        </p:txBody>
      </p:sp>
    </p:spTree>
    <p:extLst>
      <p:ext uri="{BB962C8B-B14F-4D97-AF65-F5344CB8AC3E}">
        <p14:creationId xmlns:p14="http://schemas.microsoft.com/office/powerpoint/2010/main" val="275829902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C9A3-FB6E-DB3A-36BC-1DB5FA6C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E2DA4-F8BE-01AB-0C23-B97B20B1A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E9782-3C02-FAD4-699A-C827BC99AC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4337538"/>
            <a:ext cx="13714940" cy="6635262"/>
          </a:xfrm>
        </p:spPr>
        <p:txBody>
          <a:bodyPr>
            <a:noAutofit/>
          </a:bodyPr>
          <a:lstStyle/>
          <a:p>
            <a:pPr algn="just"/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Titus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Winters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Tom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Manshreck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Hyrum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Wright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(2020).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Engineering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Google: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Lesson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Learned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from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Programming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Over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1st.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O’Reilly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Media. California. ISBN: 978-1492082798.</a:t>
            </a:r>
          </a:p>
          <a:p>
            <a:pPr algn="just"/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Roger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Pressman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Bruce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Maxim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(2020).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Engineering: A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Practitioner's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Approach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9th.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McGraw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Hill. New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York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ISBN: 978-1259872976.</a:t>
            </a:r>
          </a:p>
          <a:p>
            <a:pPr algn="just"/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Ian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Sommerville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(2016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).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Engineering. 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10th. Pearson. London. ISBN: 978-1-292-09613-1.</a:t>
            </a:r>
          </a:p>
        </p:txBody>
      </p:sp>
    </p:spTree>
    <p:extLst>
      <p:ext uri="{BB962C8B-B14F-4D97-AF65-F5344CB8AC3E}">
        <p14:creationId xmlns:p14="http://schemas.microsoft.com/office/powerpoint/2010/main" val="19761242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91EC78B4-BE4F-3B4D-B302-CF3E80410C1C}" vid="{48571482-A7A2-E44B-AA81-515161122809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TaxCatchAll xmlns="9fdf624c-fedc-4f6c-b928-0c7bf4c9e100" xsi:nil="true"/>
    <_Flow_SignoffStatus xmlns="47793baa-3cbb-486e-a055-4d42ce3882d7" xsi:nil="true"/>
    <_dlc_DocId xmlns="9fdf624c-fedc-4f6c-b928-0c7bf4c9e100">J56STF5CZXNR-2061195910-875156</_dlc_DocId>
    <_dlc_DocIdUrl xmlns="9fdf624c-fedc-4f6c-b928-0c7bf4c9e100">
      <Url>https://binusianorg.sharepoint.com/sites/arc/_layouts/15/DocIdRedir.aspx?ID=J56STF5CZXNR-2061195910-875156</Url>
      <Description>J56STF5CZXNR-2061195910-875156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2E0FE671-25D8-4116-9472-BF9297986C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252D89-D1E6-488A-B078-4573BAE073F6}">
  <ds:schemaRefs>
    <ds:schemaRef ds:uri="http://purl.org/dc/terms/"/>
    <ds:schemaRef ds:uri="2661c1c1-ed05-4275-a33d-64e31eb1ea69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4f26481f-d1e8-4452-9a9a-b303515fd2b7"/>
    <ds:schemaRef ds:uri="http://schemas.microsoft.com/office/2006/metadata/properties"/>
    <ds:schemaRef ds:uri="http://purl.org/dc/dcmitype/"/>
    <ds:schemaRef ds:uri="http://schemas.microsoft.com/sharepoint/v3/fields"/>
    <ds:schemaRef ds:uri="9fdf624c-fedc-4f6c-b928-0c7bf4c9e100"/>
    <ds:schemaRef ds:uri="47793baa-3cbb-486e-a055-4d42ce3882d7"/>
  </ds:schemaRefs>
</ds:datastoreItem>
</file>

<file path=customXml/itemProps3.xml><?xml version="1.0" encoding="utf-8"?>
<ds:datastoreItem xmlns:ds="http://schemas.openxmlformats.org/officeDocument/2006/customXml" ds:itemID="{90A97211-242D-415A-8ADE-6F44C1D92C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CDDAE38A-8264-43C3-9B01-B7FA25F10602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2022</Template>
  <TotalTime>2786</TotalTime>
  <Words>1419</Words>
  <Application>Microsoft Office PowerPoint</Application>
  <PresentationFormat>Custom</PresentationFormat>
  <Paragraphs>157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Open Sans ExtraBold</vt:lpstr>
      <vt:lpstr>Open Sans</vt:lpstr>
      <vt:lpstr>Open Sans Semibold</vt:lpstr>
      <vt:lpstr>Open Sans Light</vt:lpstr>
      <vt:lpstr>OCRB</vt:lpstr>
      <vt:lpstr>21_BasicWhite</vt:lpstr>
      <vt:lpstr>Legal Issues, Social Impact, and Professional Ethics in Software EngineerinG</vt:lpstr>
      <vt:lpstr>Session 25 – Legal Issues, Social Impact, and Professional Ethics in Software EngineerinG</vt:lpstr>
      <vt:lpstr>Session 25 – Legal Issues, Social Impact, and Professional Ethics in Software EngineerinG</vt:lpstr>
      <vt:lpstr>Overview of Legal Aspects in Software Engineering</vt:lpstr>
      <vt:lpstr>Intellectual Property Rights</vt:lpstr>
      <vt:lpstr>Licensing Models for Software</vt:lpstr>
      <vt:lpstr>Privacy Laws and Data Protection</vt:lpstr>
      <vt:lpstr>Software Compliance and Regulatory Standards</vt:lpstr>
      <vt:lpstr>Social Implications of Software Engineering</vt:lpstr>
      <vt:lpstr>Case Studies on Legal Issues and Social Impact in Software</vt:lpstr>
      <vt:lpstr>Understanding Professional Ethics</vt:lpstr>
      <vt:lpstr>Understanding Professional Ethics</vt:lpstr>
      <vt:lpstr>Understanding Professional Ethics</vt:lpstr>
      <vt:lpstr>Understanding Professional Ethics</vt:lpstr>
      <vt:lpstr>Understanding Professional Ethics</vt:lpstr>
      <vt:lpstr>Understanding Professional Ethics</vt:lpstr>
      <vt:lpstr>Understanding Professional Ethics</vt:lpstr>
      <vt:lpstr>Understanding Professional Ethics</vt:lpstr>
      <vt:lpstr>Code of Ethics for Software Engineers</vt:lpstr>
      <vt:lpstr>Code of Ethics for Software Engineers</vt:lpstr>
      <vt:lpstr>Ethical Responsibilities of Software Professionals</vt:lpstr>
      <vt:lpstr>Ethical Responsibilities of Software Professionals</vt:lpstr>
      <vt:lpstr>Ethical Responsibilities of Software Professionals</vt:lpstr>
      <vt:lpstr>Ethical Decision-making Models</vt:lpstr>
      <vt:lpstr>Addressing Ethical Dilemmas in the Workplace</vt:lpstr>
      <vt:lpstr>Promoting Ethical Practices in Software Teams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Aris Priyanto</dc:creator>
  <cp:lastModifiedBy>Maulin Nasari</cp:lastModifiedBy>
  <cp:revision>48</cp:revision>
  <dcterms:created xsi:type="dcterms:W3CDTF">2023-04-06T08:40:27Z</dcterms:created>
  <dcterms:modified xsi:type="dcterms:W3CDTF">2025-12-25T23:13:42Z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a8e96856-29d3-47af-8f22-9a1c34492d36</vt:lpwstr>
  </property>
</Properties>
</file>