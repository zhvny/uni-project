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27"/>
  </p:notesMasterIdLst>
  <p:sldIdLst>
    <p:sldId id="256" r:id="rId6"/>
    <p:sldId id="257" r:id="rId7"/>
    <p:sldId id="258"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284" r:id="rId26"/>
  </p:sldIdLst>
  <p:sldSz cx="24384000" cy="13716000"/>
  <p:notesSz cx="6858000" cy="9144000"/>
  <p:embeddedFontLst>
    <p:embeddedFont>
      <p:font typeface="OCRB" panose="020B0609020202020204" pitchFamily="49" charset="0"/>
      <p:regular r:id="rId28"/>
    </p:embeddedFont>
    <p:embeddedFont>
      <p:font typeface="Open Sans" panose="020B0606030504020204" pitchFamily="34" charset="0"/>
      <p:regular r:id="rId29"/>
      <p:bold r:id="rId30"/>
      <p:italic r:id="rId31"/>
      <p:boldItalic r:id="rId32"/>
    </p:embeddedFont>
    <p:embeddedFont>
      <p:font typeface="Open Sans ExtraBold" panose="020B0906030804020204" pitchFamily="34" charset="0"/>
      <p:bold r:id="rId33"/>
      <p:italic r:id="rId34"/>
      <p:boldItalic r:id="rId35"/>
    </p:embeddedFont>
    <p:embeddedFont>
      <p:font typeface="Open Sans Light" panose="020B0306030504020204" pitchFamily="34" charset="0"/>
      <p:regular r:id="rId36"/>
      <p:italic r:id="rId37"/>
    </p:embeddedFont>
    <p:embeddedFont>
      <p:font typeface="Open Sans Semibold" panose="020B0706030804020204" pitchFamily="34" charset="0"/>
      <p:regular r:id="rId38"/>
      <p:bold r:id="rId39"/>
      <p:italic r:id="rId40"/>
      <p:boldItalic r:id="rId41"/>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3133" autoAdjust="0"/>
    <p:restoredTop sz="96197"/>
  </p:normalViewPr>
  <p:slideViewPr>
    <p:cSldViewPr snapToGrid="0" snapToObjects="1">
      <p:cViewPr varScale="1">
        <p:scale>
          <a:sx n="38" d="100"/>
          <a:sy n="38" d="100"/>
        </p:scale>
        <p:origin x="67" y="144"/>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12.fntdata"/><Relationship Id="rId21" Type="http://schemas.openxmlformats.org/officeDocument/2006/relationships/slide" Target="slides/slide16.xml"/><Relationship Id="rId34" Type="http://schemas.openxmlformats.org/officeDocument/2006/relationships/font" Target="fonts/font7.fntdata"/><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4.fntdata"/><Relationship Id="rId44"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6.fntdata"/><Relationship Id="rId38" Type="http://schemas.openxmlformats.org/officeDocument/2006/relationships/font" Target="fonts/font11.fntdata"/><Relationship Id="rId46"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font" Target="fonts/font1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ulin Nasari" userId="2c02bce8-14a6-4f73-b14a-299518f8dfce" providerId="ADAL" clId="{973AE700-8634-4AC6-A10B-DFA7AFECB9DA}"/>
    <pc:docChg chg="modSld">
      <pc:chgData name="Maulin Nasari" userId="2c02bce8-14a6-4f73-b14a-299518f8dfce" providerId="ADAL" clId="{973AE700-8634-4AC6-A10B-DFA7AFECB9DA}" dt="2025-12-25T09:19:49.974" v="11" actId="20577"/>
      <pc:docMkLst>
        <pc:docMk/>
      </pc:docMkLst>
      <pc:sldChg chg="modSp mod">
        <pc:chgData name="Maulin Nasari" userId="2c02bce8-14a6-4f73-b14a-299518f8dfce" providerId="ADAL" clId="{973AE700-8634-4AC6-A10B-DFA7AFECB9DA}" dt="2025-12-25T09:18:37.370" v="3" actId="20577"/>
        <pc:sldMkLst>
          <pc:docMk/>
          <pc:sldMk cId="3487223446" sldId="256"/>
        </pc:sldMkLst>
        <pc:spChg chg="mod">
          <ac:chgData name="Maulin Nasari" userId="2c02bce8-14a6-4f73-b14a-299518f8dfce" providerId="ADAL" clId="{973AE700-8634-4AC6-A10B-DFA7AFECB9DA}" dt="2025-12-25T09:18:37.370" v="3" actId="20577"/>
          <ac:spMkLst>
            <pc:docMk/>
            <pc:sldMk cId="3487223446" sldId="256"/>
            <ac:spMk id="2" creationId="{CA264C53-F38A-3CAD-0C8A-2BF46116F396}"/>
          </ac:spMkLst>
        </pc:spChg>
      </pc:sldChg>
      <pc:sldChg chg="modSp mod">
        <pc:chgData name="Maulin Nasari" userId="2c02bce8-14a6-4f73-b14a-299518f8dfce" providerId="ADAL" clId="{973AE700-8634-4AC6-A10B-DFA7AFECB9DA}" dt="2025-12-25T09:18:41.570" v="7" actId="20577"/>
        <pc:sldMkLst>
          <pc:docMk/>
          <pc:sldMk cId="3855785854" sldId="257"/>
        </pc:sldMkLst>
        <pc:spChg chg="mod">
          <ac:chgData name="Maulin Nasari" userId="2c02bce8-14a6-4f73-b14a-299518f8dfce" providerId="ADAL" clId="{973AE700-8634-4AC6-A10B-DFA7AFECB9DA}" dt="2025-12-25T09:18:41.570" v="7" actId="20577"/>
          <ac:spMkLst>
            <pc:docMk/>
            <pc:sldMk cId="3855785854" sldId="257"/>
            <ac:spMk id="2" creationId="{F1BF52CD-EA76-003A-7192-0E9167BA3901}"/>
          </ac:spMkLst>
        </pc:spChg>
      </pc:sldChg>
      <pc:sldChg chg="modSp mod">
        <pc:chgData name="Maulin Nasari" userId="2c02bce8-14a6-4f73-b14a-299518f8dfce" providerId="ADAL" clId="{973AE700-8634-4AC6-A10B-DFA7AFECB9DA}" dt="2025-12-25T09:19:49.974" v="11" actId="20577"/>
        <pc:sldMkLst>
          <pc:docMk/>
          <pc:sldMk cId="481981883" sldId="258"/>
        </pc:sldMkLst>
        <pc:spChg chg="mod">
          <ac:chgData name="Maulin Nasari" userId="2c02bce8-14a6-4f73-b14a-299518f8dfce" providerId="ADAL" clId="{973AE700-8634-4AC6-A10B-DFA7AFECB9DA}" dt="2025-12-25T09:19:49.974" v="11" actId="20577"/>
          <ac:spMkLst>
            <pc:docMk/>
            <pc:sldMk cId="481981883" sldId="258"/>
            <ac:spMk id="2" creationId="{F1BF52CD-EA76-003A-7192-0E9167BA390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6" name="Image" descr="Image">
            <a:extLst>
              <a:ext uri="{FF2B5EF4-FFF2-40B4-BE49-F238E27FC236}">
                <a16:creationId xmlns:a16="http://schemas.microsoft.com/office/drawing/2014/main" id="{BBEE18F9-7EE5-444F-AA57-68A6783A5225}"/>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837038" y="9711819"/>
            <a:ext cx="1700105" cy="1700105"/>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0" y="4320116"/>
            <a:ext cx="3535680" cy="353568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7110" y="8648744"/>
            <a:ext cx="1403521" cy="1403521"/>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4"/>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437085"/>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136664"/>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815450"/>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494236"/>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173022"/>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6" name="Image" descr="Image">
            <a:extLst>
              <a:ext uri="{FF2B5EF4-FFF2-40B4-BE49-F238E27FC236}">
                <a16:creationId xmlns:a16="http://schemas.microsoft.com/office/drawing/2014/main" id="{ED3AA748-6163-AF42-8BA4-5A505F8580B0}"/>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11" name="Image" descr="Image">
            <a:extLst>
              <a:ext uri="{FF2B5EF4-FFF2-40B4-BE49-F238E27FC236}">
                <a16:creationId xmlns:a16="http://schemas.microsoft.com/office/drawing/2014/main" id="{5C0CB95F-A575-6E40-8A77-71E4C3CE5D20}"/>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264C53-F38A-3CAD-0C8A-2BF46116F396}"/>
              </a:ext>
            </a:extLst>
          </p:cNvPr>
          <p:cNvSpPr>
            <a:spLocks noGrp="1"/>
          </p:cNvSpPr>
          <p:nvPr>
            <p:ph type="body" sz="quarter" idx="1"/>
          </p:nvPr>
        </p:nvSpPr>
        <p:spPr/>
        <p:txBody>
          <a:bodyPr/>
          <a:lstStyle/>
          <a:p>
            <a:r>
              <a:rPr lang="en-US" dirty="0"/>
              <a:t>COMP6100001 - Software engineering</a:t>
            </a:r>
          </a:p>
          <a:p>
            <a:r>
              <a:rPr lang="en-US" dirty="0"/>
              <a:t>Session 22</a:t>
            </a:r>
          </a:p>
        </p:txBody>
      </p:sp>
      <p:sp>
        <p:nvSpPr>
          <p:cNvPr id="3" name="Title 2">
            <a:extLst>
              <a:ext uri="{FF2B5EF4-FFF2-40B4-BE49-F238E27FC236}">
                <a16:creationId xmlns:a16="http://schemas.microsoft.com/office/drawing/2014/main" id="{1220BAB2-790F-F74A-024A-FC22D1A3E6EA}"/>
              </a:ext>
            </a:extLst>
          </p:cNvPr>
          <p:cNvSpPr>
            <a:spLocks noGrp="1"/>
          </p:cNvSpPr>
          <p:nvPr>
            <p:ph type="title"/>
          </p:nvPr>
        </p:nvSpPr>
        <p:spPr/>
        <p:txBody>
          <a:bodyPr>
            <a:normAutofit/>
          </a:bodyPr>
          <a:lstStyle/>
          <a:p>
            <a:r>
              <a:rPr lang="en-US" dirty="0"/>
              <a:t>Software Process Improvement</a:t>
            </a:r>
          </a:p>
        </p:txBody>
      </p:sp>
      <p:sp>
        <p:nvSpPr>
          <p:cNvPr id="4" name="Text Placeholder 3">
            <a:extLst>
              <a:ext uri="{FF2B5EF4-FFF2-40B4-BE49-F238E27FC236}">
                <a16:creationId xmlns:a16="http://schemas.microsoft.com/office/drawing/2014/main" id="{9E9B89E2-412C-8945-F692-CD51460D9806}"/>
              </a:ext>
            </a:extLst>
          </p:cNvPr>
          <p:cNvSpPr>
            <a:spLocks noGrp="1"/>
          </p:cNvSpPr>
          <p:nvPr>
            <p:ph type="body" sz="quarter" idx="11"/>
          </p:nvPr>
        </p:nvSpPr>
        <p:spPr/>
        <p:txBody>
          <a:bodyPr/>
          <a:lstStyle/>
          <a:p>
            <a:r>
              <a:rPr lang="en-US" dirty="0"/>
              <a:t>Kenny Jingga, </a:t>
            </a:r>
            <a:r>
              <a:rPr lang="en-US" dirty="0" err="1"/>
              <a:t>S.Kom</a:t>
            </a:r>
            <a:r>
              <a:rPr lang="en-US" dirty="0"/>
              <a:t>., M.T.</a:t>
            </a:r>
          </a:p>
        </p:txBody>
      </p:sp>
    </p:spTree>
    <p:extLst>
      <p:ext uri="{BB962C8B-B14F-4D97-AF65-F5344CB8AC3E}">
        <p14:creationId xmlns:p14="http://schemas.microsoft.com/office/powerpoint/2010/main" val="348722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dirty="0"/>
              <a:t>Session 22 – Software Process Improvement</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Learning objectives</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3223274"/>
            <a:ext cx="20711673" cy="10492726"/>
          </a:xfrm>
        </p:spPr>
        <p:txBody>
          <a:bodyPr anchor="ctr">
            <a:normAutofit/>
          </a:bodyPr>
          <a:lstStyle/>
          <a:p>
            <a:pPr marL="0" indent="0" algn="just">
              <a:buNone/>
            </a:pPr>
            <a:r>
              <a:rPr lang="en-US" sz="3600" dirty="0">
                <a:latin typeface="Open Sans" panose="020B0606030504020204" pitchFamily="34" charset="0"/>
                <a:ea typeface="Open Sans" panose="020B0606030504020204" pitchFamily="34" charset="0"/>
                <a:cs typeface="Open Sans" panose="020B0606030504020204" pitchFamily="34" charset="0"/>
              </a:rPr>
              <a:t>At the end of this session, students will be expected to be able to:</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Understand the Concept and Importance of Software Process Improvement (SPI)</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Describe Key Models for Software Process Improvement</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Explore Strategies and Metrics for Effective Process Improvement</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Analyze Case Studies on Real-World SPI Implementation</a:t>
            </a:r>
          </a:p>
        </p:txBody>
      </p:sp>
    </p:spTree>
    <p:extLst>
      <p:ext uri="{BB962C8B-B14F-4D97-AF65-F5344CB8AC3E}">
        <p14:creationId xmlns:p14="http://schemas.microsoft.com/office/powerpoint/2010/main" val="38557858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a:xfrm>
            <a:off x="2167377" y="1872058"/>
            <a:ext cx="18723146" cy="547670"/>
          </a:xfrm>
        </p:spPr>
        <p:txBody>
          <a:bodyPr>
            <a:normAutofit fontScale="90000"/>
          </a:bodyPr>
          <a:lstStyle/>
          <a:p>
            <a:r>
              <a:rPr lang="en-US" dirty="0"/>
              <a:t>Session 22 – Software Process Improvement and METRICS and Measurements</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Content outline</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8381568"/>
          </a:xfrm>
        </p:spPr>
        <p:txBody>
          <a:bodyPr>
            <a:normAutofit/>
          </a:bodyPr>
          <a:lstStyle/>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Introduction to Software Process Improvement (SPI)</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Process Improvement Models</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Strategies for Enhancing Software Processes</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Measuring Process Improvement Success</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Case Studies and Real-world Examples</a:t>
            </a:r>
          </a:p>
        </p:txBody>
      </p:sp>
    </p:spTree>
    <p:extLst>
      <p:ext uri="{BB962C8B-B14F-4D97-AF65-F5344CB8AC3E}">
        <p14:creationId xmlns:p14="http://schemas.microsoft.com/office/powerpoint/2010/main" val="48198188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Introduction to Software Process Improvement (SPI)</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p:txBody>
          <a:bodyPr/>
          <a:lstStyle/>
          <a:p>
            <a:r>
              <a:rPr lang="en-US" dirty="0"/>
              <a:t>Overview and Importance</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19813392" cy="8583279"/>
          </a:xfrm>
        </p:spPr>
        <p:txBody>
          <a:bodyPr anchor="ctr">
            <a:normAutofit lnSpcReduction="10000"/>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Software Process Improvement (SPI)</a:t>
            </a:r>
            <a:r>
              <a:rPr lang="en-US" sz="3600" dirty="0">
                <a:latin typeface="Open Sans" panose="020B0606030504020204" pitchFamily="34" charset="0"/>
                <a:ea typeface="Open Sans" panose="020B0606030504020204" pitchFamily="34" charset="0"/>
                <a:cs typeface="Open Sans" panose="020B0606030504020204" pitchFamily="34" charset="0"/>
              </a:rPr>
              <a:t> refers to the practice of assessing and enhancing software development processes to improve quality, productivity, and predictability. SPI aims to identify weaknesses in current processes and implement changes that lead to better performance and outcomes.</a:t>
            </a:r>
          </a:p>
          <a:p>
            <a:pPr marL="0" indent="0">
              <a:buNone/>
            </a:pPr>
            <a:r>
              <a:rPr lang="en-US" sz="3600" b="1" dirty="0">
                <a:latin typeface="Open Sans" panose="020B0606030504020204" pitchFamily="34" charset="0"/>
                <a:ea typeface="Open Sans" panose="020B0606030504020204" pitchFamily="34" charset="0"/>
                <a:cs typeface="Open Sans" panose="020B0606030504020204" pitchFamily="34" charset="0"/>
              </a:rPr>
              <a:t>Importance of SPI:</a:t>
            </a:r>
          </a:p>
          <a:p>
            <a:r>
              <a:rPr lang="en-US" sz="3600" b="1" dirty="0">
                <a:latin typeface="Open Sans" panose="020B0606030504020204" pitchFamily="34" charset="0"/>
                <a:ea typeface="Open Sans" panose="020B0606030504020204" pitchFamily="34" charset="0"/>
                <a:cs typeface="Open Sans" panose="020B0606030504020204" pitchFamily="34" charset="0"/>
              </a:rPr>
              <a:t>Quality Enhancement</a:t>
            </a:r>
            <a:r>
              <a:rPr lang="en-US" sz="3600" dirty="0">
                <a:latin typeface="Open Sans" panose="020B0606030504020204" pitchFamily="34" charset="0"/>
                <a:ea typeface="Open Sans" panose="020B0606030504020204" pitchFamily="34" charset="0"/>
                <a:cs typeface="Open Sans" panose="020B0606030504020204" pitchFamily="34" charset="0"/>
              </a:rPr>
              <a:t>: Improves the quality of software products.</a:t>
            </a:r>
          </a:p>
          <a:p>
            <a:r>
              <a:rPr lang="en-US" sz="3600" b="1" dirty="0">
                <a:latin typeface="Open Sans" panose="020B0606030504020204" pitchFamily="34" charset="0"/>
                <a:ea typeface="Open Sans" panose="020B0606030504020204" pitchFamily="34" charset="0"/>
                <a:cs typeface="Open Sans" panose="020B0606030504020204" pitchFamily="34" charset="0"/>
              </a:rPr>
              <a:t>Productivity Increase</a:t>
            </a:r>
            <a:r>
              <a:rPr lang="en-US" sz="3600" dirty="0">
                <a:latin typeface="Open Sans" panose="020B0606030504020204" pitchFamily="34" charset="0"/>
                <a:ea typeface="Open Sans" panose="020B0606030504020204" pitchFamily="34" charset="0"/>
                <a:cs typeface="Open Sans" panose="020B0606030504020204" pitchFamily="34" charset="0"/>
              </a:rPr>
              <a:t>: Streamlines processes to reduce time and cost.</a:t>
            </a:r>
          </a:p>
          <a:p>
            <a:r>
              <a:rPr lang="en-US" sz="3600" b="1" dirty="0">
                <a:latin typeface="Open Sans" panose="020B0606030504020204" pitchFamily="34" charset="0"/>
                <a:ea typeface="Open Sans" panose="020B0606030504020204" pitchFamily="34" charset="0"/>
                <a:cs typeface="Open Sans" panose="020B0606030504020204" pitchFamily="34" charset="0"/>
              </a:rPr>
              <a:t>Risk Reduction</a:t>
            </a:r>
            <a:r>
              <a:rPr lang="en-US" sz="3600" dirty="0">
                <a:latin typeface="Open Sans" panose="020B0606030504020204" pitchFamily="34" charset="0"/>
                <a:ea typeface="Open Sans" panose="020B0606030504020204" pitchFamily="34" charset="0"/>
                <a:cs typeface="Open Sans" panose="020B0606030504020204" pitchFamily="34" charset="0"/>
              </a:rPr>
              <a:t>: Identifies and mitigates potential issues early.</a:t>
            </a:r>
          </a:p>
          <a:p>
            <a:r>
              <a:rPr lang="en-US" sz="3600" b="1" dirty="0">
                <a:latin typeface="Open Sans" panose="020B0606030504020204" pitchFamily="34" charset="0"/>
                <a:ea typeface="Open Sans" panose="020B0606030504020204" pitchFamily="34" charset="0"/>
                <a:cs typeface="Open Sans" panose="020B0606030504020204" pitchFamily="34" charset="0"/>
              </a:rPr>
              <a:t>Customer Satisfaction</a:t>
            </a:r>
            <a:r>
              <a:rPr lang="en-US" sz="3600" dirty="0">
                <a:latin typeface="Open Sans" panose="020B0606030504020204" pitchFamily="34" charset="0"/>
                <a:ea typeface="Open Sans" panose="020B0606030504020204" pitchFamily="34" charset="0"/>
                <a:cs typeface="Open Sans" panose="020B0606030504020204" pitchFamily="34" charset="0"/>
              </a:rPr>
              <a:t>: Leads to higher satisfaction through reliable delivery.</a:t>
            </a:r>
          </a:p>
          <a:p>
            <a:r>
              <a:rPr lang="en-US" sz="3600" b="1" dirty="0">
                <a:latin typeface="Open Sans" panose="020B0606030504020204" pitchFamily="34" charset="0"/>
                <a:ea typeface="Open Sans" panose="020B0606030504020204" pitchFamily="34" charset="0"/>
                <a:cs typeface="Open Sans" panose="020B0606030504020204" pitchFamily="34" charset="0"/>
              </a:rPr>
              <a:t>Competitive Advantage</a:t>
            </a:r>
            <a:r>
              <a:rPr lang="en-US" sz="3600" dirty="0">
                <a:latin typeface="Open Sans" panose="020B0606030504020204" pitchFamily="34" charset="0"/>
                <a:ea typeface="Open Sans" panose="020B0606030504020204" pitchFamily="34" charset="0"/>
                <a:cs typeface="Open Sans" panose="020B0606030504020204" pitchFamily="34" charset="0"/>
              </a:rPr>
              <a:t>: Positions organizations better in the market.</a:t>
            </a:r>
          </a:p>
        </p:txBody>
      </p:sp>
    </p:spTree>
    <p:extLst>
      <p:ext uri="{BB962C8B-B14F-4D97-AF65-F5344CB8AC3E}">
        <p14:creationId xmlns:p14="http://schemas.microsoft.com/office/powerpoint/2010/main" val="73838125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Software Process Improvement Models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p:txBody>
          <a:bodyPr/>
          <a:lstStyle/>
          <a:p>
            <a:r>
              <a:rPr lang="en-US" dirty="0"/>
              <a:t>Capability Maturity Model (CMM)</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12374374" cy="8583279"/>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The Capability Maturity Model (CMM) is a framework that describes the key elements of an effective software process.</a:t>
            </a:r>
          </a:p>
          <a:p>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 Provides organizations with guidance on how to gain control of their processes for developing and maintaining software.</a:t>
            </a:r>
          </a:p>
        </p:txBody>
      </p:sp>
      <p:pic>
        <p:nvPicPr>
          <p:cNvPr id="1026" name="Picture 2">
            <a:extLst>
              <a:ext uri="{FF2B5EF4-FFF2-40B4-BE49-F238E27FC236}">
                <a16:creationId xmlns:a16="http://schemas.microsoft.com/office/drawing/2014/main" id="{3982525F-2F11-591C-BBB0-825FAA8DA5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41751" y="2127198"/>
            <a:ext cx="9842249" cy="5645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636735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Software Process Improvement Models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7" y="2419727"/>
            <a:ext cx="11970654" cy="840935"/>
          </a:xfrm>
        </p:spPr>
        <p:txBody>
          <a:bodyPr>
            <a:normAutofit/>
          </a:bodyPr>
          <a:lstStyle/>
          <a:p>
            <a:r>
              <a:rPr lang="en-US" dirty="0"/>
              <a:t>Capability Maturity Model (CMM): Maturity Levels</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6" y="3260663"/>
            <a:ext cx="22216623" cy="8583279"/>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Initial (Level 1)</a:t>
            </a:r>
            <a:r>
              <a:rPr lang="en-US" sz="3600" dirty="0">
                <a:latin typeface="Open Sans" panose="020B0606030504020204" pitchFamily="34" charset="0"/>
                <a:ea typeface="Open Sans" panose="020B0606030504020204" pitchFamily="34" charset="0"/>
                <a:cs typeface="Open Sans" panose="020B0606030504020204" pitchFamily="34" charset="0"/>
              </a:rPr>
              <a:t>: Processes are unpredictable, poorly controlled, and reactive.</a:t>
            </a:r>
          </a:p>
          <a:p>
            <a:r>
              <a:rPr lang="en-US" sz="3600" b="1" dirty="0">
                <a:latin typeface="Open Sans" panose="020B0606030504020204" pitchFamily="34" charset="0"/>
                <a:ea typeface="Open Sans" panose="020B0606030504020204" pitchFamily="34" charset="0"/>
                <a:cs typeface="Open Sans" panose="020B0606030504020204" pitchFamily="34" charset="0"/>
              </a:rPr>
              <a:t>Repeatable (Level 2)</a:t>
            </a:r>
            <a:r>
              <a:rPr lang="en-US" sz="3600" dirty="0">
                <a:latin typeface="Open Sans" panose="020B0606030504020204" pitchFamily="34" charset="0"/>
                <a:ea typeface="Open Sans" panose="020B0606030504020204" pitchFamily="34" charset="0"/>
                <a:cs typeface="Open Sans" panose="020B0606030504020204" pitchFamily="34" charset="0"/>
              </a:rPr>
              <a:t>: Basic project management processes are established to track cost, schedule, and functionality.</a:t>
            </a:r>
          </a:p>
          <a:p>
            <a:r>
              <a:rPr lang="en-US" sz="3600" b="1" dirty="0">
                <a:latin typeface="Open Sans" panose="020B0606030504020204" pitchFamily="34" charset="0"/>
                <a:ea typeface="Open Sans" panose="020B0606030504020204" pitchFamily="34" charset="0"/>
                <a:cs typeface="Open Sans" panose="020B0606030504020204" pitchFamily="34" charset="0"/>
              </a:rPr>
              <a:t>Defined (Level 3)</a:t>
            </a:r>
            <a:r>
              <a:rPr lang="en-US" sz="3600" dirty="0">
                <a:latin typeface="Open Sans" panose="020B0606030504020204" pitchFamily="34" charset="0"/>
                <a:ea typeface="Open Sans" panose="020B0606030504020204" pitchFamily="34" charset="0"/>
                <a:cs typeface="Open Sans" panose="020B0606030504020204" pitchFamily="34" charset="0"/>
              </a:rPr>
              <a:t>: Processes are documented, standardized, and integrated into a standard process for the organization.</a:t>
            </a:r>
          </a:p>
          <a:p>
            <a:r>
              <a:rPr lang="en-US" sz="3600" b="1" dirty="0">
                <a:latin typeface="Open Sans" panose="020B0606030504020204" pitchFamily="34" charset="0"/>
                <a:ea typeface="Open Sans" panose="020B0606030504020204" pitchFamily="34" charset="0"/>
                <a:cs typeface="Open Sans" panose="020B0606030504020204" pitchFamily="34" charset="0"/>
              </a:rPr>
              <a:t>Managed (Level 4)</a:t>
            </a:r>
            <a:r>
              <a:rPr lang="en-US" sz="3600" dirty="0">
                <a:latin typeface="Open Sans" panose="020B0606030504020204" pitchFamily="34" charset="0"/>
                <a:ea typeface="Open Sans" panose="020B0606030504020204" pitchFamily="34" charset="0"/>
                <a:cs typeface="Open Sans" panose="020B0606030504020204" pitchFamily="34" charset="0"/>
              </a:rPr>
              <a:t>: Detailed measures of the software process and product quality are collected and controlled.</a:t>
            </a:r>
          </a:p>
          <a:p>
            <a:r>
              <a:rPr lang="en-US" sz="3600" b="1" dirty="0">
                <a:latin typeface="Open Sans" panose="020B0606030504020204" pitchFamily="34" charset="0"/>
                <a:ea typeface="Open Sans" panose="020B0606030504020204" pitchFamily="34" charset="0"/>
                <a:cs typeface="Open Sans" panose="020B0606030504020204" pitchFamily="34" charset="0"/>
              </a:rPr>
              <a:t>Optimizing (Level 5)</a:t>
            </a:r>
            <a:r>
              <a:rPr lang="en-US" sz="3600" dirty="0">
                <a:latin typeface="Open Sans" panose="020B0606030504020204" pitchFamily="34" charset="0"/>
                <a:ea typeface="Open Sans" panose="020B0606030504020204" pitchFamily="34" charset="0"/>
                <a:cs typeface="Open Sans" panose="020B0606030504020204" pitchFamily="34" charset="0"/>
              </a:rPr>
              <a:t>: Continuous process improvement is enabled by quantitative feedback and from piloting innovative ideas and technologies.</a:t>
            </a:r>
          </a:p>
        </p:txBody>
      </p:sp>
    </p:spTree>
    <p:extLst>
      <p:ext uri="{BB962C8B-B14F-4D97-AF65-F5344CB8AC3E}">
        <p14:creationId xmlns:p14="http://schemas.microsoft.com/office/powerpoint/2010/main" val="276964576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Software Process Improvement Models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7" y="2419727"/>
            <a:ext cx="15171054" cy="840936"/>
          </a:xfrm>
        </p:spPr>
        <p:txBody>
          <a:bodyPr>
            <a:normAutofit/>
          </a:bodyPr>
          <a:lstStyle/>
          <a:p>
            <a:r>
              <a:rPr lang="en-US" dirty="0"/>
              <a:t>Capability Maturity Model (CMM): Key Process Area (KPAs)</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6" y="3260663"/>
            <a:ext cx="22216623" cy="8583279"/>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Level 2 KPAs</a:t>
            </a:r>
            <a:r>
              <a:rPr lang="en-US" sz="3600" dirty="0">
                <a:latin typeface="Open Sans" panose="020B0606030504020204" pitchFamily="34" charset="0"/>
                <a:ea typeface="Open Sans" panose="020B0606030504020204" pitchFamily="34" charset="0"/>
                <a:cs typeface="Open Sans" panose="020B0606030504020204" pitchFamily="34" charset="0"/>
              </a:rPr>
              <a:t>: Requirements Management, Project Planning, Project Tracking and Oversight, Subcontract Management, Quality Assurance, Configuration Management.</a:t>
            </a:r>
          </a:p>
          <a:p>
            <a:r>
              <a:rPr lang="en-US" sz="3600" b="1" dirty="0">
                <a:latin typeface="Open Sans" panose="020B0606030504020204" pitchFamily="34" charset="0"/>
                <a:ea typeface="Open Sans" panose="020B0606030504020204" pitchFamily="34" charset="0"/>
                <a:cs typeface="Open Sans" panose="020B0606030504020204" pitchFamily="34" charset="0"/>
              </a:rPr>
              <a:t>Level 3 KPAs</a:t>
            </a:r>
            <a:r>
              <a:rPr lang="en-US" sz="3600" dirty="0">
                <a:latin typeface="Open Sans" panose="020B0606030504020204" pitchFamily="34" charset="0"/>
                <a:ea typeface="Open Sans" panose="020B0606030504020204" pitchFamily="34" charset="0"/>
                <a:cs typeface="Open Sans" panose="020B0606030504020204" pitchFamily="34" charset="0"/>
              </a:rPr>
              <a:t>: Organization Process Focus, Process Definition, Training Program, Integrated Software Management, Product Engineering, Intergroup Coordination, Peer Reviews.</a:t>
            </a:r>
          </a:p>
          <a:p>
            <a:r>
              <a:rPr lang="en-US" sz="3600" b="1" dirty="0">
                <a:latin typeface="Open Sans" panose="020B0606030504020204" pitchFamily="34" charset="0"/>
                <a:ea typeface="Open Sans" panose="020B0606030504020204" pitchFamily="34" charset="0"/>
                <a:cs typeface="Open Sans" panose="020B0606030504020204" pitchFamily="34" charset="0"/>
              </a:rPr>
              <a:t>Level 4 KPAs</a:t>
            </a:r>
            <a:r>
              <a:rPr lang="en-US" sz="3600" dirty="0">
                <a:latin typeface="Open Sans" panose="020B0606030504020204" pitchFamily="34" charset="0"/>
                <a:ea typeface="Open Sans" panose="020B0606030504020204" pitchFamily="34" charset="0"/>
                <a:cs typeface="Open Sans" panose="020B0606030504020204" pitchFamily="34" charset="0"/>
              </a:rPr>
              <a:t>: Quantitative Process Management, Software Quality Management.</a:t>
            </a:r>
          </a:p>
          <a:p>
            <a:r>
              <a:rPr lang="en-US" sz="3600" b="1" dirty="0">
                <a:latin typeface="Open Sans" panose="020B0606030504020204" pitchFamily="34" charset="0"/>
                <a:ea typeface="Open Sans" panose="020B0606030504020204" pitchFamily="34" charset="0"/>
                <a:cs typeface="Open Sans" panose="020B0606030504020204" pitchFamily="34" charset="0"/>
              </a:rPr>
              <a:t>Level 5 KPAs</a:t>
            </a:r>
            <a:r>
              <a:rPr lang="en-US" sz="3600" dirty="0">
                <a:latin typeface="Open Sans" panose="020B0606030504020204" pitchFamily="34" charset="0"/>
                <a:ea typeface="Open Sans" panose="020B0606030504020204" pitchFamily="34" charset="0"/>
                <a:cs typeface="Open Sans" panose="020B0606030504020204" pitchFamily="34" charset="0"/>
              </a:rPr>
              <a:t>: Defect Prevention, Technology Change Management, Process Change Management.</a:t>
            </a:r>
          </a:p>
        </p:txBody>
      </p:sp>
    </p:spTree>
    <p:extLst>
      <p:ext uri="{BB962C8B-B14F-4D97-AF65-F5344CB8AC3E}">
        <p14:creationId xmlns:p14="http://schemas.microsoft.com/office/powerpoint/2010/main" val="124960210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Software Process Improvement Models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7" y="2419727"/>
            <a:ext cx="15171054" cy="840936"/>
          </a:xfrm>
        </p:spPr>
        <p:txBody>
          <a:bodyPr>
            <a:normAutofit/>
          </a:bodyPr>
          <a:lstStyle/>
          <a:p>
            <a:r>
              <a:rPr lang="en-US" dirty="0"/>
              <a:t>Benefits and Criticisms of CMM</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6" y="3260663"/>
            <a:ext cx="22216623" cy="8583279"/>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Benefits:</a:t>
            </a:r>
          </a:p>
          <a:p>
            <a:pPr lvl="1">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Improved Quality</a:t>
            </a:r>
            <a:r>
              <a:rPr lang="en-US" sz="3600" dirty="0">
                <a:latin typeface="Open Sans" panose="020B0606030504020204" pitchFamily="34" charset="0"/>
                <a:ea typeface="Open Sans" panose="020B0606030504020204" pitchFamily="34" charset="0"/>
                <a:cs typeface="Open Sans" panose="020B0606030504020204" pitchFamily="34" charset="0"/>
              </a:rPr>
              <a:t>: Systematic processes lead to higher quality products.</a:t>
            </a:r>
          </a:p>
          <a:p>
            <a:pPr lvl="1">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Predictability</a:t>
            </a:r>
            <a:r>
              <a:rPr lang="en-US" sz="3600" dirty="0">
                <a:latin typeface="Open Sans" panose="020B0606030504020204" pitchFamily="34" charset="0"/>
                <a:ea typeface="Open Sans" panose="020B0606030504020204" pitchFamily="34" charset="0"/>
                <a:cs typeface="Open Sans" panose="020B0606030504020204" pitchFamily="34" charset="0"/>
              </a:rPr>
              <a:t>: Better estimation of schedules and costs.</a:t>
            </a:r>
          </a:p>
          <a:p>
            <a:pPr lvl="1">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Customer Satisfaction</a:t>
            </a:r>
            <a:r>
              <a:rPr lang="en-US" sz="3600" dirty="0">
                <a:latin typeface="Open Sans" panose="020B0606030504020204" pitchFamily="34" charset="0"/>
                <a:ea typeface="Open Sans" panose="020B0606030504020204" pitchFamily="34" charset="0"/>
                <a:cs typeface="Open Sans" panose="020B0606030504020204" pitchFamily="34" charset="0"/>
              </a:rPr>
              <a:t>: Enhanced reliability and delivery.</a:t>
            </a:r>
          </a:p>
          <a:p>
            <a:pPr lvl="1">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Process Improvement</a:t>
            </a:r>
            <a:r>
              <a:rPr lang="en-US" sz="3600" dirty="0">
                <a:latin typeface="Open Sans" panose="020B0606030504020204" pitchFamily="34" charset="0"/>
                <a:ea typeface="Open Sans" panose="020B0606030504020204" pitchFamily="34" charset="0"/>
                <a:cs typeface="Open Sans" panose="020B0606030504020204" pitchFamily="34" charset="0"/>
              </a:rPr>
              <a:t>: Framework for continuous improvement.</a:t>
            </a:r>
          </a:p>
          <a:p>
            <a:r>
              <a:rPr lang="en-US" sz="3600" b="1" dirty="0">
                <a:latin typeface="Open Sans" panose="020B0606030504020204" pitchFamily="34" charset="0"/>
                <a:ea typeface="Open Sans" panose="020B0606030504020204" pitchFamily="34" charset="0"/>
                <a:cs typeface="Open Sans" panose="020B0606030504020204" pitchFamily="34" charset="0"/>
              </a:rPr>
              <a:t>Criticisms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Cost and Time</a:t>
            </a:r>
            <a:r>
              <a:rPr lang="en-US" sz="3600" dirty="0">
                <a:latin typeface="Open Sans" panose="020B0606030504020204" pitchFamily="34" charset="0"/>
                <a:ea typeface="Open Sans" panose="020B0606030504020204" pitchFamily="34" charset="0"/>
                <a:cs typeface="Open Sans" panose="020B0606030504020204" pitchFamily="34" charset="0"/>
              </a:rPr>
              <a:t>: Implementation can be expensive and time-consuming.</a:t>
            </a:r>
          </a:p>
          <a:p>
            <a:pPr lvl="1">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Rigidity</a:t>
            </a:r>
            <a:r>
              <a:rPr lang="en-US" sz="3600" dirty="0">
                <a:latin typeface="Open Sans" panose="020B0606030504020204" pitchFamily="34" charset="0"/>
                <a:ea typeface="Open Sans" panose="020B0606030504020204" pitchFamily="34" charset="0"/>
                <a:cs typeface="Open Sans" panose="020B0606030504020204" pitchFamily="34" charset="0"/>
              </a:rPr>
              <a:t>: May not suit all organizational cultures, especially smaller or more agile ones.</a:t>
            </a:r>
          </a:p>
        </p:txBody>
      </p:sp>
    </p:spTree>
    <p:extLst>
      <p:ext uri="{BB962C8B-B14F-4D97-AF65-F5344CB8AC3E}">
        <p14:creationId xmlns:p14="http://schemas.microsoft.com/office/powerpoint/2010/main" val="52703140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Software Process Improvement Models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7" y="2419727"/>
            <a:ext cx="15171054" cy="840936"/>
          </a:xfrm>
        </p:spPr>
        <p:txBody>
          <a:bodyPr>
            <a:normAutofit/>
          </a:bodyPr>
          <a:lstStyle/>
          <a:p>
            <a:r>
              <a:rPr lang="en-US" dirty="0"/>
              <a:t>Other SPI Models: ISO/IEC 15504 (SPICE)</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6" y="3260663"/>
            <a:ext cx="22216623" cy="8583279"/>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An international standard for software process assessment.</a:t>
            </a:r>
          </a:p>
          <a:p>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 Provides a framework for assessing the maturity of software development processes.</a:t>
            </a:r>
          </a:p>
          <a:p>
            <a:r>
              <a:rPr lang="en-US" sz="3600" b="1" dirty="0">
                <a:latin typeface="Open Sans" panose="020B0606030504020204" pitchFamily="34" charset="0"/>
                <a:ea typeface="Open Sans" panose="020B0606030504020204" pitchFamily="34" charset="0"/>
                <a:cs typeface="Open Sans" panose="020B0606030504020204" pitchFamily="34" charset="0"/>
              </a:rPr>
              <a:t>Process Capability Levels</a:t>
            </a:r>
            <a:r>
              <a:rPr lang="en-US" sz="3600" dirty="0">
                <a:latin typeface="Open Sans" panose="020B0606030504020204" pitchFamily="34" charset="0"/>
                <a:ea typeface="Open Sans" panose="020B0606030504020204" pitchFamily="34" charset="0"/>
                <a:cs typeface="Open Sans" panose="020B0606030504020204" pitchFamily="34" charset="0"/>
              </a:rPr>
              <a:t>: Incomplete, Performed, Managed, Established, Predictable, Optimizing.</a:t>
            </a:r>
          </a:p>
        </p:txBody>
      </p:sp>
      <p:pic>
        <p:nvPicPr>
          <p:cNvPr id="3074" name="Picture 2">
            <a:extLst>
              <a:ext uri="{FF2B5EF4-FFF2-40B4-BE49-F238E27FC236}">
                <a16:creationId xmlns:a16="http://schemas.microsoft.com/office/drawing/2014/main" id="{EA15FC4F-3EC6-8B1E-7038-F29EF6CE2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3129" y="1710671"/>
            <a:ext cx="7000870" cy="3937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44981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Software Process Improvement Models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7" y="2419727"/>
            <a:ext cx="15171054" cy="840936"/>
          </a:xfrm>
        </p:spPr>
        <p:txBody>
          <a:bodyPr>
            <a:normAutofit/>
          </a:bodyPr>
          <a:lstStyle/>
          <a:p>
            <a:r>
              <a:rPr lang="en-US" dirty="0"/>
              <a:t>Other SPI Models: Six Sigma</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10024623" cy="8583279"/>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A data-driven approach for eliminating defects and improving quality in any process.</a:t>
            </a:r>
          </a:p>
          <a:p>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 Aims for near perfection in process performance.</a:t>
            </a:r>
          </a:p>
          <a:p>
            <a:r>
              <a:rPr lang="en-US" sz="3600" b="1" dirty="0">
                <a:latin typeface="Open Sans" panose="020B0606030504020204" pitchFamily="34" charset="0"/>
                <a:ea typeface="Open Sans" panose="020B0606030504020204" pitchFamily="34" charset="0"/>
                <a:cs typeface="Open Sans" panose="020B0606030504020204" pitchFamily="34" charset="0"/>
              </a:rPr>
              <a:t>Key Concepts</a:t>
            </a:r>
            <a:r>
              <a:rPr lang="en-US" sz="3600" dirty="0">
                <a:latin typeface="Open Sans" panose="020B0606030504020204" pitchFamily="34" charset="0"/>
                <a:ea typeface="Open Sans" panose="020B0606030504020204" pitchFamily="34" charset="0"/>
                <a:cs typeface="Open Sans" panose="020B0606030504020204" pitchFamily="34" charset="0"/>
              </a:rPr>
              <a:t>: DMAIC methodology (Define, Measure, Analyze, Improve, Control).</a:t>
            </a:r>
          </a:p>
        </p:txBody>
      </p:sp>
      <p:pic>
        <p:nvPicPr>
          <p:cNvPr id="5122" name="Picture 2">
            <a:extLst>
              <a:ext uri="{FF2B5EF4-FFF2-40B4-BE49-F238E27FC236}">
                <a16:creationId xmlns:a16="http://schemas.microsoft.com/office/drawing/2014/main" id="{E47A8FD6-9689-EE5B-003D-D30919F051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0" y="3298051"/>
            <a:ext cx="12192000" cy="8255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26292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Strategies for enhancing software processes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7" y="2419727"/>
            <a:ext cx="15171054" cy="840936"/>
          </a:xfrm>
        </p:spPr>
        <p:txBody>
          <a:bodyPr>
            <a:normAutofit/>
          </a:bodyPr>
          <a:lstStyle/>
          <a:p>
            <a:r>
              <a:rPr lang="en-US" dirty="0"/>
              <a:t>1. Process Assessment</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22216623" cy="8583279"/>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lvl="1"/>
            <a:r>
              <a:rPr lang="en-US" sz="3600" dirty="0">
                <a:latin typeface="Open Sans" panose="020B0606030504020204" pitchFamily="34" charset="0"/>
                <a:ea typeface="Open Sans" panose="020B0606030504020204" pitchFamily="34" charset="0"/>
                <a:cs typeface="Open Sans" panose="020B0606030504020204" pitchFamily="34" charset="0"/>
              </a:rPr>
              <a:t>Evaluate current processes to identify strengths and weaknesses.</a:t>
            </a:r>
          </a:p>
          <a:p>
            <a:pPr lvl="1"/>
            <a:r>
              <a:rPr lang="en-US" sz="3600" dirty="0">
                <a:latin typeface="Open Sans" panose="020B0606030504020204" pitchFamily="34" charset="0"/>
                <a:ea typeface="Open Sans" panose="020B0606030504020204" pitchFamily="34" charset="0"/>
                <a:cs typeface="Open Sans" panose="020B0606030504020204" pitchFamily="34" charset="0"/>
              </a:rPr>
              <a:t>Establish a baseline for improvement.</a:t>
            </a:r>
          </a:p>
          <a:p>
            <a:r>
              <a:rPr lang="en-US" sz="3600" b="1" dirty="0">
                <a:latin typeface="Open Sans" panose="020B0606030504020204" pitchFamily="34" charset="0"/>
                <a:ea typeface="Open Sans" panose="020B0606030504020204" pitchFamily="34" charset="0"/>
                <a:cs typeface="Open Sans" panose="020B0606030504020204" pitchFamily="34" charset="0"/>
              </a:rPr>
              <a:t>Methods</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lvl="1"/>
            <a:r>
              <a:rPr lang="en-US" sz="3600" b="1" dirty="0">
                <a:latin typeface="Open Sans" panose="020B0606030504020204" pitchFamily="34" charset="0"/>
                <a:ea typeface="Open Sans" panose="020B0606030504020204" pitchFamily="34" charset="0"/>
                <a:cs typeface="Open Sans" panose="020B0606030504020204" pitchFamily="34" charset="0"/>
              </a:rPr>
              <a:t>Appraisals and Audits</a:t>
            </a:r>
            <a:r>
              <a:rPr lang="en-US" sz="3600" dirty="0">
                <a:latin typeface="Open Sans" panose="020B0606030504020204" pitchFamily="34" charset="0"/>
                <a:ea typeface="Open Sans" panose="020B0606030504020204" pitchFamily="34" charset="0"/>
                <a:cs typeface="Open Sans" panose="020B0606030504020204" pitchFamily="34" charset="0"/>
              </a:rPr>
              <a:t>: Formal evaluations against standards like CMM.</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Surveys and Interviews</a:t>
            </a:r>
            <a:r>
              <a:rPr lang="en-US" sz="3600" dirty="0">
                <a:latin typeface="Open Sans" panose="020B0606030504020204" pitchFamily="34" charset="0"/>
                <a:ea typeface="Open Sans" panose="020B0606030504020204" pitchFamily="34" charset="0"/>
                <a:cs typeface="Open Sans" panose="020B0606030504020204" pitchFamily="34" charset="0"/>
              </a:rPr>
              <a:t>: Gathering input from team members and stakeholders.</a:t>
            </a:r>
          </a:p>
          <a:p>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7874980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Strategies for enhancing software processes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7" y="2419727"/>
            <a:ext cx="15171054" cy="840936"/>
          </a:xfrm>
        </p:spPr>
        <p:txBody>
          <a:bodyPr>
            <a:normAutofit/>
          </a:bodyPr>
          <a:lstStyle/>
          <a:p>
            <a:r>
              <a:rPr lang="en-US" dirty="0"/>
              <a:t>2. Process Modeling and Analysis</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22216623" cy="8583279"/>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lvl="1"/>
            <a:r>
              <a:rPr lang="en-US" sz="3600" dirty="0">
                <a:latin typeface="Open Sans" panose="020B0606030504020204" pitchFamily="34" charset="0"/>
                <a:ea typeface="Open Sans" panose="020B0606030504020204" pitchFamily="34" charset="0"/>
                <a:cs typeface="Open Sans" panose="020B0606030504020204" pitchFamily="34" charset="0"/>
              </a:rPr>
              <a:t>Understand and visualize existing processes.</a:t>
            </a:r>
          </a:p>
          <a:p>
            <a:pPr lvl="1"/>
            <a:r>
              <a:rPr lang="en-US" sz="3600" dirty="0">
                <a:latin typeface="Open Sans" panose="020B0606030504020204" pitchFamily="34" charset="0"/>
                <a:ea typeface="Open Sans" panose="020B0606030504020204" pitchFamily="34" charset="0"/>
                <a:cs typeface="Open Sans" panose="020B0606030504020204" pitchFamily="34" charset="0"/>
              </a:rPr>
              <a:t>Identify inefficiencies and bottlenecks.</a:t>
            </a:r>
          </a:p>
          <a:p>
            <a:r>
              <a:rPr lang="en-US" sz="3600" b="1" dirty="0">
                <a:latin typeface="Open Sans" panose="020B0606030504020204" pitchFamily="34" charset="0"/>
                <a:ea typeface="Open Sans" panose="020B0606030504020204" pitchFamily="34" charset="0"/>
                <a:cs typeface="Open Sans" panose="020B0606030504020204" pitchFamily="34" charset="0"/>
              </a:rPr>
              <a:t>Techniques</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lvl="1"/>
            <a:r>
              <a:rPr lang="en-US" sz="3600" b="1" dirty="0">
                <a:latin typeface="Open Sans" panose="020B0606030504020204" pitchFamily="34" charset="0"/>
                <a:ea typeface="Open Sans" panose="020B0606030504020204" pitchFamily="34" charset="0"/>
                <a:cs typeface="Open Sans" panose="020B0606030504020204" pitchFamily="34" charset="0"/>
              </a:rPr>
              <a:t>Flowcharts</a:t>
            </a:r>
            <a:r>
              <a:rPr lang="en-US" sz="3600" dirty="0">
                <a:latin typeface="Open Sans" panose="020B0606030504020204" pitchFamily="34" charset="0"/>
                <a:ea typeface="Open Sans" panose="020B0606030504020204" pitchFamily="34" charset="0"/>
                <a:cs typeface="Open Sans" panose="020B0606030504020204" pitchFamily="34" charset="0"/>
              </a:rPr>
              <a:t>: Visual representations of process steps.</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Unified Modeling Language (UML)</a:t>
            </a:r>
            <a:r>
              <a:rPr lang="en-US" sz="3600" dirty="0">
                <a:latin typeface="Open Sans" panose="020B0606030504020204" pitchFamily="34" charset="0"/>
                <a:ea typeface="Open Sans" panose="020B0606030504020204" pitchFamily="34" charset="0"/>
                <a:cs typeface="Open Sans" panose="020B0606030504020204" pitchFamily="34" charset="0"/>
              </a:rPr>
              <a:t>: Standardized modeling language for specifying, visualizing, and documenting processes.</a:t>
            </a:r>
          </a:p>
        </p:txBody>
      </p:sp>
    </p:spTree>
    <p:extLst>
      <p:ext uri="{BB962C8B-B14F-4D97-AF65-F5344CB8AC3E}">
        <p14:creationId xmlns:p14="http://schemas.microsoft.com/office/powerpoint/2010/main" val="317770902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Strategies for enhancing software processes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7" y="2419727"/>
            <a:ext cx="15171054" cy="840936"/>
          </a:xfrm>
        </p:spPr>
        <p:txBody>
          <a:bodyPr>
            <a:normAutofit/>
          </a:bodyPr>
          <a:lstStyle/>
          <a:p>
            <a:r>
              <a:rPr lang="en-US" dirty="0"/>
              <a:t>3. Change Management</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22216623" cy="8583279"/>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Importance</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lvl="1"/>
            <a:r>
              <a:rPr lang="en-US" sz="3600" dirty="0">
                <a:latin typeface="Open Sans" panose="020B0606030504020204" pitchFamily="34" charset="0"/>
                <a:ea typeface="Open Sans" panose="020B0606030504020204" pitchFamily="34" charset="0"/>
                <a:cs typeface="Open Sans" panose="020B0606030504020204" pitchFamily="34" charset="0"/>
              </a:rPr>
              <a:t>Effective SPI requires managing the human and organizational aspects of change.</a:t>
            </a:r>
          </a:p>
          <a:p>
            <a:pPr lvl="1"/>
            <a:r>
              <a:rPr lang="en-US" sz="3600" dirty="0">
                <a:latin typeface="Open Sans" panose="020B0606030504020204" pitchFamily="34" charset="0"/>
                <a:ea typeface="Open Sans" panose="020B0606030504020204" pitchFamily="34" charset="0"/>
                <a:cs typeface="Open Sans" panose="020B0606030504020204" pitchFamily="34" charset="0"/>
              </a:rPr>
              <a:t>Resistance to change can impede process improvement efforts.</a:t>
            </a:r>
          </a:p>
          <a:p>
            <a:r>
              <a:rPr lang="en-US" sz="3600" b="1" dirty="0">
                <a:latin typeface="Open Sans" panose="020B0606030504020204" pitchFamily="34" charset="0"/>
                <a:ea typeface="Open Sans" panose="020B0606030504020204" pitchFamily="34" charset="0"/>
                <a:cs typeface="Open Sans" panose="020B0606030504020204" pitchFamily="34" charset="0"/>
              </a:rPr>
              <a:t>Strategies</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lvl="1"/>
            <a:r>
              <a:rPr lang="en-US" sz="3600" b="1" dirty="0">
                <a:latin typeface="Open Sans" panose="020B0606030504020204" pitchFamily="34" charset="0"/>
                <a:ea typeface="Open Sans" panose="020B0606030504020204" pitchFamily="34" charset="0"/>
                <a:cs typeface="Open Sans" panose="020B0606030504020204" pitchFamily="34" charset="0"/>
              </a:rPr>
              <a:t>Communication</a:t>
            </a:r>
            <a:r>
              <a:rPr lang="en-US" sz="3600" dirty="0">
                <a:latin typeface="Open Sans" panose="020B0606030504020204" pitchFamily="34" charset="0"/>
                <a:ea typeface="Open Sans" panose="020B0606030504020204" pitchFamily="34" charset="0"/>
                <a:cs typeface="Open Sans" panose="020B0606030504020204" pitchFamily="34" charset="0"/>
              </a:rPr>
              <a:t>: Clearly explain the need and benefits of changes.</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Training</a:t>
            </a:r>
            <a:r>
              <a:rPr lang="en-US" sz="3600" dirty="0">
                <a:latin typeface="Open Sans" panose="020B0606030504020204" pitchFamily="34" charset="0"/>
                <a:ea typeface="Open Sans" panose="020B0606030504020204" pitchFamily="34" charset="0"/>
                <a:cs typeface="Open Sans" panose="020B0606030504020204" pitchFamily="34" charset="0"/>
              </a:rPr>
              <a:t>: Equip team members with necessary skills and knowledge.</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Involvement</a:t>
            </a:r>
            <a:r>
              <a:rPr lang="en-US" sz="3600" dirty="0">
                <a:latin typeface="Open Sans" panose="020B0606030504020204" pitchFamily="34" charset="0"/>
                <a:ea typeface="Open Sans" panose="020B0606030504020204" pitchFamily="34" charset="0"/>
                <a:cs typeface="Open Sans" panose="020B0606030504020204" pitchFamily="34" charset="0"/>
              </a:rPr>
              <a:t>: Engage stakeholders in the change process.</a:t>
            </a:r>
          </a:p>
        </p:txBody>
      </p:sp>
    </p:spTree>
    <p:extLst>
      <p:ext uri="{BB962C8B-B14F-4D97-AF65-F5344CB8AC3E}">
        <p14:creationId xmlns:p14="http://schemas.microsoft.com/office/powerpoint/2010/main" val="422015265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Strategies for enhancing software processes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7" y="2419727"/>
            <a:ext cx="15171054" cy="840936"/>
          </a:xfrm>
        </p:spPr>
        <p:txBody>
          <a:bodyPr>
            <a:normAutofit/>
          </a:bodyPr>
          <a:lstStyle/>
          <a:p>
            <a:r>
              <a:rPr lang="en-US" dirty="0"/>
              <a:t>4. Continuous Improvement Practices</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22216623" cy="10455337"/>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Kaizen</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lvl="1"/>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A Japanese term meaning "change for better" or continuous improvement.</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Application</a:t>
            </a:r>
            <a:r>
              <a:rPr lang="en-US" sz="3600" dirty="0">
                <a:latin typeface="Open Sans" panose="020B0606030504020204" pitchFamily="34" charset="0"/>
                <a:ea typeface="Open Sans" panose="020B0606030504020204" pitchFamily="34" charset="0"/>
                <a:cs typeface="Open Sans" panose="020B0606030504020204" pitchFamily="34" charset="0"/>
              </a:rPr>
              <a:t>: Implement small, incremental changes regularly.</a:t>
            </a:r>
          </a:p>
          <a:p>
            <a:r>
              <a:rPr lang="en-US" sz="3600" b="1" dirty="0">
                <a:latin typeface="Open Sans" panose="020B0606030504020204" pitchFamily="34" charset="0"/>
                <a:ea typeface="Open Sans" panose="020B0606030504020204" pitchFamily="34" charset="0"/>
                <a:cs typeface="Open Sans" panose="020B0606030504020204" pitchFamily="34" charset="0"/>
              </a:rPr>
              <a:t>Plan-Do-Check-Act (PDCA) Cycle</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lvl="1"/>
            <a:r>
              <a:rPr lang="en-US" sz="3600" b="1" dirty="0">
                <a:latin typeface="Open Sans" panose="020B0606030504020204" pitchFamily="34" charset="0"/>
                <a:ea typeface="Open Sans" panose="020B0606030504020204" pitchFamily="34" charset="0"/>
                <a:cs typeface="Open Sans" panose="020B0606030504020204" pitchFamily="34" charset="0"/>
              </a:rPr>
              <a:t>Plan</a:t>
            </a:r>
            <a:r>
              <a:rPr lang="en-US" sz="3600" dirty="0">
                <a:latin typeface="Open Sans" panose="020B0606030504020204" pitchFamily="34" charset="0"/>
                <a:ea typeface="Open Sans" panose="020B0606030504020204" pitchFamily="34" charset="0"/>
                <a:cs typeface="Open Sans" panose="020B0606030504020204" pitchFamily="34" charset="0"/>
              </a:rPr>
              <a:t>: Identify an opportunity and plan for change.</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Do</a:t>
            </a:r>
            <a:r>
              <a:rPr lang="en-US" sz="3600" dirty="0">
                <a:latin typeface="Open Sans" panose="020B0606030504020204" pitchFamily="34" charset="0"/>
                <a:ea typeface="Open Sans" panose="020B0606030504020204" pitchFamily="34" charset="0"/>
                <a:cs typeface="Open Sans" panose="020B0606030504020204" pitchFamily="34" charset="0"/>
              </a:rPr>
              <a:t>: Implement the change on a small scale.</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Check</a:t>
            </a:r>
            <a:r>
              <a:rPr lang="en-US" sz="3600" dirty="0">
                <a:latin typeface="Open Sans" panose="020B0606030504020204" pitchFamily="34" charset="0"/>
                <a:ea typeface="Open Sans" panose="020B0606030504020204" pitchFamily="34" charset="0"/>
                <a:cs typeface="Open Sans" panose="020B0606030504020204" pitchFamily="34" charset="0"/>
              </a:rPr>
              <a:t>: Analyze the results of the change.</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Act</a:t>
            </a:r>
            <a:r>
              <a:rPr lang="en-US" sz="3600" dirty="0">
                <a:latin typeface="Open Sans" panose="020B0606030504020204" pitchFamily="34" charset="0"/>
                <a:ea typeface="Open Sans" panose="020B0606030504020204" pitchFamily="34" charset="0"/>
                <a:cs typeface="Open Sans" panose="020B0606030504020204" pitchFamily="34" charset="0"/>
              </a:rPr>
              <a:t>: If successful, implement it on a larger scale.</a:t>
            </a:r>
          </a:p>
        </p:txBody>
      </p:sp>
    </p:spTree>
    <p:extLst>
      <p:ext uri="{BB962C8B-B14F-4D97-AF65-F5344CB8AC3E}">
        <p14:creationId xmlns:p14="http://schemas.microsoft.com/office/powerpoint/2010/main" val="288106520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Measuring process improvement success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7" y="2419727"/>
            <a:ext cx="15171054" cy="840936"/>
          </a:xfrm>
        </p:spPr>
        <p:txBody>
          <a:bodyPr>
            <a:normAutofit/>
          </a:bodyPr>
          <a:lstStyle/>
          <a:p>
            <a:r>
              <a:rPr lang="en-US" dirty="0"/>
              <a:t>Key Performance Indicators (KPIs)</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22216623" cy="10455337"/>
          </a:xfrm>
        </p:spPr>
        <p:txBody>
          <a:bodyPr anchor="ctr">
            <a:normAutofit/>
          </a:bodyPr>
          <a:lstStyle/>
          <a:p>
            <a:r>
              <a:rPr lang="en-US" sz="3600" dirty="0">
                <a:latin typeface="Open Sans" panose="020B0606030504020204" pitchFamily="34" charset="0"/>
                <a:ea typeface="Open Sans" panose="020B0606030504020204" pitchFamily="34" charset="0"/>
                <a:cs typeface="Open Sans" panose="020B0606030504020204" pitchFamily="34" charset="0"/>
              </a:rPr>
              <a:t>Quantifiable measures used to evaluate the success of an organization or process in meeting objectives.</a:t>
            </a:r>
          </a:p>
          <a:p>
            <a:r>
              <a:rPr lang="en-US" sz="3600" b="1" dirty="0">
                <a:latin typeface="Open Sans" panose="020B0606030504020204" pitchFamily="34" charset="0"/>
                <a:ea typeface="Open Sans" panose="020B0606030504020204" pitchFamily="34" charset="0"/>
                <a:cs typeface="Open Sans" panose="020B0606030504020204" pitchFamily="34" charset="0"/>
              </a:rPr>
              <a:t>Common Software Process KPIs</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lvl="1"/>
            <a:r>
              <a:rPr lang="en-US" sz="3600" b="1" dirty="0">
                <a:latin typeface="Open Sans" panose="020B0606030504020204" pitchFamily="34" charset="0"/>
                <a:ea typeface="Open Sans" panose="020B0606030504020204" pitchFamily="34" charset="0"/>
                <a:cs typeface="Open Sans" panose="020B0606030504020204" pitchFamily="34" charset="0"/>
              </a:rPr>
              <a:t>Defect Density</a:t>
            </a:r>
            <a:r>
              <a:rPr lang="en-US" sz="3600" dirty="0">
                <a:latin typeface="Open Sans" panose="020B0606030504020204" pitchFamily="34" charset="0"/>
                <a:ea typeface="Open Sans" panose="020B0606030504020204" pitchFamily="34" charset="0"/>
                <a:cs typeface="Open Sans" panose="020B0606030504020204" pitchFamily="34" charset="0"/>
              </a:rPr>
              <a:t>: Number of defects per size unit (e.g., per 1,000 lines of code).</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Cycle Time</a:t>
            </a:r>
            <a:r>
              <a:rPr lang="en-US" sz="3600" dirty="0">
                <a:latin typeface="Open Sans" panose="020B0606030504020204" pitchFamily="34" charset="0"/>
                <a:ea typeface="Open Sans" panose="020B0606030504020204" pitchFamily="34" charset="0"/>
                <a:cs typeface="Open Sans" panose="020B0606030504020204" pitchFamily="34" charset="0"/>
              </a:rPr>
              <a:t>: Time taken to complete a process from start to finish.</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Customer Satisfaction Index</a:t>
            </a:r>
            <a:r>
              <a:rPr lang="en-US" sz="3600" dirty="0">
                <a:latin typeface="Open Sans" panose="020B0606030504020204" pitchFamily="34" charset="0"/>
                <a:ea typeface="Open Sans" panose="020B0606030504020204" pitchFamily="34" charset="0"/>
                <a:cs typeface="Open Sans" panose="020B0606030504020204" pitchFamily="34" charset="0"/>
              </a:rPr>
              <a:t>: Feedback scores from customers.</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Return on Investment (ROI)</a:t>
            </a:r>
            <a:r>
              <a:rPr lang="en-US" sz="3600" dirty="0">
                <a:latin typeface="Open Sans" panose="020B0606030504020204" pitchFamily="34" charset="0"/>
                <a:ea typeface="Open Sans" panose="020B0606030504020204" pitchFamily="34" charset="0"/>
                <a:cs typeface="Open Sans" panose="020B0606030504020204" pitchFamily="34" charset="0"/>
              </a:rPr>
              <a:t>: Financial benefits gained from process improvements.</a:t>
            </a:r>
          </a:p>
        </p:txBody>
      </p:sp>
    </p:spTree>
    <p:extLst>
      <p:ext uri="{BB962C8B-B14F-4D97-AF65-F5344CB8AC3E}">
        <p14:creationId xmlns:p14="http://schemas.microsoft.com/office/powerpoint/2010/main" val="15507103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Measuring process improvement success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7" y="2419727"/>
            <a:ext cx="15171054" cy="840936"/>
          </a:xfrm>
        </p:spPr>
        <p:txBody>
          <a:bodyPr>
            <a:normAutofit/>
          </a:bodyPr>
          <a:lstStyle/>
          <a:p>
            <a:r>
              <a:rPr lang="en-US" dirty="0"/>
              <a:t>Metrics and Measurement Techniques</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22216623" cy="10455337"/>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Importance of Metrics</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lvl="1"/>
            <a:r>
              <a:rPr lang="en-US" sz="3600" dirty="0">
                <a:latin typeface="Open Sans" panose="020B0606030504020204" pitchFamily="34" charset="0"/>
                <a:ea typeface="Open Sans" panose="020B0606030504020204" pitchFamily="34" charset="0"/>
                <a:cs typeface="Open Sans" panose="020B0606030504020204" pitchFamily="34" charset="0"/>
              </a:rPr>
              <a:t>Provides objective data to assess process performance.</a:t>
            </a:r>
          </a:p>
          <a:p>
            <a:pPr lvl="1"/>
            <a:r>
              <a:rPr lang="en-US" sz="3600" dirty="0">
                <a:latin typeface="Open Sans" panose="020B0606030504020204" pitchFamily="34" charset="0"/>
                <a:ea typeface="Open Sans" panose="020B0606030504020204" pitchFamily="34" charset="0"/>
                <a:cs typeface="Open Sans" panose="020B0606030504020204" pitchFamily="34" charset="0"/>
              </a:rPr>
              <a:t>Facilitates informed decision-making.</a:t>
            </a:r>
          </a:p>
          <a:p>
            <a:r>
              <a:rPr lang="en-US" sz="3600" b="1" dirty="0">
                <a:latin typeface="Open Sans" panose="020B0606030504020204" pitchFamily="34" charset="0"/>
                <a:ea typeface="Open Sans" panose="020B0606030504020204" pitchFamily="34" charset="0"/>
                <a:cs typeface="Open Sans" panose="020B0606030504020204" pitchFamily="34" charset="0"/>
              </a:rPr>
              <a:t>Types of Metrics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Product Metrics: </a:t>
            </a:r>
            <a:r>
              <a:rPr lang="en-US" sz="3600" dirty="0">
                <a:latin typeface="Open Sans" panose="020B0606030504020204" pitchFamily="34" charset="0"/>
                <a:ea typeface="Open Sans" panose="020B0606030504020204" pitchFamily="34" charset="0"/>
                <a:cs typeface="Open Sans" panose="020B0606030504020204" pitchFamily="34" charset="0"/>
              </a:rPr>
              <a:t>Measure characteristics of the software product (e.g., size, complexity).</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Process Metrics</a:t>
            </a:r>
            <a:r>
              <a:rPr lang="en-US" sz="3600" dirty="0">
                <a:latin typeface="Open Sans" panose="020B0606030504020204" pitchFamily="34" charset="0"/>
                <a:ea typeface="Open Sans" panose="020B0606030504020204" pitchFamily="34" charset="0"/>
                <a:cs typeface="Open Sans" panose="020B0606030504020204" pitchFamily="34" charset="0"/>
              </a:rPr>
              <a:t>: Measure aspects of the development process (e.g., effort, time).</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Project Metrics</a:t>
            </a:r>
            <a:r>
              <a:rPr lang="en-US" sz="3600" dirty="0">
                <a:latin typeface="Open Sans" panose="020B0606030504020204" pitchFamily="34" charset="0"/>
                <a:ea typeface="Open Sans" panose="020B0606030504020204" pitchFamily="34" charset="0"/>
                <a:cs typeface="Open Sans" panose="020B0606030504020204" pitchFamily="34" charset="0"/>
              </a:rPr>
              <a:t>: Measure project progress and performance (e.g., schedule variance).</a:t>
            </a:r>
          </a:p>
          <a:p>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8965809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Measuring process improvement success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7" y="2419727"/>
            <a:ext cx="15171054" cy="840936"/>
          </a:xfrm>
        </p:spPr>
        <p:txBody>
          <a:bodyPr>
            <a:normAutofit/>
          </a:bodyPr>
          <a:lstStyle/>
          <a:p>
            <a:r>
              <a:rPr lang="en-US" dirty="0"/>
              <a:t>Benchmarking</a:t>
            </a:r>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22216623" cy="10455337"/>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r>
              <a:rPr lang="en-US" sz="3600" dirty="0">
                <a:latin typeface="Open Sans" panose="020B0606030504020204" pitchFamily="34" charset="0"/>
                <a:ea typeface="Open Sans" panose="020B0606030504020204" pitchFamily="34" charset="0"/>
                <a:cs typeface="Open Sans" panose="020B0606030504020204" pitchFamily="34" charset="0"/>
              </a:rPr>
              <a:t>Comparing one's processes and performance metrics to industry bests or best practices from other organizations.</a:t>
            </a:r>
          </a:p>
          <a:p>
            <a:r>
              <a:rPr lang="en-US" sz="3600" b="1" dirty="0">
                <a:latin typeface="Open Sans" panose="020B0606030504020204" pitchFamily="34" charset="0"/>
                <a:ea typeface="Open Sans" panose="020B0606030504020204" pitchFamily="34" charset="0"/>
                <a:cs typeface="Open Sans" panose="020B0606030504020204" pitchFamily="34" charset="0"/>
              </a:rPr>
              <a:t>Benefits</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lvl="1"/>
            <a:r>
              <a:rPr lang="en-US" sz="3600" dirty="0">
                <a:latin typeface="Open Sans" panose="020B0606030504020204" pitchFamily="34" charset="0"/>
                <a:ea typeface="Open Sans" panose="020B0606030504020204" pitchFamily="34" charset="0"/>
                <a:cs typeface="Open Sans" panose="020B0606030504020204" pitchFamily="34" charset="0"/>
              </a:rPr>
              <a:t>Identifies performance gaps.</a:t>
            </a:r>
          </a:p>
          <a:p>
            <a:pPr lvl="1"/>
            <a:r>
              <a:rPr lang="en-US" sz="3600" dirty="0">
                <a:latin typeface="Open Sans" panose="020B0606030504020204" pitchFamily="34" charset="0"/>
                <a:ea typeface="Open Sans" panose="020B0606030504020204" pitchFamily="34" charset="0"/>
                <a:cs typeface="Open Sans" panose="020B0606030504020204" pitchFamily="34" charset="0"/>
              </a:rPr>
              <a:t>Provides insights into best practices.</a:t>
            </a:r>
          </a:p>
          <a:p>
            <a:pPr lvl="1"/>
            <a:r>
              <a:rPr lang="en-US" sz="3600" dirty="0">
                <a:latin typeface="Open Sans" panose="020B0606030504020204" pitchFamily="34" charset="0"/>
                <a:ea typeface="Open Sans" panose="020B0606030504020204" pitchFamily="34" charset="0"/>
                <a:cs typeface="Open Sans" panose="020B0606030504020204" pitchFamily="34" charset="0"/>
              </a:rPr>
              <a:t>Sets realistic improvement goals.</a:t>
            </a:r>
          </a:p>
          <a:p>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2401704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Case Studies and Real-world Examples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6" y="2382339"/>
            <a:ext cx="17105361" cy="878324"/>
          </a:xfrm>
        </p:spPr>
        <p:txBody>
          <a:bodyPr>
            <a:normAutofit/>
          </a:bodyPr>
          <a:lstStyle/>
          <a:p>
            <a:r>
              <a:rPr lang="en-ID" dirty="0"/>
              <a:t>Case Study: Implementing CMM in a Mid-sized Software Company</a:t>
            </a:r>
            <a:endParaRPr lang="en-US" dirty="0"/>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22216623" cy="10455337"/>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Background</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r>
              <a:rPr lang="en-US" sz="3600" dirty="0">
                <a:latin typeface="Open Sans" panose="020B0606030504020204" pitchFamily="34" charset="0"/>
                <a:ea typeface="Open Sans" panose="020B0606030504020204" pitchFamily="34" charset="0"/>
                <a:cs typeface="Open Sans" panose="020B0606030504020204" pitchFamily="34" charset="0"/>
              </a:rPr>
              <a:t>A mid-sized software development company faced issues with project delays and high defect rates.</a:t>
            </a:r>
          </a:p>
          <a:p>
            <a:pPr lvl="1"/>
            <a:r>
              <a:rPr lang="en-US" sz="3600" dirty="0">
                <a:latin typeface="Open Sans" panose="020B0606030504020204" pitchFamily="34" charset="0"/>
                <a:ea typeface="Open Sans" panose="020B0606030504020204" pitchFamily="34" charset="0"/>
                <a:cs typeface="Open Sans" panose="020B0606030504020204" pitchFamily="34" charset="0"/>
              </a:rPr>
              <a:t>Decided to adopt CMM Level 3 to improve processes.</a:t>
            </a:r>
          </a:p>
        </p:txBody>
      </p:sp>
    </p:spTree>
    <p:extLst>
      <p:ext uri="{BB962C8B-B14F-4D97-AF65-F5344CB8AC3E}">
        <p14:creationId xmlns:p14="http://schemas.microsoft.com/office/powerpoint/2010/main" val="115385009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Case Studies and Real-world Examples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6" y="2382339"/>
            <a:ext cx="17105361" cy="878324"/>
          </a:xfrm>
        </p:spPr>
        <p:txBody>
          <a:bodyPr>
            <a:normAutofit/>
          </a:bodyPr>
          <a:lstStyle/>
          <a:p>
            <a:r>
              <a:rPr lang="en-ID" dirty="0"/>
              <a:t>Case Study: Implementing CMM in a Mid-sized Software Company</a:t>
            </a:r>
            <a:endParaRPr lang="en-US" dirty="0"/>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22216623" cy="10455337"/>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Implementation Steps</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marL="742950" indent="-742950">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Assessment</a:t>
            </a:r>
            <a:r>
              <a:rPr lang="en-US" sz="3600" dirty="0">
                <a:latin typeface="Open Sans" panose="020B0606030504020204" pitchFamily="34" charset="0"/>
                <a:ea typeface="Open Sans" panose="020B0606030504020204" pitchFamily="34" charset="0"/>
                <a:cs typeface="Open Sans" panose="020B0606030504020204" pitchFamily="34" charset="0"/>
              </a:rPr>
              <a:t>: Conducted a gap analysis to identify areas needing improvement.</a:t>
            </a:r>
          </a:p>
          <a:p>
            <a:pPr marL="742950" indent="-742950">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Training</a:t>
            </a:r>
            <a:r>
              <a:rPr lang="en-US" sz="3600" dirty="0">
                <a:latin typeface="Open Sans" panose="020B0606030504020204" pitchFamily="34" charset="0"/>
                <a:ea typeface="Open Sans" panose="020B0606030504020204" pitchFamily="34" charset="0"/>
                <a:cs typeface="Open Sans" panose="020B0606030504020204" pitchFamily="34" charset="0"/>
              </a:rPr>
              <a:t>: Provided CMM training to staff.</a:t>
            </a:r>
          </a:p>
          <a:p>
            <a:pPr marL="742950" indent="-742950">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Process</a:t>
            </a:r>
            <a:r>
              <a:rPr lang="en-US" sz="3600" dirty="0">
                <a:latin typeface="Open Sans" panose="020B0606030504020204" pitchFamily="34" charset="0"/>
                <a:ea typeface="Open Sans" panose="020B0606030504020204" pitchFamily="34" charset="0"/>
                <a:cs typeface="Open Sans" panose="020B0606030504020204" pitchFamily="34" charset="0"/>
              </a:rPr>
              <a:t> Definition: Developed standardized processes and documentation.</a:t>
            </a:r>
          </a:p>
          <a:p>
            <a:pPr marL="742950" indent="-742950">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Pilot Projects</a:t>
            </a:r>
            <a:r>
              <a:rPr lang="en-US" sz="3600" dirty="0">
                <a:latin typeface="Open Sans" panose="020B0606030504020204" pitchFamily="34" charset="0"/>
                <a:ea typeface="Open Sans" panose="020B0606030504020204" pitchFamily="34" charset="0"/>
                <a:cs typeface="Open Sans" panose="020B0606030504020204" pitchFamily="34" charset="0"/>
              </a:rPr>
              <a:t>: Implemented new processes in select projects.</a:t>
            </a:r>
          </a:p>
          <a:p>
            <a:pPr marL="742950" indent="-742950">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Review and Refine</a:t>
            </a:r>
            <a:r>
              <a:rPr lang="en-US" sz="3600" dirty="0">
                <a:latin typeface="Open Sans" panose="020B0606030504020204" pitchFamily="34" charset="0"/>
                <a:ea typeface="Open Sans" panose="020B0606030504020204" pitchFamily="34" charset="0"/>
                <a:cs typeface="Open Sans" panose="020B0606030504020204" pitchFamily="34" charset="0"/>
              </a:rPr>
              <a:t>: Collected feedback and made necessary adjustments.</a:t>
            </a:r>
          </a:p>
        </p:txBody>
      </p:sp>
    </p:spTree>
    <p:extLst>
      <p:ext uri="{BB962C8B-B14F-4D97-AF65-F5344CB8AC3E}">
        <p14:creationId xmlns:p14="http://schemas.microsoft.com/office/powerpoint/2010/main" val="219500864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5B56-017C-73B3-601F-13E224A2F2A2}"/>
              </a:ext>
            </a:extLst>
          </p:cNvPr>
          <p:cNvSpPr>
            <a:spLocks noGrp="1"/>
          </p:cNvSpPr>
          <p:nvPr>
            <p:ph type="title"/>
          </p:nvPr>
        </p:nvSpPr>
        <p:spPr/>
        <p:txBody>
          <a:bodyPr>
            <a:normAutofit fontScale="90000"/>
          </a:bodyPr>
          <a:lstStyle/>
          <a:p>
            <a:r>
              <a:rPr lang="en-US" dirty="0"/>
              <a:t>Case Studies and Real-world Examples</a:t>
            </a:r>
          </a:p>
        </p:txBody>
      </p:sp>
      <p:sp>
        <p:nvSpPr>
          <p:cNvPr id="3" name="Text Placeholder 2">
            <a:extLst>
              <a:ext uri="{FF2B5EF4-FFF2-40B4-BE49-F238E27FC236}">
                <a16:creationId xmlns:a16="http://schemas.microsoft.com/office/drawing/2014/main" id="{760C7571-7808-96E4-1C12-38428A345DAD}"/>
              </a:ext>
            </a:extLst>
          </p:cNvPr>
          <p:cNvSpPr>
            <a:spLocks noGrp="1"/>
          </p:cNvSpPr>
          <p:nvPr>
            <p:ph type="body" sz="quarter" idx="10"/>
          </p:nvPr>
        </p:nvSpPr>
        <p:spPr>
          <a:xfrm>
            <a:off x="2167376" y="2382339"/>
            <a:ext cx="17105361" cy="878324"/>
          </a:xfrm>
        </p:spPr>
        <p:txBody>
          <a:bodyPr>
            <a:normAutofit/>
          </a:bodyPr>
          <a:lstStyle/>
          <a:p>
            <a:r>
              <a:rPr lang="en-ID" dirty="0"/>
              <a:t>Case Study: Implementing CMM in a Mid-sized Software Company</a:t>
            </a:r>
            <a:endParaRPr lang="en-US" dirty="0"/>
          </a:p>
        </p:txBody>
      </p:sp>
      <p:sp>
        <p:nvSpPr>
          <p:cNvPr id="4" name="Content Placeholder 3">
            <a:extLst>
              <a:ext uri="{FF2B5EF4-FFF2-40B4-BE49-F238E27FC236}">
                <a16:creationId xmlns:a16="http://schemas.microsoft.com/office/drawing/2014/main" id="{99691F7E-ECE6-BBF0-DCE7-5B58C4A1D179}"/>
              </a:ext>
            </a:extLst>
          </p:cNvPr>
          <p:cNvSpPr>
            <a:spLocks noGrp="1"/>
          </p:cNvSpPr>
          <p:nvPr>
            <p:ph sz="quarter" idx="11"/>
          </p:nvPr>
        </p:nvSpPr>
        <p:spPr>
          <a:xfrm>
            <a:off x="2167377" y="3260663"/>
            <a:ext cx="22216623" cy="10455337"/>
          </a:xfrm>
        </p:spPr>
        <p:txBody>
          <a:bodyPr anchor="ctr">
            <a:normAutofit/>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Results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Improved Quality: </a:t>
            </a:r>
            <a:r>
              <a:rPr lang="en-US" sz="3600" dirty="0">
                <a:latin typeface="Open Sans" panose="020B0606030504020204" pitchFamily="34" charset="0"/>
                <a:ea typeface="Open Sans" panose="020B0606030504020204" pitchFamily="34" charset="0"/>
                <a:cs typeface="Open Sans" panose="020B0606030504020204" pitchFamily="34" charset="0"/>
              </a:rPr>
              <a:t>Defect rates reduced by 30%.</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On-time Delivery: </a:t>
            </a:r>
            <a:r>
              <a:rPr lang="en-US" sz="3600" dirty="0">
                <a:latin typeface="Open Sans" panose="020B0606030504020204" pitchFamily="34" charset="0"/>
                <a:ea typeface="Open Sans" panose="020B0606030504020204" pitchFamily="34" charset="0"/>
                <a:cs typeface="Open Sans" panose="020B0606030504020204" pitchFamily="34" charset="0"/>
              </a:rPr>
              <a:t>Project delays decreased significantly.</a:t>
            </a:r>
          </a:p>
          <a:p>
            <a:pPr lvl="1"/>
            <a:r>
              <a:rPr lang="en-US" sz="3600" b="1" dirty="0">
                <a:latin typeface="Open Sans" panose="020B0606030504020204" pitchFamily="34" charset="0"/>
                <a:ea typeface="Open Sans" panose="020B0606030504020204" pitchFamily="34" charset="0"/>
                <a:cs typeface="Open Sans" panose="020B0606030504020204" pitchFamily="34" charset="0"/>
              </a:rPr>
              <a:t>Customer Satisfaction: </a:t>
            </a:r>
            <a:r>
              <a:rPr lang="en-US" sz="3600" dirty="0">
                <a:latin typeface="Open Sans" panose="020B0606030504020204" pitchFamily="34" charset="0"/>
                <a:ea typeface="Open Sans" panose="020B0606030504020204" pitchFamily="34" charset="0"/>
                <a:cs typeface="Open Sans" panose="020B0606030504020204" pitchFamily="34" charset="0"/>
              </a:rPr>
              <a:t>Positive feedback from clients increased.</a:t>
            </a:r>
          </a:p>
        </p:txBody>
      </p:sp>
    </p:spTree>
    <p:extLst>
      <p:ext uri="{BB962C8B-B14F-4D97-AF65-F5344CB8AC3E}">
        <p14:creationId xmlns:p14="http://schemas.microsoft.com/office/powerpoint/2010/main" val="362630976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C9A3-FB6E-DB3A-36BC-1DB5FA6C0129}"/>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053E2DA4-F8BE-01AB-0C23-B97B20B1AE7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EAE9782-3C02-FAD4-699A-C827BC99AC35}"/>
              </a:ext>
            </a:extLst>
          </p:cNvPr>
          <p:cNvSpPr>
            <a:spLocks noGrp="1"/>
          </p:cNvSpPr>
          <p:nvPr>
            <p:ph sz="quarter" idx="11"/>
          </p:nvPr>
        </p:nvSpPr>
        <p:spPr>
          <a:xfrm>
            <a:off x="2167377" y="3260663"/>
            <a:ext cx="19883731" cy="8583279"/>
          </a:xfrm>
        </p:spPr>
        <p:txBody>
          <a:bodyPr anchor="ctr">
            <a:normAutofit/>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Paulk, M. C., Curtis, B., </a:t>
            </a:r>
            <a:r>
              <a:rPr lang="en-US" sz="3600" dirty="0" err="1">
                <a:latin typeface="Open Sans" panose="020B0606030504020204" pitchFamily="34" charset="0"/>
                <a:ea typeface="Open Sans" panose="020B0606030504020204" pitchFamily="34" charset="0"/>
                <a:cs typeface="Open Sans" panose="020B0606030504020204" pitchFamily="34" charset="0"/>
              </a:rPr>
              <a:t>Chrissis</a:t>
            </a:r>
            <a:r>
              <a:rPr lang="en-US" sz="3600" dirty="0">
                <a:latin typeface="Open Sans" panose="020B0606030504020204" pitchFamily="34" charset="0"/>
                <a:ea typeface="Open Sans" panose="020B0606030504020204" pitchFamily="34" charset="0"/>
                <a:cs typeface="Open Sans" panose="020B0606030504020204" pitchFamily="34" charset="0"/>
              </a:rPr>
              <a:t>, M. B., &amp; Weber, C. V. (2017). Capability Maturity Model for Software, Version 2.0. Software Engineering Institute.</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Pressman, R. S. (2020). Software Engineering: A Practitioner's Approach (9th ed.). McGraw-Hill.</a:t>
            </a:r>
          </a:p>
        </p:txBody>
      </p:sp>
    </p:spTree>
    <p:extLst>
      <p:ext uri="{BB962C8B-B14F-4D97-AF65-F5344CB8AC3E}">
        <p14:creationId xmlns:p14="http://schemas.microsoft.com/office/powerpoint/2010/main" val="197612424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2" id="{91EC78B4-BE4F-3B4D-B302-CF3E80410C1C}" vid="{48571482-A7A2-E44B-AA81-515161122809}"/>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9fdf624c-fedc-4f6c-b928-0c7bf4c9e100" xsi:nil="true"/>
    <_Flow_SignoffStatus xmlns="47793baa-3cbb-486e-a055-4d42ce3882d7" xsi:nil="true"/>
    <_dlc_DocId xmlns="9fdf624c-fedc-4f6c-b928-0c7bf4c9e100">J56STF5CZXNR-2061195910-875156</_dlc_DocId>
    <_dlc_DocIdUrl xmlns="9fdf624c-fedc-4f6c-b928-0c7bf4c9e100">
      <Url>https://binusianorg.sharepoint.com/sites/arc/_layouts/15/DocIdRedir.aspx?ID=J56STF5CZXNR-2061195910-875156</Url>
      <Description>J56STF5CZXNR-2061195910-875156</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DAE38A-8264-43C3-9B01-B7FA25F10602}">
  <ds:schemaRefs>
    <ds:schemaRef ds:uri="http://schemas.microsoft.com/sharepoint/events"/>
  </ds:schemaRefs>
</ds:datastoreItem>
</file>

<file path=customXml/itemProps2.xml><?xml version="1.0" encoding="utf-8"?>
<ds:datastoreItem xmlns:ds="http://schemas.openxmlformats.org/officeDocument/2006/customXml" ds:itemID="{90A97211-242D-415A-8ADE-6F44C1D92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252D89-D1E6-488A-B078-4573BAE073F6}">
  <ds:schemaRefs>
    <ds:schemaRef ds:uri="http://purl.org/dc/terms/"/>
    <ds:schemaRef ds:uri="2661c1c1-ed05-4275-a33d-64e31eb1ea69"/>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4f26481f-d1e8-4452-9a9a-b303515fd2b7"/>
    <ds:schemaRef ds:uri="http://schemas.microsoft.com/office/2006/metadata/properties"/>
    <ds:schemaRef ds:uri="http://purl.org/dc/dcmitype/"/>
    <ds:schemaRef ds:uri="http://schemas.microsoft.com/sharepoint/v3/fields"/>
    <ds:schemaRef ds:uri="9fdf624c-fedc-4f6c-b928-0c7bf4c9e100"/>
    <ds:schemaRef ds:uri="47793baa-3cbb-486e-a055-4d42ce3882d7"/>
  </ds:schemaRefs>
</ds:datastoreItem>
</file>

<file path=customXml/itemProps4.xml><?xml version="1.0" encoding="utf-8"?>
<ds:datastoreItem xmlns:ds="http://schemas.openxmlformats.org/officeDocument/2006/customXml" ds:itemID="{2E0FE671-25D8-4116-9472-BF9297986C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BINUS Learning Object Slide Template 2022</Template>
  <TotalTime>2435</TotalTime>
  <Words>1337</Words>
  <Application>Microsoft Office PowerPoint</Application>
  <PresentationFormat>Custom</PresentationFormat>
  <Paragraphs>146</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Open Sans</vt:lpstr>
      <vt:lpstr>Open Sans Semibold</vt:lpstr>
      <vt:lpstr>Arial</vt:lpstr>
      <vt:lpstr>Open Sans ExtraBold</vt:lpstr>
      <vt:lpstr>OCRB</vt:lpstr>
      <vt:lpstr>Open Sans Light</vt:lpstr>
      <vt:lpstr>21_BasicWhite</vt:lpstr>
      <vt:lpstr>Software Process Improvement</vt:lpstr>
      <vt:lpstr>Session 22 – Software Process Improvement</vt:lpstr>
      <vt:lpstr>Session 22 – Software Process Improvement and METRICS and Measurements</vt:lpstr>
      <vt:lpstr>Introduction to Software Process Improvement (SPI)</vt:lpstr>
      <vt:lpstr>Software Process Improvement Models</vt:lpstr>
      <vt:lpstr>Software Process Improvement Models</vt:lpstr>
      <vt:lpstr>Software Process Improvement Models</vt:lpstr>
      <vt:lpstr>Software Process Improvement Models</vt:lpstr>
      <vt:lpstr>Software Process Improvement Models</vt:lpstr>
      <vt:lpstr>Software Process Improvement Models</vt:lpstr>
      <vt:lpstr>Strategies for enhancing software processes</vt:lpstr>
      <vt:lpstr>Strategies for enhancing software processes</vt:lpstr>
      <vt:lpstr>Strategies for enhancing software processes</vt:lpstr>
      <vt:lpstr>Strategies for enhancing software processes</vt:lpstr>
      <vt:lpstr>Measuring process improvement success</vt:lpstr>
      <vt:lpstr>Measuring process improvement success</vt:lpstr>
      <vt:lpstr>Measuring process improvement success</vt:lpstr>
      <vt:lpstr>Case Studies and Real-world Examples</vt:lpstr>
      <vt:lpstr>Case Studies and Real-world Examples</vt:lpstr>
      <vt:lpstr>Case Studies and Real-world Examples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Aris Priyanto</dc:creator>
  <cp:lastModifiedBy>Maulin Nasari</cp:lastModifiedBy>
  <cp:revision>37</cp:revision>
  <dcterms:created xsi:type="dcterms:W3CDTF">2023-04-06T08:40:27Z</dcterms:created>
  <dcterms:modified xsi:type="dcterms:W3CDTF">2025-12-25T09:19:56Z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a8e96856-29d3-47af-8f22-9a1c34492d36</vt:lpwstr>
  </property>
</Properties>
</file>