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5"/>
  </p:sldMasterIdLst>
  <p:notesMasterIdLst>
    <p:notesMasterId r:id="rId36"/>
  </p:notesMasterIdLst>
  <p:sldIdLst>
    <p:sldId id="256" r:id="rId6"/>
    <p:sldId id="257" r:id="rId7"/>
    <p:sldId id="258" r:id="rId8"/>
    <p:sldId id="285" r:id="rId9"/>
    <p:sldId id="322" r:id="rId10"/>
    <p:sldId id="323" r:id="rId11"/>
    <p:sldId id="324" r:id="rId12"/>
    <p:sldId id="325" r:id="rId13"/>
    <p:sldId id="326" r:id="rId14"/>
    <p:sldId id="327" r:id="rId15"/>
    <p:sldId id="328" r:id="rId16"/>
    <p:sldId id="329" r:id="rId17"/>
    <p:sldId id="330" r:id="rId18"/>
    <p:sldId id="331" r:id="rId19"/>
    <p:sldId id="332" r:id="rId20"/>
    <p:sldId id="333" r:id="rId21"/>
    <p:sldId id="334" r:id="rId22"/>
    <p:sldId id="335" r:id="rId23"/>
    <p:sldId id="336" r:id="rId24"/>
    <p:sldId id="337" r:id="rId25"/>
    <p:sldId id="338" r:id="rId26"/>
    <p:sldId id="339" r:id="rId27"/>
    <p:sldId id="340" r:id="rId28"/>
    <p:sldId id="341" r:id="rId29"/>
    <p:sldId id="342" r:id="rId30"/>
    <p:sldId id="343" r:id="rId31"/>
    <p:sldId id="344" r:id="rId32"/>
    <p:sldId id="345" r:id="rId33"/>
    <p:sldId id="346" r:id="rId34"/>
    <p:sldId id="284" r:id="rId35"/>
  </p:sldIdLst>
  <p:sldSz cx="24384000" cy="13716000"/>
  <p:notesSz cx="6858000" cy="9144000"/>
  <p:embeddedFontLst>
    <p:embeddedFont>
      <p:font typeface="OCRB" panose="020B0609020202020204" pitchFamily="49" charset="77"/>
      <p:regular r:id="rId37"/>
    </p:embeddedFont>
    <p:embeddedFont>
      <p:font typeface="Open Sans" panose="020B0606030504020204" pitchFamily="34" charset="0"/>
      <p:regular r:id="rId38"/>
      <p:bold r:id="rId39"/>
      <p:italic r:id="rId40"/>
      <p:boldItalic r:id="rId41"/>
    </p:embeddedFont>
    <p:embeddedFont>
      <p:font typeface="Open Sans ExtraBold" panose="020B0606030504020204" pitchFamily="34" charset="0"/>
      <p:bold r:id="rId42"/>
      <p:italic r:id="rId43"/>
      <p:boldItalic r:id="rId44"/>
    </p:embeddedFont>
    <p:embeddedFont>
      <p:font typeface="Open Sans Light" panose="020B0306030504020204" pitchFamily="34" charset="0"/>
      <p:regular r:id="rId45"/>
      <p:italic r:id="rId46"/>
    </p:embeddedFont>
    <p:embeddedFont>
      <p:font typeface="Open Sans Semibold" panose="020B0606030504020204" pitchFamily="34" charset="0"/>
      <p:regular r:id="rId47"/>
      <p:bold r:id="rId48"/>
      <p:italic r:id="rId49"/>
      <p:boldItalic r:id="rId50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464" autoAdjust="0"/>
    <p:restoredTop sz="96197"/>
  </p:normalViewPr>
  <p:slideViewPr>
    <p:cSldViewPr snapToGrid="0" snapToObjects="1">
      <p:cViewPr varScale="1">
        <p:scale>
          <a:sx n="37" d="100"/>
          <a:sy n="37" d="100"/>
        </p:scale>
        <p:origin x="280" y="1784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font" Target="fonts/font3.fntdata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font" Target="fonts/font6.fntdata"/><Relationship Id="rId47" Type="http://schemas.openxmlformats.org/officeDocument/2006/relationships/font" Target="fonts/font11.fntdata"/><Relationship Id="rId50" Type="http://schemas.openxmlformats.org/officeDocument/2006/relationships/font" Target="fonts/font14.fntdata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3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font" Target="fonts/font8.fntdata"/><Relationship Id="rId52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font" Target="fonts/font7.fntdata"/><Relationship Id="rId48" Type="http://schemas.openxmlformats.org/officeDocument/2006/relationships/font" Target="fonts/font12.fntdata"/><Relationship Id="rId8" Type="http://schemas.openxmlformats.org/officeDocument/2006/relationships/slide" Target="slides/slide3.xml"/><Relationship Id="rId51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20" Type="http://schemas.openxmlformats.org/officeDocument/2006/relationships/slide" Target="slides/slide15.xml"/><Relationship Id="rId41" Type="http://schemas.openxmlformats.org/officeDocument/2006/relationships/font" Target="fonts/font5.fntdata"/><Relationship Id="rId54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notesMaster" Target="notesMasters/notesMaster1.xml"/><Relationship Id="rId49" Type="http://schemas.openxmlformats.org/officeDocument/2006/relationships/font" Target="fonts/font1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9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57BF6916-406C-E944-841A-1BF7394CF10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UNIVERSITAS BINA NUSANTARA">
            <a:extLst>
              <a:ext uri="{FF2B5EF4-FFF2-40B4-BE49-F238E27FC236}">
                <a16:creationId xmlns:a16="http://schemas.microsoft.com/office/drawing/2014/main" id="{B2ACCA88-1510-174E-BE16-6E62A96F6E0C}"/>
              </a:ext>
            </a:extLst>
          </p:cNvPr>
          <p:cNvSpPr txBox="1"/>
          <p:nvPr userDrawn="1"/>
        </p:nvSpPr>
        <p:spPr>
          <a:xfrm>
            <a:off x="8706308" y="9680388"/>
            <a:ext cx="6971384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dirty="0"/>
              <a:t>UNIVERSITAS</a:t>
            </a:r>
            <a:r>
              <a:rPr b="1" dirty="0"/>
              <a:t> BINA NUSANTARA</a:t>
            </a: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8706308" y="9680388"/>
            <a:ext cx="6971384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dirty="0"/>
              <a:t>UNIVERSITAS</a:t>
            </a:r>
            <a:r>
              <a:rPr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Prese</a:t>
            </a:r>
            <a:r>
              <a:rPr lang="en-ID" dirty="0"/>
              <a:t>n</a:t>
            </a:r>
            <a:r>
              <a:rPr dirty="0" err="1"/>
              <a:t>tation</a:t>
            </a:r>
            <a:r>
              <a:rPr dirty="0"/>
              <a:t> Title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57BF6916-406C-E944-841A-1BF7394CF10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UNIVERSITAS BINA NUSANTARA">
            <a:extLst>
              <a:ext uri="{FF2B5EF4-FFF2-40B4-BE49-F238E27FC236}">
                <a16:creationId xmlns:a16="http://schemas.microsoft.com/office/drawing/2014/main" id="{B2ACCA88-1510-174E-BE16-6E62A96F6E0C}"/>
              </a:ext>
            </a:extLst>
          </p:cNvPr>
          <p:cNvSpPr txBox="1"/>
          <p:nvPr userDrawn="1"/>
        </p:nvSpPr>
        <p:spPr>
          <a:xfrm>
            <a:off x="8706308" y="9680388"/>
            <a:ext cx="6971384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dirty="0"/>
              <a:t>UNIVERSITAS</a:t>
            </a:r>
            <a:r>
              <a:rPr b="1" dirty="0"/>
              <a:t> BINA NUSANTARA</a:t>
            </a: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8706308" y="9680388"/>
            <a:ext cx="6971384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dirty="0"/>
              <a:t>UNIVERSITAS</a:t>
            </a:r>
            <a:r>
              <a:rPr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Prese</a:t>
            </a:r>
            <a:r>
              <a:rPr lang="en-ID" dirty="0"/>
              <a:t>n</a:t>
            </a:r>
            <a:r>
              <a:rPr dirty="0" err="1"/>
              <a:t>tation</a:t>
            </a:r>
            <a:r>
              <a:rPr dirty="0"/>
              <a:t> Title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BBEE18F9-7EE5-444F-AA57-68A6783A522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04" name="Content Placeholder 7">
            <a:extLst>
              <a:ext uri="{FF2B5EF4-FFF2-40B4-BE49-F238E27FC236}">
                <a16:creationId xmlns:a16="http://schemas.microsoft.com/office/drawing/2014/main" id="{A238D5AC-1068-5240-9AFA-91BA1250D94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13156DDE-55E0-C14A-879A-962B00D82A0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1016357" y="354127"/>
            <a:ext cx="2563550" cy="1083872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437085"/>
            <a:ext cx="10801828" cy="647239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136664"/>
            <a:ext cx="10801828" cy="647239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815450"/>
            <a:ext cx="10801828" cy="647239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494236"/>
            <a:ext cx="10801828" cy="647239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173022"/>
            <a:ext cx="10801828" cy="647239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16" name="Image" descr="Image">
            <a:extLst>
              <a:ext uri="{FF2B5EF4-FFF2-40B4-BE49-F238E27FC236}">
                <a16:creationId xmlns:a16="http://schemas.microsoft.com/office/drawing/2014/main" id="{ED3AA748-6163-AF42-8BA4-5A505F8580B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5C0CB95F-A575-6E40-8A77-71E4C3CE5D2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A264C53-F38A-3CAD-0C8A-2BF46116F396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COMP6100001 - Software engineering</a:t>
            </a:r>
          </a:p>
          <a:p>
            <a:r>
              <a:rPr lang="en-US" dirty="0"/>
              <a:t>Session 13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220BAB2-790F-F74A-024A-FC22D1A3E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9600" b="1" dirty="0">
                <a:solidFill>
                  <a:schemeClr val="bg1"/>
                </a:solidFill>
              </a:rPr>
              <a:t>Project Scheduling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9B89E2-412C-8945-F692-CD51460D980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Kenny Jingga, </a:t>
            </a:r>
            <a:r>
              <a:rPr lang="en-US" dirty="0" err="1"/>
              <a:t>S.Kom</a:t>
            </a:r>
            <a:r>
              <a:rPr lang="en-US" dirty="0"/>
              <a:t>., M.T.</a:t>
            </a:r>
          </a:p>
        </p:txBody>
      </p:sp>
    </p:spTree>
    <p:extLst>
      <p:ext uri="{BB962C8B-B14F-4D97-AF65-F5344CB8AC3E}">
        <p14:creationId xmlns:p14="http://schemas.microsoft.com/office/powerpoint/2010/main" val="3487223446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F52CD-EA76-003A-7192-0E9167BA3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Session 13 – Project Scheduling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46449C-CB2F-5E63-F63C-D4BAFF341D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358E3-B24E-F7A5-ECF8-12101774A9E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5334432"/>
            <a:ext cx="20711673" cy="452226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At the end of this session, students will be expected to be able to:</a:t>
            </a:r>
          </a:p>
          <a:p>
            <a:pPr marL="390525" indent="-390525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Understand the Importance of Project Scheduling in Software Engineering</a:t>
            </a:r>
          </a:p>
          <a:p>
            <a:pPr marL="390525" indent="-390525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Learn Techniques for Developing Project Schedules</a:t>
            </a:r>
          </a:p>
          <a:p>
            <a:pPr marL="390525" indent="-390525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Apply the Critical Path Method (CPM) and Other Scheduling Techniques</a:t>
            </a:r>
          </a:p>
        </p:txBody>
      </p:sp>
    </p:spTree>
    <p:extLst>
      <p:ext uri="{BB962C8B-B14F-4D97-AF65-F5344CB8AC3E}">
        <p14:creationId xmlns:p14="http://schemas.microsoft.com/office/powerpoint/2010/main" val="385578585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F52CD-EA76-003A-7192-0E9167BA3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Session 13 – Project scheduling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46449C-CB2F-5E63-F63C-D4BAFF341D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Content outline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358E3-B24E-F7A5-ECF8-12101774A9E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711673" cy="8583279"/>
          </a:xfrm>
        </p:spPr>
        <p:txBody>
          <a:bodyPr anchor="ctr">
            <a:normAutofit/>
          </a:bodyPr>
          <a:lstStyle/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Introduction to Project Scheduling</a:t>
            </a:r>
          </a:p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Developing Project Schedules</a:t>
            </a:r>
          </a:p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Critical Path Method (CPM)</a:t>
            </a:r>
          </a:p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Advanced Scheduling Techniques</a:t>
            </a:r>
          </a:p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Tools for P</a:t>
            </a:r>
            <a:r>
              <a:rPr lang="en-US" sz="3600" kern="1200" dirty="0" err="1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roject</a:t>
            </a:r>
            <a:r>
              <a:rPr lang="en-US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 Scheduling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/>
              <a:ea typeface="MS PGothic" pitchFamily="34" charset="-128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8198188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Introduction to Project Scheduling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18D0368-C84A-0F48-0FCB-46534B176611}"/>
              </a:ext>
            </a:extLst>
          </p:cNvPr>
          <p:cNvPicPr>
            <a:picLocks noGrp="1" noChangeAspect="1" noChangeArrowheads="1"/>
          </p:cNvPicPr>
          <p:nvPr>
            <p:ph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6897" y="3298050"/>
            <a:ext cx="8653023" cy="10452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C979251E-4349-E31F-8CAA-5838DF4E9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94082" y="3260662"/>
            <a:ext cx="7802878" cy="10487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0131024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Introduction to Project Scheduling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Importance of Scheduling in Software Projects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 anchor="ctr">
            <a:noAutofit/>
          </a:bodyPr>
          <a:lstStyle/>
          <a:p>
            <a:pPr marL="390525" marR="0" lvl="0" indent="-390525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Defines the Timeline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 Establishes when tasks and milestones need to be completed.</a:t>
            </a:r>
          </a:p>
          <a:p>
            <a:pPr marL="390525" marR="0" lvl="0" indent="-390525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Resource Planning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 Helps allocate resources effectively over time.</a:t>
            </a:r>
          </a:p>
          <a:p>
            <a:pPr marL="390525" marR="0" lvl="0" indent="-390525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Risk Mitigation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 Identifies potential bottlenecks and allows for contingency planning.</a:t>
            </a:r>
          </a:p>
          <a:p>
            <a:pPr marL="390525" marR="0" lvl="0" indent="-390525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Stakeholder Communication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 Provides a visual representation of the project's progress.</a:t>
            </a:r>
          </a:p>
        </p:txBody>
      </p:sp>
    </p:spTree>
    <p:extLst>
      <p:ext uri="{BB962C8B-B14F-4D97-AF65-F5344CB8AC3E}">
        <p14:creationId xmlns:p14="http://schemas.microsoft.com/office/powerpoint/2010/main" val="1600364286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Introduction to Project Scheduling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Overview of Scheduling techniques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 anchor="ctr">
            <a:noAutofit/>
          </a:bodyPr>
          <a:lstStyle/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Traditional Scheduling Methods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 Gantt Charts, PERT, and CPM.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Agile Scheduling Approaches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 Iterative development, Scrum sprints.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Hybrid Methods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 Combining traditional and agile techniques.</a:t>
            </a:r>
          </a:p>
        </p:txBody>
      </p:sp>
    </p:spTree>
    <p:extLst>
      <p:ext uri="{BB962C8B-B14F-4D97-AF65-F5344CB8AC3E}">
        <p14:creationId xmlns:p14="http://schemas.microsoft.com/office/powerpoint/2010/main" val="308237275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Developing project Schedules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Gantt Charts: Components and interpretation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9880600" cy="8583279"/>
          </a:xfrm>
        </p:spPr>
        <p:txBody>
          <a:bodyPr anchor="ctr">
            <a:noAutofit/>
          </a:bodyPr>
          <a:lstStyle/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Tasks/Activities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 Work items to be completed.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Timeline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 Dates or time periods over which tasks occur.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Bars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 Visual representation of task durations.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Dependencies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 Relationships between tasks (may be shown with arrows or connectors).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Milestones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 Significant points or events in the project.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5FF5091-6493-A8AC-6877-36CA5B3585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025" y="4178951"/>
            <a:ext cx="12047975" cy="5358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1264704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Developing project Schedules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Gantt Charts: Creating Gantt Charts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6" y="3260663"/>
            <a:ext cx="18894303" cy="8583279"/>
          </a:xfrm>
        </p:spPr>
        <p:txBody>
          <a:bodyPr anchor="ctr">
            <a:noAutofit/>
          </a:bodyPr>
          <a:lstStyle/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Identify Tasks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 Break down the project into manageable activities.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Estimate Durations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 Assign time estimates to each task.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Define Dependencies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 Determine task sequences and relationships.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Construct the Chart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 Use software tools or manually draw the chart.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Update Regularly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 Reflect changes in the project schedule.</a:t>
            </a:r>
          </a:p>
        </p:txBody>
      </p:sp>
    </p:spTree>
    <p:extLst>
      <p:ext uri="{BB962C8B-B14F-4D97-AF65-F5344CB8AC3E}">
        <p14:creationId xmlns:p14="http://schemas.microsoft.com/office/powerpoint/2010/main" val="1699204044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Developing project Schedules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Gantt Charts: Advantages and Limitations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6" y="3260663"/>
            <a:ext cx="18894303" cy="8583279"/>
          </a:xfrm>
        </p:spPr>
        <p:txBody>
          <a:bodyPr anchor="ctr">
            <a:noAutofit/>
          </a:bodyPr>
          <a:lstStyle/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Advantages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</a:t>
            </a:r>
          </a:p>
          <a:p>
            <a:pPr marL="1014413" lvl="1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Easy to understand and communicate.</a:t>
            </a:r>
          </a:p>
          <a:p>
            <a:pPr marL="1014413" lvl="1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Visually depicts the project timeline.</a:t>
            </a:r>
          </a:p>
          <a:p>
            <a:pPr marL="1014413" lvl="1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Helps track progress against planned activities.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Limitations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</a:t>
            </a:r>
          </a:p>
          <a:p>
            <a:pPr marL="1014413" lvl="1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Can become complex for large projects.</a:t>
            </a:r>
          </a:p>
          <a:p>
            <a:pPr marL="1014413" lvl="1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Does not explicitly show task dependencies unless enhanced.</a:t>
            </a:r>
          </a:p>
          <a:p>
            <a:pPr marL="1014413" lvl="1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Static representation; may not adapt well to changes.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59B08715-9515-ABE7-1A2E-A5D3E334CD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95541" y="3983602"/>
            <a:ext cx="6032500" cy="713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0232481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Developing project Schedules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9381983" cy="840935"/>
          </a:xfrm>
        </p:spPr>
        <p:txBody>
          <a:bodyPr>
            <a:normAutofit fontScale="92500"/>
          </a:bodyPr>
          <a:lstStyle/>
          <a:p>
            <a:r>
              <a:rPr lang="en-US" dirty="0"/>
              <a:t>PERT (Program Evaluation Review Technique) Charts: Components And Interpretation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6" y="3260663"/>
            <a:ext cx="10024623" cy="8583279"/>
          </a:xfrm>
        </p:spPr>
        <p:txBody>
          <a:bodyPr anchor="ctr">
            <a:noAutofit/>
          </a:bodyPr>
          <a:lstStyle/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Nodes (Events)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 Represent milestones or the start/end of activities.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Arrows (Activities)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 Represent tasks; arrows connect nodes.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Dependencies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 The sequence in which tasks must be performed.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8461DDE5-5963-59F4-0ACD-626AD55699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74414" y="3653810"/>
            <a:ext cx="11909586" cy="6408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1824647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Developing project Schedules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9381983" cy="840935"/>
          </a:xfrm>
        </p:spPr>
        <p:txBody>
          <a:bodyPr>
            <a:normAutofit/>
          </a:bodyPr>
          <a:lstStyle/>
          <a:p>
            <a:r>
              <a:rPr lang="en-US" dirty="0"/>
              <a:t>PERT (Program Evaluation Review Technique) Charts: Constructing Pert Diagrams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6" y="3260663"/>
            <a:ext cx="19381983" cy="8583279"/>
          </a:xfrm>
        </p:spPr>
        <p:txBody>
          <a:bodyPr anchor="ctr">
            <a:noAutofit/>
          </a:bodyPr>
          <a:lstStyle/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List Activities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 Include all tasks required for project completion.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Determine Dependencies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 Identify which tasks depend on others.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Estimate Durations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 Use optimistic, pessimistic, and most likely estimates if desired.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Draw the Network Diagram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 Represent tasks and dependencies visually.</a:t>
            </a:r>
          </a:p>
        </p:txBody>
      </p:sp>
    </p:spTree>
    <p:extLst>
      <p:ext uri="{BB962C8B-B14F-4D97-AF65-F5344CB8AC3E}">
        <p14:creationId xmlns:p14="http://schemas.microsoft.com/office/powerpoint/2010/main" val="394891330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Developing project Schedules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9381983" cy="840935"/>
          </a:xfrm>
        </p:spPr>
        <p:txBody>
          <a:bodyPr>
            <a:normAutofit/>
          </a:bodyPr>
          <a:lstStyle/>
          <a:p>
            <a:r>
              <a:rPr lang="en-US" dirty="0"/>
              <a:t>PERT (Program Evaluation Review Technique) Charts: Advantages and Limitations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6" y="3260663"/>
            <a:ext cx="19381983" cy="8583279"/>
          </a:xfrm>
        </p:spPr>
        <p:txBody>
          <a:bodyPr anchor="ctr">
            <a:noAutofit/>
          </a:bodyPr>
          <a:lstStyle/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Advantages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</a:t>
            </a:r>
          </a:p>
          <a:p>
            <a:pPr marL="1014413" lvl="1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Clearly shows task dependencies.</a:t>
            </a:r>
          </a:p>
          <a:p>
            <a:pPr marL="1014413" lvl="1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Helps identify the critical path.</a:t>
            </a:r>
          </a:p>
          <a:p>
            <a:pPr marL="1014413" lvl="1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Useful for projects with uncertain activity durations.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Limitations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</a:t>
            </a:r>
          </a:p>
          <a:p>
            <a:pPr marL="1014413" lvl="1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Can be complex to create and interpret.</a:t>
            </a:r>
          </a:p>
          <a:p>
            <a:pPr marL="1014413" lvl="1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Requires accurate estimation of task durations.</a:t>
            </a:r>
          </a:p>
          <a:p>
            <a:pPr marL="1014413" lvl="1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Not as visually intuitive as Gantt charts for some stakeholders.</a:t>
            </a:r>
          </a:p>
        </p:txBody>
      </p:sp>
    </p:spTree>
    <p:extLst>
      <p:ext uri="{BB962C8B-B14F-4D97-AF65-F5344CB8AC3E}">
        <p14:creationId xmlns:p14="http://schemas.microsoft.com/office/powerpoint/2010/main" val="1341214890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Critical Path Method (CPM)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9381983" cy="840935"/>
          </a:xfrm>
        </p:spPr>
        <p:txBody>
          <a:bodyPr>
            <a:normAutofit/>
          </a:bodyPr>
          <a:lstStyle/>
          <a:p>
            <a:r>
              <a:rPr lang="en-US" dirty="0"/>
              <a:t>Definition and Purpose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6" y="3260663"/>
            <a:ext cx="19381983" cy="8583279"/>
          </a:xfrm>
        </p:spPr>
        <p:txBody>
          <a:bodyPr anchor="ctr">
            <a:noAutofit/>
          </a:bodyPr>
          <a:lstStyle/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Definition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</a:t>
            </a:r>
          </a:p>
          <a:p>
            <a:pPr marL="1014413" lvl="1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CPM is a step-by-step methodology used to identify critical and non-critical tasks with the goal of preventing time-frame problems and process bottlenecks.</a:t>
            </a:r>
          </a:p>
          <a:p>
            <a:pPr marL="623888" lvl="1" indent="0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None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/>
              <a:ea typeface="MS PGothic" pitchFamily="34" charset="-128"/>
              <a:cs typeface="+mn-cs"/>
            </a:endParaRP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Purpose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</a:t>
            </a:r>
          </a:p>
          <a:p>
            <a:pPr marL="1014413" lvl="1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Determine the longest stretch of dependent activities.</a:t>
            </a:r>
          </a:p>
          <a:p>
            <a:pPr marL="1014413" lvl="1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Calculate the shortest possible project duration.</a:t>
            </a:r>
          </a:p>
          <a:p>
            <a:pPr marL="1014413" lvl="1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Identify tasks that have flexibility (float) and those that do not.</a:t>
            </a:r>
          </a:p>
        </p:txBody>
      </p:sp>
    </p:spTree>
    <p:extLst>
      <p:ext uri="{BB962C8B-B14F-4D97-AF65-F5344CB8AC3E}">
        <p14:creationId xmlns:p14="http://schemas.microsoft.com/office/powerpoint/2010/main" val="3394559049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Critical Path Method (CPM)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9381983" cy="840935"/>
          </a:xfrm>
        </p:spPr>
        <p:txBody>
          <a:bodyPr>
            <a:normAutofit/>
          </a:bodyPr>
          <a:lstStyle/>
          <a:p>
            <a:r>
              <a:rPr lang="en-US" dirty="0"/>
              <a:t>Steps to Determine the Critical Path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6" y="3260663"/>
            <a:ext cx="19381983" cy="8583279"/>
          </a:xfrm>
        </p:spPr>
        <p:txBody>
          <a:bodyPr anchor="ctr">
            <a:noAutofit/>
          </a:bodyPr>
          <a:lstStyle/>
          <a:p>
            <a:pPr marL="742950" indent="-742950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+mj-lt"/>
              <a:buAutoNum type="arabicPeriod"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List All Activities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 Breakdown the project into individual tasks.</a:t>
            </a:r>
          </a:p>
          <a:p>
            <a:pPr marL="742950" indent="-742950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+mj-lt"/>
              <a:buAutoNum type="arabicPeriod"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Identify Dependencies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 Understand the sequence of tasks.</a:t>
            </a:r>
          </a:p>
          <a:p>
            <a:pPr marL="742950" indent="-742950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+mj-lt"/>
              <a:buAutoNum type="arabicPeriod"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Estimate Activity Durations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 Assign realistic time estimates.</a:t>
            </a:r>
          </a:p>
          <a:p>
            <a:pPr marL="742950" indent="-742950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+mj-lt"/>
              <a:buAutoNum type="arabicPeriod"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Create the Network Diagram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 Visualize tasks and dependencies.</a:t>
            </a:r>
          </a:p>
          <a:p>
            <a:pPr marL="742950" indent="-742950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+mj-lt"/>
              <a:buAutoNum type="arabicPeriod"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Calculate Earliest Start (ES) and Earliest Finish (EF) Times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 Using forward pass.</a:t>
            </a:r>
          </a:p>
          <a:p>
            <a:pPr marL="742950" indent="-742950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+mj-lt"/>
              <a:buAutoNum type="arabicPeriod"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Calculate Latest Start (LS) and Latest Finish (LF) Times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 Using backward pass.</a:t>
            </a:r>
          </a:p>
          <a:p>
            <a:pPr marL="742950" indent="-742950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+mj-lt"/>
              <a:buAutoNum type="arabicPeriod"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Determine Float (Slack) Times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 Calculate for each activity.</a:t>
            </a:r>
          </a:p>
          <a:p>
            <a:pPr marL="742950" indent="-742950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+mj-lt"/>
              <a:buAutoNum type="arabicPeriod"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Identify Critical Path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 The path with zero total float.</a:t>
            </a:r>
          </a:p>
        </p:txBody>
      </p:sp>
    </p:spTree>
    <p:extLst>
      <p:ext uri="{BB962C8B-B14F-4D97-AF65-F5344CB8AC3E}">
        <p14:creationId xmlns:p14="http://schemas.microsoft.com/office/powerpoint/2010/main" val="4278623721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Critical Path Method (CPM)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9381983" cy="840935"/>
          </a:xfrm>
        </p:spPr>
        <p:txBody>
          <a:bodyPr>
            <a:normAutofit/>
          </a:bodyPr>
          <a:lstStyle/>
          <a:p>
            <a:r>
              <a:rPr lang="en-US" dirty="0"/>
              <a:t>Forward and Backward Pass Calculations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6" y="3260663"/>
            <a:ext cx="19381983" cy="8583279"/>
          </a:xfrm>
        </p:spPr>
        <p:txBody>
          <a:bodyPr anchor="ctr">
            <a:noAutofit/>
          </a:bodyPr>
          <a:lstStyle/>
          <a:p>
            <a:pPr marL="0" indent="0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None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Forward Pass (Earliest Times)</a:t>
            </a:r>
          </a:p>
          <a:p>
            <a:pPr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Earliest Start (ES)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 The earliest time an activity can begin.</a:t>
            </a:r>
          </a:p>
          <a:p>
            <a:pPr lvl="1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ES for starting activities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 Zero.</a:t>
            </a:r>
          </a:p>
          <a:p>
            <a:pPr lvl="1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ES for subsequent activities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 ES = Maximum EF of all immediate predecessors.</a:t>
            </a:r>
          </a:p>
          <a:p>
            <a:pPr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Earliest Finish (EF)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 EF = ES + Activity Duration.</a:t>
            </a:r>
          </a:p>
          <a:p>
            <a:pPr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/>
              <a:ea typeface="MS PGothic" pitchFamily="34" charset="-128"/>
              <a:cs typeface="+mn-cs"/>
            </a:endParaRPr>
          </a:p>
          <a:p>
            <a:pPr marL="0" indent="0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None/>
              <a:defRPr/>
            </a:pPr>
            <a:r>
              <a:rPr lang="en-US" sz="3600" b="1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+mn-cs"/>
              </a:rPr>
              <a:t>Backward Pass (Latest Times)</a:t>
            </a:r>
          </a:p>
          <a:p>
            <a:pPr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Latest Finish (LF)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 The latest time an activity can finish without delaying the project.</a:t>
            </a:r>
          </a:p>
          <a:p>
            <a:pPr lvl="1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LF for ending activities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 Equal to the project's earliest finish time.</a:t>
            </a:r>
          </a:p>
          <a:p>
            <a:pPr lvl="1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LF for preceding activities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 LF = Minimum LS of all immediate successors.</a:t>
            </a:r>
          </a:p>
          <a:p>
            <a:pPr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Latest Start (LS)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 LS = LF - Activity Duration.</a:t>
            </a:r>
          </a:p>
        </p:txBody>
      </p:sp>
    </p:spTree>
    <p:extLst>
      <p:ext uri="{BB962C8B-B14F-4D97-AF65-F5344CB8AC3E}">
        <p14:creationId xmlns:p14="http://schemas.microsoft.com/office/powerpoint/2010/main" val="85825688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Critical Path Method (CPM)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9381983" cy="840935"/>
          </a:xfrm>
        </p:spPr>
        <p:txBody>
          <a:bodyPr>
            <a:normAutofit/>
          </a:bodyPr>
          <a:lstStyle/>
          <a:p>
            <a:r>
              <a:rPr lang="en-US" dirty="0"/>
              <a:t>Float (Slack) Time Analysis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6" y="3260663"/>
            <a:ext cx="19381983" cy="8583279"/>
          </a:xfrm>
        </p:spPr>
        <p:txBody>
          <a:bodyPr anchor="ctr">
            <a:noAutofit/>
          </a:bodyPr>
          <a:lstStyle/>
          <a:p>
            <a:pPr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Total Float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 The amount of time an activity can be delayed without affecting the project's end date.</a:t>
            </a:r>
          </a:p>
          <a:p>
            <a:pPr lvl="1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Total Float = LS - ES or Total Float = LF - EF.</a:t>
            </a:r>
          </a:p>
          <a:p>
            <a:pPr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Free Float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 Time an activity can be delayed without affecting the ES of subsequent activities.</a:t>
            </a:r>
          </a:p>
          <a:p>
            <a:pPr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Zero Float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 Indicates activities on the critical path.</a:t>
            </a:r>
          </a:p>
        </p:txBody>
      </p:sp>
    </p:spTree>
    <p:extLst>
      <p:ext uri="{BB962C8B-B14F-4D97-AF65-F5344CB8AC3E}">
        <p14:creationId xmlns:p14="http://schemas.microsoft.com/office/powerpoint/2010/main" val="1292727999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Critical Path Method (CPM)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9381983" cy="840935"/>
          </a:xfrm>
        </p:spPr>
        <p:txBody>
          <a:bodyPr>
            <a:normAutofit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6" y="3260663"/>
            <a:ext cx="19381983" cy="8583279"/>
          </a:xfrm>
        </p:spPr>
        <p:txBody>
          <a:bodyPr anchor="ctr">
            <a:noAutofit/>
          </a:bodyPr>
          <a:lstStyle/>
          <a:p>
            <a:pPr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Project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 Developing a New Mobile Application.</a:t>
            </a:r>
          </a:p>
          <a:p>
            <a:pPr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Activities, Durations, and Dependencies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</a:t>
            </a:r>
          </a:p>
          <a:p>
            <a:pPr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endParaRPr lang="en-US" sz="3600" kern="1200" dirty="0">
              <a:solidFill>
                <a:prstClr val="black"/>
              </a:solidFill>
              <a:latin typeface="Open Sans"/>
              <a:ea typeface="MS PGothic" pitchFamily="34" charset="-128"/>
              <a:cs typeface="+mn-cs"/>
            </a:endParaRPr>
          </a:p>
          <a:p>
            <a:pPr marL="0" indent="0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None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/>
              <a:ea typeface="MS PGothic" pitchFamily="34" charset="-128"/>
              <a:cs typeface="+mn-cs"/>
            </a:endParaRPr>
          </a:p>
          <a:p>
            <a:pPr marL="0" indent="0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None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/>
              <a:ea typeface="MS PGothic" pitchFamily="34" charset="-128"/>
              <a:cs typeface="+mn-cs"/>
            </a:endParaRP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D0CC5875-6C20-9FF9-72FF-CC08EFA7EC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4623649"/>
              </p:ext>
            </p:extLst>
          </p:nvPr>
        </p:nvGraphicFramePr>
        <p:xfrm>
          <a:off x="2167374" y="7462044"/>
          <a:ext cx="19381984" cy="4973796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753707">
                  <a:extLst>
                    <a:ext uri="{9D8B030D-6E8A-4147-A177-3AD203B41FA5}">
                      <a16:colId xmlns:a16="http://schemas.microsoft.com/office/drawing/2014/main" val="1725159372"/>
                    </a:ext>
                  </a:extLst>
                </a:gridCol>
                <a:gridCol w="7935213">
                  <a:extLst>
                    <a:ext uri="{9D8B030D-6E8A-4147-A177-3AD203B41FA5}">
                      <a16:colId xmlns:a16="http://schemas.microsoft.com/office/drawing/2014/main" val="3788326900"/>
                    </a:ext>
                  </a:extLst>
                </a:gridCol>
                <a:gridCol w="4846532">
                  <a:extLst>
                    <a:ext uri="{9D8B030D-6E8A-4147-A177-3AD203B41FA5}">
                      <a16:colId xmlns:a16="http://schemas.microsoft.com/office/drawing/2014/main" val="2063420540"/>
                    </a:ext>
                  </a:extLst>
                </a:gridCol>
                <a:gridCol w="4846532">
                  <a:extLst>
                    <a:ext uri="{9D8B030D-6E8A-4147-A177-3AD203B41FA5}">
                      <a16:colId xmlns:a16="http://schemas.microsoft.com/office/drawing/2014/main" val="85391454"/>
                    </a:ext>
                  </a:extLst>
                </a:gridCol>
              </a:tblGrid>
              <a:tr h="552644">
                <a:tc>
                  <a:txBody>
                    <a:bodyPr/>
                    <a:lstStyle/>
                    <a:p>
                      <a:r>
                        <a:rPr lang="en-ID" sz="2400" b="1" kern="1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Activity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D" sz="2400" b="1" kern="1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Description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D" sz="2400" b="1" kern="1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Duration (Days)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D" sz="2400" b="1" kern="1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Predecessors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59237162"/>
                  </a:ext>
                </a:extLst>
              </a:tr>
              <a:tr h="552644">
                <a:tc>
                  <a:txBody>
                    <a:bodyPr/>
                    <a:lstStyle/>
                    <a:p>
                      <a:r>
                        <a:rPr lang="en-ID" sz="2400" kern="10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A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D" sz="2400" kern="10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Requirements Gathering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D" sz="2400" kern="10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D" sz="2400" kern="10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-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46025497"/>
                  </a:ext>
                </a:extLst>
              </a:tr>
              <a:tr h="552644">
                <a:tc>
                  <a:txBody>
                    <a:bodyPr/>
                    <a:lstStyle/>
                    <a:p>
                      <a:r>
                        <a:rPr lang="en-ID" sz="2400" kern="10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B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D" sz="2400" kern="10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UI Design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D" sz="2400" kern="1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D" sz="2400" kern="10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A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6000175"/>
                  </a:ext>
                </a:extLst>
              </a:tr>
              <a:tr h="552644">
                <a:tc>
                  <a:txBody>
                    <a:bodyPr/>
                    <a:lstStyle/>
                    <a:p>
                      <a:r>
                        <a:rPr lang="en-ID" sz="2400" kern="10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D" sz="2400" kern="10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Backend Design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D" sz="2400" kern="10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D" sz="2400" kern="10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A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67693639"/>
                  </a:ext>
                </a:extLst>
              </a:tr>
              <a:tr h="552644">
                <a:tc>
                  <a:txBody>
                    <a:bodyPr/>
                    <a:lstStyle/>
                    <a:p>
                      <a:r>
                        <a:rPr lang="en-ID" sz="2400" kern="10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D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D" sz="2400" kern="10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Frontend Development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D" sz="2400" kern="10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6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D" sz="2400" kern="10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B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04511909"/>
                  </a:ext>
                </a:extLst>
              </a:tr>
              <a:tr h="552644">
                <a:tc>
                  <a:txBody>
                    <a:bodyPr/>
                    <a:lstStyle/>
                    <a:p>
                      <a:r>
                        <a:rPr lang="en-ID" sz="2400" kern="10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D" sz="2400" kern="10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Backend Development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D" sz="2400" kern="10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D" sz="2400" kern="10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03080281"/>
                  </a:ext>
                </a:extLst>
              </a:tr>
              <a:tr h="552644">
                <a:tc>
                  <a:txBody>
                    <a:bodyPr/>
                    <a:lstStyle/>
                    <a:p>
                      <a:r>
                        <a:rPr lang="en-ID" sz="2400" kern="10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F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D" sz="2400" kern="10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Integration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D" sz="2400" kern="10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D" sz="2400" kern="10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D, 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70340429"/>
                  </a:ext>
                </a:extLst>
              </a:tr>
              <a:tr h="552644">
                <a:tc>
                  <a:txBody>
                    <a:bodyPr/>
                    <a:lstStyle/>
                    <a:p>
                      <a:r>
                        <a:rPr lang="en-ID" sz="2400" kern="10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G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D" sz="2400" kern="10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Testing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D" sz="2400" kern="10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D" sz="2400" kern="10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F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96081664"/>
                  </a:ext>
                </a:extLst>
              </a:tr>
              <a:tr h="552644">
                <a:tc>
                  <a:txBody>
                    <a:bodyPr/>
                    <a:lstStyle/>
                    <a:p>
                      <a:r>
                        <a:rPr lang="en-ID" sz="2400" kern="10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H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D" sz="2400" kern="10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Deployment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D" sz="2400" kern="1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D" sz="2400" kern="1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G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776236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5872053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Critical Path Method (CPM)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9381983" cy="840935"/>
          </a:xfrm>
        </p:spPr>
        <p:txBody>
          <a:bodyPr>
            <a:normAutofit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6" y="3260663"/>
            <a:ext cx="19381983" cy="8583279"/>
          </a:xfrm>
        </p:spPr>
        <p:txBody>
          <a:bodyPr anchor="ctr">
            <a:noAutofit/>
          </a:bodyPr>
          <a:lstStyle/>
          <a:p>
            <a:pPr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Task:</a:t>
            </a:r>
          </a:p>
          <a:p>
            <a:pPr lvl="1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lang="en-US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+mn-cs"/>
              </a:rPr>
              <a:t>Construct the network diagram</a:t>
            </a:r>
          </a:p>
          <a:p>
            <a:pPr lvl="1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lang="en-US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+mn-cs"/>
              </a:rPr>
              <a:t>Perform forward and backward pass calculations</a:t>
            </a:r>
          </a:p>
          <a:p>
            <a:pPr lvl="1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lang="en-US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+mn-cs"/>
              </a:rPr>
              <a:t>Determine ES, EF, LS, LF, and float for each activity</a:t>
            </a:r>
          </a:p>
          <a:p>
            <a:pPr lvl="1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3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Identify the critical path</a:t>
            </a:r>
          </a:p>
        </p:txBody>
      </p:sp>
    </p:spTree>
    <p:extLst>
      <p:ext uri="{BB962C8B-B14F-4D97-AF65-F5344CB8AC3E}">
        <p14:creationId xmlns:p14="http://schemas.microsoft.com/office/powerpoint/2010/main" val="511770105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Critical Path Method (CPM)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9381983" cy="840935"/>
          </a:xfrm>
        </p:spPr>
        <p:txBody>
          <a:bodyPr>
            <a:normAutofit/>
          </a:bodyPr>
          <a:lstStyle/>
          <a:p>
            <a:r>
              <a:rPr lang="en-US" dirty="0"/>
              <a:t>Example: Create Network Diagram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6" y="3260663"/>
            <a:ext cx="19381983" cy="8583279"/>
          </a:xfrm>
        </p:spPr>
        <p:txBody>
          <a:bodyPr anchor="ctr">
            <a:noAutofit/>
          </a:bodyPr>
          <a:lstStyle/>
          <a:p>
            <a:pPr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Task:</a:t>
            </a:r>
          </a:p>
          <a:p>
            <a:pPr lvl="1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lang="en-US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+mn-cs"/>
              </a:rPr>
              <a:t>Construct the network diagram</a:t>
            </a:r>
          </a:p>
          <a:p>
            <a:pPr lvl="1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lang="en-US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+mn-cs"/>
              </a:rPr>
              <a:t>Perform forward and backward pass calculations</a:t>
            </a:r>
          </a:p>
          <a:p>
            <a:pPr lvl="1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lang="en-US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+mn-cs"/>
              </a:rPr>
              <a:t>Determine ES, EF, LS, LF, and float for each activity</a:t>
            </a:r>
          </a:p>
          <a:p>
            <a:pPr lvl="1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3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Identify the critical path</a:t>
            </a:r>
          </a:p>
        </p:txBody>
      </p:sp>
    </p:spTree>
    <p:extLst>
      <p:ext uri="{BB962C8B-B14F-4D97-AF65-F5344CB8AC3E}">
        <p14:creationId xmlns:p14="http://schemas.microsoft.com/office/powerpoint/2010/main" val="3177734230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Critical Path Method (CPM)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9381983" cy="840935"/>
          </a:xfrm>
        </p:spPr>
        <p:txBody>
          <a:bodyPr>
            <a:normAutofit/>
          </a:bodyPr>
          <a:lstStyle/>
          <a:p>
            <a:r>
              <a:rPr lang="en-US" dirty="0"/>
              <a:t>Example: Perform Forward Pass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6" y="3260663"/>
            <a:ext cx="10024623" cy="8583279"/>
          </a:xfrm>
        </p:spPr>
        <p:txBody>
          <a:bodyPr anchor="ctr">
            <a:noAutofit/>
          </a:bodyPr>
          <a:lstStyle/>
          <a:p>
            <a:pPr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Activity A</a:t>
            </a:r>
            <a:r>
              <a:rPr kumimoji="0" lang="en-US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</a:t>
            </a:r>
          </a:p>
          <a:p>
            <a:pPr lvl="1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ES = 0</a:t>
            </a:r>
          </a:p>
          <a:p>
            <a:pPr lvl="1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EF = ES + Duration = 0 + 4 = 4</a:t>
            </a:r>
          </a:p>
          <a:p>
            <a:pPr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Activity B</a:t>
            </a:r>
            <a:r>
              <a:rPr kumimoji="0" lang="en-US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</a:t>
            </a:r>
          </a:p>
          <a:p>
            <a:pPr lvl="1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ES = EF of A = 4</a:t>
            </a:r>
          </a:p>
          <a:p>
            <a:pPr lvl="1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EF = 4 + 3 = 7</a:t>
            </a:r>
          </a:p>
          <a:p>
            <a:pPr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Activity C</a:t>
            </a:r>
            <a:r>
              <a:rPr kumimoji="0" lang="en-US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</a:t>
            </a:r>
          </a:p>
          <a:p>
            <a:pPr lvl="1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ES = EF of A = 4</a:t>
            </a:r>
          </a:p>
          <a:p>
            <a:pPr lvl="1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EF = 4 + 5 = 9</a:t>
            </a:r>
          </a:p>
          <a:p>
            <a:pPr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Activity D</a:t>
            </a:r>
            <a:r>
              <a:rPr kumimoji="0" lang="en-US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</a:t>
            </a:r>
          </a:p>
          <a:p>
            <a:pPr lvl="1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ES = EF of B = 7</a:t>
            </a:r>
          </a:p>
          <a:p>
            <a:pPr lvl="1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EF = 7 + 6 = 13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5F8EA19-7EB8-4B89-F261-AF3124C379CB}"/>
              </a:ext>
            </a:extLst>
          </p:cNvPr>
          <p:cNvSpPr txBox="1">
            <a:spLocks/>
          </p:cNvSpPr>
          <p:nvPr/>
        </p:nvSpPr>
        <p:spPr>
          <a:xfrm>
            <a:off x="12192000" y="3260663"/>
            <a:ext cx="9357359" cy="85832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lang="en-ID" sz="2800" b="1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+mn-cs"/>
              </a:rPr>
              <a:t>Activity E</a:t>
            </a:r>
            <a:r>
              <a:rPr lang="en-ID" sz="28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+mn-cs"/>
              </a:rPr>
              <a:t>:</a:t>
            </a:r>
          </a:p>
          <a:p>
            <a:pPr lvl="1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lang="en-ID" sz="28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+mn-cs"/>
              </a:rPr>
              <a:t>ES = EF of C = 9</a:t>
            </a:r>
          </a:p>
          <a:p>
            <a:pPr lvl="1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lang="en-ID" sz="28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+mn-cs"/>
              </a:rPr>
              <a:t>EF = 9 + 8 = 17</a:t>
            </a:r>
          </a:p>
          <a:p>
            <a:pPr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lang="en-ID" sz="2800" b="1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+mn-cs"/>
              </a:rPr>
              <a:t>Activity F</a:t>
            </a:r>
            <a:r>
              <a:rPr lang="en-ID" sz="28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+mn-cs"/>
              </a:rPr>
              <a:t>:</a:t>
            </a:r>
          </a:p>
          <a:p>
            <a:pPr lvl="1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lang="en-ID" sz="28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+mn-cs"/>
              </a:rPr>
              <a:t>ES = Max(EF of D, EF of E) = Max(13, 17) = 17</a:t>
            </a:r>
          </a:p>
          <a:p>
            <a:pPr lvl="1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lang="en-ID" sz="28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+mn-cs"/>
              </a:rPr>
              <a:t>EF = 17 + 2 = 19</a:t>
            </a:r>
          </a:p>
          <a:p>
            <a:pPr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lang="en-ID" sz="2800" b="1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+mn-cs"/>
              </a:rPr>
              <a:t>Activity G</a:t>
            </a:r>
            <a:r>
              <a:rPr lang="en-ID" sz="28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+mn-cs"/>
              </a:rPr>
              <a:t>:</a:t>
            </a:r>
          </a:p>
          <a:p>
            <a:pPr lvl="1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lang="en-ID" sz="28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+mn-cs"/>
              </a:rPr>
              <a:t>ES = EF of F = 19</a:t>
            </a:r>
          </a:p>
          <a:p>
            <a:pPr lvl="1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lang="en-ID" sz="28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+mn-cs"/>
              </a:rPr>
              <a:t>EF = 19 + 4 = 23</a:t>
            </a:r>
          </a:p>
          <a:p>
            <a:pPr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lang="en-ID" sz="2800" b="1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+mn-cs"/>
              </a:rPr>
              <a:t>Activity H</a:t>
            </a:r>
            <a:r>
              <a:rPr lang="en-ID" sz="28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+mn-cs"/>
              </a:rPr>
              <a:t>:</a:t>
            </a:r>
          </a:p>
          <a:p>
            <a:pPr lvl="1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lang="en-ID" sz="28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+mn-cs"/>
              </a:rPr>
              <a:t>ES = EF of G = 23</a:t>
            </a:r>
          </a:p>
          <a:p>
            <a:pPr lvl="1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lang="en-ID" sz="28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+mn-cs"/>
              </a:rPr>
              <a:t>EF = 23 + 1 = 24</a:t>
            </a:r>
          </a:p>
        </p:txBody>
      </p:sp>
    </p:spTree>
    <p:extLst>
      <p:ext uri="{BB962C8B-B14F-4D97-AF65-F5344CB8AC3E}">
        <p14:creationId xmlns:p14="http://schemas.microsoft.com/office/powerpoint/2010/main" val="483165090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Critical Path Method (CPM)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9381983" cy="840935"/>
          </a:xfrm>
        </p:spPr>
        <p:txBody>
          <a:bodyPr>
            <a:normAutofit/>
          </a:bodyPr>
          <a:lstStyle/>
          <a:p>
            <a:r>
              <a:rPr lang="en-US" dirty="0"/>
              <a:t>Example: Perform Backward Pass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6" y="3260663"/>
            <a:ext cx="10024623" cy="8583279"/>
          </a:xfrm>
        </p:spPr>
        <p:txBody>
          <a:bodyPr anchor="ctr">
            <a:noAutofit/>
          </a:bodyPr>
          <a:lstStyle/>
          <a:p>
            <a:pPr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Activity H</a:t>
            </a:r>
            <a:r>
              <a:rPr kumimoji="0" lang="en-US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</a:t>
            </a:r>
          </a:p>
          <a:p>
            <a:pPr lvl="1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LF = Project EF = 24</a:t>
            </a:r>
          </a:p>
          <a:p>
            <a:pPr lvl="1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LS = LF - Duration = 24 - 1 = 23</a:t>
            </a:r>
          </a:p>
          <a:p>
            <a:pPr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Activity G</a:t>
            </a:r>
            <a:r>
              <a:rPr kumimoji="0" lang="en-US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</a:t>
            </a:r>
          </a:p>
          <a:p>
            <a:pPr lvl="1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LF = LS of H = 23</a:t>
            </a:r>
          </a:p>
          <a:p>
            <a:pPr lvl="1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LS = LF - Duration = 23 - 4 = 19</a:t>
            </a:r>
          </a:p>
          <a:p>
            <a:pPr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Activity F</a:t>
            </a:r>
            <a:r>
              <a:rPr kumimoji="0" lang="en-US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</a:t>
            </a:r>
          </a:p>
          <a:p>
            <a:pPr lvl="1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LF = LS of G = 19</a:t>
            </a:r>
          </a:p>
          <a:p>
            <a:pPr lvl="1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LS = LF - Duration = 19 - 2 = 17</a:t>
            </a:r>
          </a:p>
          <a:p>
            <a:pPr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Activity D</a:t>
            </a:r>
            <a:r>
              <a:rPr kumimoji="0" lang="en-US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</a:t>
            </a:r>
          </a:p>
          <a:p>
            <a:pPr lvl="1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LF = LS of F = 17</a:t>
            </a:r>
          </a:p>
          <a:p>
            <a:pPr lvl="1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LS = LF - Duration = 17 - 6 = 11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5F8EA19-7EB8-4B89-F261-AF3124C379CB}"/>
              </a:ext>
            </a:extLst>
          </p:cNvPr>
          <p:cNvSpPr txBox="1">
            <a:spLocks/>
          </p:cNvSpPr>
          <p:nvPr/>
        </p:nvSpPr>
        <p:spPr>
          <a:xfrm>
            <a:off x="12192000" y="3260663"/>
            <a:ext cx="9357359" cy="85832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lang="en-ID" sz="2800" b="1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+mn-cs"/>
              </a:rPr>
              <a:t>Activity E</a:t>
            </a:r>
            <a:r>
              <a:rPr lang="en-ID" sz="28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+mn-cs"/>
              </a:rPr>
              <a:t>:</a:t>
            </a:r>
          </a:p>
          <a:p>
            <a:pPr lvl="1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lang="en-ID" sz="28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+mn-cs"/>
              </a:rPr>
              <a:t>LF = LS of F = 17</a:t>
            </a:r>
          </a:p>
          <a:p>
            <a:pPr lvl="1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lang="en-ID" sz="28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+mn-cs"/>
              </a:rPr>
              <a:t>LS = LF - Duration = 17 - 8 = 9</a:t>
            </a:r>
          </a:p>
          <a:p>
            <a:pPr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lang="en-ID" sz="2800" b="1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+mn-cs"/>
              </a:rPr>
              <a:t>Activity B</a:t>
            </a:r>
            <a:r>
              <a:rPr lang="en-ID" sz="28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+mn-cs"/>
              </a:rPr>
              <a:t>:</a:t>
            </a:r>
          </a:p>
          <a:p>
            <a:pPr lvl="1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lang="en-ID" sz="28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+mn-cs"/>
              </a:rPr>
              <a:t>LF = LS of D = 11</a:t>
            </a:r>
          </a:p>
          <a:p>
            <a:pPr lvl="1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lang="en-ID" sz="28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+mn-cs"/>
              </a:rPr>
              <a:t>LS = LF - Duration = 11 - 3 = 8</a:t>
            </a:r>
          </a:p>
          <a:p>
            <a:pPr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lang="en-ID" sz="2800" b="1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+mn-cs"/>
              </a:rPr>
              <a:t>Activity C</a:t>
            </a:r>
            <a:r>
              <a:rPr lang="en-ID" sz="28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+mn-cs"/>
              </a:rPr>
              <a:t>:</a:t>
            </a:r>
          </a:p>
          <a:p>
            <a:pPr lvl="1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lang="en-ID" sz="28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+mn-cs"/>
              </a:rPr>
              <a:t>LF = LS of E = 9</a:t>
            </a:r>
          </a:p>
          <a:p>
            <a:pPr lvl="1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lang="en-ID" sz="28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+mn-cs"/>
              </a:rPr>
              <a:t>LS = LF - Duration = 9 - 5 = 4</a:t>
            </a:r>
          </a:p>
          <a:p>
            <a:pPr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lang="en-ID" sz="2800" b="1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+mn-cs"/>
              </a:rPr>
              <a:t>Activity A</a:t>
            </a:r>
            <a:r>
              <a:rPr lang="en-ID" sz="28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+mn-cs"/>
              </a:rPr>
              <a:t>:</a:t>
            </a:r>
          </a:p>
          <a:p>
            <a:pPr lvl="1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lang="en-ID" sz="28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+mn-cs"/>
              </a:rPr>
              <a:t>LF = Min(LS of B, LS of C) = Min(8, 4) = 4</a:t>
            </a:r>
          </a:p>
          <a:p>
            <a:pPr lvl="1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lang="en-ID" sz="28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+mn-cs"/>
              </a:rPr>
              <a:t>LS = LF - Duration = 4 - 4 = 0</a:t>
            </a:r>
          </a:p>
        </p:txBody>
      </p:sp>
    </p:spTree>
    <p:extLst>
      <p:ext uri="{BB962C8B-B14F-4D97-AF65-F5344CB8AC3E}">
        <p14:creationId xmlns:p14="http://schemas.microsoft.com/office/powerpoint/2010/main" val="325646473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Critical Path Method (CPM)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9381983" cy="840935"/>
          </a:xfrm>
        </p:spPr>
        <p:txBody>
          <a:bodyPr>
            <a:normAutofit/>
          </a:bodyPr>
          <a:lstStyle/>
          <a:p>
            <a:r>
              <a:rPr lang="en-US" dirty="0"/>
              <a:t>Example: Calculate float for each activity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6" y="3260663"/>
            <a:ext cx="10024623" cy="8583279"/>
          </a:xfrm>
        </p:spPr>
        <p:txBody>
          <a:bodyPr anchor="ctr">
            <a:noAutofit/>
          </a:bodyPr>
          <a:lstStyle/>
          <a:p>
            <a:pPr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Activity A</a:t>
            </a:r>
            <a:r>
              <a:rPr kumimoji="0" lang="en-US" sz="3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</a:t>
            </a:r>
          </a:p>
          <a:p>
            <a:pPr lvl="1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3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Total Float = LS - ES = 0 - 0 = 0</a:t>
            </a:r>
          </a:p>
          <a:p>
            <a:pPr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Activity B</a:t>
            </a:r>
            <a:r>
              <a:rPr kumimoji="0" lang="en-US" sz="3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</a:t>
            </a:r>
          </a:p>
          <a:p>
            <a:pPr lvl="1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3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Total Float = 8 - 4 = 4</a:t>
            </a:r>
          </a:p>
          <a:p>
            <a:pPr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Activity C</a:t>
            </a:r>
            <a:r>
              <a:rPr kumimoji="0" lang="en-US" sz="3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</a:t>
            </a:r>
          </a:p>
          <a:p>
            <a:pPr lvl="1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3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Total Float = 4 - 4 = 0</a:t>
            </a:r>
          </a:p>
          <a:p>
            <a:pPr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Activity D</a:t>
            </a:r>
            <a:r>
              <a:rPr kumimoji="0" lang="en-US" sz="3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</a:t>
            </a:r>
          </a:p>
          <a:p>
            <a:pPr lvl="1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3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Total Float = 11 - 7 = 4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5F8EA19-7EB8-4B89-F261-AF3124C379CB}"/>
              </a:ext>
            </a:extLst>
          </p:cNvPr>
          <p:cNvSpPr txBox="1">
            <a:spLocks/>
          </p:cNvSpPr>
          <p:nvPr/>
        </p:nvSpPr>
        <p:spPr>
          <a:xfrm>
            <a:off x="12192000" y="3260663"/>
            <a:ext cx="9357359" cy="85832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lang="en-ID" sz="2800" b="1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+mn-cs"/>
              </a:rPr>
              <a:t>Activity E</a:t>
            </a:r>
            <a:r>
              <a:rPr lang="en-ID" sz="28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+mn-cs"/>
              </a:rPr>
              <a:t>:</a:t>
            </a:r>
          </a:p>
          <a:p>
            <a:pPr lvl="1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lang="en-ID" sz="28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+mn-cs"/>
              </a:rPr>
              <a:t>Total Float = 9 - 9 = 0</a:t>
            </a:r>
          </a:p>
          <a:p>
            <a:pPr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lang="en-ID" sz="2800" b="1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+mn-cs"/>
              </a:rPr>
              <a:t>Activity F</a:t>
            </a:r>
            <a:r>
              <a:rPr lang="en-ID" sz="28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+mn-cs"/>
              </a:rPr>
              <a:t>:</a:t>
            </a:r>
          </a:p>
          <a:p>
            <a:pPr lvl="1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lang="en-ID" sz="28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+mn-cs"/>
              </a:rPr>
              <a:t>Total Float = 17 - 17 = 0</a:t>
            </a:r>
          </a:p>
          <a:p>
            <a:pPr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lang="en-ID" sz="2800" b="1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+mn-cs"/>
              </a:rPr>
              <a:t>Activity G</a:t>
            </a:r>
          </a:p>
          <a:p>
            <a:pPr lvl="1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lang="en-ID" sz="28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+mn-cs"/>
              </a:rPr>
              <a:t>:Total Float = 19 - 19 = 0</a:t>
            </a:r>
          </a:p>
          <a:p>
            <a:pPr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lang="en-ID" sz="2800" b="1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+mn-cs"/>
              </a:rPr>
              <a:t>Activity H</a:t>
            </a:r>
            <a:r>
              <a:rPr lang="en-ID" sz="28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+mn-cs"/>
              </a:rPr>
              <a:t>:</a:t>
            </a:r>
          </a:p>
          <a:p>
            <a:pPr lvl="1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lang="en-ID" sz="28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+mn-cs"/>
              </a:rPr>
              <a:t>Total Float = 23 - 23 = 0</a:t>
            </a:r>
          </a:p>
        </p:txBody>
      </p:sp>
    </p:spTree>
    <p:extLst>
      <p:ext uri="{BB962C8B-B14F-4D97-AF65-F5344CB8AC3E}">
        <p14:creationId xmlns:p14="http://schemas.microsoft.com/office/powerpoint/2010/main" val="460829655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Critical Path Method (CPM)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9381983" cy="840935"/>
          </a:xfrm>
        </p:spPr>
        <p:txBody>
          <a:bodyPr>
            <a:normAutofit/>
          </a:bodyPr>
          <a:lstStyle/>
          <a:p>
            <a:r>
              <a:rPr lang="en-US" dirty="0"/>
              <a:t>Example: Identify Critical Path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6" y="3260663"/>
            <a:ext cx="14200384" cy="8583279"/>
          </a:xfrm>
        </p:spPr>
        <p:txBody>
          <a:bodyPr anchor="ctr">
            <a:noAutofit/>
          </a:bodyPr>
          <a:lstStyle/>
          <a:p>
            <a:pPr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Activities with zero total float</a:t>
            </a:r>
            <a:r>
              <a:rPr kumimoji="0" lang="en-US" sz="3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 A → C → E → F → G → H</a:t>
            </a:r>
          </a:p>
          <a:p>
            <a:pPr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Critical Path</a:t>
            </a:r>
            <a:r>
              <a:rPr kumimoji="0" lang="en-US" sz="3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 A-C-E-F-G-H</a:t>
            </a:r>
          </a:p>
          <a:p>
            <a:pPr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Project Duration</a:t>
            </a:r>
            <a:r>
              <a:rPr kumimoji="0" lang="en-US" sz="3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 24 days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5F8EA19-7EB8-4B89-F261-AF3124C379CB}"/>
              </a:ext>
            </a:extLst>
          </p:cNvPr>
          <p:cNvSpPr txBox="1">
            <a:spLocks/>
          </p:cNvSpPr>
          <p:nvPr/>
        </p:nvSpPr>
        <p:spPr>
          <a:xfrm>
            <a:off x="12192000" y="3260663"/>
            <a:ext cx="9357359" cy="85832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endParaRPr lang="en-ID" sz="2800" kern="1200" dirty="0">
              <a:solidFill>
                <a:prstClr val="black"/>
              </a:solidFill>
              <a:latin typeface="Open Sans"/>
              <a:ea typeface="MS PGothic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8004917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Advanced </a:t>
            </a:r>
            <a:r>
              <a:rPr lang="en-US" sz="4000" b="1" dirty="0" err="1"/>
              <a:t>ScheduLing</a:t>
            </a:r>
            <a:r>
              <a:rPr lang="en-US" sz="4000" b="1" dirty="0"/>
              <a:t> Techniques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9381983" cy="840935"/>
          </a:xfrm>
        </p:spPr>
        <p:txBody>
          <a:bodyPr>
            <a:normAutofit/>
          </a:bodyPr>
          <a:lstStyle/>
          <a:p>
            <a:r>
              <a:rPr lang="en-US" dirty="0"/>
              <a:t>Agile and Iterative Scheduling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6" y="3260663"/>
            <a:ext cx="14200384" cy="8583279"/>
          </a:xfrm>
        </p:spPr>
        <p:txBody>
          <a:bodyPr anchor="ctr">
            <a:noAutofit/>
          </a:bodyPr>
          <a:lstStyle/>
          <a:p>
            <a:pPr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Timeboxing</a:t>
            </a:r>
            <a:r>
              <a:rPr kumimoji="0" lang="en-US" sz="3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 Allocating a fixed time period for each process.</a:t>
            </a:r>
          </a:p>
          <a:p>
            <a:pPr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Sprints</a:t>
            </a:r>
            <a:r>
              <a:rPr kumimoji="0" lang="en-US" sz="3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 Short, consistent durations (e.g., 2 weeks) where specific work is completed.</a:t>
            </a:r>
          </a:p>
          <a:p>
            <a:pPr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Backlogs and Burn-down Charts</a:t>
            </a:r>
            <a:r>
              <a:rPr kumimoji="0" lang="en-US" sz="3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 Tools to manage and visualize progress.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5F8EA19-7EB8-4B89-F261-AF3124C379CB}"/>
              </a:ext>
            </a:extLst>
          </p:cNvPr>
          <p:cNvSpPr txBox="1">
            <a:spLocks/>
          </p:cNvSpPr>
          <p:nvPr/>
        </p:nvSpPr>
        <p:spPr>
          <a:xfrm>
            <a:off x="12192000" y="3260663"/>
            <a:ext cx="9357359" cy="85832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endParaRPr lang="en-ID" sz="2800" kern="1200" dirty="0">
              <a:solidFill>
                <a:prstClr val="black"/>
              </a:solidFill>
              <a:latin typeface="Open Sans"/>
              <a:ea typeface="MS PGothic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4850057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Advanced </a:t>
            </a:r>
            <a:r>
              <a:rPr lang="en-US" sz="4000" b="1" dirty="0" err="1"/>
              <a:t>ScheduLing</a:t>
            </a:r>
            <a:r>
              <a:rPr lang="en-US" sz="4000" b="1" dirty="0"/>
              <a:t> Techniques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9381983" cy="840935"/>
          </a:xfrm>
        </p:spPr>
        <p:txBody>
          <a:bodyPr>
            <a:normAutofit/>
          </a:bodyPr>
          <a:lstStyle/>
          <a:p>
            <a:r>
              <a:rPr lang="en-US" dirty="0"/>
              <a:t>Timeboxing and Sprint Planning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6" y="3260663"/>
            <a:ext cx="14200384" cy="8583279"/>
          </a:xfrm>
        </p:spPr>
        <p:txBody>
          <a:bodyPr anchor="ctr">
            <a:noAutofit/>
          </a:bodyPr>
          <a:lstStyle/>
          <a:p>
            <a:pPr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Timeboxing Benefits</a:t>
            </a:r>
            <a:r>
              <a:rPr kumimoji="0" lang="en-US" sz="3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</a:t>
            </a:r>
          </a:p>
          <a:p>
            <a:pPr lvl="1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3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Encourages focus on priorities.</a:t>
            </a:r>
          </a:p>
          <a:p>
            <a:pPr lvl="1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3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Improves predictability and efficiency.</a:t>
            </a:r>
          </a:p>
          <a:p>
            <a:pPr lvl="1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3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Facilitates regular delivery of increments.</a:t>
            </a:r>
          </a:p>
          <a:p>
            <a:pPr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Sprint Planning</a:t>
            </a:r>
            <a:r>
              <a:rPr kumimoji="0" lang="en-US" sz="3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</a:t>
            </a:r>
          </a:p>
          <a:p>
            <a:pPr lvl="1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3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Define sprint goals.</a:t>
            </a:r>
          </a:p>
          <a:p>
            <a:pPr lvl="1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3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Select backlog items to include.</a:t>
            </a:r>
          </a:p>
          <a:p>
            <a:pPr lvl="1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3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Estimate tasks and assign responsibilities.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5F8EA19-7EB8-4B89-F261-AF3124C379CB}"/>
              </a:ext>
            </a:extLst>
          </p:cNvPr>
          <p:cNvSpPr txBox="1">
            <a:spLocks/>
          </p:cNvSpPr>
          <p:nvPr/>
        </p:nvSpPr>
        <p:spPr>
          <a:xfrm>
            <a:off x="12192000" y="3260663"/>
            <a:ext cx="9357359" cy="85832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endParaRPr lang="en-ID" sz="2800" kern="1200" dirty="0">
              <a:solidFill>
                <a:prstClr val="black"/>
              </a:solidFill>
              <a:latin typeface="Open Sans"/>
              <a:ea typeface="MS PGothic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1884752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Advanced </a:t>
            </a:r>
            <a:r>
              <a:rPr lang="en-US" sz="4000" b="1" dirty="0" err="1"/>
              <a:t>ScheduLing</a:t>
            </a:r>
            <a:r>
              <a:rPr lang="en-US" sz="4000" b="1" dirty="0"/>
              <a:t> Techniques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9381983" cy="840935"/>
          </a:xfrm>
        </p:spPr>
        <p:txBody>
          <a:bodyPr>
            <a:normAutofit/>
          </a:bodyPr>
          <a:lstStyle/>
          <a:p>
            <a:r>
              <a:rPr lang="en-US" dirty="0"/>
              <a:t>Resource-Constrained Scheduling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6" y="3260663"/>
            <a:ext cx="14200384" cy="8583279"/>
          </a:xfrm>
        </p:spPr>
        <p:txBody>
          <a:bodyPr anchor="ctr">
            <a:noAutofit/>
          </a:bodyPr>
          <a:lstStyle/>
          <a:p>
            <a:pPr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Definition</a:t>
            </a:r>
            <a:r>
              <a:rPr kumimoji="0" lang="en-US" sz="3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 Adjusting the schedule based on resource availability.</a:t>
            </a:r>
          </a:p>
          <a:p>
            <a:pPr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Techniques</a:t>
            </a:r>
            <a:r>
              <a:rPr kumimoji="0" lang="en-US" sz="3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</a:t>
            </a:r>
          </a:p>
          <a:p>
            <a:pPr lvl="1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Resource Leveling</a:t>
            </a:r>
            <a:r>
              <a:rPr kumimoji="0" lang="en-US" sz="3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 Modifying task schedules to minimize resource peaks and valleys.</a:t>
            </a:r>
          </a:p>
          <a:p>
            <a:pPr lvl="1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Resource Allocation Heuristics</a:t>
            </a:r>
            <a:r>
              <a:rPr kumimoji="0" lang="en-US" sz="3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 Prioritizing tasks based on criticality and resource demands.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5F8EA19-7EB8-4B89-F261-AF3124C379CB}"/>
              </a:ext>
            </a:extLst>
          </p:cNvPr>
          <p:cNvSpPr txBox="1">
            <a:spLocks/>
          </p:cNvSpPr>
          <p:nvPr/>
        </p:nvSpPr>
        <p:spPr>
          <a:xfrm>
            <a:off x="12192000" y="3260663"/>
            <a:ext cx="9357359" cy="85832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endParaRPr lang="en-ID" sz="2800" kern="1200" dirty="0">
              <a:solidFill>
                <a:prstClr val="black"/>
              </a:solidFill>
              <a:latin typeface="Open Sans"/>
              <a:ea typeface="MS PGothic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7098744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Advanced </a:t>
            </a:r>
            <a:r>
              <a:rPr lang="en-US" sz="4000" b="1" dirty="0" err="1"/>
              <a:t>ScheduLing</a:t>
            </a:r>
            <a:r>
              <a:rPr lang="en-US" sz="4000" b="1" dirty="0"/>
              <a:t> Techniques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9381983" cy="840935"/>
          </a:xfrm>
        </p:spPr>
        <p:txBody>
          <a:bodyPr>
            <a:normAutofit/>
          </a:bodyPr>
          <a:lstStyle/>
          <a:p>
            <a:r>
              <a:rPr lang="en-US" dirty="0"/>
              <a:t>Fast Tracking and Crashing Techniques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6" y="3260663"/>
            <a:ext cx="14200384" cy="8583279"/>
          </a:xfrm>
        </p:spPr>
        <p:txBody>
          <a:bodyPr anchor="ctr">
            <a:noAutofit/>
          </a:bodyPr>
          <a:lstStyle/>
          <a:p>
            <a:pPr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Fast Tracking</a:t>
            </a:r>
            <a:r>
              <a:rPr kumimoji="0" lang="en-US" sz="3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</a:t>
            </a:r>
          </a:p>
          <a:p>
            <a:pPr lvl="1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3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Performing tasks in parallel that were originally planned in sequence.</a:t>
            </a:r>
          </a:p>
          <a:p>
            <a:pPr lvl="1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Risks</a:t>
            </a:r>
            <a:r>
              <a:rPr kumimoji="0" lang="en-US" sz="3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 Increased complexity, potential for rework.</a:t>
            </a:r>
          </a:p>
          <a:p>
            <a:pPr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Crashing</a:t>
            </a:r>
            <a:r>
              <a:rPr kumimoji="0" lang="en-US" sz="3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</a:t>
            </a:r>
          </a:p>
          <a:p>
            <a:pPr lvl="1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3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Adding resources to critical path tasks to shorten durations.</a:t>
            </a:r>
          </a:p>
          <a:p>
            <a:pPr lvl="1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Considerations</a:t>
            </a:r>
            <a:r>
              <a:rPr kumimoji="0" lang="en-US" sz="3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 Diminishing returns, increased costs.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5F8EA19-7EB8-4B89-F261-AF3124C379CB}"/>
              </a:ext>
            </a:extLst>
          </p:cNvPr>
          <p:cNvSpPr txBox="1">
            <a:spLocks/>
          </p:cNvSpPr>
          <p:nvPr/>
        </p:nvSpPr>
        <p:spPr>
          <a:xfrm>
            <a:off x="12192000" y="3260663"/>
            <a:ext cx="9357359" cy="85832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endParaRPr lang="en-ID" sz="2800" kern="1200" dirty="0">
              <a:solidFill>
                <a:prstClr val="black"/>
              </a:solidFill>
              <a:latin typeface="Open Sans"/>
              <a:ea typeface="MS PGothic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0552899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Tools for Project Scheduling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9381983" cy="840935"/>
          </a:xfrm>
        </p:spPr>
        <p:txBody>
          <a:bodyPr>
            <a:normAutofit/>
          </a:bodyPr>
          <a:lstStyle/>
          <a:p>
            <a:r>
              <a:rPr lang="en-US" dirty="0"/>
              <a:t>Software Tools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6" y="3260663"/>
            <a:ext cx="14200384" cy="8583279"/>
          </a:xfrm>
        </p:spPr>
        <p:txBody>
          <a:bodyPr anchor="ctr">
            <a:noAutofit/>
          </a:bodyPr>
          <a:lstStyle/>
          <a:p>
            <a:pPr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Microsoft Project</a:t>
            </a:r>
            <a:r>
              <a:rPr kumimoji="0" lang="en-US" sz="3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</a:t>
            </a:r>
          </a:p>
          <a:p>
            <a:pPr lvl="1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3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Comprehensive project management tool.</a:t>
            </a:r>
          </a:p>
          <a:p>
            <a:pPr lvl="1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3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Features: Gantt charts, resource management, reporting.</a:t>
            </a:r>
          </a:p>
          <a:p>
            <a:pPr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Jira</a:t>
            </a:r>
            <a:r>
              <a:rPr kumimoji="0" lang="en-US" sz="3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</a:t>
            </a:r>
          </a:p>
          <a:p>
            <a:pPr lvl="1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3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Focused on agile project management.</a:t>
            </a:r>
          </a:p>
          <a:p>
            <a:pPr lvl="1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3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Features: Backlogs, sprint planning, issue tracking.</a:t>
            </a:r>
          </a:p>
          <a:p>
            <a:pPr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Asana</a:t>
            </a:r>
            <a:r>
              <a:rPr kumimoji="0" lang="en-US" sz="3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</a:t>
            </a:r>
          </a:p>
          <a:p>
            <a:pPr lvl="1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3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Flexible project management platform.</a:t>
            </a:r>
          </a:p>
          <a:p>
            <a:pPr lvl="1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3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Features: Task lists, timelines, collaboration tools.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5F8EA19-7EB8-4B89-F261-AF3124C379CB}"/>
              </a:ext>
            </a:extLst>
          </p:cNvPr>
          <p:cNvSpPr txBox="1">
            <a:spLocks/>
          </p:cNvSpPr>
          <p:nvPr/>
        </p:nvSpPr>
        <p:spPr>
          <a:xfrm>
            <a:off x="12192000" y="3260663"/>
            <a:ext cx="9357359" cy="85832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endParaRPr lang="en-ID" sz="2800" kern="1200" dirty="0">
              <a:solidFill>
                <a:prstClr val="black"/>
              </a:solidFill>
              <a:latin typeface="Open Sans"/>
              <a:ea typeface="MS PGothic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0948928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Tools for Project Scheduling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9381983" cy="840935"/>
          </a:xfrm>
        </p:spPr>
        <p:txBody>
          <a:bodyPr>
            <a:normAutofit/>
          </a:bodyPr>
          <a:lstStyle/>
          <a:p>
            <a:r>
              <a:rPr lang="en-US" dirty="0"/>
              <a:t>Best Practices for using scheduling tools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6" y="3260663"/>
            <a:ext cx="14200384" cy="8583279"/>
          </a:xfrm>
        </p:spPr>
        <p:txBody>
          <a:bodyPr anchor="ctr">
            <a:noAutofit/>
          </a:bodyPr>
          <a:lstStyle/>
          <a:p>
            <a:pPr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Regular Updates</a:t>
            </a:r>
            <a:r>
              <a:rPr kumimoji="0" lang="en-US" sz="3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 Keep schedules current to reflect actual progress.</a:t>
            </a:r>
          </a:p>
          <a:p>
            <a:pPr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Collaboration</a:t>
            </a:r>
            <a:r>
              <a:rPr kumimoji="0" lang="en-US" sz="3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 Use tools that support team communication and collaboration.</a:t>
            </a:r>
          </a:p>
          <a:p>
            <a:pPr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Training</a:t>
            </a:r>
            <a:r>
              <a:rPr kumimoji="0" lang="en-US" sz="3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 Ensure team members are proficient with the selected tools.</a:t>
            </a:r>
          </a:p>
          <a:p>
            <a:pPr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Customization</a:t>
            </a:r>
            <a:r>
              <a:rPr kumimoji="0" lang="en-US" sz="3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: Tailor tools to fit the project's specific needs.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5F8EA19-7EB8-4B89-F261-AF3124C379CB}"/>
              </a:ext>
            </a:extLst>
          </p:cNvPr>
          <p:cNvSpPr txBox="1">
            <a:spLocks/>
          </p:cNvSpPr>
          <p:nvPr/>
        </p:nvSpPr>
        <p:spPr>
          <a:xfrm>
            <a:off x="12192000" y="3260663"/>
            <a:ext cx="9357359" cy="85832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endParaRPr lang="en-ID" sz="2800" kern="1200" dirty="0">
              <a:solidFill>
                <a:prstClr val="black"/>
              </a:solidFill>
              <a:latin typeface="Open Sans"/>
              <a:ea typeface="MS PGothic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9803230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CC9A3-FB6E-DB3A-36BC-1DB5FA6C0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3E2DA4-F8BE-01AB-0C23-B97B20B1AE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AE9782-3C02-FAD4-699A-C827BC99AC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3223274"/>
            <a:ext cx="13714940" cy="8620668"/>
          </a:xfrm>
        </p:spPr>
        <p:txBody>
          <a:bodyPr anchor="ctr">
            <a:noAutofit/>
          </a:bodyPr>
          <a:lstStyle/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Titus </a:t>
            </a:r>
            <a:r>
              <a:rPr kumimoji="0" lang="id-ID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Winters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, Tom </a:t>
            </a:r>
            <a:r>
              <a:rPr kumimoji="0" lang="id-ID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Manshreck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, </a:t>
            </a:r>
            <a:r>
              <a:rPr kumimoji="0" lang="id-ID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and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 </a:t>
            </a:r>
            <a:r>
              <a:rPr kumimoji="0" lang="id-ID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Hyrum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 </a:t>
            </a:r>
            <a:r>
              <a:rPr kumimoji="0" lang="id-ID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Wright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. (2020). </a:t>
            </a:r>
            <a:r>
              <a:rPr kumimoji="0" lang="id-ID" sz="36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Software</a:t>
            </a:r>
            <a:r>
              <a:rPr kumimoji="0" lang="id-ID" sz="3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 Engineering </a:t>
            </a:r>
            <a:r>
              <a:rPr kumimoji="0" lang="id-ID" sz="36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at</a:t>
            </a:r>
            <a:r>
              <a:rPr kumimoji="0" lang="id-ID" sz="3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 Google: </a:t>
            </a:r>
            <a:r>
              <a:rPr kumimoji="0" lang="id-ID" sz="36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Lesson</a:t>
            </a:r>
            <a:r>
              <a:rPr kumimoji="0" lang="id-ID" sz="3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 </a:t>
            </a:r>
            <a:r>
              <a:rPr kumimoji="0" lang="id-ID" sz="36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Learned</a:t>
            </a:r>
            <a:r>
              <a:rPr kumimoji="0" lang="id-ID" sz="3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 </a:t>
            </a:r>
            <a:r>
              <a:rPr kumimoji="0" lang="id-ID" sz="36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from</a:t>
            </a:r>
            <a:r>
              <a:rPr kumimoji="0" lang="id-ID" sz="3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 </a:t>
            </a:r>
            <a:r>
              <a:rPr kumimoji="0" lang="id-ID" sz="36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Programming</a:t>
            </a:r>
            <a:r>
              <a:rPr kumimoji="0" lang="id-ID" sz="3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 Over </a:t>
            </a:r>
            <a:r>
              <a:rPr kumimoji="0" lang="id-ID" sz="36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Time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. 1st. </a:t>
            </a:r>
            <a:r>
              <a:rPr kumimoji="0" lang="id-ID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O’Reilly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 Media. California. ISBN: 978-1492082798. </a:t>
            </a:r>
            <a:r>
              <a:rPr kumimoji="0" lang="id-ID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Page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 69-122.</a:t>
            </a:r>
          </a:p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Roger </a:t>
            </a:r>
            <a:r>
              <a:rPr kumimoji="0" lang="id-ID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Pressman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 </a:t>
            </a:r>
            <a:r>
              <a:rPr kumimoji="0" lang="id-ID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and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 </a:t>
            </a:r>
            <a:r>
              <a:rPr kumimoji="0" lang="id-ID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Bruce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 </a:t>
            </a:r>
            <a:r>
              <a:rPr kumimoji="0" lang="id-ID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Maxim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. (2020). </a:t>
            </a:r>
            <a:r>
              <a:rPr kumimoji="0" lang="id-ID" sz="36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Software</a:t>
            </a:r>
            <a:r>
              <a:rPr kumimoji="0" lang="id-ID" sz="3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 Engineering: </a:t>
            </a:r>
            <a:r>
              <a:rPr kumimoji="0" lang="id-ID" sz="36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A</a:t>
            </a:r>
            <a:r>
              <a:rPr kumimoji="0" lang="id-ID" sz="3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 </a:t>
            </a:r>
            <a:r>
              <a:rPr kumimoji="0" lang="id-ID" sz="36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Practitioner's</a:t>
            </a:r>
            <a:r>
              <a:rPr kumimoji="0" lang="id-ID" sz="3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 </a:t>
            </a:r>
            <a:r>
              <a:rPr kumimoji="0" lang="id-ID" sz="36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Approach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. 9th. </a:t>
            </a:r>
            <a:r>
              <a:rPr kumimoji="0" lang="id-ID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McGraw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 Hill. New </a:t>
            </a:r>
            <a:r>
              <a:rPr kumimoji="0" lang="id-ID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York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. ISBN: 978-1259872976. </a:t>
            </a:r>
            <a:r>
              <a:rPr kumimoji="0" lang="id-ID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Chapter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 24.</a:t>
            </a:r>
          </a:p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Ian </a:t>
            </a:r>
            <a:r>
              <a:rPr kumimoji="0" lang="id-ID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Sommerville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. (2016). </a:t>
            </a:r>
            <a:r>
              <a:rPr kumimoji="0" lang="id-ID" sz="36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Software</a:t>
            </a:r>
            <a:r>
              <a:rPr kumimoji="0" lang="id-ID" sz="3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 Engineering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. 10th. Pearson. London. ISBN: 978-1-292-09613-1. </a:t>
            </a:r>
            <a:r>
              <a:rPr kumimoji="0" lang="id-ID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Chapter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 22.</a:t>
            </a:r>
          </a:p>
          <a:p>
            <a:pPr marL="390525" indent="-390525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Project </a:t>
            </a:r>
            <a:r>
              <a:rPr kumimoji="0" lang="id-ID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Management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 </a:t>
            </a:r>
            <a:r>
              <a:rPr kumimoji="0" lang="id-ID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Institute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. (2021). </a:t>
            </a:r>
            <a:r>
              <a:rPr kumimoji="0" lang="id-ID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A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 </a:t>
            </a:r>
            <a:r>
              <a:rPr kumimoji="0" lang="id-ID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Guide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 </a:t>
            </a:r>
            <a:r>
              <a:rPr kumimoji="0" lang="id-ID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to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 </a:t>
            </a:r>
            <a:r>
              <a:rPr kumimoji="0" lang="id-ID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the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 Project </a:t>
            </a:r>
            <a:r>
              <a:rPr kumimoji="0" lang="id-ID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Management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 </a:t>
            </a:r>
            <a:r>
              <a:rPr kumimoji="0" lang="id-ID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Body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 </a:t>
            </a:r>
            <a:r>
              <a:rPr kumimoji="0" lang="id-ID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of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 </a:t>
            </a:r>
            <a:r>
              <a:rPr kumimoji="0" lang="id-ID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Knowledge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 (PMBOK </a:t>
            </a:r>
            <a:r>
              <a:rPr kumimoji="0" lang="id-ID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Guide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) (7th </a:t>
            </a:r>
            <a:r>
              <a:rPr kumimoji="0" lang="id-ID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Edition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). Project </a:t>
            </a:r>
            <a:r>
              <a:rPr kumimoji="0" lang="id-ID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Management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 </a:t>
            </a:r>
            <a:r>
              <a:rPr kumimoji="0" lang="id-ID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Institute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7612424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2" id="{91EC78B4-BE4F-3B4D-B302-CF3E80410C1C}" vid="{48571482-A7A2-E44B-AA81-515161122809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Version xmlns="http://schemas.microsoft.com/sharepoint/v3/fields" xsi:nil="true"/>
    <TaxCatchAll xmlns="9fdf624c-fedc-4f6c-b928-0c7bf4c9e100" xsi:nil="true"/>
    <_Flow_SignoffStatus xmlns="47793baa-3cbb-486e-a055-4d42ce3882d7" xsi:nil="true"/>
    <_dlc_DocId xmlns="9fdf624c-fedc-4f6c-b928-0c7bf4c9e100">J56STF5CZXNR-2061195910-875156</_dlc_DocId>
    <_dlc_DocIdUrl xmlns="9fdf624c-fedc-4f6c-b928-0c7bf4c9e100">
      <Url>https://binusianorg.sharepoint.com/sites/arc/_layouts/15/DocIdRedir.aspx?ID=J56STF5CZXNR-2061195910-875156</Url>
      <Description>J56STF5CZXNR-2061195910-875156</Description>
    </_dlc_DocIdUrl>
  </documentManagement>
</p:properties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44340CFFCDDB44F9904404F1FA9688C" ma:contentTypeVersion="18" ma:contentTypeDescription="Create a new document." ma:contentTypeScope="" ma:versionID="2a43a3a40365f9eee60928e1a48d8e8a">
  <xsd:schema xmlns:xsd="http://www.w3.org/2001/XMLSchema" xmlns:xs="http://www.w3.org/2001/XMLSchema" xmlns:p="http://schemas.microsoft.com/office/2006/metadata/properties" xmlns:ns2="9fdf624c-fedc-4f6c-b928-0c7bf4c9e100" xmlns:ns3="47793baa-3cbb-486e-a055-4d42ce3882d7" xmlns:ns4="http://schemas.microsoft.com/sharepoint/v3/fields" targetNamespace="http://schemas.microsoft.com/office/2006/metadata/properties" ma:root="true" ma:fieldsID="b55bbfde6f7dd5be9fcb8a553256df6e" ns2:_="" ns3:_="" ns4:_="">
    <xsd:import namespace="9fdf624c-fedc-4f6c-b928-0c7bf4c9e100"/>
    <xsd:import namespace="47793baa-3cbb-486e-a055-4d42ce3882d7"/>
    <xsd:import namespace="http://schemas.microsoft.com/sharepoint/v3/fields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2:SharedWithUsers" minOccurs="0"/>
                <xsd:element ref="ns2:SharedWithDetails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_Flow_SignoffStatus" minOccurs="0"/>
                <xsd:element ref="ns4:_Version" minOccurs="0"/>
                <xsd:element ref="ns3:MediaLengthInSeconds" minOccurs="0"/>
                <xsd:element ref="ns2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df624c-fedc-4f6c-b928-0c7bf4c9e100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7" nillable="true" ma:displayName="Taxonomy Catch All Column" ma:hidden="true" ma:list="{131959e2-2cf4-437e-858a-61f1b162208b}" ma:internalName="TaxCatchAll" ma:showField="CatchAllData" ma:web="9fdf624c-fedc-4f6c-b928-0c7bf4c9e10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793baa-3cbb-486e-a055-4d42ce3882d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Flow_SignoffStatus" ma:index="23" nillable="true" ma:displayName="Sign-off status" ma:internalName="Sign_x002d_off_x0020_status">
      <xsd:simpleType>
        <xsd:restriction base="dms:Text"/>
      </xsd:simpleType>
    </xsd:element>
    <xsd:element name="MediaLengthInSeconds" ma:index="25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Version" ma:index="24" nillable="true" ma:displayName="Version" ma:internalName="_Version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2252D89-D1E6-488A-B078-4573BAE073F6}">
  <ds:schemaRefs>
    <ds:schemaRef ds:uri="http://purl.org/dc/terms/"/>
    <ds:schemaRef ds:uri="2661c1c1-ed05-4275-a33d-64e31eb1ea69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4f26481f-d1e8-4452-9a9a-b303515fd2b7"/>
    <ds:schemaRef ds:uri="http://schemas.microsoft.com/office/2006/metadata/properties"/>
    <ds:schemaRef ds:uri="http://purl.org/dc/dcmitype/"/>
    <ds:schemaRef ds:uri="http://schemas.microsoft.com/sharepoint/v3/fields"/>
    <ds:schemaRef ds:uri="9fdf624c-fedc-4f6c-b928-0c7bf4c9e100"/>
    <ds:schemaRef ds:uri="47793baa-3cbb-486e-a055-4d42ce3882d7"/>
  </ds:schemaRefs>
</ds:datastoreItem>
</file>

<file path=customXml/itemProps2.xml><?xml version="1.0" encoding="utf-8"?>
<ds:datastoreItem xmlns:ds="http://schemas.openxmlformats.org/officeDocument/2006/customXml" ds:itemID="{CDDAE38A-8264-43C3-9B01-B7FA25F10602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90A97211-242D-415A-8ADE-6F44C1D92C7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fdf624c-fedc-4f6c-b928-0c7bf4c9e100"/>
    <ds:schemaRef ds:uri="47793baa-3cbb-486e-a055-4d42ce3882d7"/>
    <ds:schemaRef ds:uri="http://schemas.microsoft.com/sharepoint/v3/field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2E0FE671-25D8-4116-9472-BF9297986CC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BINUS Learning Object Slide Template 2022</Template>
  <TotalTime>4232</TotalTime>
  <Words>1992</Words>
  <Application>Microsoft Macintosh PowerPoint</Application>
  <PresentationFormat>Custom</PresentationFormat>
  <Paragraphs>293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Open Sans Light</vt:lpstr>
      <vt:lpstr>OCRB</vt:lpstr>
      <vt:lpstr>Open Sans Semibold</vt:lpstr>
      <vt:lpstr>Open Sans</vt:lpstr>
      <vt:lpstr>Arial</vt:lpstr>
      <vt:lpstr>Open Sans ExtraBold</vt:lpstr>
      <vt:lpstr>21_BasicWhite</vt:lpstr>
      <vt:lpstr>Project Scheduling</vt:lpstr>
      <vt:lpstr>Session 13 – Project Scheduling</vt:lpstr>
      <vt:lpstr>Session 13 – Project scheduling</vt:lpstr>
      <vt:lpstr>Introduction to Project Scheduling</vt:lpstr>
      <vt:lpstr>Introduction to Project Scheduling</vt:lpstr>
      <vt:lpstr>Introduction to Project Scheduling</vt:lpstr>
      <vt:lpstr>Developing project Schedules</vt:lpstr>
      <vt:lpstr>Developing project Schedules</vt:lpstr>
      <vt:lpstr>Developing project Schedules</vt:lpstr>
      <vt:lpstr>Developing project Schedules</vt:lpstr>
      <vt:lpstr>Developing project Schedules</vt:lpstr>
      <vt:lpstr>Developing project Schedules</vt:lpstr>
      <vt:lpstr>Critical Path Method (CPM)</vt:lpstr>
      <vt:lpstr>Critical Path Method (CPM)</vt:lpstr>
      <vt:lpstr>Critical Path Method (CPM)</vt:lpstr>
      <vt:lpstr>Critical Path Method (CPM)</vt:lpstr>
      <vt:lpstr>Critical Path Method (CPM)</vt:lpstr>
      <vt:lpstr>Critical Path Method (CPM)</vt:lpstr>
      <vt:lpstr>Critical Path Method (CPM)</vt:lpstr>
      <vt:lpstr>Critical Path Method (CPM)</vt:lpstr>
      <vt:lpstr>Critical Path Method (CPM)</vt:lpstr>
      <vt:lpstr>Critical Path Method (CPM)</vt:lpstr>
      <vt:lpstr>Critical Path Method (CPM)</vt:lpstr>
      <vt:lpstr>Advanced ScheduLing Techniques</vt:lpstr>
      <vt:lpstr>Advanced ScheduLing Techniques</vt:lpstr>
      <vt:lpstr>Advanced ScheduLing Techniques</vt:lpstr>
      <vt:lpstr>Advanced ScheduLing Techniques</vt:lpstr>
      <vt:lpstr>Tools for Project Scheduling</vt:lpstr>
      <vt:lpstr>Tools for Project Scheduling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Aris Priyanto</dc:creator>
  <cp:lastModifiedBy>Kenny Jingga</cp:lastModifiedBy>
  <cp:revision>127</cp:revision>
  <dcterms:created xsi:type="dcterms:W3CDTF">2023-04-06T08:40:27Z</dcterms:created>
  <dcterms:modified xsi:type="dcterms:W3CDTF">2024-11-04T17:18:10Z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0x010100144340CFFCDDB44F9904404F1FA9688C</vt:lpwstr>
  </property>
  <property fmtid="{D5CDD505-2E9C-101B-9397-08002B2CF9AE}" pid="3" name="_dlc_DocIdItemGuid">
    <vt:lpwstr>a8e96856-29d3-47af-8f22-9a1c34492d36</vt:lpwstr>
  </property>
</Properties>
</file>