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30"/>
  </p:notesMasterIdLst>
  <p:sldIdLst>
    <p:sldId id="256" r:id="rId6"/>
    <p:sldId id="257" r:id="rId7"/>
    <p:sldId id="258" r:id="rId8"/>
    <p:sldId id="303" r:id="rId9"/>
    <p:sldId id="288" r:id="rId10"/>
    <p:sldId id="304" r:id="rId11"/>
    <p:sldId id="319" r:id="rId12"/>
    <p:sldId id="328" r:id="rId13"/>
    <p:sldId id="329" r:id="rId14"/>
    <p:sldId id="327" r:id="rId15"/>
    <p:sldId id="330" r:id="rId16"/>
    <p:sldId id="331" r:id="rId17"/>
    <p:sldId id="332" r:id="rId18"/>
    <p:sldId id="320" r:id="rId19"/>
    <p:sldId id="333" r:id="rId20"/>
    <p:sldId id="334" r:id="rId21"/>
    <p:sldId id="335" r:id="rId22"/>
    <p:sldId id="321" r:id="rId23"/>
    <p:sldId id="322" r:id="rId24"/>
    <p:sldId id="323" r:id="rId25"/>
    <p:sldId id="324" r:id="rId26"/>
    <p:sldId id="325" r:id="rId27"/>
    <p:sldId id="336" r:id="rId28"/>
    <p:sldId id="284" r:id="rId29"/>
  </p:sldIdLst>
  <p:sldSz cx="24384000" cy="13716000"/>
  <p:notesSz cx="6858000" cy="9144000"/>
  <p:embeddedFontLst>
    <p:embeddedFont>
      <p:font typeface="OCRB" panose="020B0609020202020204" pitchFamily="49" charset="0"/>
      <p:regular r:id="rId31"/>
    </p:embeddedFont>
    <p:embeddedFont>
      <p:font typeface="Open Sans" panose="020B0606030504020204" pitchFamily="34" charset="0"/>
      <p:regular r:id="rId32"/>
      <p:bold r:id="rId33"/>
      <p:italic r:id="rId34"/>
      <p:boldItalic r:id="rId35"/>
    </p:embeddedFont>
    <p:embeddedFont>
      <p:font typeface="Open Sans ExtraBold" panose="020B0906030804020204" pitchFamily="34" charset="0"/>
      <p:bold r:id="rId36"/>
      <p:italic r:id="rId37"/>
      <p:boldItalic r:id="rId38"/>
    </p:embeddedFont>
    <p:embeddedFont>
      <p:font typeface="Open Sans Light" panose="020B0306030504020204" pitchFamily="34" charset="0"/>
      <p:regular r:id="rId39"/>
      <p:italic r:id="rId40"/>
    </p:embeddedFont>
    <p:embeddedFont>
      <p:font typeface="Open Sans Semibold" panose="020B0706030804020204" pitchFamily="34" charset="0"/>
      <p:regular r:id="rId41"/>
      <p:bold r:id="rId42"/>
      <p:italic r:id="rId43"/>
      <p:boldItalic r:id="rId44"/>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05BD7-AD70-42D7-9632-E94247DB4167}" v="41" dt="2025-12-25T22:10:29.76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autoAdjust="0"/>
    <p:restoredTop sz="86163"/>
  </p:normalViewPr>
  <p:slideViewPr>
    <p:cSldViewPr snapToGrid="0" snapToObjects="1">
      <p:cViewPr varScale="1">
        <p:scale>
          <a:sx n="34" d="100"/>
          <a:sy n="34" d="100"/>
        </p:scale>
        <p:origin x="1157" y="19"/>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9.fntdata"/><Relationship Id="rId21" Type="http://schemas.openxmlformats.org/officeDocument/2006/relationships/slide" Target="slides/slide16.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6.fntdata"/><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undo custSel addSld delSld modSld sldOrd">
      <pc:chgData name="Maulin Nasari" userId="2c02bce8-14a6-4f73-b14a-299518f8dfce" providerId="ADAL" clId="{973AE700-8634-4AC6-A10B-DFA7AFECB9DA}" dt="2025-12-26T05:59:10.355" v="233" actId="1076"/>
      <pc:docMkLst>
        <pc:docMk/>
      </pc:docMkLst>
      <pc:sldChg chg="modSp mod">
        <pc:chgData name="Maulin Nasari" userId="2c02bce8-14a6-4f73-b14a-299518f8dfce" providerId="ADAL" clId="{973AE700-8634-4AC6-A10B-DFA7AFECB9DA}" dt="2025-12-25T22:09:52.443" v="226" actId="20577"/>
        <pc:sldMkLst>
          <pc:docMk/>
          <pc:sldMk cId="3487223446" sldId="256"/>
        </pc:sldMkLst>
        <pc:spChg chg="mod">
          <ac:chgData name="Maulin Nasari" userId="2c02bce8-14a6-4f73-b14a-299518f8dfce" providerId="ADAL" clId="{973AE700-8634-4AC6-A10B-DFA7AFECB9DA}" dt="2025-12-25T22:09:52.443" v="226" actId="20577"/>
          <ac:spMkLst>
            <pc:docMk/>
            <pc:sldMk cId="3487223446" sldId="256"/>
            <ac:spMk id="2" creationId="{CA264C53-F38A-3CAD-0C8A-2BF46116F396}"/>
          </ac:spMkLst>
        </pc:spChg>
        <pc:spChg chg="mod">
          <ac:chgData name="Maulin Nasari" userId="2c02bce8-14a6-4f73-b14a-299518f8dfce" providerId="ADAL" clId="{973AE700-8634-4AC6-A10B-DFA7AFECB9DA}" dt="2025-12-24T10:50:03.372" v="0" actId="20577"/>
          <ac:spMkLst>
            <pc:docMk/>
            <pc:sldMk cId="3487223446" sldId="256"/>
            <ac:spMk id="3" creationId="{1220BAB2-790F-F74A-024A-FC22D1A3E6EA}"/>
          </ac:spMkLst>
        </pc:spChg>
      </pc:sldChg>
      <pc:sldChg chg="modSp mod">
        <pc:chgData name="Maulin Nasari" userId="2c02bce8-14a6-4f73-b14a-299518f8dfce" providerId="ADAL" clId="{973AE700-8634-4AC6-A10B-DFA7AFECB9DA}" dt="2025-12-24T11:30:23.073" v="54" actId="20577"/>
        <pc:sldMkLst>
          <pc:docMk/>
          <pc:sldMk cId="3855785854" sldId="257"/>
        </pc:sldMkLst>
        <pc:spChg chg="mod">
          <ac:chgData name="Maulin Nasari" userId="2c02bce8-14a6-4f73-b14a-299518f8dfce" providerId="ADAL" clId="{973AE700-8634-4AC6-A10B-DFA7AFECB9DA}" dt="2025-12-24T10:53:44.549" v="5" actId="20577"/>
          <ac:spMkLst>
            <pc:docMk/>
            <pc:sldMk cId="3855785854" sldId="257"/>
            <ac:spMk id="2" creationId="{F1BF52CD-EA76-003A-7192-0E9167BA3901}"/>
          </ac:spMkLst>
        </pc:spChg>
        <pc:spChg chg="mod">
          <ac:chgData name="Maulin Nasari" userId="2c02bce8-14a6-4f73-b14a-299518f8dfce" providerId="ADAL" clId="{973AE700-8634-4AC6-A10B-DFA7AFECB9DA}" dt="2025-12-24T11:30:23.073" v="54" actId="20577"/>
          <ac:spMkLst>
            <pc:docMk/>
            <pc:sldMk cId="3855785854" sldId="257"/>
            <ac:spMk id="4" creationId="{76E358E3-B24E-F7A5-ECF8-12101774A9ED}"/>
          </ac:spMkLst>
        </pc:spChg>
      </pc:sldChg>
      <pc:sldChg chg="modSp mod">
        <pc:chgData name="Maulin Nasari" userId="2c02bce8-14a6-4f73-b14a-299518f8dfce" providerId="ADAL" clId="{973AE700-8634-4AC6-A10B-DFA7AFECB9DA}" dt="2025-12-25T22:10:29.764" v="227"/>
        <pc:sldMkLst>
          <pc:docMk/>
          <pc:sldMk cId="481981883" sldId="258"/>
        </pc:sldMkLst>
        <pc:spChg chg="mod">
          <ac:chgData name="Maulin Nasari" userId="2c02bce8-14a6-4f73-b14a-299518f8dfce" providerId="ADAL" clId="{973AE700-8634-4AC6-A10B-DFA7AFECB9DA}" dt="2025-12-24T10:53:50.094" v="6"/>
          <ac:spMkLst>
            <pc:docMk/>
            <pc:sldMk cId="481981883" sldId="258"/>
            <ac:spMk id="2" creationId="{F1BF52CD-EA76-003A-7192-0E9167BA3901}"/>
          </ac:spMkLst>
        </pc:spChg>
        <pc:spChg chg="mod">
          <ac:chgData name="Maulin Nasari" userId="2c02bce8-14a6-4f73-b14a-299518f8dfce" providerId="ADAL" clId="{973AE700-8634-4AC6-A10B-DFA7AFECB9DA}" dt="2025-12-25T22:10:29.764" v="227"/>
          <ac:spMkLst>
            <pc:docMk/>
            <pc:sldMk cId="481981883" sldId="258"/>
            <ac:spMk id="4" creationId="{76E358E3-B24E-F7A5-ECF8-12101774A9ED}"/>
          </ac:spMkLst>
        </pc:spChg>
      </pc:sldChg>
      <pc:sldChg chg="modSp mod">
        <pc:chgData name="Maulin Nasari" userId="2c02bce8-14a6-4f73-b14a-299518f8dfce" providerId="ADAL" clId="{973AE700-8634-4AC6-A10B-DFA7AFECB9DA}" dt="2025-12-26T05:59:10.355" v="233" actId="1076"/>
        <pc:sldMkLst>
          <pc:docMk/>
          <pc:sldMk cId="1976124244" sldId="284"/>
        </pc:sldMkLst>
        <pc:spChg chg="mod">
          <ac:chgData name="Maulin Nasari" userId="2c02bce8-14a6-4f73-b14a-299518f8dfce" providerId="ADAL" clId="{973AE700-8634-4AC6-A10B-DFA7AFECB9DA}" dt="2025-12-26T05:59:10.355" v="233" actId="1076"/>
          <ac:spMkLst>
            <pc:docMk/>
            <pc:sldMk cId="1976124244" sldId="284"/>
            <ac:spMk id="4" creationId="{0EAE9782-3C02-FAD4-699A-C827BC99AC35}"/>
          </ac:spMkLst>
        </pc:spChg>
      </pc:sldChg>
      <pc:sldChg chg="add">
        <pc:chgData name="Maulin Nasari" userId="2c02bce8-14a6-4f73-b14a-299518f8dfce" providerId="ADAL" clId="{973AE700-8634-4AC6-A10B-DFA7AFECB9DA}" dt="2025-12-24T10:58:51.754" v="32"/>
        <pc:sldMkLst>
          <pc:docMk/>
          <pc:sldMk cId="2548910871" sldId="288"/>
        </pc:sldMkLst>
      </pc:sldChg>
      <pc:sldChg chg="modSp add del mod">
        <pc:chgData name="Maulin Nasari" userId="2c02bce8-14a6-4f73-b14a-299518f8dfce" providerId="ADAL" clId="{973AE700-8634-4AC6-A10B-DFA7AFECB9DA}" dt="2025-12-24T10:57:38.588" v="31" actId="5793"/>
        <pc:sldMkLst>
          <pc:docMk/>
          <pc:sldMk cId="1558916046" sldId="303"/>
        </pc:sldMkLst>
        <pc:spChg chg="mod">
          <ac:chgData name="Maulin Nasari" userId="2c02bce8-14a6-4f73-b14a-299518f8dfce" providerId="ADAL" clId="{973AE700-8634-4AC6-A10B-DFA7AFECB9DA}" dt="2025-12-24T10:57:38.588" v="31" actId="5793"/>
          <ac:spMkLst>
            <pc:docMk/>
            <pc:sldMk cId="1558916046" sldId="303"/>
            <ac:spMk id="4" creationId="{B5552849-CE2C-39CE-0303-4B296CF1F9CD}"/>
          </ac:spMkLst>
        </pc:spChg>
      </pc:sldChg>
      <pc:sldChg chg="add del ord">
        <pc:chgData name="Maulin Nasari" userId="2c02bce8-14a6-4f73-b14a-299518f8dfce" providerId="ADAL" clId="{973AE700-8634-4AC6-A10B-DFA7AFECB9DA}" dt="2025-12-24T11:27:29.365" v="34"/>
        <pc:sldMkLst>
          <pc:docMk/>
          <pc:sldMk cId="2487108252" sldId="304"/>
        </pc:sldMkLst>
      </pc:sldChg>
      <pc:sldChg chg="modSp mod">
        <pc:chgData name="Maulin Nasari" userId="2c02bce8-14a6-4f73-b14a-299518f8dfce" providerId="ADAL" clId="{973AE700-8634-4AC6-A10B-DFA7AFECB9DA}" dt="2025-12-24T11:50:20.920" v="178" actId="20577"/>
        <pc:sldMkLst>
          <pc:docMk/>
          <pc:sldMk cId="2847467553" sldId="322"/>
        </pc:sldMkLst>
        <pc:spChg chg="mod">
          <ac:chgData name="Maulin Nasari" userId="2c02bce8-14a6-4f73-b14a-299518f8dfce" providerId="ADAL" clId="{973AE700-8634-4AC6-A10B-DFA7AFECB9DA}" dt="2025-12-24T11:42:12.207" v="73"/>
          <ac:spMkLst>
            <pc:docMk/>
            <pc:sldMk cId="2847467553" sldId="322"/>
            <ac:spMk id="3" creationId="{39E851F2-9100-FF53-F123-D4F65FF84AF7}"/>
          </ac:spMkLst>
        </pc:spChg>
        <pc:spChg chg="mod">
          <ac:chgData name="Maulin Nasari" userId="2c02bce8-14a6-4f73-b14a-299518f8dfce" providerId="ADAL" clId="{973AE700-8634-4AC6-A10B-DFA7AFECB9DA}" dt="2025-12-24T11:50:20.920" v="178" actId="20577"/>
          <ac:spMkLst>
            <pc:docMk/>
            <pc:sldMk cId="2847467553" sldId="322"/>
            <ac:spMk id="4" creationId="{B5552849-CE2C-39CE-0303-4B296CF1F9CD}"/>
          </ac:spMkLst>
        </pc:spChg>
      </pc:sldChg>
      <pc:sldChg chg="addSp delSp modSp mod">
        <pc:chgData name="Maulin Nasari" userId="2c02bce8-14a6-4f73-b14a-299518f8dfce" providerId="ADAL" clId="{973AE700-8634-4AC6-A10B-DFA7AFECB9DA}" dt="2025-12-24T11:50:16.886" v="177" actId="20577"/>
        <pc:sldMkLst>
          <pc:docMk/>
          <pc:sldMk cId="3182479688" sldId="323"/>
        </pc:sldMkLst>
        <pc:spChg chg="mod">
          <ac:chgData name="Maulin Nasari" userId="2c02bce8-14a6-4f73-b14a-299518f8dfce" providerId="ADAL" clId="{973AE700-8634-4AC6-A10B-DFA7AFECB9DA}" dt="2025-12-24T11:45:13.898" v="113" actId="14100"/>
          <ac:spMkLst>
            <pc:docMk/>
            <pc:sldMk cId="3182479688" sldId="323"/>
            <ac:spMk id="3" creationId="{39E851F2-9100-FF53-F123-D4F65FF84AF7}"/>
          </ac:spMkLst>
        </pc:spChg>
        <pc:spChg chg="mod">
          <ac:chgData name="Maulin Nasari" userId="2c02bce8-14a6-4f73-b14a-299518f8dfce" providerId="ADAL" clId="{973AE700-8634-4AC6-A10B-DFA7AFECB9DA}" dt="2025-12-24T11:50:16.886" v="177" actId="20577"/>
          <ac:spMkLst>
            <pc:docMk/>
            <pc:sldMk cId="3182479688" sldId="323"/>
            <ac:spMk id="4" creationId="{B5552849-CE2C-39CE-0303-4B296CF1F9CD}"/>
          </ac:spMkLst>
        </pc:spChg>
      </pc:sldChg>
      <pc:sldChg chg="modSp mod">
        <pc:chgData name="Maulin Nasari" userId="2c02bce8-14a6-4f73-b14a-299518f8dfce" providerId="ADAL" clId="{973AE700-8634-4AC6-A10B-DFA7AFECB9DA}" dt="2025-12-24T11:53:02.330" v="224" actId="14100"/>
        <pc:sldMkLst>
          <pc:docMk/>
          <pc:sldMk cId="2329363430" sldId="324"/>
        </pc:sldMkLst>
        <pc:spChg chg="mod">
          <ac:chgData name="Maulin Nasari" userId="2c02bce8-14a6-4f73-b14a-299518f8dfce" providerId="ADAL" clId="{973AE700-8634-4AC6-A10B-DFA7AFECB9DA}" dt="2025-12-24T11:53:02.330" v="224" actId="14100"/>
          <ac:spMkLst>
            <pc:docMk/>
            <pc:sldMk cId="2329363430" sldId="324"/>
            <ac:spMk id="4" creationId="{B5552849-CE2C-39CE-0303-4B296CF1F9CD}"/>
          </ac:spMkLst>
        </pc:spChg>
      </pc:sldChg>
      <pc:sldChg chg="modSp mod">
        <pc:chgData name="Maulin Nasari" userId="2c02bce8-14a6-4f73-b14a-299518f8dfce" providerId="ADAL" clId="{973AE700-8634-4AC6-A10B-DFA7AFECB9DA}" dt="2025-12-24T11:28:35.382" v="52" actId="14100"/>
        <pc:sldMkLst>
          <pc:docMk/>
          <pc:sldMk cId="490358812" sldId="332"/>
        </pc:sldMkLst>
        <pc:spChg chg="mod">
          <ac:chgData name="Maulin Nasari" userId="2c02bce8-14a6-4f73-b14a-299518f8dfce" providerId="ADAL" clId="{973AE700-8634-4AC6-A10B-DFA7AFECB9DA}" dt="2025-12-24T11:28:35.382" v="52" actId="14100"/>
          <ac:spMkLst>
            <pc:docMk/>
            <pc:sldMk cId="490358812" sldId="332"/>
            <ac:spMk id="4" creationId="{B5552849-CE2C-39CE-0303-4B296CF1F9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04</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lstStyle/>
          <a:p>
            <a:r>
              <a:rPr lang="en-AU" sz="9600" b="1" dirty="0">
                <a:solidFill>
                  <a:schemeClr val="bg1"/>
                </a:solidFill>
              </a:rPr>
              <a:t>scrum framework</a:t>
            </a:r>
            <a:endParaRPr lang="en-US" dirty="0"/>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3377423" cy="547670"/>
          </a:xfrm>
        </p:spPr>
        <p:txBody>
          <a:bodyPr>
            <a:normAutofit fontScale="90000"/>
          </a:bodyPr>
          <a:lstStyle/>
          <a:p>
            <a:r>
              <a:rPr lang="en-US" dirty="0"/>
              <a:t>Session 04 – scrum framework</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6509510"/>
          </a:xfrm>
        </p:spPr>
        <p:txBody>
          <a:bodyPr anchor="ctr">
            <a:normAutofit/>
          </a:bodyPr>
          <a:lstStyle/>
          <a:p>
            <a:pPr marL="0" indent="0">
              <a:buNone/>
            </a:pPr>
            <a:r>
              <a:rPr lang="en-GB"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r>
              <a:rPr lang="en-GB" sz="3600" dirty="0">
                <a:latin typeface="Open Sans" panose="020B0606030504020204" pitchFamily="34" charset="0"/>
                <a:ea typeface="Open Sans" panose="020B0606030504020204" pitchFamily="34" charset="0"/>
                <a:cs typeface="Open Sans" panose="020B0606030504020204" pitchFamily="34" charset="0"/>
              </a:rPr>
              <a:t>Explain the Core Components of the Scrum Framework</a:t>
            </a:r>
          </a:p>
          <a:p>
            <a:r>
              <a:rPr lang="en-GB" sz="3600" dirty="0" err="1">
                <a:latin typeface="Open Sans" panose="020B0606030504020204" pitchFamily="34" charset="0"/>
                <a:ea typeface="Open Sans" panose="020B0606030504020204" pitchFamily="34" charset="0"/>
                <a:cs typeface="Open Sans" panose="020B0606030504020204" pitchFamily="34" charset="0"/>
              </a:rPr>
              <a:t>Analyze</a:t>
            </a:r>
            <a:r>
              <a:rPr lang="en-GB" sz="3600" dirty="0">
                <a:latin typeface="Open Sans" panose="020B0606030504020204" pitchFamily="34" charset="0"/>
                <a:ea typeface="Open Sans" panose="020B0606030504020204" pitchFamily="34" charset="0"/>
                <a:cs typeface="Open Sans" panose="020B0606030504020204" pitchFamily="34" charset="0"/>
              </a:rPr>
              <a:t> the Benefits and Challenges of </a:t>
            </a:r>
            <a:r>
              <a:rPr lang="en-GB" sz="3600">
                <a:latin typeface="Open Sans" panose="020B0606030504020204" pitchFamily="34" charset="0"/>
                <a:ea typeface="Open Sans" panose="020B0606030504020204" pitchFamily="34" charset="0"/>
                <a:cs typeface="Open Sans" panose="020B0606030504020204" pitchFamily="34" charset="0"/>
              </a:rPr>
              <a:t>Scrum Implementation</a:t>
            </a:r>
            <a:endParaRPr lang="en-GB"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04 – scrum framework</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260663"/>
            <a:ext cx="20711673" cy="8583279"/>
          </a:xfrm>
        </p:spPr>
        <p:txBody>
          <a:bodyPr anchor="ctr">
            <a:normAutofit/>
          </a:bodyPr>
          <a:lstStyle/>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Scrum framework overview</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Scrum roles</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Scrum artifacts</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Scrum events</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User stories</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Benefits &amp; challenges of Scrum</a:t>
            </a: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AGILE Framework: Scrum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Scrum</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Scrum is a lightweight framework that helps people, teams and organizations generate value through adaptive solutions for complex problems</a:t>
            </a:r>
          </a:p>
          <a:p>
            <a:pPr marL="0" lvl="0" indent="0" defTabSz="520700" eaLnBrk="0" fontAlgn="base" hangingPunct="0">
              <a:spcBef>
                <a:spcPct val="20000"/>
              </a:spcBef>
              <a:spcAft>
                <a:spcPct val="0"/>
              </a:spcAft>
              <a:buSzTx/>
              <a:buNone/>
              <a:defRPr/>
            </a:pPr>
            <a:endParaRPr lang="en-US" sz="3600" kern="1200" dirty="0">
              <a:solidFill>
                <a:prstClr val="black"/>
              </a:solidFill>
              <a:latin typeface="Open Sans"/>
              <a:ea typeface="MS PGothic" pitchFamily="34" charset="-128"/>
              <a:cs typeface="Open Sans"/>
            </a:endParaRP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The Scrum framework is purposefully incomplete, only defining the parts required to implement Scrum theory</a:t>
            </a:r>
          </a:p>
          <a:p>
            <a:pPr marL="0" lvl="0" indent="0" defTabSz="520700" eaLnBrk="0" fontAlgn="base" hangingPunct="0">
              <a:spcBef>
                <a:spcPct val="20000"/>
              </a:spcBef>
              <a:spcAft>
                <a:spcPct val="0"/>
              </a:spcAft>
              <a:buSzTx/>
              <a:buNone/>
              <a:defRPr/>
            </a:pPr>
            <a:endParaRPr lang="en-US" sz="3600" kern="1200" dirty="0">
              <a:solidFill>
                <a:prstClr val="black"/>
              </a:solidFill>
              <a:latin typeface="Open Sans"/>
              <a:ea typeface="MS PGothic" pitchFamily="34" charset="-128"/>
              <a:cs typeface="Open Sans"/>
            </a:endParaRP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Scrum is built upon by the collective intelligence of the people using it. Rather than provide people with detailed instructions, the rules of Scrum guide their relationships and interactions.</a:t>
            </a:r>
          </a:p>
          <a:p>
            <a:pPr marL="0" lvl="0" indent="0" defTabSz="520700" eaLnBrk="0" fontAlgn="base" hangingPunct="0">
              <a:spcBef>
                <a:spcPct val="20000"/>
              </a:spcBef>
              <a:spcAft>
                <a:spcPct val="0"/>
              </a:spcAft>
              <a:buSzTx/>
              <a:buNone/>
              <a:defRPr/>
            </a:pPr>
            <a:endParaRPr lang="en-US" sz="3600" kern="1200" dirty="0">
              <a:solidFill>
                <a:prstClr val="black"/>
              </a:solidFill>
              <a:latin typeface="Open Sans"/>
              <a:ea typeface="MS PGothic" pitchFamily="34" charset="-128"/>
              <a:cs typeface="Open Sans"/>
            </a:endParaRP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Various processes, techniques and methods can be employed within the framework. Scrum wraps around existing practices or renders them unnecessary. Scrum makes visible the relative efficacy of current management, environment, and work techniques, so that improvements can be made.</a:t>
            </a: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p:txBody>
      </p:sp>
    </p:spTree>
    <p:extLst>
      <p:ext uri="{BB962C8B-B14F-4D97-AF65-F5344CB8AC3E}">
        <p14:creationId xmlns:p14="http://schemas.microsoft.com/office/powerpoint/2010/main" val="15589160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Scrum</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Fundamental and pillars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Scrum is founded on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empiricism</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and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lean thinking</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Empiricism</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asserts that knowledge comes from experience and making decisions based on what is observed</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Lean thinking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reduces waste and focuses on the essentials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Scrum employs an iterative, incremental approach to optimize predictability and to control risk</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Empirical Scrum pillars 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transparency</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inspection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 and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Wingdings" pitchFamily="2" charset="2"/>
              </a:rPr>
              <a:t>adaptation</a:t>
            </a: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4891087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 Scrum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Scrum</a:t>
            </a:r>
          </a:p>
        </p:txBody>
      </p:sp>
      <p:pic>
        <p:nvPicPr>
          <p:cNvPr id="5" name="Content Placeholder 5">
            <a:extLst>
              <a:ext uri="{FF2B5EF4-FFF2-40B4-BE49-F238E27FC236}">
                <a16:creationId xmlns:a16="http://schemas.microsoft.com/office/drawing/2014/main" id="{D25A08C6-147E-388C-DC14-EB1B6B7EE65B}"/>
              </a:ext>
            </a:extLst>
          </p:cNvPr>
          <p:cNvPicPr>
            <a:picLocks noGrp="1" noChangeAspect="1"/>
          </p:cNvPicPr>
          <p:nvPr>
            <p:ph sz="quarter" idx="11"/>
          </p:nvPr>
        </p:nvPicPr>
        <p:blipFill>
          <a:blip r:embed="rId2"/>
          <a:stretch>
            <a:fillRect/>
          </a:stretch>
        </p:blipFill>
        <p:spPr>
          <a:xfrm>
            <a:off x="2167377" y="3298050"/>
            <a:ext cx="21029592" cy="10097910"/>
          </a:xfrm>
        </p:spPr>
      </p:pic>
    </p:spTree>
    <p:extLst>
      <p:ext uri="{BB962C8B-B14F-4D97-AF65-F5344CB8AC3E}">
        <p14:creationId xmlns:p14="http://schemas.microsoft.com/office/powerpoint/2010/main" val="248710825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Scru</a:t>
            </a:r>
            <a:r>
              <a:rPr lang="en-US" sz="4000" dirty="0"/>
              <a:t>m roles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Product owner</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8583279"/>
          </a:xfrm>
        </p:spPr>
        <p:txBody>
          <a:bodyPr anchor="ctr">
            <a:normAutofit/>
          </a:bodyPr>
          <a:lstStyle/>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Responsibilities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Defines the product vision.</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Manages the Product Backlog.</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Prioritizes needs based on stakeholder input and business value.</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Ensures the team delivers value to the business.</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endParaRPr lang="en-US" sz="3600" kern="1200" dirty="0">
              <a:solidFill>
                <a:prstClr val="black"/>
              </a:solidFill>
              <a:latin typeface="Open Sans"/>
              <a:ea typeface="MS PGothic" pitchFamily="34" charset="-128"/>
              <a:cs typeface="+mn-cs"/>
            </a:endParaRPr>
          </a:p>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Skills Needed</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Strong communication and negotiation skills.</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Understanding of customer needs and market trends.</a:t>
            </a:r>
          </a:p>
        </p:txBody>
      </p:sp>
      <p:pic>
        <p:nvPicPr>
          <p:cNvPr id="1026" name="Picture 2">
            <a:extLst>
              <a:ext uri="{FF2B5EF4-FFF2-40B4-BE49-F238E27FC236}">
                <a16:creationId xmlns:a16="http://schemas.microsoft.com/office/drawing/2014/main" id="{C6B000C0-3FC9-ED57-4425-4CBEEA8715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256974"/>
            <a:ext cx="10134600" cy="5295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02733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Scru</a:t>
            </a:r>
            <a:r>
              <a:rPr lang="en-US" sz="4000" dirty="0"/>
              <a:t>m roles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Scrum Master</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8583279"/>
          </a:xfrm>
        </p:spPr>
        <p:txBody>
          <a:bodyPr anchor="ctr">
            <a:normAutofit/>
          </a:bodyPr>
          <a:lstStyle/>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Responsibilities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Facilitates Scrum events and processes.</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Removes impediments to the team's progress.</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Coaches the team in Scrum practices.</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Serves as a servant leader to the Development Team.</a:t>
            </a:r>
          </a:p>
          <a:p>
            <a:pPr marL="0" marR="0" lvl="0" indent="0" algn="l" defTabSz="520700" rtl="0" eaLnBrk="0" fontAlgn="base" latinLnBrk="0" hangingPunct="0">
              <a:lnSpc>
                <a:spcPct val="100000"/>
              </a:lnSpc>
              <a:spcBef>
                <a:spcPct val="20000"/>
              </a:spcBef>
              <a:spcAft>
                <a:spcPct val="0"/>
              </a:spcAft>
              <a:buClrTx/>
              <a:buSzTx/>
              <a:buNone/>
              <a:tabLst/>
              <a:defRPr/>
            </a:pPr>
            <a:endParaRPr lang="en-US" sz="3600" kern="1200" dirty="0">
              <a:solidFill>
                <a:prstClr val="black"/>
              </a:solidFill>
              <a:latin typeface="Open Sans"/>
              <a:ea typeface="MS PGothic" pitchFamily="34" charset="-128"/>
              <a:cs typeface="+mn-cs"/>
            </a:endParaRPr>
          </a:p>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Skills Needed</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Knowledge of Agile and Scrum principles.</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Strong facilitation and conflict resolution skills.</a:t>
            </a:r>
          </a:p>
        </p:txBody>
      </p:sp>
      <p:pic>
        <p:nvPicPr>
          <p:cNvPr id="3074" name="Picture 2">
            <a:extLst>
              <a:ext uri="{FF2B5EF4-FFF2-40B4-BE49-F238E27FC236}">
                <a16:creationId xmlns:a16="http://schemas.microsoft.com/office/drawing/2014/main" id="{644BFB87-E332-AB1E-5D48-94382106D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345763"/>
            <a:ext cx="10134600" cy="5700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54174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Scru</a:t>
            </a:r>
            <a:r>
              <a:rPr lang="en-US" sz="4000" dirty="0"/>
              <a:t>m roles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Development Team</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8583279"/>
          </a:xfrm>
        </p:spPr>
        <p:txBody>
          <a:bodyPr anchor="ctr">
            <a:normAutofit/>
          </a:bodyPr>
          <a:lstStyle/>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Responsibilities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Self-organizing professionals who do the work of delivering a potentially releasable Increment.</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Cross-functional with all skills necessary to create the product Increment.</a:t>
            </a:r>
          </a:p>
          <a:p>
            <a:pPr marL="0" marR="0" lvl="0" indent="0" algn="l" defTabSz="520700" rtl="0" eaLnBrk="0" fontAlgn="base" latinLnBrk="0" hangingPunct="0">
              <a:lnSpc>
                <a:spcPct val="100000"/>
              </a:lnSpc>
              <a:spcBef>
                <a:spcPct val="20000"/>
              </a:spcBef>
              <a:spcAft>
                <a:spcPct val="0"/>
              </a:spcAft>
              <a:buClrTx/>
              <a:buSzTx/>
              <a:buNone/>
              <a:tabLst/>
              <a:defRPr/>
            </a:pPr>
            <a:endParaRPr lang="en-US" sz="3600" kern="1200" dirty="0">
              <a:solidFill>
                <a:prstClr val="black"/>
              </a:solidFill>
              <a:latin typeface="Open Sans"/>
              <a:ea typeface="MS PGothic" pitchFamily="34" charset="-128"/>
              <a:cs typeface="+mn-cs"/>
            </a:endParaRPr>
          </a:p>
          <a:p>
            <a:pPr marL="0" marR="0" lvl="0" indent="0" algn="l" defTabSz="520700" rtl="0" eaLnBrk="0" fontAlgn="base" latinLnBrk="0" hangingPunct="0">
              <a:lnSpc>
                <a:spcPct val="100000"/>
              </a:lnSpc>
              <a:spcBef>
                <a:spcPct val="20000"/>
              </a:spcBef>
              <a:spcAft>
                <a:spcPct val="0"/>
              </a:spcAft>
              <a:buClrTx/>
              <a:buSzTx/>
              <a:buNone/>
              <a:tabLst/>
              <a:defRPr/>
            </a:pPr>
            <a:r>
              <a:rPr lang="en-US" sz="3600" b="1" kern="1200" dirty="0">
                <a:solidFill>
                  <a:prstClr val="black"/>
                </a:solidFill>
                <a:latin typeface="Open Sans"/>
                <a:ea typeface="MS PGothic" pitchFamily="34" charset="-128"/>
                <a:cs typeface="+mn-cs"/>
              </a:rPr>
              <a:t>Characteristics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Typically consists of 3-9 members.</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Collective ownership and accountability.</a:t>
            </a:r>
          </a:p>
        </p:txBody>
      </p:sp>
      <p:pic>
        <p:nvPicPr>
          <p:cNvPr id="5122" name="Picture 2">
            <a:extLst>
              <a:ext uri="{FF2B5EF4-FFF2-40B4-BE49-F238E27FC236}">
                <a16:creationId xmlns:a16="http://schemas.microsoft.com/office/drawing/2014/main" id="{388051CE-69BF-F81B-921E-9EA1E36C5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345763"/>
            <a:ext cx="10134600" cy="562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37975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Scrum Artifacts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Product Backlog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8583279"/>
          </a:xfrm>
        </p:spPr>
        <p:txBody>
          <a:bodyPr anchor="ctr">
            <a:normAutofit/>
          </a:bodyPr>
          <a:lstStyle/>
          <a:p>
            <a:pPr marL="390525"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The </a:t>
            </a:r>
            <a:r>
              <a:rPr lang="en-US" sz="3600" b="1" kern="1200" dirty="0">
                <a:solidFill>
                  <a:prstClr val="black"/>
                </a:solidFill>
                <a:latin typeface="Open Sans"/>
                <a:ea typeface="MS PGothic" pitchFamily="34" charset="-128"/>
                <a:cs typeface="Open Sans"/>
              </a:rPr>
              <a:t>product backlog </a:t>
            </a:r>
            <a:r>
              <a:rPr lang="en-US" sz="3600" kern="1200" dirty="0">
                <a:solidFill>
                  <a:prstClr val="black"/>
                </a:solidFill>
                <a:latin typeface="Open Sans"/>
                <a:ea typeface="MS PGothic" pitchFamily="34" charset="-128"/>
                <a:cs typeface="Open Sans"/>
              </a:rPr>
              <a:t>is all the features for the product, an ordered list of everything that is known to be needed in the product.</a:t>
            </a:r>
          </a:p>
          <a:p>
            <a:pPr marL="0" indent="0" defTabSz="520700" eaLnBrk="0" fontAlgn="base" hangingPunct="0">
              <a:spcBef>
                <a:spcPct val="20000"/>
              </a:spcBef>
              <a:spcAft>
                <a:spcPct val="0"/>
              </a:spcAft>
              <a:buSzTx/>
              <a:buNone/>
              <a:defRPr/>
            </a:pPr>
            <a:endParaRPr lang="en-US" sz="3600" kern="1200" dirty="0">
              <a:solidFill>
                <a:prstClr val="black"/>
              </a:solidFill>
              <a:latin typeface="Open Sans"/>
              <a:ea typeface="MS PGothic" pitchFamily="34" charset="-128"/>
              <a:cs typeface="Open Sans"/>
            </a:endParaRPr>
          </a:p>
          <a:p>
            <a:pPr marL="390525" indent="-390525" defTabSz="520700" eaLnBrk="0" fontAlgn="base" hangingPunct="0">
              <a:spcBef>
                <a:spcPct val="20000"/>
              </a:spcBef>
              <a:spcAft>
                <a:spcPct val="0"/>
              </a:spcAft>
              <a:buSzTx/>
              <a:buFont typeface="Arial" pitchFamily="34" charset="0"/>
              <a:buChar char="•"/>
              <a:defRPr/>
            </a:pPr>
            <a:r>
              <a:rPr lang="en-US" sz="3600" b="1" kern="1200" dirty="0">
                <a:solidFill>
                  <a:prstClr val="black"/>
                </a:solidFill>
                <a:latin typeface="Open Sans"/>
                <a:ea typeface="MS PGothic" pitchFamily="34" charset="-128"/>
                <a:cs typeface="Open Sans"/>
              </a:rPr>
              <a:t>Characteristics</a:t>
            </a:r>
            <a:r>
              <a:rPr lang="en-US" sz="3600" kern="1200" dirty="0">
                <a:solidFill>
                  <a:prstClr val="black"/>
                </a:solidFill>
                <a:latin typeface="Open Sans"/>
                <a:ea typeface="MS PGothic" pitchFamily="34" charset="-128"/>
                <a:cs typeface="Open Sans"/>
              </a:rPr>
              <a:t>:</a:t>
            </a:r>
          </a:p>
          <a:p>
            <a:pPr marL="1014413" lvl="1"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Dynamic; evolves as the product and environment do.</a:t>
            </a:r>
          </a:p>
          <a:p>
            <a:pPr marL="1014413" lvl="1"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Items include features, functions, requirements, enhancements, and fixes.</a:t>
            </a:r>
          </a:p>
        </p:txBody>
      </p:sp>
      <p:pic>
        <p:nvPicPr>
          <p:cNvPr id="6148" name="Picture 4">
            <a:extLst>
              <a:ext uri="{FF2B5EF4-FFF2-40B4-BE49-F238E27FC236}">
                <a16:creationId xmlns:a16="http://schemas.microsoft.com/office/drawing/2014/main" id="{E3E8CA32-58F9-9D89-1BD9-B44D5D574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345763"/>
            <a:ext cx="10134600" cy="562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30953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Scrum Artifacts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Sprint Backlog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8583279"/>
          </a:xfrm>
        </p:spPr>
        <p:txBody>
          <a:bodyPr anchor="ctr">
            <a:normAutofit lnSpcReduction="10000"/>
          </a:bodyPr>
          <a:lstStyle/>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The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sprint backlog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is all the features that will be worked on for that sprint, the set of Product Backlog items selected for the Sprint, plus a plan for delivering the product Increment.</a:t>
            </a:r>
          </a:p>
          <a:p>
            <a:pPr marL="390525"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indent="-390525" defTabSz="520700" eaLnBrk="0" fontAlgn="base" hangingPunct="0">
              <a:spcBef>
                <a:spcPct val="20000"/>
              </a:spcBef>
              <a:spcAft>
                <a:spcPct val="0"/>
              </a:spcAft>
              <a:buSzTx/>
              <a:buFont typeface="Arial" pitchFamily="34" charset="0"/>
              <a:buChar char="•"/>
              <a:defRPr/>
            </a:pPr>
            <a:r>
              <a:rPr lang="en-US" sz="3600" b="1" kern="1200" dirty="0">
                <a:solidFill>
                  <a:prstClr val="black"/>
                </a:solidFill>
                <a:latin typeface="Open Sans"/>
                <a:ea typeface="MS PGothic" pitchFamily="34" charset="-128"/>
                <a:cs typeface="Open Sans"/>
              </a:rPr>
              <a:t>Characteristics</a:t>
            </a:r>
            <a:r>
              <a:rPr lang="en-US" sz="3600" kern="1200" dirty="0">
                <a:solidFill>
                  <a:prstClr val="black"/>
                </a:solidFill>
                <a:latin typeface="Open Sans"/>
                <a:ea typeface="MS PGothic" pitchFamily="34" charset="-128"/>
                <a:cs typeface="Open San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Created during Sprint Planning.</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Owned and managed by the Development Team.</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These should be broken down into discrete tasks:</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Fine-grained</a:t>
            </a:r>
          </a:p>
          <a:p>
            <a:pPr marL="1014413" lvl="1"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Estimated</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Assigned to individual team members</a:t>
            </a:r>
          </a:p>
          <a:p>
            <a:pPr marL="1014413" lvl="1"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Acceptance criteria should be defined</a:t>
            </a: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User stories are often used</a:t>
            </a:r>
            <a:endParaRPr lang="en-US" sz="3600" kern="1200" dirty="0">
              <a:solidFill>
                <a:prstClr val="black"/>
              </a:solidFill>
              <a:latin typeface="Open Sans"/>
              <a:ea typeface="MS PGothic" pitchFamily="34" charset="-128"/>
              <a:cs typeface="Open Sans"/>
            </a:endParaRPr>
          </a:p>
        </p:txBody>
      </p:sp>
      <p:pic>
        <p:nvPicPr>
          <p:cNvPr id="7170" name="Picture 2">
            <a:extLst>
              <a:ext uri="{FF2B5EF4-FFF2-40B4-BE49-F238E27FC236}">
                <a16:creationId xmlns:a16="http://schemas.microsoft.com/office/drawing/2014/main" id="{115EB592-4D9F-0340-035B-892BEBA45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279134"/>
            <a:ext cx="10134600" cy="5620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63672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Scrum Artifacts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Increment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8583279"/>
          </a:xfrm>
        </p:spPr>
        <p:txBody>
          <a:bodyPr anchor="ctr">
            <a:normAutofit/>
          </a:bodyPr>
          <a:lstStyle/>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The sum of all the Product Backlog items completed during a Sprint and the value of the increments of all previous Sprints.</a:t>
            </a:r>
          </a:p>
          <a:p>
            <a:pPr marL="390525"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indent="-390525" defTabSz="520700" eaLnBrk="0" fontAlgn="base" hangingPunct="0">
              <a:spcBef>
                <a:spcPct val="20000"/>
              </a:spcBef>
              <a:spcAft>
                <a:spcPct val="0"/>
              </a:spcAft>
              <a:buSzTx/>
              <a:buFont typeface="Arial" pitchFamily="34" charset="0"/>
              <a:buChar char="•"/>
              <a:defRPr/>
            </a:pPr>
            <a:r>
              <a:rPr lang="en-US" sz="3600" b="1" kern="1200" dirty="0">
                <a:solidFill>
                  <a:prstClr val="black"/>
                </a:solidFill>
                <a:latin typeface="Open Sans"/>
                <a:ea typeface="MS PGothic" pitchFamily="34" charset="-128"/>
                <a:cs typeface="Open Sans"/>
              </a:rPr>
              <a:t>Characteristics</a:t>
            </a:r>
            <a:r>
              <a:rPr lang="en-US" sz="3600" kern="1200" dirty="0">
                <a:solidFill>
                  <a:prstClr val="black"/>
                </a:solidFill>
                <a:latin typeface="Open Sans"/>
                <a:ea typeface="MS PGothic" pitchFamily="34" charset="-128"/>
                <a:cs typeface="Open Sans"/>
              </a:rPr>
              <a:t>:</a:t>
            </a:r>
          </a:p>
          <a:p>
            <a:pPr marL="1014413" lvl="1"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Must be in useable condition regardless of whether the Product Owner decides to release it.</a:t>
            </a:r>
          </a:p>
        </p:txBody>
      </p:sp>
      <p:pic>
        <p:nvPicPr>
          <p:cNvPr id="9218" name="Picture 2">
            <a:extLst>
              <a:ext uri="{FF2B5EF4-FFF2-40B4-BE49-F238E27FC236}">
                <a16:creationId xmlns:a16="http://schemas.microsoft.com/office/drawing/2014/main" id="{07EEC546-8CF2-04FE-B47C-6D77980A21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156940"/>
            <a:ext cx="10134600" cy="562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98784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Scrum Events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Scrum Meetings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4"/>
            <a:ext cx="20295058" cy="9285756"/>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Sprint Planning Meeting</a:t>
            </a:r>
          </a:p>
          <a:p>
            <a:pPr marL="1014413" lvl="1"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Entire Team decides together what to tackle for that sprint</a:t>
            </a:r>
          </a:p>
          <a:p>
            <a:pPr marL="623888" lvl="1" indent="0" defTabSz="520700" eaLnBrk="0" fontAlgn="base" hangingPunct="0">
              <a:spcBef>
                <a:spcPct val="20000"/>
              </a:spcBef>
              <a:spcAft>
                <a:spcPct val="0"/>
              </a:spcAft>
              <a:buSzTx/>
              <a:buNone/>
              <a:defRPr/>
            </a:pPr>
            <a:endParaRPr lang="en-US" sz="3600" kern="1200" dirty="0">
              <a:solidFill>
                <a:prstClr val="black"/>
              </a:solidFill>
              <a:latin typeface="Open Sans"/>
              <a:ea typeface="MS PGothic" pitchFamily="34" charset="-128"/>
              <a:cs typeface="Open Sans"/>
            </a:endParaRP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Daily Scrum Meeting</a:t>
            </a:r>
          </a:p>
          <a:p>
            <a:pPr marL="1014413" lvl="1"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Quick Meeting to touch base on:</a:t>
            </a:r>
          </a:p>
          <a:p>
            <a:pPr marL="1593850" lvl="2"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What have I done? </a:t>
            </a:r>
            <a:r>
              <a:rPr lang="en-US" sz="3600" kern="1200" dirty="0">
                <a:solidFill>
                  <a:prstClr val="black"/>
                </a:solidFill>
                <a:latin typeface="Open Sans"/>
                <a:ea typeface="MS PGothic" pitchFamily="34" charset="-128"/>
                <a:cs typeface="Open Sans"/>
              </a:rPr>
              <a:t>What am I doing next? What am I stuck on/need help?</a:t>
            </a:r>
          </a:p>
          <a:p>
            <a:pPr marL="1203325" lvl="2" indent="0" defTabSz="520700" eaLnBrk="0" fontAlgn="base" hangingPunct="0">
              <a:spcBef>
                <a:spcPct val="20000"/>
              </a:spcBef>
              <a:spcAft>
                <a:spcPct val="0"/>
              </a:spcAft>
              <a:buSzTx/>
              <a:buNone/>
              <a:defRPr/>
            </a:pPr>
            <a:endParaRPr lang="en-US" sz="3600" kern="1200" dirty="0">
              <a:solidFill>
                <a:prstClr val="black"/>
              </a:solidFill>
              <a:latin typeface="Open Sans"/>
              <a:ea typeface="MS PGothic" pitchFamily="34" charset="-128"/>
              <a:cs typeface="Open Sans"/>
            </a:endParaRPr>
          </a:p>
          <a:p>
            <a:pPr marL="390525"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Sprint Retrospect</a:t>
            </a:r>
            <a:r>
              <a:rPr lang="en-US" sz="3600" kern="1200" dirty="0" err="1">
                <a:solidFill>
                  <a:prstClr val="black"/>
                </a:solidFill>
                <a:latin typeface="Open Sans"/>
                <a:ea typeface="MS PGothic" pitchFamily="34" charset="-128"/>
                <a:cs typeface="Open Sans"/>
              </a:rPr>
              <a:t>ive</a:t>
            </a:r>
            <a:endParaRPr lang="en-US" sz="3600" kern="1200" dirty="0">
              <a:solidFill>
                <a:prstClr val="black"/>
              </a:solidFill>
              <a:latin typeface="Open Sans"/>
              <a:ea typeface="MS PGothic" pitchFamily="34" charset="-128"/>
              <a:cs typeface="Open Sans"/>
            </a:endParaRP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Review sprint process</a:t>
            </a:r>
          </a:p>
          <a:p>
            <a:pPr marL="623888" lvl="1" indent="0" defTabSz="520700" eaLnBrk="0" fontAlgn="base" hangingPunct="0">
              <a:spcBef>
                <a:spcPct val="20000"/>
              </a:spcBef>
              <a:spcAft>
                <a:spcPct val="0"/>
              </a:spcAft>
              <a:buSzTx/>
              <a:buNone/>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Sprint Review Meeting</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Review </a:t>
            </a:r>
            <a:r>
              <a:rPr lang="en-US" sz="3600" kern="1200" dirty="0">
                <a:solidFill>
                  <a:prstClr val="black"/>
                </a:solidFill>
                <a:latin typeface="Open Sans"/>
                <a:ea typeface="MS PGothic" pitchFamily="34" charset="-128"/>
                <a:cs typeface="Open Sans"/>
              </a:rPr>
              <a:t>product</a:t>
            </a: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p:txBody>
      </p:sp>
    </p:spTree>
    <p:extLst>
      <p:ext uri="{BB962C8B-B14F-4D97-AF65-F5344CB8AC3E}">
        <p14:creationId xmlns:p14="http://schemas.microsoft.com/office/powerpoint/2010/main" val="49035881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Scrum Events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Sprint Planning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10455337"/>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Purpose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Define what can be delivered in the Sprint.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Plan how the work will be achieved.</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Time-box</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Maximum of 8 hours for a one-month Sprint.</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Activities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What</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The Product Owner presents the desired Product Backlog items.</a:t>
            </a:r>
          </a:p>
          <a:p>
            <a:pPr marL="1014413" lvl="1"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How</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The Development Team plans the work necessary to deliver the Increment.</a:t>
            </a:r>
          </a:p>
        </p:txBody>
      </p:sp>
      <p:pic>
        <p:nvPicPr>
          <p:cNvPr id="10242" name="Picture 2">
            <a:extLst>
              <a:ext uri="{FF2B5EF4-FFF2-40B4-BE49-F238E27FC236}">
                <a16:creationId xmlns:a16="http://schemas.microsoft.com/office/drawing/2014/main" id="{7F55760F-0D96-6AA1-802E-BB071DA3B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345763"/>
            <a:ext cx="10134600" cy="562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06473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Scrum Events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Daily Stand-up (Daily Scrum)</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10455337"/>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Purpose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Synchronize activities and create a plan for the next 24 hours.</a:t>
            </a:r>
          </a:p>
          <a:p>
            <a:pPr marL="1014413" lvl="1"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Time-box</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15 minutes.</a:t>
            </a:r>
          </a:p>
          <a:p>
            <a:pPr marL="1014413" lvl="1"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Questions Addressed</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What did I do yesterday that helped the Development Team meet the Sprint Goal?</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What will I do today to help the Development Team meet the Sprint Goal?</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Do I see any impediment that prevents me or the Development Team from meeting the Sprint Goal?</a:t>
            </a:r>
          </a:p>
        </p:txBody>
      </p:sp>
      <p:pic>
        <p:nvPicPr>
          <p:cNvPr id="12292" name="Picture 4">
            <a:extLst>
              <a:ext uri="{FF2B5EF4-FFF2-40B4-BE49-F238E27FC236}">
                <a16:creationId xmlns:a16="http://schemas.microsoft.com/office/drawing/2014/main" id="{DFB51763-85E4-F091-3AA0-3612307D8F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315476"/>
            <a:ext cx="10134600" cy="562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87163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Scrum Events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Sprint review</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10455337"/>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Purpose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Inspect the Increment and adapt the Product Backlog if needed.</a:t>
            </a:r>
          </a:p>
          <a:p>
            <a:pPr marL="1014413" lvl="1"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Time-box</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Maximum of 4 hours for a one-month Sprint.</a:t>
            </a:r>
          </a:p>
          <a:p>
            <a:pPr marL="623888" lvl="1" indent="0" defTabSz="520700" eaLnBrk="0" fontAlgn="base" hangingPunct="0">
              <a:spcBef>
                <a:spcPct val="20000"/>
              </a:spcBef>
              <a:spcAft>
                <a:spcPct val="0"/>
              </a:spcAft>
              <a:buSzTx/>
              <a:buNone/>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Activities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Demonstration of the Increment.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Feedback from stakeholders.</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Discussion of what to do next.</a:t>
            </a:r>
          </a:p>
          <a:p>
            <a:pPr marL="1014413" lvl="1"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p:txBody>
      </p:sp>
      <p:pic>
        <p:nvPicPr>
          <p:cNvPr id="14338" name="Picture 2">
            <a:extLst>
              <a:ext uri="{FF2B5EF4-FFF2-40B4-BE49-F238E27FC236}">
                <a16:creationId xmlns:a16="http://schemas.microsoft.com/office/drawing/2014/main" id="{CC311634-786B-1066-D99A-49B885D23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70810" y="2314585"/>
            <a:ext cx="10134600" cy="5621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00966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Scrum Events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Sprint Retrospective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10455337"/>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Purpose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Plan ways to increase quality and effectiveness.</a:t>
            </a:r>
          </a:p>
          <a:p>
            <a:pPr marL="1014413" lvl="1"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Time-box</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Maximum of 3 hours for a one-month Sprint.</a:t>
            </a:r>
          </a:p>
          <a:p>
            <a:pPr marL="1014413" lvl="1"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indent="-390525" defTabSz="520700" eaLnBrk="0" fontAlgn="base" hangingPunct="0">
              <a:spcBef>
                <a:spcPct val="20000"/>
              </a:spcBef>
              <a:spcAft>
                <a:spcPct val="0"/>
              </a:spcAft>
              <a:buSzTx/>
              <a:buFont typeface="Arial" pitchFamily="34" charset="0"/>
              <a:buChar char="•"/>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Activities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Inspect how the last Sprint went regarding people, relationships, processes, and tools.</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Identify and order major items that went well and potential improvements.</a:t>
            </a:r>
          </a:p>
          <a:p>
            <a:pPr marL="1014413" lvl="1" indent="-390525" defTabSz="520700" eaLnBrk="0" fontAlgn="base" hangingPunct="0">
              <a:spcBef>
                <a:spcPct val="20000"/>
              </a:spcBef>
              <a:spcAft>
                <a:spcPct val="0"/>
              </a:spcAft>
              <a:buSzTx/>
              <a:buFont typeface="Arial" pitchFamily="34" charset="0"/>
              <a:buChar char="•"/>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Create a plan for implementing improvements.</a:t>
            </a:r>
          </a:p>
        </p:txBody>
      </p:sp>
      <p:pic>
        <p:nvPicPr>
          <p:cNvPr id="16386" name="Picture 2">
            <a:extLst>
              <a:ext uri="{FF2B5EF4-FFF2-40B4-BE49-F238E27FC236}">
                <a16:creationId xmlns:a16="http://schemas.microsoft.com/office/drawing/2014/main" id="{36FF88C2-F689-F997-8834-4ECD36CB3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2345763"/>
            <a:ext cx="10134600" cy="562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005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User Stories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endParaRPr lang="en-US" dirty="0"/>
          </a:p>
        </p:txBody>
      </p:sp>
      <p:pic>
        <p:nvPicPr>
          <p:cNvPr id="5122" name="Picture 2" descr="How to Write Good User Stories (Examples and Tips) | Chisel">
            <a:extLst>
              <a:ext uri="{FF2B5EF4-FFF2-40B4-BE49-F238E27FC236}">
                <a16:creationId xmlns:a16="http://schemas.microsoft.com/office/drawing/2014/main" id="{5671890C-080A-B539-8B97-6905C41FF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6700" y="3298050"/>
            <a:ext cx="13890600" cy="104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65798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User stories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Card — A short reminder of the requirement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The </a:t>
            </a:r>
            <a:r>
              <a:rPr lang="en-US" sz="3600" b="1" kern="1200" dirty="0">
                <a:solidFill>
                  <a:prstClr val="black"/>
                </a:solidFill>
                <a:latin typeface="Open Sans"/>
                <a:ea typeface="MS PGothic" pitchFamily="34" charset="-128"/>
                <a:cs typeface="+mn-cs"/>
              </a:rPr>
              <a:t>Card</a:t>
            </a:r>
            <a:r>
              <a:rPr lang="en-US" sz="3600" kern="1200" dirty="0">
                <a:solidFill>
                  <a:prstClr val="black"/>
                </a:solidFill>
                <a:latin typeface="Open Sans"/>
                <a:ea typeface="MS PGothic" pitchFamily="34" charset="-128"/>
                <a:cs typeface="+mn-cs"/>
              </a:rPr>
              <a:t> is a brief written description</a:t>
            </a:r>
          </a:p>
          <a:p>
            <a:pPr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It captures </a:t>
            </a:r>
            <a:r>
              <a:rPr lang="en-US" sz="3600" b="1" kern="1200" dirty="0">
                <a:solidFill>
                  <a:prstClr val="black"/>
                </a:solidFill>
                <a:latin typeface="Open Sans"/>
                <a:ea typeface="MS PGothic" pitchFamily="34" charset="-128"/>
                <a:cs typeface="+mn-cs"/>
              </a:rPr>
              <a:t>who, what, and why</a:t>
            </a:r>
          </a:p>
          <a:p>
            <a:pPr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It is </a:t>
            </a:r>
            <a:r>
              <a:rPr lang="en-US" sz="3600" b="1" kern="1200" dirty="0">
                <a:solidFill>
                  <a:prstClr val="black"/>
                </a:solidFill>
                <a:latin typeface="Open Sans"/>
                <a:ea typeface="MS PGothic" pitchFamily="34" charset="-128"/>
                <a:cs typeface="+mn-cs"/>
              </a:rPr>
              <a:t>not </a:t>
            </a:r>
            <a:r>
              <a:rPr lang="en-US" sz="3600" kern="1200" dirty="0">
                <a:solidFill>
                  <a:prstClr val="black"/>
                </a:solidFill>
                <a:latin typeface="Open Sans"/>
                <a:ea typeface="MS PGothic" pitchFamily="34" charset="-128"/>
                <a:cs typeface="+mn-cs"/>
              </a:rPr>
              <a:t>a detailed specification</a:t>
            </a:r>
          </a:p>
          <a:p>
            <a:pPr marL="0" marR="0" lvl="0" indent="0" algn="l" defTabSz="520700" rtl="0" eaLnBrk="0" fontAlgn="base" latinLnBrk="0" hangingPunct="0">
              <a:lnSpc>
                <a:spcPct val="100000"/>
              </a:lnSpc>
              <a:spcBef>
                <a:spcPct val="20000"/>
              </a:spcBef>
              <a:spcAft>
                <a:spcPct val="0"/>
              </a:spcAft>
              <a:buClrTx/>
              <a:buSzTx/>
              <a:buNone/>
              <a:tabLst/>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“As a</a:t>
            </a:r>
            <a:r>
              <a:rPr lang="en-US" sz="3600" kern="1200" dirty="0">
                <a:solidFill>
                  <a:prstClr val="black"/>
                </a:solidFill>
                <a:latin typeface="Open Sans"/>
                <a:ea typeface="MS PGothic" pitchFamily="34" charset="-128"/>
                <a:cs typeface="+mn-cs"/>
              </a:rPr>
              <a:t> [role], I want [function], so that [value]”</a:t>
            </a:r>
          </a:p>
          <a:p>
            <a:pPr marL="0" marR="0" lvl="0" indent="0" algn="l" defTabSz="520700" rtl="0" eaLnBrk="0" fontAlgn="base" latinLnBrk="0" hangingPunct="0">
              <a:lnSpc>
                <a:spcPct val="100000"/>
              </a:lnSpc>
              <a:spcBef>
                <a:spcPct val="20000"/>
              </a:spcBef>
              <a:spcAft>
                <a:spcPct val="0"/>
              </a:spcAft>
              <a:buClrTx/>
              <a:buSzTx/>
              <a:buNone/>
              <a:tabLst/>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0" marR="0" lvl="0" indent="0" algn="l" defTabSz="520700" rtl="0" eaLnBrk="0" fontAlgn="base" latinLnBrk="0" hangingPunct="0">
              <a:lnSpc>
                <a:spcPct val="100000"/>
              </a:lnSpc>
              <a:spcBef>
                <a:spcPct val="20000"/>
              </a:spcBef>
              <a:spcAft>
                <a:spcPct val="0"/>
              </a:spcAft>
              <a:buClrTx/>
              <a:buSzTx/>
              <a:buNone/>
              <a:tabLst/>
              <a:defRPr/>
            </a:pPr>
            <a:r>
              <a:rPr lang="en-US" sz="3600" b="1" kern="1200" dirty="0">
                <a:solidFill>
                  <a:prstClr val="black"/>
                </a:solidFill>
                <a:latin typeface="Open Sans"/>
                <a:ea typeface="MS PGothic" pitchFamily="34" charset="-128"/>
                <a:cs typeface="+mn-cs"/>
              </a:rPr>
              <a:t>Examples:</a:t>
            </a:r>
          </a:p>
          <a:p>
            <a:pPr marL="742950" indent="-742950" defTabSz="520700" eaLnBrk="0" fontAlgn="base" hangingPunct="0">
              <a:spcBef>
                <a:spcPct val="20000"/>
              </a:spcBef>
              <a:spcAft>
                <a:spcPct val="0"/>
              </a:spcAft>
              <a:buSzTx/>
              <a:buFont typeface="+mj-lt"/>
              <a:buAutoNum type="arabicPeriod"/>
              <a:defRPr/>
            </a:pPr>
            <a:r>
              <a:rPr lang="en-US" sz="3600" kern="1200" dirty="0">
                <a:solidFill>
                  <a:prstClr val="black"/>
                </a:solidFill>
                <a:latin typeface="Open Sans"/>
                <a:ea typeface="MS PGothic" pitchFamily="34" charset="-128"/>
                <a:cs typeface="+mn-cs"/>
              </a:rPr>
              <a:t>As a </a:t>
            </a:r>
            <a:r>
              <a:rPr lang="en-US" sz="3600" b="1" kern="1200" dirty="0">
                <a:solidFill>
                  <a:prstClr val="black"/>
                </a:solidFill>
                <a:latin typeface="Open Sans"/>
                <a:ea typeface="MS PGothic" pitchFamily="34" charset="-128"/>
                <a:cs typeface="+mn-cs"/>
              </a:rPr>
              <a:t>student</a:t>
            </a:r>
            <a:r>
              <a:rPr lang="en-US" sz="3600" kern="1200" dirty="0">
                <a:solidFill>
                  <a:prstClr val="black"/>
                </a:solidFill>
                <a:latin typeface="Open Sans"/>
                <a:ea typeface="MS PGothic" pitchFamily="34" charset="-128"/>
                <a:cs typeface="+mn-cs"/>
              </a:rPr>
              <a:t>, I want to </a:t>
            </a:r>
            <a:r>
              <a:rPr lang="en-US" sz="3600" b="1" kern="1200" dirty="0">
                <a:solidFill>
                  <a:prstClr val="black"/>
                </a:solidFill>
                <a:latin typeface="Open Sans"/>
                <a:ea typeface="MS PGothic" pitchFamily="34" charset="-128"/>
                <a:cs typeface="+mn-cs"/>
              </a:rPr>
              <a:t>see my grades</a:t>
            </a:r>
            <a:r>
              <a:rPr lang="en-US" sz="3600" kern="1200" dirty="0">
                <a:solidFill>
                  <a:prstClr val="black"/>
                </a:solidFill>
                <a:latin typeface="Open Sans"/>
                <a:ea typeface="MS PGothic" pitchFamily="34" charset="-128"/>
                <a:cs typeface="+mn-cs"/>
              </a:rPr>
              <a:t>, so that </a:t>
            </a:r>
            <a:r>
              <a:rPr lang="en-US" sz="3600" b="1" kern="1200" dirty="0">
                <a:solidFill>
                  <a:prstClr val="black"/>
                </a:solidFill>
                <a:latin typeface="Open Sans"/>
                <a:ea typeface="MS PGothic" pitchFamily="34" charset="-128"/>
                <a:cs typeface="+mn-cs"/>
              </a:rPr>
              <a:t>I can track my academic progress.</a:t>
            </a:r>
            <a:endPar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742950" indent="-742950" defTabSz="520700" eaLnBrk="0" fontAlgn="base" hangingPunct="0">
              <a:spcBef>
                <a:spcPct val="20000"/>
              </a:spcBef>
              <a:spcAft>
                <a:spcPct val="0"/>
              </a:spcAft>
              <a:buSzTx/>
              <a:buFont typeface="+mj-lt"/>
              <a:buAutoNum type="arabicPeriod"/>
              <a:defRPr/>
            </a:pPr>
            <a:r>
              <a:rPr lang="en-US" sz="3600" kern="1200" dirty="0">
                <a:solidFill>
                  <a:prstClr val="black"/>
                </a:solidFill>
                <a:latin typeface="Open Sans"/>
                <a:ea typeface="MS PGothic" pitchFamily="34" charset="-128"/>
                <a:cs typeface="+mn-cs"/>
              </a:rPr>
              <a:t>As a </a:t>
            </a:r>
            <a:r>
              <a:rPr lang="en-US" sz="3600" b="1" kern="1200" dirty="0">
                <a:solidFill>
                  <a:prstClr val="black"/>
                </a:solidFill>
                <a:latin typeface="Open Sans"/>
                <a:ea typeface="MS PGothic" pitchFamily="34" charset="-128"/>
                <a:cs typeface="+mn-cs"/>
              </a:rPr>
              <a:t>customer</a:t>
            </a:r>
            <a:r>
              <a:rPr lang="en-US" sz="3600" kern="1200" dirty="0">
                <a:solidFill>
                  <a:prstClr val="black"/>
                </a:solidFill>
                <a:latin typeface="Open Sans"/>
                <a:ea typeface="MS PGothic" pitchFamily="34" charset="-128"/>
                <a:cs typeface="+mn-cs"/>
              </a:rPr>
              <a:t>, I want to </a:t>
            </a:r>
            <a:r>
              <a:rPr lang="en-US" sz="3600" b="1" kern="1200" dirty="0">
                <a:solidFill>
                  <a:prstClr val="black"/>
                </a:solidFill>
                <a:latin typeface="Open Sans"/>
                <a:ea typeface="MS PGothic" pitchFamily="34" charset="-128"/>
                <a:cs typeface="+mn-cs"/>
              </a:rPr>
              <a:t>reset my password</a:t>
            </a:r>
            <a:r>
              <a:rPr lang="en-US" sz="3600" kern="1200" dirty="0">
                <a:solidFill>
                  <a:prstClr val="black"/>
                </a:solidFill>
                <a:latin typeface="Open Sans"/>
                <a:ea typeface="MS PGothic" pitchFamily="34" charset="-128"/>
                <a:cs typeface="+mn-cs"/>
              </a:rPr>
              <a:t>, so that </a:t>
            </a:r>
            <a:r>
              <a:rPr lang="en-US" sz="3600" b="1" kern="1200" dirty="0">
                <a:solidFill>
                  <a:prstClr val="black"/>
                </a:solidFill>
                <a:latin typeface="Open Sans"/>
                <a:ea typeface="MS PGothic" pitchFamily="34" charset="-128"/>
                <a:cs typeface="+mn-cs"/>
              </a:rPr>
              <a:t>I can regain account access</a:t>
            </a:r>
            <a:r>
              <a:rPr lang="en-US" sz="3600" kern="1200" dirty="0">
                <a:solidFill>
                  <a:prstClr val="black"/>
                </a:solidFill>
                <a:latin typeface="Open Sans"/>
                <a:ea typeface="MS PGothic" pitchFamily="34" charset="-128"/>
                <a:cs typeface="+mn-cs"/>
              </a:rPr>
              <a:t>.</a:t>
            </a:r>
            <a:endPar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mn-cs"/>
            </a:endParaRPr>
          </a:p>
        </p:txBody>
      </p:sp>
    </p:spTree>
    <p:extLst>
      <p:ext uri="{BB962C8B-B14F-4D97-AF65-F5344CB8AC3E}">
        <p14:creationId xmlns:p14="http://schemas.microsoft.com/office/powerpoint/2010/main" val="284746755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User stories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8896480" cy="1107244"/>
          </a:xfrm>
        </p:spPr>
        <p:txBody>
          <a:bodyPr>
            <a:normAutofit/>
          </a:bodyPr>
          <a:lstStyle/>
          <a:p>
            <a:r>
              <a:rPr lang="en-US" dirty="0"/>
              <a:t>Conversation — Shared understanding through discussion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mn-cs"/>
              </a:rPr>
              <a:t>Details emerge through </a:t>
            </a:r>
            <a:r>
              <a:rPr lang="en-US" sz="3600" b="1" kern="1200" dirty="0">
                <a:solidFill>
                  <a:prstClr val="black"/>
                </a:solidFill>
                <a:latin typeface="Open Sans"/>
                <a:ea typeface="MS PGothic" pitchFamily="34" charset="-128"/>
                <a:cs typeface="+mn-cs"/>
              </a:rPr>
              <a:t>conversation</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mn-cs"/>
              </a:rPr>
              <a:t>Developers, Product Owner, and stakeholders collaborate</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mn-cs"/>
              </a:rPr>
              <a:t>Questions clarify assumptions and edge cases</a:t>
            </a:r>
          </a:p>
          <a:p>
            <a:pPr marL="390525" lvl="0"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0" lvl="0" indent="0" defTabSz="520700" eaLnBrk="0" fontAlgn="base" hangingPunct="0">
              <a:spcBef>
                <a:spcPct val="20000"/>
              </a:spcBef>
              <a:spcAft>
                <a:spcPct val="0"/>
              </a:spcAft>
              <a:buSzTx/>
              <a:buNone/>
              <a:defRPr/>
            </a:pPr>
            <a:r>
              <a:rPr lang="en-US" sz="3600" b="1" kern="1200" dirty="0">
                <a:solidFill>
                  <a:prstClr val="black"/>
                </a:solidFill>
                <a:latin typeface="Open Sans"/>
                <a:ea typeface="MS PGothic" pitchFamily="34" charset="-128"/>
                <a:cs typeface="+mn-cs"/>
              </a:rPr>
              <a:t>Examples:</a:t>
            </a:r>
          </a:p>
          <a:p>
            <a:pPr marL="742950" lvl="0" indent="-742950" defTabSz="520700" eaLnBrk="0" fontAlgn="base" hangingPunct="0">
              <a:spcBef>
                <a:spcPct val="20000"/>
              </a:spcBef>
              <a:spcAft>
                <a:spcPct val="0"/>
              </a:spcAft>
              <a:buSzTx/>
              <a:buFont typeface="+mj-lt"/>
              <a:buAutoNum type="arabicPeriod"/>
              <a:defRPr/>
            </a:pPr>
            <a:r>
              <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mn-cs"/>
              </a:rPr>
              <a:t>For “see my grades”:</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Should grades be real-time?</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Who can view them?</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Can grades be downloaded?</a:t>
            </a:r>
            <a:endPar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742950" lvl="0" indent="-742950" defTabSz="520700" eaLnBrk="0" fontAlgn="base" hangingPunct="0">
              <a:spcBef>
                <a:spcPct val="20000"/>
              </a:spcBef>
              <a:spcAft>
                <a:spcPct val="0"/>
              </a:spcAft>
              <a:buSzTx/>
              <a:buFont typeface="+mj-lt"/>
              <a:buAutoNum type="arabicPeriod"/>
              <a:defRPr/>
            </a:pPr>
            <a:r>
              <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mn-cs"/>
              </a:rPr>
              <a:t>For “reset password”:</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Email or SMS?</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Expiration time?</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Security verification needed?</a:t>
            </a:r>
            <a:endPar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mn-cs"/>
            </a:endParaRPr>
          </a:p>
        </p:txBody>
      </p:sp>
    </p:spTree>
    <p:extLst>
      <p:ext uri="{BB962C8B-B14F-4D97-AF65-F5344CB8AC3E}">
        <p14:creationId xmlns:p14="http://schemas.microsoft.com/office/powerpoint/2010/main" val="318247968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User stories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Confirmation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9802194"/>
          </a:xfrm>
        </p:spPr>
        <p:txBody>
          <a:bodyPr anchor="ctr">
            <a:noAutofit/>
          </a:bodyPr>
          <a:lstStyle/>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mn-cs"/>
              </a:rPr>
              <a:t>Defines </a:t>
            </a:r>
            <a:r>
              <a:rPr lang="en-US" sz="3600" b="1" kern="1200" dirty="0">
                <a:solidFill>
                  <a:prstClr val="black"/>
                </a:solidFill>
                <a:latin typeface="Open Sans"/>
                <a:ea typeface="MS PGothic" pitchFamily="34" charset="-128"/>
                <a:cs typeface="+mn-cs"/>
              </a:rPr>
              <a:t>acceptance criteria</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mn-cs"/>
              </a:rPr>
              <a:t>Ensures the story meets expectations</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mn-cs"/>
              </a:rPr>
              <a:t>Used to verify completion</a:t>
            </a:r>
          </a:p>
          <a:p>
            <a:pPr marL="390525" lvl="0" indent="-390525" defTabSz="520700" eaLnBrk="0" fontAlgn="base" hangingPunct="0">
              <a:spcBef>
                <a:spcPct val="20000"/>
              </a:spcBef>
              <a:spcAft>
                <a:spcPct val="0"/>
              </a:spcAft>
              <a:buSzTx/>
              <a:buFont typeface="Arial" pitchFamily="34" charset="0"/>
              <a:buChar char="•"/>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0" lvl="0" indent="0" defTabSz="520700" eaLnBrk="0" fontAlgn="base" hangingPunct="0">
              <a:spcBef>
                <a:spcPct val="20000"/>
              </a:spcBef>
              <a:spcAft>
                <a:spcPct val="0"/>
              </a:spcAft>
              <a:buSzTx/>
              <a:buNone/>
              <a:defRPr/>
            </a:pPr>
            <a:r>
              <a:rPr lang="en-US" sz="3600" b="1" kern="1200" dirty="0">
                <a:solidFill>
                  <a:prstClr val="black"/>
                </a:solidFill>
                <a:latin typeface="Open Sans"/>
                <a:ea typeface="MS PGothic" pitchFamily="34" charset="-128"/>
                <a:cs typeface="+mn-cs"/>
              </a:rPr>
              <a:t>Examples:</a:t>
            </a:r>
          </a:p>
          <a:p>
            <a:pPr marL="742950" lvl="0" indent="-742950" defTabSz="520700" eaLnBrk="0" fontAlgn="base" hangingPunct="0">
              <a:spcBef>
                <a:spcPct val="20000"/>
              </a:spcBef>
              <a:spcAft>
                <a:spcPct val="0"/>
              </a:spcAft>
              <a:buSzTx/>
              <a:buFont typeface="+mj-lt"/>
              <a:buAutoNum type="arabicPeriod"/>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Grade viewing is done when:</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Student sees grades for all enrolled courses</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Only the student can access them</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Data matches the official record</a:t>
            </a: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742950" lvl="0" indent="-742950" defTabSz="520700" eaLnBrk="0" fontAlgn="base" hangingPunct="0">
              <a:spcBef>
                <a:spcPct val="20000"/>
              </a:spcBef>
              <a:spcAft>
                <a:spcPct val="0"/>
              </a:spcAft>
              <a:buSzTx/>
              <a:buFont typeface="+mj-lt"/>
              <a:buAutoNum type="arabicPeriod"/>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Password reset is done when:</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Reset link expires after 10 minutes</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User sets a new password successfully</a:t>
            </a:r>
          </a:p>
          <a:p>
            <a:pPr marL="1366838" lvl="1" indent="-742950" defTabSz="520700" eaLnBrk="0" fontAlgn="base" hangingPunct="0">
              <a:spcBef>
                <a:spcPct val="20000"/>
              </a:spcBef>
              <a:spcAft>
                <a:spcPct val="0"/>
              </a:spcAft>
              <a:buSzTx/>
              <a:defRPr/>
            </a:pPr>
            <a:r>
              <a:rPr lang="en-US" sz="3600" kern="1200" dirty="0">
                <a:solidFill>
                  <a:prstClr val="black"/>
                </a:solidFill>
                <a:latin typeface="Open Sans"/>
                <a:ea typeface="MS PGothic" pitchFamily="34" charset="-128"/>
                <a:cs typeface="+mn-cs"/>
              </a:rPr>
              <a:t>Old password no longer works</a:t>
            </a: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p:txBody>
      </p:sp>
    </p:spTree>
    <p:extLst>
      <p:ext uri="{BB962C8B-B14F-4D97-AF65-F5344CB8AC3E}">
        <p14:creationId xmlns:p14="http://schemas.microsoft.com/office/powerpoint/2010/main" val="232936343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User stories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How to evaluate user story?</a:t>
            </a:r>
          </a:p>
        </p:txBody>
      </p:sp>
      <p:pic>
        <p:nvPicPr>
          <p:cNvPr id="6146" name="Picture 2" descr="INVEST infographic - Acronymat">
            <a:extLst>
              <a:ext uri="{FF2B5EF4-FFF2-40B4-BE49-F238E27FC236}">
                <a16:creationId xmlns:a16="http://schemas.microsoft.com/office/drawing/2014/main" id="{ADE1BEB3-5E20-3A36-860A-07C1FAA8925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8517422" y="3298050"/>
            <a:ext cx="7349156" cy="10422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08173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Benefits and challenges of implementing scrum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Benefits and Challenges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Benefits</a:t>
            </a:r>
            <a:r>
              <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mn-cs"/>
              </a:rPr>
              <a:t>:</a:t>
            </a: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Increased Transparency</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Regular meetings and artifacts make progress visible.</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Flexibility and Adaptability</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Ability to respond to changes quickly.</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Improved Quality</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Continuous testing and integration.</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Higher Customer Satisfaction</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Regular feedback and involvement.</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Team Empowerment</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Teams are self-organizing and make decisions.</a:t>
            </a:r>
          </a:p>
          <a:p>
            <a:pPr marL="0" marR="0" lvl="0" indent="0" algn="l" defTabSz="520700" rtl="0" eaLnBrk="0" fontAlgn="base" latinLnBrk="0" hangingPunct="0">
              <a:lnSpc>
                <a:spcPct val="100000"/>
              </a:lnSpc>
              <a:spcBef>
                <a:spcPct val="20000"/>
              </a:spcBef>
              <a:spcAft>
                <a:spcPct val="0"/>
              </a:spcAft>
              <a:buClrTx/>
              <a:buSzTx/>
              <a:buNone/>
              <a:tabLst/>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0" marR="0" lvl="0" indent="0" algn="l" defTabSz="520700" rtl="0" eaLnBrk="0" fontAlgn="base" latinLnBrk="0" hangingPunct="0">
              <a:lnSpc>
                <a:spcPct val="100000"/>
              </a:lnSpc>
              <a:spcBef>
                <a:spcPct val="20000"/>
              </a:spcBef>
              <a:spcAft>
                <a:spcPct val="0"/>
              </a:spcAft>
              <a:buClrTx/>
              <a:buSzTx/>
              <a:buNone/>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Challenges</a:t>
            </a:r>
            <a:r>
              <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mn-cs"/>
              </a:rPr>
              <a:t>:</a:t>
            </a:r>
            <a:endPar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Cultural Shift</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Requires a change in mindset and company culture.</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Role Misunderstandings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Confusion over responsibilities can hinder progress.</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Resistance to Change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Team members or management may resist new processes.</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Requires Discipline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Consistency in following Scrum practices is essential.</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Scaling Issues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Applying Scrum to large projects or organizations can be complex.</a:t>
            </a:r>
          </a:p>
        </p:txBody>
      </p:sp>
    </p:spTree>
    <p:extLst>
      <p:ext uri="{BB962C8B-B14F-4D97-AF65-F5344CB8AC3E}">
        <p14:creationId xmlns:p14="http://schemas.microsoft.com/office/powerpoint/2010/main" val="402020583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4411994"/>
            <a:ext cx="13714940" cy="10492726"/>
          </a:xfrm>
        </p:spPr>
        <p:txBody>
          <a:bodyPr>
            <a:no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Roger Pressman and Bruce Maxim. (2020). </a:t>
            </a:r>
            <a:r>
              <a:rPr lang="en-US" sz="3600" b="1" i="1" dirty="0">
                <a:latin typeface="Open Sans" panose="020B0606030504020204" pitchFamily="34" charset="0"/>
                <a:ea typeface="Open Sans" panose="020B0606030504020204" pitchFamily="34" charset="0"/>
                <a:cs typeface="Open Sans" panose="020B0606030504020204" pitchFamily="34" charset="0"/>
              </a:rPr>
              <a:t>Software Engineering: A Practitioner's Approach</a:t>
            </a:r>
            <a:r>
              <a:rPr lang="en-US" sz="3600" dirty="0">
                <a:latin typeface="Open Sans" panose="020B0606030504020204" pitchFamily="34" charset="0"/>
                <a:ea typeface="Open Sans" panose="020B0606030504020204" pitchFamily="34" charset="0"/>
                <a:cs typeface="Open Sans" panose="020B0606030504020204" pitchFamily="34" charset="0"/>
              </a:rPr>
              <a:t>. 9th E. McGraw- Hill. New York. ISBN: 9781259872976. </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Props1.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2.xml><?xml version="1.0" encoding="utf-8"?>
<ds:datastoreItem xmlns:ds="http://schemas.openxmlformats.org/officeDocument/2006/customXml" ds:itemID="{2E0FE671-25D8-4116-9472-BF9297986CC6}">
  <ds:schemaRefs>
    <ds:schemaRef ds:uri="http://schemas.microsoft.com/sharepoint/v3/contenttype/forms"/>
  </ds:schemaRefs>
</ds:datastoreItem>
</file>

<file path=customXml/itemProps3.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6398</TotalTime>
  <Words>1279</Words>
  <Application>Microsoft Office PowerPoint</Application>
  <PresentationFormat>Custom</PresentationFormat>
  <Paragraphs>213</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Open Sans</vt:lpstr>
      <vt:lpstr>Open Sans Semibold</vt:lpstr>
      <vt:lpstr>Open Sans ExtraBold</vt:lpstr>
      <vt:lpstr>Arial</vt:lpstr>
      <vt:lpstr>Open Sans Light</vt:lpstr>
      <vt:lpstr>OCRB</vt:lpstr>
      <vt:lpstr>21_BasicWhite</vt:lpstr>
      <vt:lpstr>scrum framework</vt:lpstr>
      <vt:lpstr>Session 04 – scrum framework</vt:lpstr>
      <vt:lpstr>Session 04 – scrum framework</vt:lpstr>
      <vt:lpstr>AGILE Framework: Scrum</vt:lpstr>
      <vt:lpstr>Scrum</vt:lpstr>
      <vt:lpstr>Agile Framework: Scrum</vt:lpstr>
      <vt:lpstr>Scrum roles</vt:lpstr>
      <vt:lpstr>Scrum roles</vt:lpstr>
      <vt:lpstr>Scrum roles</vt:lpstr>
      <vt:lpstr>Scrum Artifacts</vt:lpstr>
      <vt:lpstr>Scrum Artifacts</vt:lpstr>
      <vt:lpstr>Scrum Artifacts</vt:lpstr>
      <vt:lpstr>Scrum Events</vt:lpstr>
      <vt:lpstr>Scrum Events</vt:lpstr>
      <vt:lpstr>Scrum Events</vt:lpstr>
      <vt:lpstr>Scrum Events</vt:lpstr>
      <vt:lpstr>Scrum Events</vt:lpstr>
      <vt:lpstr>User Stories</vt:lpstr>
      <vt:lpstr>User stories</vt:lpstr>
      <vt:lpstr>User stories</vt:lpstr>
      <vt:lpstr>User stories</vt:lpstr>
      <vt:lpstr>User stories</vt:lpstr>
      <vt:lpstr>Benefits and challenges of implementing scrum</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115</cp:revision>
  <dcterms:created xsi:type="dcterms:W3CDTF">2023-04-06T08:40:27Z</dcterms:created>
  <dcterms:modified xsi:type="dcterms:W3CDTF">2025-12-26T05:59:10Z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