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5"/>
  </p:notesMasterIdLst>
  <p:sldIdLst>
    <p:sldId id="256" r:id="rId6"/>
    <p:sldId id="257" r:id="rId7"/>
    <p:sldId id="258" r:id="rId8"/>
    <p:sldId id="274" r:id="rId9"/>
    <p:sldId id="310" r:id="rId10"/>
    <p:sldId id="286" r:id="rId11"/>
    <p:sldId id="285" r:id="rId12"/>
    <p:sldId id="307" r:id="rId13"/>
    <p:sldId id="308" r:id="rId14"/>
    <p:sldId id="287" r:id="rId15"/>
    <p:sldId id="309"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05" r:id="rId33"/>
    <p:sldId id="284" r:id="rId34"/>
  </p:sldIdLst>
  <p:sldSz cx="24384000" cy="13716000"/>
  <p:notesSz cx="6858000" cy="9144000"/>
  <p:embeddedFontLst>
    <p:embeddedFont>
      <p:font typeface="OCRB" panose="020B0609020202020204" pitchFamily="49" charset="77"/>
      <p:regular r:id="rId36"/>
    </p:embeddedFont>
    <p:embeddedFont>
      <p:font typeface="Open Sans" panose="020B0606030504020204" pitchFamily="34" charset="0"/>
      <p:regular r:id="rId37"/>
      <p:bold r:id="rId38"/>
      <p:italic r:id="rId39"/>
      <p:boldItalic r:id="rId40"/>
    </p:embeddedFont>
    <p:embeddedFont>
      <p:font typeface="Open Sans ExtraBold" panose="020B0606030504020204" pitchFamily="34" charset="0"/>
      <p:bold r:id="rId41"/>
      <p:italic r:id="rId42"/>
      <p:boldItalic r:id="rId43"/>
    </p:embeddedFont>
    <p:embeddedFont>
      <p:font typeface="Open Sans Light" panose="020B0306030504020204" pitchFamily="34" charset="0"/>
      <p:regular r:id="rId44"/>
      <p:italic r:id="rId45"/>
    </p:embeddedFont>
    <p:embeddedFont>
      <p:font typeface="Open Sans Semibold" panose="020B0606030504020204" pitchFamily="34" charset="0"/>
      <p:regular r:id="rId46"/>
      <p:bold r:id="rId47"/>
      <p:italic r:id="rId48"/>
      <p:boldItalic r:id="rId49"/>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54" autoAdjust="0"/>
    <p:restoredTop sz="96197"/>
  </p:normalViewPr>
  <p:slideViewPr>
    <p:cSldViewPr snapToGrid="0" snapToObjects="1">
      <p:cViewPr varScale="1">
        <p:scale>
          <a:sx n="36" d="100"/>
          <a:sy n="36" d="100"/>
        </p:scale>
        <p:origin x="320" y="1848"/>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4.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9.fntdata"/><Relationship Id="rId52"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5.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1.fntdata"/><Relationship Id="rId49"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15</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US" dirty="0"/>
              <a:t>SOFTWARE CONFIGURATION MANAGEMENT</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15 – SOFTWARE CONFIGURATION MANAGEMENT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Understand the configuration concept for software development</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Understand how to configurate software</a:t>
            </a:r>
          </a:p>
          <a:p>
            <a:pPr marL="0" indent="0" algn="just">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15 – SOFTWARE CONFIGURATION MANAGEMENT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Introduction to Software Configuration Management</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Concepts in SCM</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SCM Processes and Activities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SCM Planning and Implementation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SCM Tools and Techniques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SCM in Agile and DevOps Environments</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Introduction to Software Configuration Management</a:t>
            </a:r>
          </a:p>
        </p:txBody>
      </p:sp>
      <p:sp>
        <p:nvSpPr>
          <p:cNvPr id="8" name="Content Placeholder 7">
            <a:extLst>
              <a:ext uri="{FF2B5EF4-FFF2-40B4-BE49-F238E27FC236}">
                <a16:creationId xmlns:a16="http://schemas.microsoft.com/office/drawing/2014/main" id="{7C1E069D-2D36-0882-2271-B7EDE4513898}"/>
              </a:ext>
            </a:extLst>
          </p:cNvPr>
          <p:cNvSpPr>
            <a:spLocks noGrp="1"/>
          </p:cNvSpPr>
          <p:nvPr>
            <p:ph sz="quarter" idx="11"/>
          </p:nvPr>
        </p:nvSpPr>
        <p:spPr/>
        <p:txBody>
          <a:bodyPr/>
          <a:lstStyle/>
          <a:p>
            <a:endParaRPr lang="en-US"/>
          </a:p>
        </p:txBody>
      </p:sp>
      <p:sp>
        <p:nvSpPr>
          <p:cNvPr id="10" name="Text Placeholder 9">
            <a:extLst>
              <a:ext uri="{FF2B5EF4-FFF2-40B4-BE49-F238E27FC236}">
                <a16:creationId xmlns:a16="http://schemas.microsoft.com/office/drawing/2014/main" id="{592E31F2-A7A0-B7B7-5A1A-7224B63C7AF1}"/>
              </a:ext>
            </a:extLst>
          </p:cNvPr>
          <p:cNvSpPr>
            <a:spLocks noGrp="1"/>
          </p:cNvSpPr>
          <p:nvPr>
            <p:ph type="body" sz="quarter" idx="10"/>
          </p:nvPr>
        </p:nvSpPr>
        <p:spPr/>
        <p:txBody>
          <a:bodyPr/>
          <a:lstStyle/>
          <a:p>
            <a:endParaRPr lang="en-US"/>
          </a:p>
        </p:txBody>
      </p:sp>
      <p:pic>
        <p:nvPicPr>
          <p:cNvPr id="1026" name="Picture 2">
            <a:extLst>
              <a:ext uri="{FF2B5EF4-FFF2-40B4-BE49-F238E27FC236}">
                <a16:creationId xmlns:a16="http://schemas.microsoft.com/office/drawing/2014/main" id="{18CE7A38-3E47-ADF7-E95A-361109855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7377" y="0"/>
            <a:ext cx="20080224" cy="13805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23510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Introduction to Software Configuration Management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Definition and importance of SCM</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Software Configuration Management (SCM)</a:t>
            </a:r>
            <a:r>
              <a:rPr lang="en-US" sz="3600" dirty="0">
                <a:latin typeface="Open Sans" panose="020B0606030504020204" pitchFamily="34" charset="0"/>
                <a:ea typeface="Open Sans" panose="020B0606030504020204" pitchFamily="34" charset="0"/>
                <a:cs typeface="Open Sans" panose="020B0606030504020204" pitchFamily="34" charset="0"/>
              </a:rPr>
              <a:t> is a discipline within software engineering that focuses on controlling and tracking changes in software, ensuring integrity and traceability throughout the software development life cycle.</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Importance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Control of Change</a:t>
            </a:r>
            <a:r>
              <a:rPr lang="en-US" sz="3600" dirty="0">
                <a:latin typeface="Open Sans" panose="020B0606030504020204" pitchFamily="34" charset="0"/>
                <a:ea typeface="Open Sans" panose="020B0606030504020204" pitchFamily="34" charset="0"/>
                <a:cs typeface="Open Sans" panose="020B0606030504020204" pitchFamily="34" charset="0"/>
              </a:rPr>
              <a:t>: Manages and documents changes to prevent errors and inconsistencies.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Team Collaboration</a:t>
            </a:r>
            <a:r>
              <a:rPr lang="en-US" sz="3600" dirty="0">
                <a:latin typeface="Open Sans" panose="020B0606030504020204" pitchFamily="34" charset="0"/>
                <a:ea typeface="Open Sans" panose="020B0606030504020204" pitchFamily="34" charset="0"/>
                <a:cs typeface="Open Sans" panose="020B0606030504020204" pitchFamily="34" charset="0"/>
              </a:rPr>
              <a:t>: Facilitates coordination among team members, especially in large projects.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Quality Assurance</a:t>
            </a:r>
            <a:r>
              <a:rPr lang="en-US" sz="3600" dirty="0">
                <a:latin typeface="Open Sans" panose="020B0606030504020204" pitchFamily="34" charset="0"/>
                <a:ea typeface="Open Sans" panose="020B0606030504020204" pitchFamily="34" charset="0"/>
                <a:cs typeface="Open Sans" panose="020B0606030504020204" pitchFamily="34" charset="0"/>
              </a:rPr>
              <a:t>: Ensures that the software maintains its integrity over time.</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Compliance and Traceability</a:t>
            </a:r>
            <a:r>
              <a:rPr lang="en-US" sz="3600" dirty="0">
                <a:latin typeface="Open Sans" panose="020B0606030504020204" pitchFamily="34" charset="0"/>
                <a:ea typeface="Open Sans" panose="020B0606030504020204" pitchFamily="34" charset="0"/>
                <a:cs typeface="Open Sans" panose="020B0606030504020204" pitchFamily="34" charset="0"/>
              </a:rPr>
              <a:t>: Provides an audit trail for changes, important for regulatory compliance.</a:t>
            </a:r>
          </a:p>
        </p:txBody>
      </p:sp>
    </p:spTree>
    <p:extLst>
      <p:ext uri="{BB962C8B-B14F-4D97-AF65-F5344CB8AC3E}">
        <p14:creationId xmlns:p14="http://schemas.microsoft.com/office/powerpoint/2010/main" val="2549747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Introduction to Software Configuration Management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What Are These Changes?</a:t>
            </a:r>
          </a:p>
        </p:txBody>
      </p:sp>
      <p:pic>
        <p:nvPicPr>
          <p:cNvPr id="4" name="Gambar 3">
            <a:extLst>
              <a:ext uri="{FF2B5EF4-FFF2-40B4-BE49-F238E27FC236}">
                <a16:creationId xmlns:a16="http://schemas.microsoft.com/office/drawing/2014/main" id="{41950D4E-0A89-1181-6E75-2175E811A3A0}"/>
              </a:ext>
            </a:extLst>
          </p:cNvPr>
          <p:cNvPicPr>
            <a:picLocks noChangeAspect="1"/>
          </p:cNvPicPr>
          <p:nvPr/>
        </p:nvPicPr>
        <p:blipFill>
          <a:blip r:embed="rId2"/>
          <a:stretch>
            <a:fillRect/>
          </a:stretch>
        </p:blipFill>
        <p:spPr>
          <a:xfrm>
            <a:off x="5679134" y="3963878"/>
            <a:ext cx="13025731" cy="8316323"/>
          </a:xfrm>
          <a:prstGeom prst="rect">
            <a:avLst/>
          </a:prstGeom>
        </p:spPr>
      </p:pic>
    </p:spTree>
    <p:extLst>
      <p:ext uri="{BB962C8B-B14F-4D97-AF65-F5344CB8AC3E}">
        <p14:creationId xmlns:p14="http://schemas.microsoft.com/office/powerpoint/2010/main" val="137434346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Introduction to Software Configuration Management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124356" cy="840935"/>
          </a:xfrm>
        </p:spPr>
        <p:txBody>
          <a:bodyPr>
            <a:normAutofit/>
          </a:bodyPr>
          <a:lstStyle/>
          <a:p>
            <a:r>
              <a:rPr lang="en-US" dirty="0"/>
              <a:t>Software Configuration Management Work Flow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8636090" cy="8583279"/>
          </a:xfrm>
        </p:spPr>
        <p:txBody>
          <a:bodyPr anchor="ctr">
            <a:normAutofit/>
          </a:bodyPr>
          <a:lstStyle/>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Software configuration management (SCM) is an umbrella activity that is applied throughout the software process </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Change can occur at any time, so SCM activities are developed to (1) identify change, (2) control change, (3) ensure that change is being properly implemented, and (4) report changes to others who may have an interest.</a:t>
            </a:r>
          </a:p>
        </p:txBody>
      </p:sp>
      <p:pic>
        <p:nvPicPr>
          <p:cNvPr id="6" name="Picture 5" descr="A diagram of a process&#10;&#10;Description automatically generated">
            <a:extLst>
              <a:ext uri="{FF2B5EF4-FFF2-40B4-BE49-F238E27FC236}">
                <a16:creationId xmlns:a16="http://schemas.microsoft.com/office/drawing/2014/main" id="{B6F65CC5-0EAE-2559-2EBB-61B2AB834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9646" y="4353244"/>
            <a:ext cx="13056620" cy="6398116"/>
          </a:xfrm>
          <a:prstGeom prst="rect">
            <a:avLst/>
          </a:prstGeom>
        </p:spPr>
      </p:pic>
    </p:spTree>
    <p:extLst>
      <p:ext uri="{BB962C8B-B14F-4D97-AF65-F5344CB8AC3E}">
        <p14:creationId xmlns:p14="http://schemas.microsoft.com/office/powerpoint/2010/main" val="208404484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Key Concepts in SCM</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Software Configuration items (SCI)</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SCI</a:t>
            </a:r>
            <a:r>
              <a:rPr lang="en-US" sz="3600" dirty="0">
                <a:latin typeface="Open Sans" panose="020B0606030504020204" pitchFamily="34" charset="0"/>
                <a:ea typeface="Open Sans" panose="020B0606030504020204" pitchFamily="34" charset="0"/>
                <a:cs typeface="Open Sans" panose="020B0606030504020204" pitchFamily="34" charset="0"/>
              </a:rPr>
              <a:t> are the artifacts that are placed under configuration management. This includes code files, documents, requirements, test cases, and more.</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Source code files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Design documents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User manuals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Test scripts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Build scripts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Requirements specifications</a:t>
            </a:r>
          </a:p>
        </p:txBody>
      </p:sp>
    </p:spTree>
    <p:extLst>
      <p:ext uri="{BB962C8B-B14F-4D97-AF65-F5344CB8AC3E}">
        <p14:creationId xmlns:p14="http://schemas.microsoft.com/office/powerpoint/2010/main" val="95047480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Key Concepts in SCM</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err="1"/>
              <a:t>BaseLines</a:t>
            </a:r>
            <a:endParaRPr lang="en-US" dirty="0"/>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 </a:t>
            </a:r>
            <a:r>
              <a:rPr lang="en-US" sz="3600" b="1" dirty="0">
                <a:latin typeface="Open Sans" panose="020B0606030504020204" pitchFamily="34" charset="0"/>
                <a:ea typeface="Open Sans" panose="020B0606030504020204" pitchFamily="34" charset="0"/>
                <a:cs typeface="Open Sans" panose="020B0606030504020204" pitchFamily="34" charset="0"/>
              </a:rPr>
              <a:t>baseline</a:t>
            </a:r>
            <a:r>
              <a:rPr lang="en-US" sz="3600" dirty="0">
                <a:latin typeface="Open Sans" panose="020B0606030504020204" pitchFamily="34" charset="0"/>
                <a:ea typeface="Open Sans" panose="020B0606030504020204" pitchFamily="34" charset="0"/>
                <a:cs typeface="Open Sans" panose="020B0606030504020204" pitchFamily="34" charset="0"/>
              </a:rPr>
              <a:t> is a formally reviewed and agreed-upon version of a configuration item, which serves as a starting point for further development and can be changed only through formal change control procedures.</a:t>
            </a:r>
          </a:p>
          <a:p>
            <a:pPr marL="0"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Types of Baselines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Functional Baseline</a:t>
            </a:r>
            <a:r>
              <a:rPr lang="en-US" sz="3600" dirty="0">
                <a:latin typeface="Open Sans" panose="020B0606030504020204" pitchFamily="34" charset="0"/>
                <a:ea typeface="Open Sans" panose="020B0606030504020204" pitchFamily="34" charset="0"/>
                <a:cs typeface="Open Sans" panose="020B0606030504020204" pitchFamily="34" charset="0"/>
              </a:rPr>
              <a:t>: Initial specifications established during requirements analysis.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Design Baseline</a:t>
            </a:r>
            <a:r>
              <a:rPr lang="en-US" sz="3600" dirty="0">
                <a:latin typeface="Open Sans" panose="020B0606030504020204" pitchFamily="34" charset="0"/>
                <a:ea typeface="Open Sans" panose="020B0606030504020204" pitchFamily="34" charset="0"/>
                <a:cs typeface="Open Sans" panose="020B0606030504020204" pitchFamily="34" charset="0"/>
              </a:rPr>
              <a:t>: Established after the design phase.</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Product Baseline</a:t>
            </a:r>
            <a:r>
              <a:rPr lang="en-US" sz="3600" dirty="0">
                <a:latin typeface="Open Sans" panose="020B0606030504020204" pitchFamily="34" charset="0"/>
                <a:ea typeface="Open Sans" panose="020B0606030504020204" pitchFamily="34" charset="0"/>
                <a:cs typeface="Open Sans" panose="020B0606030504020204" pitchFamily="34" charset="0"/>
              </a:rPr>
              <a:t>: The final product, including all components and documentation.</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687010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Key Concepts in SCM</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Baselines</a:t>
            </a:r>
          </a:p>
        </p:txBody>
      </p:sp>
      <p:pic>
        <p:nvPicPr>
          <p:cNvPr id="5" name="Gambar 4">
            <a:extLst>
              <a:ext uri="{FF2B5EF4-FFF2-40B4-BE49-F238E27FC236}">
                <a16:creationId xmlns:a16="http://schemas.microsoft.com/office/drawing/2014/main" id="{53B375A2-0A85-B198-2F0C-0F55FE0DD1A6}"/>
              </a:ext>
            </a:extLst>
          </p:cNvPr>
          <p:cNvPicPr>
            <a:picLocks noChangeAspect="1"/>
          </p:cNvPicPr>
          <p:nvPr/>
        </p:nvPicPr>
        <p:blipFill>
          <a:blip r:embed="rId2"/>
          <a:stretch>
            <a:fillRect/>
          </a:stretch>
        </p:blipFill>
        <p:spPr>
          <a:xfrm>
            <a:off x="5706428" y="3521424"/>
            <a:ext cx="12971144" cy="9265103"/>
          </a:xfrm>
          <a:prstGeom prst="rect">
            <a:avLst/>
          </a:prstGeom>
        </p:spPr>
      </p:pic>
    </p:spTree>
    <p:extLst>
      <p:ext uri="{BB962C8B-B14F-4D97-AF65-F5344CB8AC3E}">
        <p14:creationId xmlns:p14="http://schemas.microsoft.com/office/powerpoint/2010/main" val="182262733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Key Concepts in SCM</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Versions</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Different states of a configuration item as it evolves over time.</a:t>
            </a:r>
          </a:p>
          <a:p>
            <a:pPr marL="609600" lvl="1"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Versioning Practices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Semantic Versioning</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dirty="0" err="1">
                <a:latin typeface="Open Sans" panose="020B0606030504020204" pitchFamily="34" charset="0"/>
                <a:ea typeface="Open Sans" panose="020B0606030504020204" pitchFamily="34" charset="0"/>
                <a:cs typeface="Open Sans" panose="020B0606030504020204" pitchFamily="34" charset="0"/>
              </a:rPr>
              <a:t>Major.Minor.Patch</a:t>
            </a:r>
            <a:r>
              <a:rPr lang="en-US" sz="3600" dirty="0">
                <a:latin typeface="Open Sans" panose="020B0606030504020204" pitchFamily="34" charset="0"/>
                <a:ea typeface="Open Sans" panose="020B0606030504020204" pitchFamily="34" charset="0"/>
                <a:cs typeface="Open Sans" panose="020B0606030504020204" pitchFamily="34" charset="0"/>
              </a:rPr>
              <a:t> (e.g., 1.2.3)</a:t>
            </a:r>
          </a:p>
          <a:p>
            <a:pPr lvl="2"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Major</a:t>
            </a:r>
            <a:r>
              <a:rPr lang="en-US" sz="3600" dirty="0">
                <a:latin typeface="Open Sans" panose="020B0606030504020204" pitchFamily="34" charset="0"/>
                <a:ea typeface="Open Sans" panose="020B0606030504020204" pitchFamily="34" charset="0"/>
                <a:cs typeface="Open Sans" panose="020B0606030504020204" pitchFamily="34" charset="0"/>
              </a:rPr>
              <a:t>: Incompatible API changes.</a:t>
            </a:r>
          </a:p>
          <a:p>
            <a:pPr lvl="2"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Minor</a:t>
            </a:r>
            <a:r>
              <a:rPr lang="en-US" sz="3600" dirty="0">
                <a:latin typeface="Open Sans" panose="020B0606030504020204" pitchFamily="34" charset="0"/>
                <a:ea typeface="Open Sans" panose="020B0606030504020204" pitchFamily="34" charset="0"/>
                <a:cs typeface="Open Sans" panose="020B0606030504020204" pitchFamily="34" charset="0"/>
              </a:rPr>
              <a:t>: Backwards-compatible functionality.</a:t>
            </a:r>
          </a:p>
          <a:p>
            <a:pPr lvl="2"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Patch</a:t>
            </a:r>
            <a:r>
              <a:rPr lang="en-US" sz="3600" dirty="0">
                <a:latin typeface="Open Sans" panose="020B0606030504020204" pitchFamily="34" charset="0"/>
                <a:ea typeface="Open Sans" panose="020B0606030504020204" pitchFamily="34" charset="0"/>
                <a:cs typeface="Open Sans" panose="020B0606030504020204" pitchFamily="34" charset="0"/>
              </a:rPr>
              <a:t>: Backwards-compatible bug fixes.</a:t>
            </a:r>
          </a:p>
        </p:txBody>
      </p:sp>
    </p:spTree>
    <p:extLst>
      <p:ext uri="{BB962C8B-B14F-4D97-AF65-F5344CB8AC3E}">
        <p14:creationId xmlns:p14="http://schemas.microsoft.com/office/powerpoint/2010/main" val="374928830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Key Concepts in SCM</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Change Control And Management</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Change Control Process:</a:t>
            </a:r>
          </a:p>
          <a:p>
            <a:pPr marL="742950" indent="-742950" algn="just">
              <a:spcBef>
                <a:spcPts val="0"/>
              </a:spcBef>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Change Request Submission</a:t>
            </a:r>
            <a:r>
              <a:rPr lang="en-US" sz="3600" dirty="0">
                <a:latin typeface="Open Sans" panose="020B0606030504020204" pitchFamily="34" charset="0"/>
                <a:ea typeface="Open Sans" panose="020B0606030504020204" pitchFamily="34" charset="0"/>
                <a:cs typeface="Open Sans" panose="020B0606030504020204" pitchFamily="34" charset="0"/>
              </a:rPr>
              <a:t>: Initiated by stakeholders when a change is needed.</a:t>
            </a:r>
          </a:p>
          <a:p>
            <a:pPr marL="742950" indent="-742950" algn="just">
              <a:spcBef>
                <a:spcPts val="0"/>
              </a:spcBef>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Evaluation</a:t>
            </a:r>
            <a:r>
              <a:rPr lang="en-US" sz="3600" dirty="0">
                <a:latin typeface="Open Sans" panose="020B0606030504020204" pitchFamily="34" charset="0"/>
                <a:ea typeface="Open Sans" panose="020B0606030504020204" pitchFamily="34" charset="0"/>
                <a:cs typeface="Open Sans" panose="020B0606030504020204" pitchFamily="34" charset="0"/>
              </a:rPr>
              <a:t>: Assess impact, feasibility, and necessity of the change.</a:t>
            </a:r>
          </a:p>
          <a:p>
            <a:pPr marL="742950" indent="-742950" algn="just">
              <a:spcBef>
                <a:spcPts val="0"/>
              </a:spcBef>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Approval/Rejection</a:t>
            </a:r>
            <a:r>
              <a:rPr lang="en-US" sz="3600" dirty="0">
                <a:latin typeface="Open Sans" panose="020B0606030504020204" pitchFamily="34" charset="0"/>
                <a:ea typeface="Open Sans" panose="020B0606030504020204" pitchFamily="34" charset="0"/>
                <a:cs typeface="Open Sans" panose="020B0606030504020204" pitchFamily="34" charset="0"/>
              </a:rPr>
              <a:t>: Decision made by a Change Control Board (CCB).</a:t>
            </a:r>
          </a:p>
          <a:p>
            <a:pPr marL="742950" indent="-742950" algn="just">
              <a:spcBef>
                <a:spcPts val="0"/>
              </a:spcBef>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Implementation</a:t>
            </a:r>
            <a:r>
              <a:rPr lang="en-US" sz="3600" dirty="0">
                <a:latin typeface="Open Sans" panose="020B0606030504020204" pitchFamily="34" charset="0"/>
                <a:ea typeface="Open Sans" panose="020B0606030504020204" pitchFamily="34" charset="0"/>
                <a:cs typeface="Open Sans" panose="020B0606030504020204" pitchFamily="34" charset="0"/>
              </a:rPr>
              <a:t>: Approved changes are implemented according to plan.</a:t>
            </a:r>
          </a:p>
          <a:p>
            <a:pPr marL="742950" indent="-742950" algn="just">
              <a:spcBef>
                <a:spcPts val="0"/>
              </a:spcBef>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Verification</a:t>
            </a:r>
            <a:r>
              <a:rPr lang="en-US" sz="3600" dirty="0">
                <a:latin typeface="Open Sans" panose="020B0606030504020204" pitchFamily="34" charset="0"/>
                <a:ea typeface="Open Sans" panose="020B0606030504020204" pitchFamily="34" charset="0"/>
                <a:cs typeface="Open Sans" panose="020B0606030504020204" pitchFamily="34" charset="0"/>
              </a:rPr>
              <a:t>: Changes are tested and validated to ensure they meet requirements.</a:t>
            </a:r>
          </a:p>
          <a:p>
            <a:pPr marL="742950" indent="-742950" algn="just">
              <a:spcBef>
                <a:spcPts val="0"/>
              </a:spcBef>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Release</a:t>
            </a:r>
            <a:r>
              <a:rPr lang="en-US" sz="3600" dirty="0">
                <a:latin typeface="Open Sans" panose="020B0606030504020204" pitchFamily="34" charset="0"/>
                <a:ea typeface="Open Sans" panose="020B0606030504020204" pitchFamily="34" charset="0"/>
                <a:cs typeface="Open Sans" panose="020B0606030504020204" pitchFamily="34" charset="0"/>
              </a:rPr>
              <a:t>: Updated configuration items are formally released.</a:t>
            </a:r>
          </a:p>
          <a:p>
            <a:pPr marL="742950" indent="-742950" algn="just">
              <a:spcBef>
                <a:spcPts val="0"/>
              </a:spcBef>
              <a:buFont typeface="+mj-lt"/>
              <a:buAutoNum type="arabicPeriod"/>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Change Control Board (CCB)</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 group of stakeholders responsible for evaluating and approving changes to the software configuration.</a:t>
            </a:r>
          </a:p>
        </p:txBody>
      </p:sp>
    </p:spTree>
    <p:extLst>
      <p:ext uri="{BB962C8B-B14F-4D97-AF65-F5344CB8AC3E}">
        <p14:creationId xmlns:p14="http://schemas.microsoft.com/office/powerpoint/2010/main" val="323768256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Processes and Activities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Configuration identification</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Determine which items need to be controlled and tracked throughout the project.</a:t>
            </a:r>
          </a:p>
          <a:p>
            <a:pPr algn="just">
              <a:spcBef>
                <a:spcPts val="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Activities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Identifying Configuration Items</a:t>
            </a:r>
            <a:r>
              <a:rPr lang="en-US" sz="3600" dirty="0">
                <a:latin typeface="Open Sans" panose="020B0606030504020204" pitchFamily="34" charset="0"/>
                <a:ea typeface="Open Sans" panose="020B0606030504020204" pitchFamily="34" charset="0"/>
                <a:cs typeface="Open Sans" panose="020B0606030504020204" pitchFamily="34" charset="0"/>
              </a:rPr>
              <a:t>: Establishing a list of items that are to be placed under configuration control.</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Assigning Identifiers</a:t>
            </a:r>
            <a:r>
              <a:rPr lang="en-US" sz="3600" dirty="0">
                <a:latin typeface="Open Sans" panose="020B0606030504020204" pitchFamily="34" charset="0"/>
                <a:ea typeface="Open Sans" panose="020B0606030504020204" pitchFamily="34" charset="0"/>
                <a:cs typeface="Open Sans" panose="020B0606030504020204" pitchFamily="34" charset="0"/>
              </a:rPr>
              <a:t>: Assigning unique identifiers (names, numbers) to each configuration item for tracking purposes.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Creating Configuration Structures</a:t>
            </a:r>
            <a:r>
              <a:rPr lang="en-US" sz="3600" dirty="0">
                <a:latin typeface="Open Sans" panose="020B0606030504020204" pitchFamily="34" charset="0"/>
                <a:ea typeface="Open Sans" panose="020B0606030504020204" pitchFamily="34" charset="0"/>
                <a:cs typeface="Open Sans" panose="020B0606030504020204" pitchFamily="34" charset="0"/>
              </a:rPr>
              <a:t>: Defining relationships among configuration items.</a:t>
            </a:r>
          </a:p>
        </p:txBody>
      </p:sp>
    </p:spTree>
    <p:extLst>
      <p:ext uri="{BB962C8B-B14F-4D97-AF65-F5344CB8AC3E}">
        <p14:creationId xmlns:p14="http://schemas.microsoft.com/office/powerpoint/2010/main" val="21571518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Processes and Activities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Configuration Control</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Manage changes systematically to maintain software integrity and traceability.</a:t>
            </a:r>
          </a:p>
          <a:p>
            <a:pPr marL="609600" lvl="1"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Activities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Change Management</a:t>
            </a:r>
            <a:r>
              <a:rPr lang="en-US" sz="3600" dirty="0">
                <a:latin typeface="Open Sans" panose="020B0606030504020204" pitchFamily="34" charset="0"/>
                <a:ea typeface="Open Sans" panose="020B0606030504020204" pitchFamily="34" charset="0"/>
                <a:cs typeface="Open Sans" panose="020B0606030504020204" pitchFamily="34" charset="0"/>
              </a:rPr>
              <a:t>: Processing and tracking change requests through a defined process.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Change Evaluation</a:t>
            </a:r>
            <a:r>
              <a:rPr lang="en-US" sz="3600" dirty="0">
                <a:latin typeface="Open Sans" panose="020B0606030504020204" pitchFamily="34" charset="0"/>
                <a:ea typeface="Open Sans" panose="020B0606030504020204" pitchFamily="34" charset="0"/>
                <a:cs typeface="Open Sans" panose="020B0606030504020204" pitchFamily="34" charset="0"/>
              </a:rPr>
              <a:t>: Assessing the impact of proposed changes on cost, schedule, and quality.</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Change Implementation</a:t>
            </a:r>
            <a:r>
              <a:rPr lang="en-US" sz="3600" dirty="0">
                <a:latin typeface="Open Sans" panose="020B0606030504020204" pitchFamily="34" charset="0"/>
                <a:ea typeface="Open Sans" panose="020B0606030504020204" pitchFamily="34" charset="0"/>
                <a:cs typeface="Open Sans" panose="020B0606030504020204" pitchFamily="34" charset="0"/>
              </a:rPr>
              <a:t>: Planning and executing approved changes.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Version Control</a:t>
            </a:r>
            <a:r>
              <a:rPr lang="en-US" sz="3600" dirty="0">
                <a:latin typeface="Open Sans" panose="020B0606030504020204" pitchFamily="34" charset="0"/>
                <a:ea typeface="Open Sans" panose="020B0606030504020204" pitchFamily="34" charset="0"/>
                <a:cs typeface="Open Sans" panose="020B0606030504020204" pitchFamily="34" charset="0"/>
              </a:rPr>
              <a:t>: Managing multiple versions and variants of configuration items.</a:t>
            </a:r>
          </a:p>
        </p:txBody>
      </p:sp>
    </p:spTree>
    <p:extLst>
      <p:ext uri="{BB962C8B-B14F-4D97-AF65-F5344CB8AC3E}">
        <p14:creationId xmlns:p14="http://schemas.microsoft.com/office/powerpoint/2010/main" val="343294843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Processes and Activities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Configuration Status Accounting</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Record and report information needed to manage configuration items effectively.</a:t>
            </a:r>
          </a:p>
          <a:p>
            <a:pPr marL="609600" lvl="1"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Activities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Status Reporting</a:t>
            </a:r>
            <a:r>
              <a:rPr lang="en-US" sz="3600" dirty="0">
                <a:latin typeface="Open Sans" panose="020B0606030504020204" pitchFamily="34" charset="0"/>
                <a:ea typeface="Open Sans" panose="020B0606030504020204" pitchFamily="34" charset="0"/>
                <a:cs typeface="Open Sans" panose="020B0606030504020204" pitchFamily="34" charset="0"/>
              </a:rPr>
              <a:t>: Providing information on the current status of configuration items, including version numbers, change history, and implementation status.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Tracking Metrics</a:t>
            </a:r>
            <a:r>
              <a:rPr lang="en-US" sz="3600" dirty="0">
                <a:latin typeface="Open Sans" panose="020B0606030504020204" pitchFamily="34" charset="0"/>
                <a:ea typeface="Open Sans" panose="020B0606030504020204" pitchFamily="34" charset="0"/>
                <a:cs typeface="Open Sans" panose="020B0606030504020204" pitchFamily="34" charset="0"/>
              </a:rPr>
              <a:t>: Collecting data on the number of changes, types of changes, and time to implement changes.</a:t>
            </a:r>
          </a:p>
        </p:txBody>
      </p:sp>
    </p:spTree>
    <p:extLst>
      <p:ext uri="{BB962C8B-B14F-4D97-AF65-F5344CB8AC3E}">
        <p14:creationId xmlns:p14="http://schemas.microsoft.com/office/powerpoint/2010/main" val="424727341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Processes and Activities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Configuration Audits and Reviews</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 that the software configuration items conform to their specifications and that the correct versions are being used.</a:t>
            </a:r>
          </a:p>
          <a:p>
            <a:pPr marL="609600" lvl="1"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Types of Audits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Functional Configuration Audit (FCA)</a:t>
            </a:r>
            <a:r>
              <a:rPr lang="en-US" sz="3600" dirty="0">
                <a:latin typeface="Open Sans" panose="020B0606030504020204" pitchFamily="34" charset="0"/>
                <a:ea typeface="Open Sans" panose="020B0606030504020204" pitchFamily="34" charset="0"/>
                <a:cs typeface="Open Sans" panose="020B0606030504020204" pitchFamily="34" charset="0"/>
              </a:rPr>
              <a:t>: Verifies that the functional requirements are met.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Physical Configuration Audit (PCA)</a:t>
            </a:r>
            <a:r>
              <a:rPr lang="en-US" sz="3600" dirty="0">
                <a:latin typeface="Open Sans" panose="020B0606030504020204" pitchFamily="34" charset="0"/>
                <a:ea typeface="Open Sans" panose="020B0606030504020204" pitchFamily="34" charset="0"/>
                <a:cs typeface="Open Sans" panose="020B0606030504020204" pitchFamily="34" charset="0"/>
              </a:rPr>
              <a:t>: Confirms that the product has been built according to the specified design and documentation.</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Activities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Audit Planning</a:t>
            </a:r>
            <a:r>
              <a:rPr lang="en-US" sz="3600" dirty="0">
                <a:latin typeface="Open Sans" panose="020B0606030504020204" pitchFamily="34" charset="0"/>
                <a:ea typeface="Open Sans" panose="020B0606030504020204" pitchFamily="34" charset="0"/>
                <a:cs typeface="Open Sans" panose="020B0606030504020204" pitchFamily="34" charset="0"/>
              </a:rPr>
              <a:t>: Defining the scope and objectives of the audit.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Conducting Audits</a:t>
            </a:r>
            <a:r>
              <a:rPr lang="en-US" sz="3600" dirty="0">
                <a:latin typeface="Open Sans" panose="020B0606030504020204" pitchFamily="34" charset="0"/>
                <a:ea typeface="Open Sans" panose="020B0606030504020204" pitchFamily="34" charset="0"/>
                <a:cs typeface="Open Sans" panose="020B0606030504020204" pitchFamily="34" charset="0"/>
              </a:rPr>
              <a:t>: Reviewing documentation, code, and processes.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Reporting</a:t>
            </a:r>
            <a:r>
              <a:rPr lang="en-US" sz="3600" dirty="0">
                <a:latin typeface="Open Sans" panose="020B0606030504020204" pitchFamily="34" charset="0"/>
                <a:ea typeface="Open Sans" panose="020B0606030504020204" pitchFamily="34" charset="0"/>
                <a:cs typeface="Open Sans" panose="020B0606030504020204" pitchFamily="34" charset="0"/>
              </a:rPr>
              <a:t>: Documenting findings and recommendations.</a:t>
            </a:r>
          </a:p>
        </p:txBody>
      </p:sp>
    </p:spTree>
    <p:extLst>
      <p:ext uri="{BB962C8B-B14F-4D97-AF65-F5344CB8AC3E}">
        <p14:creationId xmlns:p14="http://schemas.microsoft.com/office/powerpoint/2010/main" val="416092844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Processes and Activities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Change Control Board (CCB) Roles and Responsibilities</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Roles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CCB Chairperson</a:t>
            </a:r>
            <a:r>
              <a:rPr lang="en-US" sz="3600" dirty="0">
                <a:latin typeface="Open Sans" panose="020B0606030504020204" pitchFamily="34" charset="0"/>
                <a:ea typeface="Open Sans" panose="020B0606030504020204" pitchFamily="34" charset="0"/>
                <a:cs typeface="Open Sans" panose="020B0606030504020204" pitchFamily="34" charset="0"/>
              </a:rPr>
              <a:t>: Leads the board and facilitates decision-making.</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Members</a:t>
            </a:r>
            <a:r>
              <a:rPr lang="en-US" sz="3600" dirty="0">
                <a:latin typeface="Open Sans" panose="020B0606030504020204" pitchFamily="34" charset="0"/>
                <a:ea typeface="Open Sans" panose="020B0606030504020204" pitchFamily="34" charset="0"/>
                <a:cs typeface="Open Sans" panose="020B0606030504020204" pitchFamily="34" charset="0"/>
              </a:rPr>
              <a:t>: Representatives from development, QA, project management, and other stakeholders.</a:t>
            </a:r>
          </a:p>
          <a:p>
            <a:pPr lvl="1"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Responsibilities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Review Change Requests</a:t>
            </a:r>
            <a:r>
              <a:rPr lang="en-US" sz="3600" dirty="0">
                <a:latin typeface="Open Sans" panose="020B0606030504020204" pitchFamily="34" charset="0"/>
                <a:ea typeface="Open Sans" panose="020B0606030504020204" pitchFamily="34" charset="0"/>
                <a:cs typeface="Open Sans" panose="020B0606030504020204" pitchFamily="34" charset="0"/>
              </a:rPr>
              <a:t>: Evaluate the necessity and impact of changes.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Decision Making</a:t>
            </a:r>
            <a:r>
              <a:rPr lang="en-US" sz="3600" dirty="0">
                <a:latin typeface="Open Sans" panose="020B0606030504020204" pitchFamily="34" charset="0"/>
                <a:ea typeface="Open Sans" panose="020B0606030504020204" pitchFamily="34" charset="0"/>
                <a:cs typeface="Open Sans" panose="020B0606030504020204" pitchFamily="34" charset="0"/>
              </a:rPr>
              <a:t>: Approve, reject, or defer change requests.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Prioritization</a:t>
            </a:r>
            <a:r>
              <a:rPr lang="en-US" sz="3600" dirty="0">
                <a:latin typeface="Open Sans" panose="020B0606030504020204" pitchFamily="34" charset="0"/>
                <a:ea typeface="Open Sans" panose="020B0606030504020204" pitchFamily="34" charset="0"/>
                <a:cs typeface="Open Sans" panose="020B0606030504020204" pitchFamily="34" charset="0"/>
              </a:rPr>
              <a:t>: Determine the urgency and importance of changes.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Communication</a:t>
            </a:r>
            <a:r>
              <a:rPr lang="en-US" sz="3600" dirty="0">
                <a:latin typeface="Open Sans" panose="020B0606030504020204" pitchFamily="34" charset="0"/>
                <a:ea typeface="Open Sans" panose="020B0606030504020204" pitchFamily="34" charset="0"/>
                <a:cs typeface="Open Sans" panose="020B0606030504020204" pitchFamily="34" charset="0"/>
              </a:rPr>
              <a:t>: Inform stakeholders about decisions and changes.</a:t>
            </a:r>
          </a:p>
        </p:txBody>
      </p:sp>
    </p:spTree>
    <p:extLst>
      <p:ext uri="{BB962C8B-B14F-4D97-AF65-F5344CB8AC3E}">
        <p14:creationId xmlns:p14="http://schemas.microsoft.com/office/powerpoint/2010/main" val="242451458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Planning And Implementation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Developing an SCM Plan</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Outline how SCM processes will be applied in the project.</a:t>
            </a:r>
          </a:p>
          <a:p>
            <a:pPr marL="609600" lvl="1"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Components of an SCM Plan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Introduction</a:t>
            </a:r>
            <a:r>
              <a:rPr lang="en-US" sz="3600" dirty="0">
                <a:latin typeface="Open Sans" panose="020B0606030504020204" pitchFamily="34" charset="0"/>
                <a:ea typeface="Open Sans" panose="020B0606030504020204" pitchFamily="34" charset="0"/>
                <a:cs typeface="Open Sans" panose="020B0606030504020204" pitchFamily="34" charset="0"/>
              </a:rPr>
              <a:t>: Objectives and scope.</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Organization</a:t>
            </a:r>
            <a:r>
              <a:rPr lang="en-US" sz="3600" dirty="0">
                <a:latin typeface="Open Sans" panose="020B0606030504020204" pitchFamily="34" charset="0"/>
                <a:ea typeface="Open Sans" panose="020B0606030504020204" pitchFamily="34" charset="0"/>
                <a:cs typeface="Open Sans" panose="020B0606030504020204" pitchFamily="34" charset="0"/>
              </a:rPr>
              <a:t>: Roles and responsibilities.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Configuration Identification</a:t>
            </a:r>
            <a:r>
              <a:rPr lang="en-US" sz="3600" dirty="0">
                <a:latin typeface="Open Sans" panose="020B0606030504020204" pitchFamily="34" charset="0"/>
                <a:ea typeface="Open Sans" panose="020B0606030504020204" pitchFamily="34" charset="0"/>
                <a:cs typeface="Open Sans" panose="020B0606030504020204" pitchFamily="34" charset="0"/>
              </a:rPr>
              <a:t>: Criteria for selecting configuration items.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Configuration Control</a:t>
            </a:r>
            <a:r>
              <a:rPr lang="en-US" sz="3600" dirty="0">
                <a:latin typeface="Open Sans" panose="020B0606030504020204" pitchFamily="34" charset="0"/>
                <a:ea typeface="Open Sans" panose="020B0606030504020204" pitchFamily="34" charset="0"/>
                <a:cs typeface="Open Sans" panose="020B0606030504020204" pitchFamily="34" charset="0"/>
              </a:rPr>
              <a:t>: Procedures for managing changes.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Status Accounting</a:t>
            </a:r>
            <a:r>
              <a:rPr lang="en-US" sz="3600" dirty="0">
                <a:latin typeface="Open Sans" panose="020B0606030504020204" pitchFamily="34" charset="0"/>
                <a:ea typeface="Open Sans" panose="020B0606030504020204" pitchFamily="34" charset="0"/>
                <a:cs typeface="Open Sans" panose="020B0606030504020204" pitchFamily="34" charset="0"/>
              </a:rPr>
              <a:t>: Methods for tracking and reporting.</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Audits and Reviews</a:t>
            </a:r>
            <a:r>
              <a:rPr lang="en-US" sz="3600" dirty="0">
                <a:latin typeface="Open Sans" panose="020B0606030504020204" pitchFamily="34" charset="0"/>
                <a:ea typeface="Open Sans" panose="020B0606030504020204" pitchFamily="34" charset="0"/>
                <a:cs typeface="Open Sans" panose="020B0606030504020204" pitchFamily="34" charset="0"/>
              </a:rPr>
              <a:t>: Schedules and processes.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Tools and Resources</a:t>
            </a:r>
            <a:r>
              <a:rPr lang="en-US" sz="3600" dirty="0">
                <a:latin typeface="Open Sans" panose="020B0606030504020204" pitchFamily="34" charset="0"/>
                <a:ea typeface="Open Sans" panose="020B0606030504020204" pitchFamily="34" charset="0"/>
                <a:cs typeface="Open Sans" panose="020B0606030504020204" pitchFamily="34" charset="0"/>
              </a:rPr>
              <a:t>: Software and hardware to be used.</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Training Requirements</a:t>
            </a:r>
            <a:r>
              <a:rPr lang="en-US" sz="3600" dirty="0">
                <a:latin typeface="Open Sans" panose="020B0606030504020204" pitchFamily="34" charset="0"/>
                <a:ea typeface="Open Sans" panose="020B0606030504020204" pitchFamily="34" charset="0"/>
                <a:cs typeface="Open Sans" panose="020B0606030504020204" pitchFamily="34" charset="0"/>
              </a:rPr>
              <a:t>: SCM training for team members.</a:t>
            </a:r>
          </a:p>
        </p:txBody>
      </p:sp>
    </p:spTree>
    <p:extLst>
      <p:ext uri="{BB962C8B-B14F-4D97-AF65-F5344CB8AC3E}">
        <p14:creationId xmlns:p14="http://schemas.microsoft.com/office/powerpoint/2010/main" val="242220379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Planning And Implementation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Roles and Responsibilities in SCM</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SCM Manager</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Oversees SCM activities, develops SCM plans, and ensures compliance.</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Configuration Librarian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Manages the storage and retrieval of configuration items.</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Developers and Engineers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Follow SCM procedures, maintain accurate records, and participate in change control.</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Quality Assurance Personnel</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 that SCM processes are adhered to and that products meet quality standards.</a:t>
            </a:r>
          </a:p>
        </p:txBody>
      </p:sp>
    </p:spTree>
    <p:extLst>
      <p:ext uri="{BB962C8B-B14F-4D97-AF65-F5344CB8AC3E}">
        <p14:creationId xmlns:p14="http://schemas.microsoft.com/office/powerpoint/2010/main" val="239199336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Planning And Implementation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Integrating SCM into Software Development Life Cycle (SDLC)</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Integration Points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Requirements Phase</a:t>
            </a:r>
            <a:r>
              <a:rPr lang="en-US" sz="3600" dirty="0">
                <a:latin typeface="Open Sans" panose="020B0606030504020204" pitchFamily="34" charset="0"/>
                <a:ea typeface="Open Sans" panose="020B0606030504020204" pitchFamily="34" charset="0"/>
                <a:cs typeface="Open Sans" panose="020B0606030504020204" pitchFamily="34" charset="0"/>
              </a:rPr>
              <a:t>: Identify initial configuration items.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Design Phase</a:t>
            </a:r>
            <a:r>
              <a:rPr lang="en-US" sz="3600" dirty="0">
                <a:latin typeface="Open Sans" panose="020B0606030504020204" pitchFamily="34" charset="0"/>
                <a:ea typeface="Open Sans" panose="020B0606030504020204" pitchFamily="34" charset="0"/>
                <a:cs typeface="Open Sans" panose="020B0606030504020204" pitchFamily="34" charset="0"/>
              </a:rPr>
              <a:t>: Establish baselines for design documents.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Implementation Phase</a:t>
            </a:r>
            <a:r>
              <a:rPr lang="en-US" sz="3600" dirty="0">
                <a:latin typeface="Open Sans" panose="020B0606030504020204" pitchFamily="34" charset="0"/>
                <a:ea typeface="Open Sans" panose="020B0606030504020204" pitchFamily="34" charset="0"/>
                <a:cs typeface="Open Sans" panose="020B0606030504020204" pitchFamily="34" charset="0"/>
              </a:rPr>
              <a:t>: Apply version control to code and documents.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Testing Phase</a:t>
            </a:r>
            <a:r>
              <a:rPr lang="en-US" sz="3600" dirty="0">
                <a:latin typeface="Open Sans" panose="020B0606030504020204" pitchFamily="34" charset="0"/>
                <a:ea typeface="Open Sans" panose="020B0606030504020204" pitchFamily="34" charset="0"/>
                <a:cs typeface="Open Sans" panose="020B0606030504020204" pitchFamily="34" charset="0"/>
              </a:rPr>
              <a:t>: Manage test cases and results as configuration items.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Deployment Phase</a:t>
            </a:r>
            <a:r>
              <a:rPr lang="en-US" sz="3600" dirty="0">
                <a:latin typeface="Open Sans" panose="020B0606030504020204" pitchFamily="34" charset="0"/>
                <a:ea typeface="Open Sans" panose="020B0606030504020204" pitchFamily="34" charset="0"/>
                <a:cs typeface="Open Sans" panose="020B0606030504020204" pitchFamily="34" charset="0"/>
              </a:rPr>
              <a:t>: Control releases and updates.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Maintenance Phase</a:t>
            </a:r>
            <a:r>
              <a:rPr lang="en-US" sz="3600" dirty="0">
                <a:latin typeface="Open Sans" panose="020B0606030504020204" pitchFamily="34" charset="0"/>
                <a:ea typeface="Open Sans" panose="020B0606030504020204" pitchFamily="34" charset="0"/>
                <a:cs typeface="Open Sans" panose="020B0606030504020204" pitchFamily="34" charset="0"/>
              </a:rPr>
              <a:t>: Manage changes and updates over time.</a:t>
            </a:r>
          </a:p>
          <a:p>
            <a:pPr algn="just">
              <a:spcBef>
                <a:spcPts val="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Ensures consistency and control throughout the SDLC.</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Facilitates communication and coordination among teams.</a:t>
            </a:r>
          </a:p>
        </p:txBody>
      </p:sp>
    </p:spTree>
    <p:extLst>
      <p:ext uri="{BB962C8B-B14F-4D97-AF65-F5344CB8AC3E}">
        <p14:creationId xmlns:p14="http://schemas.microsoft.com/office/powerpoint/2010/main" val="95492733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Tools and Techniques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Build Management Tools</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Automate the process of compiling source code into executable programs.</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Common Tools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Make</a:t>
            </a:r>
            <a:r>
              <a:rPr lang="en-US" sz="3600" dirty="0">
                <a:latin typeface="Open Sans" panose="020B0606030504020204" pitchFamily="34" charset="0"/>
                <a:ea typeface="Open Sans" panose="020B0606030504020204" pitchFamily="34" charset="0"/>
                <a:cs typeface="Open Sans" panose="020B0606030504020204" pitchFamily="34" charset="0"/>
              </a:rPr>
              <a:t>: Uses </a:t>
            </a:r>
            <a:r>
              <a:rPr lang="en-US" sz="3600" dirty="0" err="1">
                <a:latin typeface="Open Sans" panose="020B0606030504020204" pitchFamily="34" charset="0"/>
                <a:ea typeface="Open Sans" panose="020B0606030504020204" pitchFamily="34" charset="0"/>
                <a:cs typeface="Open Sans" panose="020B0606030504020204" pitchFamily="34" charset="0"/>
              </a:rPr>
              <a:t>Makefiles</a:t>
            </a:r>
            <a:r>
              <a:rPr lang="en-US" sz="3600" dirty="0">
                <a:latin typeface="Open Sans" panose="020B0606030504020204" pitchFamily="34" charset="0"/>
                <a:ea typeface="Open Sans" panose="020B0606030504020204" pitchFamily="34" charset="0"/>
                <a:cs typeface="Open Sans" panose="020B0606030504020204" pitchFamily="34" charset="0"/>
              </a:rPr>
              <a:t> to define build processes.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Ant/Maven (Java)</a:t>
            </a:r>
            <a:r>
              <a:rPr lang="en-US" sz="3600" dirty="0">
                <a:latin typeface="Open Sans" panose="020B0606030504020204" pitchFamily="34" charset="0"/>
                <a:ea typeface="Open Sans" panose="020B0606030504020204" pitchFamily="34" charset="0"/>
                <a:cs typeface="Open Sans" panose="020B0606030504020204" pitchFamily="34" charset="0"/>
              </a:rPr>
              <a:t>: Build and project management tools for Java applications.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Gradle</a:t>
            </a:r>
            <a:r>
              <a:rPr lang="en-US" sz="3600" dirty="0">
                <a:latin typeface="Open Sans" panose="020B0606030504020204" pitchFamily="34" charset="0"/>
                <a:ea typeface="Open Sans" panose="020B0606030504020204" pitchFamily="34" charset="0"/>
                <a:cs typeface="Open Sans" panose="020B0606030504020204" pitchFamily="34" charset="0"/>
              </a:rPr>
              <a:t>: Flexible build automation system.</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Consistent builds across environments.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Automation reduces human error.</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Supports continuous integration practices.</a:t>
            </a:r>
          </a:p>
        </p:txBody>
      </p:sp>
    </p:spTree>
    <p:extLst>
      <p:ext uri="{BB962C8B-B14F-4D97-AF65-F5344CB8AC3E}">
        <p14:creationId xmlns:p14="http://schemas.microsoft.com/office/powerpoint/2010/main" val="152463977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Tools and Techniques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Release Management</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The process of managing, planning, scheduling, and controlling a software build through different stages and environments.</a:t>
            </a:r>
          </a:p>
          <a:p>
            <a:pPr algn="just">
              <a:spcBef>
                <a:spcPts val="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Activities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Release Planning</a:t>
            </a:r>
            <a:r>
              <a:rPr lang="en-US" sz="3600" dirty="0">
                <a:latin typeface="Open Sans" panose="020B0606030504020204" pitchFamily="34" charset="0"/>
                <a:ea typeface="Open Sans" panose="020B0606030504020204" pitchFamily="34" charset="0"/>
                <a:cs typeface="Open Sans" panose="020B0606030504020204" pitchFamily="34" charset="0"/>
              </a:rPr>
              <a:t>: Define scope and schedule of releases.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Release Preparation</a:t>
            </a:r>
            <a:r>
              <a:rPr lang="en-US" sz="3600" dirty="0">
                <a:latin typeface="Open Sans" panose="020B0606030504020204" pitchFamily="34" charset="0"/>
                <a:ea typeface="Open Sans" panose="020B0606030504020204" pitchFamily="34" charset="0"/>
                <a:cs typeface="Open Sans" panose="020B0606030504020204" pitchFamily="34" charset="0"/>
              </a:rPr>
              <a:t>: Assemble release components and documentation.</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Deployment</a:t>
            </a:r>
            <a:r>
              <a:rPr lang="en-US" sz="3600" dirty="0">
                <a:latin typeface="Open Sans" panose="020B0606030504020204" pitchFamily="34" charset="0"/>
                <a:ea typeface="Open Sans" panose="020B0606030504020204" pitchFamily="34" charset="0"/>
                <a:cs typeface="Open Sans" panose="020B0606030504020204" pitchFamily="34" charset="0"/>
              </a:rPr>
              <a:t>: Install the software in the target environment.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Post-Release Review</a:t>
            </a:r>
            <a:r>
              <a:rPr lang="en-US" sz="3600" dirty="0">
                <a:latin typeface="Open Sans" panose="020B0606030504020204" pitchFamily="34" charset="0"/>
                <a:ea typeface="Open Sans" panose="020B0606030504020204" pitchFamily="34" charset="0"/>
                <a:cs typeface="Open Sans" panose="020B0606030504020204" pitchFamily="34" charset="0"/>
              </a:rPr>
              <a:t>: Evaluate release performance and issues.</a:t>
            </a:r>
          </a:p>
          <a:p>
            <a:pPr algn="just">
              <a:spcBef>
                <a:spcPts val="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Best Practices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Maintain a release calendar.</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Use automation tools for deployment.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 rollback procedures are in place.</a:t>
            </a:r>
          </a:p>
        </p:txBody>
      </p:sp>
    </p:spTree>
    <p:extLst>
      <p:ext uri="{BB962C8B-B14F-4D97-AF65-F5344CB8AC3E}">
        <p14:creationId xmlns:p14="http://schemas.microsoft.com/office/powerpoint/2010/main" val="293703956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Tools and Techniques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Issue and Defect Tracking Systems</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Track and manage reported issues, bugs, and enhancement requests.</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Common Tools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Jira</a:t>
            </a:r>
            <a:r>
              <a:rPr lang="en-US" sz="3600" dirty="0">
                <a:latin typeface="Open Sans" panose="020B0606030504020204" pitchFamily="34" charset="0"/>
                <a:ea typeface="Open Sans" panose="020B0606030504020204" pitchFamily="34" charset="0"/>
                <a:cs typeface="Open Sans" panose="020B0606030504020204" pitchFamily="34" charset="0"/>
              </a:rPr>
              <a:t>: Comprehensive issue tracking and project management.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Bugzilla</a:t>
            </a:r>
            <a:r>
              <a:rPr lang="en-US" sz="3600" dirty="0">
                <a:latin typeface="Open Sans" panose="020B0606030504020204" pitchFamily="34" charset="0"/>
                <a:ea typeface="Open Sans" panose="020B0606030504020204" pitchFamily="34" charset="0"/>
                <a:cs typeface="Open Sans" panose="020B0606030504020204" pitchFamily="34" charset="0"/>
              </a:rPr>
              <a:t>: Open-source bug tracking system.</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Redmine</a:t>
            </a:r>
            <a:r>
              <a:rPr lang="en-US" sz="3600" dirty="0">
                <a:latin typeface="Open Sans" panose="020B0606030504020204" pitchFamily="34" charset="0"/>
                <a:ea typeface="Open Sans" panose="020B0606030504020204" pitchFamily="34" charset="0"/>
                <a:cs typeface="Open Sans" panose="020B0606030504020204" pitchFamily="34" charset="0"/>
              </a:rPr>
              <a:t>: Flexible project management web application.</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Centralized tracking of issues.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Assignments and notifications.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Reporting and analytics.</a:t>
            </a:r>
          </a:p>
        </p:txBody>
      </p:sp>
    </p:spTree>
    <p:extLst>
      <p:ext uri="{BB962C8B-B14F-4D97-AF65-F5344CB8AC3E}">
        <p14:creationId xmlns:p14="http://schemas.microsoft.com/office/powerpoint/2010/main" val="52148116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Tools and Techniques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US" dirty="0"/>
              <a:t>Documentation management</a:t>
            </a:r>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Importance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Ensures that all project documentation is current, accessible, and under configuration control.</a:t>
            </a:r>
          </a:p>
          <a:p>
            <a:pPr marL="609600" lvl="1" indent="0" algn="just">
              <a:spcBef>
                <a:spcPts val="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Activities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Versioning Documents</a:t>
            </a:r>
            <a:r>
              <a:rPr lang="en-US" sz="3600" dirty="0">
                <a:latin typeface="Open Sans" panose="020B0606030504020204" pitchFamily="34" charset="0"/>
                <a:ea typeface="Open Sans" panose="020B0606030504020204" pitchFamily="34" charset="0"/>
                <a:cs typeface="Open Sans" panose="020B0606030504020204" pitchFamily="34" charset="0"/>
              </a:rPr>
              <a:t>: Manage revisions and updates.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Access Control</a:t>
            </a:r>
            <a:r>
              <a:rPr lang="en-US" sz="3600" dirty="0">
                <a:latin typeface="Open Sans" panose="020B0606030504020204" pitchFamily="34" charset="0"/>
                <a:ea typeface="Open Sans" panose="020B0606030504020204" pitchFamily="34" charset="0"/>
                <a:cs typeface="Open Sans" panose="020B0606030504020204" pitchFamily="34" charset="0"/>
              </a:rPr>
              <a:t>: Define who can view or edit documents.</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Collaboration Tools</a:t>
            </a:r>
            <a:r>
              <a:rPr lang="en-US" sz="3600" dirty="0">
                <a:latin typeface="Open Sans" panose="020B0606030504020204" pitchFamily="34" charset="0"/>
                <a:ea typeface="Open Sans" panose="020B0606030504020204" pitchFamily="34" charset="0"/>
                <a:cs typeface="Open Sans" panose="020B0606030504020204" pitchFamily="34" charset="0"/>
              </a:rPr>
              <a:t>: Enable team members to work together efficiently.</a:t>
            </a:r>
          </a:p>
          <a:p>
            <a:pPr lvl="1"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Tools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Confluence</a:t>
            </a:r>
            <a:r>
              <a:rPr lang="en-US" sz="3600" dirty="0">
                <a:latin typeface="Open Sans" panose="020B0606030504020204" pitchFamily="34" charset="0"/>
                <a:ea typeface="Open Sans" panose="020B0606030504020204" pitchFamily="34" charset="0"/>
                <a:cs typeface="Open Sans" panose="020B0606030504020204" pitchFamily="34" charset="0"/>
              </a:rPr>
              <a:t>: Collaboration and documentation platform.</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SharePoint</a:t>
            </a:r>
            <a:r>
              <a:rPr lang="en-US" sz="3600" dirty="0">
                <a:latin typeface="Open Sans" panose="020B0606030504020204" pitchFamily="34" charset="0"/>
                <a:ea typeface="Open Sans" panose="020B0606030504020204" pitchFamily="34" charset="0"/>
                <a:cs typeface="Open Sans" panose="020B0606030504020204" pitchFamily="34" charset="0"/>
              </a:rPr>
              <a:t>: Web-based collaborative platform.</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Google Docs</a:t>
            </a:r>
            <a:r>
              <a:rPr lang="en-US" sz="3600" dirty="0">
                <a:latin typeface="Open Sans" panose="020B0606030504020204" pitchFamily="34" charset="0"/>
                <a:ea typeface="Open Sans" panose="020B0606030504020204" pitchFamily="34" charset="0"/>
                <a:cs typeface="Open Sans" panose="020B0606030504020204" pitchFamily="34" charset="0"/>
              </a:rPr>
              <a:t>: Cloud-based document management.</a:t>
            </a:r>
          </a:p>
        </p:txBody>
      </p:sp>
    </p:spTree>
    <p:extLst>
      <p:ext uri="{BB962C8B-B14F-4D97-AF65-F5344CB8AC3E}">
        <p14:creationId xmlns:p14="http://schemas.microsoft.com/office/powerpoint/2010/main" val="247223017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in Agile and DevOps Environments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ID" dirty="0"/>
              <a:t>Continuous Integration and Continuous Deployment (CI/CD)</a:t>
            </a:r>
            <a:endParaRPr lang="en-US" dirty="0"/>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Continuous Integration (CI)</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Developers frequently integrate code into a shared repository.</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Automated builds and tests detect errors early.</a:t>
            </a:r>
          </a:p>
          <a:p>
            <a:pPr lvl="1"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Continuous Deployment (CD)</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Automated deployment of code changes to production after passing tests.</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SCM Role in CI/CD</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Manages code changes and tracks versions.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Facilitates automated build and deployment pipelines.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Ensures that only approved changes are deployed.</a:t>
            </a:r>
          </a:p>
        </p:txBody>
      </p:sp>
    </p:spTree>
    <p:extLst>
      <p:ext uri="{BB962C8B-B14F-4D97-AF65-F5344CB8AC3E}">
        <p14:creationId xmlns:p14="http://schemas.microsoft.com/office/powerpoint/2010/main" val="37776450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in Agile and DevOps Environments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ID" dirty="0"/>
              <a:t>Infrastructure as Code (</a:t>
            </a:r>
            <a:r>
              <a:rPr lang="en-ID" dirty="0" err="1"/>
              <a:t>IaC</a:t>
            </a:r>
            <a:r>
              <a:rPr lang="en-ID" dirty="0"/>
              <a:t>)</a:t>
            </a:r>
            <a:endParaRPr lang="en-US" dirty="0"/>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Managing and provisioning infrastructure through code rather than manual processes.</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Consistency and repeatability.</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Version control of infrastructure configurations.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Easier to manage complex environments.</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Tools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Terraform</a:t>
            </a:r>
            <a:r>
              <a:rPr lang="en-US" sz="3600" dirty="0">
                <a:latin typeface="Open Sans" panose="020B0606030504020204" pitchFamily="34" charset="0"/>
                <a:ea typeface="Open Sans" panose="020B0606030504020204" pitchFamily="34" charset="0"/>
                <a:cs typeface="Open Sans" panose="020B0606030504020204" pitchFamily="34" charset="0"/>
              </a:rPr>
              <a:t>: Infrastructure provisioning tool.</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Ansible</a:t>
            </a:r>
            <a:r>
              <a:rPr lang="en-US" sz="3600" dirty="0">
                <a:latin typeface="Open Sans" panose="020B0606030504020204" pitchFamily="34" charset="0"/>
                <a:ea typeface="Open Sans" panose="020B0606030504020204" pitchFamily="34" charset="0"/>
                <a:cs typeface="Open Sans" panose="020B0606030504020204" pitchFamily="34" charset="0"/>
              </a:rPr>
              <a:t>: Automation platform for configuration management.</a:t>
            </a:r>
          </a:p>
          <a:p>
            <a:pPr lvl="1"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Chef/Puppet</a:t>
            </a:r>
            <a:r>
              <a:rPr lang="en-US" sz="3600" dirty="0">
                <a:latin typeface="Open Sans" panose="020B0606030504020204" pitchFamily="34" charset="0"/>
                <a:ea typeface="Open Sans" panose="020B0606030504020204" pitchFamily="34" charset="0"/>
                <a:cs typeface="Open Sans" panose="020B0606030504020204" pitchFamily="34" charset="0"/>
              </a:rPr>
              <a:t>: Configuration management tools.</a:t>
            </a:r>
          </a:p>
        </p:txBody>
      </p:sp>
      <p:pic>
        <p:nvPicPr>
          <p:cNvPr id="2050" name="Picture 2">
            <a:extLst>
              <a:ext uri="{FF2B5EF4-FFF2-40B4-BE49-F238E27FC236}">
                <a16:creationId xmlns:a16="http://schemas.microsoft.com/office/drawing/2014/main" id="{781F549D-4893-693C-9E08-1C13D0027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2946" y="8503786"/>
            <a:ext cx="6504458" cy="4663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4887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SCM in Agile and DevOps Environments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438127" cy="840935"/>
          </a:xfrm>
        </p:spPr>
        <p:txBody>
          <a:bodyPr>
            <a:normAutofit/>
          </a:bodyPr>
          <a:lstStyle/>
          <a:p>
            <a:r>
              <a:rPr lang="en-ID" dirty="0"/>
              <a:t>SCM Best Practices in Modern Development</a:t>
            </a:r>
            <a:endParaRPr lang="en-US" dirty="0"/>
          </a:p>
        </p:txBody>
      </p:sp>
      <p:sp>
        <p:nvSpPr>
          <p:cNvPr id="5" name="Content Placeholder 3">
            <a:extLst>
              <a:ext uri="{FF2B5EF4-FFF2-40B4-BE49-F238E27FC236}">
                <a16:creationId xmlns:a16="http://schemas.microsoft.com/office/drawing/2014/main" id="{C78088E7-204A-5945-EEAD-EF3905D706CC}"/>
              </a:ext>
            </a:extLst>
          </p:cNvPr>
          <p:cNvSpPr>
            <a:spLocks noGrp="1"/>
          </p:cNvSpPr>
          <p:nvPr>
            <p:ph sz="quarter" idx="11"/>
          </p:nvPr>
        </p:nvSpPr>
        <p:spPr>
          <a:xfrm>
            <a:off x="2167377" y="3260663"/>
            <a:ext cx="20295058" cy="8583279"/>
          </a:xfrm>
        </p:spPr>
        <p:txBody>
          <a:bodyPr anchor="ctr">
            <a:normAutofit/>
          </a:bodyPr>
          <a:lstStyle/>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Automation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Automate repetitive tasks to increase efficiency and reduce errors.</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Integration with CI/CD</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Ensure SCM processes and tools integrate seamlessly with CI/CD pipelines.</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Code Reviews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Implement peer reviews for all code changes to maintain quality.</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Testing</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Incorporate automated testing at every stage of development.</a:t>
            </a:r>
          </a:p>
          <a:p>
            <a:pPr algn="just">
              <a:spcBef>
                <a:spcPts val="0"/>
              </a:spcBef>
            </a:pPr>
            <a:r>
              <a:rPr lang="en-US" sz="3600" b="1" dirty="0">
                <a:latin typeface="Open Sans" panose="020B0606030504020204" pitchFamily="34" charset="0"/>
                <a:ea typeface="Open Sans" panose="020B0606030504020204" pitchFamily="34" charset="0"/>
                <a:cs typeface="Open Sans" panose="020B0606030504020204" pitchFamily="34" charset="0"/>
              </a:rPr>
              <a:t>Documentation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Maintain clear and up-to-date documentation of SCM processes and configurations.</a:t>
            </a:r>
          </a:p>
          <a:p>
            <a:pPr algn="just">
              <a:spcBef>
                <a:spcPts val="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7019539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EXERCISES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marL="742950" indent="-742950" algn="just">
              <a:spcBef>
                <a:spcPts val="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Assume  that you're the  manager of a  small project.  What baselines  would you define  for the project and how  would you control them?</a:t>
            </a:r>
          </a:p>
          <a:p>
            <a:pPr marL="742950" indent="-742950" algn="just">
              <a:spcBef>
                <a:spcPts val="0"/>
              </a:spcBef>
              <a:buFont typeface="+mj-lt"/>
              <a:buAutoNum type="arabicPeriod"/>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742950" indent="-742950" algn="just">
              <a:spcBef>
                <a:spcPts val="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Briefly describe  the  differences  between  SCM for  conventional  software and SCM for </a:t>
            </a:r>
            <a:r>
              <a:rPr lang="en-US" sz="3600" dirty="0" err="1">
                <a:latin typeface="Open Sans" panose="020B0606030504020204" pitchFamily="34" charset="0"/>
                <a:ea typeface="Open Sans" panose="020B0606030504020204" pitchFamily="34" charset="0"/>
                <a:cs typeface="Open Sans" panose="020B0606030504020204" pitchFamily="34" charset="0"/>
              </a:rPr>
              <a:t>WebApps</a:t>
            </a: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742950" indent="-742950" algn="just">
              <a:spcBef>
                <a:spcPts val="0"/>
              </a:spcBef>
              <a:buFont typeface="+mj-lt"/>
              <a:buAutoNum type="arabicPeriod"/>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742950" indent="-742950" algn="just">
              <a:spcBef>
                <a:spcPts val="0"/>
              </a:spcBef>
              <a:buFont typeface="+mj-lt"/>
              <a:buAutoNum type="arabicPeriod"/>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1102044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3587262"/>
            <a:ext cx="13714940" cy="9284676"/>
          </a:xfrm>
        </p:spPr>
        <p:txBody>
          <a:bodyPr>
            <a:noAutofit/>
          </a:bodyPr>
          <a:lstStyle/>
          <a:p>
            <a:pPr>
              <a:spcBef>
                <a:spcPts val="1800"/>
              </a:spcBef>
            </a:pPr>
            <a:r>
              <a:rPr lang="id-ID" sz="3600" dirty="0" err="1">
                <a:latin typeface="Open Sans" panose="020B0606030504020204" pitchFamily="34" charset="0"/>
                <a:ea typeface="Open Sans" panose="020B0606030504020204" pitchFamily="34" charset="0"/>
                <a:cs typeface="Open Sans" panose="020B0606030504020204" pitchFamily="34" charset="0"/>
              </a:rPr>
              <a:t>Pressman</a:t>
            </a:r>
            <a:r>
              <a:rPr lang="id-ID" sz="3600" dirty="0">
                <a:latin typeface="Open Sans" panose="020B0606030504020204" pitchFamily="34" charset="0"/>
                <a:ea typeface="Open Sans" panose="020B0606030504020204" pitchFamily="34" charset="0"/>
                <a:cs typeface="Open Sans" panose="020B0606030504020204" pitchFamily="34" charset="0"/>
              </a:rPr>
              <a:t> &amp; </a:t>
            </a:r>
            <a:r>
              <a:rPr lang="id-ID" sz="3600" dirty="0" err="1">
                <a:latin typeface="Open Sans" panose="020B0606030504020204" pitchFamily="34" charset="0"/>
                <a:ea typeface="Open Sans" panose="020B0606030504020204" pitchFamily="34" charset="0"/>
                <a:cs typeface="Open Sans" panose="020B0606030504020204" pitchFamily="34" charset="0"/>
              </a:rPr>
              <a:t>Maxim</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dirty="0" err="1">
                <a:latin typeface="Open Sans" panose="020B0606030504020204" pitchFamily="34" charset="0"/>
                <a:ea typeface="Open Sans" panose="020B0606030504020204" pitchFamily="34" charset="0"/>
                <a:cs typeface="Open Sans" panose="020B0606030504020204" pitchFamily="34" charset="0"/>
              </a:rPr>
              <a:t>Software</a:t>
            </a:r>
            <a:r>
              <a:rPr lang="id-ID" sz="3600" dirty="0">
                <a:latin typeface="Open Sans" panose="020B0606030504020204" pitchFamily="34" charset="0"/>
                <a:ea typeface="Open Sans" panose="020B0606030504020204" pitchFamily="34" charset="0"/>
                <a:cs typeface="Open Sans" panose="020B0606030504020204" pitchFamily="34" charset="0"/>
              </a:rPr>
              <a:t> Engineering: </a:t>
            </a:r>
            <a:r>
              <a:rPr lang="id-ID" sz="3600" dirty="0" err="1">
                <a:latin typeface="Open Sans" panose="020B0606030504020204" pitchFamily="34" charset="0"/>
                <a:ea typeface="Open Sans" panose="020B0606030504020204" pitchFamily="34" charset="0"/>
                <a:cs typeface="Open Sans" panose="020B0606030504020204" pitchFamily="34" charset="0"/>
              </a:rPr>
              <a:t>A</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Practitioner's</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Approach</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Chapter</a:t>
            </a:r>
            <a:r>
              <a:rPr lang="id-ID" sz="3600" dirty="0">
                <a:latin typeface="Open Sans" panose="020B0606030504020204" pitchFamily="34" charset="0"/>
                <a:ea typeface="Open Sans" panose="020B0606030504020204" pitchFamily="34" charset="0"/>
                <a:cs typeface="Open Sans" panose="020B0606030504020204" pitchFamily="34" charset="0"/>
              </a:rPr>
              <a:t> 29]</a:t>
            </a:r>
          </a:p>
          <a:p>
            <a:pPr>
              <a:spcBef>
                <a:spcPts val="1800"/>
              </a:spcBef>
            </a:pPr>
            <a:r>
              <a:rPr lang="id-ID" sz="3600" dirty="0" err="1">
                <a:latin typeface="Open Sans" panose="020B0606030504020204" pitchFamily="34" charset="0"/>
                <a:ea typeface="Open Sans" panose="020B0606030504020204" pitchFamily="34" charset="0"/>
                <a:cs typeface="Open Sans" panose="020B0606030504020204" pitchFamily="34" charset="0"/>
              </a:rPr>
              <a:t>Winters</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et</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al.</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dirty="0" err="1">
                <a:latin typeface="Open Sans" panose="020B0606030504020204" pitchFamily="34" charset="0"/>
                <a:ea typeface="Open Sans" panose="020B0606030504020204" pitchFamily="34" charset="0"/>
                <a:cs typeface="Open Sans" panose="020B0606030504020204" pitchFamily="34" charset="0"/>
              </a:rPr>
              <a:t>Software</a:t>
            </a:r>
            <a:r>
              <a:rPr lang="id-ID" sz="3600" dirty="0">
                <a:latin typeface="Open Sans" panose="020B0606030504020204" pitchFamily="34" charset="0"/>
                <a:ea typeface="Open Sans" panose="020B0606030504020204" pitchFamily="34" charset="0"/>
                <a:cs typeface="Open Sans" panose="020B0606030504020204" pitchFamily="34" charset="0"/>
              </a:rPr>
              <a:t> Engineering </a:t>
            </a:r>
            <a:r>
              <a:rPr lang="id-ID" sz="3600" dirty="0" err="1">
                <a:latin typeface="Open Sans" panose="020B0606030504020204" pitchFamily="34" charset="0"/>
                <a:ea typeface="Open Sans" panose="020B0606030504020204" pitchFamily="34" charset="0"/>
                <a:cs typeface="Open Sans" panose="020B0606030504020204" pitchFamily="34" charset="0"/>
              </a:rPr>
              <a:t>at</a:t>
            </a:r>
            <a:r>
              <a:rPr lang="id-ID" sz="3600" dirty="0">
                <a:latin typeface="Open Sans" panose="020B0606030504020204" pitchFamily="34" charset="0"/>
                <a:ea typeface="Open Sans" panose="020B0606030504020204" pitchFamily="34" charset="0"/>
                <a:cs typeface="Open Sans" panose="020B0606030504020204" pitchFamily="34" charset="0"/>
              </a:rPr>
              <a:t> Google. [</a:t>
            </a:r>
            <a:r>
              <a:rPr lang="id-ID" sz="3600" dirty="0" err="1">
                <a:latin typeface="Open Sans" panose="020B0606030504020204" pitchFamily="34" charset="0"/>
                <a:ea typeface="Open Sans" panose="020B0606030504020204" pitchFamily="34" charset="0"/>
                <a:cs typeface="Open Sans" panose="020B0606030504020204" pitchFamily="34" charset="0"/>
              </a:rPr>
              <a:t>Chapters</a:t>
            </a:r>
            <a:r>
              <a:rPr lang="id-ID" sz="3600" dirty="0">
                <a:latin typeface="Open Sans" panose="020B0606030504020204" pitchFamily="34" charset="0"/>
                <a:ea typeface="Open Sans" panose="020B0606030504020204" pitchFamily="34" charset="0"/>
                <a:cs typeface="Open Sans" panose="020B0606030504020204" pitchFamily="34" charset="0"/>
              </a:rPr>
              <a:t> 22-24]</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3.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4.xml><?xml version="1.0" encoding="utf-8"?>
<ds:datastoreItem xmlns:ds="http://schemas.openxmlformats.org/officeDocument/2006/customXml" ds:itemID="{2E0FE671-25D8-4116-9472-BF9297986C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2517</TotalTime>
  <Words>1829</Words>
  <Application>Microsoft Macintosh PowerPoint</Application>
  <PresentationFormat>Custom</PresentationFormat>
  <Paragraphs>265</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Open Sans Light</vt:lpstr>
      <vt:lpstr>OCRB</vt:lpstr>
      <vt:lpstr>Open Sans Semibold</vt:lpstr>
      <vt:lpstr>Open Sans</vt:lpstr>
      <vt:lpstr>Arial</vt:lpstr>
      <vt:lpstr>Open Sans ExtraBold</vt:lpstr>
      <vt:lpstr>21_BasicWhite</vt:lpstr>
      <vt:lpstr>SOFTWARE CONFIGURATION MANAGEMENT</vt:lpstr>
      <vt:lpstr>Session 15 – SOFTWARE CONFIGURATION MANAGEMENT</vt:lpstr>
      <vt:lpstr>Session 15 – SOFTWARE CONFIGURATION MANAGEMENT</vt:lpstr>
      <vt:lpstr>Introduction to Software Configuration Management</vt:lpstr>
      <vt:lpstr>Introduction to Software Configuration Management</vt:lpstr>
      <vt:lpstr>Introduction to Software Configuration Management</vt:lpstr>
      <vt:lpstr>Introduction to Software Configuration Management</vt:lpstr>
      <vt:lpstr>Key Concepts in SCM</vt:lpstr>
      <vt:lpstr>Key Concepts in SCM</vt:lpstr>
      <vt:lpstr>Key Concepts in SCM</vt:lpstr>
      <vt:lpstr>Key Concepts in SCM</vt:lpstr>
      <vt:lpstr>Key Concepts in SCM</vt:lpstr>
      <vt:lpstr>SCM Processes and Activities</vt:lpstr>
      <vt:lpstr>SCM Processes and Activities</vt:lpstr>
      <vt:lpstr>SCM Processes and Activities</vt:lpstr>
      <vt:lpstr>SCM Processes and Activities</vt:lpstr>
      <vt:lpstr>SCM Processes and Activities</vt:lpstr>
      <vt:lpstr>SCM Planning And Implementation</vt:lpstr>
      <vt:lpstr>SCM Planning And Implementation</vt:lpstr>
      <vt:lpstr>SCM Planning And Implementation</vt:lpstr>
      <vt:lpstr>SCM Tools and Techniques</vt:lpstr>
      <vt:lpstr>SCM Tools and Techniques</vt:lpstr>
      <vt:lpstr>SCM Tools and Techniques</vt:lpstr>
      <vt:lpstr>SCM Tools and Techniques</vt:lpstr>
      <vt:lpstr>SCM in Agile and DevOps Environments</vt:lpstr>
      <vt:lpstr>SCM in Agile and DevOps Environments</vt:lpstr>
      <vt:lpstr>SCM in Agile and DevOps Environments</vt:lpstr>
      <vt:lpstr>EXERCISES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Kenny Jingga</cp:lastModifiedBy>
  <cp:revision>44</cp:revision>
  <dcterms:created xsi:type="dcterms:W3CDTF">2023-04-06T08:40:27Z</dcterms:created>
  <dcterms:modified xsi:type="dcterms:W3CDTF">2024-11-04T17:20:05Z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