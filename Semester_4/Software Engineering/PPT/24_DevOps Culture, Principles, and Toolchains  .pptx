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5"/>
  </p:sldMasterIdLst>
  <p:notesMasterIdLst>
    <p:notesMasterId r:id="rId35"/>
  </p:notesMasterIdLst>
  <p:sldIdLst>
    <p:sldId id="256" r:id="rId6"/>
    <p:sldId id="257" r:id="rId7"/>
    <p:sldId id="258" r:id="rId8"/>
    <p:sldId id="26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26" r:id="rId33"/>
    <p:sldId id="284" r:id="rId34"/>
  </p:sldIdLst>
  <p:sldSz cx="24384000" cy="13716000"/>
  <p:notesSz cx="6858000" cy="9144000"/>
  <p:embeddedFontLst>
    <p:embeddedFont>
      <p:font typeface="OCRB" panose="020B0609020202020204" pitchFamily="49" charset="0"/>
      <p:regular r:id="rId36"/>
    </p:embeddedFont>
    <p:embeddedFont>
      <p:font typeface="Open Sans" panose="020B0606030504020204" pitchFamily="34" charset="0"/>
      <p:regular r:id="rId37"/>
      <p:bold r:id="rId38"/>
      <p:italic r:id="rId39"/>
      <p:boldItalic r:id="rId40"/>
    </p:embeddedFont>
    <p:embeddedFont>
      <p:font typeface="Open Sans ExtraBold" panose="020B0906030804020204" pitchFamily="34" charset="0"/>
      <p:bold r:id="rId41"/>
      <p:italic r:id="rId42"/>
      <p:boldItalic r:id="rId43"/>
    </p:embeddedFont>
    <p:embeddedFont>
      <p:font typeface="Open Sans Light" panose="020B0306030504020204" pitchFamily="34" charset="0"/>
      <p:regular r:id="rId44"/>
      <p:italic r:id="rId45"/>
    </p:embeddedFont>
    <p:embeddedFont>
      <p:font typeface="Open Sans Semibold" panose="020B0706030804020204" pitchFamily="34" charset="0"/>
      <p:regular r:id="rId46"/>
      <p:bold r:id="rId47"/>
      <p:italic r:id="rId48"/>
      <p:boldItalic r:id="rId49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6EE254-1D0F-46F2-A612-6367E3DD4CD6}" v="22" dt="2025-12-25T23:11:06.84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05" autoAdjust="0"/>
    <p:restoredTop sz="96197"/>
  </p:normalViewPr>
  <p:slideViewPr>
    <p:cSldViewPr snapToGrid="0" snapToObjects="1">
      <p:cViewPr varScale="1">
        <p:scale>
          <a:sx n="23" d="100"/>
          <a:sy n="23" d="100"/>
        </p:scale>
        <p:origin x="120" y="787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4.fntdata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font" Target="fonts/font9.fntdata"/><Relationship Id="rId52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8" Type="http://schemas.openxmlformats.org/officeDocument/2006/relationships/slide" Target="slides/slide3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5.xml"/><Relationship Id="rId41" Type="http://schemas.openxmlformats.org/officeDocument/2006/relationships/font" Target="fonts/font6.fntdata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1.fntdata"/><Relationship Id="rId49" Type="http://schemas.openxmlformats.org/officeDocument/2006/relationships/font" Target="fonts/font1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lin Nasari" userId="2c02bce8-14a6-4f73-b14a-299518f8dfce" providerId="ADAL" clId="{973AE700-8634-4AC6-A10B-DFA7AFECB9DA}"/>
    <pc:docChg chg="undo redo custSel addSld delSld modSld">
      <pc:chgData name="Maulin Nasari" userId="2c02bce8-14a6-4f73-b14a-299518f8dfce" providerId="ADAL" clId="{973AE700-8634-4AC6-A10B-DFA7AFECB9DA}" dt="2025-12-25T23:11:06.842" v="68"/>
      <pc:docMkLst>
        <pc:docMk/>
      </pc:docMkLst>
      <pc:sldChg chg="modSp mod">
        <pc:chgData name="Maulin Nasari" userId="2c02bce8-14a6-4f73-b14a-299518f8dfce" providerId="ADAL" clId="{973AE700-8634-4AC6-A10B-DFA7AFECB9DA}" dt="2025-12-25T10:07:40.476" v="4" actId="20577"/>
        <pc:sldMkLst>
          <pc:docMk/>
          <pc:sldMk cId="3487223446" sldId="256"/>
        </pc:sldMkLst>
        <pc:spChg chg="mod">
          <ac:chgData name="Maulin Nasari" userId="2c02bce8-14a6-4f73-b14a-299518f8dfce" providerId="ADAL" clId="{973AE700-8634-4AC6-A10B-DFA7AFECB9DA}" dt="2025-12-25T10:07:40.476" v="4" actId="20577"/>
          <ac:spMkLst>
            <pc:docMk/>
            <pc:sldMk cId="3487223446" sldId="256"/>
            <ac:spMk id="2" creationId="{CA264C53-F38A-3CAD-0C8A-2BF46116F396}"/>
          </ac:spMkLst>
        </pc:spChg>
        <pc:spChg chg="mod">
          <ac:chgData name="Maulin Nasari" userId="2c02bce8-14a6-4f73-b14a-299518f8dfce" providerId="ADAL" clId="{973AE700-8634-4AC6-A10B-DFA7AFECB9DA}" dt="2025-12-25T10:07:32.730" v="2" actId="27636"/>
          <ac:spMkLst>
            <pc:docMk/>
            <pc:sldMk cId="3487223446" sldId="256"/>
            <ac:spMk id="3" creationId="{1220BAB2-790F-F74A-024A-FC22D1A3E6EA}"/>
          </ac:spMkLst>
        </pc:spChg>
      </pc:sldChg>
      <pc:sldChg chg="modSp mod">
        <pc:chgData name="Maulin Nasari" userId="2c02bce8-14a6-4f73-b14a-299518f8dfce" providerId="ADAL" clId="{973AE700-8634-4AC6-A10B-DFA7AFECB9DA}" dt="2025-12-25T18:50:02.639" v="66"/>
        <pc:sldMkLst>
          <pc:docMk/>
          <pc:sldMk cId="3855785854" sldId="257"/>
        </pc:sldMkLst>
        <pc:spChg chg="mod">
          <ac:chgData name="Maulin Nasari" userId="2c02bce8-14a6-4f73-b14a-299518f8dfce" providerId="ADAL" clId="{973AE700-8634-4AC6-A10B-DFA7AFECB9DA}" dt="2025-12-25T18:50:02.639" v="66"/>
          <ac:spMkLst>
            <pc:docMk/>
            <pc:sldMk cId="3855785854" sldId="257"/>
            <ac:spMk id="2" creationId="{F1BF52CD-EA76-003A-7192-0E9167BA3901}"/>
          </ac:spMkLst>
        </pc:spChg>
      </pc:sldChg>
      <pc:sldChg chg="addSp delSp modSp mod">
        <pc:chgData name="Maulin Nasari" userId="2c02bce8-14a6-4f73-b14a-299518f8dfce" providerId="ADAL" clId="{973AE700-8634-4AC6-A10B-DFA7AFECB9DA}" dt="2025-12-25T23:11:06.842" v="68"/>
        <pc:sldMkLst>
          <pc:docMk/>
          <pc:sldMk cId="481981883" sldId="258"/>
        </pc:sldMkLst>
        <pc:spChg chg="mod">
          <ac:chgData name="Maulin Nasari" userId="2c02bce8-14a6-4f73-b14a-299518f8dfce" providerId="ADAL" clId="{973AE700-8634-4AC6-A10B-DFA7AFECB9DA}" dt="2025-12-25T18:50:16.566" v="67"/>
          <ac:spMkLst>
            <pc:docMk/>
            <pc:sldMk cId="481981883" sldId="258"/>
            <ac:spMk id="2" creationId="{F1BF52CD-EA76-003A-7192-0E9167BA3901}"/>
          </ac:spMkLst>
        </pc:spChg>
        <pc:spChg chg="mod">
          <ac:chgData name="Maulin Nasari" userId="2c02bce8-14a6-4f73-b14a-299518f8dfce" providerId="ADAL" clId="{973AE700-8634-4AC6-A10B-DFA7AFECB9DA}" dt="2025-12-25T23:11:06.842" v="68"/>
          <ac:spMkLst>
            <pc:docMk/>
            <pc:sldMk cId="481981883" sldId="258"/>
            <ac:spMk id="4" creationId="{76E358E3-B24E-F7A5-ECF8-12101774A9ED}"/>
          </ac:spMkLst>
        </pc:spChg>
        <pc:spChg chg="add del mod">
          <ac:chgData name="Maulin Nasari" userId="2c02bce8-14a6-4f73-b14a-299518f8dfce" providerId="ADAL" clId="{973AE700-8634-4AC6-A10B-DFA7AFECB9DA}" dt="2025-12-25T18:49:25.302" v="65"/>
          <ac:spMkLst>
            <pc:docMk/>
            <pc:sldMk cId="481981883" sldId="258"/>
            <ac:spMk id="6" creationId="{761A629D-A211-065E-C992-45CC52920592}"/>
          </ac:spMkLst>
        </pc:spChg>
        <pc:graphicFrameChg chg="add del mod">
          <ac:chgData name="Maulin Nasari" userId="2c02bce8-14a6-4f73-b14a-299518f8dfce" providerId="ADAL" clId="{973AE700-8634-4AC6-A10B-DFA7AFECB9DA}" dt="2025-12-25T18:44:21.929" v="24" actId="478"/>
          <ac:graphicFrameMkLst>
            <pc:docMk/>
            <pc:sldMk cId="481981883" sldId="258"/>
            <ac:graphicFrameMk id="5" creationId="{F018965E-60F0-882D-22ED-0B63C7909F81}"/>
          </ac:graphicFrameMkLst>
        </pc:graphicFrameChg>
      </pc:sldChg>
      <pc:sldChg chg="del">
        <pc:chgData name="Maulin Nasari" userId="2c02bce8-14a6-4f73-b14a-299518f8dfce" providerId="ADAL" clId="{973AE700-8634-4AC6-A10B-DFA7AFECB9DA}" dt="2025-12-25T18:42:41.083" v="9" actId="47"/>
        <pc:sldMkLst>
          <pc:docMk/>
          <pc:sldMk cId="1480467090" sldId="302"/>
        </pc:sldMkLst>
      </pc:sldChg>
      <pc:sldChg chg="add">
        <pc:chgData name="Maulin Nasari" userId="2c02bce8-14a6-4f73-b14a-299518f8dfce" providerId="ADAL" clId="{973AE700-8634-4AC6-A10B-DFA7AFECB9DA}" dt="2025-12-25T10:07:11.004" v="0"/>
        <pc:sldMkLst>
          <pc:docMk/>
          <pc:sldMk cId="1558218495" sldId="316"/>
        </pc:sldMkLst>
      </pc:sldChg>
      <pc:sldChg chg="add">
        <pc:chgData name="Maulin Nasari" userId="2c02bce8-14a6-4f73-b14a-299518f8dfce" providerId="ADAL" clId="{973AE700-8634-4AC6-A10B-DFA7AFECB9DA}" dt="2025-12-25T10:07:11.004" v="0"/>
        <pc:sldMkLst>
          <pc:docMk/>
          <pc:sldMk cId="1723926439" sldId="317"/>
        </pc:sldMkLst>
      </pc:sldChg>
      <pc:sldChg chg="add">
        <pc:chgData name="Maulin Nasari" userId="2c02bce8-14a6-4f73-b14a-299518f8dfce" providerId="ADAL" clId="{973AE700-8634-4AC6-A10B-DFA7AFECB9DA}" dt="2025-12-25T10:07:11.004" v="0"/>
        <pc:sldMkLst>
          <pc:docMk/>
          <pc:sldMk cId="3706900184" sldId="318"/>
        </pc:sldMkLst>
      </pc:sldChg>
      <pc:sldChg chg="add">
        <pc:chgData name="Maulin Nasari" userId="2c02bce8-14a6-4f73-b14a-299518f8dfce" providerId="ADAL" clId="{973AE700-8634-4AC6-A10B-DFA7AFECB9DA}" dt="2025-12-25T10:07:11.004" v="0"/>
        <pc:sldMkLst>
          <pc:docMk/>
          <pc:sldMk cId="2643467076" sldId="319"/>
        </pc:sldMkLst>
      </pc:sldChg>
      <pc:sldChg chg="add">
        <pc:chgData name="Maulin Nasari" userId="2c02bce8-14a6-4f73-b14a-299518f8dfce" providerId="ADAL" clId="{973AE700-8634-4AC6-A10B-DFA7AFECB9DA}" dt="2025-12-25T10:07:11.004" v="0"/>
        <pc:sldMkLst>
          <pc:docMk/>
          <pc:sldMk cId="3993377558" sldId="320"/>
        </pc:sldMkLst>
      </pc:sldChg>
      <pc:sldChg chg="add">
        <pc:chgData name="Maulin Nasari" userId="2c02bce8-14a6-4f73-b14a-299518f8dfce" providerId="ADAL" clId="{973AE700-8634-4AC6-A10B-DFA7AFECB9DA}" dt="2025-12-25T10:07:11.004" v="0"/>
        <pc:sldMkLst>
          <pc:docMk/>
          <pc:sldMk cId="432033240" sldId="321"/>
        </pc:sldMkLst>
      </pc:sldChg>
      <pc:sldChg chg="add">
        <pc:chgData name="Maulin Nasari" userId="2c02bce8-14a6-4f73-b14a-299518f8dfce" providerId="ADAL" clId="{973AE700-8634-4AC6-A10B-DFA7AFECB9DA}" dt="2025-12-25T10:07:11.004" v="0"/>
        <pc:sldMkLst>
          <pc:docMk/>
          <pc:sldMk cId="2820049444" sldId="322"/>
        </pc:sldMkLst>
      </pc:sldChg>
      <pc:sldChg chg="add">
        <pc:chgData name="Maulin Nasari" userId="2c02bce8-14a6-4f73-b14a-299518f8dfce" providerId="ADAL" clId="{973AE700-8634-4AC6-A10B-DFA7AFECB9DA}" dt="2025-12-25T10:07:11.004" v="0"/>
        <pc:sldMkLst>
          <pc:docMk/>
          <pc:sldMk cId="398051307" sldId="323"/>
        </pc:sldMkLst>
      </pc:sldChg>
      <pc:sldChg chg="add">
        <pc:chgData name="Maulin Nasari" userId="2c02bce8-14a6-4f73-b14a-299518f8dfce" providerId="ADAL" clId="{973AE700-8634-4AC6-A10B-DFA7AFECB9DA}" dt="2025-12-25T10:07:11.004" v="0"/>
        <pc:sldMkLst>
          <pc:docMk/>
          <pc:sldMk cId="2342006145" sldId="324"/>
        </pc:sldMkLst>
      </pc:sldChg>
      <pc:sldChg chg="add">
        <pc:chgData name="Maulin Nasari" userId="2c02bce8-14a6-4f73-b14a-299518f8dfce" providerId="ADAL" clId="{973AE700-8634-4AC6-A10B-DFA7AFECB9DA}" dt="2025-12-25T10:07:11.004" v="0"/>
        <pc:sldMkLst>
          <pc:docMk/>
          <pc:sldMk cId="3024451115" sldId="325"/>
        </pc:sldMkLst>
      </pc:sldChg>
      <pc:sldChg chg="add">
        <pc:chgData name="Maulin Nasari" userId="2c02bce8-14a6-4f73-b14a-299518f8dfce" providerId="ADAL" clId="{973AE700-8634-4AC6-A10B-DFA7AFECB9DA}" dt="2025-12-25T10:07:11.004" v="0"/>
        <pc:sldMkLst>
          <pc:docMk/>
          <pc:sldMk cId="3364261520" sldId="32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BBEE18F9-7EE5-444F-AA57-68A6783A5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437085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136664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815450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494236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173022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ED3AA748-6163-AF42-8BA4-5A505F858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C0CB95F-A575-6E40-8A77-71E4C3CE5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264C53-F38A-3CAD-0C8A-2BF46116F39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COMP6100001 - Software engineering</a:t>
            </a:r>
          </a:p>
          <a:p>
            <a:r>
              <a:rPr lang="en-US" dirty="0"/>
              <a:t>Session 24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0BAB2-790F-F74A-024A-FC22D1A3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DevOps Culture, Principles, and Toolchains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89E2-412C-8945-F692-CD51460D98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Kenny Jingga, </a:t>
            </a:r>
            <a:r>
              <a:rPr lang="en-US" dirty="0" err="1"/>
              <a:t>S.Kom</a:t>
            </a:r>
            <a:r>
              <a:rPr lang="en-US" dirty="0"/>
              <a:t>., M.T.</a:t>
            </a:r>
          </a:p>
        </p:txBody>
      </p:sp>
    </p:spTree>
    <p:extLst>
      <p:ext uri="{BB962C8B-B14F-4D97-AF65-F5344CB8AC3E}">
        <p14:creationId xmlns:p14="http://schemas.microsoft.com/office/powerpoint/2010/main" val="34872234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6904394" cy="547670"/>
          </a:xfrm>
        </p:spPr>
        <p:txBody>
          <a:bodyPr>
            <a:normAutofit fontScale="90000"/>
          </a:bodyPr>
          <a:lstStyle/>
          <a:p>
            <a:r>
              <a:rPr lang="en-US" dirty="0"/>
              <a:t>Session 24 – DevOps Culture, Principles, and Toolchains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1"/>
            <a:ext cx="20711673" cy="7271225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the end of this session, students will be expected to be able to: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3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Define DevOps and its goals within modern software development.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Understand the cultural shift required to bridge development and operations.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Explore core DevOps principles: automation, CI, CD, and continuous deployment.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Recognize the benefits of DevOps practices.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Analyze case studies on successful DevOps implementation.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Discuss common challenges in DevOps adoption and potential solutions.</a:t>
            </a:r>
          </a:p>
          <a:p>
            <a:pPr algn="just">
              <a:spcBef>
                <a:spcPts val="0"/>
              </a:spcBef>
            </a:pPr>
            <a:endParaRPr lang="en-US" sz="3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78585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6185937" cy="547670"/>
          </a:xfrm>
        </p:spPr>
        <p:txBody>
          <a:bodyPr>
            <a:normAutofit fontScale="90000"/>
          </a:bodyPr>
          <a:lstStyle/>
          <a:p>
            <a:r>
              <a:rPr lang="en-US" dirty="0"/>
              <a:t>Session 24 – DevOps Culture, Principles, and Toolchains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Content 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4978400"/>
            <a:ext cx="20711673" cy="6865542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DevOps overview &amp; goals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Cultural shift (Dev + Ops collaboration)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DevOps principles (automation, CI, CD)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DevOps toolchains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Benefits &amp; challenges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Case studies &amp; best practices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9818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760AFE67-EE31-0580-ADB0-F44856965E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5" r="21341"/>
          <a:stretch/>
        </p:blipFill>
        <p:spPr bwMode="auto">
          <a:xfrm>
            <a:off x="13777999" y="3223274"/>
            <a:ext cx="9307287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DevOps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7EAA204-3D1A-2FEC-94D3-93A279977D84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377" y="3792142"/>
            <a:ext cx="5753100" cy="805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363852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Definition and Goals of </a:t>
            </a:r>
            <a:r>
              <a:rPr lang="en-US" dirty="0" err="1"/>
              <a:t>Devops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 of DevOps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9892629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DevOps is a set of practices, principles, and cultural philosophies aimed at unifying software development (Dev) and IT operations (Ops).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Focuses on collaboration, automation, and feedback loops to deliver high-quality software at speed.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3B7D6E3-19E9-A61E-B850-87734A878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052" y="6245966"/>
            <a:ext cx="11435896" cy="7470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1918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Definition and Goals of </a:t>
            </a:r>
            <a:r>
              <a:rPr lang="en-US" dirty="0" err="1"/>
              <a:t>Devops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Goals of DevOps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9892629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Faster Delivery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Streamlining the release process to deliver new features and fixes rapidly.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Improved Quality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Ensuring code is robust and reliable through automation and consistent feedback.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Efficiency and Reduced Bottlenecks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Removing silos between Dev and Ops to improve workflow efficiency.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 Satisfaction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Enhancing the user experience by quickly addressing customer needs.</a:t>
            </a:r>
          </a:p>
        </p:txBody>
      </p:sp>
    </p:spTree>
    <p:extLst>
      <p:ext uri="{BB962C8B-B14F-4D97-AF65-F5344CB8AC3E}">
        <p14:creationId xmlns:p14="http://schemas.microsoft.com/office/powerpoint/2010/main" val="263187908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786137" cy="547670"/>
          </a:xfrm>
        </p:spPr>
        <p:txBody>
          <a:bodyPr>
            <a:normAutofit fontScale="90000"/>
          </a:bodyPr>
          <a:lstStyle/>
          <a:p>
            <a:r>
              <a:rPr lang="en-US" dirty="0"/>
              <a:t>Cultural Shift: Collaboration between Development and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Traditional vs DevOps Culture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9892629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traditional models, development and operations work separately, leading to miscommunication and delays.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DevOps advocates for shared responsibilities and joint efforts throughout the software lifecycle.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58A526E-EFEA-6D67-1D3E-A5D1991C4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4728" y="6236003"/>
            <a:ext cx="4974544" cy="7479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940658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786137" cy="547670"/>
          </a:xfrm>
        </p:spPr>
        <p:txBody>
          <a:bodyPr>
            <a:normAutofit fontScale="90000"/>
          </a:bodyPr>
          <a:lstStyle/>
          <a:p>
            <a:r>
              <a:rPr lang="en-US" dirty="0"/>
              <a:t>Cultural Shift: Collaboration between Development and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Key Aspects of </a:t>
            </a:r>
            <a:r>
              <a:rPr lang="en-US" dirty="0" err="1"/>
              <a:t>Devops</a:t>
            </a:r>
            <a:r>
              <a:rPr lang="en-US" dirty="0"/>
              <a:t> Culture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9892629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Collaboration and Communication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Encourages daily stand-ups, shared tools, and cross-functional teams.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Empowerment and Ownership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Developers are involved in deploying and monitoring code in production.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Blameless Postmortems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 culture where errors are analyzed constructively to learn and improve.</a:t>
            </a:r>
          </a:p>
        </p:txBody>
      </p:sp>
    </p:spTree>
    <p:extLst>
      <p:ext uri="{BB962C8B-B14F-4D97-AF65-F5344CB8AC3E}">
        <p14:creationId xmlns:p14="http://schemas.microsoft.com/office/powerpoint/2010/main" val="113351462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786137" cy="54767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Devops</a:t>
            </a:r>
            <a:r>
              <a:rPr lang="en-US" dirty="0"/>
              <a:t>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Automation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9892629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Automates repetitive tasks, reducing human error and speeding up processes.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Using scripts to automate testing, deployment, and infrastructure setup.</a:t>
            </a:r>
          </a:p>
        </p:txBody>
      </p:sp>
    </p:spTree>
    <p:extLst>
      <p:ext uri="{BB962C8B-B14F-4D97-AF65-F5344CB8AC3E}">
        <p14:creationId xmlns:p14="http://schemas.microsoft.com/office/powerpoint/2010/main" val="334730802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786137" cy="54767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Devops</a:t>
            </a:r>
            <a:r>
              <a:rPr lang="en-US" dirty="0"/>
              <a:t>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Continuous Integration (CI)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9892629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Developers frequently merge code changes into a shared repository where automated tests validate the changes.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GitHub Actions or Jenkins running automated tests on every code commit.</a:t>
            </a:r>
          </a:p>
        </p:txBody>
      </p:sp>
    </p:spTree>
    <p:extLst>
      <p:ext uri="{BB962C8B-B14F-4D97-AF65-F5344CB8AC3E}">
        <p14:creationId xmlns:p14="http://schemas.microsoft.com/office/powerpoint/2010/main" val="358243969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786137" cy="54767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Devops</a:t>
            </a:r>
            <a:r>
              <a:rPr lang="en-US" dirty="0"/>
              <a:t>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Continuous Delivery (CD)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9892629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Extends CI by ensuring the code is always ready to be deployed to production.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Staging environment where validated builds are automatically deployed and await approval for production.</a:t>
            </a:r>
          </a:p>
        </p:txBody>
      </p:sp>
    </p:spTree>
    <p:extLst>
      <p:ext uri="{BB962C8B-B14F-4D97-AF65-F5344CB8AC3E}">
        <p14:creationId xmlns:p14="http://schemas.microsoft.com/office/powerpoint/2010/main" val="301684307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786137" cy="54767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Devops</a:t>
            </a:r>
            <a:r>
              <a:rPr lang="en-US" dirty="0"/>
              <a:t>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Continuous Deployment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9892629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Automates the release of validated code to production without manual intervention.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An e-commerce platform using continuous deployment to release minor feature updates directly to production.</a:t>
            </a:r>
          </a:p>
        </p:txBody>
      </p:sp>
    </p:spTree>
    <p:extLst>
      <p:ext uri="{BB962C8B-B14F-4D97-AF65-F5344CB8AC3E}">
        <p14:creationId xmlns:p14="http://schemas.microsoft.com/office/powerpoint/2010/main" val="154433292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786137" cy="547670"/>
          </a:xfrm>
        </p:spPr>
        <p:txBody>
          <a:bodyPr>
            <a:normAutofit fontScale="90000"/>
          </a:bodyPr>
          <a:lstStyle/>
          <a:p>
            <a:r>
              <a:rPr lang="en-US" dirty="0"/>
              <a:t>Benefits of Adopting DevOps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Benefits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9892629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Increased Deployment Frequency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Frequent releases enable rapid iterations, improving customer satisfaction.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Reduced Failure Rate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With automated testing and CI/CD pipelines, issues are identified and resolved quickly, lowering error rates.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Faster Time-to-Market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Automation and streamlined processes speed up feature development and deployment.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Improved Team Morale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Collaboration and shared responsibility foster a culture of trust and team cohesion.</a:t>
            </a:r>
          </a:p>
          <a:p>
            <a:pPr marL="0" indent="0" algn="just">
              <a:spcBef>
                <a:spcPts val="1800"/>
              </a:spcBef>
              <a:buNone/>
            </a:pPr>
            <a:endParaRPr lang="en-US" sz="3600" b="1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spcBef>
                <a:spcPts val="1800"/>
              </a:spcBef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Netflix, a notable adopter of DevOps, continuously deploys updates to its streaming platform with minimal downtime, improving user experience and satisfaction.</a:t>
            </a:r>
          </a:p>
        </p:txBody>
      </p:sp>
    </p:spTree>
    <p:extLst>
      <p:ext uri="{BB962C8B-B14F-4D97-AF65-F5344CB8AC3E}">
        <p14:creationId xmlns:p14="http://schemas.microsoft.com/office/powerpoint/2010/main" val="396561559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786137" cy="547670"/>
          </a:xfrm>
        </p:spPr>
        <p:txBody>
          <a:bodyPr>
            <a:normAutofit fontScale="90000"/>
          </a:bodyPr>
          <a:lstStyle/>
          <a:p>
            <a:r>
              <a:rPr lang="en-US" dirty="0"/>
              <a:t>Case Studies on Successful DevOps Implementations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Several Cases on Notable Industries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9892629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Netflix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a leader in DevOps, Netflix uses continuous deployment and automation to handle vast user traffic with minimal disruption.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Practices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Chaos Engineering, automated testing, microservices architecture.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Amazon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Amazon’s DevOps practices allow it to deploy code to production every 11.7 seconds on average.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Practices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CI/CD pipeline, automated monitoring, infrastructure as code (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IaC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Etsy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Adopted DevOps to recover from a slow deployment process; now, they deploy multiple times a day with improved quality and fewer rollback needs.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Practices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Continuous deployment, blameless culture, collaborative DevOps teams.</a:t>
            </a:r>
          </a:p>
        </p:txBody>
      </p:sp>
    </p:spTree>
    <p:extLst>
      <p:ext uri="{BB962C8B-B14F-4D97-AF65-F5344CB8AC3E}">
        <p14:creationId xmlns:p14="http://schemas.microsoft.com/office/powerpoint/2010/main" val="401841295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786137" cy="547670"/>
          </a:xfrm>
        </p:spPr>
        <p:txBody>
          <a:bodyPr>
            <a:normAutofit fontScale="90000"/>
          </a:bodyPr>
          <a:lstStyle/>
          <a:p>
            <a:r>
              <a:rPr lang="en-US" dirty="0"/>
              <a:t>Challenges and Solutions in DevOps Adoption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Common Challenges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9892629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Cultural Resistance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Teams accustomed to traditional models may resist DevOps changes.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Skills Gap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Requires proficiency in automation, CI/CD, and infrastructure as code.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Tooling Complexity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Integrating and maintaining multiple DevOps tools can be overwhelming.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Security Concerns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Rapid releases and automation require strict security protocols to avoid vulnerabilities.</a:t>
            </a:r>
          </a:p>
        </p:txBody>
      </p:sp>
    </p:spTree>
    <p:extLst>
      <p:ext uri="{BB962C8B-B14F-4D97-AF65-F5344CB8AC3E}">
        <p14:creationId xmlns:p14="http://schemas.microsoft.com/office/powerpoint/2010/main" val="157330455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786137" cy="547670"/>
          </a:xfrm>
        </p:spPr>
        <p:txBody>
          <a:bodyPr>
            <a:normAutofit fontScale="90000"/>
          </a:bodyPr>
          <a:lstStyle/>
          <a:p>
            <a:r>
              <a:rPr lang="en-US" dirty="0"/>
              <a:t>Challenges and Solutions in DevOps Adoption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Solutions and Best Practices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9892629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Gradual Adoption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Implement DevOps in phases, starting with CI and automation.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Training and Upskilling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Provide team members with resources to develop DevOps skills.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Clear Communication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Foster collaboration between departments through open dialogue and shared goals.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Security Integration (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DevSecOps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Embed security into the DevOps pipeline to automate security checks.</a:t>
            </a:r>
          </a:p>
        </p:txBody>
      </p:sp>
    </p:spTree>
    <p:extLst>
      <p:ext uri="{BB962C8B-B14F-4D97-AF65-F5344CB8AC3E}">
        <p14:creationId xmlns:p14="http://schemas.microsoft.com/office/powerpoint/2010/main" val="295581879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786137" cy="547670"/>
          </a:xfrm>
        </p:spPr>
        <p:txBody>
          <a:bodyPr>
            <a:normAutofit fontScale="90000"/>
          </a:bodyPr>
          <a:lstStyle/>
          <a:p>
            <a:r>
              <a:rPr lang="en-US" dirty="0"/>
              <a:t>Activities and Discussion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9892629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Group Discussion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Discuss a scenario where DevOps could improve a given software project (e.g., mobile app development for a small startup) and identify which practices they would implement first and why.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Case Analysis Exercise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Review a case study, such as Netflix’s use of Chaos Engineering, to explore how DevOps tools and culture enhance reliability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148951216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Overview of DevOps Toolchains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297910" cy="840935"/>
          </a:xfrm>
        </p:spPr>
        <p:txBody>
          <a:bodyPr>
            <a:normAutofit/>
          </a:bodyPr>
          <a:lstStyle/>
          <a:p>
            <a:r>
              <a:rPr lang="en-US" dirty="0"/>
              <a:t>Definition and Purpose of DevOps Toolchains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9892629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Definition of a DevOps Toolchain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DevOps toolchain is a set of tools that automate and streamline the development, testing, integration, and deployment processes. It covers the software lifecycle from coding to monitoring in production.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Purpose of a DevOps Toolchain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Enhances collaboration between teams, reduces errors, accelerates deployment, and supports continuous integration and deployment.</a:t>
            </a:r>
          </a:p>
        </p:txBody>
      </p:sp>
    </p:spTree>
    <p:extLst>
      <p:ext uri="{BB962C8B-B14F-4D97-AF65-F5344CB8AC3E}">
        <p14:creationId xmlns:p14="http://schemas.microsoft.com/office/powerpoint/2010/main" val="155821849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Overview of DevOps Toolchains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297910" cy="840935"/>
          </a:xfrm>
        </p:spPr>
        <p:txBody>
          <a:bodyPr>
            <a:normAutofit/>
          </a:bodyPr>
          <a:lstStyle/>
          <a:p>
            <a:r>
              <a:rPr lang="en-US" dirty="0"/>
              <a:t>Components of a Typical Toolchain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9892629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Planning Tools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Track requirements and manage workflows (e.g., Jira).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Version Control Tools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Manage code versions (e.g., Git).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Build and CI/CD Tools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Automate testing, integration, and deployment (e.g., Jenkins).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Monitoring and Logging Tools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Observe system health and analyze logs (e.g., Prometheus).</a:t>
            </a:r>
          </a:p>
          <a:p>
            <a:pPr marL="0" indent="0" algn="just">
              <a:spcBef>
                <a:spcPts val="1800"/>
              </a:spcBef>
              <a:buNone/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spcBef>
                <a:spcPts val="1800"/>
              </a:spcBef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 retail company’s toolchain includes Git for version control, Jenkins for CI/CD, Docker for containerization, and Grafana for monitoring performance.</a:t>
            </a:r>
          </a:p>
        </p:txBody>
      </p:sp>
    </p:spTree>
    <p:extLst>
      <p:ext uri="{BB962C8B-B14F-4D97-AF65-F5344CB8AC3E}">
        <p14:creationId xmlns:p14="http://schemas.microsoft.com/office/powerpoint/2010/main" val="172392643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Continuous Integration Tools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297910" cy="840935"/>
          </a:xfrm>
        </p:spPr>
        <p:txBody>
          <a:bodyPr>
            <a:normAutofit/>
          </a:bodyPr>
          <a:lstStyle/>
          <a:p>
            <a:r>
              <a:rPr lang="en-US" dirty="0"/>
              <a:t>Jenkins and Travis CI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9892629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CI automates the process of integrating code changes frequently and testing them to catch issues early.</a:t>
            </a:r>
          </a:p>
          <a:p>
            <a:pPr marL="0" indent="0" algn="just">
              <a:spcBef>
                <a:spcPts val="1800"/>
              </a:spcBef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Jenkins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Features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Open-source, extensive plugin library, customizable pipelines.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Case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Automating test runs on code commits to ensure stability.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Running unit tests and code quality checks on each commit to GitHub.</a:t>
            </a:r>
          </a:p>
          <a:p>
            <a:pPr marL="0" indent="0" algn="just">
              <a:spcBef>
                <a:spcPts val="1800"/>
              </a:spcBef>
              <a:buNone/>
            </a:pPr>
            <a:endParaRPr lang="en-US" sz="3600" b="1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spcBef>
                <a:spcPts val="1800"/>
              </a:spcBef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Travis CI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Features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Cloud-based CI tool with GitHub integration, easy configuration via .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travis.yml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Case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Automating build and test processes for open-source projects.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Automatically testing and deploying a Node.js application to a staging environment.</a:t>
            </a:r>
          </a:p>
        </p:txBody>
      </p:sp>
    </p:spTree>
    <p:extLst>
      <p:ext uri="{BB962C8B-B14F-4D97-AF65-F5344CB8AC3E}">
        <p14:creationId xmlns:p14="http://schemas.microsoft.com/office/powerpoint/2010/main" val="370690018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Continuous Deployment Tools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297910" cy="840935"/>
          </a:xfrm>
        </p:spPr>
        <p:txBody>
          <a:bodyPr>
            <a:normAutofit/>
          </a:bodyPr>
          <a:lstStyle/>
          <a:p>
            <a:r>
              <a:rPr lang="en-US" dirty="0"/>
              <a:t>Spinnaker and </a:t>
            </a:r>
            <a:r>
              <a:rPr lang="en-US" dirty="0" err="1"/>
              <a:t>GoCD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CD automates the deployment process, pushing validated code to production without manual intervention.</a:t>
            </a:r>
          </a:p>
          <a:p>
            <a:pPr marL="0" indent="0" algn="just">
              <a:spcBef>
                <a:spcPts val="1800"/>
              </a:spcBef>
              <a:buNone/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spcBef>
                <a:spcPts val="1800"/>
              </a:spcBef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Spinnaker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Features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Multi-cloud deployment support, pipelines for release management.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Case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Deploying applications across cloud platforms like AWS and Google Cloud.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 microservices architecture deploying independently to AWS and Kubernetes clusters.</a:t>
            </a:r>
          </a:p>
          <a:p>
            <a:pPr marL="0" indent="0" algn="just">
              <a:spcBef>
                <a:spcPts val="1800"/>
              </a:spcBef>
              <a:buNone/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spcBef>
                <a:spcPts val="1800"/>
              </a:spcBef>
              <a:buNone/>
            </a:pP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GoCD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Features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Visual pipeline modeling, supports multiple deployment environments.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Case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Setting up CD pipelines with stages for testing, staging, and production.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 Java application deploying from a development environment to production through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GoCD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pipelines.</a:t>
            </a:r>
          </a:p>
        </p:txBody>
      </p:sp>
    </p:spTree>
    <p:extLst>
      <p:ext uri="{BB962C8B-B14F-4D97-AF65-F5344CB8AC3E}">
        <p14:creationId xmlns:p14="http://schemas.microsoft.com/office/powerpoint/2010/main" val="264346707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Containerization and Orchestration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297910" cy="840935"/>
          </a:xfrm>
        </p:spPr>
        <p:txBody>
          <a:bodyPr>
            <a:normAutofit/>
          </a:bodyPr>
          <a:lstStyle/>
          <a:p>
            <a:r>
              <a:rPr lang="en-US" dirty="0"/>
              <a:t>Containerization with Docker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Docker packages applications into containers, enabling consistency across environments.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Benefits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Environment consistency, easy scaling, and efficient resource use.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Packaging a Python application in a Docker container to run identically on different servers.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786E22-1971-2BBB-FBFE-C68F1509F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161" y="6148541"/>
            <a:ext cx="13766524" cy="7268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bout Docker | Docker">
            <a:extLst>
              <a:ext uri="{FF2B5EF4-FFF2-40B4-BE49-F238E27FC236}">
                <a16:creationId xmlns:a16="http://schemas.microsoft.com/office/drawing/2014/main" id="{5AED9D83-67BC-A6D0-093E-B967B1227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15" y="7198595"/>
            <a:ext cx="7348745" cy="5168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37755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Containerization and Orchestration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297910" cy="840935"/>
          </a:xfrm>
        </p:spPr>
        <p:txBody>
          <a:bodyPr>
            <a:normAutofit/>
          </a:bodyPr>
          <a:lstStyle/>
          <a:p>
            <a:r>
              <a:rPr lang="en-US" dirty="0"/>
              <a:t>Orchestration with Kubernetes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Kubernetes automates the deployment, scaling, and management of containerized applications.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Concepts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Pods, clusters, nodes, and services.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Case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Managing microservices by deploying and scaling containers across multiple nodes.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Deploying a web application with an auto-scaling feature to handle varying traffic loads.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BE2F34-34CE-1A1D-CE7C-64C1F00D9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412" y="7651235"/>
            <a:ext cx="13001861" cy="60647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7182E0-8C13-9856-5946-C5899DEE3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377" y="8103694"/>
            <a:ext cx="5306849" cy="515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33240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Infrastructure as Code (IAC) Tools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297910" cy="840935"/>
          </a:xfrm>
        </p:spPr>
        <p:txBody>
          <a:bodyPr>
            <a:normAutofit/>
          </a:bodyPr>
          <a:lstStyle/>
          <a:p>
            <a:r>
              <a:rPr lang="en-US" dirty="0"/>
              <a:t>Terraform and Ansible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IaC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involves managing and provisioning infrastructure through code instead of manual processes.</a:t>
            </a:r>
            <a:endParaRPr lang="en-US" sz="3600" b="1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spcBef>
                <a:spcPts val="1800"/>
              </a:spcBef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Terraform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Features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Supports multiple cloud providers, declarative syntax.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Case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Defining and managing cloud infrastructure with reusable code templates.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Using Terraform to set up and configure AWS resources like EC2 instances, databases, and networks.</a:t>
            </a:r>
          </a:p>
          <a:p>
            <a:pPr marL="0" indent="0" algn="just">
              <a:spcBef>
                <a:spcPts val="1800"/>
              </a:spcBef>
              <a:buNone/>
            </a:pPr>
            <a:endParaRPr lang="en-US" sz="3600" b="1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spcBef>
                <a:spcPts val="1800"/>
              </a:spcBef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Ansible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Features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Agentless configuration management, focuses on automation of setup and updates.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Case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Automating server configuration and software installation across multiple machines.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Ansible playbooks to install, configure, and maintain applications across servers.</a:t>
            </a:r>
          </a:p>
        </p:txBody>
      </p:sp>
    </p:spTree>
    <p:extLst>
      <p:ext uri="{BB962C8B-B14F-4D97-AF65-F5344CB8AC3E}">
        <p14:creationId xmlns:p14="http://schemas.microsoft.com/office/powerpoint/2010/main" val="2820049444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Continuous Monitoring and Logging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297910" cy="840935"/>
          </a:xfrm>
        </p:spPr>
        <p:txBody>
          <a:bodyPr>
            <a:normAutofit/>
          </a:bodyPr>
          <a:lstStyle/>
          <a:p>
            <a:r>
              <a:rPr lang="en-US" dirty="0"/>
              <a:t>Prometheus, Grafana, and ELK Stack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Continuous monitoring provides insights into application performance, availability, and reliability in real-time.</a:t>
            </a:r>
          </a:p>
          <a:p>
            <a:pPr marL="0" indent="0" algn="just">
              <a:spcBef>
                <a:spcPts val="1800"/>
              </a:spcBef>
              <a:buNone/>
            </a:pPr>
            <a:endParaRPr lang="en-US" sz="3600" b="1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spcBef>
                <a:spcPts val="1800"/>
              </a:spcBef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Prometheus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Features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Open-source, time-series database, powerful querying language.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Case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Tracking metrics for CPU usage, memory consumption, and network activity.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Monitoring a microservices application’s health metrics in real-time.</a:t>
            </a:r>
          </a:p>
          <a:p>
            <a:pPr algn="just">
              <a:spcBef>
                <a:spcPts val="1800"/>
              </a:spcBef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spcBef>
                <a:spcPts val="1800"/>
              </a:spcBef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Grafana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Features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Data visualization, supports multiple data sources.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Case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Creating dashboards for monitoring performance metrics from Prometheus.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 dashboard displaying metrics of response times and error rates for a web service.</a:t>
            </a:r>
          </a:p>
          <a:p>
            <a:pPr marL="0" indent="0" algn="just">
              <a:spcBef>
                <a:spcPts val="1800"/>
              </a:spcBef>
              <a:buNone/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5130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Continuous Monitoring and Logging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297910" cy="840935"/>
          </a:xfrm>
        </p:spPr>
        <p:txBody>
          <a:bodyPr>
            <a:normAutofit/>
          </a:bodyPr>
          <a:lstStyle/>
          <a:p>
            <a:r>
              <a:rPr lang="en-US" dirty="0"/>
              <a:t>Prometheus, Grafana, and ELK Stack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>
            <a:noAutofit/>
          </a:bodyPr>
          <a:lstStyle/>
          <a:p>
            <a:pPr marL="0" indent="0" algn="just">
              <a:spcBef>
                <a:spcPts val="1800"/>
              </a:spcBef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ELK Stack (Elasticsearch, Logstash, Kibana)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Features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Full logging solution with search, storage, and visualization.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Case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Collecting and analyzing logs to troubleshoot application issues.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Monitoring and analyzing logs for error patterns to optimize application performance.</a:t>
            </a:r>
          </a:p>
          <a:p>
            <a:pPr algn="just">
              <a:spcBef>
                <a:spcPts val="1800"/>
              </a:spcBef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150" name="Picture 6" descr="Introduction to ELK Tech Stack | Squadcast">
            <a:extLst>
              <a:ext uri="{FF2B5EF4-FFF2-40B4-BE49-F238E27FC236}">
                <a16:creationId xmlns:a16="http://schemas.microsoft.com/office/drawing/2014/main" id="{DC507EC7-6D36-6EE3-8906-CD3DAAA64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2506" y="6604000"/>
            <a:ext cx="13004800" cy="71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2006145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20049246" cy="547669"/>
          </a:xfrm>
        </p:spPr>
        <p:txBody>
          <a:bodyPr>
            <a:normAutofit fontScale="90000"/>
          </a:bodyPr>
          <a:lstStyle/>
          <a:p>
            <a:r>
              <a:rPr lang="en-ID" dirty="0"/>
              <a:t>Best Practices for Building and Managing DevOps Toolchains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297910" cy="84093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>
            <a:noAutofit/>
          </a:bodyPr>
          <a:lstStyle/>
          <a:p>
            <a:pPr marL="742950" indent="-742950" algn="just">
              <a:spcBef>
                <a:spcPts val="1800"/>
              </a:spcBef>
              <a:buFont typeface="+mj-lt"/>
              <a:buAutoNum type="arabicPeriod"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Choose Tools that Integrate Well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 tools that seamlessly integrate with the existing workflow to reduce compatibility issues and boost productivity.</a:t>
            </a:r>
          </a:p>
          <a:p>
            <a:pPr marL="742950" indent="-742950" algn="just">
              <a:spcBef>
                <a:spcPts val="1800"/>
              </a:spcBef>
              <a:buFont typeface="+mj-lt"/>
              <a:buAutoNum type="arabicPeriod"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Emphasize Automation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Prioritize automation in testing, deployment, monitoring, and scaling to enhance efficiency and minimize manual intervention.</a:t>
            </a:r>
          </a:p>
          <a:p>
            <a:pPr marL="742950" indent="-742950" algn="just">
              <a:spcBef>
                <a:spcPts val="1800"/>
              </a:spcBef>
              <a:buFont typeface="+mj-lt"/>
              <a:buAutoNum type="arabicPeriod"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Prioritize Security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Integrate security tools into the DevOps toolchain (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DevSecOps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to secure the pipeline from development to deployment.</a:t>
            </a:r>
          </a:p>
          <a:p>
            <a:pPr marL="742950" indent="-742950" algn="just">
              <a:spcBef>
                <a:spcPts val="1800"/>
              </a:spcBef>
              <a:buFont typeface="+mj-lt"/>
              <a:buAutoNum type="arabicPeriod"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Monitor Toolchain Performance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Track the effectiveness of each tool and make adjustments to avoid bottlenecks or inefficiencies in the pipeline.</a:t>
            </a:r>
          </a:p>
          <a:p>
            <a:pPr marL="742950" indent="-742950" algn="just">
              <a:spcBef>
                <a:spcPts val="1800"/>
              </a:spcBef>
              <a:buFont typeface="+mj-lt"/>
              <a:buAutoNum type="arabicPeriod"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Provide Continuous Training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Offer training sessions to keep the team updated on toolchain components, new features, and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3024451115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20049246" cy="547669"/>
          </a:xfrm>
        </p:spPr>
        <p:txBody>
          <a:bodyPr>
            <a:normAutofit fontScale="90000"/>
          </a:bodyPr>
          <a:lstStyle/>
          <a:p>
            <a:r>
              <a:rPr lang="en-ID" dirty="0"/>
              <a:t>Best Practices for Building and Managing DevOps Toolchains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7"/>
            <a:ext cx="15099897" cy="840935"/>
          </a:xfrm>
        </p:spPr>
        <p:txBody>
          <a:bodyPr>
            <a:normAutofit/>
          </a:bodyPr>
          <a:lstStyle/>
          <a:p>
            <a:r>
              <a:rPr lang="en-US" dirty="0"/>
              <a:t>Using Prometheus, Grafana, and Elk Stack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0427064" cy="10455337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Prometheus can be used to collect metrics, while ELK focuses on collecting and analyzing logs. Both data types provide different insights: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Prometheus + Grafana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For metrics monitoring and alerting.</a:t>
            </a:r>
          </a:p>
          <a:p>
            <a:pPr lvl="1"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ELK Stack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For log aggregation, search, and analytics.</a:t>
            </a:r>
          </a:p>
          <a:p>
            <a:pPr algn="just">
              <a:spcBef>
                <a:spcPts val="1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Grafana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serves as a unified dashboard: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connects to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Prometheus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 metrics.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can also connect to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Elasticsearch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visualize logs if needed.</a:t>
            </a:r>
          </a:p>
        </p:txBody>
      </p:sp>
      <p:pic>
        <p:nvPicPr>
          <p:cNvPr id="8194" name="Picture 2" descr="Setup Prometheus Pump">
            <a:extLst>
              <a:ext uri="{FF2B5EF4-FFF2-40B4-BE49-F238E27FC236}">
                <a16:creationId xmlns:a16="http://schemas.microsoft.com/office/drawing/2014/main" id="{E0D2D766-4C4F-EC25-9D70-326CB2D53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4441" y="2840194"/>
            <a:ext cx="11789559" cy="10218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426152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C9A3-FB6E-DB3A-36BC-1DB5FA6C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E2DA4-F8BE-01AB-0C23-B97B20B1A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E9782-3C02-FAD4-699A-C827BC99AC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4337538"/>
            <a:ext cx="13714940" cy="6635262"/>
          </a:xfrm>
        </p:spPr>
        <p:txBody>
          <a:bodyPr>
            <a:noAutofit/>
          </a:bodyPr>
          <a:lstStyle/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Kim, G., </a:t>
            </a:r>
            <a:r>
              <a:rPr lang="en-US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Debois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P., Willis, J., &amp; Humble, J. (2021). The DevOps Handbook: How to Create World-Class Agility, Reliability, &amp; Security in Technology Organizations (2nd ed.).</a:t>
            </a:r>
          </a:p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Bass, L., Weber, I., &amp; Zhu, L. (2019). DevOps: A Software Architect's Perspective (2nd ed.).</a:t>
            </a:r>
          </a:p>
        </p:txBody>
      </p:sp>
    </p:spTree>
    <p:extLst>
      <p:ext uri="{BB962C8B-B14F-4D97-AF65-F5344CB8AC3E}">
        <p14:creationId xmlns:p14="http://schemas.microsoft.com/office/powerpoint/2010/main" val="197612424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2" id="{91EC78B4-BE4F-3B4D-B302-CF3E80410C1C}" vid="{48571482-A7A2-E44B-AA81-515161122809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TaxCatchAll xmlns="9fdf624c-fedc-4f6c-b928-0c7bf4c9e100" xsi:nil="true"/>
    <_Flow_SignoffStatus xmlns="47793baa-3cbb-486e-a055-4d42ce3882d7" xsi:nil="true"/>
    <_dlc_DocId xmlns="9fdf624c-fedc-4f6c-b928-0c7bf4c9e100">J56STF5CZXNR-2061195910-875156</_dlc_DocId>
    <_dlc_DocIdUrl xmlns="9fdf624c-fedc-4f6c-b928-0c7bf4c9e100">
      <Url>https://binusianorg.sharepoint.com/sites/arc/_layouts/15/DocIdRedir.aspx?ID=J56STF5CZXNR-2061195910-875156</Url>
      <Description>J56STF5CZXNR-2061195910-875156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8" ma:contentTypeDescription="Create a new document." ma:contentTypeScope="" ma:versionID="2a43a3a40365f9eee60928e1a48d8e8a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b55bbfde6f7dd5be9fcb8a553256df6e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131959e2-2cf4-437e-858a-61f1b162208b}" ma:internalName="TaxCatchAll" ma:showField="CatchAllData" ma:web="9fdf624c-fedc-4f6c-b928-0c7bf4c9e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252D89-D1E6-488A-B078-4573BAE073F6}">
  <ds:schemaRefs>
    <ds:schemaRef ds:uri="http://purl.org/dc/terms/"/>
    <ds:schemaRef ds:uri="2661c1c1-ed05-4275-a33d-64e31eb1ea69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4f26481f-d1e8-4452-9a9a-b303515fd2b7"/>
    <ds:schemaRef ds:uri="http://schemas.microsoft.com/office/2006/metadata/properties"/>
    <ds:schemaRef ds:uri="http://purl.org/dc/dcmitype/"/>
    <ds:schemaRef ds:uri="http://schemas.microsoft.com/sharepoint/v3/fields"/>
    <ds:schemaRef ds:uri="9fdf624c-fedc-4f6c-b928-0c7bf4c9e100"/>
    <ds:schemaRef ds:uri="47793baa-3cbb-486e-a055-4d42ce3882d7"/>
  </ds:schemaRefs>
</ds:datastoreItem>
</file>

<file path=customXml/itemProps2.xml><?xml version="1.0" encoding="utf-8"?>
<ds:datastoreItem xmlns:ds="http://schemas.openxmlformats.org/officeDocument/2006/customXml" ds:itemID="{CDDAE38A-8264-43C3-9B01-B7FA25F10602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2E0FE671-25D8-4116-9472-BF9297986CC6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90A97211-242D-415A-8ADE-6F44C1D92C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2022</Template>
  <TotalTime>2982</TotalTime>
  <Words>2002</Words>
  <Application>Microsoft Office PowerPoint</Application>
  <PresentationFormat>Custom</PresentationFormat>
  <Paragraphs>201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Open Sans ExtraBold</vt:lpstr>
      <vt:lpstr>Open Sans</vt:lpstr>
      <vt:lpstr>Open Sans Semibold</vt:lpstr>
      <vt:lpstr>Open Sans Light</vt:lpstr>
      <vt:lpstr>OCRB</vt:lpstr>
      <vt:lpstr>21_BasicWhite</vt:lpstr>
      <vt:lpstr>DevOps Culture, Principles, and Toolchains</vt:lpstr>
      <vt:lpstr>Session 24 – DevOps Culture, Principles, and Toolchains</vt:lpstr>
      <vt:lpstr>Session 24 – DevOps Culture, Principles, and Toolchains</vt:lpstr>
      <vt:lpstr>The DevOps</vt:lpstr>
      <vt:lpstr>Definition and Goals of Devops</vt:lpstr>
      <vt:lpstr>Definition and Goals of Devops</vt:lpstr>
      <vt:lpstr>Cultural Shift: Collaboration between Development and Operations</vt:lpstr>
      <vt:lpstr>Cultural Shift: Collaboration between Development and Operations</vt:lpstr>
      <vt:lpstr>Devops Principles</vt:lpstr>
      <vt:lpstr>Devops Principles</vt:lpstr>
      <vt:lpstr>Devops Principles</vt:lpstr>
      <vt:lpstr>Devops Principles</vt:lpstr>
      <vt:lpstr>Benefits of Adopting DevOps Practices</vt:lpstr>
      <vt:lpstr>Case Studies on Successful DevOps Implementations</vt:lpstr>
      <vt:lpstr>Challenges and Solutions in DevOps Adoption</vt:lpstr>
      <vt:lpstr>Challenges and Solutions in DevOps Adoption</vt:lpstr>
      <vt:lpstr>Activities and Discussion</vt:lpstr>
      <vt:lpstr>Overview of DevOps Toolchains</vt:lpstr>
      <vt:lpstr>Overview of DevOps Toolchains</vt:lpstr>
      <vt:lpstr>Continuous Integration Tools</vt:lpstr>
      <vt:lpstr>Continuous Deployment Tools</vt:lpstr>
      <vt:lpstr>Containerization and Orchestration</vt:lpstr>
      <vt:lpstr>Containerization and Orchestration</vt:lpstr>
      <vt:lpstr>Infrastructure as Code (IAC) Tools</vt:lpstr>
      <vt:lpstr>Continuous Monitoring and Logging</vt:lpstr>
      <vt:lpstr>Continuous Monitoring and Logging</vt:lpstr>
      <vt:lpstr>Best Practices for Building and Managing DevOps Toolchains</vt:lpstr>
      <vt:lpstr>Best Practices for Building and Managing DevOps Toolchains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Aris Priyanto</dc:creator>
  <cp:lastModifiedBy>Maulin Nasari</cp:lastModifiedBy>
  <cp:revision>40</cp:revision>
  <dcterms:created xsi:type="dcterms:W3CDTF">2023-04-06T08:40:27Z</dcterms:created>
  <dcterms:modified xsi:type="dcterms:W3CDTF">2025-12-25T23:11:17Z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a8e96856-29d3-47af-8f22-9a1c34492d36</vt:lpwstr>
  </property>
</Properties>
</file>