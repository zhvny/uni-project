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39"/>
  </p:notesMasterIdLst>
  <p:sldIdLst>
    <p:sldId id="256" r:id="rId6"/>
    <p:sldId id="257" r:id="rId7"/>
    <p:sldId id="258" r:id="rId8"/>
    <p:sldId id="301" r:id="rId9"/>
    <p:sldId id="283" r:id="rId10"/>
    <p:sldId id="285" r:id="rId11"/>
    <p:sldId id="286" r:id="rId12"/>
    <p:sldId id="287" r:id="rId13"/>
    <p:sldId id="294" r:id="rId14"/>
    <p:sldId id="318" r:id="rId15"/>
    <p:sldId id="289" r:id="rId16"/>
    <p:sldId id="290" r:id="rId17"/>
    <p:sldId id="291" r:id="rId18"/>
    <p:sldId id="292" r:id="rId19"/>
    <p:sldId id="302" r:id="rId20"/>
    <p:sldId id="303" r:id="rId21"/>
    <p:sldId id="304" r:id="rId22"/>
    <p:sldId id="305" r:id="rId23"/>
    <p:sldId id="306" r:id="rId24"/>
    <p:sldId id="319" r:id="rId25"/>
    <p:sldId id="307" r:id="rId26"/>
    <p:sldId id="308" r:id="rId27"/>
    <p:sldId id="309" r:id="rId28"/>
    <p:sldId id="310" r:id="rId29"/>
    <p:sldId id="311" r:id="rId30"/>
    <p:sldId id="312" r:id="rId31"/>
    <p:sldId id="313" r:id="rId32"/>
    <p:sldId id="314" r:id="rId33"/>
    <p:sldId id="315" r:id="rId34"/>
    <p:sldId id="316" r:id="rId35"/>
    <p:sldId id="317" r:id="rId36"/>
    <p:sldId id="293" r:id="rId37"/>
    <p:sldId id="284" r:id="rId38"/>
  </p:sldIdLst>
  <p:sldSz cx="24384000" cy="13716000"/>
  <p:notesSz cx="6858000" cy="9144000"/>
  <p:embeddedFontLst>
    <p:embeddedFont>
      <p:font typeface="OCRB" panose="020B0609020202020204" pitchFamily="49" charset="0"/>
      <p:regular r:id="rId40"/>
    </p:embeddedFont>
    <p:embeddedFont>
      <p:font typeface="Open Sans" panose="020B0606030504020204" pitchFamily="34" charset="0"/>
      <p:regular r:id="rId41"/>
      <p:bold r:id="rId42"/>
      <p:italic r:id="rId43"/>
      <p:boldItalic r:id="rId44"/>
    </p:embeddedFont>
    <p:embeddedFont>
      <p:font typeface="Open Sans ExtraBold" panose="020B0906030804020204" pitchFamily="34" charset="0"/>
      <p:bold r:id="rId45"/>
      <p:italic r:id="rId46"/>
      <p:boldItalic r:id="rId47"/>
    </p:embeddedFont>
    <p:embeddedFont>
      <p:font typeface="Open Sans Light" panose="020B0306030504020204" pitchFamily="34" charset="0"/>
      <p:regular r:id="rId48"/>
      <p:italic r:id="rId49"/>
    </p:embeddedFont>
    <p:embeddedFont>
      <p:font typeface="Open Sans Semibold" panose="020B0706030804020204" pitchFamily="34" charset="0"/>
      <p:regular r:id="rId50"/>
      <p:bold r:id="rId51"/>
      <p:italic r:id="rId52"/>
      <p:boldItalic r:id="rId53"/>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8766D9-8F82-4A88-BCFC-61C9323C8AA2}" v="1" dt="2025-12-25T23:18:58.36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934" autoAdjust="0"/>
    <p:restoredTop sz="96197"/>
  </p:normalViewPr>
  <p:slideViewPr>
    <p:cSldViewPr snapToGrid="0" snapToObjects="1">
      <p:cViewPr varScale="1">
        <p:scale>
          <a:sx n="23" d="100"/>
          <a:sy n="23" d="100"/>
        </p:scale>
        <p:origin x="120" y="787"/>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microsoft.com/office/2016/11/relationships/changesInfo" Target="changesInfos/changesInfo1.xml"/><Relationship Id="rId5" Type="http://schemas.openxmlformats.org/officeDocument/2006/relationships/slideMaster" Target="slideMasters/slideMaster1.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font" Target="fonts/font12.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font" Target="fonts/font7.fntdata"/><Relationship Id="rId59"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font" Target="fonts/font2.fntdata"/><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10.fntdata"/><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5.fntdata"/><Relationship Id="rId52" Type="http://schemas.openxmlformats.org/officeDocument/2006/relationships/font" Target="fonts/font1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lin Nasari" userId="2c02bce8-14a6-4f73-b14a-299518f8dfce" providerId="ADAL" clId="{973AE700-8634-4AC6-A10B-DFA7AFECB9DA}"/>
    <pc:docChg chg="modSld">
      <pc:chgData name="Maulin Nasari" userId="2c02bce8-14a6-4f73-b14a-299518f8dfce" providerId="ADAL" clId="{973AE700-8634-4AC6-A10B-DFA7AFECB9DA}" dt="2025-12-25T23:18:58.361" v="0"/>
      <pc:docMkLst>
        <pc:docMk/>
      </pc:docMkLst>
      <pc:sldChg chg="modSp">
        <pc:chgData name="Maulin Nasari" userId="2c02bce8-14a6-4f73-b14a-299518f8dfce" providerId="ADAL" clId="{973AE700-8634-4AC6-A10B-DFA7AFECB9DA}" dt="2025-12-25T23:18:58.361" v="0"/>
        <pc:sldMkLst>
          <pc:docMk/>
          <pc:sldMk cId="3855785854" sldId="257"/>
        </pc:sldMkLst>
        <pc:spChg chg="mod">
          <ac:chgData name="Maulin Nasari" userId="2c02bce8-14a6-4f73-b14a-299518f8dfce" providerId="ADAL" clId="{973AE700-8634-4AC6-A10B-DFA7AFECB9DA}" dt="2025-12-25T23:18:58.361" v="0"/>
          <ac:spMkLst>
            <pc:docMk/>
            <pc:sldMk cId="3855785854" sldId="257"/>
            <ac:spMk id="4" creationId="{76E358E3-B24E-F7A5-ECF8-12101774A9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a:t>Session 26</a:t>
            </a:r>
            <a:endParaRPr lang="en-US" dirty="0"/>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lstStyle/>
          <a:p>
            <a:r>
              <a:rPr lang="en-US" dirty="0"/>
              <a:t>Emerging trends in software engineering</a:t>
            </a:r>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26 – Emerging trends in software engineering</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4522264"/>
          </a:xfrm>
        </p:spPr>
        <p:txBody>
          <a:bodyPr anchor="ctr">
            <a:normAutofit/>
          </a:bodyPr>
          <a:lstStyle/>
          <a:p>
            <a:pPr marL="0" indent="0" algn="just">
              <a:buNone/>
            </a:pPr>
            <a:r>
              <a:rPr lang="en-US"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a:t>
            </a:r>
          </a:p>
          <a:p>
            <a:pPr marL="0" indent="0" algn="just">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Explain how emerging technologies influence software engineering practices and ethics</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Analyze the potential impact of future technologies on software processes, roles, and responsibilities</a:t>
            </a: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a:t>Session 26 </a:t>
            </a:r>
            <a:r>
              <a:rPr lang="en-US" dirty="0"/>
              <a:t>– Emerging trends in software engineering</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8381568"/>
          </a:xfrm>
        </p:spPr>
        <p:txBody>
          <a:bodyPr>
            <a:normAutofit/>
          </a:bodyPr>
          <a:lstStyle/>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Technology Evolution</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Engineering as a Discipline</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Observing Software Engineering Trends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Identifying “Soft Trends”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Technology Directions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Cloud Computing and Serverless Architectures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Artificial Intelligence (AI) and Machine Learning (ML) in Software Development</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Blockchain Technology and Its Applications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Quantum Computing Basics</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Technology Evolution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big questions for the twenty-first century are:</a:t>
            </a:r>
          </a:p>
          <a:p>
            <a:pPr marL="623888" lvl="1"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(1) How rapidly does a technology evolve?</a:t>
            </a:r>
          </a:p>
          <a:p>
            <a:pPr marL="623888" lvl="1"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(2) How significant are the effects of positive feedback?</a:t>
            </a:r>
          </a:p>
          <a:p>
            <a:pPr marL="623888" lvl="1"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(3) How profound will the resultant changes be?</a:t>
            </a:r>
          </a:p>
          <a:p>
            <a:pPr algn="just"/>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descr="Chart, diagram&#10;&#10;Description automatically generated with medium confidence">
            <a:extLst>
              <a:ext uri="{FF2B5EF4-FFF2-40B4-BE49-F238E27FC236}">
                <a16:creationId xmlns:a16="http://schemas.microsoft.com/office/drawing/2014/main" id="{733E5B68-D157-1328-F34A-A52B6C68060A}"/>
              </a:ext>
            </a:extLst>
          </p:cNvPr>
          <p:cNvPicPr>
            <a:picLocks noChangeAspect="1"/>
          </p:cNvPicPr>
          <p:nvPr/>
        </p:nvPicPr>
        <p:blipFill>
          <a:blip r:embed="rId2"/>
          <a:stretch>
            <a:fillRect/>
          </a:stretch>
        </p:blipFill>
        <p:spPr>
          <a:xfrm>
            <a:off x="5281472" y="6830286"/>
            <a:ext cx="13309559" cy="5891980"/>
          </a:xfrm>
          <a:prstGeom prst="rect">
            <a:avLst/>
          </a:prstGeom>
        </p:spPr>
      </p:pic>
    </p:spTree>
    <p:extLst>
      <p:ext uri="{BB962C8B-B14F-4D97-AF65-F5344CB8AC3E}">
        <p14:creationId xmlns:p14="http://schemas.microsoft.com/office/powerpoint/2010/main" val="323693551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Engineering as a Discipline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As mobility begins to dominate the software landscape, Shaw identifies challenges that “emerge from the deep interdependencies between very complex systems and their users”. She argues that the knowledge base that leads to “purposeful practice” has been democratized by the specialized social networks that now populate the Web.</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“Problems facing software engineers are increasingly situated in complex social contexts and delineating the problem’s boundaries is increasingly difficult”.</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As a consequence, isolating the scientific underpinnings of a discipline remains a challenge.</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At this point in the history of our field, it is reasonable to state that “the discovery of new software engineering ideas is, by now, naturally incremental and evolutionary”</a:t>
            </a: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6225699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Observing Software Engineering Trends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Barry Boehm suggests that “software engineers [will] face the formidable challenges of dealing with rapid change, uncertainty and emergence, dependability, diversity, and interdependence, but they also have opportunities to make significant contributions that will make a difference for the better.” But what are the trends that will enable you to face these challenges in the years ahead?</a:t>
            </a: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descr="A picture containing text, lamp&#10;&#10;Description automatically generated">
            <a:extLst>
              <a:ext uri="{FF2B5EF4-FFF2-40B4-BE49-F238E27FC236}">
                <a16:creationId xmlns:a16="http://schemas.microsoft.com/office/drawing/2014/main" id="{8BE8B934-D23A-F737-F474-42F9EC153230}"/>
              </a:ext>
            </a:extLst>
          </p:cNvPr>
          <p:cNvPicPr>
            <a:picLocks noChangeAspect="1"/>
          </p:cNvPicPr>
          <p:nvPr/>
        </p:nvPicPr>
        <p:blipFill>
          <a:blip r:embed="rId2"/>
          <a:stretch>
            <a:fillRect/>
          </a:stretch>
        </p:blipFill>
        <p:spPr>
          <a:xfrm>
            <a:off x="7027467" y="6608708"/>
            <a:ext cx="10329065" cy="6301128"/>
          </a:xfrm>
          <a:prstGeom prst="rect">
            <a:avLst/>
          </a:prstGeom>
        </p:spPr>
      </p:pic>
    </p:spTree>
    <p:extLst>
      <p:ext uri="{BB962C8B-B14F-4D97-AF65-F5344CB8AC3E}">
        <p14:creationId xmlns:p14="http://schemas.microsoft.com/office/powerpoint/2010/main" val="415632360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Identifying “Soft Trends”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rmAutofit/>
          </a:bodyPr>
          <a:lstStyle/>
          <a:p>
            <a:pPr algn="just"/>
            <a:r>
              <a:rPr lang="en-US" sz="3600" b="1" dirty="0">
                <a:latin typeface="Open Sans" panose="020B0606030504020204" pitchFamily="34" charset="0"/>
                <a:ea typeface="Open Sans" panose="020B0606030504020204" pitchFamily="34" charset="0"/>
                <a:cs typeface="Open Sans" panose="020B0606030504020204" pitchFamily="34" charset="0"/>
              </a:rPr>
              <a:t>Connectivity and collaboration </a:t>
            </a:r>
            <a:r>
              <a:rPr lang="en-US" sz="3600" dirty="0">
                <a:latin typeface="Open Sans" panose="020B0606030504020204" pitchFamily="34" charset="0"/>
                <a:ea typeface="Open Sans" panose="020B0606030504020204" pitchFamily="34" charset="0"/>
                <a:cs typeface="Open Sans" panose="020B0606030504020204" pitchFamily="34" charset="0"/>
              </a:rPr>
              <a:t>(enabled by high-bandwidth communication) has already led to software teams that do not occupy the same physical space (telecommuting and part-time employment in a local context)</a:t>
            </a:r>
          </a:p>
          <a:p>
            <a:pPr algn="just"/>
            <a:r>
              <a:rPr lang="en-US" sz="3600" b="1" dirty="0">
                <a:latin typeface="Open Sans" panose="020B0606030504020204" pitchFamily="34" charset="0"/>
                <a:ea typeface="Open Sans" panose="020B0606030504020204" pitchFamily="34" charset="0"/>
                <a:cs typeface="Open Sans" panose="020B0606030504020204" pitchFamily="34" charset="0"/>
              </a:rPr>
              <a:t>Globalization</a:t>
            </a:r>
            <a:r>
              <a:rPr lang="en-US" sz="3600" dirty="0">
                <a:latin typeface="Open Sans" panose="020B0606030504020204" pitchFamily="34" charset="0"/>
                <a:ea typeface="Open Sans" panose="020B0606030504020204" pitchFamily="34" charset="0"/>
                <a:cs typeface="Open Sans" panose="020B0606030504020204" pitchFamily="34" charset="0"/>
              </a:rPr>
              <a:t> leads to a diverse workforce (in terms of language, culture, problem resolution, management philosophy, communication priorities, and person-</a:t>
            </a:r>
            <a:r>
              <a:rPr lang="en-US" sz="3600" dirty="0" err="1">
                <a:latin typeface="Open Sans" panose="020B0606030504020204" pitchFamily="34" charset="0"/>
                <a:ea typeface="Open Sans" panose="020B0606030504020204" pitchFamily="34" charset="0"/>
                <a:cs typeface="Open Sans" panose="020B0606030504020204" pitchFamily="34" charset="0"/>
              </a:rPr>
              <a:t>toperson</a:t>
            </a:r>
            <a:r>
              <a:rPr lang="en-US" sz="3600" dirty="0">
                <a:latin typeface="Open Sans" panose="020B0606030504020204" pitchFamily="34" charset="0"/>
                <a:ea typeface="Open Sans" panose="020B0606030504020204" pitchFamily="34" charset="0"/>
                <a:cs typeface="Open Sans" panose="020B0606030504020204" pitchFamily="34" charset="0"/>
              </a:rPr>
              <a:t> interaction)</a:t>
            </a: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1419837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Managing Complexity</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rmAutofit lnSpcReduction="10000"/>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In the early days, software engineers attempted to manage complexity in what can only be described as an ad-hoc fashion</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Now, we use process, methods, and tools to keep complexity under control. But tomorrow? Is our current approach up to the task?</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In the future, we are likely to see wider use of artificial intelligence techniques to help software engineers manage these levels of complexity [Har12b], [Xie18]</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Machine learning is one such technique that can help with testing and bug fixing [Mei18]</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Data science techniques can be used to help make sense of the vast amount of software engineering data generated by these large projects [Kim16b]</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Mining of these repositories is becoming an accepted research technique in the software engineering communities [Dye15]</a:t>
            </a: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66093160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Open-world software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Concepts such as ambient intelligence, context-aware applications, and pervasive/ubiquitous computing all focus on integrating software-based systems into an environment far broader than a laptop, a mobile computing device, or any other digital device.</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“open-world software”—software that is designed to adapt to a continually changing environment “by self-organizing its structure and self-adapting its behavior”</a:t>
            </a: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68762398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Open source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The “open source” movement has been described in the following manner: “Open source is a development method for software that harnesses the power of distributed peer review and transparency of process. The promise of open source is better quality, higher reliability, more flexibility, lower cost, and an end to predatory vendor lock-in.”</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The term open source, when applied to computer software, implies that software engineering work products (models, source code, test suites) are open to the public and can be reviewed and extended (with controls) by anyone with interest and permission.</a:t>
            </a:r>
          </a:p>
        </p:txBody>
      </p:sp>
    </p:spTree>
    <p:extLst>
      <p:ext uri="{BB962C8B-B14F-4D97-AF65-F5344CB8AC3E}">
        <p14:creationId xmlns:p14="http://schemas.microsoft.com/office/powerpoint/2010/main" val="257294224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Open source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What is open-source software?</a:t>
            </a:r>
          </a:p>
        </p:txBody>
      </p:sp>
      <p:pic>
        <p:nvPicPr>
          <p:cNvPr id="7" name="Content Placeholder 6" descr="A cartoon of a machine&#10;&#10;Description automatically generated">
            <a:extLst>
              <a:ext uri="{FF2B5EF4-FFF2-40B4-BE49-F238E27FC236}">
                <a16:creationId xmlns:a16="http://schemas.microsoft.com/office/drawing/2014/main" id="{67977624-E753-3CC8-EE7C-792B2A43A553}"/>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210919" y="3223273"/>
            <a:ext cx="7586223" cy="9587313"/>
          </a:xfrm>
          <a:prstGeom prst="rect">
            <a:avLst/>
          </a:prstGeom>
        </p:spPr>
      </p:pic>
      <p:pic>
        <p:nvPicPr>
          <p:cNvPr id="9" name="Picture 8" descr="A close up of logos&#10;&#10;Description automatically generated">
            <a:extLst>
              <a:ext uri="{FF2B5EF4-FFF2-40B4-BE49-F238E27FC236}">
                <a16:creationId xmlns:a16="http://schemas.microsoft.com/office/drawing/2014/main" id="{3584DF47-3C41-5093-2209-EA9AB7A548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09132" y="5333999"/>
            <a:ext cx="12583889" cy="5373903"/>
          </a:xfrm>
          <a:prstGeom prst="rect">
            <a:avLst/>
          </a:prstGeom>
        </p:spPr>
      </p:pic>
    </p:spTree>
    <p:extLst>
      <p:ext uri="{BB962C8B-B14F-4D97-AF65-F5344CB8AC3E}">
        <p14:creationId xmlns:p14="http://schemas.microsoft.com/office/powerpoint/2010/main" val="247885036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Technology direction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Software engineering is about far more than technology—it’s about people and their ability to communicate their needs and innovate to make those needs a reality</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Whenever people are involved, change occurs slowly in fits and starts</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It’s only when a “tipping point” is reached that a technology cascades across the software engineering community and broad-based change truly does occur</a:t>
            </a: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5383421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Process trends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Six ideas proposed to suggest possible process trends:</a:t>
            </a:r>
          </a:p>
          <a:p>
            <a:pPr marL="1366838" lvl="1"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As Software Process Improvement (SPI) frameworks evolve, they will emphasize “strategies that focus on goal orientation and product innovation”</a:t>
            </a:r>
          </a:p>
          <a:p>
            <a:pPr marL="1366838" lvl="1"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Because software engineers have a good sense of where the process is weak, process changes should generally be driven by their needs and should start from the bottom up</a:t>
            </a:r>
          </a:p>
          <a:p>
            <a:pPr marL="1366838" lvl="1"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Automated software process technology (SPT) will move away from global process management (broad-based support of the entire software process) to focus on those aspects of the software process that can best benefit from automation</a:t>
            </a:r>
          </a:p>
          <a:p>
            <a:pPr marL="1366838" lvl="1"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Greater emphasis will be placed on the return on investment of SPI activities</a:t>
            </a:r>
          </a:p>
          <a:p>
            <a:pPr marL="1366838" lvl="1"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As time passes, the software community may come to understand that expertise in sociology and anthropology may have as much or more to do with successful SPI as other, more technical disciplines</a:t>
            </a:r>
          </a:p>
          <a:p>
            <a:pPr marL="1366838" lvl="1"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New modes of learning may facilitate the transition to a more effective software process</a:t>
            </a: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86902344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The grand challenge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As the software engineering community develops new model-driven approaches to the representation of system requirements and design, the following characteristics must be addressed:</a:t>
            </a:r>
          </a:p>
          <a:p>
            <a:pPr lvl="1" algn="just">
              <a:spcBef>
                <a:spcPts val="1800"/>
              </a:spcBef>
              <a:buFont typeface="Open Sans" panose="020B0606030504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Multifunctionality</a:t>
            </a:r>
          </a:p>
          <a:p>
            <a:pPr lvl="1" algn="just">
              <a:spcBef>
                <a:spcPts val="1800"/>
              </a:spcBef>
              <a:buFont typeface="Open Sans" panose="020B0606030504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Reactivity and timeliness</a:t>
            </a:r>
          </a:p>
          <a:p>
            <a:pPr lvl="1" algn="just">
              <a:spcBef>
                <a:spcPts val="1800"/>
              </a:spcBef>
              <a:buFont typeface="Open Sans" panose="020B0606030504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New modes of user interaction</a:t>
            </a:r>
          </a:p>
          <a:p>
            <a:pPr lvl="1" algn="just">
              <a:spcBef>
                <a:spcPts val="1800"/>
              </a:spcBef>
              <a:buFont typeface="Open Sans" panose="020B0606030504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Complex architectures</a:t>
            </a:r>
          </a:p>
          <a:p>
            <a:pPr lvl="1" algn="just">
              <a:spcBef>
                <a:spcPts val="1800"/>
              </a:spcBef>
              <a:buFont typeface="Open Sans" panose="020B0606030504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Heterogeneous, distributed systems</a:t>
            </a:r>
          </a:p>
          <a:p>
            <a:pPr lvl="1" algn="just">
              <a:spcBef>
                <a:spcPts val="1800"/>
              </a:spcBef>
              <a:buFont typeface="Open Sans" panose="020B0606030504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Criticality</a:t>
            </a:r>
          </a:p>
          <a:p>
            <a:pPr lvl="1" algn="just">
              <a:spcBef>
                <a:spcPts val="1800"/>
              </a:spcBef>
              <a:buFont typeface="Open Sans" panose="020B0606030504020204" pitchFamily="34" charset="0"/>
              <a:buChar char="–"/>
            </a:pPr>
            <a:r>
              <a:rPr lang="en-US" sz="3600" dirty="0">
                <a:latin typeface="Open Sans" panose="020B0606030504020204" pitchFamily="34" charset="0"/>
                <a:ea typeface="Open Sans" panose="020B0606030504020204" pitchFamily="34" charset="0"/>
                <a:cs typeface="Open Sans" panose="020B0606030504020204" pitchFamily="34" charset="0"/>
              </a:rPr>
              <a:t>Maintenance variability</a:t>
            </a: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4924962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Cloud Computing and Serverless Architectures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Introduction to cloud computing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Autofit/>
          </a:bodyPr>
          <a:lstStyle/>
          <a:p>
            <a:pPr marL="0" indent="0" algn="just">
              <a:spcBef>
                <a:spcPts val="180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Cloud Computing has revolutionized the way software applications are developed, deployed, and managed. It offers scalable resources, cost-efficiency, and flexibility, enabling organizations to focus on core competencies without worrying about underlying infrastructure.</a:t>
            </a:r>
          </a:p>
          <a:p>
            <a:pPr marL="0" indent="0" algn="just">
              <a:spcBef>
                <a:spcPts val="180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Key Concepts: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Delivery of computing services over the internet (“the cloud”) including storage, processing, and networking.</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 Scalability, cost-efficiency, flexibility, reliability, and global reach.</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Deployment Models</a:t>
            </a:r>
            <a:r>
              <a:rPr lang="en-US" sz="3600" dirty="0">
                <a:latin typeface="Open Sans" panose="020B0606030504020204" pitchFamily="34" charset="0"/>
                <a:ea typeface="Open Sans" panose="020B0606030504020204" pitchFamily="34" charset="0"/>
                <a:cs typeface="Open Sans" panose="020B0606030504020204" pitchFamily="34" charset="0"/>
              </a:rPr>
              <a:t>: Public, Private, Hybrid, and Community Clouds.</a:t>
            </a:r>
          </a:p>
        </p:txBody>
      </p:sp>
    </p:spTree>
    <p:extLst>
      <p:ext uri="{BB962C8B-B14F-4D97-AF65-F5344CB8AC3E}">
        <p14:creationId xmlns:p14="http://schemas.microsoft.com/office/powerpoint/2010/main" val="371626940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Cloud Computing and Serverless Architectures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Cloud services models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0773372" cy="10455337"/>
          </a:xfrm>
        </p:spPr>
        <p:txBody>
          <a:bodyPr anchor="t">
            <a:noAutofit/>
          </a:bodyPr>
          <a:lstStyle/>
          <a:p>
            <a:pPr marL="0" indent="0" algn="just">
              <a:spcBef>
                <a:spcPts val="180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Cloud service models define the level of control, flexibility, and management provided to the user. Understanding these models is crucial for selecting the appropriate services for specific application needs.</a:t>
            </a:r>
          </a:p>
          <a:p>
            <a:pPr marL="0" indent="0" algn="just">
              <a:spcBef>
                <a:spcPts val="180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The models: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Infrastructure as a Service (IaaS)</a:t>
            </a:r>
            <a:r>
              <a:rPr lang="en-US" sz="3600" dirty="0">
                <a:latin typeface="Open Sans" panose="020B0606030504020204" pitchFamily="34" charset="0"/>
                <a:ea typeface="Open Sans" panose="020B0606030504020204" pitchFamily="34" charset="0"/>
                <a:cs typeface="Open Sans" panose="020B0606030504020204" pitchFamily="34" charset="0"/>
              </a:rPr>
              <a:t>. Examples: Amazon Web Services (AWS) EC2, Microsoft Azure Virtual Machines, Google Compute Engine (GCE)</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Platform as a Service (PaaS)</a:t>
            </a:r>
            <a:r>
              <a:rPr lang="en-US" sz="3600" dirty="0">
                <a:latin typeface="Open Sans" panose="020B0606030504020204" pitchFamily="34" charset="0"/>
                <a:ea typeface="Open Sans" panose="020B0606030504020204" pitchFamily="34" charset="0"/>
                <a:cs typeface="Open Sans" panose="020B0606030504020204" pitchFamily="34" charset="0"/>
              </a:rPr>
              <a:t>. Examples: Google App Engine, Microsoft Azure App Service, Heroku</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Software as a Service (SaaS)</a:t>
            </a:r>
            <a:r>
              <a:rPr lang="en-US" sz="3600" dirty="0">
                <a:latin typeface="Open Sans" panose="020B0606030504020204" pitchFamily="34" charset="0"/>
                <a:ea typeface="Open Sans" panose="020B0606030504020204" pitchFamily="34" charset="0"/>
                <a:cs typeface="Open Sans" panose="020B0606030504020204" pitchFamily="34" charset="0"/>
              </a:rPr>
              <a:t>. Examples: Google Workspace, Microsoft Office 365, Salesforce</a:t>
            </a:r>
          </a:p>
        </p:txBody>
      </p:sp>
      <p:pic>
        <p:nvPicPr>
          <p:cNvPr id="1028" name="Picture 4">
            <a:extLst>
              <a:ext uri="{FF2B5EF4-FFF2-40B4-BE49-F238E27FC236}">
                <a16:creationId xmlns:a16="http://schemas.microsoft.com/office/drawing/2014/main" id="{A43B139D-170D-898F-0A62-518A6447FA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40748" y="3298051"/>
            <a:ext cx="11443252" cy="7304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92004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Cloud Computing and Serverless Architectures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Serverless Computing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t">
            <a:noAutofit/>
          </a:bodyPr>
          <a:lstStyle/>
          <a:p>
            <a:pPr marL="0" indent="0" algn="just">
              <a:spcBef>
                <a:spcPts val="180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Serverless Computing abstracts server management, allowing developers to focus solely on writing code. It provides a scalable and efficient execution model where the cloud provider dynamically manages the allocation of machine resources.</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Concepts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 cloud computing execution model where the cloud provider runs the server, and dynamically manages the allocation of machine resources.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Characteristics</a:t>
            </a:r>
            <a:r>
              <a:rPr lang="en-US" sz="3600" dirty="0">
                <a:latin typeface="Open Sans" panose="020B0606030504020204" pitchFamily="34" charset="0"/>
                <a:ea typeface="Open Sans" panose="020B0606030504020204" pitchFamily="34" charset="0"/>
                <a:cs typeface="Open Sans" panose="020B0606030504020204" pitchFamily="34" charset="0"/>
              </a:rPr>
              <a:t>: Event-driven, scalable, cost-efficient (pay-per-execution), no server management.</a:t>
            </a: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0072218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Cloud Computing and Serverless Architectures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Functions as a Service (FAAS)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t">
            <a:noAutofit/>
          </a:bodyPr>
          <a:lstStyle/>
          <a:p>
            <a:pPr marL="0" indent="0" algn="just">
              <a:spcBef>
                <a:spcPts val="1800"/>
              </a:spcBef>
              <a:buNone/>
            </a:pPr>
            <a:r>
              <a:rPr lang="en-US" sz="3600" dirty="0" err="1">
                <a:latin typeface="Open Sans" panose="020B0606030504020204" pitchFamily="34" charset="0"/>
                <a:ea typeface="Open Sans" panose="020B0606030504020204" pitchFamily="34" charset="0"/>
                <a:cs typeface="Open Sans" panose="020B0606030504020204" pitchFamily="34" charset="0"/>
              </a:rPr>
              <a:t>FaaS</a:t>
            </a:r>
            <a:r>
              <a:rPr lang="en-US" sz="3600" dirty="0">
                <a:latin typeface="Open Sans" panose="020B0606030504020204" pitchFamily="34" charset="0"/>
                <a:ea typeface="Open Sans" panose="020B0606030504020204" pitchFamily="34" charset="0"/>
                <a:cs typeface="Open Sans" panose="020B0606030504020204" pitchFamily="34" charset="0"/>
              </a:rPr>
              <a:t> is a category of cloud services that allows developers to execute code in response to events without managing server infrastructure. It enables the deployment of individual functions that are triggered by specific actions.</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Examples of </a:t>
            </a:r>
            <a:r>
              <a:rPr lang="en-US" sz="3600" b="1" dirty="0" err="1">
                <a:latin typeface="Open Sans" panose="020B0606030504020204" pitchFamily="34" charset="0"/>
                <a:ea typeface="Open Sans" panose="020B0606030504020204" pitchFamily="34" charset="0"/>
                <a:cs typeface="Open Sans" panose="020B0606030504020204" pitchFamily="34" charset="0"/>
              </a:rPr>
              <a:t>FaaS</a:t>
            </a:r>
            <a:r>
              <a:rPr lang="en-US" sz="3600" b="1" dirty="0">
                <a:latin typeface="Open Sans" panose="020B0606030504020204" pitchFamily="34" charset="0"/>
                <a:ea typeface="Open Sans" panose="020B0606030504020204" pitchFamily="34" charset="0"/>
                <a:cs typeface="Open Sans" panose="020B0606030504020204" pitchFamily="34" charset="0"/>
              </a:rPr>
              <a:t> Providers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AWS Lambda: Amazon’s serverless compute service supporting multiple programming languages.</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Google Cloud Functions: Google’s event-driven serverless compute platform.</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Azure Functions: Microsoft’s serverless solution for building applications using event triggers.</a:t>
            </a: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9334003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US" dirty="0"/>
              <a:t>Artificial intelligence (AI) and Machine Learning (ML) in software Development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3018194" cy="803546"/>
          </a:xfrm>
        </p:spPr>
        <p:txBody>
          <a:bodyPr>
            <a:normAutofit/>
          </a:bodyPr>
          <a:lstStyle/>
          <a:p>
            <a:r>
              <a:rPr lang="en-ID" dirty="0"/>
              <a:t>Introduction to AI and ML in Software Development</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9862457" y="3260662"/>
            <a:ext cx="11462657" cy="10455337"/>
          </a:xfrm>
        </p:spPr>
        <p:txBody>
          <a:bodyPr anchor="t">
            <a:noAutofit/>
          </a:bodyPr>
          <a:lstStyle/>
          <a:p>
            <a:pPr algn="just">
              <a:spcBef>
                <a:spcPts val="1800"/>
              </a:spcBef>
            </a:pPr>
            <a:r>
              <a:rPr lang="en-US" sz="4800" dirty="0">
                <a:latin typeface="Open Sans" panose="020B0606030504020204" pitchFamily="34" charset="0"/>
                <a:ea typeface="Open Sans" panose="020B0606030504020204" pitchFamily="34" charset="0"/>
                <a:cs typeface="Open Sans" panose="020B0606030504020204" pitchFamily="34" charset="0"/>
              </a:rPr>
              <a:t>In 2014 - most AI tasks used to take 5 years and a research team to accomplish… </a:t>
            </a:r>
          </a:p>
          <a:p>
            <a:pPr algn="just">
              <a:spcBef>
                <a:spcPts val="1800"/>
              </a:spcBef>
            </a:pPr>
            <a:r>
              <a:rPr lang="en-US" sz="4800" dirty="0">
                <a:latin typeface="Open Sans" panose="020B0606030504020204" pitchFamily="34" charset="0"/>
                <a:ea typeface="Open Sans" panose="020B0606030504020204" pitchFamily="34" charset="0"/>
                <a:cs typeface="Open Sans" panose="020B0606030504020204" pitchFamily="34" charset="0"/>
              </a:rPr>
              <a:t>In 2024 - you just need API docs, a spare afternoon, and hopefully this lecture… </a:t>
            </a:r>
          </a:p>
        </p:txBody>
      </p:sp>
      <p:pic>
        <p:nvPicPr>
          <p:cNvPr id="5" name="Content Placeholder 11" descr="A cartoon of a person sitting at a desk&#10;&#10;Description automatically generated">
            <a:extLst>
              <a:ext uri="{FF2B5EF4-FFF2-40B4-BE49-F238E27FC236}">
                <a16:creationId xmlns:a16="http://schemas.microsoft.com/office/drawing/2014/main" id="{6D3CB12C-6ED7-E785-AA9B-8FD963D1B5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7377" y="2967398"/>
            <a:ext cx="7135649" cy="103207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Tree>
    <p:extLst>
      <p:ext uri="{BB962C8B-B14F-4D97-AF65-F5344CB8AC3E}">
        <p14:creationId xmlns:p14="http://schemas.microsoft.com/office/powerpoint/2010/main" val="422475327"/>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US" dirty="0"/>
              <a:t>Artificial intelligence (AI) and Machine Learning (ML) in software Development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3018194" cy="803546"/>
          </a:xfrm>
        </p:spPr>
        <p:txBody>
          <a:bodyPr>
            <a:normAutofit/>
          </a:bodyPr>
          <a:lstStyle/>
          <a:p>
            <a:r>
              <a:rPr lang="en-ID" dirty="0"/>
              <a:t>Introduction to AI and ML in Software Development</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t">
            <a:noAutofit/>
          </a:bodyPr>
          <a:lstStyle/>
          <a:p>
            <a:pPr marL="0" indent="0" algn="just">
              <a:spcBef>
                <a:spcPts val="180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Artificial Intelligence (AI) and Machine Learning (ML) have become integral to modern software development, enhancing productivity, improving code quality, and enabling data-driven decision-making. By automating repetitive tasks, providing intelligent insights, and predicting potential issues, AI/ML technologies empower software engineers to focus on innovation and complex problem-solving.</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Concepts:</a:t>
            </a: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Artificial Intelligence (AI)</a:t>
            </a:r>
            <a:r>
              <a:rPr lang="en-US" sz="3600" dirty="0">
                <a:latin typeface="Open Sans" panose="020B0606030504020204" pitchFamily="34" charset="0"/>
                <a:ea typeface="Open Sans" panose="020B0606030504020204" pitchFamily="34" charset="0"/>
                <a:cs typeface="Open Sans" panose="020B0606030504020204" pitchFamily="34" charset="0"/>
              </a:rPr>
              <a:t>: The simulation of human intelligence processes by machines, especially computer systems, including learning, reasoning, and self-correction.</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Machine Learning (ML)</a:t>
            </a:r>
            <a:r>
              <a:rPr lang="en-US" sz="3600" dirty="0">
                <a:latin typeface="Open Sans" panose="020B0606030504020204" pitchFamily="34" charset="0"/>
                <a:ea typeface="Open Sans" panose="020B0606030504020204" pitchFamily="34" charset="0"/>
                <a:cs typeface="Open Sans" panose="020B0606030504020204" pitchFamily="34" charset="0"/>
              </a:rPr>
              <a:t>: A subset of AI that involves the use of algorithms and statistical models to enable computers to perform tasks without explicit instructions, relying on patterns and inference instead.</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Applications in Software Development</a:t>
            </a:r>
            <a:r>
              <a:rPr lang="en-US" sz="3600" dirty="0">
                <a:latin typeface="Open Sans" panose="020B0606030504020204" pitchFamily="34" charset="0"/>
                <a:ea typeface="Open Sans" panose="020B0606030504020204" pitchFamily="34" charset="0"/>
                <a:cs typeface="Open Sans" panose="020B0606030504020204" pitchFamily="34" charset="0"/>
              </a:rPr>
              <a:t>: Enhancing coding efficiency, automating testing and debugging, predicting project outcomes, and more.</a:t>
            </a:r>
          </a:p>
        </p:txBody>
      </p:sp>
    </p:spTree>
    <p:extLst>
      <p:ext uri="{BB962C8B-B14F-4D97-AF65-F5344CB8AC3E}">
        <p14:creationId xmlns:p14="http://schemas.microsoft.com/office/powerpoint/2010/main" val="227807599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US" dirty="0"/>
              <a:t>Artificial intelligence (AI) and Machine Learning (ML) in software Development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3018194" cy="803546"/>
          </a:xfrm>
        </p:spPr>
        <p:txBody>
          <a:bodyPr>
            <a:normAutofit/>
          </a:bodyPr>
          <a:lstStyle/>
          <a:p>
            <a:r>
              <a:rPr lang="en-ID" b="1" dirty="0"/>
              <a:t>Applications of AI/ML in Software Development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Code Completion and Suggestions</a:t>
            </a:r>
            <a:r>
              <a:rPr lang="en-US" sz="3600" dirty="0">
                <a:latin typeface="Open Sans" panose="020B0606030504020204" pitchFamily="34" charset="0"/>
                <a:ea typeface="Open Sans" panose="020B0606030504020204" pitchFamily="34" charset="0"/>
                <a:cs typeface="Open Sans" panose="020B0606030504020204" pitchFamily="34" charset="0"/>
              </a:rPr>
              <a:t>. Examples: GitHub Copilot, </a:t>
            </a:r>
            <a:r>
              <a:rPr lang="en-US" sz="3600" dirty="0" err="1">
                <a:latin typeface="Open Sans" panose="020B0606030504020204" pitchFamily="34" charset="0"/>
                <a:ea typeface="Open Sans" panose="020B0606030504020204" pitchFamily="34" charset="0"/>
                <a:cs typeface="Open Sans" panose="020B0606030504020204" pitchFamily="34" charset="0"/>
              </a:rPr>
              <a:t>TabNine</a:t>
            </a: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Automated Bug Detection</a:t>
            </a:r>
            <a:r>
              <a:rPr lang="en-US" sz="3600" dirty="0">
                <a:latin typeface="Open Sans" panose="020B0606030504020204" pitchFamily="34" charset="0"/>
                <a:ea typeface="Open Sans" panose="020B0606030504020204" pitchFamily="34" charset="0"/>
                <a:cs typeface="Open Sans" panose="020B0606030504020204" pitchFamily="34" charset="0"/>
              </a:rPr>
              <a:t>. Examples: </a:t>
            </a:r>
            <a:r>
              <a:rPr lang="en-US" sz="3600" dirty="0" err="1">
                <a:latin typeface="Open Sans" panose="020B0606030504020204" pitchFamily="34" charset="0"/>
                <a:ea typeface="Open Sans" panose="020B0606030504020204" pitchFamily="34" charset="0"/>
                <a:cs typeface="Open Sans" panose="020B0606030504020204" pitchFamily="34" charset="0"/>
              </a:rPr>
              <a:t>DeepCode</a:t>
            </a:r>
            <a:r>
              <a:rPr lang="en-US" sz="3600" dirty="0">
                <a:latin typeface="Open Sans" panose="020B0606030504020204" pitchFamily="34" charset="0"/>
                <a:ea typeface="Open Sans" panose="020B0606030504020204" pitchFamily="34" charset="0"/>
                <a:cs typeface="Open Sans" panose="020B0606030504020204" pitchFamily="34" charset="0"/>
              </a:rPr>
              <a:t> (now </a:t>
            </a:r>
            <a:r>
              <a:rPr lang="en-US" sz="3600" dirty="0" err="1">
                <a:latin typeface="Open Sans" panose="020B0606030504020204" pitchFamily="34" charset="0"/>
                <a:ea typeface="Open Sans" panose="020B0606030504020204" pitchFamily="34" charset="0"/>
                <a:cs typeface="Open Sans" panose="020B0606030504020204" pitchFamily="34" charset="0"/>
              </a:rPr>
              <a:t>Snyk</a:t>
            </a:r>
            <a:r>
              <a:rPr lang="en-US" sz="3600" dirty="0">
                <a:latin typeface="Open Sans" panose="020B0606030504020204" pitchFamily="34" charset="0"/>
                <a:ea typeface="Open Sans" panose="020B0606030504020204" pitchFamily="34" charset="0"/>
                <a:cs typeface="Open Sans" panose="020B0606030504020204" pitchFamily="34" charset="0"/>
              </a:rPr>
              <a:t> Code), SonarQube</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Predictive Analytics for Project Timelines</a:t>
            </a:r>
            <a:r>
              <a:rPr lang="en-US" sz="3600" dirty="0">
                <a:latin typeface="Open Sans" panose="020B0606030504020204" pitchFamily="34" charset="0"/>
                <a:ea typeface="Open Sans" panose="020B0606030504020204" pitchFamily="34" charset="0"/>
                <a:cs typeface="Open Sans" panose="020B0606030504020204" pitchFamily="34" charset="0"/>
              </a:rPr>
              <a:t>. Examples: Microsoft Project with AI Integration, Atlassian’s Jira with Predictive Analytics Plugins</a:t>
            </a:r>
          </a:p>
        </p:txBody>
      </p:sp>
    </p:spTree>
    <p:extLst>
      <p:ext uri="{BB962C8B-B14F-4D97-AF65-F5344CB8AC3E}">
        <p14:creationId xmlns:p14="http://schemas.microsoft.com/office/powerpoint/2010/main" val="58429309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US" dirty="0"/>
              <a:t>Artificial intelligence (AI) and Machine Learning (ML) in software Development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Tools and Frameworks for AI/ML in Software Development</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TensorFlow</a:t>
            </a:r>
            <a:r>
              <a:rPr lang="en-US" sz="3600" dirty="0">
                <a:latin typeface="Open Sans" panose="020B0606030504020204" pitchFamily="34" charset="0"/>
                <a:ea typeface="Open Sans" panose="020B0606030504020204" pitchFamily="34" charset="0"/>
                <a:cs typeface="Open Sans" panose="020B0606030504020204" pitchFamily="34" charset="0"/>
              </a:rPr>
              <a:t>: TensorFlow is an open-source machine learning framework developed by Google. It provides a comprehensive ecosystem for building and deploying ML models, supporting both research and production environments. TensorFlow is known for its flexibility, scalability, and extensive community support.</a:t>
            </a:r>
          </a:p>
          <a:p>
            <a:pPr algn="just">
              <a:spcBef>
                <a:spcPts val="1800"/>
              </a:spcBef>
            </a:pPr>
            <a:r>
              <a:rPr lang="en-US" sz="3600" b="1" dirty="0" err="1">
                <a:latin typeface="Open Sans" panose="020B0606030504020204" pitchFamily="34" charset="0"/>
                <a:ea typeface="Open Sans" panose="020B0606030504020204" pitchFamily="34" charset="0"/>
                <a:cs typeface="Open Sans" panose="020B0606030504020204" pitchFamily="34" charset="0"/>
              </a:rPr>
              <a:t>PyTorch</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dirty="0" err="1">
                <a:latin typeface="Open Sans" panose="020B0606030504020204" pitchFamily="34" charset="0"/>
                <a:ea typeface="Open Sans" panose="020B0606030504020204" pitchFamily="34" charset="0"/>
                <a:cs typeface="Open Sans" panose="020B0606030504020204" pitchFamily="34" charset="0"/>
              </a:rPr>
              <a:t>PyTorch</a:t>
            </a:r>
            <a:r>
              <a:rPr lang="en-US" sz="3600" dirty="0">
                <a:latin typeface="Open Sans" panose="020B0606030504020204" pitchFamily="34" charset="0"/>
                <a:ea typeface="Open Sans" panose="020B0606030504020204" pitchFamily="34" charset="0"/>
                <a:cs typeface="Open Sans" panose="020B0606030504020204" pitchFamily="34" charset="0"/>
              </a:rPr>
              <a:t> is an open-source ML framework developed by Facebook's AI Research lab. It emphasizes flexibility and ease of use, making it a favorite among researchers and developers for prototyping and deploying deep learning models. </a:t>
            </a:r>
            <a:r>
              <a:rPr lang="en-US" sz="3600" dirty="0" err="1">
                <a:latin typeface="Open Sans" panose="020B0606030504020204" pitchFamily="34" charset="0"/>
                <a:ea typeface="Open Sans" panose="020B0606030504020204" pitchFamily="34" charset="0"/>
                <a:cs typeface="Open Sans" panose="020B0606030504020204" pitchFamily="34" charset="0"/>
              </a:rPr>
              <a:t>PyTorch</a:t>
            </a:r>
            <a:r>
              <a:rPr lang="en-US" sz="3600" dirty="0">
                <a:latin typeface="Open Sans" panose="020B0606030504020204" pitchFamily="34" charset="0"/>
                <a:ea typeface="Open Sans" panose="020B0606030504020204" pitchFamily="34" charset="0"/>
                <a:cs typeface="Open Sans" panose="020B0606030504020204" pitchFamily="34" charset="0"/>
              </a:rPr>
              <a:t> supports dynamic computation graphs, which allows for more intuitive model development.</a:t>
            </a:r>
          </a:p>
        </p:txBody>
      </p:sp>
    </p:spTree>
    <p:extLst>
      <p:ext uri="{BB962C8B-B14F-4D97-AF65-F5344CB8AC3E}">
        <p14:creationId xmlns:p14="http://schemas.microsoft.com/office/powerpoint/2010/main" val="1623629940"/>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ID" dirty="0"/>
              <a:t>Blockchain Technology and Its Applications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Introduction to Blockchain Technology</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Blockchain technology has emerged as a transformative force in various industries, offering decentralized and secure methods for recording transactions and managing data</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Originally conceptualized as the underlying technology for cryptocurrencies like Bitcoin, blockchain has found applications beyond digital currencies, including supply chain management, healthcare, finance, and more.</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Concepts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 blockchain is a distributed ledger technology that records transactions across multiple computers so that the record cannot be altered retroactively without the alteration of all subsequent blocks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Components</a:t>
            </a:r>
            <a:r>
              <a:rPr lang="en-US" sz="3600" dirty="0">
                <a:latin typeface="Open Sans" panose="020B0606030504020204" pitchFamily="34" charset="0"/>
                <a:ea typeface="Open Sans" panose="020B0606030504020204" pitchFamily="34" charset="0"/>
                <a:cs typeface="Open Sans" panose="020B0606030504020204" pitchFamily="34" charset="0"/>
              </a:rPr>
              <a:t>: Blocks, chains, nodes, consensus mechanisms, cryptographic hashing</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 Enhanced security, transparency, reduced fraud, decentralization, and increased efficiency</a:t>
            </a:r>
          </a:p>
        </p:txBody>
      </p:sp>
    </p:spTree>
    <p:extLst>
      <p:ext uri="{BB962C8B-B14F-4D97-AF65-F5344CB8AC3E}">
        <p14:creationId xmlns:p14="http://schemas.microsoft.com/office/powerpoint/2010/main" val="407689009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ID" dirty="0"/>
              <a:t>Blockchain Technology and Its Applications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Principles of Blockchain: Decentralization</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Decentralization refers to the distribution of authority, control, and data across a network rather than being held by a single central entity. In a decentralized blockchain network, multiple nodes (computers) participate in validating and recording transactions, ensuring no single point of failure or control.</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Features: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Distributed Ledger: </a:t>
            </a:r>
            <a:r>
              <a:rPr lang="en-US" sz="3600" dirty="0">
                <a:latin typeface="Open Sans" panose="020B0606030504020204" pitchFamily="34" charset="0"/>
                <a:ea typeface="Open Sans" panose="020B0606030504020204" pitchFamily="34" charset="0"/>
                <a:cs typeface="Open Sans" panose="020B0606030504020204" pitchFamily="34" charset="0"/>
              </a:rPr>
              <a:t>Each node maintains a copy of the entire blockchain, promoting redundancy and resilience.</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Peer-to-Peer Network: </a:t>
            </a:r>
            <a:r>
              <a:rPr lang="en-US" sz="3600" dirty="0">
                <a:latin typeface="Open Sans" panose="020B0606030504020204" pitchFamily="34" charset="0"/>
                <a:ea typeface="Open Sans" panose="020B0606030504020204" pitchFamily="34" charset="0"/>
                <a:cs typeface="Open Sans" panose="020B0606030504020204" pitchFamily="34" charset="0"/>
              </a:rPr>
              <a:t>Direct interactions between nodes without intermediaries.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Consensus Mechanisms: </a:t>
            </a:r>
            <a:r>
              <a:rPr lang="en-US" sz="3600" dirty="0">
                <a:latin typeface="Open Sans" panose="020B0606030504020204" pitchFamily="34" charset="0"/>
                <a:ea typeface="Open Sans" panose="020B0606030504020204" pitchFamily="34" charset="0"/>
                <a:cs typeface="Open Sans" panose="020B0606030504020204" pitchFamily="34" charset="0"/>
              </a:rPr>
              <a:t>Protocols like Proof of Work (</a:t>
            </a:r>
            <a:r>
              <a:rPr lang="en-US" sz="3600" dirty="0" err="1">
                <a:latin typeface="Open Sans" panose="020B0606030504020204" pitchFamily="34" charset="0"/>
                <a:ea typeface="Open Sans" panose="020B0606030504020204" pitchFamily="34" charset="0"/>
                <a:cs typeface="Open Sans" panose="020B0606030504020204" pitchFamily="34" charset="0"/>
              </a:rPr>
              <a:t>PoW</a:t>
            </a:r>
            <a:r>
              <a:rPr lang="en-US" sz="3600" dirty="0">
                <a:latin typeface="Open Sans" panose="020B0606030504020204" pitchFamily="34" charset="0"/>
                <a:ea typeface="Open Sans" panose="020B0606030504020204" pitchFamily="34" charset="0"/>
                <a:cs typeface="Open Sans" panose="020B0606030504020204" pitchFamily="34" charset="0"/>
              </a:rPr>
              <a:t>) or Proof of Stake (</a:t>
            </a:r>
            <a:r>
              <a:rPr lang="en-US" sz="3600" dirty="0" err="1">
                <a:latin typeface="Open Sans" panose="020B0606030504020204" pitchFamily="34" charset="0"/>
                <a:ea typeface="Open Sans" panose="020B0606030504020204" pitchFamily="34" charset="0"/>
                <a:cs typeface="Open Sans" panose="020B0606030504020204" pitchFamily="34" charset="0"/>
              </a:rPr>
              <a:t>PoS</a:t>
            </a:r>
            <a:r>
              <a:rPr lang="en-US" sz="3600" dirty="0">
                <a:latin typeface="Open Sans" panose="020B0606030504020204" pitchFamily="34" charset="0"/>
                <a:ea typeface="Open Sans" panose="020B0606030504020204" pitchFamily="34" charset="0"/>
                <a:cs typeface="Open Sans" panose="020B0606030504020204" pitchFamily="34" charset="0"/>
              </a:rPr>
              <a:t>) ensure agreement on the state of the blockchain.</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Resilience</a:t>
            </a:r>
            <a:r>
              <a:rPr lang="en-US" sz="3600" dirty="0">
                <a:latin typeface="Open Sans" panose="020B0606030504020204" pitchFamily="34" charset="0"/>
                <a:ea typeface="Open Sans" panose="020B0606030504020204" pitchFamily="34" charset="0"/>
                <a:cs typeface="Open Sans" panose="020B0606030504020204" pitchFamily="34" charset="0"/>
              </a:rPr>
              <a:t>: Reduced vulnerability to attacks or failures affecting the entire network.</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Transparency</a:t>
            </a:r>
            <a:r>
              <a:rPr lang="en-US" sz="3600" dirty="0">
                <a:latin typeface="Open Sans" panose="020B0606030504020204" pitchFamily="34" charset="0"/>
                <a:ea typeface="Open Sans" panose="020B0606030504020204" pitchFamily="34" charset="0"/>
                <a:cs typeface="Open Sans" panose="020B0606030504020204" pitchFamily="34" charset="0"/>
              </a:rPr>
              <a:t>: All participants can access and verify the data independently.</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Trust</a:t>
            </a:r>
            <a:r>
              <a:rPr lang="en-US" sz="3600" dirty="0">
                <a:latin typeface="Open Sans" panose="020B0606030504020204" pitchFamily="34" charset="0"/>
                <a:ea typeface="Open Sans" panose="020B0606030504020204" pitchFamily="34" charset="0"/>
                <a:cs typeface="Open Sans" panose="020B0606030504020204" pitchFamily="34" charset="0"/>
              </a:rPr>
              <a:t>: Eliminates the need for a central authority, fostering trust through consensus.</a:t>
            </a:r>
          </a:p>
        </p:txBody>
      </p:sp>
    </p:spTree>
    <p:extLst>
      <p:ext uri="{BB962C8B-B14F-4D97-AF65-F5344CB8AC3E}">
        <p14:creationId xmlns:p14="http://schemas.microsoft.com/office/powerpoint/2010/main" val="109849546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ID" dirty="0"/>
              <a:t>Blockchain Technology and Its Applications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Principles of Blockchain: Immutability</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Immutability ensures that once data is recorded on the blockchain, it cannot be altered or deleted. This property is achieved through cryptographic hashing and the chaining of blocks, where each block references the previous one, creating a secure and tamper-evident ledger.</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Features: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Cryptographic Hashing</a:t>
            </a:r>
            <a:r>
              <a:rPr lang="en-US" sz="3600" dirty="0">
                <a:latin typeface="Open Sans" panose="020B0606030504020204" pitchFamily="34" charset="0"/>
                <a:ea typeface="Open Sans" panose="020B0606030504020204" pitchFamily="34" charset="0"/>
                <a:cs typeface="Open Sans" panose="020B0606030504020204" pitchFamily="34" charset="0"/>
              </a:rPr>
              <a:t>: Each block contains a hash of the previous block, linking them securely.</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Consensus Validation</a:t>
            </a:r>
            <a:r>
              <a:rPr lang="en-US" sz="3600" dirty="0">
                <a:latin typeface="Open Sans" panose="020B0606030504020204" pitchFamily="34" charset="0"/>
                <a:ea typeface="Open Sans" panose="020B0606030504020204" pitchFamily="34" charset="0"/>
                <a:cs typeface="Open Sans" panose="020B0606030504020204" pitchFamily="34" charset="0"/>
              </a:rPr>
              <a:t>: Altering any block would require redoing the consensus process for all subsequent blocks, which is computationally infeasible.</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Permanent Record</a:t>
            </a:r>
            <a:r>
              <a:rPr lang="en-US" sz="3600" dirty="0">
                <a:latin typeface="Open Sans" panose="020B0606030504020204" pitchFamily="34" charset="0"/>
                <a:ea typeface="Open Sans" panose="020B0606030504020204" pitchFamily="34" charset="0"/>
                <a:cs typeface="Open Sans" panose="020B0606030504020204" pitchFamily="34" charset="0"/>
              </a:rPr>
              <a:t>: Provides a reliable and unchangeable history of transactions.</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Data Integrity</a:t>
            </a:r>
            <a:r>
              <a:rPr lang="en-US" sz="3600" dirty="0">
                <a:latin typeface="Open Sans" panose="020B0606030504020204" pitchFamily="34" charset="0"/>
                <a:ea typeface="Open Sans" panose="020B0606030504020204" pitchFamily="34" charset="0"/>
                <a:cs typeface="Open Sans" panose="020B0606030504020204" pitchFamily="34" charset="0"/>
              </a:rPr>
              <a:t>: Guarantees that the recorded data remains accurate and unaltered.</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Accountability</a:t>
            </a:r>
            <a:r>
              <a:rPr lang="en-US" sz="3600" dirty="0">
                <a:latin typeface="Open Sans" panose="020B0606030504020204" pitchFamily="34" charset="0"/>
                <a:ea typeface="Open Sans" panose="020B0606030504020204" pitchFamily="34" charset="0"/>
                <a:cs typeface="Open Sans" panose="020B0606030504020204" pitchFamily="34" charset="0"/>
              </a:rPr>
              <a:t>: Enhances traceability and accountability by maintaining a verifiable history.</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Security</a:t>
            </a:r>
            <a:r>
              <a:rPr lang="en-US" sz="3600" dirty="0">
                <a:latin typeface="Open Sans" panose="020B0606030504020204" pitchFamily="34" charset="0"/>
                <a:ea typeface="Open Sans" panose="020B0606030504020204" pitchFamily="34" charset="0"/>
                <a:cs typeface="Open Sans" panose="020B0606030504020204" pitchFamily="34" charset="0"/>
              </a:rPr>
              <a:t>: Protects against unauthorized modifications and fraudulent activities.</a:t>
            </a:r>
          </a:p>
        </p:txBody>
      </p:sp>
    </p:spTree>
    <p:extLst>
      <p:ext uri="{BB962C8B-B14F-4D97-AF65-F5344CB8AC3E}">
        <p14:creationId xmlns:p14="http://schemas.microsoft.com/office/powerpoint/2010/main" val="211183565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ID" dirty="0"/>
              <a:t>Blockchain Technology and Its Applications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Principles of Blockchain: Transparency</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Transparency in blockchain refers to the visibility of transactions and data to all participants within the network. While blockchain ensures that data is accessible, it also maintains privacy through pseudonymous or anonymous identities, depending on the blockchain implementation.</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Features: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Public Ledger</a:t>
            </a:r>
            <a:r>
              <a:rPr lang="en-US" sz="3600" dirty="0">
                <a:latin typeface="Open Sans" panose="020B0606030504020204" pitchFamily="34" charset="0"/>
                <a:ea typeface="Open Sans" panose="020B0606030504020204" pitchFamily="34" charset="0"/>
                <a:cs typeface="Open Sans" panose="020B0606030504020204" pitchFamily="34" charset="0"/>
              </a:rPr>
              <a:t>: All transactions are recorded on a public ledger accessible to network participants.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Auditability</a:t>
            </a:r>
            <a:r>
              <a:rPr lang="en-US" sz="3600" dirty="0">
                <a:latin typeface="Open Sans" panose="020B0606030504020204" pitchFamily="34" charset="0"/>
                <a:ea typeface="Open Sans" panose="020B0606030504020204" pitchFamily="34" charset="0"/>
                <a:cs typeface="Open Sans" panose="020B0606030504020204" pitchFamily="34" charset="0"/>
              </a:rPr>
              <a:t>: Participants can independently verify and audit transactions.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Consensus Visibility</a:t>
            </a:r>
            <a:r>
              <a:rPr lang="en-US" sz="3600" dirty="0">
                <a:latin typeface="Open Sans" panose="020B0606030504020204" pitchFamily="34" charset="0"/>
                <a:ea typeface="Open Sans" panose="020B0606030504020204" pitchFamily="34" charset="0"/>
                <a:cs typeface="Open Sans" panose="020B0606030504020204" pitchFamily="34" charset="0"/>
              </a:rPr>
              <a:t>: The process of reaching consensus is open and transparent to all nodes.</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Trust Building</a:t>
            </a:r>
            <a:r>
              <a:rPr lang="en-US" sz="3600" dirty="0">
                <a:latin typeface="Open Sans" panose="020B0606030504020204" pitchFamily="34" charset="0"/>
                <a:ea typeface="Open Sans" panose="020B0606030504020204" pitchFamily="34" charset="0"/>
                <a:cs typeface="Open Sans" panose="020B0606030504020204" pitchFamily="34" charset="0"/>
              </a:rPr>
              <a:t>: Enhances trust among participants by providing visibility into transactions.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Reduced Fraud</a:t>
            </a:r>
            <a:r>
              <a:rPr lang="en-US" sz="3600" dirty="0">
                <a:latin typeface="Open Sans" panose="020B0606030504020204" pitchFamily="34" charset="0"/>
                <a:ea typeface="Open Sans" panose="020B0606030504020204" pitchFamily="34" charset="0"/>
                <a:cs typeface="Open Sans" panose="020B0606030504020204" pitchFamily="34" charset="0"/>
              </a:rPr>
              <a:t>: Makes fraudulent activities more detectable and preventable.</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Enhanced Collaboration</a:t>
            </a:r>
            <a:r>
              <a:rPr lang="en-US" sz="3600" dirty="0">
                <a:latin typeface="Open Sans" panose="020B0606030504020204" pitchFamily="34" charset="0"/>
                <a:ea typeface="Open Sans" panose="020B0606030504020204" pitchFamily="34" charset="0"/>
                <a:cs typeface="Open Sans" panose="020B0606030504020204" pitchFamily="34" charset="0"/>
              </a:rPr>
              <a:t>: Facilitates collaboration by providing a shared and transparent data source.</a:t>
            </a:r>
          </a:p>
        </p:txBody>
      </p:sp>
    </p:spTree>
    <p:extLst>
      <p:ext uri="{BB962C8B-B14F-4D97-AF65-F5344CB8AC3E}">
        <p14:creationId xmlns:p14="http://schemas.microsoft.com/office/powerpoint/2010/main" val="3949467935"/>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ID" dirty="0"/>
              <a:t>Blockchain Technology and Its Applications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Use cases of blockchain technology</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Smart Contracts: </a:t>
            </a:r>
            <a:r>
              <a:rPr lang="en-US" sz="3600" dirty="0">
                <a:latin typeface="Open Sans" panose="020B0606030504020204" pitchFamily="34" charset="0"/>
                <a:ea typeface="Open Sans" panose="020B0606030504020204" pitchFamily="34" charset="0"/>
                <a:cs typeface="Open Sans" panose="020B0606030504020204" pitchFamily="34" charset="0"/>
              </a:rPr>
              <a:t>Smart contracts are self-executing contracts with the terms of the agreement directly written into code. They automatically enforce and execute the terms when predefined conditions are met, eliminating the need for intermediaries. </a:t>
            </a:r>
            <a:r>
              <a:rPr lang="en-US" sz="3600" b="1" dirty="0">
                <a:latin typeface="Open Sans" panose="020B0606030504020204" pitchFamily="34" charset="0"/>
                <a:ea typeface="Open Sans" panose="020B0606030504020204" pitchFamily="34" charset="0"/>
                <a:cs typeface="Open Sans" panose="020B0606030504020204" pitchFamily="34" charset="0"/>
              </a:rPr>
              <a:t>Examples</a:t>
            </a:r>
            <a:r>
              <a:rPr lang="en-US" sz="3600" dirty="0">
                <a:latin typeface="Open Sans" panose="020B0606030504020204" pitchFamily="34" charset="0"/>
                <a:ea typeface="Open Sans" panose="020B0606030504020204" pitchFamily="34" charset="0"/>
                <a:cs typeface="Open Sans" panose="020B0606030504020204" pitchFamily="34" charset="0"/>
              </a:rPr>
              <a:t>: Ethereum, Hyperledger Fabric</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Decentralized Applications (</a:t>
            </a:r>
            <a:r>
              <a:rPr lang="en-US" sz="3600" b="1" dirty="0" err="1">
                <a:latin typeface="Open Sans" panose="020B0606030504020204" pitchFamily="34" charset="0"/>
                <a:ea typeface="Open Sans" panose="020B0606030504020204" pitchFamily="34" charset="0"/>
                <a:cs typeface="Open Sans" panose="020B0606030504020204" pitchFamily="34" charset="0"/>
              </a:rPr>
              <a:t>dApps</a:t>
            </a:r>
            <a:r>
              <a:rPr lang="en-US" sz="3600" b="1" dirty="0">
                <a:latin typeface="Open Sans" panose="020B0606030504020204" pitchFamily="34" charset="0"/>
                <a:ea typeface="Open Sans" panose="020B0606030504020204" pitchFamily="34" charset="0"/>
                <a:cs typeface="Open Sans" panose="020B0606030504020204" pitchFamily="34" charset="0"/>
              </a:rPr>
              <a:t>): </a:t>
            </a:r>
            <a:r>
              <a:rPr lang="en-US" sz="3600" dirty="0">
                <a:latin typeface="Open Sans" panose="020B0606030504020204" pitchFamily="34" charset="0"/>
                <a:ea typeface="Open Sans" panose="020B0606030504020204" pitchFamily="34" charset="0"/>
                <a:cs typeface="Open Sans" panose="020B0606030504020204" pitchFamily="34" charset="0"/>
              </a:rPr>
              <a:t>Decentralized Applications (</a:t>
            </a:r>
            <a:r>
              <a:rPr lang="en-US" sz="3600" dirty="0" err="1">
                <a:latin typeface="Open Sans" panose="020B0606030504020204" pitchFamily="34" charset="0"/>
                <a:ea typeface="Open Sans" panose="020B0606030504020204" pitchFamily="34" charset="0"/>
                <a:cs typeface="Open Sans" panose="020B0606030504020204" pitchFamily="34" charset="0"/>
              </a:rPr>
              <a:t>dApps</a:t>
            </a:r>
            <a:r>
              <a:rPr lang="en-US" sz="3600" dirty="0">
                <a:latin typeface="Open Sans" panose="020B0606030504020204" pitchFamily="34" charset="0"/>
                <a:ea typeface="Open Sans" panose="020B0606030504020204" pitchFamily="34" charset="0"/>
                <a:cs typeface="Open Sans" panose="020B0606030504020204" pitchFamily="34" charset="0"/>
              </a:rPr>
              <a:t>) are applications that run on a blockchain network rather than a centralized server. They leverage smart contracts to provide backend services and ensure decentralization, transparency, and security. </a:t>
            </a:r>
            <a:r>
              <a:rPr lang="en-US" sz="3600" b="1" dirty="0">
                <a:latin typeface="Open Sans" panose="020B0606030504020204" pitchFamily="34" charset="0"/>
                <a:ea typeface="Open Sans" panose="020B0606030504020204" pitchFamily="34" charset="0"/>
                <a:cs typeface="Open Sans" panose="020B0606030504020204" pitchFamily="34" charset="0"/>
              </a:rPr>
              <a:t>Examples</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dirty="0" err="1">
                <a:latin typeface="Open Sans" panose="020B0606030504020204" pitchFamily="34" charset="0"/>
                <a:ea typeface="Open Sans" panose="020B0606030504020204" pitchFamily="34" charset="0"/>
                <a:cs typeface="Open Sans" panose="020B0606030504020204" pitchFamily="34" charset="0"/>
              </a:rPr>
              <a:t>Uniswap</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dirty="0" err="1">
                <a:latin typeface="Open Sans" panose="020B0606030504020204" pitchFamily="34" charset="0"/>
                <a:ea typeface="Open Sans" panose="020B0606030504020204" pitchFamily="34" charset="0"/>
                <a:cs typeface="Open Sans" panose="020B0606030504020204" pitchFamily="34" charset="0"/>
              </a:rPr>
              <a:t>CryptoKitties</a:t>
            </a: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98400666"/>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ID" dirty="0"/>
              <a:t>Quantum Computing Basics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Introduction to quantum computing</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Quantum Computing is an emerging field that leverages the principles of quantum mechanics to perform computations far more efficiently than classical computers for certain tasks. </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While still in its infancy, quantum computing promises to revolutionize various domains, including software engineering, cryptography, optimization, and the simulation of complex systems.</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Concepts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Quantum vs. Classical Computing</a:t>
            </a:r>
            <a:r>
              <a:rPr lang="en-US" sz="3600" dirty="0">
                <a:latin typeface="Open Sans" panose="020B0606030504020204" pitchFamily="34" charset="0"/>
                <a:ea typeface="Open Sans" panose="020B0606030504020204" pitchFamily="34" charset="0"/>
                <a:cs typeface="Open Sans" panose="020B0606030504020204" pitchFamily="34" charset="0"/>
              </a:rPr>
              <a:t>: Understanding the fundamental differences in computation paradigms.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Current State of Quantum Computing</a:t>
            </a:r>
            <a:r>
              <a:rPr lang="en-US" sz="3600" dirty="0">
                <a:latin typeface="Open Sans" panose="020B0606030504020204" pitchFamily="34" charset="0"/>
                <a:ea typeface="Open Sans" panose="020B0606030504020204" pitchFamily="34" charset="0"/>
                <a:cs typeface="Open Sans" panose="020B0606030504020204" pitchFamily="34" charset="0"/>
              </a:rPr>
              <a:t>: Overview of existing quantum computers and ongoing research.</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Relevance to Software Engineering</a:t>
            </a:r>
            <a:r>
              <a:rPr lang="en-US" sz="3600" dirty="0">
                <a:latin typeface="Open Sans" panose="020B0606030504020204" pitchFamily="34" charset="0"/>
                <a:ea typeface="Open Sans" panose="020B0606030504020204" pitchFamily="34" charset="0"/>
                <a:cs typeface="Open Sans" panose="020B0606030504020204" pitchFamily="34" charset="0"/>
              </a:rPr>
              <a:t>: How quantum computing intersects with software development and engineering practices.</a:t>
            </a:r>
          </a:p>
        </p:txBody>
      </p:sp>
    </p:spTree>
    <p:extLst>
      <p:ext uri="{BB962C8B-B14F-4D97-AF65-F5344CB8AC3E}">
        <p14:creationId xmlns:p14="http://schemas.microsoft.com/office/powerpoint/2010/main" val="328752919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ID" dirty="0"/>
              <a:t>Quantum Computing Basics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Quantum mechanics principles: Qubits</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A qubit (quantum bit) is the fundamental unit of quantum information, analogous to the classical bit but with unique properties that enable quantum computation.</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Features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Binary States</a:t>
            </a:r>
            <a:r>
              <a:rPr lang="en-US" sz="3600" dirty="0">
                <a:latin typeface="Open Sans" panose="020B0606030504020204" pitchFamily="34" charset="0"/>
                <a:ea typeface="Open Sans" panose="020B0606030504020204" pitchFamily="34" charset="0"/>
                <a:cs typeface="Open Sans" panose="020B0606030504020204" pitchFamily="34" charset="0"/>
              </a:rPr>
              <a:t>: Like classical bits, qubits can represent 0 or 1.</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Quantum States</a:t>
            </a:r>
            <a:r>
              <a:rPr lang="en-US" sz="3600" dirty="0">
                <a:latin typeface="Open Sans" panose="020B0606030504020204" pitchFamily="34" charset="0"/>
                <a:ea typeface="Open Sans" panose="020B0606030504020204" pitchFamily="34" charset="0"/>
                <a:cs typeface="Open Sans" panose="020B0606030504020204" pitchFamily="34" charset="0"/>
              </a:rPr>
              <a:t>: Qubits can exist in a combination of states simultaneously due to superposition.</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Mathematical Representation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A qubit state can be represented as |</a:t>
            </a:r>
            <a:r>
              <a:rPr lang="el-GR" sz="3600" dirty="0">
                <a:latin typeface="Open Sans" panose="020B0606030504020204" pitchFamily="34" charset="0"/>
                <a:ea typeface="Open Sans" panose="020B0606030504020204" pitchFamily="34" charset="0"/>
                <a:cs typeface="Open Sans" panose="020B0606030504020204" pitchFamily="34" charset="0"/>
              </a:rPr>
              <a:t>ψ⟩ = α|0⟩ + β|1⟩, </a:t>
            </a:r>
            <a:r>
              <a:rPr lang="en-US" sz="3600" dirty="0">
                <a:latin typeface="Open Sans" panose="020B0606030504020204" pitchFamily="34" charset="0"/>
                <a:ea typeface="Open Sans" panose="020B0606030504020204" pitchFamily="34" charset="0"/>
                <a:cs typeface="Open Sans" panose="020B0606030504020204" pitchFamily="34" charset="0"/>
              </a:rPr>
              <a:t>where </a:t>
            </a:r>
            <a:r>
              <a:rPr lang="el-GR" sz="3600" dirty="0">
                <a:latin typeface="Open Sans" panose="020B0606030504020204" pitchFamily="34" charset="0"/>
                <a:ea typeface="Open Sans" panose="020B0606030504020204" pitchFamily="34" charset="0"/>
                <a:cs typeface="Open Sans" panose="020B0606030504020204" pitchFamily="34" charset="0"/>
              </a:rPr>
              <a:t>α </a:t>
            </a:r>
            <a:r>
              <a:rPr lang="en-US" sz="3600" dirty="0">
                <a:latin typeface="Open Sans" panose="020B0606030504020204" pitchFamily="34" charset="0"/>
                <a:ea typeface="Open Sans" panose="020B0606030504020204" pitchFamily="34" charset="0"/>
                <a:cs typeface="Open Sans" panose="020B0606030504020204" pitchFamily="34" charset="0"/>
              </a:rPr>
              <a:t>and </a:t>
            </a:r>
            <a:r>
              <a:rPr lang="el-GR" sz="3600" dirty="0">
                <a:latin typeface="Open Sans" panose="020B0606030504020204" pitchFamily="34" charset="0"/>
                <a:ea typeface="Open Sans" panose="020B0606030504020204" pitchFamily="34" charset="0"/>
                <a:cs typeface="Open Sans" panose="020B0606030504020204" pitchFamily="34" charset="0"/>
              </a:rPr>
              <a:t>β </a:t>
            </a:r>
            <a:r>
              <a:rPr lang="en-US" sz="3600" dirty="0">
                <a:latin typeface="Open Sans" panose="020B0606030504020204" pitchFamily="34" charset="0"/>
                <a:ea typeface="Open Sans" panose="020B0606030504020204" pitchFamily="34" charset="0"/>
                <a:cs typeface="Open Sans" panose="020B0606030504020204" pitchFamily="34" charset="0"/>
              </a:rPr>
              <a:t>are complex numbers satisfying |</a:t>
            </a:r>
            <a:r>
              <a:rPr lang="el-GR" sz="3600" dirty="0">
                <a:latin typeface="Open Sans" panose="020B0606030504020204" pitchFamily="34" charset="0"/>
                <a:ea typeface="Open Sans" panose="020B0606030504020204" pitchFamily="34" charset="0"/>
                <a:cs typeface="Open Sans" panose="020B0606030504020204" pitchFamily="34" charset="0"/>
              </a:rPr>
              <a:t>α|² + |β|² = 1.</a:t>
            </a: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311072190"/>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ID" dirty="0"/>
              <a:t>Quantum Computing Basics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Quantum mechanics principles: Superposition</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Superposition is a fundamental principle of quantum mechanics where a quantum system can exist in multiple states simultaneously until it is measured.</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Features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Multiple States: </a:t>
            </a:r>
            <a:r>
              <a:rPr lang="en-US" sz="3600" dirty="0">
                <a:latin typeface="Open Sans" panose="020B0606030504020204" pitchFamily="34" charset="0"/>
                <a:ea typeface="Open Sans" panose="020B0606030504020204" pitchFamily="34" charset="0"/>
                <a:cs typeface="Open Sans" panose="020B0606030504020204" pitchFamily="34" charset="0"/>
              </a:rPr>
              <a:t>A qubit can be in a linear combination of |0⟩ and |1⟩ states.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Probability Amplitudes</a:t>
            </a:r>
            <a:r>
              <a:rPr lang="en-US" sz="3600" dirty="0">
                <a:latin typeface="Open Sans" panose="020B0606030504020204" pitchFamily="34" charset="0"/>
                <a:ea typeface="Open Sans" panose="020B0606030504020204" pitchFamily="34" charset="0"/>
                <a:cs typeface="Open Sans" panose="020B0606030504020204" pitchFamily="34" charset="0"/>
              </a:rPr>
              <a:t>: The coefficients (</a:t>
            </a:r>
            <a:r>
              <a:rPr lang="el-GR" sz="3600" dirty="0">
                <a:latin typeface="Open Sans" panose="020B0606030504020204" pitchFamily="34" charset="0"/>
                <a:ea typeface="Open Sans" panose="020B0606030504020204" pitchFamily="34" charset="0"/>
                <a:cs typeface="Open Sans" panose="020B0606030504020204" pitchFamily="34" charset="0"/>
              </a:rPr>
              <a:t>α </a:t>
            </a:r>
            <a:r>
              <a:rPr lang="en-US" sz="3600" dirty="0">
                <a:latin typeface="Open Sans" panose="020B0606030504020204" pitchFamily="34" charset="0"/>
                <a:ea typeface="Open Sans" panose="020B0606030504020204" pitchFamily="34" charset="0"/>
                <a:cs typeface="Open Sans" panose="020B0606030504020204" pitchFamily="34" charset="0"/>
              </a:rPr>
              <a:t>and </a:t>
            </a:r>
            <a:r>
              <a:rPr lang="el-GR" sz="3600" dirty="0">
                <a:latin typeface="Open Sans" panose="020B0606030504020204" pitchFamily="34" charset="0"/>
                <a:ea typeface="Open Sans" panose="020B0606030504020204" pitchFamily="34" charset="0"/>
                <a:cs typeface="Open Sans" panose="020B0606030504020204" pitchFamily="34" charset="0"/>
              </a:rPr>
              <a:t>β) </a:t>
            </a:r>
            <a:r>
              <a:rPr lang="en-US" sz="3600" dirty="0">
                <a:latin typeface="Open Sans" panose="020B0606030504020204" pitchFamily="34" charset="0"/>
                <a:ea typeface="Open Sans" panose="020B0606030504020204" pitchFamily="34" charset="0"/>
                <a:cs typeface="Open Sans" panose="020B0606030504020204" pitchFamily="34" charset="0"/>
              </a:rPr>
              <a:t>determine the probability of measuring each state.</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Visualization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The Bloch Sphere is a graphical representation of a qubit's state, illustrating superposition and phase relationships.</a:t>
            </a: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b="1" dirty="0">
              <a:latin typeface="Open Sans" panose="020B0606030504020204" pitchFamily="34" charset="0"/>
              <a:ea typeface="Open Sans" panose="020B0606030504020204" pitchFamily="34" charset="0"/>
              <a:cs typeface="Open Sans" panose="020B0606030504020204" pitchFamily="34" charset="0"/>
            </a:endParaRPr>
          </a:p>
        </p:txBody>
      </p:sp>
      <p:pic>
        <p:nvPicPr>
          <p:cNvPr id="3074" name="Picture 2">
            <a:extLst>
              <a:ext uri="{FF2B5EF4-FFF2-40B4-BE49-F238E27FC236}">
                <a16:creationId xmlns:a16="http://schemas.microsoft.com/office/drawing/2014/main" id="{5F685AC8-5B61-4451-5EE4-C81B4FE7D2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95486" y="10249966"/>
            <a:ext cx="3849914" cy="3503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2596330"/>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7" y="1872058"/>
            <a:ext cx="20300737" cy="547670"/>
          </a:xfrm>
        </p:spPr>
        <p:txBody>
          <a:bodyPr>
            <a:normAutofit fontScale="90000"/>
          </a:bodyPr>
          <a:lstStyle/>
          <a:p>
            <a:r>
              <a:rPr lang="en-ID" dirty="0"/>
              <a:t>Quantum Computing Basics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5010280" cy="803546"/>
          </a:xfrm>
        </p:spPr>
        <p:txBody>
          <a:bodyPr>
            <a:normAutofit/>
          </a:bodyPr>
          <a:lstStyle/>
          <a:p>
            <a:r>
              <a:rPr lang="en-ID" dirty="0"/>
              <a:t>Quantum mechanics principles: Entanglement</a:t>
            </a:r>
            <a:endParaRPr lang="en-ID" b="1"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2"/>
            <a:ext cx="19157738" cy="10455337"/>
          </a:xfrm>
        </p:spPr>
        <p:txBody>
          <a:bodyPr anchor="ctr">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Entanglement is a quantum phenomenon where two or more qubits become interconnected such that the state of one qubit instantly influences the state of the other, regardless of the distance separating them.</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Key Features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Non-Classical Correlations: </a:t>
            </a:r>
            <a:r>
              <a:rPr lang="en-US" sz="3600" dirty="0">
                <a:latin typeface="Open Sans" panose="020B0606030504020204" pitchFamily="34" charset="0"/>
                <a:ea typeface="Open Sans" panose="020B0606030504020204" pitchFamily="34" charset="0"/>
                <a:cs typeface="Open Sans" panose="020B0606030504020204" pitchFamily="34" charset="0"/>
              </a:rPr>
              <a:t>Entangled qubits exhibit correlations that cannot be explained by classical physics.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Quantum Information Sharing</a:t>
            </a:r>
            <a:r>
              <a:rPr lang="en-US" sz="3600" dirty="0">
                <a:latin typeface="Open Sans" panose="020B0606030504020204" pitchFamily="34" charset="0"/>
                <a:ea typeface="Open Sans" panose="020B0606030504020204" pitchFamily="34" charset="0"/>
                <a:cs typeface="Open Sans" panose="020B0606030504020204" pitchFamily="34" charset="0"/>
              </a:rPr>
              <a:t>: Entanglement is essential for quantum communication and certain quantum algorithms.</a:t>
            </a:r>
          </a:p>
          <a:p>
            <a:pPr marL="0" indent="0" algn="just">
              <a:spcBef>
                <a:spcPts val="1800"/>
              </a:spcBef>
              <a:buNone/>
            </a:pPr>
            <a:r>
              <a:rPr lang="en-US" sz="3600" b="1" dirty="0">
                <a:latin typeface="Open Sans" panose="020B0606030504020204" pitchFamily="34" charset="0"/>
                <a:ea typeface="Open Sans" panose="020B0606030504020204" pitchFamily="34" charset="0"/>
                <a:cs typeface="Open Sans" panose="020B0606030504020204" pitchFamily="34" charset="0"/>
              </a:rPr>
              <a:t>Example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Bell States are specific examples of maximally entangled two-qubit states, such as |</a:t>
            </a:r>
            <a:r>
              <a:rPr lang="el-GR" sz="3600" dirty="0">
                <a:latin typeface="Open Sans" panose="020B0606030504020204" pitchFamily="34" charset="0"/>
                <a:ea typeface="Open Sans" panose="020B0606030504020204" pitchFamily="34" charset="0"/>
                <a:cs typeface="Open Sans" panose="020B0606030504020204" pitchFamily="34" charset="0"/>
              </a:rPr>
              <a:t>Φ⁺⟩ = (|00⟩ + |11⟩)/√2.</a:t>
            </a: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b="1"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317406849"/>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summary</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80"/>
          </a:xfrm>
        </p:spPr>
        <p:txBody>
          <a:bodyPr anchor="t">
            <a:no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The trends that have an effect on software engineering technology often come from business, organizational, market, and cultural arenas</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These “soft trends” can guide the direction of research and the technology that is derived as a consequence of research</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It is likely that artificial intelligence and data science methods will continue to impact all aspects of software engineering</a:t>
            </a: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69095973"/>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a:xfrm>
            <a:off x="5486930" y="4337538"/>
            <a:ext cx="13714940" cy="6635262"/>
          </a:xfrm>
        </p:spPr>
        <p:txBody>
          <a:bodyPr>
            <a:noAutofit/>
          </a:bodyPr>
          <a:lstStyle/>
          <a:p>
            <a:pPr algn="just"/>
            <a:r>
              <a:rPr lang="id-ID" sz="3600" dirty="0">
                <a:latin typeface="Open Sans" panose="020B0606030504020204" pitchFamily="34" charset="0"/>
                <a:ea typeface="Open Sans" panose="020B0606030504020204" pitchFamily="34" charset="0"/>
                <a:cs typeface="Open Sans" panose="020B0606030504020204" pitchFamily="34" charset="0"/>
              </a:rPr>
              <a:t>Titus </a:t>
            </a:r>
            <a:r>
              <a:rPr lang="id-ID" sz="3600" dirty="0" err="1">
                <a:latin typeface="Open Sans" panose="020B0606030504020204" pitchFamily="34" charset="0"/>
                <a:ea typeface="Open Sans" panose="020B0606030504020204" pitchFamily="34" charset="0"/>
                <a:cs typeface="Open Sans" panose="020B0606030504020204" pitchFamily="34" charset="0"/>
              </a:rPr>
              <a:t>Winters</a:t>
            </a:r>
            <a:r>
              <a:rPr lang="id-ID" sz="3600" dirty="0">
                <a:latin typeface="Open Sans" panose="020B0606030504020204" pitchFamily="34" charset="0"/>
                <a:ea typeface="Open Sans" panose="020B0606030504020204" pitchFamily="34" charset="0"/>
                <a:cs typeface="Open Sans" panose="020B0606030504020204" pitchFamily="34" charset="0"/>
              </a:rPr>
              <a:t>, Tom </a:t>
            </a:r>
            <a:r>
              <a:rPr lang="id-ID" sz="3600" dirty="0" err="1">
                <a:latin typeface="Open Sans" panose="020B0606030504020204" pitchFamily="34" charset="0"/>
                <a:ea typeface="Open Sans" panose="020B0606030504020204" pitchFamily="34" charset="0"/>
                <a:cs typeface="Open Sans" panose="020B0606030504020204" pitchFamily="34" charset="0"/>
              </a:rPr>
              <a:t>Manshreck</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and</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Hyrum</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Wright</a:t>
            </a:r>
            <a:r>
              <a:rPr lang="id-ID" sz="3600" dirty="0">
                <a:latin typeface="Open Sans" panose="020B0606030504020204" pitchFamily="34" charset="0"/>
                <a:ea typeface="Open Sans" panose="020B0606030504020204" pitchFamily="34" charset="0"/>
                <a:cs typeface="Open Sans" panose="020B0606030504020204" pitchFamily="34" charset="0"/>
              </a:rPr>
              <a:t>. (2020). </a:t>
            </a:r>
            <a:r>
              <a:rPr lang="id-ID" sz="3600" b="1" i="1" dirty="0" err="1">
                <a:latin typeface="Open Sans" panose="020B0606030504020204" pitchFamily="34" charset="0"/>
                <a:ea typeface="Open Sans" panose="020B0606030504020204" pitchFamily="34" charset="0"/>
                <a:cs typeface="Open Sans" panose="020B0606030504020204" pitchFamily="34" charset="0"/>
              </a:rPr>
              <a:t>Software</a:t>
            </a:r>
            <a:r>
              <a:rPr lang="id-ID" sz="3600" b="1" i="1" dirty="0">
                <a:latin typeface="Open Sans" panose="020B0606030504020204" pitchFamily="34" charset="0"/>
                <a:ea typeface="Open Sans" panose="020B0606030504020204" pitchFamily="34" charset="0"/>
                <a:cs typeface="Open Sans" panose="020B0606030504020204" pitchFamily="34" charset="0"/>
              </a:rPr>
              <a:t> Engineering </a:t>
            </a:r>
            <a:r>
              <a:rPr lang="id-ID" sz="3600" b="1" i="1" dirty="0" err="1">
                <a:latin typeface="Open Sans" panose="020B0606030504020204" pitchFamily="34" charset="0"/>
                <a:ea typeface="Open Sans" panose="020B0606030504020204" pitchFamily="34" charset="0"/>
                <a:cs typeface="Open Sans" panose="020B0606030504020204" pitchFamily="34" charset="0"/>
              </a:rPr>
              <a:t>at</a:t>
            </a:r>
            <a:r>
              <a:rPr lang="id-ID" sz="3600" b="1" i="1" dirty="0">
                <a:latin typeface="Open Sans" panose="020B0606030504020204" pitchFamily="34" charset="0"/>
                <a:ea typeface="Open Sans" panose="020B0606030504020204" pitchFamily="34" charset="0"/>
                <a:cs typeface="Open Sans" panose="020B0606030504020204" pitchFamily="34" charset="0"/>
              </a:rPr>
              <a:t> Google: </a:t>
            </a:r>
            <a:r>
              <a:rPr lang="id-ID" sz="3600" b="1" i="1" dirty="0" err="1">
                <a:latin typeface="Open Sans" panose="020B0606030504020204" pitchFamily="34" charset="0"/>
                <a:ea typeface="Open Sans" panose="020B0606030504020204" pitchFamily="34" charset="0"/>
                <a:cs typeface="Open Sans" panose="020B0606030504020204" pitchFamily="34" charset="0"/>
              </a:rPr>
              <a:t>Lesson</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Learned</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from</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Programming</a:t>
            </a:r>
            <a:r>
              <a:rPr lang="id-ID" sz="3600" b="1" i="1" dirty="0">
                <a:latin typeface="Open Sans" panose="020B0606030504020204" pitchFamily="34" charset="0"/>
                <a:ea typeface="Open Sans" panose="020B0606030504020204" pitchFamily="34" charset="0"/>
                <a:cs typeface="Open Sans" panose="020B0606030504020204" pitchFamily="34" charset="0"/>
              </a:rPr>
              <a:t> Over </a:t>
            </a:r>
            <a:r>
              <a:rPr lang="id-ID" sz="3600" b="1" i="1" dirty="0" err="1">
                <a:latin typeface="Open Sans" panose="020B0606030504020204" pitchFamily="34" charset="0"/>
                <a:ea typeface="Open Sans" panose="020B0606030504020204" pitchFamily="34" charset="0"/>
                <a:cs typeface="Open Sans" panose="020B0606030504020204" pitchFamily="34" charset="0"/>
              </a:rPr>
              <a:t>Time</a:t>
            </a:r>
            <a:r>
              <a:rPr lang="id-ID" sz="3600" dirty="0">
                <a:latin typeface="Open Sans" panose="020B0606030504020204" pitchFamily="34" charset="0"/>
                <a:ea typeface="Open Sans" panose="020B0606030504020204" pitchFamily="34" charset="0"/>
                <a:cs typeface="Open Sans" panose="020B0606030504020204" pitchFamily="34" charset="0"/>
              </a:rPr>
              <a:t>. 1st. </a:t>
            </a:r>
            <a:r>
              <a:rPr lang="id-ID" sz="3600" dirty="0" err="1">
                <a:latin typeface="Open Sans" panose="020B0606030504020204" pitchFamily="34" charset="0"/>
                <a:ea typeface="Open Sans" panose="020B0606030504020204" pitchFamily="34" charset="0"/>
                <a:cs typeface="Open Sans" panose="020B0606030504020204" pitchFamily="34" charset="0"/>
              </a:rPr>
              <a:t>O’Reilly</a:t>
            </a:r>
            <a:r>
              <a:rPr lang="id-ID" sz="3600" dirty="0">
                <a:latin typeface="Open Sans" panose="020B0606030504020204" pitchFamily="34" charset="0"/>
                <a:ea typeface="Open Sans" panose="020B0606030504020204" pitchFamily="34" charset="0"/>
                <a:cs typeface="Open Sans" panose="020B0606030504020204" pitchFamily="34" charset="0"/>
              </a:rPr>
              <a:t> Media. California. ISBN: 978-1492082798.</a:t>
            </a:r>
          </a:p>
          <a:p>
            <a:pPr algn="just"/>
            <a:r>
              <a:rPr lang="id-ID" sz="3600" dirty="0">
                <a:latin typeface="Open Sans" panose="020B0606030504020204" pitchFamily="34" charset="0"/>
                <a:ea typeface="Open Sans" panose="020B0606030504020204" pitchFamily="34" charset="0"/>
                <a:cs typeface="Open Sans" panose="020B0606030504020204" pitchFamily="34" charset="0"/>
              </a:rPr>
              <a:t>Roger </a:t>
            </a:r>
            <a:r>
              <a:rPr lang="id-ID" sz="3600" dirty="0" err="1">
                <a:latin typeface="Open Sans" panose="020B0606030504020204" pitchFamily="34" charset="0"/>
                <a:ea typeface="Open Sans" panose="020B0606030504020204" pitchFamily="34" charset="0"/>
                <a:cs typeface="Open Sans" panose="020B0606030504020204" pitchFamily="34" charset="0"/>
              </a:rPr>
              <a:t>Pressman</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and</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Bruce</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Maxim</a:t>
            </a:r>
            <a:r>
              <a:rPr lang="id-ID" sz="3600" dirty="0">
                <a:latin typeface="Open Sans" panose="020B0606030504020204" pitchFamily="34" charset="0"/>
                <a:ea typeface="Open Sans" panose="020B0606030504020204" pitchFamily="34" charset="0"/>
                <a:cs typeface="Open Sans" panose="020B0606030504020204" pitchFamily="34" charset="0"/>
              </a:rPr>
              <a:t>. (2020). </a:t>
            </a:r>
            <a:r>
              <a:rPr lang="id-ID" sz="3600" b="1" i="1" dirty="0" err="1">
                <a:latin typeface="Open Sans" panose="020B0606030504020204" pitchFamily="34" charset="0"/>
                <a:ea typeface="Open Sans" panose="020B0606030504020204" pitchFamily="34" charset="0"/>
                <a:cs typeface="Open Sans" panose="020B0606030504020204" pitchFamily="34" charset="0"/>
              </a:rPr>
              <a:t>Software</a:t>
            </a:r>
            <a:r>
              <a:rPr lang="id-ID" sz="3600" b="1" i="1" dirty="0">
                <a:latin typeface="Open Sans" panose="020B0606030504020204" pitchFamily="34" charset="0"/>
                <a:ea typeface="Open Sans" panose="020B0606030504020204" pitchFamily="34" charset="0"/>
                <a:cs typeface="Open Sans" panose="020B0606030504020204" pitchFamily="34" charset="0"/>
              </a:rPr>
              <a:t> Engineering: A </a:t>
            </a:r>
            <a:r>
              <a:rPr lang="id-ID" sz="3600" b="1" i="1" dirty="0" err="1">
                <a:latin typeface="Open Sans" panose="020B0606030504020204" pitchFamily="34" charset="0"/>
                <a:ea typeface="Open Sans" panose="020B0606030504020204" pitchFamily="34" charset="0"/>
                <a:cs typeface="Open Sans" panose="020B0606030504020204" pitchFamily="34" charset="0"/>
              </a:rPr>
              <a:t>Practitioner's</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Approach</a:t>
            </a:r>
            <a:r>
              <a:rPr lang="id-ID" sz="3600" dirty="0">
                <a:latin typeface="Open Sans" panose="020B0606030504020204" pitchFamily="34" charset="0"/>
                <a:ea typeface="Open Sans" panose="020B0606030504020204" pitchFamily="34" charset="0"/>
                <a:cs typeface="Open Sans" panose="020B0606030504020204" pitchFamily="34" charset="0"/>
              </a:rPr>
              <a:t>. 9th. </a:t>
            </a:r>
            <a:r>
              <a:rPr lang="id-ID" sz="3600" dirty="0" err="1">
                <a:latin typeface="Open Sans" panose="020B0606030504020204" pitchFamily="34" charset="0"/>
                <a:ea typeface="Open Sans" panose="020B0606030504020204" pitchFamily="34" charset="0"/>
                <a:cs typeface="Open Sans" panose="020B0606030504020204" pitchFamily="34" charset="0"/>
              </a:rPr>
              <a:t>McGraw</a:t>
            </a:r>
            <a:r>
              <a:rPr lang="id-ID" sz="3600" dirty="0">
                <a:latin typeface="Open Sans" panose="020B0606030504020204" pitchFamily="34" charset="0"/>
                <a:ea typeface="Open Sans" panose="020B0606030504020204" pitchFamily="34" charset="0"/>
                <a:cs typeface="Open Sans" panose="020B0606030504020204" pitchFamily="34" charset="0"/>
              </a:rPr>
              <a:t> Hill. New </a:t>
            </a:r>
            <a:r>
              <a:rPr lang="id-ID" sz="3600" dirty="0" err="1">
                <a:latin typeface="Open Sans" panose="020B0606030504020204" pitchFamily="34" charset="0"/>
                <a:ea typeface="Open Sans" panose="020B0606030504020204" pitchFamily="34" charset="0"/>
                <a:cs typeface="Open Sans" panose="020B0606030504020204" pitchFamily="34" charset="0"/>
              </a:rPr>
              <a:t>York</a:t>
            </a:r>
            <a:r>
              <a:rPr lang="id-ID" sz="3600" dirty="0">
                <a:latin typeface="Open Sans" panose="020B0606030504020204" pitchFamily="34" charset="0"/>
                <a:ea typeface="Open Sans" panose="020B0606030504020204" pitchFamily="34" charset="0"/>
                <a:cs typeface="Open Sans" panose="020B0606030504020204" pitchFamily="34" charset="0"/>
              </a:rPr>
              <a:t>. ISBN: 978-1259872976.</a:t>
            </a:r>
          </a:p>
          <a:p>
            <a:pPr algn="just"/>
            <a:r>
              <a:rPr lang="id-ID" sz="3600" dirty="0">
                <a:latin typeface="Open Sans" panose="020B0606030504020204" pitchFamily="34" charset="0"/>
                <a:ea typeface="Open Sans" panose="020B0606030504020204" pitchFamily="34" charset="0"/>
                <a:cs typeface="Open Sans" panose="020B0606030504020204" pitchFamily="34" charset="0"/>
              </a:rPr>
              <a:t>Ian </a:t>
            </a:r>
            <a:r>
              <a:rPr lang="id-ID" sz="3600" dirty="0" err="1">
                <a:latin typeface="Open Sans" panose="020B0606030504020204" pitchFamily="34" charset="0"/>
                <a:ea typeface="Open Sans" panose="020B0606030504020204" pitchFamily="34" charset="0"/>
                <a:cs typeface="Open Sans" panose="020B0606030504020204" pitchFamily="34" charset="0"/>
              </a:rPr>
              <a:t>Sommerville</a:t>
            </a:r>
            <a:r>
              <a:rPr lang="id-ID" sz="3600" dirty="0">
                <a:latin typeface="Open Sans" panose="020B0606030504020204" pitchFamily="34" charset="0"/>
                <a:ea typeface="Open Sans" panose="020B0606030504020204" pitchFamily="34" charset="0"/>
                <a:cs typeface="Open Sans" panose="020B0606030504020204" pitchFamily="34" charset="0"/>
              </a:rPr>
              <a:t>. (2016</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Software</a:t>
            </a:r>
            <a:r>
              <a:rPr lang="id-ID" sz="3600" b="1" i="1" dirty="0">
                <a:latin typeface="Open Sans" panose="020B0606030504020204" pitchFamily="34" charset="0"/>
                <a:ea typeface="Open Sans" panose="020B0606030504020204" pitchFamily="34" charset="0"/>
                <a:cs typeface="Open Sans" panose="020B0606030504020204" pitchFamily="34" charset="0"/>
              </a:rPr>
              <a:t> Engineering. </a:t>
            </a:r>
            <a:r>
              <a:rPr lang="id-ID" sz="3600" dirty="0">
                <a:latin typeface="Open Sans" panose="020B0606030504020204" pitchFamily="34" charset="0"/>
                <a:ea typeface="Open Sans" panose="020B0606030504020204" pitchFamily="34" charset="0"/>
                <a:cs typeface="Open Sans" panose="020B0606030504020204" pitchFamily="34" charset="0"/>
              </a:rPr>
              <a:t>10th. Pearson. London. ISBN: 978-1-292-09613-1.</a:t>
            </a: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2E0FE671-25D8-4116-9472-BF9297986CC6}">
  <ds:schemaRefs>
    <ds:schemaRef ds:uri="http://schemas.microsoft.com/sharepoint/v3/contenttype/forms"/>
  </ds:schemaRefs>
</ds:datastoreItem>
</file>

<file path=customXml/itemProps2.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customXml/itemProps4.xml><?xml version="1.0" encoding="utf-8"?>
<ds:datastoreItem xmlns:ds="http://schemas.openxmlformats.org/officeDocument/2006/customXml" ds:itemID="{CDDAE38A-8264-43C3-9B01-B7FA25F1060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2762</TotalTime>
  <Words>3070</Words>
  <Application>Microsoft Office PowerPoint</Application>
  <PresentationFormat>Custom</PresentationFormat>
  <Paragraphs>206</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Open Sans ExtraBold</vt:lpstr>
      <vt:lpstr>Open Sans</vt:lpstr>
      <vt:lpstr>Open Sans Semibold</vt:lpstr>
      <vt:lpstr>Open Sans Light</vt:lpstr>
      <vt:lpstr>OCRB</vt:lpstr>
      <vt:lpstr>21_BasicWhite</vt:lpstr>
      <vt:lpstr>Emerging trends in software engineering</vt:lpstr>
      <vt:lpstr>Session 26 – Emerging trends in software engineering</vt:lpstr>
      <vt:lpstr>Session 26 – Emerging trends in software engineering</vt:lpstr>
      <vt:lpstr>Technology Evolution</vt:lpstr>
      <vt:lpstr>Software Engineering as a Discipline</vt:lpstr>
      <vt:lpstr>Observing Software Engineering Trends</vt:lpstr>
      <vt:lpstr>Identifying “Soft Trends”</vt:lpstr>
      <vt:lpstr>Managing Complexity</vt:lpstr>
      <vt:lpstr>Open-world software</vt:lpstr>
      <vt:lpstr>Open source</vt:lpstr>
      <vt:lpstr>Open source</vt:lpstr>
      <vt:lpstr>Technology direction</vt:lpstr>
      <vt:lpstr>Process trends</vt:lpstr>
      <vt:lpstr>The grand challenge</vt:lpstr>
      <vt:lpstr>Cloud Computing and Serverless Architectures</vt:lpstr>
      <vt:lpstr>Cloud Computing and Serverless Architectures</vt:lpstr>
      <vt:lpstr>Cloud Computing and Serverless Architectures</vt:lpstr>
      <vt:lpstr>Cloud Computing and Serverless Architectures</vt:lpstr>
      <vt:lpstr>Artificial intelligence (AI) and Machine Learning (ML) in software Development</vt:lpstr>
      <vt:lpstr>Artificial intelligence (AI) and Machine Learning (ML) in software Development</vt:lpstr>
      <vt:lpstr>Artificial intelligence (AI) and Machine Learning (ML) in software Development</vt:lpstr>
      <vt:lpstr>Artificial intelligence (AI) and Machine Learning (ML) in software Development</vt:lpstr>
      <vt:lpstr>Blockchain Technology and Its Applications</vt:lpstr>
      <vt:lpstr>Blockchain Technology and Its Applications</vt:lpstr>
      <vt:lpstr>Blockchain Technology and Its Applications</vt:lpstr>
      <vt:lpstr>Blockchain Technology and Its Applications</vt:lpstr>
      <vt:lpstr>Blockchain Technology and Its Applications</vt:lpstr>
      <vt:lpstr>Quantum Computing Basics</vt:lpstr>
      <vt:lpstr>Quantum Computing Basics</vt:lpstr>
      <vt:lpstr>Quantum Computing Basics</vt:lpstr>
      <vt:lpstr>Quantum Computing Basics</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Maulin Nasari</cp:lastModifiedBy>
  <cp:revision>48</cp:revision>
  <dcterms:created xsi:type="dcterms:W3CDTF">2023-04-06T08:40:27Z</dcterms:created>
  <dcterms:modified xsi:type="dcterms:W3CDTF">2025-12-25T23:19:00Z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