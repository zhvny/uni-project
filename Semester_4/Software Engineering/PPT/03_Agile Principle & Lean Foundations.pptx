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32"/>
  </p:notesMasterIdLst>
  <p:sldIdLst>
    <p:sldId id="256" r:id="rId6"/>
    <p:sldId id="257" r:id="rId7"/>
    <p:sldId id="258" r:id="rId8"/>
    <p:sldId id="338" r:id="rId9"/>
    <p:sldId id="339" r:id="rId10"/>
    <p:sldId id="340" r:id="rId11"/>
    <p:sldId id="341" r:id="rId12"/>
    <p:sldId id="315" r:id="rId13"/>
    <p:sldId id="342" r:id="rId14"/>
    <p:sldId id="343" r:id="rId15"/>
    <p:sldId id="316" r:id="rId16"/>
    <p:sldId id="285" r:id="rId17"/>
    <p:sldId id="286" r:id="rId18"/>
    <p:sldId id="344" r:id="rId19"/>
    <p:sldId id="318" r:id="rId20"/>
    <p:sldId id="317" r:id="rId21"/>
    <p:sldId id="302" r:id="rId22"/>
    <p:sldId id="303" r:id="rId23"/>
    <p:sldId id="304" r:id="rId24"/>
    <p:sldId id="307" r:id="rId25"/>
    <p:sldId id="308" r:id="rId26"/>
    <p:sldId id="305" r:id="rId27"/>
    <p:sldId id="306" r:id="rId28"/>
    <p:sldId id="309" r:id="rId29"/>
    <p:sldId id="310" r:id="rId30"/>
    <p:sldId id="284" r:id="rId31"/>
  </p:sldIdLst>
  <p:sldSz cx="24384000" cy="13716000"/>
  <p:notesSz cx="6858000" cy="9144000"/>
  <p:embeddedFontLst>
    <p:embeddedFont>
      <p:font typeface="OCRB" panose="020B0609020202020204" pitchFamily="49" charset="0"/>
      <p:regular r:id="rId33"/>
    </p:embeddedFont>
    <p:embeddedFont>
      <p:font typeface="Open Sans" panose="020B0606030504020204" pitchFamily="34" charset="0"/>
      <p:regular r:id="rId34"/>
      <p:bold r:id="rId35"/>
      <p:italic r:id="rId36"/>
      <p:boldItalic r:id="rId37"/>
    </p:embeddedFont>
    <p:embeddedFont>
      <p:font typeface="Open Sans ExtraBold" panose="020B0906030804020204" pitchFamily="34" charset="0"/>
      <p:bold r:id="rId38"/>
      <p:italic r:id="rId39"/>
      <p:boldItalic r:id="rId40"/>
    </p:embeddedFont>
    <p:embeddedFont>
      <p:font typeface="Open Sans Light" panose="020B0306030504020204" pitchFamily="34" charset="0"/>
      <p:regular r:id="rId41"/>
      <p:italic r:id="rId42"/>
    </p:embeddedFont>
    <p:embeddedFont>
      <p:font typeface="Open Sans Semibold" panose="020B0706030804020204" pitchFamily="34" charset="0"/>
      <p:regular r:id="rId43"/>
      <p:bold r:id="rId44"/>
      <p:italic r:id="rId45"/>
      <p:boldItalic r:id="rId46"/>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83F8E0-F511-40E6-87B3-2038BFE2CB89}" v="64" dt="2025-12-25T22:08:59.190"/>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5" autoAdjust="0"/>
    <p:restoredTop sz="86163"/>
  </p:normalViewPr>
  <p:slideViewPr>
    <p:cSldViewPr snapToGrid="0" snapToObjects="1">
      <p:cViewPr varScale="1">
        <p:scale>
          <a:sx n="23" d="100"/>
          <a:sy n="23" d="100"/>
        </p:scale>
        <p:origin x="58" y="533"/>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7.fntdata"/><Relationship Id="rId21" Type="http://schemas.openxmlformats.org/officeDocument/2006/relationships/slide" Target="slides/slide16.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4.fntdata"/><Relationship Id="rId49"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12.fntdata"/><Relationship Id="rId52" Type="http://schemas.microsoft.com/office/2015/10/relationships/revisionInfo" Target="revisionInfo.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viewProps" Target="viewProps.xml"/><Relationship Id="rId8" Type="http://schemas.openxmlformats.org/officeDocument/2006/relationships/slide" Target="slides/slide3.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5.xml"/><Relationship Id="rId41"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ulin Nasari" userId="2c02bce8-14a6-4f73-b14a-299518f8dfce" providerId="ADAL" clId="{973AE700-8634-4AC6-A10B-DFA7AFECB9DA}"/>
    <pc:docChg chg="undo custSel addSld delSld modSld sldOrd">
      <pc:chgData name="Maulin Nasari" userId="2c02bce8-14a6-4f73-b14a-299518f8dfce" providerId="ADAL" clId="{973AE700-8634-4AC6-A10B-DFA7AFECB9DA}" dt="2025-12-25T22:08:59.190" v="614"/>
      <pc:docMkLst>
        <pc:docMk/>
      </pc:docMkLst>
      <pc:sldChg chg="modSp mod">
        <pc:chgData name="Maulin Nasari" userId="2c02bce8-14a6-4f73-b14a-299518f8dfce" providerId="ADAL" clId="{973AE700-8634-4AC6-A10B-DFA7AFECB9DA}" dt="2025-12-25T22:08:59.190" v="614"/>
        <pc:sldMkLst>
          <pc:docMk/>
          <pc:sldMk cId="3487223446" sldId="256"/>
        </pc:sldMkLst>
        <pc:spChg chg="mod">
          <ac:chgData name="Maulin Nasari" userId="2c02bce8-14a6-4f73-b14a-299518f8dfce" providerId="ADAL" clId="{973AE700-8634-4AC6-A10B-DFA7AFECB9DA}" dt="2025-12-24T05:02:36.002" v="46" actId="20577"/>
          <ac:spMkLst>
            <pc:docMk/>
            <pc:sldMk cId="3487223446" sldId="256"/>
            <ac:spMk id="3" creationId="{1220BAB2-790F-F74A-024A-FC22D1A3E6EA}"/>
          </ac:spMkLst>
        </pc:spChg>
        <pc:spChg chg="mod">
          <ac:chgData name="Maulin Nasari" userId="2c02bce8-14a6-4f73-b14a-299518f8dfce" providerId="ADAL" clId="{973AE700-8634-4AC6-A10B-DFA7AFECB9DA}" dt="2025-12-25T22:08:59.190" v="614"/>
          <ac:spMkLst>
            <pc:docMk/>
            <pc:sldMk cId="3487223446" sldId="256"/>
            <ac:spMk id="4" creationId="{9E9B89E2-412C-8945-F692-CD51460D9806}"/>
          </ac:spMkLst>
        </pc:spChg>
      </pc:sldChg>
      <pc:sldChg chg="addSp delSp modSp mod">
        <pc:chgData name="Maulin Nasari" userId="2c02bce8-14a6-4f73-b14a-299518f8dfce" providerId="ADAL" clId="{973AE700-8634-4AC6-A10B-DFA7AFECB9DA}" dt="2025-12-25T22:07:46.417" v="613"/>
        <pc:sldMkLst>
          <pc:docMk/>
          <pc:sldMk cId="3855785854" sldId="257"/>
        </pc:sldMkLst>
        <pc:spChg chg="mod">
          <ac:chgData name="Maulin Nasari" userId="2c02bce8-14a6-4f73-b14a-299518f8dfce" providerId="ADAL" clId="{973AE700-8634-4AC6-A10B-DFA7AFECB9DA}" dt="2025-12-24T09:24:15.949" v="482" actId="20577"/>
          <ac:spMkLst>
            <pc:docMk/>
            <pc:sldMk cId="3855785854" sldId="257"/>
            <ac:spMk id="2" creationId="{F1BF52CD-EA76-003A-7192-0E9167BA3901}"/>
          </ac:spMkLst>
        </pc:spChg>
        <pc:spChg chg="mod">
          <ac:chgData name="Maulin Nasari" userId="2c02bce8-14a6-4f73-b14a-299518f8dfce" providerId="ADAL" clId="{973AE700-8634-4AC6-A10B-DFA7AFECB9DA}" dt="2025-12-25T22:07:46.417" v="613"/>
          <ac:spMkLst>
            <pc:docMk/>
            <pc:sldMk cId="3855785854" sldId="257"/>
            <ac:spMk id="4" creationId="{76E358E3-B24E-F7A5-ECF8-12101774A9ED}"/>
          </ac:spMkLst>
        </pc:spChg>
        <pc:spChg chg="add del mod">
          <ac:chgData name="Maulin Nasari" userId="2c02bce8-14a6-4f73-b14a-299518f8dfce" providerId="ADAL" clId="{973AE700-8634-4AC6-A10B-DFA7AFECB9DA}" dt="2025-12-24T04:59:36.956" v="20"/>
          <ac:spMkLst>
            <pc:docMk/>
            <pc:sldMk cId="3855785854" sldId="257"/>
            <ac:spMk id="5" creationId="{8445797C-2508-E49B-BA9B-BFD9944E1DFE}"/>
          </ac:spMkLst>
        </pc:spChg>
      </pc:sldChg>
      <pc:sldChg chg="modSp mod">
        <pc:chgData name="Maulin Nasari" userId="2c02bce8-14a6-4f73-b14a-299518f8dfce" providerId="ADAL" clId="{973AE700-8634-4AC6-A10B-DFA7AFECB9DA}" dt="2025-12-25T22:06:41.453" v="612"/>
        <pc:sldMkLst>
          <pc:docMk/>
          <pc:sldMk cId="481981883" sldId="258"/>
        </pc:sldMkLst>
        <pc:spChg chg="mod">
          <ac:chgData name="Maulin Nasari" userId="2c02bce8-14a6-4f73-b14a-299518f8dfce" providerId="ADAL" clId="{973AE700-8634-4AC6-A10B-DFA7AFECB9DA}" dt="2025-12-24T09:24:33.768" v="483"/>
          <ac:spMkLst>
            <pc:docMk/>
            <pc:sldMk cId="481981883" sldId="258"/>
            <ac:spMk id="2" creationId="{F1BF52CD-EA76-003A-7192-0E9167BA3901}"/>
          </ac:spMkLst>
        </pc:spChg>
        <pc:spChg chg="mod">
          <ac:chgData name="Maulin Nasari" userId="2c02bce8-14a6-4f73-b14a-299518f8dfce" providerId="ADAL" clId="{973AE700-8634-4AC6-A10B-DFA7AFECB9DA}" dt="2025-12-25T22:06:41.453" v="612"/>
          <ac:spMkLst>
            <pc:docMk/>
            <pc:sldMk cId="481981883" sldId="258"/>
            <ac:spMk id="4" creationId="{76E358E3-B24E-F7A5-ECF8-12101774A9ED}"/>
          </ac:spMkLst>
        </pc:spChg>
      </pc:sldChg>
      <pc:sldChg chg="modSp add mod">
        <pc:chgData name="Maulin Nasari" userId="2c02bce8-14a6-4f73-b14a-299518f8dfce" providerId="ADAL" clId="{973AE700-8634-4AC6-A10B-DFA7AFECB9DA}" dt="2025-12-24T10:14:01.249" v="572" actId="1076"/>
        <pc:sldMkLst>
          <pc:docMk/>
          <pc:sldMk cId="848565231" sldId="285"/>
        </pc:sldMkLst>
        <pc:spChg chg="mod">
          <ac:chgData name="Maulin Nasari" userId="2c02bce8-14a6-4f73-b14a-299518f8dfce" providerId="ADAL" clId="{973AE700-8634-4AC6-A10B-DFA7AFECB9DA}" dt="2025-12-24T10:14:01.249" v="572" actId="1076"/>
          <ac:spMkLst>
            <pc:docMk/>
            <pc:sldMk cId="848565231" sldId="285"/>
            <ac:spMk id="7" creationId="{4F6F6238-4C3D-B5F5-53D6-E5CA9E58AE40}"/>
          </ac:spMkLst>
        </pc:spChg>
      </pc:sldChg>
      <pc:sldChg chg="modSp add mod">
        <pc:chgData name="Maulin Nasari" userId="2c02bce8-14a6-4f73-b14a-299518f8dfce" providerId="ADAL" clId="{973AE700-8634-4AC6-A10B-DFA7AFECB9DA}" dt="2025-12-24T10:14:34.866" v="584" actId="11"/>
        <pc:sldMkLst>
          <pc:docMk/>
          <pc:sldMk cId="649356051" sldId="286"/>
        </pc:sldMkLst>
        <pc:spChg chg="mod">
          <ac:chgData name="Maulin Nasari" userId="2c02bce8-14a6-4f73-b14a-299518f8dfce" providerId="ADAL" clId="{973AE700-8634-4AC6-A10B-DFA7AFECB9DA}" dt="2025-12-24T10:14:34.866" v="584" actId="11"/>
          <ac:spMkLst>
            <pc:docMk/>
            <pc:sldMk cId="649356051" sldId="286"/>
            <ac:spMk id="7" creationId="{4F6F6238-4C3D-B5F5-53D6-E5CA9E58AE40}"/>
          </ac:spMkLst>
        </pc:spChg>
      </pc:sldChg>
      <pc:sldChg chg="modSp mod">
        <pc:chgData name="Maulin Nasari" userId="2c02bce8-14a6-4f73-b14a-299518f8dfce" providerId="ADAL" clId="{973AE700-8634-4AC6-A10B-DFA7AFECB9DA}" dt="2025-12-24T07:16:12.524" v="450" actId="20577"/>
        <pc:sldMkLst>
          <pc:docMk/>
          <pc:sldMk cId="2656147829" sldId="305"/>
        </pc:sldMkLst>
        <pc:spChg chg="mod">
          <ac:chgData name="Maulin Nasari" userId="2c02bce8-14a6-4f73-b14a-299518f8dfce" providerId="ADAL" clId="{973AE700-8634-4AC6-A10B-DFA7AFECB9DA}" dt="2025-12-24T07:16:12.524" v="450" actId="20577"/>
          <ac:spMkLst>
            <pc:docMk/>
            <pc:sldMk cId="2656147829" sldId="305"/>
            <ac:spMk id="2" creationId="{549C4C09-62A6-4EAD-480F-E66422499F9C}"/>
          </ac:spMkLst>
        </pc:spChg>
      </pc:sldChg>
      <pc:sldChg chg="modSp mod">
        <pc:chgData name="Maulin Nasari" userId="2c02bce8-14a6-4f73-b14a-299518f8dfce" providerId="ADAL" clId="{973AE700-8634-4AC6-A10B-DFA7AFECB9DA}" dt="2025-12-24T07:16:16.704" v="451" actId="20577"/>
        <pc:sldMkLst>
          <pc:docMk/>
          <pc:sldMk cId="1056112738" sldId="306"/>
        </pc:sldMkLst>
        <pc:spChg chg="mod">
          <ac:chgData name="Maulin Nasari" userId="2c02bce8-14a6-4f73-b14a-299518f8dfce" providerId="ADAL" clId="{973AE700-8634-4AC6-A10B-DFA7AFECB9DA}" dt="2025-12-24T07:16:16.704" v="451" actId="20577"/>
          <ac:spMkLst>
            <pc:docMk/>
            <pc:sldMk cId="1056112738" sldId="306"/>
            <ac:spMk id="2" creationId="{549C4C09-62A6-4EAD-480F-E66422499F9C}"/>
          </ac:spMkLst>
        </pc:spChg>
      </pc:sldChg>
      <pc:sldChg chg="modSp mod ord">
        <pc:chgData name="Maulin Nasari" userId="2c02bce8-14a6-4f73-b14a-299518f8dfce" providerId="ADAL" clId="{973AE700-8634-4AC6-A10B-DFA7AFECB9DA}" dt="2025-12-24T07:16:01.223" v="449"/>
        <pc:sldMkLst>
          <pc:docMk/>
          <pc:sldMk cId="1430602877" sldId="307"/>
        </pc:sldMkLst>
        <pc:spChg chg="mod">
          <ac:chgData name="Maulin Nasari" userId="2c02bce8-14a6-4f73-b14a-299518f8dfce" providerId="ADAL" clId="{973AE700-8634-4AC6-A10B-DFA7AFECB9DA}" dt="2025-12-24T07:15:54.986" v="447" actId="20577"/>
          <ac:spMkLst>
            <pc:docMk/>
            <pc:sldMk cId="1430602877" sldId="307"/>
            <ac:spMk id="2" creationId="{549C4C09-62A6-4EAD-480F-E66422499F9C}"/>
          </ac:spMkLst>
        </pc:spChg>
      </pc:sldChg>
      <pc:sldChg chg="modSp mod">
        <pc:chgData name="Maulin Nasari" userId="2c02bce8-14a6-4f73-b14a-299518f8dfce" providerId="ADAL" clId="{973AE700-8634-4AC6-A10B-DFA7AFECB9DA}" dt="2025-12-24T07:15:47.509" v="441" actId="20577"/>
        <pc:sldMkLst>
          <pc:docMk/>
          <pc:sldMk cId="2958628199" sldId="308"/>
        </pc:sldMkLst>
        <pc:spChg chg="mod">
          <ac:chgData name="Maulin Nasari" userId="2c02bce8-14a6-4f73-b14a-299518f8dfce" providerId="ADAL" clId="{973AE700-8634-4AC6-A10B-DFA7AFECB9DA}" dt="2025-12-24T07:15:47.509" v="441" actId="20577"/>
          <ac:spMkLst>
            <pc:docMk/>
            <pc:sldMk cId="2958628199" sldId="308"/>
            <ac:spMk id="2" creationId="{549C4C09-62A6-4EAD-480F-E66422499F9C}"/>
          </ac:spMkLst>
        </pc:spChg>
      </pc:sldChg>
      <pc:sldChg chg="modSp mod">
        <pc:chgData name="Maulin Nasari" userId="2c02bce8-14a6-4f73-b14a-299518f8dfce" providerId="ADAL" clId="{973AE700-8634-4AC6-A10B-DFA7AFECB9DA}" dt="2025-12-24T07:16:24.296" v="452" actId="20577"/>
        <pc:sldMkLst>
          <pc:docMk/>
          <pc:sldMk cId="2730820604" sldId="309"/>
        </pc:sldMkLst>
        <pc:spChg chg="mod">
          <ac:chgData name="Maulin Nasari" userId="2c02bce8-14a6-4f73-b14a-299518f8dfce" providerId="ADAL" clId="{973AE700-8634-4AC6-A10B-DFA7AFECB9DA}" dt="2025-12-24T07:16:24.296" v="452" actId="20577"/>
          <ac:spMkLst>
            <pc:docMk/>
            <pc:sldMk cId="2730820604" sldId="309"/>
            <ac:spMk id="2" creationId="{549C4C09-62A6-4EAD-480F-E66422499F9C}"/>
          </ac:spMkLst>
        </pc:spChg>
      </pc:sldChg>
      <pc:sldChg chg="modSp mod">
        <pc:chgData name="Maulin Nasari" userId="2c02bce8-14a6-4f73-b14a-299518f8dfce" providerId="ADAL" clId="{973AE700-8634-4AC6-A10B-DFA7AFECB9DA}" dt="2025-12-24T07:16:29.684" v="453" actId="20577"/>
        <pc:sldMkLst>
          <pc:docMk/>
          <pc:sldMk cId="3179053027" sldId="310"/>
        </pc:sldMkLst>
        <pc:spChg chg="mod">
          <ac:chgData name="Maulin Nasari" userId="2c02bce8-14a6-4f73-b14a-299518f8dfce" providerId="ADAL" clId="{973AE700-8634-4AC6-A10B-DFA7AFECB9DA}" dt="2025-12-24T07:16:29.684" v="453" actId="20577"/>
          <ac:spMkLst>
            <pc:docMk/>
            <pc:sldMk cId="3179053027" sldId="310"/>
            <ac:spMk id="2" creationId="{549C4C09-62A6-4EAD-480F-E66422499F9C}"/>
          </ac:spMkLst>
        </pc:spChg>
      </pc:sldChg>
      <pc:sldChg chg="addSp delSp modSp mod">
        <pc:chgData name="Maulin Nasari" userId="2c02bce8-14a6-4f73-b14a-299518f8dfce" providerId="ADAL" clId="{973AE700-8634-4AC6-A10B-DFA7AFECB9DA}" dt="2025-12-24T07:10:31.583" v="337" actId="478"/>
        <pc:sldMkLst>
          <pc:docMk/>
          <pc:sldMk cId="1414953125" sldId="315"/>
        </pc:sldMkLst>
        <pc:spChg chg="mod">
          <ac:chgData name="Maulin Nasari" userId="2c02bce8-14a6-4f73-b14a-299518f8dfce" providerId="ADAL" clId="{973AE700-8634-4AC6-A10B-DFA7AFECB9DA}" dt="2025-12-24T07:05:57.240" v="283" actId="20577"/>
          <ac:spMkLst>
            <pc:docMk/>
            <pc:sldMk cId="1414953125" sldId="315"/>
            <ac:spMk id="2" creationId="{549C4C09-62A6-4EAD-480F-E66422499F9C}"/>
          </ac:spMkLst>
        </pc:spChg>
        <pc:spChg chg="mod">
          <ac:chgData name="Maulin Nasari" userId="2c02bce8-14a6-4f73-b14a-299518f8dfce" providerId="ADAL" clId="{973AE700-8634-4AC6-A10B-DFA7AFECB9DA}" dt="2025-12-24T07:06:17.755" v="284" actId="20577"/>
          <ac:spMkLst>
            <pc:docMk/>
            <pc:sldMk cId="1414953125" sldId="315"/>
            <ac:spMk id="3" creationId="{39E851F2-9100-FF53-F123-D4F65FF84AF7}"/>
          </ac:spMkLst>
        </pc:spChg>
        <pc:spChg chg="mod">
          <ac:chgData name="Maulin Nasari" userId="2c02bce8-14a6-4f73-b14a-299518f8dfce" providerId="ADAL" clId="{973AE700-8634-4AC6-A10B-DFA7AFECB9DA}" dt="2025-12-24T07:09:30.839" v="334" actId="1035"/>
          <ac:spMkLst>
            <pc:docMk/>
            <pc:sldMk cId="1414953125" sldId="315"/>
            <ac:spMk id="4" creationId="{B5552849-CE2C-39CE-0303-4B296CF1F9CD}"/>
          </ac:spMkLst>
        </pc:spChg>
        <pc:spChg chg="add mod">
          <ac:chgData name="Maulin Nasari" userId="2c02bce8-14a6-4f73-b14a-299518f8dfce" providerId="ADAL" clId="{973AE700-8634-4AC6-A10B-DFA7AFECB9DA}" dt="2025-12-24T07:09:34.763" v="335" actId="113"/>
          <ac:spMkLst>
            <pc:docMk/>
            <pc:sldMk cId="1414953125" sldId="315"/>
            <ac:spMk id="6" creationId="{37FCBB7E-41A3-FECA-A271-1A41A0B8425C}"/>
          </ac:spMkLst>
        </pc:spChg>
        <pc:spChg chg="add del">
          <ac:chgData name="Maulin Nasari" userId="2c02bce8-14a6-4f73-b14a-299518f8dfce" providerId="ADAL" clId="{973AE700-8634-4AC6-A10B-DFA7AFECB9DA}" dt="2025-12-24T07:10:31.583" v="337" actId="478"/>
          <ac:spMkLst>
            <pc:docMk/>
            <pc:sldMk cId="1414953125" sldId="315"/>
            <ac:spMk id="8" creationId="{6FBFF66A-8AF1-B945-F4AC-4639C47447D0}"/>
          </ac:spMkLst>
        </pc:spChg>
        <pc:picChg chg="mod">
          <ac:chgData name="Maulin Nasari" userId="2c02bce8-14a6-4f73-b14a-299518f8dfce" providerId="ADAL" clId="{973AE700-8634-4AC6-A10B-DFA7AFECB9DA}" dt="2025-12-24T07:09:30.839" v="334" actId="1035"/>
          <ac:picMkLst>
            <pc:docMk/>
            <pc:sldMk cId="1414953125" sldId="315"/>
            <ac:picMk id="1026" creationId="{15AC5CCF-2233-89E0-B8C9-2D92C8131FE5}"/>
          </ac:picMkLst>
        </pc:picChg>
      </pc:sldChg>
      <pc:sldChg chg="del">
        <pc:chgData name="Maulin Nasari" userId="2c02bce8-14a6-4f73-b14a-299518f8dfce" providerId="ADAL" clId="{973AE700-8634-4AC6-A10B-DFA7AFECB9DA}" dt="2025-12-24T07:14:49.050" v="419" actId="47"/>
        <pc:sldMkLst>
          <pc:docMk/>
          <pc:sldMk cId="1016027337" sldId="319"/>
        </pc:sldMkLst>
      </pc:sldChg>
      <pc:sldChg chg="del">
        <pc:chgData name="Maulin Nasari" userId="2c02bce8-14a6-4f73-b14a-299518f8dfce" providerId="ADAL" clId="{973AE700-8634-4AC6-A10B-DFA7AFECB9DA}" dt="2025-12-24T07:14:57.297" v="426" actId="47"/>
        <pc:sldMkLst>
          <pc:docMk/>
          <pc:sldMk cId="2068064731" sldId="320"/>
        </pc:sldMkLst>
      </pc:sldChg>
      <pc:sldChg chg="del">
        <pc:chgData name="Maulin Nasari" userId="2c02bce8-14a6-4f73-b14a-299518f8dfce" providerId="ADAL" clId="{973AE700-8634-4AC6-A10B-DFA7AFECB9DA}" dt="2025-12-24T07:15:34.414" v="430" actId="47"/>
        <pc:sldMkLst>
          <pc:docMk/>
          <pc:sldMk cId="1249657985" sldId="321"/>
        </pc:sldMkLst>
      </pc:sldChg>
      <pc:sldChg chg="del">
        <pc:chgData name="Maulin Nasari" userId="2c02bce8-14a6-4f73-b14a-299518f8dfce" providerId="ADAL" clId="{973AE700-8634-4AC6-A10B-DFA7AFECB9DA}" dt="2025-12-24T07:15:34.812" v="431" actId="47"/>
        <pc:sldMkLst>
          <pc:docMk/>
          <pc:sldMk cId="2847467553" sldId="322"/>
        </pc:sldMkLst>
      </pc:sldChg>
      <pc:sldChg chg="del">
        <pc:chgData name="Maulin Nasari" userId="2c02bce8-14a6-4f73-b14a-299518f8dfce" providerId="ADAL" clId="{973AE700-8634-4AC6-A10B-DFA7AFECB9DA}" dt="2025-12-24T07:15:35.290" v="432" actId="47"/>
        <pc:sldMkLst>
          <pc:docMk/>
          <pc:sldMk cId="3182479688" sldId="323"/>
        </pc:sldMkLst>
      </pc:sldChg>
      <pc:sldChg chg="del">
        <pc:chgData name="Maulin Nasari" userId="2c02bce8-14a6-4f73-b14a-299518f8dfce" providerId="ADAL" clId="{973AE700-8634-4AC6-A10B-DFA7AFECB9DA}" dt="2025-12-24T07:15:35.697" v="433" actId="47"/>
        <pc:sldMkLst>
          <pc:docMk/>
          <pc:sldMk cId="2329363430" sldId="324"/>
        </pc:sldMkLst>
      </pc:sldChg>
      <pc:sldChg chg="del">
        <pc:chgData name="Maulin Nasari" userId="2c02bce8-14a6-4f73-b14a-299518f8dfce" providerId="ADAL" clId="{973AE700-8634-4AC6-A10B-DFA7AFECB9DA}" dt="2025-12-24T07:15:36.321" v="434" actId="47"/>
        <pc:sldMkLst>
          <pc:docMk/>
          <pc:sldMk cId="3370081735" sldId="325"/>
        </pc:sldMkLst>
      </pc:sldChg>
      <pc:sldChg chg="del">
        <pc:chgData name="Maulin Nasari" userId="2c02bce8-14a6-4f73-b14a-299518f8dfce" providerId="ADAL" clId="{973AE700-8634-4AC6-A10B-DFA7AFECB9DA}" dt="2025-12-24T10:13:02.752" v="516" actId="47"/>
        <pc:sldMkLst>
          <pc:docMk/>
          <pc:sldMk cId="656638452" sldId="326"/>
        </pc:sldMkLst>
      </pc:sldChg>
      <pc:sldChg chg="del">
        <pc:chgData name="Maulin Nasari" userId="2c02bce8-14a6-4f73-b14a-299518f8dfce" providerId="ADAL" clId="{973AE700-8634-4AC6-A10B-DFA7AFECB9DA}" dt="2025-12-24T07:14:51.453" v="422" actId="47"/>
        <pc:sldMkLst>
          <pc:docMk/>
          <pc:sldMk cId="2140309539" sldId="327"/>
        </pc:sldMkLst>
      </pc:sldChg>
      <pc:sldChg chg="del">
        <pc:chgData name="Maulin Nasari" userId="2c02bce8-14a6-4f73-b14a-299518f8dfce" providerId="ADAL" clId="{973AE700-8634-4AC6-A10B-DFA7AFECB9DA}" dt="2025-12-24T07:14:50.225" v="420" actId="47"/>
        <pc:sldMkLst>
          <pc:docMk/>
          <pc:sldMk cId="1919541746" sldId="328"/>
        </pc:sldMkLst>
      </pc:sldChg>
      <pc:sldChg chg="del">
        <pc:chgData name="Maulin Nasari" userId="2c02bce8-14a6-4f73-b14a-299518f8dfce" providerId="ADAL" clId="{973AE700-8634-4AC6-A10B-DFA7AFECB9DA}" dt="2025-12-24T07:14:50.972" v="421" actId="47"/>
        <pc:sldMkLst>
          <pc:docMk/>
          <pc:sldMk cId="743379756" sldId="329"/>
        </pc:sldMkLst>
      </pc:sldChg>
      <pc:sldChg chg="del">
        <pc:chgData name="Maulin Nasari" userId="2c02bce8-14a6-4f73-b14a-299518f8dfce" providerId="ADAL" clId="{973AE700-8634-4AC6-A10B-DFA7AFECB9DA}" dt="2025-12-24T07:14:51.818" v="423" actId="47"/>
        <pc:sldMkLst>
          <pc:docMk/>
          <pc:sldMk cId="2934636728" sldId="330"/>
        </pc:sldMkLst>
      </pc:sldChg>
      <pc:sldChg chg="del">
        <pc:chgData name="Maulin Nasari" userId="2c02bce8-14a6-4f73-b14a-299518f8dfce" providerId="ADAL" clId="{973AE700-8634-4AC6-A10B-DFA7AFECB9DA}" dt="2025-12-24T07:14:53.352" v="424" actId="47"/>
        <pc:sldMkLst>
          <pc:docMk/>
          <pc:sldMk cId="618987844" sldId="331"/>
        </pc:sldMkLst>
      </pc:sldChg>
      <pc:sldChg chg="del">
        <pc:chgData name="Maulin Nasari" userId="2c02bce8-14a6-4f73-b14a-299518f8dfce" providerId="ADAL" clId="{973AE700-8634-4AC6-A10B-DFA7AFECB9DA}" dt="2025-12-24T07:14:55.673" v="425" actId="47"/>
        <pc:sldMkLst>
          <pc:docMk/>
          <pc:sldMk cId="490358812" sldId="332"/>
        </pc:sldMkLst>
      </pc:sldChg>
      <pc:sldChg chg="del">
        <pc:chgData name="Maulin Nasari" userId="2c02bce8-14a6-4f73-b14a-299518f8dfce" providerId="ADAL" clId="{973AE700-8634-4AC6-A10B-DFA7AFECB9DA}" dt="2025-12-24T07:15:33.002" v="427" actId="47"/>
        <pc:sldMkLst>
          <pc:docMk/>
          <pc:sldMk cId="3182871635" sldId="333"/>
        </pc:sldMkLst>
      </pc:sldChg>
      <pc:sldChg chg="del">
        <pc:chgData name="Maulin Nasari" userId="2c02bce8-14a6-4f73-b14a-299518f8dfce" providerId="ADAL" clId="{973AE700-8634-4AC6-A10B-DFA7AFECB9DA}" dt="2025-12-24T07:15:33.432" v="428" actId="47"/>
        <pc:sldMkLst>
          <pc:docMk/>
          <pc:sldMk cId="3443009664" sldId="334"/>
        </pc:sldMkLst>
      </pc:sldChg>
      <pc:sldChg chg="del">
        <pc:chgData name="Maulin Nasari" userId="2c02bce8-14a6-4f73-b14a-299518f8dfce" providerId="ADAL" clId="{973AE700-8634-4AC6-A10B-DFA7AFECB9DA}" dt="2025-12-24T07:15:33.756" v="429" actId="47"/>
        <pc:sldMkLst>
          <pc:docMk/>
          <pc:sldMk cId="52100539" sldId="335"/>
        </pc:sldMkLst>
      </pc:sldChg>
      <pc:sldChg chg="del">
        <pc:chgData name="Maulin Nasari" userId="2c02bce8-14a6-4f73-b14a-299518f8dfce" providerId="ADAL" clId="{973AE700-8634-4AC6-A10B-DFA7AFECB9DA}" dt="2025-12-24T07:15:39.089" v="435" actId="47"/>
        <pc:sldMkLst>
          <pc:docMk/>
          <pc:sldMk cId="4020205836" sldId="336"/>
        </pc:sldMkLst>
      </pc:sldChg>
      <pc:sldChg chg="add del">
        <pc:chgData name="Maulin Nasari" userId="2c02bce8-14a6-4f73-b14a-299518f8dfce" providerId="ADAL" clId="{973AE700-8634-4AC6-A10B-DFA7AFECB9DA}" dt="2025-12-24T06:31:25.014" v="158" actId="47"/>
        <pc:sldMkLst>
          <pc:docMk/>
          <pc:sldMk cId="123568021" sldId="337"/>
        </pc:sldMkLst>
      </pc:sldChg>
      <pc:sldChg chg="add del">
        <pc:chgData name="Maulin Nasari" userId="2c02bce8-14a6-4f73-b14a-299518f8dfce" providerId="ADAL" clId="{973AE700-8634-4AC6-A10B-DFA7AFECB9DA}" dt="2025-12-24T07:02:22.846" v="262" actId="47"/>
        <pc:sldMkLst>
          <pc:docMk/>
          <pc:sldMk cId="3444732131" sldId="337"/>
        </pc:sldMkLst>
      </pc:sldChg>
      <pc:sldChg chg="addSp delSp modSp add mod modNotesTx">
        <pc:chgData name="Maulin Nasari" userId="2c02bce8-14a6-4f73-b14a-299518f8dfce" providerId="ADAL" clId="{973AE700-8634-4AC6-A10B-DFA7AFECB9DA}" dt="2025-12-24T06:51:33.367" v="188" actId="20577"/>
        <pc:sldMkLst>
          <pc:docMk/>
          <pc:sldMk cId="1605126959" sldId="338"/>
        </pc:sldMkLst>
        <pc:spChg chg="add del mod">
          <ac:chgData name="Maulin Nasari" userId="2c02bce8-14a6-4f73-b14a-299518f8dfce" providerId="ADAL" clId="{973AE700-8634-4AC6-A10B-DFA7AFECB9DA}" dt="2025-12-24T06:51:15.841" v="186"/>
          <ac:spMkLst>
            <pc:docMk/>
            <pc:sldMk cId="1605126959" sldId="338"/>
            <ac:spMk id="4" creationId="{5D82614F-20B8-2E35-CB7E-A068C98723BD}"/>
          </ac:spMkLst>
        </pc:spChg>
        <pc:spChg chg="mod">
          <ac:chgData name="Maulin Nasari" userId="2c02bce8-14a6-4f73-b14a-299518f8dfce" providerId="ADAL" clId="{973AE700-8634-4AC6-A10B-DFA7AFECB9DA}" dt="2025-12-24T06:51:13.300" v="184" actId="207"/>
          <ac:spMkLst>
            <pc:docMk/>
            <pc:sldMk cId="1605126959" sldId="338"/>
            <ac:spMk id="7" creationId="{4F6F6238-4C3D-B5F5-53D6-E5CA9E58AE40}"/>
          </ac:spMkLst>
        </pc:spChg>
      </pc:sldChg>
      <pc:sldChg chg="modSp add mod ord modNotesTx">
        <pc:chgData name="Maulin Nasari" userId="2c02bce8-14a6-4f73-b14a-299518f8dfce" providerId="ADAL" clId="{973AE700-8634-4AC6-A10B-DFA7AFECB9DA}" dt="2025-12-24T10:15:28.774" v="586"/>
        <pc:sldMkLst>
          <pc:docMk/>
          <pc:sldMk cId="3150261202" sldId="339"/>
        </pc:sldMkLst>
        <pc:spChg chg="mod">
          <ac:chgData name="Maulin Nasari" userId="2c02bce8-14a6-4f73-b14a-299518f8dfce" providerId="ADAL" clId="{973AE700-8634-4AC6-A10B-DFA7AFECB9DA}" dt="2025-12-24T06:53:18.600" v="224" actId="20577"/>
          <ac:spMkLst>
            <pc:docMk/>
            <pc:sldMk cId="3150261202" sldId="339"/>
            <ac:spMk id="2" creationId="{88434A1B-481D-AF14-A488-E0E2E0DACD91}"/>
          </ac:spMkLst>
        </pc:spChg>
        <pc:spChg chg="mod">
          <ac:chgData name="Maulin Nasari" userId="2c02bce8-14a6-4f73-b14a-299518f8dfce" providerId="ADAL" clId="{973AE700-8634-4AC6-A10B-DFA7AFECB9DA}" dt="2025-12-24T06:54:33.648" v="228" actId="113"/>
          <ac:spMkLst>
            <pc:docMk/>
            <pc:sldMk cId="3150261202" sldId="339"/>
            <ac:spMk id="7" creationId="{C14B97AB-A445-6494-526D-B87703AD2F64}"/>
          </ac:spMkLst>
        </pc:spChg>
      </pc:sldChg>
      <pc:sldChg chg="modSp add mod modNotesTx">
        <pc:chgData name="Maulin Nasari" userId="2c02bce8-14a6-4f73-b14a-299518f8dfce" providerId="ADAL" clId="{973AE700-8634-4AC6-A10B-DFA7AFECB9DA}" dt="2025-12-24T06:56:35.986" v="255" actId="20577"/>
        <pc:sldMkLst>
          <pc:docMk/>
          <pc:sldMk cId="3250941005" sldId="340"/>
        </pc:sldMkLst>
        <pc:spChg chg="mod">
          <ac:chgData name="Maulin Nasari" userId="2c02bce8-14a6-4f73-b14a-299518f8dfce" providerId="ADAL" clId="{973AE700-8634-4AC6-A10B-DFA7AFECB9DA}" dt="2025-12-24T06:55:15.988" v="249" actId="20577"/>
          <ac:spMkLst>
            <pc:docMk/>
            <pc:sldMk cId="3250941005" sldId="340"/>
            <ac:spMk id="2" creationId="{3DBF64F8-D074-1CA1-4303-F87DD4F6F4AE}"/>
          </ac:spMkLst>
        </pc:spChg>
        <pc:spChg chg="mod">
          <ac:chgData name="Maulin Nasari" userId="2c02bce8-14a6-4f73-b14a-299518f8dfce" providerId="ADAL" clId="{973AE700-8634-4AC6-A10B-DFA7AFECB9DA}" dt="2025-12-24T06:56:01.798" v="253" actId="113"/>
          <ac:spMkLst>
            <pc:docMk/>
            <pc:sldMk cId="3250941005" sldId="340"/>
            <ac:spMk id="7" creationId="{6A142F23-22D5-32F6-3B57-DC267E96E6E5}"/>
          </ac:spMkLst>
        </pc:spChg>
      </pc:sldChg>
      <pc:sldChg chg="modSp new">
        <pc:chgData name="Maulin Nasari" userId="2c02bce8-14a6-4f73-b14a-299518f8dfce" providerId="ADAL" clId="{973AE700-8634-4AC6-A10B-DFA7AFECB9DA}" dt="2025-12-24T07:05:41.418" v="264"/>
        <pc:sldMkLst>
          <pc:docMk/>
          <pc:sldMk cId="2129761824" sldId="341"/>
        </pc:sldMkLst>
        <pc:spChg chg="mod">
          <ac:chgData name="Maulin Nasari" userId="2c02bce8-14a6-4f73-b14a-299518f8dfce" providerId="ADAL" clId="{973AE700-8634-4AC6-A10B-DFA7AFECB9DA}" dt="2025-12-24T07:05:41.418" v="264"/>
          <ac:spMkLst>
            <pc:docMk/>
            <pc:sldMk cId="2129761824" sldId="341"/>
            <ac:spMk id="2" creationId="{015D0F38-1EA2-FB8C-96CF-57D2AE9D4E55}"/>
          </ac:spMkLst>
        </pc:spChg>
      </pc:sldChg>
      <pc:sldChg chg="addSp delSp modSp add mod">
        <pc:chgData name="Maulin Nasari" userId="2c02bce8-14a6-4f73-b14a-299518f8dfce" providerId="ADAL" clId="{973AE700-8634-4AC6-A10B-DFA7AFECB9DA}" dt="2025-12-24T07:13:02.337" v="418" actId="1035"/>
        <pc:sldMkLst>
          <pc:docMk/>
          <pc:sldMk cId="1749835506" sldId="342"/>
        </pc:sldMkLst>
        <pc:spChg chg="mod">
          <ac:chgData name="Maulin Nasari" userId="2c02bce8-14a6-4f73-b14a-299518f8dfce" providerId="ADAL" clId="{973AE700-8634-4AC6-A10B-DFA7AFECB9DA}" dt="2025-12-24T07:10:49.987" v="356" actId="20577"/>
          <ac:spMkLst>
            <pc:docMk/>
            <pc:sldMk cId="1749835506" sldId="342"/>
            <ac:spMk id="3" creationId="{87E6E5F8-EBDA-C831-7BDC-E2A650D2BBF2}"/>
          </ac:spMkLst>
        </pc:spChg>
        <pc:spChg chg="del">
          <ac:chgData name="Maulin Nasari" userId="2c02bce8-14a6-4f73-b14a-299518f8dfce" providerId="ADAL" clId="{973AE700-8634-4AC6-A10B-DFA7AFECB9DA}" dt="2025-12-24T07:10:59.375" v="358" actId="478"/>
          <ac:spMkLst>
            <pc:docMk/>
            <pc:sldMk cId="1749835506" sldId="342"/>
            <ac:spMk id="4" creationId="{98DD2200-3FE6-ACDB-9E5D-D8E4242458AC}"/>
          </ac:spMkLst>
        </pc:spChg>
        <pc:spChg chg="mod">
          <ac:chgData name="Maulin Nasari" userId="2c02bce8-14a6-4f73-b14a-299518f8dfce" providerId="ADAL" clId="{973AE700-8634-4AC6-A10B-DFA7AFECB9DA}" dt="2025-12-24T07:13:02.337" v="418" actId="1035"/>
          <ac:spMkLst>
            <pc:docMk/>
            <pc:sldMk cId="1749835506" sldId="342"/>
            <ac:spMk id="6" creationId="{166690FA-8E14-3078-09D8-455CBF138CE5}"/>
          </ac:spMkLst>
        </pc:spChg>
        <pc:spChg chg="add del mod">
          <ac:chgData name="Maulin Nasari" userId="2c02bce8-14a6-4f73-b14a-299518f8dfce" providerId="ADAL" clId="{973AE700-8634-4AC6-A10B-DFA7AFECB9DA}" dt="2025-12-24T07:11:01.673" v="359" actId="478"/>
          <ac:spMkLst>
            <pc:docMk/>
            <pc:sldMk cId="1749835506" sldId="342"/>
            <ac:spMk id="7" creationId="{528094D8-E3A0-F9CF-041E-6CD68EFDFB27}"/>
          </ac:spMkLst>
        </pc:spChg>
        <pc:graphicFrameChg chg="add mod modGraphic">
          <ac:chgData name="Maulin Nasari" userId="2c02bce8-14a6-4f73-b14a-299518f8dfce" providerId="ADAL" clId="{973AE700-8634-4AC6-A10B-DFA7AFECB9DA}" dt="2025-12-24T07:12:59.006" v="408" actId="1035"/>
          <ac:graphicFrameMkLst>
            <pc:docMk/>
            <pc:sldMk cId="1749835506" sldId="342"/>
            <ac:graphicFrameMk id="8" creationId="{4D39DF9A-BF35-0DD3-318A-346283650429}"/>
          </ac:graphicFrameMkLst>
        </pc:graphicFrameChg>
        <pc:picChg chg="del">
          <ac:chgData name="Maulin Nasari" userId="2c02bce8-14a6-4f73-b14a-299518f8dfce" providerId="ADAL" clId="{973AE700-8634-4AC6-A10B-DFA7AFECB9DA}" dt="2025-12-24T07:10:56.901" v="357" actId="478"/>
          <ac:picMkLst>
            <pc:docMk/>
            <pc:sldMk cId="1749835506" sldId="342"/>
            <ac:picMk id="1026" creationId="{020EDEAC-EA5F-9043-96F8-48C1AFDB6FDB}"/>
          </ac:picMkLst>
        </pc:picChg>
      </pc:sldChg>
      <pc:sldChg chg="modSp new mod">
        <pc:chgData name="Maulin Nasari" userId="2c02bce8-14a6-4f73-b14a-299518f8dfce" providerId="ADAL" clId="{973AE700-8634-4AC6-A10B-DFA7AFECB9DA}" dt="2025-12-24T10:11:55.222" v="514" actId="20577"/>
        <pc:sldMkLst>
          <pc:docMk/>
          <pc:sldMk cId="358555068" sldId="343"/>
        </pc:sldMkLst>
        <pc:spChg chg="mod">
          <ac:chgData name="Maulin Nasari" userId="2c02bce8-14a6-4f73-b14a-299518f8dfce" providerId="ADAL" clId="{973AE700-8634-4AC6-A10B-DFA7AFECB9DA}" dt="2025-12-24T10:11:55.222" v="514" actId="20577"/>
          <ac:spMkLst>
            <pc:docMk/>
            <pc:sldMk cId="358555068" sldId="343"/>
            <ac:spMk id="2" creationId="{95E3B2A2-4A2E-27A0-DAB5-E45EE03247FB}"/>
          </ac:spMkLst>
        </pc:spChg>
      </pc:sldChg>
      <pc:sldChg chg="modSp new mod">
        <pc:chgData name="Maulin Nasari" userId="2c02bce8-14a6-4f73-b14a-299518f8dfce" providerId="ADAL" clId="{973AE700-8634-4AC6-A10B-DFA7AFECB9DA}" dt="2025-12-24T10:18:23.062" v="593" actId="404"/>
        <pc:sldMkLst>
          <pc:docMk/>
          <pc:sldMk cId="2591128269" sldId="344"/>
        </pc:sldMkLst>
        <pc:spChg chg="mod">
          <ac:chgData name="Maulin Nasari" userId="2c02bce8-14a6-4f73-b14a-299518f8dfce" providerId="ADAL" clId="{973AE700-8634-4AC6-A10B-DFA7AFECB9DA}" dt="2025-12-24T10:18:23.062" v="593" actId="404"/>
          <ac:spMkLst>
            <pc:docMk/>
            <pc:sldMk cId="2591128269" sldId="344"/>
            <ac:spMk id="2" creationId="{1E8D0B65-A784-BF8D-9453-16C58079EAC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“Agile is not about speed. Agile is about learning faster when you don’t know everything.”</a:t>
            </a:r>
            <a:endParaRPr lang="en-ID" dirty="0"/>
          </a:p>
        </p:txBody>
      </p:sp>
    </p:spTree>
    <p:extLst>
      <p:ext uri="{BB962C8B-B14F-4D97-AF65-F5344CB8AC3E}">
        <p14:creationId xmlns:p14="http://schemas.microsoft.com/office/powerpoint/2010/main" val="31806617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EA0D9-DC19-F708-ED48-E72814F4C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4DFC4-6398-E553-E3B6-C54DA3F839C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4C17FB4-FDCC-68ED-25B2-57E5A14F459A}"/>
              </a:ext>
            </a:extLst>
          </p:cNvPr>
          <p:cNvSpPr>
            <a:spLocks noGrp="1"/>
          </p:cNvSpPr>
          <p:nvPr>
            <p:ph type="body" idx="1"/>
          </p:nvPr>
        </p:nvSpPr>
        <p:spPr/>
        <p:txBody>
          <a:bodyPr/>
          <a:lstStyle/>
          <a:p>
            <a:r>
              <a:rPr lang="en-US" dirty="0"/>
              <a:t>“Agile does not remove management. It changes </a:t>
            </a:r>
            <a:r>
              <a:rPr lang="en-US" i="1" dirty="0"/>
              <a:t>how</a:t>
            </a:r>
            <a:r>
              <a:rPr lang="en-US" dirty="0"/>
              <a:t> management supports teams.”</a:t>
            </a:r>
            <a:endParaRPr lang="en-ID" dirty="0"/>
          </a:p>
        </p:txBody>
      </p:sp>
    </p:spTree>
    <p:extLst>
      <p:ext uri="{BB962C8B-B14F-4D97-AF65-F5344CB8AC3E}">
        <p14:creationId xmlns:p14="http://schemas.microsoft.com/office/powerpoint/2010/main" val="9928687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FC432-6030-10E8-C2EE-45E43B14C1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C3F55-317F-A325-25E1-99E0A286861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0080076-5ECD-ABA4-C8A4-2B3A2243D9E4}"/>
              </a:ext>
            </a:extLst>
          </p:cNvPr>
          <p:cNvSpPr>
            <a:spLocks noGrp="1"/>
          </p:cNvSpPr>
          <p:nvPr>
            <p:ph type="body" idx="1"/>
          </p:nvPr>
        </p:nvSpPr>
        <p:spPr/>
        <p:txBody>
          <a:bodyPr/>
          <a:lstStyle/>
          <a:p>
            <a:r>
              <a:rPr lang="en-US" dirty="0"/>
              <a:t>“Agile does not tell you </a:t>
            </a:r>
            <a:r>
              <a:rPr lang="en-US" i="1" dirty="0"/>
              <a:t>what</a:t>
            </a:r>
            <a:r>
              <a:rPr lang="en-US" dirty="0"/>
              <a:t> to do. It helps you decide </a:t>
            </a:r>
            <a:r>
              <a:rPr lang="en-US" i="1" dirty="0"/>
              <a:t>what to do next</a:t>
            </a:r>
            <a:r>
              <a:rPr lang="en-US" dirty="0"/>
              <a:t>.”</a:t>
            </a:r>
            <a:endParaRPr lang="en-ID" dirty="0"/>
          </a:p>
        </p:txBody>
      </p:sp>
    </p:spTree>
    <p:extLst>
      <p:ext uri="{BB962C8B-B14F-4D97-AF65-F5344CB8AC3E}">
        <p14:creationId xmlns:p14="http://schemas.microsoft.com/office/powerpoint/2010/main" val="1326218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Lean focuses on learning fast and reducing waste</a:t>
            </a:r>
            <a:endParaRPr lang="en-ID" dirty="0"/>
          </a:p>
        </p:txBody>
      </p:sp>
    </p:spTree>
    <p:extLst>
      <p:ext uri="{BB962C8B-B14F-4D97-AF65-F5344CB8AC3E}">
        <p14:creationId xmlns:p14="http://schemas.microsoft.com/office/powerpoint/2010/main" val="1120721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23EE1-2C2A-4878-7A7D-E367FA82A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76156-C3C6-9577-9DB1-44727B02E48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446BC12-25C2-EAEC-A666-9EF5CD6A249B}"/>
              </a:ext>
            </a:extLst>
          </p:cNvPr>
          <p:cNvSpPr>
            <a:spLocks noGrp="1"/>
          </p:cNvSpPr>
          <p:nvPr>
            <p:ph type="body" idx="1"/>
          </p:nvPr>
        </p:nvSpPr>
        <p:spPr/>
        <p:txBody>
          <a:bodyPr/>
          <a:lstStyle/>
          <a:p>
            <a:r>
              <a:rPr lang="en-US" dirty="0"/>
              <a:t>Lean focuses on learning fast and reducing waste</a:t>
            </a:r>
            <a:endParaRPr lang="en-ID" dirty="0"/>
          </a:p>
        </p:txBody>
      </p:sp>
    </p:spTree>
    <p:extLst>
      <p:ext uri="{BB962C8B-B14F-4D97-AF65-F5344CB8AC3E}">
        <p14:creationId xmlns:p14="http://schemas.microsoft.com/office/powerpoint/2010/main" val="20753653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hbr.org/1986/01/the-new-new-product-development-game" TargetMode="Externa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www.youtube.com/watch?v=9cBkihYP1rY" TargetMode="External"/><Relationship Id="rId2" Type="http://schemas.openxmlformats.org/officeDocument/2006/relationships/hyperlink" Target="http://www.youtube.com/watch?v=KaPC0gsEQ68" TargetMode="External"/><Relationship Id="rId1" Type="http://schemas.openxmlformats.org/officeDocument/2006/relationships/slideLayout" Target="../slideLayouts/slideLayout2.xml"/><Relationship Id="rId5" Type="http://schemas.openxmlformats.org/officeDocument/2006/relationships/hyperlink" Target="http://www.youtube.com/watch?v=MJR-EgHTA4E" TargetMode="External"/><Relationship Id="rId4" Type="http://schemas.openxmlformats.org/officeDocument/2006/relationships/hyperlink" Target="http://www.youtube.com/watch?v=LkhLZ7_KZ5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dirty="0"/>
              <a:t>Session 03</a:t>
            </a:r>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lstStyle/>
          <a:p>
            <a:r>
              <a:rPr lang="en-AU" sz="9600" b="1" dirty="0">
                <a:solidFill>
                  <a:schemeClr val="bg1"/>
                </a:solidFill>
              </a:rPr>
              <a:t>Agile principles &amp; Lean Production</a:t>
            </a:r>
            <a:endParaRPr lang="en-US" dirty="0"/>
          </a:p>
        </p:txBody>
      </p:sp>
      <p:sp>
        <p:nvSpPr>
          <p:cNvPr id="4" name="Text Placeholder 3">
            <a:extLst>
              <a:ext uri="{FF2B5EF4-FFF2-40B4-BE49-F238E27FC236}">
                <a16:creationId xmlns:a16="http://schemas.microsoft.com/office/drawing/2014/main" id="{9E9B89E2-412C-8945-F692-CD51460D9806}"/>
              </a:ext>
            </a:extLst>
          </p:cNvPr>
          <p:cNvSpPr>
            <a:spLocks noGrp="1"/>
          </p:cNvSpPr>
          <p:nvPr>
            <p:ph type="body" sz="quarter" idx="11"/>
          </p:nvPr>
        </p:nvSpPr>
        <p:spPr/>
        <p:txBody>
          <a:bodyPr/>
          <a:lstStyle/>
          <a:p>
            <a:r>
              <a:rPr lang="en-US" dirty="0"/>
              <a:t>Kenny </a:t>
            </a:r>
            <a:r>
              <a:rPr lang="en-US" dirty="0" err="1"/>
              <a:t>Jingga</a:t>
            </a:r>
            <a:r>
              <a:rPr lang="en-US" dirty="0"/>
              <a:t>, </a:t>
            </a:r>
            <a:r>
              <a:rPr lang="en-US" dirty="0" err="1"/>
              <a:t>S.Kom</a:t>
            </a:r>
            <a:r>
              <a:rPr lang="en-US" dirty="0"/>
              <a:t>., M.T.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a:xfrm>
            <a:off x="2167377" y="1872058"/>
            <a:ext cx="13377423" cy="547670"/>
          </a:xfrm>
        </p:spPr>
        <p:txBody>
          <a:bodyPr>
            <a:normAutofit fontScale="90000"/>
          </a:bodyPr>
          <a:lstStyle/>
          <a:p>
            <a:r>
              <a:rPr lang="en-US" dirty="0"/>
              <a:t>Session 03 – Agile principles and Lean </a:t>
            </a:r>
            <a:r>
              <a:rPr lang="en-US" dirty="0" err="1"/>
              <a:t>PRoduction</a:t>
            </a:r>
            <a:endParaRPr lang="en-US" dirty="0"/>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4387375"/>
            <a:ext cx="20711673" cy="6509510"/>
          </a:xfrm>
        </p:spPr>
        <p:txBody>
          <a:bodyPr anchor="ctr">
            <a:normAutofit/>
          </a:bodyPr>
          <a:lstStyle/>
          <a:p>
            <a:pPr marL="0" indent="0">
              <a:buNone/>
            </a:pPr>
            <a:r>
              <a:rPr lang="en-GB"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 be able to:</a:t>
            </a:r>
          </a:p>
          <a:p>
            <a:pPr marL="0" indent="0">
              <a:buNone/>
            </a:pPr>
            <a:endParaRPr lang="en-GB"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Explain the motivation behind Agile &amp; Lean</a:t>
            </a:r>
          </a:p>
          <a:p>
            <a:pPr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Describe Agile Manifesto values &amp; principles</a:t>
            </a:r>
          </a:p>
          <a:p>
            <a:pPr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Explain Lean &amp; Kaizen for continuous improvement</a:t>
            </a:r>
          </a:p>
          <a:p>
            <a:pPr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Analyze how Agile reduces the cost of change</a:t>
            </a: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p:txBody>
          <a:bodyPr>
            <a:normAutofit fontScale="90000"/>
          </a:bodyPr>
          <a:lstStyle/>
          <a:p>
            <a:r>
              <a:rPr lang="en-US" dirty="0"/>
              <a:t>Session 03 – Agile principles and Lean </a:t>
            </a:r>
            <a:r>
              <a:rPr lang="en-US" dirty="0" err="1"/>
              <a:t>PRoduction</a:t>
            </a:r>
            <a:endParaRPr lang="en-US" dirty="0"/>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3260663"/>
            <a:ext cx="20711673" cy="8583279"/>
          </a:xfrm>
        </p:spPr>
        <p:txBody>
          <a:bodyPr anchor="ctr">
            <a:normAutofit/>
          </a:bodyPr>
          <a:lstStyle/>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Agile principles</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Lean foundations</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Agile Manifesto</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Kaizen / continuous improvement</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Cost of change</a:t>
            </a:r>
          </a:p>
          <a:p>
            <a:pPr marL="390525" lvl="0" indent="-390525"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Agile mindset (pre-Scrum)</a:t>
            </a: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What is Agile?</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p:txBody>
          <a:bodyPr/>
          <a:lstStyle/>
          <a:p>
            <a:endParaRPr lang="en-US" dirty="0"/>
          </a:p>
        </p:txBody>
      </p:sp>
      <p:sp>
        <p:nvSpPr>
          <p:cNvPr id="7" name="Content Placeholder 3">
            <a:extLst>
              <a:ext uri="{FF2B5EF4-FFF2-40B4-BE49-F238E27FC236}">
                <a16:creationId xmlns:a16="http://schemas.microsoft.com/office/drawing/2014/main" id="{4F6F6238-4C3D-B5F5-53D6-E5CA9E58AE40}"/>
              </a:ext>
            </a:extLst>
          </p:cNvPr>
          <p:cNvSpPr>
            <a:spLocks noGrp="1"/>
          </p:cNvSpPr>
          <p:nvPr>
            <p:ph sz="quarter" idx="11"/>
          </p:nvPr>
        </p:nvSpPr>
        <p:spPr>
          <a:xfrm>
            <a:off x="2167377" y="4484914"/>
            <a:ext cx="20295058" cy="9231086"/>
          </a:xfrm>
        </p:spPr>
        <p:txBody>
          <a:bodyPr anchor="t">
            <a:normAutofit/>
          </a:bodyPr>
          <a:lstStyle/>
          <a:p>
            <a:pPr marL="0" lvl="0" indent="0"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ability to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create and respond to change</a:t>
            </a:r>
          </a:p>
          <a:p>
            <a:pPr marL="0" lvl="0" indent="0" defTabSz="914400" eaLnBrk="0" fontAlgn="base" hangingPunct="0">
              <a:spcBef>
                <a:spcPct val="0"/>
              </a:spcBef>
              <a:spcAft>
                <a:spcPct val="0"/>
              </a:spcAft>
              <a:buSzTx/>
              <a:buNone/>
            </a:pPr>
            <a:endPar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lvl="0" indent="0"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way to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succeed in uncertainty</a:t>
            </a:r>
          </a:p>
          <a:p>
            <a:pPr marL="0" lvl="0" indent="0" defTabSz="914400" eaLnBrk="0" fontAlgn="base" hangingPunct="0">
              <a:spcBef>
                <a:spcPct val="0"/>
              </a:spcBef>
              <a:spcAft>
                <a:spcPct val="0"/>
              </a:spcAft>
              <a:buSzTx/>
              <a:buNone/>
            </a:pPr>
            <a:endPar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lvl="0" indent="0"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Focused on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adaptiveness</a:t>
            </a: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not predictability</a:t>
            </a:r>
          </a:p>
        </p:txBody>
      </p:sp>
    </p:spTree>
    <p:extLst>
      <p:ext uri="{BB962C8B-B14F-4D97-AF65-F5344CB8AC3E}">
        <p14:creationId xmlns:p14="http://schemas.microsoft.com/office/powerpoint/2010/main" val="160512695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82E1D-AD3C-70A0-886D-B1DD2FDB46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34A1B-481D-AF14-A488-E0E2E0DACD91}"/>
              </a:ext>
            </a:extLst>
          </p:cNvPr>
          <p:cNvSpPr>
            <a:spLocks noGrp="1"/>
          </p:cNvSpPr>
          <p:nvPr>
            <p:ph type="title"/>
          </p:nvPr>
        </p:nvSpPr>
        <p:spPr/>
        <p:txBody>
          <a:bodyPr>
            <a:normAutofit fontScale="90000"/>
          </a:bodyPr>
          <a:lstStyle/>
          <a:p>
            <a:r>
              <a:rPr lang="en-US" dirty="0"/>
              <a:t>What Makes Agile Different?</a:t>
            </a:r>
          </a:p>
        </p:txBody>
      </p:sp>
      <p:sp>
        <p:nvSpPr>
          <p:cNvPr id="3" name="Text Placeholder 2">
            <a:extLst>
              <a:ext uri="{FF2B5EF4-FFF2-40B4-BE49-F238E27FC236}">
                <a16:creationId xmlns:a16="http://schemas.microsoft.com/office/drawing/2014/main" id="{19B7A950-58BE-0897-C9C9-E6496461D160}"/>
              </a:ext>
            </a:extLst>
          </p:cNvPr>
          <p:cNvSpPr>
            <a:spLocks noGrp="1"/>
          </p:cNvSpPr>
          <p:nvPr>
            <p:ph type="body" sz="quarter" idx="10"/>
          </p:nvPr>
        </p:nvSpPr>
        <p:spPr/>
        <p:txBody>
          <a:bodyPr/>
          <a:lstStyle/>
          <a:p>
            <a:endParaRPr lang="en-US" dirty="0"/>
          </a:p>
        </p:txBody>
      </p:sp>
      <p:sp>
        <p:nvSpPr>
          <p:cNvPr id="7" name="Content Placeholder 3">
            <a:extLst>
              <a:ext uri="{FF2B5EF4-FFF2-40B4-BE49-F238E27FC236}">
                <a16:creationId xmlns:a16="http://schemas.microsoft.com/office/drawing/2014/main" id="{C14B97AB-A445-6494-526D-B87703AD2F64}"/>
              </a:ext>
            </a:extLst>
          </p:cNvPr>
          <p:cNvSpPr>
            <a:spLocks noGrp="1"/>
          </p:cNvSpPr>
          <p:nvPr>
            <p:ph sz="quarter" idx="11"/>
          </p:nvPr>
        </p:nvSpPr>
        <p:spPr>
          <a:xfrm>
            <a:off x="2167377" y="4484914"/>
            <a:ext cx="20295058" cy="9231086"/>
          </a:xfrm>
        </p:spPr>
        <p:txBody>
          <a:bodyPr anchor="t">
            <a:normAutofit/>
          </a:bodyPr>
          <a:lstStyle/>
          <a:p>
            <a:pPr marL="0" lvl="0" indent="0"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 on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people and collaboration</a:t>
            </a:r>
          </a:p>
          <a:p>
            <a:pPr marL="0" lvl="0" indent="0" defTabSz="914400" eaLnBrk="0" fontAlgn="base" hangingPunct="0">
              <a:spcBef>
                <a:spcPct val="0"/>
              </a:spcBef>
              <a:spcAft>
                <a:spcPct val="0"/>
              </a:spcAft>
              <a:buSzTx/>
            </a:pPr>
            <a:endPar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lvl="0" indent="0"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Teams are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cross-functional</a:t>
            </a:r>
          </a:p>
          <a:p>
            <a:pPr marL="0" lvl="0" indent="0" defTabSz="914400" eaLnBrk="0" fontAlgn="base" hangingPunct="0">
              <a:spcBef>
                <a:spcPct val="0"/>
              </a:spcBef>
              <a:spcAft>
                <a:spcPct val="0"/>
              </a:spcAft>
              <a:buSzTx/>
            </a:pPr>
            <a:endPar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lvl="0" indent="0"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Skills matter more than rigid roles</a:t>
            </a:r>
          </a:p>
          <a:p>
            <a:pPr marL="0" lvl="0" indent="0" defTabSz="914400" eaLnBrk="0" fontAlgn="base" hangingPunct="0">
              <a:spcBef>
                <a:spcPct val="0"/>
              </a:spcBef>
              <a:spcAft>
                <a:spcPct val="0"/>
              </a:spcAft>
              <a:buSzTx/>
            </a:pPr>
            <a:endPar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lvl="0" indent="0"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Practices support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coordination and transparency</a:t>
            </a:r>
          </a:p>
        </p:txBody>
      </p:sp>
    </p:spTree>
    <p:extLst>
      <p:ext uri="{BB962C8B-B14F-4D97-AF65-F5344CB8AC3E}">
        <p14:creationId xmlns:p14="http://schemas.microsoft.com/office/powerpoint/2010/main" val="315026120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F47C1-E224-1299-5F48-F2863F815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F64F8-D074-1CA1-4303-F87DD4F6F4AE}"/>
              </a:ext>
            </a:extLst>
          </p:cNvPr>
          <p:cNvSpPr>
            <a:spLocks noGrp="1"/>
          </p:cNvSpPr>
          <p:nvPr>
            <p:ph type="title"/>
          </p:nvPr>
        </p:nvSpPr>
        <p:spPr/>
        <p:txBody>
          <a:bodyPr>
            <a:normAutofit fontScale="90000"/>
          </a:bodyPr>
          <a:lstStyle/>
          <a:p>
            <a:r>
              <a:rPr lang="en-US" dirty="0"/>
              <a:t>Agile is A Mindset</a:t>
            </a:r>
          </a:p>
        </p:txBody>
      </p:sp>
      <p:sp>
        <p:nvSpPr>
          <p:cNvPr id="3" name="Text Placeholder 2">
            <a:extLst>
              <a:ext uri="{FF2B5EF4-FFF2-40B4-BE49-F238E27FC236}">
                <a16:creationId xmlns:a16="http://schemas.microsoft.com/office/drawing/2014/main" id="{BCAE2F2D-3EDE-A3B1-1A0F-1CEEF75B5D4C}"/>
              </a:ext>
            </a:extLst>
          </p:cNvPr>
          <p:cNvSpPr>
            <a:spLocks noGrp="1"/>
          </p:cNvSpPr>
          <p:nvPr>
            <p:ph type="body" sz="quarter" idx="10"/>
          </p:nvPr>
        </p:nvSpPr>
        <p:spPr/>
        <p:txBody>
          <a:bodyPr/>
          <a:lstStyle/>
          <a:p>
            <a:endParaRPr lang="en-US" dirty="0"/>
          </a:p>
        </p:txBody>
      </p:sp>
      <p:sp>
        <p:nvSpPr>
          <p:cNvPr id="7" name="Content Placeholder 3">
            <a:extLst>
              <a:ext uri="{FF2B5EF4-FFF2-40B4-BE49-F238E27FC236}">
                <a16:creationId xmlns:a16="http://schemas.microsoft.com/office/drawing/2014/main" id="{6A142F23-22D5-32F6-3B57-DC267E96E6E5}"/>
              </a:ext>
            </a:extLst>
          </p:cNvPr>
          <p:cNvSpPr>
            <a:spLocks noGrp="1"/>
          </p:cNvSpPr>
          <p:nvPr>
            <p:ph sz="quarter" idx="11"/>
          </p:nvPr>
        </p:nvSpPr>
        <p:spPr>
          <a:xfrm>
            <a:off x="2167377" y="4484914"/>
            <a:ext cx="20295058" cy="9231086"/>
          </a:xfrm>
        </p:spPr>
        <p:txBody>
          <a:bodyPr anchor="t">
            <a:normAutofit/>
          </a:bodyPr>
          <a:lstStyle/>
          <a:p>
            <a:pPr marL="0" lvl="0" indent="0"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Guided by the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Agile Manifesto’s values and principles</a:t>
            </a:r>
          </a:p>
          <a:p>
            <a:pPr marL="0" lvl="0" indent="0" defTabSz="914400" eaLnBrk="0" fontAlgn="base" hangingPunct="0">
              <a:spcBef>
                <a:spcPct val="0"/>
              </a:spcBef>
              <a:spcAft>
                <a:spcPct val="0"/>
              </a:spcAft>
              <a:buSzTx/>
            </a:pPr>
            <a:endPar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lvl="0" indent="0"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Helps teams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navigate uncertainty</a:t>
            </a:r>
          </a:p>
          <a:p>
            <a:pPr marL="0" lvl="0" indent="0" defTabSz="914400" eaLnBrk="0" fontAlgn="base" hangingPunct="0">
              <a:spcBef>
                <a:spcPct val="0"/>
              </a:spcBef>
              <a:spcAft>
                <a:spcPct val="0"/>
              </a:spcAft>
              <a:buSzTx/>
            </a:pPr>
            <a:endPar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lvl="0" indent="0" defTabSz="914400" eaLnBrk="0" fontAlgn="base" hangingPunct="0">
              <a:spcBef>
                <a:spcPct val="0"/>
              </a:spcBef>
              <a:spcAft>
                <a:spcPct val="0"/>
              </a:spcAft>
              <a:buSzTx/>
            </a:pPr>
            <a:r>
              <a:rPr lang="en-US" alt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Work in short cycles: </a:t>
            </a:r>
            <a:r>
              <a:rPr lang="en-US" alt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try → get feedback → adapt</a:t>
            </a:r>
          </a:p>
        </p:txBody>
      </p:sp>
    </p:spTree>
    <p:extLst>
      <p:ext uri="{BB962C8B-B14F-4D97-AF65-F5344CB8AC3E}">
        <p14:creationId xmlns:p14="http://schemas.microsoft.com/office/powerpoint/2010/main" val="3250941005"/>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D0F38-1EA2-FB8C-96CF-57D2AE9D4E55}"/>
              </a:ext>
            </a:extLst>
          </p:cNvPr>
          <p:cNvSpPr>
            <a:spLocks noGrp="1"/>
          </p:cNvSpPr>
          <p:nvPr>
            <p:ph type="title"/>
          </p:nvPr>
        </p:nvSpPr>
        <p:spPr/>
        <p:txBody>
          <a:bodyPr/>
          <a:lstStyle/>
          <a:p>
            <a:r>
              <a:rPr lang="en-US" sz="9600" dirty="0"/>
              <a:t>Where did Agile ideas come from?</a:t>
            </a:r>
            <a:endParaRPr lang="en-ID" dirty="0"/>
          </a:p>
        </p:txBody>
      </p:sp>
    </p:spTree>
    <p:extLst>
      <p:ext uri="{BB962C8B-B14F-4D97-AF65-F5344CB8AC3E}">
        <p14:creationId xmlns:p14="http://schemas.microsoft.com/office/powerpoint/2010/main" val="2129761824"/>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Lean Production</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6" y="2419727"/>
            <a:ext cx="21149823" cy="1074587"/>
          </a:xfrm>
        </p:spPr>
        <p:txBody>
          <a:bodyPr>
            <a:normAutofit/>
          </a:bodyPr>
          <a:lstStyle/>
          <a:p>
            <a:r>
              <a:rPr lang="en-US" dirty="0"/>
              <a:t>TOYOTA PRODUCTION SYSTEM (TPS)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11268757" y="4310744"/>
            <a:ext cx="11228378" cy="5394459"/>
          </a:xfrm>
        </p:spPr>
        <p:txBody>
          <a:bodyPr anchor="ctr">
            <a:normAutofit/>
          </a:bodyPr>
          <a:lstStyle/>
          <a:p>
            <a:pPr marL="0" marR="0" lvl="0" indent="0" algn="just" defTabSz="520700" rtl="0" eaLnBrk="0" fontAlgn="base" latinLnBrk="0" hangingPunct="0">
              <a:lnSpc>
                <a:spcPct val="100000"/>
              </a:lnSpc>
              <a:spcBef>
                <a:spcPct val="20000"/>
              </a:spcBef>
              <a:spcAft>
                <a:spcPct val="0"/>
              </a:spcAft>
              <a:buClrTx/>
              <a:buSzTx/>
              <a:buNone/>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Late 1940s</a:t>
            </a:r>
          </a:p>
          <a:p>
            <a:pPr marL="0" marR="0" lvl="0" indent="0" algn="just" defTabSz="520700" rtl="0" eaLnBrk="0" fontAlgn="base" latinLnBrk="0" hangingPunct="0">
              <a:lnSpc>
                <a:spcPct val="100000"/>
              </a:lnSpc>
              <a:spcBef>
                <a:spcPct val="20000"/>
              </a:spcBef>
              <a:spcAft>
                <a:spcPct val="0"/>
              </a:spcAft>
              <a:buClrTx/>
              <a:buSzTx/>
              <a:buNone/>
              <a:tabLst/>
              <a:defRPr/>
            </a:pPr>
            <a:endPar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endParaRPr>
          </a:p>
          <a:p>
            <a:pPr marL="390525" lvl="0" indent="-390525" algn="just"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Build </a:t>
            </a:r>
            <a:r>
              <a:rPr lang="en-US" sz="3600" b="1" kern="1200" dirty="0">
                <a:solidFill>
                  <a:prstClr val="black"/>
                </a:solidFill>
                <a:latin typeface="Open Sans"/>
                <a:ea typeface="MS PGothic" pitchFamily="34" charset="-128"/>
                <a:cs typeface="Open Sans"/>
              </a:rPr>
              <a:t>only what is needed</a:t>
            </a:r>
            <a:r>
              <a:rPr lang="en-US" sz="3600" kern="1200" dirty="0">
                <a:solidFill>
                  <a:prstClr val="black"/>
                </a:solidFill>
                <a:latin typeface="Open Sans"/>
                <a:ea typeface="MS PGothic" pitchFamily="34" charset="-128"/>
                <a:cs typeface="Open Sans"/>
              </a:rPr>
              <a:t>, when it is needed (pull)</a:t>
            </a:r>
          </a:p>
          <a:p>
            <a:pPr marL="390525" lvl="0" indent="-390525" algn="just" defTabSz="520700" eaLnBrk="0" fontAlgn="base" hangingPunct="0">
              <a:spcBef>
                <a:spcPct val="20000"/>
              </a:spcBef>
              <a:spcAft>
                <a:spcPct val="0"/>
              </a:spcAft>
              <a:buSzTx/>
              <a:buFont typeface="Arial" pitchFamily="34" charset="0"/>
              <a:buChar char="•"/>
              <a:defRPr/>
            </a:pPr>
            <a:r>
              <a:rPr lang="en-US" sz="3600" b="1" kern="1200" dirty="0">
                <a:solidFill>
                  <a:prstClr val="black"/>
                </a:solidFill>
                <a:latin typeface="Open Sans"/>
                <a:ea typeface="MS PGothic" pitchFamily="34" charset="-128"/>
                <a:cs typeface="Open Sans"/>
              </a:rPr>
              <a:t>Stop and fix problems early </a:t>
            </a:r>
            <a:r>
              <a:rPr lang="en-US" sz="3600" kern="1200" dirty="0">
                <a:solidFill>
                  <a:prstClr val="black"/>
                </a:solidFill>
                <a:latin typeface="Open Sans"/>
                <a:ea typeface="MS PGothic" pitchFamily="34" charset="-128"/>
                <a:cs typeface="Open Sans"/>
              </a:rPr>
              <a:t>(quality first)</a:t>
            </a:r>
          </a:p>
          <a:p>
            <a:pPr marL="390525" lvl="0" indent="-390525" algn="just" defTabSz="520700" eaLnBrk="0" fontAlgn="base" hangingPunct="0">
              <a:spcBef>
                <a:spcPct val="20000"/>
              </a:spcBef>
              <a:spcAft>
                <a:spcPct val="0"/>
              </a:spcAft>
              <a:buSzTx/>
              <a:buFont typeface="Arial" pitchFamily="34" charset="0"/>
              <a:buChar char="•"/>
              <a:defRPr/>
            </a:pPr>
            <a:r>
              <a:rPr lang="en-US" sz="3600" kern="1200" dirty="0">
                <a:solidFill>
                  <a:prstClr val="black"/>
                </a:solidFill>
                <a:latin typeface="Open Sans"/>
                <a:ea typeface="MS PGothic" pitchFamily="34" charset="-128"/>
                <a:cs typeface="Open Sans"/>
              </a:rPr>
              <a:t>Teams are </a:t>
            </a:r>
            <a:r>
              <a:rPr lang="en-US" sz="3600" b="1" kern="1200" dirty="0">
                <a:solidFill>
                  <a:prstClr val="black"/>
                </a:solidFill>
                <a:latin typeface="Open Sans"/>
                <a:ea typeface="MS PGothic" pitchFamily="34" charset="-128"/>
                <a:cs typeface="Open Sans"/>
              </a:rPr>
              <a:t>empowered and multi-skilled</a:t>
            </a:r>
          </a:p>
          <a:p>
            <a:pPr marL="390525" lvl="0" indent="-390525" algn="just" defTabSz="520700" eaLnBrk="0" fontAlgn="base" hangingPunct="0">
              <a:spcBef>
                <a:spcPct val="20000"/>
              </a:spcBef>
              <a:spcAft>
                <a:spcPct val="0"/>
              </a:spcAft>
              <a:buSzTx/>
              <a:buFont typeface="Arial" pitchFamily="34" charset="0"/>
              <a:buChar char="•"/>
              <a:defRPr/>
            </a:pPr>
            <a:r>
              <a:rPr lang="en-US" sz="3600" b="1" kern="1200" dirty="0">
                <a:solidFill>
                  <a:prstClr val="black"/>
                </a:solidFill>
                <a:latin typeface="Open Sans"/>
                <a:ea typeface="MS PGothic" pitchFamily="34" charset="-128"/>
                <a:cs typeface="Open Sans"/>
              </a:rPr>
              <a:t>Continuous improvement </a:t>
            </a:r>
            <a:r>
              <a:rPr lang="en-US" sz="3600" kern="1200" dirty="0">
                <a:solidFill>
                  <a:prstClr val="black"/>
                </a:solidFill>
                <a:latin typeface="Open Sans"/>
                <a:ea typeface="MS PGothic" pitchFamily="34" charset="-128"/>
                <a:cs typeface="Open Sans"/>
              </a:rPr>
              <a:t>through small changes (Kaizen)</a:t>
            </a:r>
            <a:endParaRPr kumimoji="0" lang="en-US" sz="3600" i="0" u="none" strike="noStrike" kern="1200" cap="none" spc="0" normalizeH="0" baseline="0" noProof="0" dirty="0">
              <a:ln>
                <a:noFill/>
              </a:ln>
              <a:solidFill>
                <a:prstClr val="black"/>
              </a:solidFill>
              <a:effectLst/>
              <a:uLnTx/>
              <a:uFillTx/>
              <a:latin typeface="Open Sans"/>
              <a:ea typeface="MS PGothic" pitchFamily="34" charset="-128"/>
              <a:cs typeface="Open Sans"/>
            </a:endParaRPr>
          </a:p>
        </p:txBody>
      </p:sp>
      <p:pic>
        <p:nvPicPr>
          <p:cNvPr id="1026" name="Picture 2" descr="Taiichi Ohno - an intro to the father of Lean Manufacturing | Vetter Blog">
            <a:extLst>
              <a:ext uri="{FF2B5EF4-FFF2-40B4-BE49-F238E27FC236}">
                <a16:creationId xmlns:a16="http://schemas.microsoft.com/office/drawing/2014/main" id="{15AC5CCF-2233-89E0-B8C9-2D92C8131F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7376" y="5269124"/>
            <a:ext cx="8699315" cy="347769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7FCBB7E-41A3-FECA-A271-1A41A0B8425C}"/>
              </a:ext>
            </a:extLst>
          </p:cNvPr>
          <p:cNvSpPr txBox="1"/>
          <p:nvPr/>
        </p:nvSpPr>
        <p:spPr>
          <a:xfrm>
            <a:off x="6093279" y="11030921"/>
            <a:ext cx="12197442"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Lean focuses on learning fast and reducing waste</a:t>
            </a:r>
            <a:endParaRPr lang="en-ID"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1495312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D37A4-5193-7546-212F-8F6FF93E3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18F689-E8F1-6374-B8A3-B0AAA60B3711}"/>
              </a:ext>
            </a:extLst>
          </p:cNvPr>
          <p:cNvSpPr>
            <a:spLocks noGrp="1"/>
          </p:cNvSpPr>
          <p:nvPr>
            <p:ph type="title"/>
          </p:nvPr>
        </p:nvSpPr>
        <p:spPr/>
        <p:txBody>
          <a:bodyPr>
            <a:normAutofit fontScale="90000"/>
          </a:bodyPr>
          <a:lstStyle/>
          <a:p>
            <a:r>
              <a:rPr lang="en-US" sz="4000" dirty="0"/>
              <a:t>Lean Production</a:t>
            </a:r>
            <a:endParaRPr lang="en-US" dirty="0"/>
          </a:p>
        </p:txBody>
      </p:sp>
      <p:sp>
        <p:nvSpPr>
          <p:cNvPr id="3" name="Text Placeholder 2">
            <a:extLst>
              <a:ext uri="{FF2B5EF4-FFF2-40B4-BE49-F238E27FC236}">
                <a16:creationId xmlns:a16="http://schemas.microsoft.com/office/drawing/2014/main" id="{87E6E5F8-EBDA-C831-7BDC-E2A650D2BBF2}"/>
              </a:ext>
            </a:extLst>
          </p:cNvPr>
          <p:cNvSpPr>
            <a:spLocks noGrp="1"/>
          </p:cNvSpPr>
          <p:nvPr>
            <p:ph type="body" sz="quarter" idx="10"/>
          </p:nvPr>
        </p:nvSpPr>
        <p:spPr>
          <a:xfrm>
            <a:off x="2167376" y="2419727"/>
            <a:ext cx="21149823" cy="1074587"/>
          </a:xfrm>
        </p:spPr>
        <p:txBody>
          <a:bodyPr>
            <a:normAutofit/>
          </a:bodyPr>
          <a:lstStyle/>
          <a:p>
            <a:r>
              <a:rPr lang="en-US" dirty="0"/>
              <a:t>From Lean to Agile</a:t>
            </a:r>
          </a:p>
        </p:txBody>
      </p:sp>
      <p:sp>
        <p:nvSpPr>
          <p:cNvPr id="6" name="TextBox 5">
            <a:extLst>
              <a:ext uri="{FF2B5EF4-FFF2-40B4-BE49-F238E27FC236}">
                <a16:creationId xmlns:a16="http://schemas.microsoft.com/office/drawing/2014/main" id="{166690FA-8E14-3078-09D8-455CBF138CE5}"/>
              </a:ext>
            </a:extLst>
          </p:cNvPr>
          <p:cNvSpPr txBox="1"/>
          <p:nvPr/>
        </p:nvSpPr>
        <p:spPr>
          <a:xfrm>
            <a:off x="4755696" y="9348393"/>
            <a:ext cx="14872607" cy="64633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Agile applies Lean thinking to software development</a:t>
            </a:r>
            <a:endParaRPr lang="en-ID"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8" name="Table 7">
            <a:extLst>
              <a:ext uri="{FF2B5EF4-FFF2-40B4-BE49-F238E27FC236}">
                <a16:creationId xmlns:a16="http://schemas.microsoft.com/office/drawing/2014/main" id="{4D39DF9A-BF35-0DD3-318A-346283650429}"/>
              </a:ext>
            </a:extLst>
          </p:cNvPr>
          <p:cNvGraphicFramePr>
            <a:graphicFrameLocks noGrp="1"/>
          </p:cNvGraphicFramePr>
          <p:nvPr>
            <p:extLst>
              <p:ext uri="{D42A27DB-BD31-4B8C-83A1-F6EECF244321}">
                <p14:modId xmlns:p14="http://schemas.microsoft.com/office/powerpoint/2010/main" val="3830914190"/>
              </p:ext>
            </p:extLst>
          </p:nvPr>
        </p:nvGraphicFramePr>
        <p:xfrm>
          <a:off x="1206500" y="5290457"/>
          <a:ext cx="21971000" cy="3200400"/>
        </p:xfrm>
        <a:graphic>
          <a:graphicData uri="http://schemas.openxmlformats.org/drawingml/2006/table">
            <a:tbl>
              <a:tblPr/>
              <a:tblGrid>
                <a:gridCol w="10985500">
                  <a:extLst>
                    <a:ext uri="{9D8B030D-6E8A-4147-A177-3AD203B41FA5}">
                      <a16:colId xmlns:a16="http://schemas.microsoft.com/office/drawing/2014/main" val="4107412604"/>
                    </a:ext>
                  </a:extLst>
                </a:gridCol>
                <a:gridCol w="10985500">
                  <a:extLst>
                    <a:ext uri="{9D8B030D-6E8A-4147-A177-3AD203B41FA5}">
                      <a16:colId xmlns:a16="http://schemas.microsoft.com/office/drawing/2014/main" val="3643136227"/>
                    </a:ext>
                  </a:extLst>
                </a:gridCol>
              </a:tblGrid>
              <a:tr h="0">
                <a:tc>
                  <a:txBody>
                    <a:bodyPr/>
                    <a:lstStyle/>
                    <a:p>
                      <a:pPr>
                        <a:buNone/>
                      </a:pPr>
                      <a:r>
                        <a:rPr lang="en-ID" sz="3600" b="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Lean Thinking</a:t>
                      </a:r>
                      <a:endParaRPr lang="en-ID" sz="36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3600" b="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Agile Software Development</a:t>
                      </a:r>
                      <a:endParaRPr lang="en-ID" sz="36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8977118"/>
                  </a:ext>
                </a:extLst>
              </a:tr>
              <a:tr h="0">
                <a:tc>
                  <a:txBody>
                    <a:bodyPr/>
                    <a:lstStyle/>
                    <a:p>
                      <a:pPr>
                        <a:buNone/>
                      </a:pPr>
                      <a:r>
                        <a:rPr lang="en-ID" sz="36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Pull system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36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Deliver in small increments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3182727"/>
                  </a:ext>
                </a:extLst>
              </a:tr>
              <a:tr h="0">
                <a:tc>
                  <a:txBody>
                    <a:bodyPr/>
                    <a:lstStyle/>
                    <a:p>
                      <a:pPr>
                        <a:buNone/>
                      </a:pPr>
                      <a:r>
                        <a:rPr lang="en-ID" sz="36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Stop to fix defects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36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Continuous testing &amp; feedback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8108163"/>
                  </a:ext>
                </a:extLst>
              </a:tr>
              <a:tr h="0">
                <a:tc>
                  <a:txBody>
                    <a:bodyPr/>
                    <a:lstStyle/>
                    <a:p>
                      <a:pPr>
                        <a:buNone/>
                      </a:pPr>
                      <a:r>
                        <a:rPr lang="en-ID" sz="36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Empowered workers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36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Self-organizing teams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461898"/>
                  </a:ext>
                </a:extLst>
              </a:tr>
              <a:tr h="0">
                <a:tc>
                  <a:txBody>
                    <a:bodyPr/>
                    <a:lstStyle/>
                    <a:p>
                      <a:pPr>
                        <a:buNone/>
                      </a:pPr>
                      <a:r>
                        <a:rPr lang="en-ID" sz="360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Continuous improvement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D"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Retrospectives &amp; adaptation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20332800"/>
                  </a:ext>
                </a:extLst>
              </a:tr>
            </a:tbl>
          </a:graphicData>
        </a:graphic>
      </p:graphicFrame>
    </p:spTree>
    <p:extLst>
      <p:ext uri="{BB962C8B-B14F-4D97-AF65-F5344CB8AC3E}">
        <p14:creationId xmlns:p14="http://schemas.microsoft.com/office/powerpoint/2010/main" val="1749835506"/>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3B2A2-4A2E-27A0-DAB5-E45EE03247FB}"/>
              </a:ext>
            </a:extLst>
          </p:cNvPr>
          <p:cNvSpPr>
            <a:spLocks noGrp="1"/>
          </p:cNvSpPr>
          <p:nvPr>
            <p:ph type="title"/>
          </p:nvPr>
        </p:nvSpPr>
        <p:spPr/>
        <p:txBody>
          <a:bodyPr/>
          <a:lstStyle/>
          <a:p>
            <a:r>
              <a:rPr lang="en-US" dirty="0"/>
              <a:t>Agile Manifesto</a:t>
            </a:r>
            <a:endParaRPr lang="en-ID" dirty="0"/>
          </a:p>
        </p:txBody>
      </p:sp>
    </p:spTree>
    <p:extLst>
      <p:ext uri="{BB962C8B-B14F-4D97-AF65-F5344CB8AC3E}">
        <p14:creationId xmlns:p14="http://schemas.microsoft.com/office/powerpoint/2010/main" val="358555068"/>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AGILE Manifesto and Principles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Evolution to agile manifesto</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10437368"/>
            <a:ext cx="6197690" cy="1717809"/>
          </a:xfrm>
        </p:spPr>
        <p:txBody>
          <a:bodyPr anchor="ctr">
            <a:normAutofit fontScale="85000" lnSpcReduction="20000"/>
          </a:bodyPr>
          <a:lstStyle/>
          <a:p>
            <a:pPr marL="0" marR="0" lvl="0" indent="0" algn="ctr" defTabSz="520700" rtl="0" eaLnBrk="0" fontAlgn="base" latinLnBrk="0" hangingPunct="0">
              <a:lnSpc>
                <a:spcPct val="100000"/>
              </a:lnSpc>
              <a:spcBef>
                <a:spcPct val="20000"/>
              </a:spcBef>
              <a:spcAft>
                <a:spcPct val="0"/>
              </a:spcAft>
              <a:buClrTx/>
              <a:buSzTx/>
              <a:buNone/>
              <a:tabLst/>
              <a:defRPr/>
            </a:pPr>
            <a:r>
              <a:rPr kumimoji="0" lang="en-US" sz="3600" i="0" strike="noStrike" kern="1200" cap="none" spc="0" normalizeH="0" baseline="0" noProof="0" dirty="0">
                <a:ln>
                  <a:noFill/>
                </a:ln>
                <a:solidFill>
                  <a:prstClr val="black"/>
                </a:solidFill>
                <a:effectLst/>
                <a:uLnTx/>
                <a:uFillTx/>
                <a:latin typeface="Open Sans"/>
                <a:ea typeface="MS PGothic" pitchFamily="34" charset="-128"/>
                <a:cs typeface="Open Sans"/>
              </a:rPr>
              <a:t>1986</a:t>
            </a:r>
            <a:endParaRPr kumimoji="0" lang="en-US" sz="3600" i="0" strike="noStrike" kern="1200" cap="none" spc="0" normalizeH="0" baseline="0" noProof="0" dirty="0">
              <a:ln>
                <a:noFill/>
              </a:ln>
              <a:solidFill>
                <a:prstClr val="black"/>
              </a:solidFill>
              <a:effectLst/>
              <a:uLnTx/>
              <a:uFillTx/>
              <a:latin typeface="Open Sans"/>
              <a:ea typeface="MS PGothic" pitchFamily="34" charset="-128"/>
              <a:cs typeface="Open Sans"/>
              <a:hlinkClick r:id="rId2"/>
            </a:endParaRPr>
          </a:p>
          <a:p>
            <a:pPr marL="0" marR="0" lvl="0" indent="0" algn="ctr" defTabSz="520700" rtl="0" eaLnBrk="0" fontAlgn="base" latinLnBrk="0" hangingPunct="0">
              <a:lnSpc>
                <a:spcPct val="100000"/>
              </a:lnSpc>
              <a:spcBef>
                <a:spcPct val="20000"/>
              </a:spcBef>
              <a:spcAft>
                <a:spcPct val="0"/>
              </a:spcAft>
              <a:buClrTx/>
              <a:buSzTx/>
              <a:buNone/>
              <a:tabLst/>
              <a:defRPr/>
            </a:pPr>
            <a:r>
              <a:rPr kumimoji="0" lang="en-US" sz="3600" i="0" u="none" strike="noStrike" kern="1200" cap="none" spc="0" normalizeH="0" baseline="0" noProof="0" dirty="0">
                <a:ln>
                  <a:noFill/>
                </a:ln>
                <a:solidFill>
                  <a:prstClr val="black"/>
                </a:solidFill>
                <a:effectLst/>
                <a:uLnTx/>
                <a:uFillTx/>
                <a:latin typeface="Open Sans"/>
                <a:ea typeface="MS PGothic" pitchFamily="34" charset="-128"/>
                <a:cs typeface="Open Sans"/>
                <a:hlinkClick r:id="rId2"/>
              </a:rPr>
              <a:t>https://hbr.org/1986/01/the-new-new-product-development-game</a:t>
            </a:r>
            <a:endParaRPr kumimoji="0" lang="en-US" sz="3600" i="0" u="none" strike="noStrike" kern="1200" cap="none" spc="0" normalizeH="0" baseline="0" noProof="0" dirty="0">
              <a:ln>
                <a:noFill/>
              </a:ln>
              <a:solidFill>
                <a:prstClr val="black"/>
              </a:solidFill>
              <a:effectLst/>
              <a:uLnTx/>
              <a:uFillTx/>
              <a:latin typeface="Open Sans"/>
              <a:ea typeface="MS PGothic" pitchFamily="34" charset="-128"/>
              <a:cs typeface="Open Sans"/>
            </a:endParaRPr>
          </a:p>
        </p:txBody>
      </p:sp>
      <p:pic>
        <p:nvPicPr>
          <p:cNvPr id="6" name="Picture 5" descr="A screenshot of a text&#10;&#10;Description automatically generated">
            <a:extLst>
              <a:ext uri="{FF2B5EF4-FFF2-40B4-BE49-F238E27FC236}">
                <a16:creationId xmlns:a16="http://schemas.microsoft.com/office/drawing/2014/main" id="{C74EC0AE-957C-CA12-BAD3-DE9E8070EC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7377" y="3298050"/>
            <a:ext cx="6197690" cy="7007388"/>
          </a:xfrm>
          <a:prstGeom prst="rect">
            <a:avLst/>
          </a:prstGeom>
        </p:spPr>
      </p:pic>
      <p:pic>
        <p:nvPicPr>
          <p:cNvPr id="2050" name="Picture 2">
            <a:extLst>
              <a:ext uri="{FF2B5EF4-FFF2-40B4-BE49-F238E27FC236}">
                <a16:creationId xmlns:a16="http://schemas.microsoft.com/office/drawing/2014/main" id="{2C9EA6D1-E9DF-B9E2-58AC-9467F874F7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05334" y="3260662"/>
            <a:ext cx="4605866" cy="7014751"/>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3">
            <a:extLst>
              <a:ext uri="{FF2B5EF4-FFF2-40B4-BE49-F238E27FC236}">
                <a16:creationId xmlns:a16="http://schemas.microsoft.com/office/drawing/2014/main" id="{26316B78-A843-A298-1D7A-734BC60FB419}"/>
              </a:ext>
            </a:extLst>
          </p:cNvPr>
          <p:cNvSpPr txBox="1">
            <a:spLocks/>
          </p:cNvSpPr>
          <p:nvPr/>
        </p:nvSpPr>
        <p:spPr>
          <a:xfrm>
            <a:off x="8805334" y="10437367"/>
            <a:ext cx="4605866" cy="17178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defTabSz="520700" eaLnBrk="0" fontAlgn="base" hangingPunct="0">
              <a:spcBef>
                <a:spcPct val="20000"/>
              </a:spcBef>
              <a:spcAft>
                <a:spcPct val="0"/>
              </a:spcAft>
              <a:buSzTx/>
              <a:buFontTx/>
              <a:buNone/>
              <a:defRPr/>
            </a:pPr>
            <a:r>
              <a:rPr lang="en-ID" sz="3600" kern="1200" dirty="0">
                <a:solidFill>
                  <a:prstClr val="black"/>
                </a:solidFill>
                <a:latin typeface="Open Sans"/>
                <a:ea typeface="MS PGothic" pitchFamily="34" charset="-128"/>
                <a:cs typeface="Open Sans"/>
              </a:rPr>
              <a:t>1990</a:t>
            </a:r>
            <a:endParaRPr lang="en-ID" sz="3600" kern="1200" dirty="0">
              <a:solidFill>
                <a:prstClr val="black"/>
              </a:solidFill>
              <a:latin typeface="Open Sans"/>
              <a:ea typeface="MS PGothic" pitchFamily="34" charset="-128"/>
              <a:cs typeface="Open Sans"/>
              <a:hlinkClick r:id="rId2"/>
            </a:endParaRPr>
          </a:p>
        </p:txBody>
      </p:sp>
      <p:pic>
        <p:nvPicPr>
          <p:cNvPr id="2052" name="Picture 4" descr="Manifesto for Agile Software Development - Kanban Zone">
            <a:extLst>
              <a:ext uri="{FF2B5EF4-FFF2-40B4-BE49-F238E27FC236}">
                <a16:creationId xmlns:a16="http://schemas.microsoft.com/office/drawing/2014/main" id="{21D8734D-17FA-1DF2-3A49-AE6E5467AB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0" y="3260662"/>
            <a:ext cx="8621184" cy="7049159"/>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3">
            <a:extLst>
              <a:ext uri="{FF2B5EF4-FFF2-40B4-BE49-F238E27FC236}">
                <a16:creationId xmlns:a16="http://schemas.microsoft.com/office/drawing/2014/main" id="{BAF88FB7-EFC9-BC34-D66E-2485FF34596E}"/>
              </a:ext>
            </a:extLst>
          </p:cNvPr>
          <p:cNvSpPr txBox="1">
            <a:spLocks/>
          </p:cNvSpPr>
          <p:nvPr/>
        </p:nvSpPr>
        <p:spPr>
          <a:xfrm>
            <a:off x="15239999" y="10437366"/>
            <a:ext cx="8621183" cy="17178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defTabSz="520700" eaLnBrk="0" fontAlgn="base" hangingPunct="0">
              <a:spcBef>
                <a:spcPct val="20000"/>
              </a:spcBef>
              <a:spcAft>
                <a:spcPct val="0"/>
              </a:spcAft>
              <a:buSzTx/>
              <a:buFontTx/>
              <a:buNone/>
              <a:defRPr/>
            </a:pPr>
            <a:r>
              <a:rPr lang="en-ID" sz="3600" kern="1200" dirty="0">
                <a:solidFill>
                  <a:prstClr val="black"/>
                </a:solidFill>
                <a:latin typeface="Open Sans"/>
                <a:ea typeface="MS PGothic" pitchFamily="34" charset="-128"/>
                <a:cs typeface="Open Sans"/>
              </a:rPr>
              <a:t>2001</a:t>
            </a:r>
            <a:endParaRPr lang="en-ID" sz="3600" kern="1200" dirty="0">
              <a:solidFill>
                <a:prstClr val="black"/>
              </a:solidFill>
              <a:latin typeface="Open Sans"/>
              <a:ea typeface="MS PGothic" pitchFamily="34" charset="-128"/>
              <a:cs typeface="Open Sans"/>
              <a:hlinkClick r:id="rId2"/>
            </a:endParaRPr>
          </a:p>
        </p:txBody>
      </p:sp>
      <p:sp>
        <p:nvSpPr>
          <p:cNvPr id="9" name="TextBox 8">
            <a:extLst>
              <a:ext uri="{FF2B5EF4-FFF2-40B4-BE49-F238E27FC236}">
                <a16:creationId xmlns:a16="http://schemas.microsoft.com/office/drawing/2014/main" id="{F71B49F0-B6D7-29AF-68BA-C3CAE8C021F1}"/>
              </a:ext>
            </a:extLst>
          </p:cNvPr>
          <p:cNvSpPr txBox="1"/>
          <p:nvPr/>
        </p:nvSpPr>
        <p:spPr>
          <a:xfrm>
            <a:off x="13879964" y="6252706"/>
            <a:ext cx="891271" cy="121058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7200" b="1" i="0" u="none" strike="noStrike" cap="none" spc="0" normalizeH="0" baseline="0" dirty="0">
                <a:ln>
                  <a:noFill/>
                </a:ln>
                <a:solidFill>
                  <a:srgbClr val="5E5E5E"/>
                </a:solidFill>
                <a:effectLst/>
                <a:uFillTx/>
                <a:latin typeface="Open Sans" panose="020B0606030504020204" pitchFamily="34" charset="0"/>
                <a:ea typeface="Open Sans" panose="020B0606030504020204" pitchFamily="34" charset="0"/>
                <a:cs typeface="Open Sans" panose="020B0606030504020204" pitchFamily="34" charset="0"/>
                <a:sym typeface="Helvetica Neue"/>
              </a:rPr>
              <a:t>…</a:t>
            </a:r>
          </a:p>
        </p:txBody>
      </p:sp>
    </p:spTree>
    <p:extLst>
      <p:ext uri="{BB962C8B-B14F-4D97-AF65-F5344CB8AC3E}">
        <p14:creationId xmlns:p14="http://schemas.microsoft.com/office/powerpoint/2010/main" val="304122937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Agile Manifesto</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p:txBody>
          <a:bodyPr/>
          <a:lstStyle/>
          <a:p>
            <a:r>
              <a:rPr lang="en-US" dirty="0"/>
              <a:t>12 Principles Behind the Agile manifesto</a:t>
            </a:r>
          </a:p>
        </p:txBody>
      </p:sp>
      <p:sp>
        <p:nvSpPr>
          <p:cNvPr id="7" name="Content Placeholder 3">
            <a:extLst>
              <a:ext uri="{FF2B5EF4-FFF2-40B4-BE49-F238E27FC236}">
                <a16:creationId xmlns:a16="http://schemas.microsoft.com/office/drawing/2014/main" id="{4F6F6238-4C3D-B5F5-53D6-E5CA9E58AE40}"/>
              </a:ext>
            </a:extLst>
          </p:cNvPr>
          <p:cNvSpPr>
            <a:spLocks noGrp="1"/>
          </p:cNvSpPr>
          <p:nvPr>
            <p:ph sz="quarter" idx="11"/>
          </p:nvPr>
        </p:nvSpPr>
        <p:spPr>
          <a:xfrm>
            <a:off x="2167377" y="4125687"/>
            <a:ext cx="20295058" cy="9231086"/>
          </a:xfrm>
        </p:spPr>
        <p:txBody>
          <a:bodyPr anchor="t">
            <a:normAutofit/>
          </a:bodyPr>
          <a:lstStyle/>
          <a:p>
            <a:pPr marL="1352550" lvl="1" indent="-742950" algn="just">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Highest priority is to </a:t>
            </a:r>
            <a:r>
              <a:rPr lang="en-US" sz="3600" b="1" dirty="0">
                <a:latin typeface="Open Sans" panose="020B0606030504020204" pitchFamily="34" charset="0"/>
                <a:ea typeface="Open Sans" panose="020B0606030504020204" pitchFamily="34" charset="0"/>
                <a:cs typeface="Open Sans" panose="020B0606030504020204" pitchFamily="34" charset="0"/>
              </a:rPr>
              <a:t>satisfy</a:t>
            </a:r>
            <a:r>
              <a:rPr lang="en-US" sz="3600" dirty="0">
                <a:latin typeface="Open Sans" panose="020B0606030504020204" pitchFamily="34" charset="0"/>
                <a:ea typeface="Open Sans" panose="020B0606030504020204" pitchFamily="34" charset="0"/>
                <a:cs typeface="Open Sans" panose="020B0606030504020204" pitchFamily="34" charset="0"/>
              </a:rPr>
              <a:t> the </a:t>
            </a:r>
            <a:r>
              <a:rPr lang="en-US" sz="3600" b="1" dirty="0">
                <a:latin typeface="Open Sans" panose="020B0606030504020204" pitchFamily="34" charset="0"/>
                <a:ea typeface="Open Sans" panose="020B0606030504020204" pitchFamily="34" charset="0"/>
                <a:cs typeface="Open Sans" panose="020B0606030504020204" pitchFamily="34" charset="0"/>
              </a:rPr>
              <a:t>customer</a:t>
            </a:r>
            <a:r>
              <a:rPr lang="en-US" sz="3600" dirty="0">
                <a:latin typeface="Open Sans" panose="020B0606030504020204" pitchFamily="34" charset="0"/>
                <a:ea typeface="Open Sans" panose="020B0606030504020204" pitchFamily="34" charset="0"/>
                <a:cs typeface="Open Sans" panose="020B0606030504020204" pitchFamily="34" charset="0"/>
              </a:rPr>
              <a:t> through </a:t>
            </a:r>
            <a:r>
              <a:rPr lang="en-US" sz="3600" b="1" dirty="0">
                <a:latin typeface="Open Sans" panose="020B0606030504020204" pitchFamily="34" charset="0"/>
                <a:ea typeface="Open Sans" panose="020B0606030504020204" pitchFamily="34" charset="0"/>
                <a:cs typeface="Open Sans" panose="020B0606030504020204" pitchFamily="34" charset="0"/>
              </a:rPr>
              <a:t>early</a:t>
            </a:r>
            <a:r>
              <a:rPr lang="en-US" sz="3600" dirty="0">
                <a:latin typeface="Open Sans" panose="020B0606030504020204" pitchFamily="34" charset="0"/>
                <a:ea typeface="Open Sans" panose="020B0606030504020204" pitchFamily="34" charset="0"/>
                <a:cs typeface="Open Sans" panose="020B0606030504020204" pitchFamily="34" charset="0"/>
              </a:rPr>
              <a:t> and </a:t>
            </a:r>
            <a:r>
              <a:rPr lang="en-US" sz="3600" b="1" dirty="0">
                <a:latin typeface="Open Sans" panose="020B0606030504020204" pitchFamily="34" charset="0"/>
                <a:ea typeface="Open Sans" panose="020B0606030504020204" pitchFamily="34" charset="0"/>
                <a:cs typeface="Open Sans" panose="020B0606030504020204" pitchFamily="34" charset="0"/>
              </a:rPr>
              <a:t>continuous delivery </a:t>
            </a:r>
            <a:r>
              <a:rPr lang="en-US" sz="3600" dirty="0">
                <a:latin typeface="Open Sans" panose="020B0606030504020204" pitchFamily="34" charset="0"/>
                <a:ea typeface="Open Sans" panose="020B0606030504020204" pitchFamily="34" charset="0"/>
                <a:cs typeface="Open Sans" panose="020B0606030504020204" pitchFamily="34" charset="0"/>
              </a:rPr>
              <a:t>of valuable software.</a:t>
            </a:r>
          </a:p>
          <a:p>
            <a:pPr marL="1352550" lvl="1" indent="-742950" algn="just">
              <a:buFont typeface="+mj-lt"/>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Welcome </a:t>
            </a:r>
            <a:r>
              <a:rPr lang="en-US" sz="3600" b="1" dirty="0">
                <a:latin typeface="Open Sans" panose="020B0606030504020204" pitchFamily="34" charset="0"/>
                <a:ea typeface="Open Sans" panose="020B0606030504020204" pitchFamily="34" charset="0"/>
                <a:cs typeface="Open Sans" panose="020B0606030504020204" pitchFamily="34" charset="0"/>
              </a:rPr>
              <a:t>changing requirements</a:t>
            </a:r>
            <a:r>
              <a:rPr lang="en-US" sz="3600" dirty="0">
                <a:latin typeface="Open Sans" panose="020B0606030504020204" pitchFamily="34" charset="0"/>
                <a:ea typeface="Open Sans" panose="020B0606030504020204" pitchFamily="34" charset="0"/>
                <a:cs typeface="Open Sans" panose="020B0606030504020204" pitchFamily="34" charset="0"/>
              </a:rPr>
              <a:t>, even late in development. Agile processes harness change for the customer’s </a:t>
            </a:r>
            <a:r>
              <a:rPr lang="en-US" sz="3600" b="1" dirty="0">
                <a:latin typeface="Open Sans" panose="020B0606030504020204" pitchFamily="34" charset="0"/>
                <a:ea typeface="Open Sans" panose="020B0606030504020204" pitchFamily="34" charset="0"/>
                <a:cs typeface="Open Sans" panose="020B0606030504020204" pitchFamily="34" charset="0"/>
              </a:rPr>
              <a:t>competitive advantage</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marL="1352550" lvl="1" indent="-742950" algn="just">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Deliver</a:t>
            </a:r>
            <a:r>
              <a:rPr lang="en-US" sz="3600" dirty="0">
                <a:latin typeface="Open Sans" panose="020B0606030504020204" pitchFamily="34" charset="0"/>
                <a:ea typeface="Open Sans" panose="020B0606030504020204" pitchFamily="34" charset="0"/>
                <a:cs typeface="Open Sans" panose="020B0606030504020204" pitchFamily="34" charset="0"/>
              </a:rPr>
              <a:t> working software </a:t>
            </a:r>
            <a:r>
              <a:rPr lang="en-US" sz="3600" b="1" dirty="0">
                <a:latin typeface="Open Sans" panose="020B0606030504020204" pitchFamily="34" charset="0"/>
                <a:ea typeface="Open Sans" panose="020B0606030504020204" pitchFamily="34" charset="0"/>
                <a:cs typeface="Open Sans" panose="020B0606030504020204" pitchFamily="34" charset="0"/>
              </a:rPr>
              <a:t>frequently</a:t>
            </a:r>
            <a:r>
              <a:rPr lang="en-US" sz="3600" dirty="0">
                <a:latin typeface="Open Sans" panose="020B0606030504020204" pitchFamily="34" charset="0"/>
                <a:ea typeface="Open Sans" panose="020B0606030504020204" pitchFamily="34" charset="0"/>
                <a:cs typeface="Open Sans" panose="020B0606030504020204" pitchFamily="34" charset="0"/>
              </a:rPr>
              <a:t>, from a couple of weeks to a couple of months, with a preference to the </a:t>
            </a:r>
            <a:r>
              <a:rPr lang="en-US" sz="3600" b="1" dirty="0">
                <a:latin typeface="Open Sans" panose="020B0606030504020204" pitchFamily="34" charset="0"/>
                <a:ea typeface="Open Sans" panose="020B0606030504020204" pitchFamily="34" charset="0"/>
                <a:cs typeface="Open Sans" panose="020B0606030504020204" pitchFamily="34" charset="0"/>
              </a:rPr>
              <a:t>shorter</a:t>
            </a:r>
            <a:r>
              <a:rPr lang="en-US" sz="3600" dirty="0">
                <a:latin typeface="Open Sans" panose="020B0606030504020204" pitchFamily="34" charset="0"/>
                <a:ea typeface="Open Sans" panose="020B0606030504020204" pitchFamily="34" charset="0"/>
                <a:cs typeface="Open Sans" panose="020B0606030504020204" pitchFamily="34" charset="0"/>
              </a:rPr>
              <a:t> timescale.</a:t>
            </a:r>
          </a:p>
          <a:p>
            <a:pPr marL="1352550" lvl="1" indent="-742950" algn="just">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Businesspeople </a:t>
            </a:r>
            <a:r>
              <a:rPr lang="en-US" sz="3600" dirty="0">
                <a:latin typeface="Open Sans" panose="020B0606030504020204" pitchFamily="34" charset="0"/>
                <a:ea typeface="Open Sans" panose="020B0606030504020204" pitchFamily="34" charset="0"/>
                <a:cs typeface="Open Sans" panose="020B0606030504020204" pitchFamily="34" charset="0"/>
              </a:rPr>
              <a:t>and </a:t>
            </a:r>
            <a:r>
              <a:rPr lang="en-US" sz="3600" b="1" dirty="0">
                <a:latin typeface="Open Sans" panose="020B0606030504020204" pitchFamily="34" charset="0"/>
                <a:ea typeface="Open Sans" panose="020B0606030504020204" pitchFamily="34" charset="0"/>
                <a:cs typeface="Open Sans" panose="020B0606030504020204" pitchFamily="34" charset="0"/>
              </a:rPr>
              <a:t>developers</a:t>
            </a:r>
            <a:r>
              <a:rPr lang="en-US" sz="3600" dirty="0">
                <a:latin typeface="Open Sans" panose="020B0606030504020204" pitchFamily="34" charset="0"/>
                <a:ea typeface="Open Sans" panose="020B0606030504020204" pitchFamily="34" charset="0"/>
                <a:cs typeface="Open Sans" panose="020B0606030504020204" pitchFamily="34" charset="0"/>
              </a:rPr>
              <a:t> must </a:t>
            </a:r>
            <a:r>
              <a:rPr lang="en-US" sz="3600" b="1" dirty="0">
                <a:latin typeface="Open Sans" panose="020B0606030504020204" pitchFamily="34" charset="0"/>
                <a:ea typeface="Open Sans" panose="020B0606030504020204" pitchFamily="34" charset="0"/>
                <a:cs typeface="Open Sans" panose="020B0606030504020204" pitchFamily="34" charset="0"/>
              </a:rPr>
              <a:t>work together daily</a:t>
            </a:r>
            <a:r>
              <a:rPr lang="en-US" sz="3600" dirty="0">
                <a:latin typeface="Open Sans" panose="020B0606030504020204" pitchFamily="34" charset="0"/>
                <a:ea typeface="Open Sans" panose="020B0606030504020204" pitchFamily="34" charset="0"/>
                <a:cs typeface="Open Sans" panose="020B0606030504020204" pitchFamily="34" charset="0"/>
              </a:rPr>
              <a:t> throughout the project.</a:t>
            </a:r>
          </a:p>
          <a:p>
            <a:pPr marL="1352550" lvl="1" indent="-742950" algn="just">
              <a:buFont typeface="+mj-lt"/>
              <a:buAutoNum type="arabicPeriod"/>
            </a:pPr>
            <a:r>
              <a:rPr lang="en-US" sz="3600" b="1" dirty="0">
                <a:latin typeface="Open Sans" panose="020B0606030504020204" pitchFamily="34" charset="0"/>
                <a:ea typeface="Open Sans" panose="020B0606030504020204" pitchFamily="34" charset="0"/>
                <a:cs typeface="Open Sans" panose="020B0606030504020204" pitchFamily="34" charset="0"/>
              </a:rPr>
              <a:t>Build</a:t>
            </a:r>
            <a:r>
              <a:rPr lang="en-US" sz="3600" dirty="0">
                <a:latin typeface="Open Sans" panose="020B0606030504020204" pitchFamily="34" charset="0"/>
                <a:ea typeface="Open Sans" panose="020B0606030504020204" pitchFamily="34" charset="0"/>
                <a:cs typeface="Open Sans" panose="020B0606030504020204" pitchFamily="34" charset="0"/>
              </a:rPr>
              <a:t> projects </a:t>
            </a:r>
            <a:r>
              <a:rPr lang="en-US" sz="3600" b="1" dirty="0">
                <a:latin typeface="Open Sans" panose="020B0606030504020204" pitchFamily="34" charset="0"/>
                <a:ea typeface="Open Sans" panose="020B0606030504020204" pitchFamily="34" charset="0"/>
                <a:cs typeface="Open Sans" panose="020B0606030504020204" pitchFamily="34" charset="0"/>
              </a:rPr>
              <a:t>around</a:t>
            </a:r>
            <a:r>
              <a:rPr lang="en-US" sz="3600" dirty="0">
                <a:latin typeface="Open Sans" panose="020B0606030504020204" pitchFamily="34" charset="0"/>
                <a:ea typeface="Open Sans" panose="020B0606030504020204" pitchFamily="34" charset="0"/>
                <a:cs typeface="Open Sans" panose="020B0606030504020204" pitchFamily="34" charset="0"/>
              </a:rPr>
              <a:t> </a:t>
            </a:r>
            <a:r>
              <a:rPr lang="en-US" sz="3600" b="1" dirty="0">
                <a:latin typeface="Open Sans" panose="020B0606030504020204" pitchFamily="34" charset="0"/>
                <a:ea typeface="Open Sans" panose="020B0606030504020204" pitchFamily="34" charset="0"/>
                <a:cs typeface="Open Sans" panose="020B0606030504020204" pitchFamily="34" charset="0"/>
              </a:rPr>
              <a:t>motivated</a:t>
            </a:r>
            <a:r>
              <a:rPr lang="en-US" sz="3600" dirty="0">
                <a:latin typeface="Open Sans" panose="020B0606030504020204" pitchFamily="34" charset="0"/>
                <a:ea typeface="Open Sans" panose="020B0606030504020204" pitchFamily="34" charset="0"/>
                <a:cs typeface="Open Sans" panose="020B0606030504020204" pitchFamily="34" charset="0"/>
              </a:rPr>
              <a:t> </a:t>
            </a:r>
            <a:r>
              <a:rPr lang="en-US" sz="3600" b="1" dirty="0">
                <a:latin typeface="Open Sans" panose="020B0606030504020204" pitchFamily="34" charset="0"/>
                <a:ea typeface="Open Sans" panose="020B0606030504020204" pitchFamily="34" charset="0"/>
                <a:cs typeface="Open Sans" panose="020B0606030504020204" pitchFamily="34" charset="0"/>
              </a:rPr>
              <a:t>individuals</a:t>
            </a:r>
            <a:r>
              <a:rPr lang="en-US" sz="3600" dirty="0">
                <a:latin typeface="Open Sans" panose="020B0606030504020204" pitchFamily="34" charset="0"/>
                <a:ea typeface="Open Sans" panose="020B0606030504020204" pitchFamily="34" charset="0"/>
                <a:cs typeface="Open Sans" panose="020B0606030504020204" pitchFamily="34" charset="0"/>
              </a:rPr>
              <a:t>. Give them the environment and support they need, and trust them to get the job done.</a:t>
            </a:r>
          </a:p>
        </p:txBody>
      </p:sp>
    </p:spTree>
    <p:extLst>
      <p:ext uri="{BB962C8B-B14F-4D97-AF65-F5344CB8AC3E}">
        <p14:creationId xmlns:p14="http://schemas.microsoft.com/office/powerpoint/2010/main" val="84856523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Agile Manifesto</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p:txBody>
          <a:bodyPr/>
          <a:lstStyle/>
          <a:p>
            <a:r>
              <a:rPr lang="en-US" dirty="0"/>
              <a:t>12 Principles Behind the Agile manifesto</a:t>
            </a:r>
          </a:p>
        </p:txBody>
      </p:sp>
      <p:sp>
        <p:nvSpPr>
          <p:cNvPr id="7" name="Content Placeholder 3">
            <a:extLst>
              <a:ext uri="{FF2B5EF4-FFF2-40B4-BE49-F238E27FC236}">
                <a16:creationId xmlns:a16="http://schemas.microsoft.com/office/drawing/2014/main" id="{4F6F6238-4C3D-B5F5-53D6-E5CA9E58AE40}"/>
              </a:ext>
            </a:extLst>
          </p:cNvPr>
          <p:cNvSpPr>
            <a:spLocks noGrp="1"/>
          </p:cNvSpPr>
          <p:nvPr>
            <p:ph sz="quarter" idx="11"/>
          </p:nvPr>
        </p:nvSpPr>
        <p:spPr>
          <a:xfrm>
            <a:off x="2167377" y="3766459"/>
            <a:ext cx="20295058" cy="9231086"/>
          </a:xfrm>
        </p:spPr>
        <p:txBody>
          <a:bodyPr anchor="t">
            <a:normAutofit lnSpcReduction="10000"/>
          </a:bodyPr>
          <a:lstStyle/>
          <a:p>
            <a:pPr marL="1352550" lvl="1" indent="-742950" algn="just">
              <a:buFont typeface="+mj-lt"/>
              <a:buAutoNum type="arabicPeriod" startAt="6"/>
            </a:pPr>
            <a:r>
              <a:rPr lang="en-US" sz="3600" dirty="0">
                <a:latin typeface="Open Sans" panose="020B0606030504020204" pitchFamily="34" charset="0"/>
                <a:ea typeface="Open Sans" panose="020B0606030504020204" pitchFamily="34" charset="0"/>
                <a:cs typeface="Open Sans" panose="020B0606030504020204" pitchFamily="34" charset="0"/>
              </a:rPr>
              <a:t>The most </a:t>
            </a:r>
            <a:r>
              <a:rPr lang="en-US" sz="3600" b="1" dirty="0">
                <a:latin typeface="Open Sans" panose="020B0606030504020204" pitchFamily="34" charset="0"/>
                <a:ea typeface="Open Sans" panose="020B0606030504020204" pitchFamily="34" charset="0"/>
                <a:cs typeface="Open Sans" panose="020B0606030504020204" pitchFamily="34" charset="0"/>
              </a:rPr>
              <a:t>efficient</a:t>
            </a:r>
            <a:r>
              <a:rPr lang="en-US" sz="3600" dirty="0">
                <a:latin typeface="Open Sans" panose="020B0606030504020204" pitchFamily="34" charset="0"/>
                <a:ea typeface="Open Sans" panose="020B0606030504020204" pitchFamily="34" charset="0"/>
                <a:cs typeface="Open Sans" panose="020B0606030504020204" pitchFamily="34" charset="0"/>
              </a:rPr>
              <a:t> and </a:t>
            </a:r>
            <a:r>
              <a:rPr lang="en-US" sz="3600" b="1" dirty="0">
                <a:latin typeface="Open Sans" panose="020B0606030504020204" pitchFamily="34" charset="0"/>
                <a:ea typeface="Open Sans" panose="020B0606030504020204" pitchFamily="34" charset="0"/>
                <a:cs typeface="Open Sans" panose="020B0606030504020204" pitchFamily="34" charset="0"/>
              </a:rPr>
              <a:t>effective</a:t>
            </a:r>
            <a:r>
              <a:rPr lang="en-US" sz="3600" dirty="0">
                <a:latin typeface="Open Sans" panose="020B0606030504020204" pitchFamily="34" charset="0"/>
                <a:ea typeface="Open Sans" panose="020B0606030504020204" pitchFamily="34" charset="0"/>
                <a:cs typeface="Open Sans" panose="020B0606030504020204" pitchFamily="34" charset="0"/>
              </a:rPr>
              <a:t> </a:t>
            </a:r>
            <a:r>
              <a:rPr lang="en-US" sz="3600" b="1" dirty="0">
                <a:latin typeface="Open Sans" panose="020B0606030504020204" pitchFamily="34" charset="0"/>
                <a:ea typeface="Open Sans" panose="020B0606030504020204" pitchFamily="34" charset="0"/>
                <a:cs typeface="Open Sans" panose="020B0606030504020204" pitchFamily="34" charset="0"/>
              </a:rPr>
              <a:t>method</a:t>
            </a:r>
            <a:r>
              <a:rPr lang="en-US" sz="3600" dirty="0">
                <a:latin typeface="Open Sans" panose="020B0606030504020204" pitchFamily="34" charset="0"/>
                <a:ea typeface="Open Sans" panose="020B0606030504020204" pitchFamily="34" charset="0"/>
                <a:cs typeface="Open Sans" panose="020B0606030504020204" pitchFamily="34" charset="0"/>
              </a:rPr>
              <a:t> of conveying information to and within a development team is </a:t>
            </a:r>
            <a:r>
              <a:rPr lang="en-US" sz="3600" b="1" dirty="0">
                <a:latin typeface="Open Sans" panose="020B0606030504020204" pitchFamily="34" charset="0"/>
                <a:ea typeface="Open Sans" panose="020B0606030504020204" pitchFamily="34" charset="0"/>
                <a:cs typeface="Open Sans" panose="020B0606030504020204" pitchFamily="34" charset="0"/>
              </a:rPr>
              <a:t>face-to-face conversation</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marL="1352550" lvl="1" indent="-742950" algn="just">
              <a:buFont typeface="+mj-lt"/>
              <a:buAutoNum type="arabicPeriod" startAt="6"/>
            </a:pPr>
            <a:r>
              <a:rPr lang="en-US" sz="3600" b="1" dirty="0">
                <a:latin typeface="Open Sans" panose="020B0606030504020204" pitchFamily="34" charset="0"/>
                <a:ea typeface="Open Sans" panose="020B0606030504020204" pitchFamily="34" charset="0"/>
                <a:cs typeface="Open Sans" panose="020B0606030504020204" pitchFamily="34" charset="0"/>
              </a:rPr>
              <a:t>Working software</a:t>
            </a:r>
            <a:r>
              <a:rPr lang="en-US" sz="3600" dirty="0">
                <a:latin typeface="Open Sans" panose="020B0606030504020204" pitchFamily="34" charset="0"/>
                <a:ea typeface="Open Sans" panose="020B0606030504020204" pitchFamily="34" charset="0"/>
                <a:cs typeface="Open Sans" panose="020B0606030504020204" pitchFamily="34" charset="0"/>
              </a:rPr>
              <a:t> is the </a:t>
            </a:r>
            <a:r>
              <a:rPr lang="en-US" sz="3600" b="1" dirty="0">
                <a:latin typeface="Open Sans" panose="020B0606030504020204" pitchFamily="34" charset="0"/>
                <a:ea typeface="Open Sans" panose="020B0606030504020204" pitchFamily="34" charset="0"/>
                <a:cs typeface="Open Sans" panose="020B0606030504020204" pitchFamily="34" charset="0"/>
              </a:rPr>
              <a:t>primary measure </a:t>
            </a:r>
            <a:r>
              <a:rPr lang="en-US" sz="3600" dirty="0">
                <a:latin typeface="Open Sans" panose="020B0606030504020204" pitchFamily="34" charset="0"/>
                <a:ea typeface="Open Sans" panose="020B0606030504020204" pitchFamily="34" charset="0"/>
                <a:cs typeface="Open Sans" panose="020B0606030504020204" pitchFamily="34" charset="0"/>
              </a:rPr>
              <a:t>of </a:t>
            </a:r>
            <a:r>
              <a:rPr lang="en-US" sz="3600" b="1" dirty="0">
                <a:latin typeface="Open Sans" panose="020B0606030504020204" pitchFamily="34" charset="0"/>
                <a:ea typeface="Open Sans" panose="020B0606030504020204" pitchFamily="34" charset="0"/>
                <a:cs typeface="Open Sans" panose="020B0606030504020204" pitchFamily="34" charset="0"/>
              </a:rPr>
              <a:t>progress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marL="1352550" lvl="1" indent="-742950" algn="just">
              <a:buFont typeface="+mj-lt"/>
              <a:buAutoNum type="arabicPeriod" startAt="6"/>
            </a:pPr>
            <a:r>
              <a:rPr lang="en-US" sz="3600" dirty="0">
                <a:latin typeface="Open Sans" panose="020B0606030504020204" pitchFamily="34" charset="0"/>
                <a:ea typeface="Open Sans" panose="020B0606030504020204" pitchFamily="34" charset="0"/>
                <a:cs typeface="Open Sans" panose="020B0606030504020204" pitchFamily="34" charset="0"/>
              </a:rPr>
              <a:t>Agile processes </a:t>
            </a:r>
            <a:r>
              <a:rPr lang="en-US" sz="3600" b="1" dirty="0">
                <a:latin typeface="Open Sans" panose="020B0606030504020204" pitchFamily="34" charset="0"/>
                <a:ea typeface="Open Sans" panose="020B0606030504020204" pitchFamily="34" charset="0"/>
                <a:cs typeface="Open Sans" panose="020B0606030504020204" pitchFamily="34" charset="0"/>
              </a:rPr>
              <a:t>promote</a:t>
            </a:r>
            <a:r>
              <a:rPr lang="en-US" sz="3600" dirty="0">
                <a:latin typeface="Open Sans" panose="020B0606030504020204" pitchFamily="34" charset="0"/>
                <a:ea typeface="Open Sans" panose="020B0606030504020204" pitchFamily="34" charset="0"/>
                <a:cs typeface="Open Sans" panose="020B0606030504020204" pitchFamily="34" charset="0"/>
              </a:rPr>
              <a:t> </a:t>
            </a:r>
            <a:r>
              <a:rPr lang="en-US" sz="3600" b="1" dirty="0">
                <a:latin typeface="Open Sans" panose="020B0606030504020204" pitchFamily="34" charset="0"/>
                <a:ea typeface="Open Sans" panose="020B0606030504020204" pitchFamily="34" charset="0"/>
                <a:cs typeface="Open Sans" panose="020B0606030504020204" pitchFamily="34" charset="0"/>
              </a:rPr>
              <a:t>sustainable development</a:t>
            </a:r>
            <a:r>
              <a:rPr lang="en-US" sz="3600" dirty="0">
                <a:latin typeface="Open Sans" panose="020B0606030504020204" pitchFamily="34" charset="0"/>
                <a:ea typeface="Open Sans" panose="020B0606030504020204" pitchFamily="34" charset="0"/>
                <a:cs typeface="Open Sans" panose="020B0606030504020204" pitchFamily="34" charset="0"/>
              </a:rPr>
              <a:t>. The sponsors, developers, and users should be able to maintain a constant pace indefinitely.</a:t>
            </a:r>
          </a:p>
          <a:p>
            <a:pPr marL="1352550" lvl="1" indent="-742950" algn="just">
              <a:buFont typeface="+mj-lt"/>
              <a:buAutoNum type="arabicPeriod" startAt="6"/>
            </a:pPr>
            <a:r>
              <a:rPr lang="en-US" sz="3600" b="1" dirty="0">
                <a:latin typeface="Open Sans" panose="020B0606030504020204" pitchFamily="34" charset="0"/>
                <a:ea typeface="Open Sans" panose="020B0606030504020204" pitchFamily="34" charset="0"/>
                <a:cs typeface="Open Sans" panose="020B0606030504020204" pitchFamily="34" charset="0"/>
              </a:rPr>
              <a:t>Continuous attention </a:t>
            </a:r>
            <a:r>
              <a:rPr lang="en-US" sz="3600" dirty="0">
                <a:latin typeface="Open Sans" panose="020B0606030504020204" pitchFamily="34" charset="0"/>
                <a:ea typeface="Open Sans" panose="020B0606030504020204" pitchFamily="34" charset="0"/>
                <a:cs typeface="Open Sans" panose="020B0606030504020204" pitchFamily="34" charset="0"/>
              </a:rPr>
              <a:t>to </a:t>
            </a:r>
            <a:r>
              <a:rPr lang="en-US" sz="3600" b="1" dirty="0">
                <a:latin typeface="Open Sans" panose="020B0606030504020204" pitchFamily="34" charset="0"/>
                <a:ea typeface="Open Sans" panose="020B0606030504020204" pitchFamily="34" charset="0"/>
                <a:cs typeface="Open Sans" panose="020B0606030504020204" pitchFamily="34" charset="0"/>
              </a:rPr>
              <a:t>technical</a:t>
            </a:r>
            <a:r>
              <a:rPr lang="en-US" sz="3600" dirty="0">
                <a:latin typeface="Open Sans" panose="020B0606030504020204" pitchFamily="34" charset="0"/>
                <a:ea typeface="Open Sans" panose="020B0606030504020204" pitchFamily="34" charset="0"/>
                <a:cs typeface="Open Sans" panose="020B0606030504020204" pitchFamily="34" charset="0"/>
              </a:rPr>
              <a:t> excellence and good </a:t>
            </a:r>
            <a:r>
              <a:rPr lang="en-US" sz="3600" b="1" dirty="0">
                <a:latin typeface="Open Sans" panose="020B0606030504020204" pitchFamily="34" charset="0"/>
                <a:ea typeface="Open Sans" panose="020B0606030504020204" pitchFamily="34" charset="0"/>
                <a:cs typeface="Open Sans" panose="020B0606030504020204" pitchFamily="34" charset="0"/>
              </a:rPr>
              <a:t>design</a:t>
            </a:r>
            <a:r>
              <a:rPr lang="en-US" sz="3600" dirty="0">
                <a:latin typeface="Open Sans" panose="020B0606030504020204" pitchFamily="34" charset="0"/>
                <a:ea typeface="Open Sans" panose="020B0606030504020204" pitchFamily="34" charset="0"/>
                <a:cs typeface="Open Sans" panose="020B0606030504020204" pitchFamily="34" charset="0"/>
              </a:rPr>
              <a:t> enhances agility.</a:t>
            </a:r>
          </a:p>
          <a:p>
            <a:pPr marL="1352550" lvl="1" indent="-742950" algn="just">
              <a:buFont typeface="+mj-lt"/>
              <a:buAutoNum type="arabicPeriod" startAt="6"/>
            </a:pPr>
            <a:r>
              <a:rPr lang="en-US" sz="3600" b="1" dirty="0">
                <a:latin typeface="Open Sans" panose="020B0606030504020204" pitchFamily="34" charset="0"/>
                <a:ea typeface="Open Sans" panose="020B0606030504020204" pitchFamily="34" charset="0"/>
                <a:cs typeface="Open Sans" panose="020B0606030504020204" pitchFamily="34" charset="0"/>
              </a:rPr>
              <a:t>Simplicity</a:t>
            </a:r>
            <a:r>
              <a:rPr lang="en-US" sz="3600" dirty="0">
                <a:latin typeface="Open Sans" panose="020B0606030504020204" pitchFamily="34" charset="0"/>
                <a:ea typeface="Open Sans" panose="020B0606030504020204" pitchFamily="34" charset="0"/>
                <a:cs typeface="Open Sans" panose="020B0606030504020204" pitchFamily="34" charset="0"/>
              </a:rPr>
              <a:t>, the art of maximizing the amount of work not done, is </a:t>
            </a:r>
            <a:r>
              <a:rPr lang="en-US" sz="3600" b="1" dirty="0">
                <a:latin typeface="Open Sans" panose="020B0606030504020204" pitchFamily="34" charset="0"/>
                <a:ea typeface="Open Sans" panose="020B0606030504020204" pitchFamily="34" charset="0"/>
                <a:cs typeface="Open Sans" panose="020B0606030504020204" pitchFamily="34" charset="0"/>
              </a:rPr>
              <a:t>essential</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marL="1352550" lvl="1" indent="-742950" algn="just">
              <a:buFont typeface="+mj-lt"/>
              <a:buAutoNum type="arabicPeriod" startAt="6"/>
            </a:pPr>
            <a:r>
              <a:rPr lang="en-US" sz="3600" dirty="0">
                <a:latin typeface="Open Sans" panose="020B0606030504020204" pitchFamily="34" charset="0"/>
                <a:ea typeface="Open Sans" panose="020B0606030504020204" pitchFamily="34" charset="0"/>
                <a:cs typeface="Open Sans" panose="020B0606030504020204" pitchFamily="34" charset="0"/>
              </a:rPr>
              <a:t>The </a:t>
            </a:r>
            <a:r>
              <a:rPr lang="en-US" sz="3600" b="1" dirty="0">
                <a:latin typeface="Open Sans" panose="020B0606030504020204" pitchFamily="34" charset="0"/>
                <a:ea typeface="Open Sans" panose="020B0606030504020204" pitchFamily="34" charset="0"/>
                <a:cs typeface="Open Sans" panose="020B0606030504020204" pitchFamily="34" charset="0"/>
              </a:rPr>
              <a:t>best</a:t>
            </a:r>
            <a:r>
              <a:rPr lang="en-US" sz="3600" dirty="0">
                <a:latin typeface="Open Sans" panose="020B0606030504020204" pitchFamily="34" charset="0"/>
                <a:ea typeface="Open Sans" panose="020B0606030504020204" pitchFamily="34" charset="0"/>
                <a:cs typeface="Open Sans" panose="020B0606030504020204" pitchFamily="34" charset="0"/>
              </a:rPr>
              <a:t> </a:t>
            </a:r>
            <a:r>
              <a:rPr lang="en-US" sz="3600" b="1" dirty="0">
                <a:latin typeface="Open Sans" panose="020B0606030504020204" pitchFamily="34" charset="0"/>
                <a:ea typeface="Open Sans" panose="020B0606030504020204" pitchFamily="34" charset="0"/>
                <a:cs typeface="Open Sans" panose="020B0606030504020204" pitchFamily="34" charset="0"/>
              </a:rPr>
              <a:t>architectures</a:t>
            </a:r>
            <a:r>
              <a:rPr lang="en-US" sz="3600" dirty="0">
                <a:latin typeface="Open Sans" panose="020B0606030504020204" pitchFamily="34" charset="0"/>
                <a:ea typeface="Open Sans" panose="020B0606030504020204" pitchFamily="34" charset="0"/>
                <a:cs typeface="Open Sans" panose="020B0606030504020204" pitchFamily="34" charset="0"/>
              </a:rPr>
              <a:t>, </a:t>
            </a:r>
            <a:r>
              <a:rPr lang="en-US" sz="3600" b="1" dirty="0">
                <a:latin typeface="Open Sans" panose="020B0606030504020204" pitchFamily="34" charset="0"/>
                <a:ea typeface="Open Sans" panose="020B0606030504020204" pitchFamily="34" charset="0"/>
                <a:cs typeface="Open Sans" panose="020B0606030504020204" pitchFamily="34" charset="0"/>
              </a:rPr>
              <a:t>requirements</a:t>
            </a:r>
            <a:r>
              <a:rPr lang="en-US" sz="3600" dirty="0">
                <a:latin typeface="Open Sans" panose="020B0606030504020204" pitchFamily="34" charset="0"/>
                <a:ea typeface="Open Sans" panose="020B0606030504020204" pitchFamily="34" charset="0"/>
                <a:cs typeface="Open Sans" panose="020B0606030504020204" pitchFamily="34" charset="0"/>
              </a:rPr>
              <a:t>, and </a:t>
            </a:r>
            <a:r>
              <a:rPr lang="en-US" sz="3600" b="1" dirty="0">
                <a:latin typeface="Open Sans" panose="020B0606030504020204" pitchFamily="34" charset="0"/>
                <a:ea typeface="Open Sans" panose="020B0606030504020204" pitchFamily="34" charset="0"/>
                <a:cs typeface="Open Sans" panose="020B0606030504020204" pitchFamily="34" charset="0"/>
              </a:rPr>
              <a:t>designs</a:t>
            </a:r>
            <a:r>
              <a:rPr lang="en-US" sz="3600" dirty="0">
                <a:latin typeface="Open Sans" panose="020B0606030504020204" pitchFamily="34" charset="0"/>
                <a:ea typeface="Open Sans" panose="020B0606030504020204" pitchFamily="34" charset="0"/>
                <a:cs typeface="Open Sans" panose="020B0606030504020204" pitchFamily="34" charset="0"/>
              </a:rPr>
              <a:t> emerge from </a:t>
            </a:r>
            <a:r>
              <a:rPr lang="en-US" sz="3600" b="1" dirty="0">
                <a:latin typeface="Open Sans" panose="020B0606030504020204" pitchFamily="34" charset="0"/>
                <a:ea typeface="Open Sans" panose="020B0606030504020204" pitchFamily="34" charset="0"/>
                <a:cs typeface="Open Sans" panose="020B0606030504020204" pitchFamily="34" charset="0"/>
              </a:rPr>
              <a:t>self-organizing teams</a:t>
            </a:r>
            <a:r>
              <a:rPr lang="en-US" sz="3600" dirty="0">
                <a:latin typeface="Open Sans" panose="020B0606030504020204" pitchFamily="34" charset="0"/>
                <a:ea typeface="Open Sans" panose="020B0606030504020204" pitchFamily="34" charset="0"/>
                <a:cs typeface="Open Sans" panose="020B0606030504020204" pitchFamily="34" charset="0"/>
              </a:rPr>
              <a:t>.</a:t>
            </a:r>
          </a:p>
          <a:p>
            <a:pPr marL="1352550" lvl="1" indent="-742950" algn="just">
              <a:buFont typeface="+mj-lt"/>
              <a:buAutoNum type="arabicPeriod" startAt="6"/>
            </a:pPr>
            <a:r>
              <a:rPr lang="en-US" sz="3600" dirty="0">
                <a:latin typeface="Open Sans" panose="020B0606030504020204" pitchFamily="34" charset="0"/>
                <a:ea typeface="Open Sans" panose="020B0606030504020204" pitchFamily="34" charset="0"/>
                <a:cs typeface="Open Sans" panose="020B0606030504020204" pitchFamily="34" charset="0"/>
              </a:rPr>
              <a:t>At </a:t>
            </a:r>
            <a:r>
              <a:rPr lang="en-US" sz="3600" b="1" dirty="0">
                <a:latin typeface="Open Sans" panose="020B0606030504020204" pitchFamily="34" charset="0"/>
                <a:ea typeface="Open Sans" panose="020B0606030504020204" pitchFamily="34" charset="0"/>
                <a:cs typeface="Open Sans" panose="020B0606030504020204" pitchFamily="34" charset="0"/>
              </a:rPr>
              <a:t>regular intervals</a:t>
            </a:r>
            <a:r>
              <a:rPr lang="en-US" sz="3600" dirty="0">
                <a:latin typeface="Open Sans" panose="020B0606030504020204" pitchFamily="34" charset="0"/>
                <a:ea typeface="Open Sans" panose="020B0606030504020204" pitchFamily="34" charset="0"/>
                <a:cs typeface="Open Sans" panose="020B0606030504020204" pitchFamily="34" charset="0"/>
              </a:rPr>
              <a:t>, the team </a:t>
            </a:r>
            <a:r>
              <a:rPr lang="en-US" sz="3600" b="1" dirty="0">
                <a:latin typeface="Open Sans" panose="020B0606030504020204" pitchFamily="34" charset="0"/>
                <a:ea typeface="Open Sans" panose="020B0606030504020204" pitchFamily="34" charset="0"/>
                <a:cs typeface="Open Sans" panose="020B0606030504020204" pitchFamily="34" charset="0"/>
              </a:rPr>
              <a:t>reflects</a:t>
            </a:r>
            <a:r>
              <a:rPr lang="en-US" sz="3600" dirty="0">
                <a:latin typeface="Open Sans" panose="020B0606030504020204" pitchFamily="34" charset="0"/>
                <a:ea typeface="Open Sans" panose="020B0606030504020204" pitchFamily="34" charset="0"/>
                <a:cs typeface="Open Sans" panose="020B0606030504020204" pitchFamily="34" charset="0"/>
              </a:rPr>
              <a:t> on how to become </a:t>
            </a:r>
            <a:r>
              <a:rPr lang="en-US" sz="3600" b="1" dirty="0">
                <a:latin typeface="Open Sans" panose="020B0606030504020204" pitchFamily="34" charset="0"/>
                <a:ea typeface="Open Sans" panose="020B0606030504020204" pitchFamily="34" charset="0"/>
                <a:cs typeface="Open Sans" panose="020B0606030504020204" pitchFamily="34" charset="0"/>
              </a:rPr>
              <a:t>more effective</a:t>
            </a:r>
            <a:r>
              <a:rPr lang="en-US" sz="3600" dirty="0">
                <a:latin typeface="Open Sans" panose="020B0606030504020204" pitchFamily="34" charset="0"/>
                <a:ea typeface="Open Sans" panose="020B0606030504020204" pitchFamily="34" charset="0"/>
                <a:cs typeface="Open Sans" panose="020B0606030504020204" pitchFamily="34" charset="0"/>
              </a:rPr>
              <a:t>, then tunes and adjusts its behavior accordingly.</a:t>
            </a:r>
          </a:p>
        </p:txBody>
      </p:sp>
    </p:spTree>
    <p:extLst>
      <p:ext uri="{BB962C8B-B14F-4D97-AF65-F5344CB8AC3E}">
        <p14:creationId xmlns:p14="http://schemas.microsoft.com/office/powerpoint/2010/main" val="64935605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D0B65-A784-BF8D-9453-16C58079EACC}"/>
              </a:ext>
            </a:extLst>
          </p:cNvPr>
          <p:cNvSpPr>
            <a:spLocks noGrp="1"/>
          </p:cNvSpPr>
          <p:nvPr>
            <p:ph type="title"/>
          </p:nvPr>
        </p:nvSpPr>
        <p:spPr/>
        <p:txBody>
          <a:bodyPr>
            <a:normAutofit/>
          </a:bodyPr>
          <a:lstStyle/>
          <a:p>
            <a:r>
              <a:rPr lang="en-US" sz="6600" dirty="0"/>
              <a:t>Agile Development is </a:t>
            </a:r>
            <a:r>
              <a:rPr lang="en-US" sz="6600" b="1" i="1" dirty="0"/>
              <a:t>adaptive</a:t>
            </a:r>
            <a:r>
              <a:rPr lang="en-US" sz="6600" dirty="0"/>
              <a:t> rather than predictive; </a:t>
            </a:r>
            <a:r>
              <a:rPr lang="en-US" sz="6600" b="1" i="1" dirty="0"/>
              <a:t>people-oriented</a:t>
            </a:r>
            <a:r>
              <a:rPr lang="en-US" sz="6600" dirty="0"/>
              <a:t> rather than process-oriented. —Martin Fowler </a:t>
            </a:r>
            <a:endParaRPr lang="en-ID" sz="7200" dirty="0"/>
          </a:p>
        </p:txBody>
      </p:sp>
    </p:spTree>
    <p:extLst>
      <p:ext uri="{BB962C8B-B14F-4D97-AF65-F5344CB8AC3E}">
        <p14:creationId xmlns:p14="http://schemas.microsoft.com/office/powerpoint/2010/main" val="259112826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Agile methodology</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endParaRPr lang="en-US" dirty="0"/>
          </a:p>
        </p:txBody>
      </p:sp>
      <p:pic>
        <p:nvPicPr>
          <p:cNvPr id="3074" name="Picture 2" descr="What is Agile Methodology? Benefits of using Agile | nvisia">
            <a:extLst>
              <a:ext uri="{FF2B5EF4-FFF2-40B4-BE49-F238E27FC236}">
                <a16:creationId xmlns:a16="http://schemas.microsoft.com/office/drawing/2014/main" id="{11039CB1-81FD-F69A-BE74-3B8BB43500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5150" y="3302000"/>
            <a:ext cx="18173700" cy="1041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668511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Kaizen cycle</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For Continuous improvement</a:t>
            </a:r>
          </a:p>
        </p:txBody>
      </p:sp>
      <p:pic>
        <p:nvPicPr>
          <p:cNvPr id="4098" name="Picture 2" descr="The Kaizen Cycle: Unlocking Continuous Improvement for Organizational  Success">
            <a:extLst>
              <a:ext uri="{FF2B5EF4-FFF2-40B4-BE49-F238E27FC236}">
                <a16:creationId xmlns:a16="http://schemas.microsoft.com/office/drawing/2014/main" id="{15CBB8A9-3135-54D9-A5CD-6127395C94FD}"/>
              </a:ext>
            </a:extLst>
          </p:cNvPr>
          <p:cNvPicPr>
            <a:picLocks noGrp="1" noChangeAspect="1" noChangeArrowheads="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6603955" y="3298050"/>
            <a:ext cx="11176090" cy="104232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503331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The Process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Agility And The Cost of Change</a:t>
            </a:r>
          </a:p>
        </p:txBody>
      </p:sp>
      <p:pic>
        <p:nvPicPr>
          <p:cNvPr id="5" name="Content Placeholder 4">
            <a:extLst>
              <a:ext uri="{FF2B5EF4-FFF2-40B4-BE49-F238E27FC236}">
                <a16:creationId xmlns:a16="http://schemas.microsoft.com/office/drawing/2014/main" id="{E7148A16-A77B-A028-0E87-C3D0025BC5BC}"/>
              </a:ext>
            </a:extLst>
          </p:cNvPr>
          <p:cNvPicPr>
            <a:picLocks noGrp="1" noChangeAspect="1"/>
          </p:cNvPicPr>
          <p:nvPr>
            <p:ph sz="quarter" idx="11"/>
          </p:nvPr>
        </p:nvPicPr>
        <p:blipFill>
          <a:blip r:embed="rId2"/>
          <a:stretch>
            <a:fillRect/>
          </a:stretch>
        </p:blipFill>
        <p:spPr>
          <a:xfrm>
            <a:off x="5000368" y="3298050"/>
            <a:ext cx="14383263" cy="10306723"/>
          </a:xfrm>
          <a:prstGeom prst="rect">
            <a:avLst/>
          </a:prstGeom>
        </p:spPr>
      </p:pic>
    </p:spTree>
    <p:extLst>
      <p:ext uri="{BB962C8B-B14F-4D97-AF65-F5344CB8AC3E}">
        <p14:creationId xmlns:p14="http://schemas.microsoft.com/office/powerpoint/2010/main" val="387258245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dirty="0"/>
              <a:t>AGILE Framework: Scrum</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Scrum</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8583279"/>
          </a:xfrm>
        </p:spPr>
        <p:txBody>
          <a:bodyPr anchor="ctr">
            <a:norm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Originally proposed by </a:t>
            </a:r>
            <a:r>
              <a:rPr kumimoji="0" lang="en-US" sz="36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Schwaber</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 and Beedle</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Open Sans"/>
              </a:rPr>
              <a:t>Scrum—distinguishing features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Development work is partitioned into “packets”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Testing and documentation are on-going as the product is constructed</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Work occurs in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“sprints”</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and is derived from a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“backlog”</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 of existing requirements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Meetings are </a:t>
            </a: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very short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and sometimes conducted without chairs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600" b="1" i="0" u="none" strike="noStrike" kern="1200" cap="none" spc="0" normalizeH="0" baseline="0" noProof="0" dirty="0">
                <a:ln>
                  <a:noFill/>
                </a:ln>
                <a:solidFill>
                  <a:prstClr val="black"/>
                </a:solidFill>
                <a:effectLst/>
                <a:uLnTx/>
                <a:uFillTx/>
                <a:latin typeface="Open Sans"/>
                <a:ea typeface="MS PGothic" pitchFamily="34" charset="-128"/>
                <a:cs typeface="+mn-cs"/>
              </a:rPr>
              <a:t>“demos” </a:t>
            </a:r>
            <a:r>
              <a:rPr kumimoji="0" lang="en-US" sz="3600" b="0" i="0" u="none" strike="noStrike" kern="1200" cap="none" spc="0" normalizeH="0" baseline="0" noProof="0" dirty="0">
                <a:ln>
                  <a:noFill/>
                </a:ln>
                <a:solidFill>
                  <a:prstClr val="black"/>
                </a:solidFill>
                <a:effectLst/>
                <a:uLnTx/>
                <a:uFillTx/>
                <a:latin typeface="Open Sans"/>
                <a:ea typeface="MS PGothic" pitchFamily="34" charset="-128"/>
                <a:cs typeface="+mn-cs"/>
              </a:rPr>
              <a:t>are delivered to the customer with the time-box allocated</a:t>
            </a:r>
          </a:p>
        </p:txBody>
      </p:sp>
    </p:spTree>
    <p:extLst>
      <p:ext uri="{BB962C8B-B14F-4D97-AF65-F5344CB8AC3E}">
        <p14:creationId xmlns:p14="http://schemas.microsoft.com/office/powerpoint/2010/main" val="155891604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Agile Framework: Scrum</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Scrum</a:t>
            </a:r>
          </a:p>
        </p:txBody>
      </p:sp>
      <p:pic>
        <p:nvPicPr>
          <p:cNvPr id="5" name="Content Placeholder 5">
            <a:extLst>
              <a:ext uri="{FF2B5EF4-FFF2-40B4-BE49-F238E27FC236}">
                <a16:creationId xmlns:a16="http://schemas.microsoft.com/office/drawing/2014/main" id="{D25A08C6-147E-388C-DC14-EB1B6B7EE65B}"/>
              </a:ext>
            </a:extLst>
          </p:cNvPr>
          <p:cNvPicPr>
            <a:picLocks noGrp="1" noChangeAspect="1"/>
          </p:cNvPicPr>
          <p:nvPr>
            <p:ph sz="quarter" idx="11"/>
          </p:nvPr>
        </p:nvPicPr>
        <p:blipFill>
          <a:blip r:embed="rId2"/>
          <a:stretch>
            <a:fillRect/>
          </a:stretch>
        </p:blipFill>
        <p:spPr>
          <a:xfrm>
            <a:off x="2167377" y="3298050"/>
            <a:ext cx="21029592" cy="10097910"/>
          </a:xfrm>
        </p:spPr>
      </p:pic>
    </p:spTree>
    <p:extLst>
      <p:ext uri="{BB962C8B-B14F-4D97-AF65-F5344CB8AC3E}">
        <p14:creationId xmlns:p14="http://schemas.microsoft.com/office/powerpoint/2010/main" val="2487108252"/>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Agile Frameworks: Kanban</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Description</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Open Sans"/>
              </a:rPr>
              <a:t>The Kanban method is a lean methodology that describes methods for improving any process or workflow, focused on change management and service delivery</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Open Sans"/>
              </a:rPr>
              <a:t>6 core practices: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0" u="none" strike="noStrike" kern="1200" cap="none" spc="0" normalizeH="0" baseline="0" noProof="0" dirty="0">
                <a:ln>
                  <a:noFill/>
                </a:ln>
                <a:solidFill>
                  <a:prstClr val="black"/>
                </a:solidFill>
                <a:effectLst/>
                <a:uLnTx/>
                <a:uFillTx/>
                <a:latin typeface="Open Sans"/>
                <a:ea typeface="MS PGothic" pitchFamily="34" charset="-128"/>
                <a:cs typeface="+mn-cs"/>
              </a:rPr>
              <a:t>Visualizing workflow using a Kanban board</a:t>
            </a:r>
          </a:p>
          <a:p>
            <a:pPr marL="1303338" marR="0" lvl="2" indent="-260350" algn="just"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mn-cs"/>
              </a:rPr>
              <a:t>The Kanban board is organized into columns representing the development stage for each element of software functionality. The cards on the board might contain single user stories or recently discovered defects on sticky notes and the team would advance them from “to do,” to “doing,” and “done” as the project progresses.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0" u="none" strike="noStrike" kern="1200" cap="none" spc="0" normalizeH="0" baseline="0" noProof="0" dirty="0">
                <a:ln>
                  <a:noFill/>
                </a:ln>
                <a:solidFill>
                  <a:prstClr val="black"/>
                </a:solidFill>
                <a:effectLst/>
                <a:uLnTx/>
                <a:uFillTx/>
                <a:latin typeface="Open Sans"/>
                <a:ea typeface="MS PGothic" pitchFamily="34" charset="-128"/>
                <a:cs typeface="+mn-cs"/>
              </a:rPr>
              <a:t>Limiting the amount of work in progress (WIP) at any given time</a:t>
            </a:r>
          </a:p>
          <a:p>
            <a:pPr marL="1303338" marR="0" lvl="2" indent="-260350"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mn-cs"/>
              </a:rPr>
              <a:t>Developers are encouraged to complete their current task before starting another. This reduces lead time, improves work quality, and increases the team’s ability to deliver software functionality frequently to their stakeholders.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0" u="none" strike="noStrike" kern="1200" cap="none" spc="0" normalizeH="0" baseline="0" noProof="0" dirty="0">
                <a:ln>
                  <a:noFill/>
                </a:ln>
                <a:solidFill>
                  <a:prstClr val="black"/>
                </a:solidFill>
                <a:effectLst/>
                <a:uLnTx/>
                <a:uFillTx/>
                <a:latin typeface="Open Sans"/>
                <a:ea typeface="MS PGothic" pitchFamily="34" charset="-128"/>
                <a:cs typeface="+mn-cs"/>
              </a:rPr>
              <a:t>Managing workflow to reduce waste</a:t>
            </a:r>
          </a:p>
          <a:p>
            <a:pPr marL="1303338" marR="0" lvl="2" indent="-260350"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mn-cs"/>
              </a:rPr>
              <a:t>Understanding the current value flow, analyzing places where it is stalled, defining changes, and then implementing the changes.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0" u="none" strike="noStrike" kern="1200" cap="none" spc="0" normalizeH="0" baseline="0" noProof="0" dirty="0">
                <a:ln>
                  <a:noFill/>
                </a:ln>
                <a:solidFill>
                  <a:prstClr val="black"/>
                </a:solidFill>
                <a:effectLst/>
                <a:uLnTx/>
                <a:uFillTx/>
                <a:latin typeface="Open Sans"/>
                <a:ea typeface="MS PGothic" pitchFamily="34" charset="-128"/>
                <a:cs typeface="+mn-cs"/>
              </a:rPr>
              <a:t>Making process policies explicit</a:t>
            </a:r>
          </a:p>
          <a:p>
            <a:pPr marL="1303338" marR="0" lvl="2" indent="-260350"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mn-cs"/>
              </a:rPr>
              <a:t>(e.g., write down your reasons for selecting items to work on and the criteria used to define “done”).</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0" u="none" strike="noStrike" kern="1200" cap="none" spc="0" normalizeH="0" baseline="0" noProof="0" dirty="0">
                <a:ln>
                  <a:noFill/>
                </a:ln>
                <a:solidFill>
                  <a:prstClr val="black"/>
                </a:solidFill>
                <a:effectLst/>
                <a:uLnTx/>
                <a:uFillTx/>
                <a:latin typeface="Open Sans"/>
                <a:ea typeface="MS PGothic" pitchFamily="34" charset="-128"/>
                <a:cs typeface="+mn-cs"/>
              </a:rPr>
              <a:t>Focusing on continuous improvement</a:t>
            </a:r>
          </a:p>
          <a:p>
            <a:pPr marL="1303338" marR="0" lvl="2" indent="-260350"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mn-cs"/>
              </a:rPr>
              <a:t>Creating feedback loops where changes are introduced based on process data and the effects of the change on the process are measured after the changes are made</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1" i="0" u="none" strike="noStrike" kern="1200" cap="none" spc="0" normalizeH="0" baseline="0" noProof="0" dirty="0">
                <a:ln>
                  <a:noFill/>
                </a:ln>
                <a:solidFill>
                  <a:prstClr val="black"/>
                </a:solidFill>
                <a:effectLst/>
                <a:uLnTx/>
                <a:uFillTx/>
                <a:latin typeface="Open Sans"/>
                <a:ea typeface="MS PGothic" pitchFamily="34" charset="-128"/>
                <a:cs typeface="+mn-cs"/>
              </a:rPr>
              <a:t>Make process changes collaboratively</a:t>
            </a:r>
          </a:p>
          <a:p>
            <a:pPr marL="1303338" marR="0" lvl="2" indent="-260350"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2800" b="0" i="0" u="none" strike="noStrike" kern="1200" cap="none" spc="0" normalizeH="0" baseline="0" noProof="0" dirty="0">
                <a:ln>
                  <a:noFill/>
                </a:ln>
                <a:solidFill>
                  <a:prstClr val="black"/>
                </a:solidFill>
                <a:effectLst/>
                <a:uLnTx/>
                <a:uFillTx/>
                <a:latin typeface="Open Sans"/>
                <a:ea typeface="MS PGothic" pitchFamily="34" charset="-128"/>
                <a:cs typeface="+mn-cs"/>
              </a:rPr>
              <a:t>Involve all team members and other stakeholders as needed.</a:t>
            </a:r>
          </a:p>
        </p:txBody>
      </p:sp>
    </p:spTree>
    <p:extLst>
      <p:ext uri="{BB962C8B-B14F-4D97-AF65-F5344CB8AC3E}">
        <p14:creationId xmlns:p14="http://schemas.microsoft.com/office/powerpoint/2010/main" val="143060287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Agile Frameworks: Kanban</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Kanban Boards</a:t>
            </a:r>
          </a:p>
        </p:txBody>
      </p:sp>
      <p:pic>
        <p:nvPicPr>
          <p:cNvPr id="5" name="Content Placeholder 4">
            <a:extLst>
              <a:ext uri="{FF2B5EF4-FFF2-40B4-BE49-F238E27FC236}">
                <a16:creationId xmlns:a16="http://schemas.microsoft.com/office/drawing/2014/main" id="{C30FCBF4-C24E-E8E7-B962-1E7C085AF4E8}"/>
              </a:ext>
            </a:extLst>
          </p:cNvPr>
          <p:cNvPicPr>
            <a:picLocks noGrp="1" noChangeAspect="1"/>
          </p:cNvPicPr>
          <p:nvPr>
            <p:ph sz="quarter" idx="11"/>
          </p:nvPr>
        </p:nvPicPr>
        <p:blipFill>
          <a:blip r:embed="rId2"/>
          <a:stretch>
            <a:fillRect/>
          </a:stretch>
        </p:blipFill>
        <p:spPr>
          <a:xfrm>
            <a:off x="2167376" y="3298050"/>
            <a:ext cx="21575973" cy="10417950"/>
          </a:xfrm>
        </p:spPr>
      </p:pic>
    </p:spTree>
    <p:extLst>
      <p:ext uri="{BB962C8B-B14F-4D97-AF65-F5344CB8AC3E}">
        <p14:creationId xmlns:p14="http://schemas.microsoft.com/office/powerpoint/2010/main" val="295862819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Agile Frameworks: XP Programming</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Agile Framework: XP Programming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1" i="0" u="none" strike="noStrike" kern="1200" cap="none" spc="0" normalizeH="0" baseline="0" noProof="0" dirty="0">
                <a:ln>
                  <a:noFill/>
                </a:ln>
                <a:solidFill>
                  <a:prstClr val="black"/>
                </a:solidFill>
                <a:effectLst/>
                <a:uLnTx/>
                <a:uFillTx/>
                <a:latin typeface="Open Sans"/>
                <a:ea typeface="MS PGothic" pitchFamily="34" charset="-128"/>
                <a:cs typeface="Open Sans"/>
              </a:rPr>
              <a:t>XP Planning</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Begins with the creation of “user stories”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Agile team assesses each story and assigns a cost</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Stories are grouped to for a deliverable increment</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A commitment is made on delivery date</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After the first increment “project velocity” is used to help define subsequent delivery dates for other increments</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1" i="0" u="none" strike="noStrike" kern="1200" cap="none" spc="0" normalizeH="0" baseline="0" noProof="0" dirty="0">
                <a:ln>
                  <a:noFill/>
                </a:ln>
                <a:solidFill>
                  <a:prstClr val="black"/>
                </a:solidFill>
                <a:effectLst/>
                <a:uLnTx/>
                <a:uFillTx/>
                <a:latin typeface="Open Sans"/>
                <a:ea typeface="MS PGothic" pitchFamily="34" charset="-128"/>
                <a:cs typeface="Open Sans"/>
              </a:rPr>
              <a:t>XP Design</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Follows the KIS principle</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Encourage the use of CRC cards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For difficult design problems, suggests the creation of “spike solutions”—a design prototype</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Encourages “refactoring”—an iterative refinement of the internal program design</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1" i="0" u="none" strike="noStrike" kern="1200" cap="none" spc="0" normalizeH="0" baseline="0" noProof="0" dirty="0">
                <a:ln>
                  <a:noFill/>
                </a:ln>
                <a:solidFill>
                  <a:prstClr val="black"/>
                </a:solidFill>
                <a:effectLst/>
                <a:uLnTx/>
                <a:uFillTx/>
                <a:latin typeface="Open Sans"/>
                <a:ea typeface="MS PGothic" pitchFamily="34" charset="-128"/>
                <a:cs typeface="Open Sans"/>
              </a:rPr>
              <a:t>XP Coding</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Recommends the construction of a unit test for a store before coding commences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Encourages “pair programming”</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1" i="0" u="none" strike="noStrike" kern="1200" cap="none" spc="0" normalizeH="0" baseline="0" noProof="0" dirty="0">
                <a:ln>
                  <a:noFill/>
                </a:ln>
                <a:solidFill>
                  <a:prstClr val="black"/>
                </a:solidFill>
                <a:effectLst/>
                <a:uLnTx/>
                <a:uFillTx/>
                <a:latin typeface="Open Sans"/>
                <a:ea typeface="MS PGothic" pitchFamily="34" charset="-128"/>
                <a:cs typeface="Open Sans"/>
              </a:rPr>
              <a:t>XP Testing</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All unit tests are executed daily</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“Acceptance tests” are defined by the customer and executed to assess customer visible functionality</a:t>
            </a:r>
          </a:p>
        </p:txBody>
      </p:sp>
    </p:spTree>
    <p:extLst>
      <p:ext uri="{BB962C8B-B14F-4D97-AF65-F5344CB8AC3E}">
        <p14:creationId xmlns:p14="http://schemas.microsoft.com/office/powerpoint/2010/main" val="265614782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Agile Frameworks: XP Programming</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Agile Framework: XP Programming</a:t>
            </a:r>
          </a:p>
        </p:txBody>
      </p:sp>
      <p:pic>
        <p:nvPicPr>
          <p:cNvPr id="5" name="Content Placeholder 4">
            <a:extLst>
              <a:ext uri="{FF2B5EF4-FFF2-40B4-BE49-F238E27FC236}">
                <a16:creationId xmlns:a16="http://schemas.microsoft.com/office/drawing/2014/main" id="{C76FE924-B79B-CDA2-E706-3FDA517432F2}"/>
              </a:ext>
            </a:extLst>
          </p:cNvPr>
          <p:cNvPicPr>
            <a:picLocks noGrp="1" noChangeAspect="1"/>
          </p:cNvPicPr>
          <p:nvPr>
            <p:ph sz="quarter" idx="11"/>
          </p:nvPr>
        </p:nvPicPr>
        <p:blipFill>
          <a:blip r:embed="rId2"/>
          <a:stretch>
            <a:fillRect/>
          </a:stretch>
        </p:blipFill>
        <p:spPr>
          <a:xfrm>
            <a:off x="6554848" y="3298050"/>
            <a:ext cx="11274303" cy="10256222"/>
          </a:xfrm>
          <a:prstGeom prst="rect">
            <a:avLst/>
          </a:prstGeom>
        </p:spPr>
      </p:pic>
    </p:spTree>
    <p:extLst>
      <p:ext uri="{BB962C8B-B14F-4D97-AF65-F5344CB8AC3E}">
        <p14:creationId xmlns:p14="http://schemas.microsoft.com/office/powerpoint/2010/main" val="105611273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Agile Frameworks: DevOps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Agile Framework: </a:t>
            </a:r>
            <a:r>
              <a:rPr lang="en-US" dirty="0" err="1"/>
              <a:t>Devops</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Open Sans"/>
              </a:rPr>
              <a:t>DevOps was created by Patrick </a:t>
            </a:r>
            <a:r>
              <a:rPr kumimoji="0" lang="en-US" sz="3200" b="0" i="0" u="none" strike="noStrike" kern="1200" cap="none" spc="0" normalizeH="0" baseline="0" noProof="0" dirty="0" err="1">
                <a:ln>
                  <a:noFill/>
                </a:ln>
                <a:solidFill>
                  <a:prstClr val="black"/>
                </a:solidFill>
                <a:effectLst/>
                <a:uLnTx/>
                <a:uFillTx/>
                <a:latin typeface="Open Sans"/>
                <a:ea typeface="MS PGothic" pitchFamily="34" charset="-128"/>
                <a:cs typeface="Open Sans"/>
              </a:rPr>
              <a:t>DeBois</a:t>
            </a: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Open Sans"/>
              </a:rPr>
              <a:t> to combine Development and Operations. DevOps attempts to apply agile and lean development principles across the entire software supply chain.</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Open Sans"/>
              </a:rPr>
              <a:t>The DevOps approach involves several stages that loop continuously until the desired product exists:</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1" i="0" u="none" strike="noStrike" kern="1200" cap="none" spc="0" normalizeH="0" baseline="0" noProof="0" dirty="0">
                <a:ln>
                  <a:noFill/>
                </a:ln>
                <a:solidFill>
                  <a:prstClr val="black"/>
                </a:solidFill>
                <a:effectLst/>
                <a:uLnTx/>
                <a:uFillTx/>
                <a:latin typeface="Open Sans"/>
                <a:ea typeface="MS PGothic" pitchFamily="34" charset="-128"/>
                <a:cs typeface="+mn-cs"/>
              </a:rPr>
              <a:t>Continuous development</a:t>
            </a:r>
          </a:p>
          <a:p>
            <a:pPr marL="1303338" marR="0" lvl="2" indent="-260350"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Software deliverables are broken down and developed in multiple sprints with the increments delivered to the quality assurance14 members of the development team for testing</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1" i="0" u="none" strike="noStrike" kern="1200" cap="none" spc="0" normalizeH="0" baseline="0" noProof="0" dirty="0">
                <a:ln>
                  <a:noFill/>
                </a:ln>
                <a:solidFill>
                  <a:prstClr val="black"/>
                </a:solidFill>
                <a:effectLst/>
                <a:uLnTx/>
                <a:uFillTx/>
                <a:latin typeface="Open Sans"/>
                <a:ea typeface="MS PGothic" pitchFamily="34" charset="-128"/>
                <a:cs typeface="+mn-cs"/>
              </a:rPr>
              <a:t>Continuous testing</a:t>
            </a:r>
          </a:p>
          <a:p>
            <a:pPr marL="1303338" marR="0" lvl="2" indent="-260350"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Automated testing tools are used to help team members test multiple code increments at the same time to ensure they are free of defects prior to integration.</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1" i="0" u="none" strike="noStrike" kern="1200" cap="none" spc="0" normalizeH="0" baseline="0" noProof="0" dirty="0">
                <a:ln>
                  <a:noFill/>
                </a:ln>
                <a:solidFill>
                  <a:prstClr val="black"/>
                </a:solidFill>
                <a:effectLst/>
                <a:uLnTx/>
                <a:uFillTx/>
                <a:latin typeface="Open Sans"/>
                <a:ea typeface="MS PGothic" pitchFamily="34" charset="-128"/>
                <a:cs typeface="+mn-cs"/>
              </a:rPr>
              <a:t>Continuous integration</a:t>
            </a:r>
          </a:p>
          <a:p>
            <a:pPr marL="1303338" marR="0" lvl="2" indent="-260350"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The code pieces with new functionality are added to the existing code and to the runtime environment and then checked to ensure there are no errors after deployment.</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1" i="0" u="none" strike="noStrike" kern="1200" cap="none" spc="0" normalizeH="0" baseline="0" noProof="0" dirty="0">
                <a:ln>
                  <a:noFill/>
                </a:ln>
                <a:solidFill>
                  <a:prstClr val="black"/>
                </a:solidFill>
                <a:effectLst/>
                <a:uLnTx/>
                <a:uFillTx/>
                <a:latin typeface="Open Sans"/>
                <a:ea typeface="MS PGothic" pitchFamily="34" charset="-128"/>
                <a:cs typeface="+mn-cs"/>
              </a:rPr>
              <a:t>Continuous deployment</a:t>
            </a:r>
          </a:p>
          <a:p>
            <a:pPr marL="1303338" marR="0" lvl="2" indent="-260350"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At this stage the integrated code is deployed (installed) to the production environment, which might include multiple sites globally that need to be prepared to receive the new functionality.</a:t>
            </a:r>
          </a:p>
          <a:p>
            <a:pPr marL="846138" marR="0" lvl="1" indent="-325438"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1" i="0" u="none" strike="noStrike" kern="1200" cap="none" spc="0" normalizeH="0" baseline="0" noProof="0" dirty="0">
                <a:ln>
                  <a:noFill/>
                </a:ln>
                <a:solidFill>
                  <a:prstClr val="black"/>
                </a:solidFill>
                <a:effectLst/>
                <a:uLnTx/>
                <a:uFillTx/>
                <a:latin typeface="Open Sans"/>
                <a:ea typeface="MS PGothic" pitchFamily="34" charset="-128"/>
                <a:cs typeface="+mn-cs"/>
              </a:rPr>
              <a:t>Continuous monitoring</a:t>
            </a:r>
          </a:p>
          <a:p>
            <a:pPr marL="1303338" marR="0" lvl="2" indent="-260350"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US" sz="3200" b="0" i="0" u="none" strike="noStrike" kern="1200" cap="none" spc="0" normalizeH="0" baseline="0" noProof="0" dirty="0">
                <a:ln>
                  <a:noFill/>
                </a:ln>
                <a:solidFill>
                  <a:prstClr val="black"/>
                </a:solidFill>
                <a:effectLst/>
                <a:uLnTx/>
                <a:uFillTx/>
                <a:latin typeface="Open Sans"/>
                <a:ea typeface="MS PGothic" pitchFamily="34" charset="-128"/>
                <a:cs typeface="+mn-cs"/>
              </a:rPr>
              <a:t>Operations staff who are members of the development team help to improve software quality by monitoring its performance in the production environment and proactively looking for possible problems before users find them.</a:t>
            </a:r>
          </a:p>
        </p:txBody>
      </p:sp>
    </p:spTree>
    <p:extLst>
      <p:ext uri="{BB962C8B-B14F-4D97-AF65-F5344CB8AC3E}">
        <p14:creationId xmlns:p14="http://schemas.microsoft.com/office/powerpoint/2010/main" val="2730820604"/>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sz="4000" b="1" dirty="0"/>
              <a:t>Agile Frameworks: DevOps</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2082023" cy="840935"/>
          </a:xfrm>
        </p:spPr>
        <p:txBody>
          <a:bodyPr>
            <a:normAutofit/>
          </a:bodyPr>
          <a:lstStyle/>
          <a:p>
            <a:r>
              <a:rPr lang="en-US" dirty="0"/>
              <a:t>Agile Framework: </a:t>
            </a:r>
            <a:r>
              <a:rPr lang="en-US" dirty="0" err="1"/>
              <a:t>Devops</a:t>
            </a:r>
            <a:endParaRPr lang="en-US" dirty="0"/>
          </a:p>
        </p:txBody>
      </p:sp>
      <p:pic>
        <p:nvPicPr>
          <p:cNvPr id="5" name="Content Placeholder 4" descr="Diagram&#10;&#10;Description automatically generated">
            <a:extLst>
              <a:ext uri="{FF2B5EF4-FFF2-40B4-BE49-F238E27FC236}">
                <a16:creationId xmlns:a16="http://schemas.microsoft.com/office/drawing/2014/main" id="{0C171BE5-27D7-406A-264D-59C008068665}"/>
              </a:ext>
            </a:extLst>
          </p:cNvPr>
          <p:cNvPicPr>
            <a:picLocks noGrp="1" noChangeAspect="1"/>
          </p:cNvPicPr>
          <p:nvPr>
            <p:ph sz="quarter" idx="11"/>
          </p:nvPr>
        </p:nvPicPr>
        <p:blipFill>
          <a:blip r:embed="rId2"/>
          <a:stretch>
            <a:fillRect/>
          </a:stretch>
        </p:blipFill>
        <p:spPr>
          <a:xfrm>
            <a:off x="2622928" y="3298050"/>
            <a:ext cx="19138143" cy="10170270"/>
          </a:xfrm>
          <a:prstGeom prst="rect">
            <a:avLst/>
          </a:prstGeom>
        </p:spPr>
      </p:pic>
    </p:spTree>
    <p:extLst>
      <p:ext uri="{BB962C8B-B14F-4D97-AF65-F5344CB8AC3E}">
        <p14:creationId xmlns:p14="http://schemas.microsoft.com/office/powerpoint/2010/main" val="317905302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a:xfrm>
            <a:off x="5486930" y="3223274"/>
            <a:ext cx="13714940" cy="10492726"/>
          </a:xfrm>
        </p:spPr>
        <p:txBody>
          <a:bodyPr>
            <a:noAutofit/>
          </a:bodyPr>
          <a:lstStyle/>
          <a:p>
            <a:pPr algn="just"/>
            <a:r>
              <a:rPr lang="id-ID" sz="3600" dirty="0">
                <a:latin typeface="Open Sans" panose="020B0606030504020204" pitchFamily="34" charset="0"/>
                <a:ea typeface="Open Sans" panose="020B0606030504020204" pitchFamily="34" charset="0"/>
                <a:cs typeface="Open Sans" panose="020B0606030504020204" pitchFamily="34" charset="0"/>
              </a:rPr>
              <a:t>Titus </a:t>
            </a:r>
            <a:r>
              <a:rPr lang="id-ID" sz="3600" dirty="0" err="1">
                <a:latin typeface="Open Sans" panose="020B0606030504020204" pitchFamily="34" charset="0"/>
                <a:ea typeface="Open Sans" panose="020B0606030504020204" pitchFamily="34" charset="0"/>
                <a:cs typeface="Open Sans" panose="020B0606030504020204" pitchFamily="34" charset="0"/>
              </a:rPr>
              <a:t>Winters</a:t>
            </a:r>
            <a:r>
              <a:rPr lang="id-ID" sz="3600" dirty="0">
                <a:latin typeface="Open Sans" panose="020B0606030504020204" pitchFamily="34" charset="0"/>
                <a:ea typeface="Open Sans" panose="020B0606030504020204" pitchFamily="34" charset="0"/>
                <a:cs typeface="Open Sans" panose="020B0606030504020204" pitchFamily="34" charset="0"/>
              </a:rPr>
              <a:t>, Tom </a:t>
            </a:r>
            <a:r>
              <a:rPr lang="id-ID" sz="3600" dirty="0" err="1">
                <a:latin typeface="Open Sans" panose="020B0606030504020204" pitchFamily="34" charset="0"/>
                <a:ea typeface="Open Sans" panose="020B0606030504020204" pitchFamily="34" charset="0"/>
                <a:cs typeface="Open Sans" panose="020B0606030504020204" pitchFamily="34" charset="0"/>
              </a:rPr>
              <a:t>Manshreck</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and</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Hyrum</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Wright</a:t>
            </a:r>
            <a:r>
              <a:rPr lang="id-ID" sz="3600" dirty="0">
                <a:latin typeface="Open Sans" panose="020B0606030504020204" pitchFamily="34" charset="0"/>
                <a:ea typeface="Open Sans" panose="020B0606030504020204" pitchFamily="34" charset="0"/>
                <a:cs typeface="Open Sans" panose="020B0606030504020204" pitchFamily="34" charset="0"/>
              </a:rPr>
              <a:t>. (2020). </a:t>
            </a:r>
            <a:r>
              <a:rPr lang="id-ID" sz="3600" b="1" i="1" dirty="0" err="1">
                <a:latin typeface="Open Sans" panose="020B0606030504020204" pitchFamily="34" charset="0"/>
                <a:ea typeface="Open Sans" panose="020B0606030504020204" pitchFamily="34" charset="0"/>
                <a:cs typeface="Open Sans" panose="020B0606030504020204" pitchFamily="34" charset="0"/>
              </a:rPr>
              <a:t>Software</a:t>
            </a:r>
            <a:r>
              <a:rPr lang="id-ID" sz="3600" b="1" i="1" dirty="0">
                <a:latin typeface="Open Sans" panose="020B0606030504020204" pitchFamily="34" charset="0"/>
                <a:ea typeface="Open Sans" panose="020B0606030504020204" pitchFamily="34" charset="0"/>
                <a:cs typeface="Open Sans" panose="020B0606030504020204" pitchFamily="34" charset="0"/>
              </a:rPr>
              <a:t> Engineering </a:t>
            </a:r>
            <a:r>
              <a:rPr lang="id-ID" sz="3600" b="1" i="1" dirty="0" err="1">
                <a:latin typeface="Open Sans" panose="020B0606030504020204" pitchFamily="34" charset="0"/>
                <a:ea typeface="Open Sans" panose="020B0606030504020204" pitchFamily="34" charset="0"/>
                <a:cs typeface="Open Sans" panose="020B0606030504020204" pitchFamily="34" charset="0"/>
              </a:rPr>
              <a:t>at</a:t>
            </a:r>
            <a:r>
              <a:rPr lang="id-ID" sz="3600" b="1" i="1" dirty="0">
                <a:latin typeface="Open Sans" panose="020B0606030504020204" pitchFamily="34" charset="0"/>
                <a:ea typeface="Open Sans" panose="020B0606030504020204" pitchFamily="34" charset="0"/>
                <a:cs typeface="Open Sans" panose="020B0606030504020204" pitchFamily="34" charset="0"/>
              </a:rPr>
              <a:t> Google: </a:t>
            </a:r>
            <a:r>
              <a:rPr lang="id-ID" sz="3600" b="1" i="1" dirty="0" err="1">
                <a:latin typeface="Open Sans" panose="020B0606030504020204" pitchFamily="34" charset="0"/>
                <a:ea typeface="Open Sans" panose="020B0606030504020204" pitchFamily="34" charset="0"/>
                <a:cs typeface="Open Sans" panose="020B0606030504020204" pitchFamily="34" charset="0"/>
              </a:rPr>
              <a:t>Lesson</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Learned</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from</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Programming</a:t>
            </a:r>
            <a:r>
              <a:rPr lang="id-ID" sz="3600" b="1" i="1" dirty="0">
                <a:latin typeface="Open Sans" panose="020B0606030504020204" pitchFamily="34" charset="0"/>
                <a:ea typeface="Open Sans" panose="020B0606030504020204" pitchFamily="34" charset="0"/>
                <a:cs typeface="Open Sans" panose="020B0606030504020204" pitchFamily="34" charset="0"/>
              </a:rPr>
              <a:t> Over </a:t>
            </a:r>
            <a:r>
              <a:rPr lang="id-ID" sz="3600" b="1" i="1" dirty="0" err="1">
                <a:latin typeface="Open Sans" panose="020B0606030504020204" pitchFamily="34" charset="0"/>
                <a:ea typeface="Open Sans" panose="020B0606030504020204" pitchFamily="34" charset="0"/>
                <a:cs typeface="Open Sans" panose="020B0606030504020204" pitchFamily="34" charset="0"/>
              </a:rPr>
              <a:t>Time</a:t>
            </a:r>
            <a:r>
              <a:rPr lang="id-ID" sz="3600" dirty="0">
                <a:latin typeface="Open Sans" panose="020B0606030504020204" pitchFamily="34" charset="0"/>
                <a:ea typeface="Open Sans" panose="020B0606030504020204" pitchFamily="34" charset="0"/>
                <a:cs typeface="Open Sans" panose="020B0606030504020204" pitchFamily="34" charset="0"/>
              </a:rPr>
              <a:t>. 1st. </a:t>
            </a:r>
            <a:r>
              <a:rPr lang="id-ID" sz="3600" dirty="0" err="1">
                <a:latin typeface="Open Sans" panose="020B0606030504020204" pitchFamily="34" charset="0"/>
                <a:ea typeface="Open Sans" panose="020B0606030504020204" pitchFamily="34" charset="0"/>
                <a:cs typeface="Open Sans" panose="020B0606030504020204" pitchFamily="34" charset="0"/>
              </a:rPr>
              <a:t>O’Reilly</a:t>
            </a:r>
            <a:r>
              <a:rPr lang="id-ID" sz="3600" dirty="0">
                <a:latin typeface="Open Sans" panose="020B0606030504020204" pitchFamily="34" charset="0"/>
                <a:ea typeface="Open Sans" panose="020B0606030504020204" pitchFamily="34" charset="0"/>
                <a:cs typeface="Open Sans" panose="020B0606030504020204" pitchFamily="34" charset="0"/>
              </a:rPr>
              <a:t> Media. California. ISBN: 978-1492082798.</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Roger Pressman and Bruce Maxim. (2020). </a:t>
            </a:r>
            <a:r>
              <a:rPr lang="en-US" sz="3600" b="1" i="1" dirty="0">
                <a:latin typeface="Open Sans" panose="020B0606030504020204" pitchFamily="34" charset="0"/>
                <a:ea typeface="Open Sans" panose="020B0606030504020204" pitchFamily="34" charset="0"/>
                <a:cs typeface="Open Sans" panose="020B0606030504020204" pitchFamily="34" charset="0"/>
              </a:rPr>
              <a:t>Software Engineering: A Practitioner's Approach</a:t>
            </a:r>
            <a:r>
              <a:rPr lang="en-US" sz="3600" dirty="0">
                <a:latin typeface="Open Sans" panose="020B0606030504020204" pitchFamily="34" charset="0"/>
                <a:ea typeface="Open Sans" panose="020B0606030504020204" pitchFamily="34" charset="0"/>
                <a:cs typeface="Open Sans" panose="020B0606030504020204" pitchFamily="34" charset="0"/>
              </a:rPr>
              <a:t>. 9th E. McGraw- Hill. New York. ISBN: 9781259872976. </a:t>
            </a: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id-ID" altLang="en-US" sz="3600" b="0" i="0" u="none" strike="noStrike" kern="1200" cap="none" spc="0" normalizeH="0" baseline="0" noProof="0" dirty="0">
                <a:ln>
                  <a:noFill/>
                </a:ln>
                <a:solidFill>
                  <a:srgbClr val="0079B8"/>
                </a:solidFill>
                <a:effectLst/>
                <a:uLnTx/>
                <a:uFillTx/>
                <a:latin typeface="Open Sans" panose="020B0606030504020204" pitchFamily="34" charset="0"/>
                <a:ea typeface="MS PGothic" pitchFamily="34" charset="-128"/>
                <a:cs typeface="Open Sans"/>
              </a:rPr>
              <a:t>Multimedia : Video Water </a:t>
            </a:r>
            <a:r>
              <a:rPr kumimoji="0" lang="id-ID" altLang="en-US" sz="3600" b="0" i="0" u="none" strike="noStrike" kern="1200" cap="none" spc="0" normalizeH="0" baseline="0" noProof="0" dirty="0" err="1">
                <a:ln>
                  <a:noFill/>
                </a:ln>
                <a:solidFill>
                  <a:srgbClr val="0079B8"/>
                </a:solidFill>
                <a:effectLst/>
                <a:uLnTx/>
                <a:uFillTx/>
                <a:latin typeface="Open Sans" panose="020B0606030504020204" pitchFamily="34" charset="0"/>
                <a:ea typeface="MS PGothic" pitchFamily="34" charset="-128"/>
                <a:cs typeface="Open Sans"/>
              </a:rPr>
              <a:t>Fall</a:t>
            </a:r>
            <a:r>
              <a:rPr kumimoji="0" lang="id-ID" altLang="en-US" sz="3600" b="0" i="0" u="none" strike="noStrike" kern="1200" cap="none" spc="0" normalizeH="0" baseline="0" noProof="0" dirty="0">
                <a:ln>
                  <a:noFill/>
                </a:ln>
                <a:solidFill>
                  <a:srgbClr val="0079B8"/>
                </a:solidFill>
                <a:effectLst/>
                <a:uLnTx/>
                <a:uFillTx/>
                <a:latin typeface="Open Sans" panose="020B0606030504020204" pitchFamily="34" charset="0"/>
                <a:ea typeface="MS PGothic" pitchFamily="34" charset="-128"/>
                <a:cs typeface="Open Sans"/>
              </a:rPr>
              <a:t>, V model, </a:t>
            </a:r>
            <a:r>
              <a:rPr kumimoji="0" lang="id-ID" altLang="en-US" sz="3600" b="0" i="0" u="sng" strike="noStrike" kern="1200" cap="none" spc="0" normalizeH="0" baseline="0" noProof="0" dirty="0">
                <a:ln>
                  <a:noFill/>
                </a:ln>
                <a:solidFill>
                  <a:srgbClr val="000000"/>
                </a:solidFill>
                <a:effectLst/>
                <a:uLnTx/>
                <a:uFillTx/>
                <a:latin typeface="Open Sans" panose="020B0606030504020204" pitchFamily="34" charset="0"/>
                <a:ea typeface="MS PGothic" pitchFamily="34" charset="-128"/>
                <a:cs typeface="Open Sans"/>
                <a:hlinkClick r:id="rId2"/>
              </a:rPr>
              <a:t>http://www.youtube.com/watch?v=KaPC0gsEQ68</a:t>
            </a:r>
            <a:endParaRPr kumimoji="0" lang="id-ID" altLang="en-US" sz="3600" b="0" i="0" u="none" strike="noStrike" kern="1200" cap="none" spc="0" normalizeH="0" baseline="0" noProof="0" dirty="0">
              <a:ln>
                <a:noFill/>
              </a:ln>
              <a:solidFill>
                <a:srgbClr val="000000"/>
              </a:solidFill>
              <a:effectLst/>
              <a:uLnTx/>
              <a:uFillTx/>
              <a:latin typeface="Open Sans" panose="020B0606030504020204" pitchFamily="34" charset="0"/>
              <a:ea typeface="MS PGothic" pitchFamily="34" charset="-128"/>
              <a:cs typeface="Open Sans"/>
            </a:endParaRP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id-ID" altLang="en-US" sz="3600" b="0" i="0" u="none" strike="noStrike" kern="1200" cap="none" spc="0" normalizeH="0" baseline="0" noProof="0" dirty="0" err="1">
                <a:ln>
                  <a:noFill/>
                </a:ln>
                <a:solidFill>
                  <a:srgbClr val="0079B8"/>
                </a:solidFill>
                <a:effectLst/>
                <a:uLnTx/>
                <a:uFillTx/>
                <a:latin typeface="Open Sans" panose="020B0606030504020204" pitchFamily="34" charset="0"/>
                <a:ea typeface="MS PGothic" pitchFamily="34" charset="-128"/>
                <a:cs typeface="Open Sans"/>
              </a:rPr>
              <a:t>Software</a:t>
            </a:r>
            <a:r>
              <a:rPr kumimoji="0" lang="id-ID" altLang="en-US" sz="3600" b="0" i="0" u="none" strike="noStrike" kern="1200" cap="none" spc="0" normalizeH="0" baseline="0" noProof="0" dirty="0">
                <a:ln>
                  <a:noFill/>
                </a:ln>
                <a:solidFill>
                  <a:srgbClr val="0079B8"/>
                </a:solidFill>
                <a:effectLst/>
                <a:uLnTx/>
                <a:uFillTx/>
                <a:latin typeface="Open Sans" panose="020B0606030504020204" pitchFamily="34" charset="0"/>
                <a:ea typeface="MS PGothic" pitchFamily="34" charset="-128"/>
                <a:cs typeface="Open Sans"/>
              </a:rPr>
              <a:t> Engineering </a:t>
            </a:r>
            <a:r>
              <a:rPr kumimoji="0" lang="id-ID" altLang="en-US" sz="3600" b="0" i="0" u="none" strike="noStrike" kern="1200" cap="none" spc="0" normalizeH="0" baseline="0" noProof="0" dirty="0" err="1">
                <a:ln>
                  <a:noFill/>
                </a:ln>
                <a:solidFill>
                  <a:srgbClr val="0079B8"/>
                </a:solidFill>
                <a:effectLst/>
                <a:uLnTx/>
                <a:uFillTx/>
                <a:latin typeface="Open Sans" panose="020B0606030504020204" pitchFamily="34" charset="0"/>
                <a:ea typeface="MS PGothic" pitchFamily="34" charset="-128"/>
                <a:cs typeface="Open Sans"/>
              </a:rPr>
              <a:t>Incremental</a:t>
            </a:r>
            <a:r>
              <a:rPr kumimoji="0" lang="id-ID" altLang="en-US" sz="3600" b="0" i="0" u="none" strike="noStrike" kern="1200" cap="none" spc="0" normalizeH="0" baseline="0" noProof="0" dirty="0">
                <a:ln>
                  <a:noFill/>
                </a:ln>
                <a:solidFill>
                  <a:srgbClr val="0079B8"/>
                </a:solidFill>
                <a:effectLst/>
                <a:uLnTx/>
                <a:uFillTx/>
                <a:latin typeface="Open Sans" panose="020B0606030504020204" pitchFamily="34" charset="0"/>
                <a:ea typeface="MS PGothic" pitchFamily="34" charset="-128"/>
                <a:cs typeface="Open Sans"/>
              </a:rPr>
              <a:t> Model</a:t>
            </a:r>
            <a:r>
              <a:rPr kumimoji="0" lang="id-ID" altLang="en-US" sz="3600" b="0" i="0" u="none" strike="noStrike" kern="1200" cap="none" spc="0" normalizeH="0" baseline="0" noProof="0" dirty="0">
                <a:ln>
                  <a:noFill/>
                </a:ln>
                <a:solidFill>
                  <a:srgbClr val="000000"/>
                </a:solidFill>
                <a:effectLst/>
                <a:uLnTx/>
                <a:uFillTx/>
                <a:latin typeface="Open Sans" panose="020B0606030504020204" pitchFamily="34" charset="0"/>
                <a:ea typeface="MS PGothic" pitchFamily="34" charset="-128"/>
                <a:cs typeface="Open Sans"/>
              </a:rPr>
              <a:t>, </a:t>
            </a:r>
            <a:r>
              <a:rPr kumimoji="0" lang="en-AU" altLang="en-US" sz="3600" b="0" i="0" u="sng" strike="noStrike" kern="1200" cap="none" spc="0" normalizeH="0" baseline="0" noProof="0" dirty="0">
                <a:ln>
                  <a:noFill/>
                </a:ln>
                <a:solidFill>
                  <a:srgbClr val="000000"/>
                </a:solidFill>
                <a:effectLst/>
                <a:uLnTx/>
                <a:uFillTx/>
                <a:latin typeface="Open Sans" panose="020B0606030504020204" pitchFamily="34" charset="0"/>
                <a:ea typeface="MS PGothic" pitchFamily="34" charset="-128"/>
                <a:cs typeface="Open Sans"/>
                <a:hlinkClick r:id="rId3"/>
              </a:rPr>
              <a:t>http://www.youtube.com/watch?v=9cBkihYP1rY</a:t>
            </a:r>
            <a:endParaRPr kumimoji="0" lang="id-ID" altLang="en-US" sz="3600" b="0" i="0" u="none" strike="noStrike" kern="1200" cap="none" spc="0" normalizeH="0" baseline="0" noProof="0" dirty="0">
              <a:ln>
                <a:noFill/>
              </a:ln>
              <a:solidFill>
                <a:srgbClr val="000000"/>
              </a:solidFill>
              <a:effectLst/>
              <a:uLnTx/>
              <a:uFillTx/>
              <a:latin typeface="Open Sans" panose="020B0606030504020204" pitchFamily="34" charset="0"/>
              <a:ea typeface="MS PGothic" pitchFamily="34" charset="-128"/>
              <a:cs typeface="Open Sans"/>
            </a:endParaRP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id-ID" altLang="en-US" sz="3600" b="0" i="0" u="none" strike="noStrike" kern="1200" cap="none" spc="0" normalizeH="0" baseline="0" noProof="0" dirty="0">
                <a:ln>
                  <a:noFill/>
                </a:ln>
                <a:solidFill>
                  <a:srgbClr val="0079B8"/>
                </a:solidFill>
                <a:effectLst/>
                <a:uLnTx/>
                <a:uFillTx/>
                <a:latin typeface="Open Sans" panose="020B0606030504020204" pitchFamily="34" charset="0"/>
                <a:ea typeface="MS PGothic" pitchFamily="34" charset="-128"/>
                <a:cs typeface="Open Sans"/>
              </a:rPr>
              <a:t>The </a:t>
            </a:r>
            <a:r>
              <a:rPr kumimoji="0" lang="id-ID" altLang="en-US" sz="3600" b="0" i="0" u="none" strike="noStrike" kern="1200" cap="none" spc="0" normalizeH="0" baseline="0" noProof="0" dirty="0" err="1">
                <a:ln>
                  <a:noFill/>
                </a:ln>
                <a:solidFill>
                  <a:srgbClr val="0079B8"/>
                </a:solidFill>
                <a:effectLst/>
                <a:uLnTx/>
                <a:uFillTx/>
                <a:latin typeface="Open Sans" panose="020B0606030504020204" pitchFamily="34" charset="0"/>
                <a:ea typeface="MS PGothic" pitchFamily="34" charset="-128"/>
                <a:cs typeface="Open Sans"/>
              </a:rPr>
              <a:t>Strengths</a:t>
            </a:r>
            <a:r>
              <a:rPr kumimoji="0" lang="id-ID" altLang="en-US" sz="3600" b="0" i="0" u="none" strike="noStrike" kern="1200" cap="none" spc="0" normalizeH="0" baseline="0" noProof="0" dirty="0">
                <a:ln>
                  <a:noFill/>
                </a:ln>
                <a:solidFill>
                  <a:srgbClr val="0079B8"/>
                </a:solidFill>
                <a:effectLst/>
                <a:uLnTx/>
                <a:uFillTx/>
                <a:latin typeface="Open Sans" panose="020B0606030504020204" pitchFamily="34" charset="0"/>
                <a:ea typeface="MS PGothic" pitchFamily="34" charset="-128"/>
                <a:cs typeface="Open Sans"/>
              </a:rPr>
              <a:t> </a:t>
            </a:r>
            <a:r>
              <a:rPr kumimoji="0" lang="id-ID" altLang="en-US" sz="3600" b="0" i="0" u="none" strike="noStrike" kern="1200" cap="none" spc="0" normalizeH="0" baseline="0" noProof="0" dirty="0" err="1">
                <a:ln>
                  <a:noFill/>
                </a:ln>
                <a:solidFill>
                  <a:srgbClr val="0079B8"/>
                </a:solidFill>
                <a:effectLst/>
                <a:uLnTx/>
                <a:uFillTx/>
                <a:latin typeface="Open Sans" panose="020B0606030504020204" pitchFamily="34" charset="0"/>
                <a:ea typeface="MS PGothic" pitchFamily="34" charset="-128"/>
                <a:cs typeface="Open Sans"/>
              </a:rPr>
              <a:t>and</a:t>
            </a:r>
            <a:r>
              <a:rPr kumimoji="0" lang="id-ID" altLang="en-US" sz="3600" b="0" i="0" u="none" strike="noStrike" kern="1200" cap="none" spc="0" normalizeH="0" baseline="0" noProof="0" dirty="0">
                <a:ln>
                  <a:noFill/>
                </a:ln>
                <a:solidFill>
                  <a:srgbClr val="0079B8"/>
                </a:solidFill>
                <a:effectLst/>
                <a:uLnTx/>
                <a:uFillTx/>
                <a:latin typeface="Open Sans" panose="020B0606030504020204" pitchFamily="34" charset="0"/>
                <a:ea typeface="MS PGothic" pitchFamily="34" charset="-128"/>
                <a:cs typeface="Open Sans"/>
              </a:rPr>
              <a:t> </a:t>
            </a:r>
            <a:r>
              <a:rPr kumimoji="0" lang="id-ID" altLang="en-US" sz="3600" b="0" i="0" u="none" strike="noStrike" kern="1200" cap="none" spc="0" normalizeH="0" baseline="0" noProof="0" dirty="0" err="1">
                <a:ln>
                  <a:noFill/>
                </a:ln>
                <a:solidFill>
                  <a:srgbClr val="0079B8"/>
                </a:solidFill>
                <a:effectLst/>
                <a:uLnTx/>
                <a:uFillTx/>
                <a:latin typeface="Open Sans" panose="020B0606030504020204" pitchFamily="34" charset="0"/>
                <a:ea typeface="MS PGothic" pitchFamily="34" charset="-128"/>
                <a:cs typeface="Open Sans"/>
              </a:rPr>
              <a:t>Weaknesses</a:t>
            </a:r>
            <a:r>
              <a:rPr kumimoji="0" lang="id-ID" altLang="en-US" sz="3600" b="0" i="0" u="none" strike="noStrike" kern="1200" cap="none" spc="0" normalizeH="0" baseline="0" noProof="0" dirty="0">
                <a:ln>
                  <a:noFill/>
                </a:ln>
                <a:solidFill>
                  <a:srgbClr val="0079B8"/>
                </a:solidFill>
                <a:effectLst/>
                <a:uLnTx/>
                <a:uFillTx/>
                <a:latin typeface="Open Sans" panose="020B0606030504020204" pitchFamily="34" charset="0"/>
                <a:ea typeface="MS PGothic" pitchFamily="34" charset="-128"/>
                <a:cs typeface="Open Sans"/>
              </a:rPr>
              <a:t> </a:t>
            </a:r>
            <a:r>
              <a:rPr kumimoji="0" lang="id-ID" altLang="en-US" sz="3600" b="0" i="0" u="none" strike="noStrike" kern="1200" cap="none" spc="0" normalizeH="0" baseline="0" noProof="0" dirty="0" err="1">
                <a:ln>
                  <a:noFill/>
                </a:ln>
                <a:solidFill>
                  <a:srgbClr val="0079B8"/>
                </a:solidFill>
                <a:effectLst/>
                <a:uLnTx/>
                <a:uFillTx/>
                <a:latin typeface="Open Sans" panose="020B0606030504020204" pitchFamily="34" charset="0"/>
                <a:ea typeface="MS PGothic" pitchFamily="34" charset="-128"/>
                <a:cs typeface="Open Sans"/>
              </a:rPr>
              <a:t>of</a:t>
            </a:r>
            <a:r>
              <a:rPr kumimoji="0" lang="id-ID" altLang="en-US" sz="3600" b="0" i="0" u="none" strike="noStrike" kern="1200" cap="none" spc="0" normalizeH="0" baseline="0" noProof="0" dirty="0">
                <a:ln>
                  <a:noFill/>
                </a:ln>
                <a:solidFill>
                  <a:srgbClr val="0079B8"/>
                </a:solidFill>
                <a:effectLst/>
                <a:uLnTx/>
                <a:uFillTx/>
                <a:latin typeface="Open Sans" panose="020B0606030504020204" pitchFamily="34" charset="0"/>
                <a:ea typeface="MS PGothic" pitchFamily="34" charset="-128"/>
                <a:cs typeface="Open Sans"/>
              </a:rPr>
              <a:t> </a:t>
            </a:r>
            <a:r>
              <a:rPr kumimoji="0" lang="id-ID" altLang="en-US" sz="3600" b="0" i="0" u="none" strike="noStrike" kern="1200" cap="none" spc="0" normalizeH="0" baseline="0" noProof="0" dirty="0" err="1">
                <a:ln>
                  <a:noFill/>
                </a:ln>
                <a:solidFill>
                  <a:srgbClr val="0079B8"/>
                </a:solidFill>
                <a:effectLst/>
                <a:uLnTx/>
                <a:uFillTx/>
                <a:latin typeface="Open Sans" panose="020B0606030504020204" pitchFamily="34" charset="0"/>
                <a:ea typeface="MS PGothic" pitchFamily="34" charset="-128"/>
                <a:cs typeface="Open Sans"/>
              </a:rPr>
              <a:t>Extreme</a:t>
            </a:r>
            <a:r>
              <a:rPr kumimoji="0" lang="id-ID" altLang="en-US" sz="3600" b="0" i="0" u="none" strike="noStrike" kern="1200" cap="none" spc="0" normalizeH="0" baseline="0" noProof="0" dirty="0">
                <a:ln>
                  <a:noFill/>
                </a:ln>
                <a:solidFill>
                  <a:srgbClr val="0079B8"/>
                </a:solidFill>
                <a:effectLst/>
                <a:uLnTx/>
                <a:uFillTx/>
                <a:latin typeface="Open Sans" panose="020B0606030504020204" pitchFamily="34" charset="0"/>
                <a:ea typeface="MS PGothic" pitchFamily="34" charset="-128"/>
                <a:cs typeface="Open Sans"/>
              </a:rPr>
              <a:t> </a:t>
            </a:r>
            <a:r>
              <a:rPr kumimoji="0" lang="id-ID" altLang="en-US" sz="3600" b="0" i="0" u="none" strike="noStrike" kern="1200" cap="none" spc="0" normalizeH="0" baseline="0" noProof="0" dirty="0" err="1">
                <a:ln>
                  <a:noFill/>
                </a:ln>
                <a:solidFill>
                  <a:srgbClr val="0079B8"/>
                </a:solidFill>
                <a:effectLst/>
                <a:uLnTx/>
                <a:uFillTx/>
                <a:latin typeface="Open Sans" panose="020B0606030504020204" pitchFamily="34" charset="0"/>
                <a:ea typeface="MS PGothic" pitchFamily="34" charset="-128"/>
                <a:cs typeface="Open Sans"/>
              </a:rPr>
              <a:t>Programming</a:t>
            </a:r>
            <a:r>
              <a:rPr kumimoji="0" lang="id-ID" altLang="en-US" sz="3600" b="0" i="0" u="none" strike="noStrike" kern="1200" cap="none" spc="0" normalizeH="0" baseline="0" noProof="0" dirty="0">
                <a:ln>
                  <a:noFill/>
                </a:ln>
                <a:solidFill>
                  <a:srgbClr val="0079B8"/>
                </a:solidFill>
                <a:effectLst/>
                <a:uLnTx/>
                <a:uFillTx/>
                <a:latin typeface="Open Sans" panose="020B0606030504020204" pitchFamily="34" charset="0"/>
                <a:ea typeface="MS PGothic" pitchFamily="34" charset="-128"/>
                <a:cs typeface="Open Sans"/>
              </a:rPr>
              <a:t>, </a:t>
            </a:r>
            <a:r>
              <a:rPr kumimoji="0" lang="id-ID" altLang="en-US" sz="3600" b="1" i="0" u="sng" strike="noStrike" kern="1200" cap="none" spc="0" normalizeH="0" baseline="0" noProof="0" dirty="0">
                <a:ln>
                  <a:noFill/>
                </a:ln>
                <a:solidFill>
                  <a:srgbClr val="000000"/>
                </a:solidFill>
                <a:effectLst/>
                <a:uLnTx/>
                <a:uFillTx/>
                <a:latin typeface="Open Sans" panose="020B0606030504020204" pitchFamily="34" charset="0"/>
                <a:ea typeface="MS PGothic" pitchFamily="34" charset="-128"/>
                <a:cs typeface="Open Sans"/>
                <a:hlinkClick r:id="rId4"/>
              </a:rPr>
              <a:t>http://www.youtube.com/watch?v=LkhLZ7_KZ5w</a:t>
            </a:r>
            <a:endParaRPr kumimoji="0" lang="id-ID" altLang="en-US" sz="3600" b="1" i="0" u="none" strike="noStrike" kern="1200" cap="none" spc="0" normalizeH="0" baseline="0" noProof="0" dirty="0">
              <a:ln>
                <a:noFill/>
              </a:ln>
              <a:solidFill>
                <a:srgbClr val="000000"/>
              </a:solidFill>
              <a:effectLst/>
              <a:uLnTx/>
              <a:uFillTx/>
              <a:latin typeface="Open Sans" panose="020B0606030504020204" pitchFamily="34" charset="0"/>
              <a:ea typeface="MS PGothic" pitchFamily="34" charset="-128"/>
              <a:cs typeface="Open Sans"/>
            </a:endParaRPr>
          </a:p>
          <a:p>
            <a:pPr marL="390525" marR="0" lvl="0" indent="-390525" algn="l" defTabSz="520700" rtl="0" eaLnBrk="0" fontAlgn="base" latinLnBrk="0" hangingPunct="0">
              <a:lnSpc>
                <a:spcPct val="100000"/>
              </a:lnSpc>
              <a:spcBef>
                <a:spcPct val="20000"/>
              </a:spcBef>
              <a:spcAft>
                <a:spcPct val="0"/>
              </a:spcAft>
              <a:buClrTx/>
              <a:buSzTx/>
              <a:buFont typeface="Arial" pitchFamily="34" charset="0"/>
              <a:buChar char="•"/>
              <a:tabLst/>
              <a:defRPr/>
            </a:pPr>
            <a:r>
              <a:rPr kumimoji="0" lang="en-AU" altLang="en-US" sz="3600" b="0" i="0" u="none" strike="noStrike" kern="1200" cap="none" spc="0" normalizeH="0" baseline="0" noProof="0" dirty="0">
                <a:ln>
                  <a:noFill/>
                </a:ln>
                <a:solidFill>
                  <a:srgbClr val="0081BD"/>
                </a:solidFill>
                <a:effectLst/>
                <a:uLnTx/>
                <a:uFillTx/>
                <a:latin typeface="Open Sans" panose="020B0606030504020204" pitchFamily="34" charset="0"/>
                <a:ea typeface="MS PGothic" pitchFamily="34" charset="-128"/>
                <a:cs typeface="Open Sans"/>
              </a:rPr>
              <a:t>Agile project management tutorial: What is agile project </a:t>
            </a:r>
            <a:r>
              <a:rPr kumimoji="0" lang="en-AU" altLang="en-US" sz="3600" b="0" i="0" u="none" strike="noStrike" kern="1200" cap="none" spc="0" normalizeH="0" baseline="0" noProof="0" dirty="0" err="1">
                <a:ln>
                  <a:noFill/>
                </a:ln>
                <a:solidFill>
                  <a:srgbClr val="0079B8"/>
                </a:solidFill>
                <a:effectLst/>
                <a:uLnTx/>
                <a:uFillTx/>
                <a:latin typeface="Open Sans" panose="020B0606030504020204" pitchFamily="34" charset="0"/>
                <a:ea typeface="MS PGothic" pitchFamily="34" charset="-128"/>
                <a:cs typeface="Open Sans"/>
              </a:rPr>
              <a:t>managemen</a:t>
            </a:r>
            <a:r>
              <a:rPr kumimoji="0" lang="en-AU" altLang="en-US" sz="3600" b="0" i="0" u="none" strike="noStrike" kern="1200" cap="none" spc="0" normalizeH="0" baseline="0" noProof="0" dirty="0">
                <a:ln>
                  <a:noFill/>
                </a:ln>
                <a:solidFill>
                  <a:srgbClr val="000000"/>
                </a:solidFill>
                <a:effectLst/>
                <a:uLnTx/>
                <a:uFillTx/>
                <a:latin typeface="Open Sans" panose="020B0606030504020204" pitchFamily="34" charset="0"/>
                <a:ea typeface="MS PGothic" pitchFamily="34" charset="-128"/>
                <a:cs typeface="Open Sans"/>
              </a:rPr>
              <a:t>,  </a:t>
            </a:r>
            <a:r>
              <a:rPr kumimoji="0" lang="en-AU" altLang="en-US" sz="3600" b="0" i="0" u="sng" strike="noStrike" kern="1200" cap="none" spc="0" normalizeH="0" baseline="0" noProof="0" dirty="0">
                <a:ln>
                  <a:noFill/>
                </a:ln>
                <a:solidFill>
                  <a:srgbClr val="000000"/>
                </a:solidFill>
                <a:effectLst/>
                <a:uLnTx/>
                <a:uFillTx/>
                <a:latin typeface="Open Sans" panose="020B0606030504020204" pitchFamily="34" charset="0"/>
                <a:ea typeface="MS PGothic" pitchFamily="34" charset="-128"/>
                <a:cs typeface="Open Sans"/>
                <a:hlinkClick r:id="rId5"/>
              </a:rPr>
              <a:t>http://www.youtube.com/watch?v=MJR-EgHTA4E</a:t>
            </a:r>
            <a:endParaRPr kumimoji="0" lang="en-US" altLang="en-US" sz="3600" b="0" i="0" u="none" strike="noStrike" kern="1200" cap="none" spc="0" normalizeH="0" baseline="0" noProof="0" dirty="0">
              <a:ln>
                <a:noFill/>
              </a:ln>
              <a:solidFill>
                <a:prstClr val="black"/>
              </a:solidFill>
              <a:effectLst/>
              <a:uLnTx/>
              <a:uFillTx/>
              <a:latin typeface="Open Sans" panose="020B0606030504020204" pitchFamily="34" charset="0"/>
              <a:ea typeface="MS PGothic" pitchFamily="34" charset="-128"/>
              <a:cs typeface="Open Sans"/>
            </a:endParaRP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DDAE38A-8264-43C3-9B01-B7FA25F10602}">
  <ds:schemaRefs>
    <ds:schemaRef ds:uri="http://schemas.microsoft.com/sharepoint/events"/>
  </ds:schemaRefs>
</ds:datastoreItem>
</file>

<file path=customXml/itemProps2.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customXml/itemProps3.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2E0FE671-25D8-4116-9472-BF9297986C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BINUS Learning Object Slide Template 2022</Template>
  <TotalTime>6497</TotalTime>
  <Words>1481</Words>
  <Application>Microsoft Office PowerPoint</Application>
  <PresentationFormat>Custom</PresentationFormat>
  <Paragraphs>171</Paragraphs>
  <Slides>26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Open Sans ExtraBold</vt:lpstr>
      <vt:lpstr>Open Sans</vt:lpstr>
      <vt:lpstr>Open Sans Semibold</vt:lpstr>
      <vt:lpstr>Open Sans Light</vt:lpstr>
      <vt:lpstr>OCRB</vt:lpstr>
      <vt:lpstr>21_BasicWhite</vt:lpstr>
      <vt:lpstr>Agile principles &amp; Lean Production</vt:lpstr>
      <vt:lpstr>Session 03 – Agile principles and Lean PRoduction</vt:lpstr>
      <vt:lpstr>Session 03 – Agile principles and Lean PRoduction</vt:lpstr>
      <vt:lpstr>What is Agile?</vt:lpstr>
      <vt:lpstr>What Makes Agile Different?</vt:lpstr>
      <vt:lpstr>Agile is A Mindset</vt:lpstr>
      <vt:lpstr>Where did Agile ideas come from?</vt:lpstr>
      <vt:lpstr>Lean Production</vt:lpstr>
      <vt:lpstr>Lean Production</vt:lpstr>
      <vt:lpstr>Agile Manifesto</vt:lpstr>
      <vt:lpstr>AGILE Manifesto and Principles</vt:lpstr>
      <vt:lpstr>Agile Manifesto</vt:lpstr>
      <vt:lpstr>Agile Manifesto</vt:lpstr>
      <vt:lpstr>Agile Development is adaptive rather than predictive; people-oriented rather than process-oriented. —Martin Fowler </vt:lpstr>
      <vt:lpstr>Agile methodology</vt:lpstr>
      <vt:lpstr>Kaizen cycle</vt:lpstr>
      <vt:lpstr>The Process</vt:lpstr>
      <vt:lpstr>AGILE Framework: Scrum</vt:lpstr>
      <vt:lpstr>Agile Framework: Scrum</vt:lpstr>
      <vt:lpstr>Agile Frameworks: Kanban</vt:lpstr>
      <vt:lpstr>Agile Frameworks: Kanban</vt:lpstr>
      <vt:lpstr>Agile Frameworks: XP Programming</vt:lpstr>
      <vt:lpstr>Agile Frameworks: XP Programming</vt:lpstr>
      <vt:lpstr>Agile Frameworks: DevOps</vt:lpstr>
      <vt:lpstr>Agile Frameworks: DevOps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Maulin Nasari</cp:lastModifiedBy>
  <cp:revision>115</cp:revision>
  <dcterms:created xsi:type="dcterms:W3CDTF">2023-04-06T08:40:27Z</dcterms:created>
  <dcterms:modified xsi:type="dcterms:W3CDTF">2025-12-25T22:09:00Z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