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5"/>
  </p:sldMasterIdLst>
  <p:notesMasterIdLst>
    <p:notesMasterId r:id="rId54"/>
  </p:notesMasterIdLst>
  <p:sldIdLst>
    <p:sldId id="256" r:id="rId6"/>
    <p:sldId id="257" r:id="rId7"/>
    <p:sldId id="258" r:id="rId8"/>
    <p:sldId id="262" r:id="rId9"/>
    <p:sldId id="298" r:id="rId10"/>
    <p:sldId id="297" r:id="rId11"/>
    <p:sldId id="299" r:id="rId12"/>
    <p:sldId id="293" r:id="rId13"/>
    <p:sldId id="300" r:id="rId14"/>
    <p:sldId id="301" r:id="rId15"/>
    <p:sldId id="302" r:id="rId16"/>
    <p:sldId id="303" r:id="rId17"/>
    <p:sldId id="310" r:id="rId18"/>
    <p:sldId id="309" r:id="rId19"/>
    <p:sldId id="305" r:id="rId20"/>
    <p:sldId id="306" r:id="rId21"/>
    <p:sldId id="307" r:id="rId22"/>
    <p:sldId id="308" r:id="rId23"/>
    <p:sldId id="311" r:id="rId24"/>
    <p:sldId id="312" r:id="rId25"/>
    <p:sldId id="295" r:id="rId26"/>
    <p:sldId id="285" r:id="rId27"/>
    <p:sldId id="294" r:id="rId28"/>
    <p:sldId id="296" r:id="rId29"/>
    <p:sldId id="313" r:id="rId30"/>
    <p:sldId id="314" r:id="rId31"/>
    <p:sldId id="315" r:id="rId32"/>
    <p:sldId id="316" r:id="rId33"/>
    <p:sldId id="317" r:id="rId34"/>
    <p:sldId id="318" r:id="rId35"/>
    <p:sldId id="319" r:id="rId36"/>
    <p:sldId id="320" r:id="rId37"/>
    <p:sldId id="321" r:id="rId38"/>
    <p:sldId id="322" r:id="rId39"/>
    <p:sldId id="329" r:id="rId40"/>
    <p:sldId id="330" r:id="rId41"/>
    <p:sldId id="331" r:id="rId42"/>
    <p:sldId id="323" r:id="rId43"/>
    <p:sldId id="324" r:id="rId44"/>
    <p:sldId id="325" r:id="rId45"/>
    <p:sldId id="326" r:id="rId46"/>
    <p:sldId id="288" r:id="rId47"/>
    <p:sldId id="328" r:id="rId48"/>
    <p:sldId id="332" r:id="rId49"/>
    <p:sldId id="333" r:id="rId50"/>
    <p:sldId id="334" r:id="rId51"/>
    <p:sldId id="304" r:id="rId52"/>
    <p:sldId id="284" r:id="rId53"/>
  </p:sldIdLst>
  <p:sldSz cx="24384000" cy="13716000"/>
  <p:notesSz cx="6858000" cy="9144000"/>
  <p:embeddedFontLst>
    <p:embeddedFont>
      <p:font typeface="OCRB" panose="020B0609020202020204" pitchFamily="49" charset="0"/>
      <p:regular r:id="rId55"/>
    </p:embeddedFont>
    <p:embeddedFont>
      <p:font typeface="Open Sans" panose="020B0606030504020204" pitchFamily="34" charset="0"/>
      <p:regular r:id="rId56"/>
      <p:bold r:id="rId57"/>
      <p:italic r:id="rId58"/>
      <p:boldItalic r:id="rId59"/>
    </p:embeddedFont>
    <p:embeddedFont>
      <p:font typeface="Open Sans ExtraBold" panose="020B0906030804020204" pitchFamily="34" charset="0"/>
      <p:bold r:id="rId60"/>
      <p:italic r:id="rId61"/>
      <p:boldItalic r:id="rId62"/>
    </p:embeddedFont>
    <p:embeddedFont>
      <p:font typeface="Open Sans Light" panose="020B0306030504020204" pitchFamily="34" charset="0"/>
      <p:regular r:id="rId63"/>
      <p:italic r:id="rId64"/>
    </p:embeddedFont>
    <p:embeddedFont>
      <p:font typeface="Open Sans Semibold" panose="020B0706030804020204" pitchFamily="34" charset="0"/>
      <p:regular r:id="rId65"/>
      <p:bold r:id="rId66"/>
      <p:italic r:id="rId67"/>
      <p:boldItalic r:id="rId68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515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1AD50C-1EE0-4FD2-99FA-954BCF42F033}" v="1" dt="2025-12-25T22:25:12.698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8" autoAdjust="0"/>
    <p:restoredTop sz="96860"/>
  </p:normalViewPr>
  <p:slideViewPr>
    <p:cSldViewPr snapToGrid="0" snapToObjects="1">
      <p:cViewPr varScale="1">
        <p:scale>
          <a:sx n="18" d="100"/>
          <a:sy n="18" d="100"/>
        </p:scale>
        <p:origin x="101" y="1003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font" Target="fonts/font9.fntdata"/><Relationship Id="rId68" Type="http://schemas.openxmlformats.org/officeDocument/2006/relationships/font" Target="fonts/font14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font" Target="fonts/font4.fntdata"/><Relationship Id="rId66" Type="http://schemas.openxmlformats.org/officeDocument/2006/relationships/font" Target="fonts/font12.fntdata"/><Relationship Id="rId74" Type="http://schemas.microsoft.com/office/2015/10/relationships/revisionInfo" Target="revisionInfo.xml"/><Relationship Id="rId5" Type="http://schemas.openxmlformats.org/officeDocument/2006/relationships/slideMaster" Target="slideMasters/slideMaster1.xml"/><Relationship Id="rId61" Type="http://schemas.openxmlformats.org/officeDocument/2006/relationships/font" Target="fonts/font7.fntdata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font" Target="fonts/font2.fntdata"/><Relationship Id="rId64" Type="http://schemas.openxmlformats.org/officeDocument/2006/relationships/font" Target="fonts/font10.fntdata"/><Relationship Id="rId69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font" Target="fonts/font5.fntdata"/><Relationship Id="rId67" Type="http://schemas.openxmlformats.org/officeDocument/2006/relationships/font" Target="fonts/font13.fntdata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notesMaster" Target="notesMasters/notesMaster1.xml"/><Relationship Id="rId62" Type="http://schemas.openxmlformats.org/officeDocument/2006/relationships/font" Target="fonts/font8.fntdata"/><Relationship Id="rId7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font" Target="fonts/font3.fntdata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font" Target="fonts/font6.fntdata"/><Relationship Id="rId65" Type="http://schemas.openxmlformats.org/officeDocument/2006/relationships/font" Target="fonts/font11.fntdata"/><Relationship Id="rId73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font" Target="fonts/font1.fntdata"/><Relationship Id="rId7" Type="http://schemas.openxmlformats.org/officeDocument/2006/relationships/slide" Target="slides/slide2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lin Nasari" userId="2c02bce8-14a6-4f73-b14a-299518f8dfce" providerId="ADAL" clId="{973AE700-8634-4AC6-A10B-DFA7AFECB9DA}"/>
    <pc:docChg chg="modSld">
      <pc:chgData name="Maulin Nasari" userId="2c02bce8-14a6-4f73-b14a-299518f8dfce" providerId="ADAL" clId="{973AE700-8634-4AC6-A10B-DFA7AFECB9DA}" dt="2025-12-25T22:25:12.698" v="0"/>
      <pc:docMkLst>
        <pc:docMk/>
      </pc:docMkLst>
      <pc:sldChg chg="modSp">
        <pc:chgData name="Maulin Nasari" userId="2c02bce8-14a6-4f73-b14a-299518f8dfce" providerId="ADAL" clId="{973AE700-8634-4AC6-A10B-DFA7AFECB9DA}" dt="2025-12-25T22:25:12.698" v="0"/>
        <pc:sldMkLst>
          <pc:docMk/>
          <pc:sldMk cId="481981883" sldId="258"/>
        </pc:sldMkLst>
        <pc:spChg chg="mod">
          <ac:chgData name="Maulin Nasari" userId="2c02bce8-14a6-4f73-b14a-299518f8dfce" providerId="ADAL" clId="{973AE700-8634-4AC6-A10B-DFA7AFECB9DA}" dt="2025-12-25T22:25:12.698" v="0"/>
          <ac:spMkLst>
            <pc:docMk/>
            <pc:sldMk cId="481981883" sldId="258"/>
            <ac:spMk id="4" creationId="{76E358E3-B24E-F7A5-ECF8-12101774A9E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ISO/IEC/IEEE 42010:2011. </a:t>
            </a:r>
            <a:r>
              <a:rPr lang="en-ID" i="1" dirty="0"/>
              <a:t>Systems and software engineering — Architecture description</a:t>
            </a:r>
            <a:r>
              <a:rPr lang="en-ID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062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BBEE18F9-7EE5-444F-AA57-68A6783A5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437085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136664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815450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494236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173022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ED3AA748-6163-AF42-8BA4-5A505F858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C0CB95F-A575-6E40-8A77-71E4C3CE5D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Background 02.jpg">
            <a:extLst>
              <a:ext uri="{FF2B5EF4-FFF2-40B4-BE49-F238E27FC236}">
                <a16:creationId xmlns:a16="http://schemas.microsoft.com/office/drawing/2014/main" id="{5E9439D9-58CE-C438-5024-900918FA24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8575"/>
            <a:ext cx="24384000" cy="12928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9">
            <a:extLst>
              <a:ext uri="{FF2B5EF4-FFF2-40B4-BE49-F238E27FC236}">
                <a16:creationId xmlns:a16="http://schemas.microsoft.com/office/drawing/2014/main" id="{7A8C25BD-F319-4C45-1231-698E123EA6A3}"/>
              </a:ext>
            </a:extLst>
          </p:cNvPr>
          <p:cNvSpPr/>
          <p:nvPr userDrawn="1"/>
        </p:nvSpPr>
        <p:spPr>
          <a:xfrm>
            <a:off x="0" y="10315576"/>
            <a:ext cx="24384000" cy="3400424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 sz="4800" b="0" i="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6933" y="4121696"/>
            <a:ext cx="18232304" cy="1584176"/>
          </a:xfrm>
        </p:spPr>
        <p:txBody>
          <a:bodyPr>
            <a:normAutofit/>
          </a:bodyPr>
          <a:lstStyle>
            <a:lvl1pPr algn="l">
              <a:defRPr sz="6000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5096933" y="6858002"/>
            <a:ext cx="18232304" cy="6080844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>
          <a:xfrm>
            <a:off x="5087211" y="5705872"/>
            <a:ext cx="18242027" cy="1008112"/>
          </a:xfrm>
        </p:spPr>
        <p:txBody>
          <a:bodyPr rtlCol="0" anchor="ctr">
            <a:normAutofit/>
          </a:bodyPr>
          <a:lstStyle>
            <a:lvl1pPr>
              <a:defRPr lang="id-ID" sz="4400" b="0" i="0" dirty="0">
                <a:solidFill>
                  <a:srgbClr val="0079B8"/>
                </a:solidFill>
                <a:latin typeface="Open Sans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subtitle style</a:t>
            </a:r>
            <a:endParaRPr lang="id-ID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844FF92-AFAA-0F6A-9AEF-114DE9CF286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fld id="{B314F4A9-3917-40E8-BD28-C0DD49686833}" type="datetimeFigureOut">
              <a:rPr lang="id-ID" altLang="en-US" smtClean="0"/>
              <a:pPr>
                <a:defRPr/>
              </a:pPr>
              <a:t>26/12/2025</a:t>
            </a:fld>
            <a:endParaRPr lang="id-ID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F5E07CC-C0C3-C8A2-0275-D753706EAE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7828D9-9E07-C21B-8C4E-ECBFDA05A3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000605" y="13076008"/>
            <a:ext cx="370294" cy="379591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B5C4D3-5B9B-4333-A046-65E8E2318A8F}" type="slidenum">
              <a:rPr lang="id-ID" altLang="en-US"/>
              <a:pPr>
                <a:defRPr/>
              </a:pPr>
              <a:t>‹#›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64564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  <p:sldLayoutId id="2147483689" r:id="rId24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264C53-F38A-3CAD-0C8A-2BF46116F39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COMP6100001 - Software engineering</a:t>
            </a:r>
          </a:p>
          <a:p>
            <a:r>
              <a:rPr lang="en-US" dirty="0"/>
              <a:t>Session 09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20BAB2-790F-F74A-024A-FC22D1A3E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Software Architecture Design Concepts and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B89E2-412C-8945-F692-CD51460D98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Kenny Jingga, </a:t>
            </a:r>
            <a:r>
              <a:rPr lang="en-US" dirty="0" err="1"/>
              <a:t>S.Kom</a:t>
            </a:r>
            <a:r>
              <a:rPr lang="en-US" dirty="0"/>
              <a:t>., M.T.</a:t>
            </a:r>
          </a:p>
        </p:txBody>
      </p:sp>
    </p:spTree>
    <p:extLst>
      <p:ext uri="{BB962C8B-B14F-4D97-AF65-F5344CB8AC3E}">
        <p14:creationId xmlns:p14="http://schemas.microsoft.com/office/powerpoint/2010/main" val="348722344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6955510" cy="547670"/>
          </a:xfrm>
        </p:spPr>
        <p:txBody>
          <a:bodyPr>
            <a:normAutofit fontScale="90000"/>
          </a:bodyPr>
          <a:lstStyle/>
          <a:p>
            <a:r>
              <a:rPr lang="en-US" dirty="0"/>
              <a:t>Session 09 – Software Architecture Design Concepts and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2"/>
            <a:ext cx="20711673" cy="4522264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the end of this session, students will be expected to be able to:</a:t>
            </a:r>
          </a:p>
          <a:p>
            <a:pPr marL="0" indent="0" algn="just">
              <a:buNone/>
            </a:pPr>
            <a:endParaRPr lang="en-US" sz="3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altLang="en-US" sz="3600" dirty="0">
                <a:latin typeface="Open Sans" panose="020B0606030504020204" pitchFamily="34" charset="0"/>
              </a:rPr>
              <a:t>Understand the Purpose and Importance of Software Architecture</a:t>
            </a:r>
          </a:p>
          <a:p>
            <a:pPr algn="just">
              <a:spcBef>
                <a:spcPts val="0"/>
              </a:spcBef>
            </a:pPr>
            <a:r>
              <a:rPr lang="en-US" altLang="en-US" sz="3600" dirty="0">
                <a:latin typeface="Open Sans" panose="020B0606030504020204" pitchFamily="34" charset="0"/>
              </a:rPr>
              <a:t>Describe Key Architectural Styles and Pattern</a:t>
            </a:r>
          </a:p>
          <a:p>
            <a:pPr algn="just">
              <a:spcBef>
                <a:spcPts val="0"/>
              </a:spcBef>
            </a:pPr>
            <a:r>
              <a:rPr lang="en-US" altLang="en-US" sz="3600" dirty="0">
                <a:latin typeface="Open Sans" panose="020B0606030504020204" pitchFamily="34" charset="0"/>
              </a:rPr>
              <a:t>Evaluate Architectural Styles for Various Project Requirements</a:t>
            </a:r>
          </a:p>
          <a:p>
            <a:pPr algn="just">
              <a:spcBef>
                <a:spcPts val="0"/>
              </a:spcBef>
            </a:pPr>
            <a:r>
              <a:rPr lang="en-US" altLang="en-US" sz="3600" dirty="0">
                <a:latin typeface="Open Sans" panose="020B0606030504020204" pitchFamily="34" charset="0"/>
              </a:rPr>
              <a:t>Explore Architectural Decision-Making Through Case Studies</a:t>
            </a:r>
          </a:p>
        </p:txBody>
      </p:sp>
    </p:spTree>
    <p:extLst>
      <p:ext uri="{BB962C8B-B14F-4D97-AF65-F5344CB8AC3E}">
        <p14:creationId xmlns:p14="http://schemas.microsoft.com/office/powerpoint/2010/main" val="385578585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512101" cy="547670"/>
          </a:xfrm>
        </p:spPr>
        <p:txBody>
          <a:bodyPr>
            <a:normAutofit fontScale="90000"/>
          </a:bodyPr>
          <a:lstStyle/>
          <a:p>
            <a:r>
              <a:rPr lang="en-US" dirty="0"/>
              <a:t>Session 09 – Software Architecture Design Concepts and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Content outline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2"/>
            <a:ext cx="20711673" cy="4522264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Architecture concepts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Architectural styles &amp; patterns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Evaluation of styles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Case studies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Architectural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48198188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Views and Abstraction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715569" cy="84093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7" name="Content Placeholder 6" descr="A map of a city&#10;&#10;Description automatically generated">
            <a:extLst>
              <a:ext uri="{FF2B5EF4-FFF2-40B4-BE49-F238E27FC236}">
                <a16:creationId xmlns:a16="http://schemas.microsoft.com/office/drawing/2014/main" id="{7AD3B024-CB88-5548-CF5E-1766BED9E418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7" y="3298049"/>
            <a:ext cx="10318004" cy="7099017"/>
          </a:xfrm>
          <a:prstGeom prst="rect">
            <a:avLst/>
          </a:prstGeom>
        </p:spPr>
      </p:pic>
      <p:pic>
        <p:nvPicPr>
          <p:cNvPr id="9" name="Picture 8" descr="A map of a city&#10;&#10;Description automatically generated">
            <a:extLst>
              <a:ext uri="{FF2B5EF4-FFF2-40B4-BE49-F238E27FC236}">
                <a16:creationId xmlns:a16="http://schemas.microsoft.com/office/drawing/2014/main" id="{79FA6BC4-6FDC-CEF5-1CEA-D5C79DA3F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8417" y="5502903"/>
            <a:ext cx="11258206" cy="709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63852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Views and Abstraction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715569" cy="840935"/>
          </a:xfrm>
        </p:spPr>
        <p:txBody>
          <a:bodyPr>
            <a:normAutofit/>
          </a:bodyPr>
          <a:lstStyle/>
          <a:p>
            <a:r>
              <a:rPr lang="en-US" dirty="0"/>
              <a:t>Abstracted views focus on conveying specific information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They have a well-defined purpose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Show only necessary information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Abstract away unnecessary details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legends/annotations to remove ambiguity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Multiple views of the same object tell a larger story</a:t>
            </a:r>
          </a:p>
        </p:txBody>
      </p:sp>
    </p:spTree>
    <p:extLst>
      <p:ext uri="{BB962C8B-B14F-4D97-AF65-F5344CB8AC3E}">
        <p14:creationId xmlns:p14="http://schemas.microsoft.com/office/powerpoint/2010/main" val="105238278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Software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Architecture 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refers to the fundamental structures of a software system and the discipline of creating such structures and systems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software architecture representation is not an operational product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Rather, it is a representation that enables you to</a:t>
            </a:r>
          </a:p>
          <a:p>
            <a:pPr marL="623888" lvl="1" indent="0" algn="just">
              <a:spcBef>
                <a:spcPts val="0"/>
              </a:spcBef>
              <a:buNone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(1) analyze the effectiveness of the design in meeting its stated requirements,</a:t>
            </a:r>
          </a:p>
          <a:p>
            <a:pPr marL="623888" lvl="1" indent="0" algn="just">
              <a:spcBef>
                <a:spcPts val="0"/>
              </a:spcBef>
              <a:buNone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(2) consider architectural alternatives at a stage when making design changes is still relatively easy,</a:t>
            </a:r>
          </a:p>
          <a:p>
            <a:pPr marL="623888" lvl="1" indent="0" algn="just">
              <a:spcBef>
                <a:spcPts val="0"/>
              </a:spcBef>
              <a:buNone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(3) reduce the risks associated with the construction of the software.</a:t>
            </a:r>
          </a:p>
          <a:p>
            <a:pPr marL="623888" lvl="1" indent="0" algn="just">
              <a:spcBef>
                <a:spcPts val="0"/>
              </a:spcBef>
              <a:buNone/>
            </a:pP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1" indent="0" algn="just">
              <a:spcBef>
                <a:spcPts val="0"/>
              </a:spcBef>
              <a:buNone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software architecture of a program or computing system is the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structure or structures 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 the system, which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comprise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elements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the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externally visible properties 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 those elements, and the relationships among them</a:t>
            </a:r>
          </a:p>
          <a:p>
            <a:pPr marL="0" lvl="1" indent="0" algn="just">
              <a:spcBef>
                <a:spcPts val="0"/>
              </a:spcBef>
              <a:buNone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[Bass et al. 2003]</a:t>
            </a:r>
          </a:p>
        </p:txBody>
      </p:sp>
    </p:spTree>
    <p:extLst>
      <p:ext uri="{BB962C8B-B14F-4D97-AF65-F5344CB8AC3E}">
        <p14:creationId xmlns:p14="http://schemas.microsoft.com/office/powerpoint/2010/main" val="340825655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Software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Abstraction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Elements: roles, responsibilities, behaviors, properties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Relationships between elements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Relationships to non-software elements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Hardware, external systems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Described from many different perspectives (views)</a:t>
            </a:r>
          </a:p>
          <a:p>
            <a:pPr algn="just"/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just">
              <a:buNone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“Architecture is about the important stuff. Whatever that is.” – Ralph Johnson</a:t>
            </a:r>
          </a:p>
        </p:txBody>
      </p:sp>
    </p:spTree>
    <p:extLst>
      <p:ext uri="{BB962C8B-B14F-4D97-AF65-F5344CB8AC3E}">
        <p14:creationId xmlns:p14="http://schemas.microsoft.com/office/powerpoint/2010/main" val="424143259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Software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253723" cy="840935"/>
          </a:xfrm>
        </p:spPr>
        <p:txBody>
          <a:bodyPr>
            <a:normAutofit/>
          </a:bodyPr>
          <a:lstStyle/>
          <a:p>
            <a:r>
              <a:rPr lang="en-US" dirty="0"/>
              <a:t>Design vs Architecture: Level of Abstraction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9067023" cy="8583279"/>
          </a:xfrm>
        </p:spPr>
        <p:txBody>
          <a:bodyPr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Requirements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High-level “what” needs to be done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Architecture (High-level design)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High-level “how”, mid-level “what”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OO-Design (Low-level design, e.g. design patterns)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Mid-level “how”, low-level “what”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Low-level “how”</a:t>
            </a:r>
          </a:p>
        </p:txBody>
      </p:sp>
    </p:spTree>
    <p:extLst>
      <p:ext uri="{BB962C8B-B14F-4D97-AF65-F5344CB8AC3E}">
        <p14:creationId xmlns:p14="http://schemas.microsoft.com/office/powerpoint/2010/main" val="24675288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Software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253723" cy="840935"/>
          </a:xfrm>
        </p:spPr>
        <p:txBody>
          <a:bodyPr>
            <a:normAutofit/>
          </a:bodyPr>
          <a:lstStyle/>
          <a:p>
            <a:r>
              <a:rPr lang="en-US" dirty="0"/>
              <a:t>Design vs Architecture: Questions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0024623" cy="858327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 Questions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do I add a menu item in Eclipse?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can I make it easy to add menu items in Eclipse?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lock protects this data?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does Google rank pages?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encoder should I use for secure communication?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the interface between objects? 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85DC57E-A77A-33CC-FBBE-6F916D71CCD7}"/>
              </a:ext>
            </a:extLst>
          </p:cNvPr>
          <p:cNvSpPr txBox="1">
            <a:spLocks/>
          </p:cNvSpPr>
          <p:nvPr/>
        </p:nvSpPr>
        <p:spPr>
          <a:xfrm>
            <a:off x="12192000" y="3260663"/>
            <a:ext cx="10024623" cy="8583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buNone/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Architectural Questions </a:t>
            </a:r>
          </a:p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do I extend Eclipse with a plugin? </a:t>
            </a:r>
          </a:p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threads exist and how do they coordinate? </a:t>
            </a:r>
          </a:p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does Google scale to billions of hits per day? </a:t>
            </a:r>
          </a:p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Where should I put my firewalls? </a:t>
            </a:r>
          </a:p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the interface between subsystems? </a:t>
            </a:r>
          </a:p>
        </p:txBody>
      </p:sp>
    </p:spTree>
    <p:extLst>
      <p:ext uri="{BB962C8B-B14F-4D97-AF65-F5344CB8AC3E}">
        <p14:creationId xmlns:p14="http://schemas.microsoft.com/office/powerpoint/2010/main" val="5038423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Software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Importance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Foundation for Development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serves as a blueprint for both the system and the project, laying out the tasks necessary to be executed by the design and implementation teams.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Facilitates Communication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provides a common language and understanding among stakeholders.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Manages Complexity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breaks down complex systems into manageable components.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Supports Quality Attributes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influences performance, security, maintainability, scalability, and other non-functional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29360082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Software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900345" cy="840935"/>
          </a:xfrm>
        </p:spPr>
        <p:txBody>
          <a:bodyPr>
            <a:normAutofit fontScale="92500"/>
          </a:bodyPr>
          <a:lstStyle/>
          <a:p>
            <a:r>
              <a:rPr lang="en-US" dirty="0"/>
              <a:t>Roles of Software Architecture in Software Engineering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2900345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Guides Design and Implementation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architecture sets constraints on the design to ensure consistency and coherence.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Enables Reuse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architectural patterns and styles allow for reusing proven solutions.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Risk Management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early architectural decisions help identify and mitigate risks.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69FB2E7-768D-F647-7592-CDCAEB346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2946" y="2382339"/>
            <a:ext cx="7151851" cy="639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999878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b="1" dirty="0"/>
              <a:t>Architectural Styles and Patterns</a:t>
            </a:r>
            <a:endParaRPr lang="en-US" sz="3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Architectural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108263"/>
            <a:ext cx="20295058" cy="10089577"/>
          </a:xfrm>
        </p:spPr>
        <p:txBody>
          <a:bodyPr anchor="ctr">
            <a:noAutofit/>
          </a:bodyPr>
          <a:lstStyle/>
          <a:p>
            <a:pPr marL="0" indent="0" algn="just">
              <a:spcBef>
                <a:spcPts val="800"/>
              </a:spcBef>
              <a:buNone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architectural style 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defines a family of systems in terms of a pattern of structural organization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Monolithic Architecture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Layered Architecture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Client-Server Architecture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Model-View-Controller (MVC)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Model-View-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ViewModel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(MVVM)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Event-Driven Architecture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Service-Oriented Architecture (SOA)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Microservices Architecture</a:t>
            </a:r>
          </a:p>
        </p:txBody>
      </p:sp>
    </p:spTree>
    <p:extLst>
      <p:ext uri="{BB962C8B-B14F-4D97-AF65-F5344CB8AC3E}">
        <p14:creationId xmlns:p14="http://schemas.microsoft.com/office/powerpoint/2010/main" val="152887421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Architectural Styles and Patterns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715569" cy="840935"/>
          </a:xfrm>
        </p:spPr>
        <p:txBody>
          <a:bodyPr>
            <a:normAutofit/>
          </a:bodyPr>
          <a:lstStyle/>
          <a:p>
            <a:r>
              <a:rPr lang="en-US" dirty="0"/>
              <a:t>Architectural Styles : Monolithic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Monolithic architecture is a concept when complete software is developed as a single unit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 functionality, features and modules are developed and integrate and deployed in the form of a single entity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single platform containing user interface, business logic and database layer on the same page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Monolithic application has a single shared database for each functionality and every feature combined in a single program as a unified model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monolithic architecture is comfortable and easily adopted by small teams and small projects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lot of startups and small projects are used to developed using monolithic architecture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is good for a project when the modules are interdependent and interconnected</a:t>
            </a:r>
          </a:p>
          <a:p>
            <a:pPr algn="just">
              <a:spcBef>
                <a:spcPts val="1800"/>
              </a:spcBef>
            </a:pP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99365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Architectural Styles and Patterns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9142119" cy="840936"/>
          </a:xfrm>
        </p:spPr>
        <p:txBody>
          <a:bodyPr>
            <a:normAutofit/>
          </a:bodyPr>
          <a:lstStyle/>
          <a:p>
            <a:r>
              <a:rPr lang="en-US" dirty="0"/>
              <a:t>Architectural Styles : Monoliths make trade-offs on software quality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Autofit/>
          </a:bodyPr>
          <a:lstStyle/>
          <a:p>
            <a:pPr marL="0" indent="0" algn="just">
              <a:spcBef>
                <a:spcPts val="1800"/>
              </a:spcBef>
              <a:buNone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Several consequences of this architecture on:</a:t>
            </a:r>
          </a:p>
          <a:p>
            <a:pPr indent="-42863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Scalability</a:t>
            </a:r>
          </a:p>
          <a:p>
            <a:pPr indent="-42863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Reliability</a:t>
            </a:r>
          </a:p>
          <a:p>
            <a:pPr indent="-42863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Performance </a:t>
            </a:r>
          </a:p>
          <a:p>
            <a:pPr indent="-42863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Development</a:t>
            </a:r>
          </a:p>
          <a:p>
            <a:pPr indent="-42863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Maintainability</a:t>
            </a:r>
          </a:p>
          <a:p>
            <a:pPr indent="-42863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Evolution</a:t>
            </a:r>
          </a:p>
          <a:p>
            <a:pPr indent="-42863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Testability</a:t>
            </a:r>
          </a:p>
          <a:p>
            <a:pPr indent="-42863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Ownership </a:t>
            </a:r>
          </a:p>
          <a:p>
            <a:pPr algn="just">
              <a:spcBef>
                <a:spcPts val="1800"/>
              </a:spcBef>
            </a:pP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 descr="A screenshot of a facebook page&#10;&#10;Description automatically generated">
            <a:extLst>
              <a:ext uri="{FF2B5EF4-FFF2-40B4-BE49-F238E27FC236}">
                <a16:creationId xmlns:a16="http://schemas.microsoft.com/office/drawing/2014/main" id="{B6CFB5B1-E96E-DEE5-88C7-33ED376B8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7863" y="3032775"/>
            <a:ext cx="10554310" cy="8072998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DC08504D-1A8F-2BB7-2EA2-4B8CD85AEE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0977" y="7922388"/>
            <a:ext cx="9485089" cy="554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24216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b="1" dirty="0"/>
              <a:t>Architectural Styles and Patterns</a:t>
            </a:r>
            <a:endParaRPr lang="en-US" sz="3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1469110" cy="688535"/>
          </a:xfrm>
        </p:spPr>
        <p:txBody>
          <a:bodyPr>
            <a:normAutofit/>
          </a:bodyPr>
          <a:lstStyle/>
          <a:p>
            <a:r>
              <a:rPr lang="en-US" dirty="0"/>
              <a:t>Architectural Style: Layered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108263"/>
            <a:ext cx="11492389" cy="10089577"/>
          </a:xfrm>
        </p:spPr>
        <p:txBody>
          <a:bodyPr anchor="ctr">
            <a:noAutofit/>
          </a:bodyPr>
          <a:lstStyle/>
          <a:p>
            <a:pPr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Organizes the system into layers with related functionality</a:t>
            </a:r>
          </a:p>
          <a:p>
            <a:pPr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Layers:</a:t>
            </a:r>
          </a:p>
          <a:p>
            <a:pPr lvl="1"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 Layer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User interface</a:t>
            </a:r>
          </a:p>
          <a:p>
            <a:pPr lvl="1"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Application Layer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Business logic</a:t>
            </a:r>
          </a:p>
          <a:p>
            <a:pPr lvl="1"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Access Layer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Database interactions</a:t>
            </a:r>
          </a:p>
          <a:p>
            <a:pPr lvl="1"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Database Layer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Data storage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Advantages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Separation of concerns.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Ease of maintenance and testing.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Disadvantages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 introduce performance overhead due to layer-to-layer communication.</a:t>
            </a:r>
          </a:p>
        </p:txBody>
      </p:sp>
      <p:pic>
        <p:nvPicPr>
          <p:cNvPr id="5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1110979D-47BC-15BF-8CC6-78C1DB0483AE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540859" y="4360412"/>
            <a:ext cx="8835975" cy="7483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7812102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b="1" dirty="0"/>
              <a:t>Architectural Styles and Patterns</a:t>
            </a:r>
            <a:endParaRPr lang="en-US" sz="3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1469110" cy="688535"/>
          </a:xfrm>
        </p:spPr>
        <p:txBody>
          <a:bodyPr>
            <a:normAutofit/>
          </a:bodyPr>
          <a:lstStyle/>
          <a:p>
            <a:r>
              <a:rPr lang="en-US" dirty="0"/>
              <a:t>Architectural Style: Client-server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108263"/>
            <a:ext cx="11492389" cy="10089577"/>
          </a:xfrm>
        </p:spPr>
        <p:txBody>
          <a:bodyPr anchor="ctr">
            <a:noAutofit/>
          </a:bodyPr>
          <a:lstStyle/>
          <a:p>
            <a:pPr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Divides the system into two applications, where the client makes requests to the server.</a:t>
            </a:r>
          </a:p>
          <a:p>
            <a:pPr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Components:</a:t>
            </a:r>
          </a:p>
          <a:p>
            <a:pPr lvl="1"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Client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Front-end application.</a:t>
            </a:r>
          </a:p>
          <a:p>
            <a:pPr lvl="1"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Server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Back-end application that processes requests.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Advantages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Centralized control.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Scalability by adding more servers.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Disadvantages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Single point of failure at the server.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Network dependency.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B5204FC-3390-FC99-01C3-04BBA6EF9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9096" y="4229100"/>
            <a:ext cx="9144000" cy="708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687758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b="1" dirty="0"/>
              <a:t>Architectural Styles and Patterns</a:t>
            </a:r>
            <a:endParaRPr lang="en-US" sz="3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3059371" cy="688535"/>
          </a:xfrm>
        </p:spPr>
        <p:txBody>
          <a:bodyPr>
            <a:normAutofit/>
          </a:bodyPr>
          <a:lstStyle/>
          <a:p>
            <a:r>
              <a:rPr lang="en-US" dirty="0"/>
              <a:t>Architectural Style: Model-View-Controller (MVC)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108263"/>
            <a:ext cx="11492389" cy="10089577"/>
          </a:xfrm>
        </p:spPr>
        <p:txBody>
          <a:bodyPr anchor="ctr">
            <a:noAutofit/>
          </a:bodyPr>
          <a:lstStyle/>
          <a:p>
            <a:pPr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Separates an application into three main components:</a:t>
            </a:r>
          </a:p>
          <a:p>
            <a:pPr lvl="1"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Manages data and business logic.</a:t>
            </a:r>
          </a:p>
          <a:p>
            <a:pPr lvl="1"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View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Outputs representation of data (UI).</a:t>
            </a:r>
          </a:p>
          <a:p>
            <a:pPr lvl="1"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Controller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Handles input and updates model/view.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Advantages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Facilitates parallel development.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Enhances testability and maintainability.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Disadvantages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 add complexity with multiple components.</a:t>
            </a:r>
          </a:p>
        </p:txBody>
      </p:sp>
      <p:pic>
        <p:nvPicPr>
          <p:cNvPr id="5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4ADA4476-F35A-50D2-A741-5DE6769E38E0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458122" y="2763995"/>
            <a:ext cx="9753600" cy="5068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A diagram of a software development&#10;&#10;Description automatically generated">
            <a:extLst>
              <a:ext uri="{FF2B5EF4-FFF2-40B4-BE49-F238E27FC236}">
                <a16:creationId xmlns:a16="http://schemas.microsoft.com/office/drawing/2014/main" id="{F81533AF-5408-FF48-95C3-57C17BD6DB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4601" y="8153051"/>
            <a:ext cx="5025197" cy="542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46791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b="1" dirty="0"/>
              <a:t>Architectural Styles and Patterns</a:t>
            </a:r>
            <a:endParaRPr lang="en-US" sz="3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3059371" cy="688535"/>
          </a:xfrm>
        </p:spPr>
        <p:txBody>
          <a:bodyPr>
            <a:normAutofit/>
          </a:bodyPr>
          <a:lstStyle/>
          <a:p>
            <a:r>
              <a:rPr lang="en-US" dirty="0"/>
              <a:t>Architectural Style: Model-View-</a:t>
            </a:r>
            <a:r>
              <a:rPr lang="en-US" dirty="0" err="1"/>
              <a:t>ViewModel</a:t>
            </a:r>
            <a:r>
              <a:rPr lang="en-US" dirty="0"/>
              <a:t> (MVVM)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108263"/>
            <a:ext cx="11492389" cy="10089577"/>
          </a:xfrm>
        </p:spPr>
        <p:txBody>
          <a:bodyPr anchor="ctr">
            <a:noAutofit/>
          </a:bodyPr>
          <a:lstStyle/>
          <a:p>
            <a:pPr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Enhances MVC by introducing a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ViewModel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that acts as an intermediary between the View and the Model.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Components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Data and business logic.</a:t>
            </a:r>
          </a:p>
          <a:p>
            <a:pPr lvl="1"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View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UI elements.</a:t>
            </a:r>
          </a:p>
          <a:p>
            <a:pPr lvl="1" algn="just">
              <a:spcBef>
                <a:spcPts val="800"/>
              </a:spcBef>
            </a:pP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ViewModel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Handles the logic for the View, facilitates data binding.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Advantages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Promotes a clear separation between the development of UI and the business logic.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Facilitates unit testing of the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ViewModel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Disadvantages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May introduce complexity due to data binding and event management.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33ACEA6-11FD-FE5A-561F-B32A83C23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5384" y="4218884"/>
            <a:ext cx="10351100" cy="700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714928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b="1" dirty="0"/>
              <a:t>Architectural Styles and Patterns</a:t>
            </a:r>
            <a:endParaRPr lang="en-US" sz="3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3059371" cy="688535"/>
          </a:xfrm>
        </p:spPr>
        <p:txBody>
          <a:bodyPr>
            <a:normAutofit/>
          </a:bodyPr>
          <a:lstStyle/>
          <a:p>
            <a:r>
              <a:rPr lang="en-US" dirty="0"/>
              <a:t>Architectural Style: Event-Driven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108263"/>
            <a:ext cx="11492389" cy="10089577"/>
          </a:xfrm>
        </p:spPr>
        <p:txBody>
          <a:bodyPr anchor="ctr">
            <a:noAutofit/>
          </a:bodyPr>
          <a:lstStyle/>
          <a:p>
            <a:pPr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Components communicate by producing and responding to events.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Components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Event Producers: 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Generate events.</a:t>
            </a:r>
          </a:p>
          <a:p>
            <a:pPr lvl="1"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Event Consumers: 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React to events.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Advantages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Highly decoupled.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Scalable and flexible.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Disadvantages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Debugging can be difficult.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Potential for message loss if not handled properly.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D321FBB-9FDE-2AE2-BF89-AC2D1C0EB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0918" y="5266893"/>
            <a:ext cx="10263082" cy="5772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721139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b="1" dirty="0"/>
              <a:t>Architectural Styles and Patterns</a:t>
            </a:r>
            <a:endParaRPr lang="en-US" sz="3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4715569" cy="688535"/>
          </a:xfrm>
        </p:spPr>
        <p:txBody>
          <a:bodyPr>
            <a:normAutofit/>
          </a:bodyPr>
          <a:lstStyle/>
          <a:p>
            <a:r>
              <a:rPr lang="en-US" dirty="0"/>
              <a:t>Architectural Style: Service-Oriented Architecture (SOA)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108263"/>
            <a:ext cx="11492389" cy="10089577"/>
          </a:xfrm>
        </p:spPr>
        <p:txBody>
          <a:bodyPr anchor="ctr">
            <a:noAutofit/>
          </a:bodyPr>
          <a:lstStyle/>
          <a:p>
            <a:pPr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Services are provided to other components by application components, through a communication protocol over a network.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Characteristics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Reusable services.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Standardized service contracts.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Advantages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Promotes interoperability.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Facilitates integration with legacy systems.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Disadvantages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Overhead of service communication.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Complexity in service management.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CFB9E1B-79F0-F015-719F-A83279779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3499" y="3437203"/>
            <a:ext cx="9600501" cy="6841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2874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Architectural Styles and Patterns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099127" cy="840935"/>
          </a:xfrm>
        </p:spPr>
        <p:txBody>
          <a:bodyPr>
            <a:normAutofit fontScale="92500"/>
          </a:bodyPr>
          <a:lstStyle/>
          <a:p>
            <a:r>
              <a:rPr lang="en-US" dirty="0"/>
              <a:t>Architectural Style: Service-Oriented Architecture (SOA)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Service-oriented architecture some time is also known as 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centralized oriented architecture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is architecture when multiple, services which are also said as user agents are used or created interaction with a centralized system to make our traditional monolithic less burden and loosely coupled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service-oriented architecture is specifically designed to communicate interoperable systems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service provides functionality on abstraction level, consider as a black box, self-contained to avoid the overhead of new development each time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communication between them can be done using a central point of connectivity called 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Enterprise service bus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ESB is taking care of all service and helping them to interact with each other</a:t>
            </a:r>
          </a:p>
        </p:txBody>
      </p:sp>
    </p:spTree>
    <p:extLst>
      <p:ext uri="{BB962C8B-B14F-4D97-AF65-F5344CB8AC3E}">
        <p14:creationId xmlns:p14="http://schemas.microsoft.com/office/powerpoint/2010/main" val="276110776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Service-Oriented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Web Browsers: Chrome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654008"/>
            <a:ext cx="20295058" cy="2061992"/>
          </a:xfrm>
        </p:spPr>
        <p:txBody>
          <a:bodyPr>
            <a:noAutofit/>
          </a:bodyPr>
          <a:lstStyle/>
          <a:p>
            <a:pPr marL="0" indent="0" algn="just">
              <a:spcBef>
                <a:spcPts val="1800"/>
              </a:spcBef>
              <a:buNone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Source: https://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developers.google.com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/web/updates/2018/09/inside-browser-part1 (CC BY 4.0) </a:t>
            </a:r>
          </a:p>
        </p:txBody>
      </p:sp>
      <p:pic>
        <p:nvPicPr>
          <p:cNvPr id="6" name="Picture 5" descr="A diagram of a computer system&#10;&#10;Description automatically generated">
            <a:extLst>
              <a:ext uri="{FF2B5EF4-FFF2-40B4-BE49-F238E27FC236}">
                <a16:creationId xmlns:a16="http://schemas.microsoft.com/office/drawing/2014/main" id="{ACC13333-F11C-2DF3-41B4-61C2B5B52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188" y="3223274"/>
            <a:ext cx="16501623" cy="843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66136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Service-Oriented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Browser: A Multi-threaded process</a:t>
            </a:r>
          </a:p>
        </p:txBody>
      </p:sp>
      <p:pic>
        <p:nvPicPr>
          <p:cNvPr id="7" name="Content Placeholder 6" descr="A computer screen and a screen&#10;&#10;Description automatically generated">
            <a:extLst>
              <a:ext uri="{FF2B5EF4-FFF2-40B4-BE49-F238E27FC236}">
                <a16:creationId xmlns:a16="http://schemas.microsoft.com/office/drawing/2014/main" id="{1B0E84C1-E425-1E33-E34F-200CC4AF292A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138" y="3260663"/>
            <a:ext cx="16539723" cy="928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765801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Service-Oriented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Multi-Process Browser with IPC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0775B75-AA8E-4003-7FAB-61C73975E925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4227505" y="3260663"/>
            <a:ext cx="15417493" cy="959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613676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Service-Oriented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Browser Architecture</a:t>
            </a:r>
          </a:p>
        </p:txBody>
      </p:sp>
      <p:pic>
        <p:nvPicPr>
          <p:cNvPr id="8" name="Content Placeholder 7" descr="A diagram of a network process&#10;&#10;Description automatically generated">
            <a:extLst>
              <a:ext uri="{FF2B5EF4-FFF2-40B4-BE49-F238E27FC236}">
                <a16:creationId xmlns:a16="http://schemas.microsoft.com/office/drawing/2014/main" id="{09E50F39-B50B-545E-D840-504E9F7640F7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7" y="4400976"/>
            <a:ext cx="21073623" cy="6285696"/>
          </a:xfrm>
        </p:spPr>
      </p:pic>
    </p:spTree>
    <p:extLst>
      <p:ext uri="{BB962C8B-B14F-4D97-AF65-F5344CB8AC3E}">
        <p14:creationId xmlns:p14="http://schemas.microsoft.com/office/powerpoint/2010/main" val="181947247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Service-Oriented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Service-based Browser Architecture</a:t>
            </a:r>
          </a:p>
        </p:txBody>
      </p:sp>
      <p:pic>
        <p:nvPicPr>
          <p:cNvPr id="7" name="Content Placeholder 6" descr="A diagram of a web page&#10;&#10;Description automatically generated">
            <a:extLst>
              <a:ext uri="{FF2B5EF4-FFF2-40B4-BE49-F238E27FC236}">
                <a16:creationId xmlns:a16="http://schemas.microsoft.com/office/drawing/2014/main" id="{F802E8A4-0BEB-3C55-B140-93728D9C1AB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938" y="3260663"/>
            <a:ext cx="18978123" cy="9564015"/>
          </a:xfrm>
        </p:spPr>
      </p:pic>
    </p:spTree>
    <p:extLst>
      <p:ext uri="{BB962C8B-B14F-4D97-AF65-F5344CB8AC3E}">
        <p14:creationId xmlns:p14="http://schemas.microsoft.com/office/powerpoint/2010/main" val="1303075988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Service-Oriented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Service-based Browser Architecture</a:t>
            </a:r>
          </a:p>
        </p:txBody>
      </p:sp>
      <p:pic>
        <p:nvPicPr>
          <p:cNvPr id="8" name="Content Placeholder 7" descr="A diagram of a process&#10;&#10;Description automatically generated">
            <a:extLst>
              <a:ext uri="{FF2B5EF4-FFF2-40B4-BE49-F238E27FC236}">
                <a16:creationId xmlns:a16="http://schemas.microsoft.com/office/drawing/2014/main" id="{9F0AB56F-FE0E-CBDB-9D79-7D9DBEC24549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838" y="3260663"/>
            <a:ext cx="17530323" cy="9567022"/>
          </a:xfrm>
        </p:spPr>
      </p:pic>
    </p:spTree>
    <p:extLst>
      <p:ext uri="{BB962C8B-B14F-4D97-AF65-F5344CB8AC3E}">
        <p14:creationId xmlns:p14="http://schemas.microsoft.com/office/powerpoint/2010/main" val="3685468418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Service-Oriented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1434323" cy="840935"/>
          </a:xfrm>
        </p:spPr>
        <p:txBody>
          <a:bodyPr>
            <a:normAutofit/>
          </a:bodyPr>
          <a:lstStyle/>
          <a:p>
            <a:r>
              <a:rPr lang="en-US" dirty="0"/>
              <a:t>Navigating to a web site uses service requests</a:t>
            </a:r>
          </a:p>
        </p:txBody>
      </p:sp>
      <p:pic>
        <p:nvPicPr>
          <p:cNvPr id="7" name="Content Placeholder 6" descr="A computer screen with a message&#10;&#10;Description automatically generated with medium confidence">
            <a:extLst>
              <a:ext uri="{FF2B5EF4-FFF2-40B4-BE49-F238E27FC236}">
                <a16:creationId xmlns:a16="http://schemas.microsoft.com/office/drawing/2014/main" id="{75A2291A-62F1-18B0-8EE1-B7EAFB71735F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038" y="3298050"/>
            <a:ext cx="17377923" cy="9876453"/>
          </a:xfrm>
        </p:spPr>
      </p:pic>
    </p:spTree>
    <p:extLst>
      <p:ext uri="{BB962C8B-B14F-4D97-AF65-F5344CB8AC3E}">
        <p14:creationId xmlns:p14="http://schemas.microsoft.com/office/powerpoint/2010/main" val="2085789051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Service-Oriented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1434323" cy="840935"/>
          </a:xfrm>
        </p:spPr>
        <p:txBody>
          <a:bodyPr>
            <a:normAutofit/>
          </a:bodyPr>
          <a:lstStyle/>
          <a:p>
            <a:r>
              <a:rPr lang="en-US" dirty="0"/>
              <a:t>Navigating to a web site uses service requests</a:t>
            </a:r>
          </a:p>
        </p:txBody>
      </p:sp>
      <p:pic>
        <p:nvPicPr>
          <p:cNvPr id="8" name="Content Placeholder 7" descr="A computer screen with a message&#10;&#10;Description automatically generated with medium confidence">
            <a:extLst>
              <a:ext uri="{FF2B5EF4-FFF2-40B4-BE49-F238E27FC236}">
                <a16:creationId xmlns:a16="http://schemas.microsoft.com/office/drawing/2014/main" id="{4E74B988-6DFC-D43E-47E4-4F2E725A75AF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188" y="3298050"/>
            <a:ext cx="17263623" cy="9753947"/>
          </a:xfrm>
        </p:spPr>
      </p:pic>
    </p:spTree>
    <p:extLst>
      <p:ext uri="{BB962C8B-B14F-4D97-AF65-F5344CB8AC3E}">
        <p14:creationId xmlns:p14="http://schemas.microsoft.com/office/powerpoint/2010/main" val="444088704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Service-Oriented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1434323" cy="840935"/>
          </a:xfrm>
        </p:spPr>
        <p:txBody>
          <a:bodyPr>
            <a:normAutofit/>
          </a:bodyPr>
          <a:lstStyle/>
          <a:p>
            <a:r>
              <a:rPr lang="en-US" dirty="0"/>
              <a:t>Navigating to a web site uses service requests</a:t>
            </a:r>
          </a:p>
        </p:txBody>
      </p:sp>
      <p:pic>
        <p:nvPicPr>
          <p:cNvPr id="7" name="Content Placeholder 6" descr="A computer screen with a computer screen&#10;&#10;Description automatically generated with medium confidence">
            <a:extLst>
              <a:ext uri="{FF2B5EF4-FFF2-40B4-BE49-F238E27FC236}">
                <a16:creationId xmlns:a16="http://schemas.microsoft.com/office/drawing/2014/main" id="{1391AF3F-4968-3FB4-FFE1-F3842A51B0F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888" y="3298050"/>
            <a:ext cx="17492223" cy="9823219"/>
          </a:xfrm>
        </p:spPr>
      </p:pic>
    </p:spTree>
    <p:extLst>
      <p:ext uri="{BB962C8B-B14F-4D97-AF65-F5344CB8AC3E}">
        <p14:creationId xmlns:p14="http://schemas.microsoft.com/office/powerpoint/2010/main" val="2632262586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Service-Oriented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1434323" cy="840935"/>
          </a:xfrm>
        </p:spPr>
        <p:txBody>
          <a:bodyPr>
            <a:normAutofit/>
          </a:bodyPr>
          <a:lstStyle/>
          <a:p>
            <a:r>
              <a:rPr lang="en-US" dirty="0"/>
              <a:t>Navigating to a web site uses service requests</a:t>
            </a:r>
          </a:p>
        </p:txBody>
      </p:sp>
      <p:pic>
        <p:nvPicPr>
          <p:cNvPr id="8" name="Content Placeholder 7" descr="A computer screen with a computer screen&#10;&#10;Description automatically generated">
            <a:extLst>
              <a:ext uri="{FF2B5EF4-FFF2-40B4-BE49-F238E27FC236}">
                <a16:creationId xmlns:a16="http://schemas.microsoft.com/office/drawing/2014/main" id="{26DE59CF-7377-DC42-7F7A-3B358448FA20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288" y="3298050"/>
            <a:ext cx="17949423" cy="9927012"/>
          </a:xfrm>
        </p:spPr>
      </p:pic>
    </p:spTree>
    <p:extLst>
      <p:ext uri="{BB962C8B-B14F-4D97-AF65-F5344CB8AC3E}">
        <p14:creationId xmlns:p14="http://schemas.microsoft.com/office/powerpoint/2010/main" val="493333799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Service-Oriented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1434323" cy="840935"/>
          </a:xfrm>
        </p:spPr>
        <p:txBody>
          <a:bodyPr>
            <a:normAutofit/>
          </a:bodyPr>
          <a:lstStyle/>
          <a:p>
            <a:r>
              <a:rPr lang="en-US" dirty="0"/>
              <a:t>Navigating to a web site uses service requests</a:t>
            </a:r>
          </a:p>
        </p:txBody>
      </p:sp>
      <p:pic>
        <p:nvPicPr>
          <p:cNvPr id="7" name="Content Placeholder 6" descr="A computer screen with a computer screen&#10;&#10;Description automatically generated with medium confidence">
            <a:extLst>
              <a:ext uri="{FF2B5EF4-FFF2-40B4-BE49-F238E27FC236}">
                <a16:creationId xmlns:a16="http://schemas.microsoft.com/office/drawing/2014/main" id="{E2EEF900-E8CB-1FB4-C15A-B18B99798DC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588" y="3298050"/>
            <a:ext cx="17720823" cy="9749320"/>
          </a:xfrm>
        </p:spPr>
      </p:pic>
    </p:spTree>
    <p:extLst>
      <p:ext uri="{BB962C8B-B14F-4D97-AF65-F5344CB8AC3E}">
        <p14:creationId xmlns:p14="http://schemas.microsoft.com/office/powerpoint/2010/main" val="1393315896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Service-Oriented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1434323" cy="840935"/>
          </a:xfrm>
        </p:spPr>
        <p:txBody>
          <a:bodyPr>
            <a:normAutofit/>
          </a:bodyPr>
          <a:lstStyle/>
          <a:p>
            <a:r>
              <a:rPr lang="en-US" dirty="0"/>
              <a:t>Navigating to a web site uses service requests</a:t>
            </a:r>
          </a:p>
        </p:txBody>
      </p:sp>
      <p:pic>
        <p:nvPicPr>
          <p:cNvPr id="8" name="Content Placeholder 7" descr="A computer screen with a computer screen&#10;&#10;Description automatically generated with medium confidence">
            <a:extLst>
              <a:ext uri="{FF2B5EF4-FFF2-40B4-BE49-F238E27FC236}">
                <a16:creationId xmlns:a16="http://schemas.microsoft.com/office/drawing/2014/main" id="{E56F53D4-326E-47F7-7E8E-6DAA2953F76A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288" y="3298050"/>
            <a:ext cx="17187423" cy="9511487"/>
          </a:xfrm>
        </p:spPr>
      </p:pic>
    </p:spTree>
    <p:extLst>
      <p:ext uri="{BB962C8B-B14F-4D97-AF65-F5344CB8AC3E}">
        <p14:creationId xmlns:p14="http://schemas.microsoft.com/office/powerpoint/2010/main" val="4134211286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b="1" dirty="0"/>
              <a:t>Architectural Styles and Patterns</a:t>
            </a:r>
            <a:endParaRPr lang="en-US" sz="3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4715569" cy="688535"/>
          </a:xfrm>
        </p:spPr>
        <p:txBody>
          <a:bodyPr>
            <a:normAutofit/>
          </a:bodyPr>
          <a:lstStyle/>
          <a:p>
            <a:r>
              <a:rPr lang="en-US" dirty="0"/>
              <a:t>Architectural Style: Microservices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108263"/>
            <a:ext cx="11492389" cy="10089577"/>
          </a:xfrm>
        </p:spPr>
        <p:txBody>
          <a:bodyPr anchor="ctr">
            <a:noAutofit/>
          </a:bodyPr>
          <a:lstStyle/>
          <a:p>
            <a:pPr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Services are provided to other components by application components, through a communication protocol over a network.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Characteristics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Reusable services.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Standardized service contracts.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Advantages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Promotes interoperability.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Facilitates integration with legacy systems.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Disadvantages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Overhead of service communication.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Complexity in service management.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98B275F-A18E-21DA-8939-DFBFA533F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1709" y="6101972"/>
            <a:ext cx="11036300" cy="519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4049939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Microservice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Microservice architecture also considers as decentralized architecture, is much similar to SOA but not connected with any central service 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Microservice architecture is an architecture which is build using autonomous services which communicate with each other using rest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Like SOA, microservice not build on such service which can use again any other project as well instead its focus is to make each functionality separate as a service which should be micro and a self-contained, application, business, infrastructure and enterprise layer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service unit has its database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 those microservice then join into UI microservice to show as a working application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From UI we call those microservices through rest calls</a:t>
            </a:r>
          </a:p>
        </p:txBody>
      </p:sp>
    </p:spTree>
    <p:extLst>
      <p:ext uri="{BB962C8B-B14F-4D97-AF65-F5344CB8AC3E}">
        <p14:creationId xmlns:p14="http://schemas.microsoft.com/office/powerpoint/2010/main" val="2141044498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Microservice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0977123" cy="840935"/>
          </a:xfrm>
        </p:spPr>
        <p:txBody>
          <a:bodyPr>
            <a:normAutofit/>
          </a:bodyPr>
          <a:lstStyle/>
          <a:p>
            <a:r>
              <a:rPr lang="en-US" dirty="0"/>
              <a:t>Are microservices always the right choice?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Microservices overhead</a:t>
            </a:r>
          </a:p>
        </p:txBody>
      </p:sp>
      <p:pic>
        <p:nvPicPr>
          <p:cNvPr id="6" name="Picture 5" descr="A diagram of a microservice&#10;&#10;Description automatically generated">
            <a:extLst>
              <a:ext uri="{FF2B5EF4-FFF2-40B4-BE49-F238E27FC236}">
                <a16:creationId xmlns:a16="http://schemas.microsoft.com/office/drawing/2014/main" id="{584DDF21-350C-B497-6840-63AAC515F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588" y="4138986"/>
            <a:ext cx="13148823" cy="932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807829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Microservice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0977123" cy="840935"/>
          </a:xfrm>
        </p:spPr>
        <p:txBody>
          <a:bodyPr>
            <a:normAutofit/>
          </a:bodyPr>
          <a:lstStyle/>
          <a:p>
            <a:r>
              <a:rPr lang="en-US" dirty="0"/>
              <a:t>Challenges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Complexities of distributed systems 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network latency, faults, inconsistencies 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testing challenges 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Resource overhead, RPCs 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Requires more thoughtful design (avoid ”chatty” APIs, be more coarse-grained)_ 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Shifting complexities to the network 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Operational complexity 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Frequently adopted by breaking down monolithic application </a:t>
            </a:r>
          </a:p>
          <a:p>
            <a:pPr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HTTP/REST/JSON communication</a:t>
            </a:r>
          </a:p>
          <a:p>
            <a:pPr lvl="1" algn="just">
              <a:spcBef>
                <a:spcPts val="1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Schemas? </a:t>
            </a:r>
          </a:p>
        </p:txBody>
      </p:sp>
    </p:spTree>
    <p:extLst>
      <p:ext uri="{BB962C8B-B14F-4D97-AF65-F5344CB8AC3E}">
        <p14:creationId xmlns:p14="http://schemas.microsoft.com/office/powerpoint/2010/main" val="2548487292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b="1" dirty="0"/>
              <a:t>Architectural Styles and Patterns</a:t>
            </a:r>
            <a:endParaRPr lang="en-US" sz="3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4715569" cy="688535"/>
          </a:xfrm>
        </p:spPr>
        <p:txBody>
          <a:bodyPr>
            <a:normAutofit/>
          </a:bodyPr>
          <a:lstStyle/>
          <a:p>
            <a:r>
              <a:rPr lang="en-US" dirty="0"/>
              <a:t>Architectural Patterns vs Design Patterns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108263"/>
            <a:ext cx="20049247" cy="10089577"/>
          </a:xfrm>
        </p:spPr>
        <p:txBody>
          <a:bodyPr anchor="ctr">
            <a:noAutofit/>
          </a:bodyPr>
          <a:lstStyle/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Architectural Patterns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High-level strategies that concern large-scale components, the global properties, and mechanisms of a system.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Examples: Layered architecture, Microservices.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 Patterns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Solutions to recurring problems in software design at a lower level, focusing on implementation.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Examples: Singleton, Observer, Factory Method.</a:t>
            </a:r>
          </a:p>
          <a:p>
            <a:pPr lvl="1" algn="just">
              <a:spcBef>
                <a:spcPts val="800"/>
              </a:spcBef>
            </a:pP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just">
              <a:spcBef>
                <a:spcPts val="800"/>
              </a:spcBef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Comparison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Scope -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Architectural Patterns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System-level structure and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 Patterns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Component-level design</a:t>
            </a:r>
          </a:p>
          <a:p>
            <a:pPr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Abstraction Level -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Architectural Patterns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High and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 Patterns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Low</a:t>
            </a:r>
          </a:p>
          <a:p>
            <a:pPr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Focus: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Architectural Patterns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Overall system organization and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 Patterns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Implementation details</a:t>
            </a:r>
          </a:p>
          <a:p>
            <a:pPr algn="just">
              <a:spcBef>
                <a:spcPts val="800"/>
              </a:spcBef>
            </a:pP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687878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b="1" dirty="0"/>
              <a:t>Evaluating Architectural Styles for Differen</a:t>
            </a:r>
            <a:r>
              <a:rPr lang="en-US" sz="3400" dirty="0"/>
              <a:t>t Projects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4715569" cy="688535"/>
          </a:xfrm>
        </p:spPr>
        <p:txBody>
          <a:bodyPr>
            <a:normAutofit/>
          </a:bodyPr>
          <a:lstStyle/>
          <a:p>
            <a:r>
              <a:rPr lang="en-US" dirty="0"/>
              <a:t>Criteria for selection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108263"/>
            <a:ext cx="20049247" cy="10089577"/>
          </a:xfrm>
        </p:spPr>
        <p:txBody>
          <a:bodyPr anchor="ctr">
            <a:noAutofit/>
          </a:bodyPr>
          <a:lstStyle/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Functional Requirements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Does the style support the required functionality?</a:t>
            </a:r>
          </a:p>
          <a:p>
            <a:pPr marL="609600" lvl="1" indent="0" algn="just">
              <a:spcBef>
                <a:spcPts val="800"/>
              </a:spcBef>
              <a:buNone/>
            </a:pP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Non-Functional Requirements (Quality Attributes)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Performance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Response time, throughput.</a:t>
            </a:r>
          </a:p>
          <a:p>
            <a:pPr lvl="1"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Scalability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Ability to handle growth.</a:t>
            </a:r>
          </a:p>
          <a:p>
            <a:pPr lvl="1"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Security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Protection against threats.</a:t>
            </a:r>
          </a:p>
          <a:p>
            <a:pPr lvl="1"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Maintainability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Ease of making changes.</a:t>
            </a:r>
          </a:p>
        </p:txBody>
      </p:sp>
    </p:spTree>
    <p:extLst>
      <p:ext uri="{BB962C8B-B14F-4D97-AF65-F5344CB8AC3E}">
        <p14:creationId xmlns:p14="http://schemas.microsoft.com/office/powerpoint/2010/main" val="1129378935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b="1" dirty="0"/>
              <a:t>Evaluating Architectural Styles for Differen</a:t>
            </a:r>
            <a:r>
              <a:rPr lang="en-US" sz="3400" dirty="0"/>
              <a:t>t Projects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4715569" cy="688535"/>
          </a:xfrm>
        </p:spPr>
        <p:txBody>
          <a:bodyPr>
            <a:normAutofit/>
          </a:bodyPr>
          <a:lstStyle/>
          <a:p>
            <a:r>
              <a:rPr lang="en-US" dirty="0"/>
              <a:t>Matching Architecture to Requirements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108263"/>
            <a:ext cx="20049247" cy="10089577"/>
          </a:xfrm>
        </p:spPr>
        <p:txBody>
          <a:bodyPr anchor="ctr">
            <a:noAutofit/>
          </a:bodyPr>
          <a:lstStyle/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Cases and Scenarios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Analyze how the architecture handles specific situations.</a:t>
            </a:r>
          </a:p>
          <a:p>
            <a:pPr marL="609600" lvl="1" indent="0" algn="just">
              <a:spcBef>
                <a:spcPts val="800"/>
              </a:spcBef>
              <a:buNone/>
            </a:pP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Architecture Tradeoff Analysis Method (ATAM)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Evaluate architectural decisions based on quality attribute priorities.</a:t>
            </a:r>
          </a:p>
          <a:p>
            <a:pPr algn="just">
              <a:spcBef>
                <a:spcPts val="800"/>
              </a:spcBef>
            </a:pP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339657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b="1" dirty="0"/>
              <a:t>Evaluating Architectural Styles for Differen</a:t>
            </a:r>
            <a:r>
              <a:rPr lang="en-US" sz="3400" dirty="0"/>
              <a:t>t Projects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4715569" cy="688535"/>
          </a:xfrm>
        </p:spPr>
        <p:txBody>
          <a:bodyPr>
            <a:normAutofit/>
          </a:bodyPr>
          <a:lstStyle/>
          <a:p>
            <a:r>
              <a:rPr lang="en-US" dirty="0"/>
              <a:t>Trade-offs in Architectural Decisions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108263"/>
            <a:ext cx="20049247" cy="10089577"/>
          </a:xfrm>
        </p:spPr>
        <p:txBody>
          <a:bodyPr anchor="ctr">
            <a:noAutofit/>
          </a:bodyPr>
          <a:lstStyle/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Complexity vs. Simplicity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More complex architectures may offer flexibility but can be harder to understand and maintain.</a:t>
            </a:r>
          </a:p>
          <a:p>
            <a:pPr marL="609600" lvl="1" indent="0" algn="just">
              <a:spcBef>
                <a:spcPts val="800"/>
              </a:spcBef>
              <a:buNone/>
            </a:pP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Performance vs. Scalability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Optimization for performance might affect scalability.</a:t>
            </a:r>
          </a:p>
          <a:p>
            <a:pPr marL="609600" lvl="1" indent="0" algn="just">
              <a:spcBef>
                <a:spcPts val="800"/>
              </a:spcBef>
              <a:buNone/>
            </a:pP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Time-to-Market vs. Robustness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Rapid development can lead to technical debt.</a:t>
            </a:r>
          </a:p>
        </p:txBody>
      </p:sp>
    </p:spTree>
    <p:extLst>
      <p:ext uri="{BB962C8B-B14F-4D97-AF65-F5344CB8AC3E}">
        <p14:creationId xmlns:p14="http://schemas.microsoft.com/office/powerpoint/2010/main" val="121883283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Case Studies on Software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Netflix - Microservices</a:t>
            </a:r>
          </a:p>
        </p:txBody>
      </p:sp>
      <p:pic>
        <p:nvPicPr>
          <p:cNvPr id="8" name="Content Placeholder 5" descr="A screenshot of a video&#10;&#10;Description automatically generated">
            <a:extLst>
              <a:ext uri="{FF2B5EF4-FFF2-40B4-BE49-F238E27FC236}">
                <a16:creationId xmlns:a16="http://schemas.microsoft.com/office/drawing/2014/main" id="{072CB412-5726-76E7-E8FA-699B361E055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6529" y="3260663"/>
            <a:ext cx="17199443" cy="8583279"/>
          </a:xfrm>
        </p:spPr>
      </p:pic>
    </p:spTree>
    <p:extLst>
      <p:ext uri="{BB962C8B-B14F-4D97-AF65-F5344CB8AC3E}">
        <p14:creationId xmlns:p14="http://schemas.microsoft.com/office/powerpoint/2010/main" val="340308724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Case Studies on Software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Netflix Microservices – App Boot</a:t>
            </a:r>
          </a:p>
        </p:txBody>
      </p:sp>
      <p:pic>
        <p:nvPicPr>
          <p:cNvPr id="8" name="Content Placeholder 5" descr="A screenshot of a video&#10;&#10;Description automatically generated">
            <a:extLst>
              <a:ext uri="{FF2B5EF4-FFF2-40B4-BE49-F238E27FC236}">
                <a16:creationId xmlns:a16="http://schemas.microsoft.com/office/drawing/2014/main" id="{072CB412-5726-76E7-E8FA-699B361E055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7" y="4867755"/>
            <a:ext cx="9873661" cy="4927391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E35614-0DED-96EC-51CC-5D6F867730EE}"/>
              </a:ext>
            </a:extLst>
          </p:cNvPr>
          <p:cNvSpPr txBox="1">
            <a:spLocks/>
          </p:cNvSpPr>
          <p:nvPr/>
        </p:nvSpPr>
        <p:spPr>
          <a:xfrm>
            <a:off x="12191999" y="3260663"/>
            <a:ext cx="10270435" cy="8583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800"/>
              </a:spcBef>
              <a:buNone/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 of 2016</a:t>
            </a:r>
          </a:p>
          <a:p>
            <a:pPr algn="just">
              <a:spcBef>
                <a:spcPts val="1800"/>
              </a:spcBef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Recommendations </a:t>
            </a:r>
          </a:p>
          <a:p>
            <a:pPr algn="just">
              <a:spcBef>
                <a:spcPts val="1800"/>
              </a:spcBef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Trending Now </a:t>
            </a:r>
          </a:p>
          <a:p>
            <a:pPr algn="just">
              <a:spcBef>
                <a:spcPts val="1800"/>
              </a:spcBef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Continue Watching </a:t>
            </a:r>
          </a:p>
          <a:p>
            <a:pPr algn="just">
              <a:spcBef>
                <a:spcPts val="1800"/>
              </a:spcBef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 List </a:t>
            </a:r>
          </a:p>
          <a:p>
            <a:pPr algn="just">
              <a:spcBef>
                <a:spcPts val="1800"/>
              </a:spcBef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Metrics </a:t>
            </a:r>
          </a:p>
          <a:p>
            <a:pPr algn="just">
              <a:spcBef>
                <a:spcPts val="1800"/>
              </a:spcBef>
            </a:pPr>
            <a:endParaRPr lang="en-ID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414529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/>
              <a:t>Case Studies on Software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4715569" cy="688535"/>
          </a:xfrm>
        </p:spPr>
        <p:txBody>
          <a:bodyPr>
            <a:normAutofit/>
          </a:bodyPr>
          <a:lstStyle/>
          <a:p>
            <a:r>
              <a:rPr lang="en-US" dirty="0"/>
              <a:t>Microsoft Word - Layered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108263"/>
            <a:ext cx="20049247" cy="10089577"/>
          </a:xfrm>
        </p:spPr>
        <p:txBody>
          <a:bodyPr anchor="ctr">
            <a:noAutofit/>
          </a:bodyPr>
          <a:lstStyle/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Background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Utilizes a layered architecture to separate concerns.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Layers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UI Layer, Business Logic Layer, Data Access Layer.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Benefits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Improved maintainability and flexibility.</a:t>
            </a:r>
          </a:p>
        </p:txBody>
      </p:sp>
    </p:spTree>
    <p:extLst>
      <p:ext uri="{BB962C8B-B14F-4D97-AF65-F5344CB8AC3E}">
        <p14:creationId xmlns:p14="http://schemas.microsoft.com/office/powerpoint/2010/main" val="1716853594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/>
              <a:t>Case Studies on Software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4715569" cy="688535"/>
          </a:xfrm>
        </p:spPr>
        <p:txBody>
          <a:bodyPr>
            <a:normAutofit/>
          </a:bodyPr>
          <a:lstStyle/>
          <a:p>
            <a:r>
              <a:rPr lang="en-US" dirty="0"/>
              <a:t>Discussion on Architectural Choices and Outcomes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108263"/>
            <a:ext cx="20049247" cy="10089577"/>
          </a:xfrm>
        </p:spPr>
        <p:txBody>
          <a:bodyPr anchor="ctr">
            <a:noAutofit/>
          </a:bodyPr>
          <a:lstStyle/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Success Factors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Alignment with business goals.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Proper evaluation of trade-offs.</a:t>
            </a:r>
          </a:p>
          <a:p>
            <a:pPr marL="609600" lvl="1" indent="0" algn="just">
              <a:spcBef>
                <a:spcPts val="800"/>
              </a:spcBef>
              <a:buNone/>
            </a:pP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Lessons Learned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Importance of scalability considerations.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Need for thorough testing in distributed architectures.</a:t>
            </a:r>
          </a:p>
        </p:txBody>
      </p:sp>
    </p:spTree>
    <p:extLst>
      <p:ext uri="{BB962C8B-B14F-4D97-AF65-F5344CB8AC3E}">
        <p14:creationId xmlns:p14="http://schemas.microsoft.com/office/powerpoint/2010/main" val="3381688493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/>
              <a:t>Architectural Decision-Making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4715569" cy="688535"/>
          </a:xfrm>
        </p:spPr>
        <p:txBody>
          <a:bodyPr>
            <a:normAutofit/>
          </a:bodyPr>
          <a:lstStyle/>
          <a:p>
            <a:r>
              <a:rPr lang="en-US" dirty="0"/>
              <a:t>Discussion on Architectural Choices and Outcomes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108263"/>
            <a:ext cx="20049247" cy="10089577"/>
          </a:xfrm>
        </p:spPr>
        <p:txBody>
          <a:bodyPr anchor="ctr">
            <a:noAutofit/>
          </a:bodyPr>
          <a:lstStyle/>
          <a:p>
            <a:pPr marL="0" indent="0" algn="just">
              <a:spcBef>
                <a:spcPts val="800"/>
              </a:spcBef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Stakeholder Involvement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Identifying Stakeholders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Developers, customers, end-users, project managers.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Gathering Requirements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Both functional and non-functional requirements.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Collaborative Decision-Making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Involving stakeholders in evaluating options.</a:t>
            </a:r>
          </a:p>
          <a:p>
            <a:pPr marL="0" indent="0" algn="just">
              <a:spcBef>
                <a:spcPts val="800"/>
              </a:spcBef>
              <a:buNone/>
            </a:pP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just">
              <a:spcBef>
                <a:spcPts val="800"/>
              </a:spcBef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Documentation and Communication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Architectural Descriptions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of UML diagrams, architectural blueprints.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Communication Tools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Documentation repositories, wikis, meetings.</a:t>
            </a:r>
          </a:p>
          <a:p>
            <a:pPr algn="just">
              <a:spcBef>
                <a:spcPts val="800"/>
              </a:spcBef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Importance of Clarity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>
              <a:spcBef>
                <a:spcPts val="80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Ensures everyone has a shared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2914763339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ampungan Konten 5">
            <a:extLst>
              <a:ext uri="{FF2B5EF4-FFF2-40B4-BE49-F238E27FC236}">
                <a16:creationId xmlns:a16="http://schemas.microsoft.com/office/drawing/2014/main" id="{BE9A4C8A-B82E-377E-FE53-D1B5E6E28D2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24F4610-89D1-EC2E-4596-68E4B21F7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1B7C4B-02BD-8AC5-4C6B-50BA0F138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3871" y="-43577"/>
            <a:ext cx="18327757" cy="13759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3518159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C9A3-FB6E-DB3A-36BC-1DB5FA6C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E2DA4-F8BE-01AB-0C23-B97B20B1A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E9782-3C02-FAD4-699A-C827BC99AC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4602480"/>
            <a:ext cx="13714940" cy="7680960"/>
          </a:xfrm>
        </p:spPr>
        <p:txBody>
          <a:bodyPr>
            <a:noAutofit/>
          </a:bodyPr>
          <a:lstStyle/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Titus Winters, Tom </a:t>
            </a:r>
            <a:r>
              <a:rPr lang="en-US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Manshreck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and Hyrum Wright. (2020). </a:t>
            </a:r>
            <a:r>
              <a:rPr lang="en-US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Engineering at Google: Lesson Learned from Programming Over Time. 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1st. O’Reilly Media. California. ISBN: 978-1492082798.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Roger Pressman and Bruce Maxim. (2020). </a:t>
            </a:r>
            <a:r>
              <a:rPr lang="en-US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Engineering: A Practitioner's Approach.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9th. McGraw Hill. New York. ISBN: 978-1259872976.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Ian Sommerville. (2016). </a:t>
            </a:r>
            <a:r>
              <a:rPr lang="en-US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Engineering. 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10th. Pearson. London. ISBN: 978-1-292-09613-1.</a:t>
            </a:r>
          </a:p>
        </p:txBody>
      </p:sp>
    </p:spTree>
    <p:extLst>
      <p:ext uri="{BB962C8B-B14F-4D97-AF65-F5344CB8AC3E}">
        <p14:creationId xmlns:p14="http://schemas.microsoft.com/office/powerpoint/2010/main" val="197612424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2" id="{91EC78B4-BE4F-3B4D-B302-CF3E80410C1C}" vid="{48571482-A7A2-E44B-AA81-515161122809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8" ma:contentTypeDescription="Create a new document." ma:contentTypeScope="" ma:versionID="2a43a3a40365f9eee60928e1a48d8e8a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b55bbfde6f7dd5be9fcb8a553256df6e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131959e2-2cf4-437e-858a-61f1b162208b}" ma:internalName="TaxCatchAll" ma:showField="CatchAllData" ma:web="9fdf624c-fedc-4f6c-b928-0c7bf4c9e1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TaxCatchAll xmlns="9fdf624c-fedc-4f6c-b928-0c7bf4c9e100" xsi:nil="true"/>
    <_Flow_SignoffStatus xmlns="47793baa-3cbb-486e-a055-4d42ce3882d7" xsi:nil="true"/>
    <_dlc_DocId xmlns="9fdf624c-fedc-4f6c-b928-0c7bf4c9e100">J56STF5CZXNR-2061195910-875156</_dlc_DocId>
    <_dlc_DocIdUrl xmlns="9fdf624c-fedc-4f6c-b928-0c7bf4c9e100">
      <Url>https://binusianorg.sharepoint.com/sites/arc/_layouts/15/DocIdRedir.aspx?ID=J56STF5CZXNR-2061195910-875156</Url>
      <Description>J56STF5CZXNR-2061195910-875156</Description>
    </_dlc_DocIdUrl>
  </documentManagement>
</p:properties>
</file>

<file path=customXml/itemProps1.xml><?xml version="1.0" encoding="utf-8"?>
<ds:datastoreItem xmlns:ds="http://schemas.openxmlformats.org/officeDocument/2006/customXml" ds:itemID="{2E0FE671-25D8-4116-9472-BF9297986CC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DAE38A-8264-43C3-9B01-B7FA25F10602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90A97211-242D-415A-8ADE-6F44C1D92C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C2252D89-D1E6-488A-B078-4573BAE073F6}">
  <ds:schemaRefs>
    <ds:schemaRef ds:uri="http://purl.org/dc/terms/"/>
    <ds:schemaRef ds:uri="2661c1c1-ed05-4275-a33d-64e31eb1ea69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4f26481f-d1e8-4452-9a9a-b303515fd2b7"/>
    <ds:schemaRef ds:uri="http://schemas.microsoft.com/office/2006/metadata/properties"/>
    <ds:schemaRef ds:uri="http://purl.org/dc/dcmitype/"/>
    <ds:schemaRef ds:uri="http://schemas.microsoft.com/sharepoint/v3/fields"/>
    <ds:schemaRef ds:uri="9fdf624c-fedc-4f6c-b928-0c7bf4c9e100"/>
    <ds:schemaRef ds:uri="47793baa-3cbb-486e-a055-4d42ce3882d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BINUS Learning Object Slide Template 2022</Template>
  <TotalTime>14914</TotalTime>
  <Words>2236</Words>
  <Application>Microsoft Office PowerPoint</Application>
  <PresentationFormat>Custom</PresentationFormat>
  <Paragraphs>342</Paragraphs>
  <Slides>48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Open Sans ExtraBold</vt:lpstr>
      <vt:lpstr>Open Sans</vt:lpstr>
      <vt:lpstr>Open Sans Semibold</vt:lpstr>
      <vt:lpstr>Open Sans Light</vt:lpstr>
      <vt:lpstr>OCRB</vt:lpstr>
      <vt:lpstr>21_BasicWhite</vt:lpstr>
      <vt:lpstr>Software Architecture Design Concepts and Styles</vt:lpstr>
      <vt:lpstr>Session 09 – Software Architecture Design Concepts and Styles</vt:lpstr>
      <vt:lpstr>Session 09 – Software Architecture Design Concepts and Styles</vt:lpstr>
      <vt:lpstr>Views and Abstraction</vt:lpstr>
      <vt:lpstr>Views and Abstraction</vt:lpstr>
      <vt:lpstr>Introduction to Software Architecture</vt:lpstr>
      <vt:lpstr>Introduction to Software Architecture</vt:lpstr>
      <vt:lpstr>Introduction to Software Architecture</vt:lpstr>
      <vt:lpstr>Introduction to Software Architecture</vt:lpstr>
      <vt:lpstr>Introduction to Software Architecture</vt:lpstr>
      <vt:lpstr>Introduction to Software Architecture</vt:lpstr>
      <vt:lpstr>Architectural Styles and Patterns</vt:lpstr>
      <vt:lpstr>Architectural Styles and Patterns</vt:lpstr>
      <vt:lpstr>Architectural Styles and Patterns</vt:lpstr>
      <vt:lpstr>Architectural Styles and Patterns</vt:lpstr>
      <vt:lpstr>Architectural Styles and Patterns</vt:lpstr>
      <vt:lpstr>Architectural Styles and Patterns</vt:lpstr>
      <vt:lpstr>Architectural Styles and Patterns</vt:lpstr>
      <vt:lpstr>Architectural Styles and Patterns</vt:lpstr>
      <vt:lpstr>Architectural Styles and Patterns</vt:lpstr>
      <vt:lpstr>Architectural Styles and Patterns</vt:lpstr>
      <vt:lpstr>Service-Oriented Architecture</vt:lpstr>
      <vt:lpstr>Service-Oriented Architecture</vt:lpstr>
      <vt:lpstr>Service-Oriented Architecture</vt:lpstr>
      <vt:lpstr>Service-Oriented Architecture</vt:lpstr>
      <vt:lpstr>Service-Oriented Architecture</vt:lpstr>
      <vt:lpstr>Service-Oriented Architecture</vt:lpstr>
      <vt:lpstr>Service-Oriented Architecture</vt:lpstr>
      <vt:lpstr>Service-Oriented Architecture</vt:lpstr>
      <vt:lpstr>Service-Oriented Architecture</vt:lpstr>
      <vt:lpstr>Service-Oriented Architecture</vt:lpstr>
      <vt:lpstr>Service-Oriented Architecture</vt:lpstr>
      <vt:lpstr>Service-Oriented Architecture</vt:lpstr>
      <vt:lpstr>Architectural Styles and Patterns</vt:lpstr>
      <vt:lpstr>Microservice Architecture</vt:lpstr>
      <vt:lpstr>Microservice Architecture</vt:lpstr>
      <vt:lpstr>Microservice Architecture</vt:lpstr>
      <vt:lpstr>Architectural Styles and Patterns</vt:lpstr>
      <vt:lpstr>Evaluating Architectural Styles for Different Projects</vt:lpstr>
      <vt:lpstr>Evaluating Architectural Styles for Different Projects</vt:lpstr>
      <vt:lpstr>Evaluating Architectural Styles for Different Projects</vt:lpstr>
      <vt:lpstr>Case Studies on Software Architecture</vt:lpstr>
      <vt:lpstr>Case Studies on Software Architecture</vt:lpstr>
      <vt:lpstr>Case Studies on Software Architecture</vt:lpstr>
      <vt:lpstr>Case Studies on Software Architecture</vt:lpstr>
      <vt:lpstr>Architectural Decision-Making Process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Aris Priyanto</dc:creator>
  <cp:lastModifiedBy>Maulin Nasari</cp:lastModifiedBy>
  <cp:revision>59</cp:revision>
  <dcterms:created xsi:type="dcterms:W3CDTF">2023-04-06T08:40:27Z</dcterms:created>
  <dcterms:modified xsi:type="dcterms:W3CDTF">2025-12-25T22:25:23Z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0x010100144340CFFCDDB44F9904404F1FA9688C</vt:lpwstr>
  </property>
  <property fmtid="{D5CDD505-2E9C-101B-9397-08002B2CF9AE}" pid="3" name="_dlc_DocIdItemGuid">
    <vt:lpwstr>a8e96856-29d3-47af-8f22-9a1c34492d36</vt:lpwstr>
  </property>
</Properties>
</file>