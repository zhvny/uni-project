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2"/>
  </p:notesMasterIdLst>
  <p:sldIdLst>
    <p:sldId id="256" r:id="rId2"/>
    <p:sldId id="278" r:id="rId3"/>
    <p:sldId id="257" r:id="rId4"/>
    <p:sldId id="310" r:id="rId5"/>
    <p:sldId id="311" r:id="rId6"/>
    <p:sldId id="312" r:id="rId7"/>
    <p:sldId id="313" r:id="rId8"/>
    <p:sldId id="314" r:id="rId9"/>
    <p:sldId id="315" r:id="rId10"/>
    <p:sldId id="316" r:id="rId11"/>
    <p:sldId id="317" r:id="rId12"/>
    <p:sldId id="318" r:id="rId13"/>
    <p:sldId id="319" r:id="rId14"/>
    <p:sldId id="320" r:id="rId15"/>
    <p:sldId id="322" r:id="rId16"/>
    <p:sldId id="323" r:id="rId17"/>
    <p:sldId id="324" r:id="rId18"/>
    <p:sldId id="325" r:id="rId19"/>
    <p:sldId id="300" r:id="rId20"/>
    <p:sldId id="296" r:id="rId21"/>
  </p:sldIdLst>
  <p:sldSz cx="24384000" cy="13716000"/>
  <p:notesSz cx="6858000" cy="9144000"/>
  <p:embeddedFontLst>
    <p:embeddedFont>
      <p:font typeface="OCRB" panose="020B0609020202020204" pitchFamily="49" charset="77"/>
      <p:regular r:id="rId23"/>
    </p:embeddedFont>
    <p:embeddedFont>
      <p:font typeface="Open Sans ExtraBold" panose="020B0606030504020204" pitchFamily="34" charset="0"/>
      <p:bold r:id="rId24"/>
      <p:italic r:id="rId25"/>
      <p:boldItalic r:id="rId26"/>
    </p:embeddedFont>
    <p:embeddedFont>
      <p:font typeface="Open Sans Light" panose="020B0306030504020204" pitchFamily="34" charset="0"/>
      <p:regular r:id="rId27"/>
      <p:italic r:id="rId28"/>
    </p:embeddedFont>
    <p:embeddedFont>
      <p:font typeface="Open Sans Semibold" panose="020B0606030504020204" pitchFamily="34" charset="0"/>
      <p:regular r:id="rId29"/>
      <p:bold r:id="rId30"/>
      <p:italic r:id="rId31"/>
      <p:boldItalic r:id="rId32"/>
    </p:embeddedFont>
    <p:embeddedFont>
      <p:font typeface="Tahoma" panose="020B0604030504040204" pitchFamily="34" charset="0"/>
      <p:regular r:id="rId33"/>
      <p:bold r:id="rId34"/>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7F0753-BE41-8B42-8511-0F6F72419A88}" v="24" dt="2023-12-18T11:33:49.34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73" autoAdjust="0"/>
    <p:restoredTop sz="95336"/>
  </p:normalViewPr>
  <p:slideViewPr>
    <p:cSldViewPr snapToGrid="0" snapToObjects="1">
      <p:cViewPr varScale="1">
        <p:scale>
          <a:sx n="59" d="100"/>
          <a:sy n="59" d="100"/>
        </p:scale>
        <p:origin x="280" y="256"/>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s://www.ibm.com/docs/en/was-liberty/base?topic=liberty-event-logging" TargetMode="External"/><Relationship Id="rId2" Type="http://schemas.openxmlformats.org/officeDocument/2006/relationships/hyperlink" Target="https://www.crowdstrike.com/cybersecurity-101/observability/event-log/" TargetMode="Externa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sz="8900" dirty="0"/>
              <a:t>Logging and Metrics</a:t>
            </a:r>
            <a:br>
              <a:rPr lang="en-US" dirty="0"/>
            </a:br>
            <a:br>
              <a:rPr lang="en-US" dirty="0"/>
            </a:br>
            <a:r>
              <a:rPr lang="en-US" sz="6000" dirty="0"/>
              <a:t>Session 12</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Ivan Sebastian </a:t>
            </a:r>
            <a:r>
              <a:rPr lang="en-US" dirty="0" err="1"/>
              <a:t>Edbert</a:t>
            </a:r>
            <a:endParaRPr lang="en-US" dirty="0"/>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COMP6584001 – Network and Systems Programming </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9823966"/>
          </a:xfrm>
        </p:spPr>
        <p:txBody>
          <a:bodyPr>
            <a:noAutofit/>
          </a:bodyPr>
          <a:lstStyle/>
          <a:p>
            <a:pPr marL="0" indent="0">
              <a:buNone/>
            </a:pPr>
            <a:r>
              <a:rPr lang="en-US" sz="3200" dirty="0"/>
              <a:t>At the end of this session, the student will be expected to :</a:t>
            </a:r>
          </a:p>
          <a:p>
            <a:pPr marL="0" indent="0">
              <a:buNone/>
            </a:pPr>
            <a:endParaRPr lang="en-ID" sz="3200" dirty="0"/>
          </a:p>
          <a:p>
            <a:r>
              <a:rPr lang="en-ID" sz="3200" dirty="0"/>
              <a:t>Understand event logging</a:t>
            </a:r>
          </a:p>
          <a:p>
            <a:endParaRPr lang="en-ID" sz="3200" dirty="0"/>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ID" sz="3200" dirty="0"/>
              <a:t>Event logging</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event logging</a:t>
            </a:r>
          </a:p>
        </p:txBody>
      </p:sp>
    </p:spTree>
    <p:extLst>
      <p:ext uri="{BB962C8B-B14F-4D97-AF65-F5344CB8AC3E}">
        <p14:creationId xmlns:p14="http://schemas.microsoft.com/office/powerpoint/2010/main" val="51458303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11A8A-E75A-C59B-3DD4-50AA3473DC36}"/>
              </a:ext>
            </a:extLst>
          </p:cNvPr>
          <p:cNvSpPr>
            <a:spLocks noGrp="1"/>
          </p:cNvSpPr>
          <p:nvPr>
            <p:ph type="title"/>
          </p:nvPr>
        </p:nvSpPr>
        <p:spPr/>
        <p:txBody>
          <a:bodyPr>
            <a:normAutofit fontScale="90000"/>
          </a:bodyPr>
          <a:lstStyle/>
          <a:p>
            <a:r>
              <a:rPr lang="en-US" dirty="0"/>
              <a:t>Event logging </a:t>
            </a:r>
          </a:p>
        </p:txBody>
      </p:sp>
      <p:sp>
        <p:nvSpPr>
          <p:cNvPr id="3" name="Text Placeholder 2">
            <a:extLst>
              <a:ext uri="{FF2B5EF4-FFF2-40B4-BE49-F238E27FC236}">
                <a16:creationId xmlns:a16="http://schemas.microsoft.com/office/drawing/2014/main" id="{3526811C-01DF-4FAD-F8F1-CAEF8FD56BB6}"/>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AC4749EC-4ADB-D659-CF3F-047D216BC741}"/>
              </a:ext>
            </a:extLst>
          </p:cNvPr>
          <p:cNvSpPr>
            <a:spLocks noGrp="1"/>
          </p:cNvSpPr>
          <p:nvPr>
            <p:ph sz="quarter" idx="11"/>
          </p:nvPr>
        </p:nvSpPr>
        <p:spPr>
          <a:xfrm>
            <a:off x="5334530" y="4596868"/>
            <a:ext cx="13714940" cy="4522264"/>
          </a:xfrm>
        </p:spPr>
        <p:txBody>
          <a:bodyPr>
            <a:normAutofit/>
          </a:bodyPr>
          <a:lstStyle/>
          <a:p>
            <a:pPr algn="just"/>
            <a:r>
              <a:rPr lang="en-US" sz="3200" dirty="0"/>
              <a:t>In networking, an event log is a basic resource that helps provide information about network traffic, usage and other conditions.</a:t>
            </a:r>
          </a:p>
          <a:p>
            <a:pPr algn="just"/>
            <a:r>
              <a:rPr lang="en-US" sz="3200" dirty="0"/>
              <a:t>An event log stores these data for retrieval by security professionals or automated security systems to help network administrators manage various aspects such as security, performance and transparency.</a:t>
            </a:r>
          </a:p>
        </p:txBody>
      </p:sp>
    </p:spTree>
    <p:extLst>
      <p:ext uri="{BB962C8B-B14F-4D97-AF65-F5344CB8AC3E}">
        <p14:creationId xmlns:p14="http://schemas.microsoft.com/office/powerpoint/2010/main" val="50575241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11A8A-E75A-C59B-3DD4-50AA3473DC36}"/>
              </a:ext>
            </a:extLst>
          </p:cNvPr>
          <p:cNvSpPr>
            <a:spLocks noGrp="1"/>
          </p:cNvSpPr>
          <p:nvPr>
            <p:ph type="title"/>
          </p:nvPr>
        </p:nvSpPr>
        <p:spPr/>
        <p:txBody>
          <a:bodyPr>
            <a:normAutofit fontScale="90000"/>
          </a:bodyPr>
          <a:lstStyle/>
          <a:p>
            <a:r>
              <a:rPr lang="en-US" dirty="0"/>
              <a:t>Event logging </a:t>
            </a:r>
          </a:p>
        </p:txBody>
      </p:sp>
      <p:sp>
        <p:nvSpPr>
          <p:cNvPr id="3" name="Text Placeholder 2">
            <a:extLst>
              <a:ext uri="{FF2B5EF4-FFF2-40B4-BE49-F238E27FC236}">
                <a16:creationId xmlns:a16="http://schemas.microsoft.com/office/drawing/2014/main" id="{3526811C-01DF-4FAD-F8F1-CAEF8FD56BB6}"/>
              </a:ext>
            </a:extLst>
          </p:cNvPr>
          <p:cNvSpPr>
            <a:spLocks noGrp="1"/>
          </p:cNvSpPr>
          <p:nvPr>
            <p:ph type="body" sz="quarter" idx="10"/>
          </p:nvPr>
        </p:nvSpPr>
        <p:spPr/>
        <p:txBody>
          <a:bodyPr/>
          <a:lstStyle/>
          <a:p>
            <a:r>
              <a:rPr lang="en-US" dirty="0"/>
              <a:t>contains</a:t>
            </a:r>
          </a:p>
        </p:txBody>
      </p:sp>
      <p:sp>
        <p:nvSpPr>
          <p:cNvPr id="4" name="Content Placeholder 3">
            <a:extLst>
              <a:ext uri="{FF2B5EF4-FFF2-40B4-BE49-F238E27FC236}">
                <a16:creationId xmlns:a16="http://schemas.microsoft.com/office/drawing/2014/main" id="{AC4749EC-4ADB-D659-CF3F-047D216BC741}"/>
              </a:ext>
            </a:extLst>
          </p:cNvPr>
          <p:cNvSpPr>
            <a:spLocks noGrp="1"/>
          </p:cNvSpPr>
          <p:nvPr>
            <p:ph sz="quarter" idx="11"/>
          </p:nvPr>
        </p:nvSpPr>
        <p:spPr>
          <a:xfrm>
            <a:off x="5334530" y="3793322"/>
            <a:ext cx="13714940" cy="9204221"/>
          </a:xfrm>
        </p:spPr>
        <p:txBody>
          <a:bodyPr>
            <a:noAutofit/>
          </a:bodyPr>
          <a:lstStyle/>
          <a:p>
            <a:pPr algn="just">
              <a:buFont typeface="Wingdings" pitchFamily="2" charset="2"/>
              <a:buChar char="Ø"/>
            </a:pPr>
            <a:r>
              <a:rPr lang="en-US" sz="3200" dirty="0"/>
              <a:t>The date and time of the occurrence</a:t>
            </a:r>
          </a:p>
          <a:p>
            <a:pPr algn="just">
              <a:buFont typeface="Wingdings" pitchFamily="2" charset="2"/>
              <a:buChar char="Ø"/>
            </a:pPr>
            <a:r>
              <a:rPr lang="en-US" sz="3200" dirty="0"/>
              <a:t>The actual description of the event</a:t>
            </a:r>
          </a:p>
          <a:p>
            <a:pPr algn="just">
              <a:buFont typeface="Wingdings" pitchFamily="2" charset="2"/>
              <a:buChar char="Ø"/>
            </a:pPr>
            <a:r>
              <a:rPr lang="en-US" sz="3200" dirty="0"/>
              <a:t>The severity of the event</a:t>
            </a:r>
          </a:p>
          <a:p>
            <a:pPr algn="just">
              <a:buFont typeface="Wingdings" pitchFamily="2" charset="2"/>
              <a:buChar char="Ø"/>
            </a:pPr>
            <a:r>
              <a:rPr lang="en-US" sz="3200" dirty="0"/>
              <a:t>The application or process involved</a:t>
            </a:r>
          </a:p>
          <a:p>
            <a:pPr algn="just">
              <a:buFont typeface="Wingdings" pitchFamily="2" charset="2"/>
              <a:buChar char="Ø"/>
            </a:pPr>
            <a:r>
              <a:rPr lang="en-US" sz="3200" dirty="0"/>
              <a:t>Any specific code to identify the event</a:t>
            </a:r>
          </a:p>
          <a:p>
            <a:pPr algn="just">
              <a:buFont typeface="Wingdings" pitchFamily="2" charset="2"/>
              <a:buChar char="Ø"/>
            </a:pPr>
            <a:r>
              <a:rPr lang="en-US" sz="3200" dirty="0"/>
              <a:t>Other relevant information, like IP addresses or user names</a:t>
            </a:r>
          </a:p>
          <a:p>
            <a:pPr algn="just">
              <a:buFont typeface="Wingdings" pitchFamily="2" charset="2"/>
              <a:buChar char="Ø"/>
            </a:pPr>
            <a:endParaRPr lang="en-US" sz="3200" dirty="0"/>
          </a:p>
          <a:p>
            <a:pPr marL="0" indent="0" algn="just">
              <a:buNone/>
            </a:pPr>
            <a:r>
              <a:rPr lang="en-US" sz="3200" dirty="0">
                <a:solidFill>
                  <a:srgbClr val="FFFF00"/>
                </a:solidFill>
              </a:rPr>
              <a:t>Such information is crucial for </a:t>
            </a:r>
            <a:r>
              <a:rPr lang="en-US" sz="3200" dirty="0" err="1">
                <a:solidFill>
                  <a:srgbClr val="FFFF00"/>
                </a:solidFill>
              </a:rPr>
              <a:t>ITOps</a:t>
            </a:r>
            <a:r>
              <a:rPr lang="en-US" sz="3200" dirty="0">
                <a:solidFill>
                  <a:srgbClr val="FFFF00"/>
                </a:solidFill>
              </a:rPr>
              <a:t>, DevOps, and SecOps teams to understand what happened to a system—for example, whether it crashed, malicious activity occurred, or the infrastructure failed.</a:t>
            </a:r>
          </a:p>
        </p:txBody>
      </p:sp>
    </p:spTree>
    <p:extLst>
      <p:ext uri="{BB962C8B-B14F-4D97-AF65-F5344CB8AC3E}">
        <p14:creationId xmlns:p14="http://schemas.microsoft.com/office/powerpoint/2010/main" val="337826470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12661-3B71-491E-0174-A5738D880DDB}"/>
              </a:ext>
            </a:extLst>
          </p:cNvPr>
          <p:cNvSpPr>
            <a:spLocks noGrp="1"/>
          </p:cNvSpPr>
          <p:nvPr>
            <p:ph type="title"/>
          </p:nvPr>
        </p:nvSpPr>
        <p:spPr/>
        <p:txBody>
          <a:bodyPr>
            <a:normAutofit fontScale="90000"/>
          </a:bodyPr>
          <a:lstStyle/>
          <a:p>
            <a:r>
              <a:rPr lang="en-US" dirty="0"/>
              <a:t>Event log</a:t>
            </a:r>
          </a:p>
        </p:txBody>
      </p:sp>
      <p:sp>
        <p:nvSpPr>
          <p:cNvPr id="3" name="Text Placeholder 2">
            <a:extLst>
              <a:ext uri="{FF2B5EF4-FFF2-40B4-BE49-F238E27FC236}">
                <a16:creationId xmlns:a16="http://schemas.microsoft.com/office/drawing/2014/main" id="{8D91BAF3-C9D2-ECA6-593E-6884D3F57B42}"/>
              </a:ext>
            </a:extLst>
          </p:cNvPr>
          <p:cNvSpPr>
            <a:spLocks noGrp="1"/>
          </p:cNvSpPr>
          <p:nvPr>
            <p:ph type="body" sz="quarter" idx="10"/>
          </p:nvPr>
        </p:nvSpPr>
        <p:spPr/>
        <p:txBody>
          <a:bodyPr/>
          <a:lstStyle/>
          <a:p>
            <a:r>
              <a:rPr lang="en-US" dirty="0"/>
              <a:t>Why event log important?</a:t>
            </a:r>
          </a:p>
        </p:txBody>
      </p:sp>
      <p:sp>
        <p:nvSpPr>
          <p:cNvPr id="4" name="Content Placeholder 3">
            <a:extLst>
              <a:ext uri="{FF2B5EF4-FFF2-40B4-BE49-F238E27FC236}">
                <a16:creationId xmlns:a16="http://schemas.microsoft.com/office/drawing/2014/main" id="{50EA3112-BBA7-E732-5329-03B11DC7F23E}"/>
              </a:ext>
            </a:extLst>
          </p:cNvPr>
          <p:cNvSpPr>
            <a:spLocks noGrp="1"/>
          </p:cNvSpPr>
          <p:nvPr>
            <p:ph sz="quarter" idx="11"/>
          </p:nvPr>
        </p:nvSpPr>
        <p:spPr>
          <a:xfrm>
            <a:off x="5078782" y="3260663"/>
            <a:ext cx="13714940" cy="4522264"/>
          </a:xfrm>
        </p:spPr>
        <p:txBody>
          <a:bodyPr>
            <a:noAutofit/>
          </a:bodyPr>
          <a:lstStyle/>
          <a:p>
            <a:pPr algn="just"/>
            <a:r>
              <a:rPr lang="en-US" sz="3200" dirty="0"/>
              <a:t>Event logs are essential for root cause analysis of problems and incidents—whether those problems are due to hardware faults, OS errors, security breaches, application failures, or performance degradation. The most effective way operations teams and engineers can trace the root cause of an issue is by going through the events in the log files that preceded the incident in question.</a:t>
            </a:r>
          </a:p>
          <a:p>
            <a:pPr algn="just"/>
            <a:endParaRPr lang="en-US" sz="3200" dirty="0"/>
          </a:p>
          <a:p>
            <a:pPr algn="just"/>
            <a:r>
              <a:rPr lang="en-US" sz="3200" dirty="0"/>
              <a:t>Troubleshooting can also involve correlating and analyzing multiple event logs.</a:t>
            </a:r>
          </a:p>
          <a:p>
            <a:pPr algn="just"/>
            <a:endParaRPr lang="en-US" sz="3200" dirty="0"/>
          </a:p>
          <a:p>
            <a:pPr algn="just"/>
            <a:r>
              <a:rPr lang="en-US" sz="3200" dirty="0"/>
              <a:t>By aggregating and correlating data from event logs across different components, a troubleshooter can construct a complete picture of that system. Modern log management depends on the ingestion of multiple event logs to reveal trends, anomalies, and patterns. This approach has become necessary for complex distributed systems, in which an issue can’t always be detectable by analyzing a single log.</a:t>
            </a:r>
          </a:p>
          <a:p>
            <a:pPr algn="just"/>
            <a:endParaRPr lang="en-US" sz="3200" dirty="0"/>
          </a:p>
          <a:p>
            <a:pPr algn="just"/>
            <a:r>
              <a:rPr lang="en-US" sz="3200" dirty="0"/>
              <a:t>This kind of in-depth collation and analysis is a crucial component of system observability, which is the ability to measure a system’s current internal state from the data it generates—including event logs.</a:t>
            </a:r>
          </a:p>
        </p:txBody>
      </p:sp>
    </p:spTree>
    <p:extLst>
      <p:ext uri="{BB962C8B-B14F-4D97-AF65-F5344CB8AC3E}">
        <p14:creationId xmlns:p14="http://schemas.microsoft.com/office/powerpoint/2010/main" val="281021280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AD9A1-E769-2C58-37AC-A9D838692BE7}"/>
              </a:ext>
            </a:extLst>
          </p:cNvPr>
          <p:cNvSpPr>
            <a:spLocks noGrp="1"/>
          </p:cNvSpPr>
          <p:nvPr>
            <p:ph type="title"/>
          </p:nvPr>
        </p:nvSpPr>
        <p:spPr/>
        <p:txBody>
          <a:bodyPr>
            <a:normAutofit fontScale="90000"/>
          </a:bodyPr>
          <a:lstStyle/>
          <a:p>
            <a:r>
              <a:rPr lang="en-US" dirty="0"/>
              <a:t>Handling event log</a:t>
            </a:r>
          </a:p>
        </p:txBody>
      </p:sp>
      <p:sp>
        <p:nvSpPr>
          <p:cNvPr id="3" name="Text Placeholder 2">
            <a:extLst>
              <a:ext uri="{FF2B5EF4-FFF2-40B4-BE49-F238E27FC236}">
                <a16:creationId xmlns:a16="http://schemas.microsoft.com/office/drawing/2014/main" id="{7C5A2C5C-A099-A7BA-7A2E-EFCAA1318A36}"/>
              </a:ext>
            </a:extLst>
          </p:cNvPr>
          <p:cNvSpPr>
            <a:spLocks noGrp="1"/>
          </p:cNvSpPr>
          <p:nvPr>
            <p:ph type="body" sz="quarter" idx="10"/>
          </p:nvPr>
        </p:nvSpPr>
        <p:spPr/>
        <p:txBody>
          <a:bodyPr/>
          <a:lstStyle/>
          <a:p>
            <a:r>
              <a:rPr lang="en-US" dirty="0"/>
              <a:t>guide</a:t>
            </a:r>
          </a:p>
        </p:txBody>
      </p:sp>
      <p:sp>
        <p:nvSpPr>
          <p:cNvPr id="4" name="Content Placeholder 3">
            <a:extLst>
              <a:ext uri="{FF2B5EF4-FFF2-40B4-BE49-F238E27FC236}">
                <a16:creationId xmlns:a16="http://schemas.microsoft.com/office/drawing/2014/main" id="{08A59F53-618B-9EC8-C0F5-9FF0772435A3}"/>
              </a:ext>
            </a:extLst>
          </p:cNvPr>
          <p:cNvSpPr>
            <a:spLocks noGrp="1"/>
          </p:cNvSpPr>
          <p:nvPr>
            <p:ph sz="quarter" idx="11"/>
          </p:nvPr>
        </p:nvSpPr>
        <p:spPr>
          <a:xfrm>
            <a:off x="2167377" y="3223273"/>
            <a:ext cx="20049246" cy="9926669"/>
          </a:xfrm>
        </p:spPr>
        <p:txBody>
          <a:bodyPr>
            <a:normAutofit fontScale="85000" lnSpcReduction="20000"/>
          </a:bodyPr>
          <a:lstStyle/>
          <a:p>
            <a:pPr marL="0" indent="0" algn="just">
              <a:buNone/>
            </a:pPr>
            <a:r>
              <a:rPr lang="en-US" sz="3200" dirty="0"/>
              <a:t>Handling event logs involves managing and analyzing records of events that occur within a system, network, or application. The steps to handle event logs can vary depending on the specific context, such as whether you are dealing with Windows event logs, application logs, or logs from other sources. Here is a general guide on handling event logs:</a:t>
            </a:r>
          </a:p>
          <a:p>
            <a:pPr marL="0" indent="0" algn="just">
              <a:buNone/>
            </a:pPr>
            <a:endParaRPr lang="en-US" sz="3200" dirty="0"/>
          </a:p>
          <a:p>
            <a:pPr marL="514350" indent="-514350" algn="just">
              <a:buFont typeface="+mj-lt"/>
              <a:buAutoNum type="arabicPeriod"/>
            </a:pPr>
            <a:r>
              <a:rPr lang="en-US" sz="3200" dirty="0">
                <a:solidFill>
                  <a:srgbClr val="FFFF00"/>
                </a:solidFill>
              </a:rPr>
              <a:t>Accessing Event Logs:</a:t>
            </a:r>
          </a:p>
          <a:p>
            <a:pPr algn="just"/>
            <a:r>
              <a:rPr lang="en-US" sz="3200" dirty="0"/>
              <a:t>Windows Event Viewer: On Windows systems, you can access the Event Viewer to view and manage event logs. You can open it by typing "Event Viewer" in the Start menu search bar.</a:t>
            </a:r>
          </a:p>
          <a:p>
            <a:pPr marL="0" indent="0" algn="just">
              <a:buNone/>
            </a:pPr>
            <a:endParaRPr lang="en-US" sz="3200" dirty="0"/>
          </a:p>
          <a:p>
            <a:pPr marL="514350" indent="-514350" algn="just">
              <a:buFont typeface="+mj-lt"/>
              <a:buAutoNum type="arabicPeriod" startAt="2"/>
            </a:pPr>
            <a:r>
              <a:rPr lang="en-US" sz="3200" dirty="0">
                <a:solidFill>
                  <a:srgbClr val="FFFF00"/>
                </a:solidFill>
              </a:rPr>
              <a:t>Understanding Log Types:</a:t>
            </a:r>
          </a:p>
          <a:p>
            <a:pPr algn="just"/>
            <a:r>
              <a:rPr lang="en-US" sz="3200" dirty="0"/>
              <a:t>System Logs: Record events related to the operating system.</a:t>
            </a:r>
          </a:p>
          <a:p>
            <a:pPr algn="just"/>
            <a:r>
              <a:rPr lang="en-US" sz="3200" dirty="0"/>
              <a:t>Application Logs: Capture events from applications.</a:t>
            </a:r>
          </a:p>
          <a:p>
            <a:pPr algn="just"/>
            <a:r>
              <a:rPr lang="en-US" sz="3200" dirty="0"/>
              <a:t>Security Logs: Focus on security-related events.</a:t>
            </a:r>
          </a:p>
          <a:p>
            <a:pPr algn="just"/>
            <a:r>
              <a:rPr lang="en-US" sz="3200" dirty="0"/>
              <a:t>Custom Logs: Some applications and services generate their own logs</a:t>
            </a:r>
          </a:p>
        </p:txBody>
      </p:sp>
    </p:spTree>
    <p:extLst>
      <p:ext uri="{BB962C8B-B14F-4D97-AF65-F5344CB8AC3E}">
        <p14:creationId xmlns:p14="http://schemas.microsoft.com/office/powerpoint/2010/main" val="125881339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AD9A1-E769-2C58-37AC-A9D838692BE7}"/>
              </a:ext>
            </a:extLst>
          </p:cNvPr>
          <p:cNvSpPr>
            <a:spLocks noGrp="1"/>
          </p:cNvSpPr>
          <p:nvPr>
            <p:ph type="title"/>
          </p:nvPr>
        </p:nvSpPr>
        <p:spPr/>
        <p:txBody>
          <a:bodyPr>
            <a:normAutofit fontScale="90000"/>
          </a:bodyPr>
          <a:lstStyle/>
          <a:p>
            <a:r>
              <a:rPr lang="en-US" dirty="0"/>
              <a:t>Handling event log</a:t>
            </a:r>
          </a:p>
        </p:txBody>
      </p:sp>
      <p:sp>
        <p:nvSpPr>
          <p:cNvPr id="3" name="Text Placeholder 2">
            <a:extLst>
              <a:ext uri="{FF2B5EF4-FFF2-40B4-BE49-F238E27FC236}">
                <a16:creationId xmlns:a16="http://schemas.microsoft.com/office/drawing/2014/main" id="{7C5A2C5C-A099-A7BA-7A2E-EFCAA1318A36}"/>
              </a:ext>
            </a:extLst>
          </p:cNvPr>
          <p:cNvSpPr>
            <a:spLocks noGrp="1"/>
          </p:cNvSpPr>
          <p:nvPr>
            <p:ph type="body" sz="quarter" idx="10"/>
          </p:nvPr>
        </p:nvSpPr>
        <p:spPr/>
        <p:txBody>
          <a:bodyPr/>
          <a:lstStyle/>
          <a:p>
            <a:r>
              <a:rPr lang="en-US" dirty="0"/>
              <a:t>guide</a:t>
            </a:r>
          </a:p>
        </p:txBody>
      </p:sp>
      <p:sp>
        <p:nvSpPr>
          <p:cNvPr id="4" name="Content Placeholder 3">
            <a:extLst>
              <a:ext uri="{FF2B5EF4-FFF2-40B4-BE49-F238E27FC236}">
                <a16:creationId xmlns:a16="http://schemas.microsoft.com/office/drawing/2014/main" id="{08A59F53-618B-9EC8-C0F5-9FF0772435A3}"/>
              </a:ext>
            </a:extLst>
          </p:cNvPr>
          <p:cNvSpPr>
            <a:spLocks noGrp="1"/>
          </p:cNvSpPr>
          <p:nvPr>
            <p:ph sz="quarter" idx="11"/>
          </p:nvPr>
        </p:nvSpPr>
        <p:spPr>
          <a:xfrm>
            <a:off x="2167377" y="3223273"/>
            <a:ext cx="20049246" cy="9926669"/>
          </a:xfrm>
        </p:spPr>
        <p:txBody>
          <a:bodyPr>
            <a:normAutofit lnSpcReduction="10000"/>
          </a:bodyPr>
          <a:lstStyle/>
          <a:p>
            <a:pPr marL="514350" indent="-514350" algn="just">
              <a:buFont typeface="+mj-lt"/>
              <a:buAutoNum type="arabicPeriod" startAt="3"/>
            </a:pPr>
            <a:r>
              <a:rPr lang="en-US" sz="3200" dirty="0">
                <a:solidFill>
                  <a:srgbClr val="FFFF00"/>
                </a:solidFill>
              </a:rPr>
              <a:t>Reviewing Event Logs:</a:t>
            </a:r>
          </a:p>
          <a:p>
            <a:pPr algn="just"/>
            <a:r>
              <a:rPr lang="en-US" sz="3200" dirty="0"/>
              <a:t>Examine logs regularly to identify issues, errors, or security incidents.</a:t>
            </a:r>
          </a:p>
          <a:p>
            <a:pPr algn="just"/>
            <a:r>
              <a:rPr lang="en-US" sz="3200" dirty="0"/>
              <a:t>Look for patterns or recurring events that may indicate a problem.</a:t>
            </a:r>
          </a:p>
          <a:p>
            <a:pPr algn="just"/>
            <a:endParaRPr lang="en-US" sz="3200" dirty="0"/>
          </a:p>
          <a:p>
            <a:pPr marL="514350" indent="-514350" algn="just">
              <a:buFont typeface="+mj-lt"/>
              <a:buAutoNum type="arabicPeriod" startAt="4"/>
            </a:pPr>
            <a:r>
              <a:rPr lang="en-US" sz="3200" dirty="0">
                <a:solidFill>
                  <a:srgbClr val="FFFF00"/>
                </a:solidFill>
              </a:rPr>
              <a:t>Filtering and Searching:</a:t>
            </a:r>
          </a:p>
          <a:p>
            <a:pPr algn="just"/>
            <a:r>
              <a:rPr lang="en-US" sz="3200" dirty="0"/>
              <a:t>Use filters and search functions to narrow down the events based on specific criteria (date, event type, source, etc.).</a:t>
            </a:r>
          </a:p>
          <a:p>
            <a:pPr algn="just"/>
            <a:endParaRPr lang="en-US" sz="3200" dirty="0"/>
          </a:p>
          <a:p>
            <a:pPr marL="514350" indent="-514350" algn="just">
              <a:buFont typeface="+mj-lt"/>
              <a:buAutoNum type="arabicPeriod" startAt="5"/>
            </a:pPr>
            <a:r>
              <a:rPr lang="en-US" sz="3200" dirty="0">
                <a:solidFill>
                  <a:srgbClr val="FFFF00"/>
                </a:solidFill>
              </a:rPr>
              <a:t>Event Log Management Tools:</a:t>
            </a:r>
          </a:p>
          <a:p>
            <a:pPr marL="0" indent="0" algn="just">
              <a:buNone/>
            </a:pPr>
            <a:r>
              <a:rPr lang="en-US" sz="3200" dirty="0"/>
              <a:t>Consider using third-party log management tools for more advanced features and centralized log management.</a:t>
            </a:r>
          </a:p>
        </p:txBody>
      </p:sp>
    </p:spTree>
    <p:extLst>
      <p:ext uri="{BB962C8B-B14F-4D97-AF65-F5344CB8AC3E}">
        <p14:creationId xmlns:p14="http://schemas.microsoft.com/office/powerpoint/2010/main" val="422550043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AD9A1-E769-2C58-37AC-A9D838692BE7}"/>
              </a:ext>
            </a:extLst>
          </p:cNvPr>
          <p:cNvSpPr>
            <a:spLocks noGrp="1"/>
          </p:cNvSpPr>
          <p:nvPr>
            <p:ph type="title"/>
          </p:nvPr>
        </p:nvSpPr>
        <p:spPr/>
        <p:txBody>
          <a:bodyPr>
            <a:normAutofit fontScale="90000"/>
          </a:bodyPr>
          <a:lstStyle/>
          <a:p>
            <a:r>
              <a:rPr lang="en-US" dirty="0"/>
              <a:t>Handling event log</a:t>
            </a:r>
          </a:p>
        </p:txBody>
      </p:sp>
      <p:sp>
        <p:nvSpPr>
          <p:cNvPr id="3" name="Text Placeholder 2">
            <a:extLst>
              <a:ext uri="{FF2B5EF4-FFF2-40B4-BE49-F238E27FC236}">
                <a16:creationId xmlns:a16="http://schemas.microsoft.com/office/drawing/2014/main" id="{7C5A2C5C-A099-A7BA-7A2E-EFCAA1318A36}"/>
              </a:ext>
            </a:extLst>
          </p:cNvPr>
          <p:cNvSpPr>
            <a:spLocks noGrp="1"/>
          </p:cNvSpPr>
          <p:nvPr>
            <p:ph type="body" sz="quarter" idx="10"/>
          </p:nvPr>
        </p:nvSpPr>
        <p:spPr/>
        <p:txBody>
          <a:bodyPr/>
          <a:lstStyle/>
          <a:p>
            <a:r>
              <a:rPr lang="en-US" dirty="0"/>
              <a:t>guide</a:t>
            </a:r>
          </a:p>
        </p:txBody>
      </p:sp>
      <p:sp>
        <p:nvSpPr>
          <p:cNvPr id="4" name="Content Placeholder 3">
            <a:extLst>
              <a:ext uri="{FF2B5EF4-FFF2-40B4-BE49-F238E27FC236}">
                <a16:creationId xmlns:a16="http://schemas.microsoft.com/office/drawing/2014/main" id="{08A59F53-618B-9EC8-C0F5-9FF0772435A3}"/>
              </a:ext>
            </a:extLst>
          </p:cNvPr>
          <p:cNvSpPr>
            <a:spLocks noGrp="1"/>
          </p:cNvSpPr>
          <p:nvPr>
            <p:ph sz="quarter" idx="11"/>
          </p:nvPr>
        </p:nvSpPr>
        <p:spPr>
          <a:xfrm>
            <a:off x="2167377" y="3223273"/>
            <a:ext cx="20049246" cy="9926669"/>
          </a:xfrm>
        </p:spPr>
        <p:txBody>
          <a:bodyPr>
            <a:normAutofit/>
          </a:bodyPr>
          <a:lstStyle/>
          <a:p>
            <a:pPr marL="514350" indent="-514350" algn="just">
              <a:buFont typeface="+mj-lt"/>
              <a:buAutoNum type="arabicPeriod" startAt="6"/>
            </a:pPr>
            <a:r>
              <a:rPr lang="en-US" sz="3200" dirty="0">
                <a:solidFill>
                  <a:srgbClr val="FFFF00"/>
                </a:solidFill>
              </a:rPr>
              <a:t>Setting Up Alerts:</a:t>
            </a:r>
          </a:p>
          <a:p>
            <a:pPr algn="just"/>
            <a:r>
              <a:rPr lang="en-US" sz="3200" dirty="0"/>
              <a:t>Configure alerts for critical events or specific patterns to receive notifications when certain conditions are met.</a:t>
            </a:r>
          </a:p>
          <a:p>
            <a:pPr algn="just"/>
            <a:endParaRPr lang="en-US" sz="3200" dirty="0"/>
          </a:p>
          <a:p>
            <a:pPr marL="514350" indent="-514350" algn="just">
              <a:buFont typeface="+mj-lt"/>
              <a:buAutoNum type="arabicPeriod" startAt="7"/>
            </a:pPr>
            <a:r>
              <a:rPr lang="en-US" sz="3200" dirty="0">
                <a:solidFill>
                  <a:srgbClr val="FFFF00"/>
                </a:solidFill>
              </a:rPr>
              <a:t>Analyzing Log Data:</a:t>
            </a:r>
          </a:p>
          <a:p>
            <a:pPr marL="0" indent="0" algn="just">
              <a:buNone/>
            </a:pPr>
            <a:r>
              <a:rPr lang="en-US" sz="3200" dirty="0"/>
              <a:t>Interpret log entries to understand the sequence of events leading up to an issue or incident.</a:t>
            </a:r>
          </a:p>
          <a:p>
            <a:pPr marL="0" indent="0" algn="just">
              <a:buNone/>
            </a:pPr>
            <a:endParaRPr lang="en-US" sz="3200" dirty="0"/>
          </a:p>
          <a:p>
            <a:pPr marL="514350" indent="-514350" algn="just">
              <a:buFont typeface="+mj-lt"/>
              <a:buAutoNum type="arabicPeriod" startAt="8"/>
            </a:pPr>
            <a:r>
              <a:rPr lang="en-US" sz="3200" dirty="0">
                <a:solidFill>
                  <a:srgbClr val="FFFF00"/>
                </a:solidFill>
              </a:rPr>
              <a:t>Correlation and Troubleshooting:</a:t>
            </a:r>
          </a:p>
          <a:p>
            <a:pPr marL="0" indent="0" algn="just">
              <a:buNone/>
            </a:pPr>
            <a:r>
              <a:rPr lang="en-US" sz="3200" dirty="0"/>
              <a:t>Correlate events from different logs to identify relationships and troubleshoot problems.</a:t>
            </a:r>
          </a:p>
        </p:txBody>
      </p:sp>
    </p:spTree>
    <p:extLst>
      <p:ext uri="{BB962C8B-B14F-4D97-AF65-F5344CB8AC3E}">
        <p14:creationId xmlns:p14="http://schemas.microsoft.com/office/powerpoint/2010/main" val="353618121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C9816-E9DF-88DF-FB88-07179F5B4E15}"/>
              </a:ext>
            </a:extLst>
          </p:cNvPr>
          <p:cNvSpPr>
            <a:spLocks noGrp="1"/>
          </p:cNvSpPr>
          <p:nvPr>
            <p:ph type="title"/>
          </p:nvPr>
        </p:nvSpPr>
        <p:spPr/>
        <p:txBody>
          <a:bodyPr>
            <a:normAutofit fontScale="90000"/>
          </a:bodyPr>
          <a:lstStyle/>
          <a:p>
            <a:r>
              <a:rPr lang="en-US" dirty="0"/>
              <a:t>Handling event log</a:t>
            </a:r>
          </a:p>
        </p:txBody>
      </p:sp>
      <p:sp>
        <p:nvSpPr>
          <p:cNvPr id="3" name="Text Placeholder 2">
            <a:extLst>
              <a:ext uri="{FF2B5EF4-FFF2-40B4-BE49-F238E27FC236}">
                <a16:creationId xmlns:a16="http://schemas.microsoft.com/office/drawing/2014/main" id="{88489316-9A35-C550-9EBE-C3D252A28998}"/>
              </a:ext>
            </a:extLst>
          </p:cNvPr>
          <p:cNvSpPr>
            <a:spLocks noGrp="1"/>
          </p:cNvSpPr>
          <p:nvPr>
            <p:ph type="body" sz="quarter" idx="10"/>
          </p:nvPr>
        </p:nvSpPr>
        <p:spPr/>
        <p:txBody>
          <a:bodyPr/>
          <a:lstStyle/>
          <a:p>
            <a:r>
              <a:rPr lang="en-US" dirty="0"/>
              <a:t>guide</a:t>
            </a:r>
          </a:p>
        </p:txBody>
      </p:sp>
      <p:sp>
        <p:nvSpPr>
          <p:cNvPr id="4" name="Content Placeholder 3">
            <a:extLst>
              <a:ext uri="{FF2B5EF4-FFF2-40B4-BE49-F238E27FC236}">
                <a16:creationId xmlns:a16="http://schemas.microsoft.com/office/drawing/2014/main" id="{269AE6B3-5754-4B95-6259-DBCDB15DD4C8}"/>
              </a:ext>
            </a:extLst>
          </p:cNvPr>
          <p:cNvSpPr>
            <a:spLocks noGrp="1"/>
          </p:cNvSpPr>
          <p:nvPr>
            <p:ph sz="quarter" idx="11"/>
          </p:nvPr>
        </p:nvSpPr>
        <p:spPr>
          <a:xfrm>
            <a:off x="4420129" y="2821501"/>
            <a:ext cx="16785241" cy="4522264"/>
          </a:xfrm>
        </p:spPr>
        <p:txBody>
          <a:bodyPr>
            <a:noAutofit/>
          </a:bodyPr>
          <a:lstStyle/>
          <a:p>
            <a:pPr marL="514350" indent="-514350" algn="just">
              <a:buFont typeface="+mj-lt"/>
              <a:buAutoNum type="arabicPeriod" startAt="9"/>
            </a:pPr>
            <a:r>
              <a:rPr lang="en-US" sz="3200" dirty="0">
                <a:solidFill>
                  <a:srgbClr val="FFFF00"/>
                </a:solidFill>
              </a:rPr>
              <a:t>Archiving and Retention:</a:t>
            </a:r>
          </a:p>
          <a:p>
            <a:pPr algn="just"/>
            <a:r>
              <a:rPr lang="en-US" sz="3200" dirty="0"/>
              <a:t>Establish a log retention policy to ensure you retain logs for a sufficient period for compliance or forensic purposes.</a:t>
            </a:r>
          </a:p>
          <a:p>
            <a:pPr algn="just"/>
            <a:endParaRPr lang="en-US" sz="3200" dirty="0"/>
          </a:p>
          <a:p>
            <a:pPr marL="514350" indent="-514350" algn="just">
              <a:buFont typeface="+mj-lt"/>
              <a:buAutoNum type="arabicPeriod" startAt="10"/>
            </a:pPr>
            <a:r>
              <a:rPr lang="en-US" sz="3200" dirty="0">
                <a:solidFill>
                  <a:srgbClr val="FFFF00"/>
                </a:solidFill>
              </a:rPr>
              <a:t>Security Best Practices:</a:t>
            </a:r>
          </a:p>
          <a:p>
            <a:pPr algn="just"/>
            <a:r>
              <a:rPr lang="en-US" sz="3200" dirty="0"/>
              <a:t>Secure access to event logs to prevent unauthorized tampering.</a:t>
            </a:r>
          </a:p>
          <a:p>
            <a:pPr algn="just"/>
            <a:r>
              <a:rPr lang="en-US" sz="3200" dirty="0"/>
              <a:t>Regularly review and audit logs for security-related events.</a:t>
            </a:r>
          </a:p>
          <a:p>
            <a:pPr algn="just"/>
            <a:endParaRPr lang="en-US" sz="3200" dirty="0"/>
          </a:p>
          <a:p>
            <a:pPr marL="514350" indent="-514350" algn="just">
              <a:buFont typeface="+mj-lt"/>
              <a:buAutoNum type="arabicPeriod" startAt="11"/>
            </a:pPr>
            <a:r>
              <a:rPr lang="en-US" sz="3200" dirty="0">
                <a:solidFill>
                  <a:srgbClr val="FFFF00"/>
                </a:solidFill>
              </a:rPr>
              <a:t>Automated Log Analysis:</a:t>
            </a:r>
          </a:p>
          <a:p>
            <a:pPr algn="just"/>
            <a:r>
              <a:rPr lang="en-US" sz="3200" dirty="0"/>
              <a:t>Consider implementing automated log analysis tools and techniques for large-scale environments.</a:t>
            </a:r>
          </a:p>
        </p:txBody>
      </p:sp>
    </p:spTree>
    <p:extLst>
      <p:ext uri="{BB962C8B-B14F-4D97-AF65-F5344CB8AC3E}">
        <p14:creationId xmlns:p14="http://schemas.microsoft.com/office/powerpoint/2010/main" val="101616456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C9816-E9DF-88DF-FB88-07179F5B4E15}"/>
              </a:ext>
            </a:extLst>
          </p:cNvPr>
          <p:cNvSpPr>
            <a:spLocks noGrp="1"/>
          </p:cNvSpPr>
          <p:nvPr>
            <p:ph type="title"/>
          </p:nvPr>
        </p:nvSpPr>
        <p:spPr/>
        <p:txBody>
          <a:bodyPr>
            <a:normAutofit fontScale="90000"/>
          </a:bodyPr>
          <a:lstStyle/>
          <a:p>
            <a:r>
              <a:rPr lang="en-US" dirty="0"/>
              <a:t>Handling event log</a:t>
            </a:r>
          </a:p>
        </p:txBody>
      </p:sp>
      <p:sp>
        <p:nvSpPr>
          <p:cNvPr id="3" name="Text Placeholder 2">
            <a:extLst>
              <a:ext uri="{FF2B5EF4-FFF2-40B4-BE49-F238E27FC236}">
                <a16:creationId xmlns:a16="http://schemas.microsoft.com/office/drawing/2014/main" id="{88489316-9A35-C550-9EBE-C3D252A28998}"/>
              </a:ext>
            </a:extLst>
          </p:cNvPr>
          <p:cNvSpPr>
            <a:spLocks noGrp="1"/>
          </p:cNvSpPr>
          <p:nvPr>
            <p:ph type="body" sz="quarter" idx="10"/>
          </p:nvPr>
        </p:nvSpPr>
        <p:spPr/>
        <p:txBody>
          <a:bodyPr/>
          <a:lstStyle/>
          <a:p>
            <a:r>
              <a:rPr lang="en-US" dirty="0"/>
              <a:t>guide</a:t>
            </a:r>
          </a:p>
        </p:txBody>
      </p:sp>
      <p:sp>
        <p:nvSpPr>
          <p:cNvPr id="4" name="Content Placeholder 3">
            <a:extLst>
              <a:ext uri="{FF2B5EF4-FFF2-40B4-BE49-F238E27FC236}">
                <a16:creationId xmlns:a16="http://schemas.microsoft.com/office/drawing/2014/main" id="{269AE6B3-5754-4B95-6259-DBCDB15DD4C8}"/>
              </a:ext>
            </a:extLst>
          </p:cNvPr>
          <p:cNvSpPr>
            <a:spLocks noGrp="1"/>
          </p:cNvSpPr>
          <p:nvPr>
            <p:ph sz="quarter" idx="11"/>
          </p:nvPr>
        </p:nvSpPr>
        <p:spPr>
          <a:xfrm>
            <a:off x="3799379" y="4596868"/>
            <a:ext cx="16785241" cy="4522264"/>
          </a:xfrm>
        </p:spPr>
        <p:txBody>
          <a:bodyPr>
            <a:noAutofit/>
          </a:bodyPr>
          <a:lstStyle/>
          <a:p>
            <a:pPr marL="514350" indent="-514350" algn="just">
              <a:buFont typeface="+mj-lt"/>
              <a:buAutoNum type="arabicPeriod" startAt="11"/>
            </a:pPr>
            <a:r>
              <a:rPr lang="en-US" sz="3200" dirty="0">
                <a:solidFill>
                  <a:srgbClr val="FFFF00"/>
                </a:solidFill>
              </a:rPr>
              <a:t>Documentation:</a:t>
            </a:r>
          </a:p>
          <a:p>
            <a:pPr algn="just"/>
            <a:r>
              <a:rPr lang="en-US" sz="3200" dirty="0"/>
              <a:t>Document your findings and any actions taken based on the analysis of event logs.</a:t>
            </a:r>
          </a:p>
          <a:p>
            <a:pPr algn="just"/>
            <a:endParaRPr lang="en-US" sz="3200" dirty="0"/>
          </a:p>
          <a:p>
            <a:pPr marL="0" indent="0" algn="just">
              <a:buNone/>
            </a:pPr>
            <a:r>
              <a:rPr lang="en-US" sz="3200" dirty="0">
                <a:sym typeface="Wingdings" pitchFamily="2" charset="2"/>
              </a:rPr>
              <a:t> </a:t>
            </a:r>
            <a:r>
              <a:rPr lang="en-US" sz="3200" dirty="0"/>
              <a:t>Keep in mind that the specific steps and tools used may vary based on the platform, operating system, and the logging mechanisms in place. Always refer to the documentation specific to the system or application you are working with for accurate and detailed guidance.</a:t>
            </a:r>
          </a:p>
        </p:txBody>
      </p:sp>
    </p:spTree>
    <p:extLst>
      <p:ext uri="{BB962C8B-B14F-4D97-AF65-F5344CB8AC3E}">
        <p14:creationId xmlns:p14="http://schemas.microsoft.com/office/powerpoint/2010/main" val="81167797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Instrumenting your code</a:t>
            </a:r>
          </a:p>
        </p:txBody>
      </p:sp>
    </p:spTree>
    <p:extLst>
      <p:ext uri="{BB962C8B-B14F-4D97-AF65-F5344CB8AC3E}">
        <p14:creationId xmlns:p14="http://schemas.microsoft.com/office/powerpoint/2010/main" val="110403328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81315-0035-C80A-D572-6F9F2794B85B}"/>
              </a:ext>
            </a:extLst>
          </p:cNvPr>
          <p:cNvSpPr>
            <a:spLocks noGrp="1"/>
          </p:cNvSpPr>
          <p:nvPr>
            <p:ph type="title"/>
          </p:nvPr>
        </p:nvSpPr>
        <p:spPr/>
        <p:txBody>
          <a:bodyPr>
            <a:normAutofit fontScale="90000"/>
          </a:bodyPr>
          <a:lstStyle/>
          <a:p>
            <a:r>
              <a:rPr lang="en-ID" sz="4000" dirty="0"/>
              <a:t>Instrumenting your code</a:t>
            </a:r>
            <a:endParaRPr lang="en-US" dirty="0"/>
          </a:p>
        </p:txBody>
      </p:sp>
      <p:sp>
        <p:nvSpPr>
          <p:cNvPr id="3" name="Text Placeholder 2">
            <a:extLst>
              <a:ext uri="{FF2B5EF4-FFF2-40B4-BE49-F238E27FC236}">
                <a16:creationId xmlns:a16="http://schemas.microsoft.com/office/drawing/2014/main" id="{4F075B43-45BB-FF8A-87A8-289CD1ED9DEE}"/>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3B6692C-0F2B-F5CC-3926-2DBE1D6DB369}"/>
              </a:ext>
            </a:extLst>
          </p:cNvPr>
          <p:cNvSpPr>
            <a:spLocks noGrp="1"/>
          </p:cNvSpPr>
          <p:nvPr>
            <p:ph sz="quarter" idx="11"/>
          </p:nvPr>
        </p:nvSpPr>
        <p:spPr>
          <a:xfrm>
            <a:off x="2167377" y="3260663"/>
            <a:ext cx="19604052" cy="9976366"/>
          </a:xfrm>
        </p:spPr>
        <p:txBody>
          <a:bodyPr>
            <a:normAutofit/>
          </a:bodyPr>
          <a:lstStyle/>
          <a:p>
            <a:pPr algn="just"/>
            <a:r>
              <a:rPr lang="en-US" sz="3200" dirty="0"/>
              <a:t>Instrumenting your code involves adding additional lines of code (instrumentation code) to gather data about the performance, usage, and behavior of your software. This process is crucial for monitoring and debugging, as it provides insights into how your code is functioning in real-world scenarios. Here are some common aspects to consider when instrumenting your code:</a:t>
            </a:r>
          </a:p>
          <a:p>
            <a:pPr marL="514350" indent="-514350" algn="just">
              <a:buFont typeface="+mj-lt"/>
              <a:buAutoNum type="arabicPeriod"/>
            </a:pPr>
            <a:r>
              <a:rPr lang="en-US" sz="3200" dirty="0">
                <a:solidFill>
                  <a:srgbClr val="FFFF00"/>
                </a:solidFill>
              </a:rPr>
              <a:t>Logging:</a:t>
            </a:r>
          </a:p>
          <a:p>
            <a:pPr algn="just"/>
            <a:r>
              <a:rPr lang="en-US" sz="3200" dirty="0"/>
              <a:t>Use logging statements strategically to record information about the execution of your code. Log messages can include variable values, function calls, or any other relevant information.</a:t>
            </a:r>
          </a:p>
          <a:p>
            <a:pPr algn="just"/>
            <a:endParaRPr lang="en-US" sz="3200" dirty="0"/>
          </a:p>
          <a:p>
            <a:pPr marL="514350" indent="-514350" algn="just">
              <a:buFont typeface="+mj-lt"/>
              <a:buAutoNum type="arabicPeriod" startAt="2"/>
            </a:pPr>
            <a:r>
              <a:rPr lang="en-US" sz="3200" dirty="0">
                <a:solidFill>
                  <a:srgbClr val="FFFF00"/>
                </a:solidFill>
              </a:rPr>
              <a:t>Performance Monitoring:</a:t>
            </a:r>
          </a:p>
          <a:p>
            <a:pPr algn="just"/>
            <a:r>
              <a:rPr lang="en-US" sz="3200" dirty="0"/>
              <a:t>Measure and log performance metrics to identify bottlenecks and optimize your code. This may involve tracking execution times, memory usage, and other relevant performance indicators.</a:t>
            </a:r>
          </a:p>
          <a:p>
            <a:pPr marL="0" indent="0" algn="just">
              <a:buNone/>
            </a:pPr>
            <a:endParaRPr lang="en-US" sz="3200" dirty="0"/>
          </a:p>
        </p:txBody>
      </p:sp>
    </p:spTree>
    <p:extLst>
      <p:ext uri="{BB962C8B-B14F-4D97-AF65-F5344CB8AC3E}">
        <p14:creationId xmlns:p14="http://schemas.microsoft.com/office/powerpoint/2010/main" val="75181100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81315-0035-C80A-D572-6F9F2794B85B}"/>
              </a:ext>
            </a:extLst>
          </p:cNvPr>
          <p:cNvSpPr>
            <a:spLocks noGrp="1"/>
          </p:cNvSpPr>
          <p:nvPr>
            <p:ph type="title"/>
          </p:nvPr>
        </p:nvSpPr>
        <p:spPr/>
        <p:txBody>
          <a:bodyPr>
            <a:normAutofit fontScale="90000"/>
          </a:bodyPr>
          <a:lstStyle/>
          <a:p>
            <a:r>
              <a:rPr lang="en-ID" sz="4000" dirty="0"/>
              <a:t>Instrumenting your code</a:t>
            </a:r>
            <a:endParaRPr lang="en-US" dirty="0"/>
          </a:p>
        </p:txBody>
      </p:sp>
      <p:sp>
        <p:nvSpPr>
          <p:cNvPr id="3" name="Text Placeholder 2">
            <a:extLst>
              <a:ext uri="{FF2B5EF4-FFF2-40B4-BE49-F238E27FC236}">
                <a16:creationId xmlns:a16="http://schemas.microsoft.com/office/drawing/2014/main" id="{4F075B43-45BB-FF8A-87A8-289CD1ED9DEE}"/>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3B6692C-0F2B-F5CC-3926-2DBE1D6DB369}"/>
              </a:ext>
            </a:extLst>
          </p:cNvPr>
          <p:cNvSpPr>
            <a:spLocks noGrp="1"/>
          </p:cNvSpPr>
          <p:nvPr>
            <p:ph sz="quarter" idx="11"/>
          </p:nvPr>
        </p:nvSpPr>
        <p:spPr>
          <a:xfrm>
            <a:off x="2167377" y="3260663"/>
            <a:ext cx="19604052" cy="9976366"/>
          </a:xfrm>
        </p:spPr>
        <p:txBody>
          <a:bodyPr>
            <a:normAutofit/>
          </a:bodyPr>
          <a:lstStyle/>
          <a:p>
            <a:pPr marL="514350" indent="-514350" algn="just">
              <a:buFont typeface="+mj-lt"/>
              <a:buAutoNum type="arabicPeriod" startAt="3"/>
            </a:pPr>
            <a:r>
              <a:rPr lang="en-US" sz="3200" dirty="0">
                <a:solidFill>
                  <a:srgbClr val="FFFF00"/>
                </a:solidFill>
              </a:rPr>
              <a:t>Error Tracking:</a:t>
            </a:r>
          </a:p>
          <a:p>
            <a:pPr algn="just"/>
            <a:r>
              <a:rPr lang="en-US" sz="3200" dirty="0"/>
              <a:t>Implement error tracking mechanisms to log details about errors or exceptions that occur during runtime. This helps in identifying and addressing issues promptly.</a:t>
            </a:r>
          </a:p>
          <a:p>
            <a:pPr marL="0" indent="0" algn="just">
              <a:buNone/>
            </a:pPr>
            <a:endParaRPr lang="en-US" sz="3200" dirty="0"/>
          </a:p>
          <a:p>
            <a:pPr marL="514350" indent="-514350" algn="just">
              <a:buFont typeface="+mj-lt"/>
              <a:buAutoNum type="arabicPeriod" startAt="4"/>
            </a:pPr>
            <a:r>
              <a:rPr lang="en-US" sz="3200" dirty="0">
                <a:solidFill>
                  <a:srgbClr val="FFFF00"/>
                </a:solidFill>
              </a:rPr>
              <a:t>Custom Metrics:</a:t>
            </a:r>
          </a:p>
          <a:p>
            <a:pPr algn="just"/>
            <a:r>
              <a:rPr lang="en-US" sz="3200" dirty="0"/>
              <a:t>Define and track custom metrics that align with your specific goals. These metrics could be related to user interactions, feature usage, or any other aspect of your application's functionality.</a:t>
            </a:r>
          </a:p>
          <a:p>
            <a:pPr algn="just"/>
            <a:endParaRPr lang="en-US" sz="3200" dirty="0"/>
          </a:p>
          <a:p>
            <a:pPr marL="514350" indent="-514350" algn="just">
              <a:buFont typeface="+mj-lt"/>
              <a:buAutoNum type="arabicPeriod" startAt="5"/>
            </a:pPr>
            <a:r>
              <a:rPr lang="en-US" sz="3200" dirty="0">
                <a:solidFill>
                  <a:srgbClr val="FFFF00"/>
                </a:solidFill>
              </a:rPr>
              <a:t>Profiling:</a:t>
            </a:r>
          </a:p>
          <a:p>
            <a:pPr algn="just"/>
            <a:r>
              <a:rPr lang="en-US" sz="3200" dirty="0"/>
              <a:t>Use profiling tools to analyze the runtime behavior of your code. Profilers can help identify performance hotspots and areas that may benefit from optimization.</a:t>
            </a:r>
          </a:p>
        </p:txBody>
      </p:sp>
    </p:spTree>
    <p:extLst>
      <p:ext uri="{BB962C8B-B14F-4D97-AF65-F5344CB8AC3E}">
        <p14:creationId xmlns:p14="http://schemas.microsoft.com/office/powerpoint/2010/main" val="373101935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81315-0035-C80A-D572-6F9F2794B85B}"/>
              </a:ext>
            </a:extLst>
          </p:cNvPr>
          <p:cNvSpPr>
            <a:spLocks noGrp="1"/>
          </p:cNvSpPr>
          <p:nvPr>
            <p:ph type="title"/>
          </p:nvPr>
        </p:nvSpPr>
        <p:spPr/>
        <p:txBody>
          <a:bodyPr>
            <a:normAutofit fontScale="90000"/>
          </a:bodyPr>
          <a:lstStyle/>
          <a:p>
            <a:r>
              <a:rPr lang="en-ID" sz="4000" dirty="0"/>
              <a:t>Instrumenting your code</a:t>
            </a:r>
            <a:endParaRPr lang="en-US" dirty="0"/>
          </a:p>
        </p:txBody>
      </p:sp>
      <p:sp>
        <p:nvSpPr>
          <p:cNvPr id="3" name="Text Placeholder 2">
            <a:extLst>
              <a:ext uri="{FF2B5EF4-FFF2-40B4-BE49-F238E27FC236}">
                <a16:creationId xmlns:a16="http://schemas.microsoft.com/office/drawing/2014/main" id="{4F075B43-45BB-FF8A-87A8-289CD1ED9DEE}"/>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3B6692C-0F2B-F5CC-3926-2DBE1D6DB369}"/>
              </a:ext>
            </a:extLst>
          </p:cNvPr>
          <p:cNvSpPr>
            <a:spLocks noGrp="1"/>
          </p:cNvSpPr>
          <p:nvPr>
            <p:ph sz="quarter" idx="11"/>
          </p:nvPr>
        </p:nvSpPr>
        <p:spPr>
          <a:xfrm>
            <a:off x="2167377" y="3260663"/>
            <a:ext cx="19604052" cy="9976366"/>
          </a:xfrm>
        </p:spPr>
        <p:txBody>
          <a:bodyPr>
            <a:normAutofit/>
          </a:bodyPr>
          <a:lstStyle/>
          <a:p>
            <a:pPr marL="514350" indent="-514350" algn="just">
              <a:buFont typeface="+mj-lt"/>
              <a:buAutoNum type="arabicPeriod" startAt="6"/>
            </a:pPr>
            <a:r>
              <a:rPr lang="en-US" sz="3200" dirty="0">
                <a:solidFill>
                  <a:srgbClr val="FFFF00"/>
                </a:solidFill>
              </a:rPr>
              <a:t>Code Coverage:</a:t>
            </a:r>
          </a:p>
          <a:p>
            <a:pPr algn="just"/>
            <a:r>
              <a:rPr lang="en-US" sz="3200" dirty="0"/>
              <a:t>Integrate code coverage tools to determine which parts of your codebase are executed during testing. This ensures that your tests thoroughly exercise your code.</a:t>
            </a:r>
          </a:p>
          <a:p>
            <a:pPr algn="just"/>
            <a:endParaRPr lang="en-US" sz="3200" dirty="0"/>
          </a:p>
          <a:p>
            <a:pPr marL="514350" indent="-514350" algn="just">
              <a:buFont typeface="+mj-lt"/>
              <a:buAutoNum type="arabicPeriod" startAt="7"/>
            </a:pPr>
            <a:r>
              <a:rPr lang="en-US" sz="3200" dirty="0">
                <a:solidFill>
                  <a:srgbClr val="FFFF00"/>
                </a:solidFill>
              </a:rPr>
              <a:t>Tracing:</a:t>
            </a:r>
          </a:p>
          <a:p>
            <a:pPr algn="just"/>
            <a:r>
              <a:rPr lang="en-US" sz="3200" dirty="0"/>
              <a:t>Implement tracing to follow the flow of execution through your code. This is particularly useful for understanding how different components of your software interact.</a:t>
            </a:r>
          </a:p>
          <a:p>
            <a:pPr algn="just"/>
            <a:endParaRPr lang="en-US" sz="3200" dirty="0"/>
          </a:p>
          <a:p>
            <a:pPr marL="514350" indent="-514350" algn="just">
              <a:buFont typeface="+mj-lt"/>
              <a:buAutoNum type="arabicPeriod" startAt="8"/>
            </a:pPr>
            <a:r>
              <a:rPr lang="en-US" sz="3200" dirty="0">
                <a:solidFill>
                  <a:srgbClr val="FFFF00"/>
                </a:solidFill>
              </a:rPr>
              <a:t>Security Instrumentation:</a:t>
            </a:r>
          </a:p>
          <a:p>
            <a:pPr algn="just"/>
            <a:r>
              <a:rPr lang="en-US" sz="3200" dirty="0"/>
              <a:t>Add instrumentation to detect and log security-related events, such as authentication failures, access control violations, or potential vulnerabilities.</a:t>
            </a:r>
          </a:p>
        </p:txBody>
      </p:sp>
    </p:spTree>
    <p:extLst>
      <p:ext uri="{BB962C8B-B14F-4D97-AF65-F5344CB8AC3E}">
        <p14:creationId xmlns:p14="http://schemas.microsoft.com/office/powerpoint/2010/main" val="315163521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81315-0035-C80A-D572-6F9F2794B85B}"/>
              </a:ext>
            </a:extLst>
          </p:cNvPr>
          <p:cNvSpPr>
            <a:spLocks noGrp="1"/>
          </p:cNvSpPr>
          <p:nvPr>
            <p:ph type="title"/>
          </p:nvPr>
        </p:nvSpPr>
        <p:spPr/>
        <p:txBody>
          <a:bodyPr>
            <a:normAutofit fontScale="90000"/>
          </a:bodyPr>
          <a:lstStyle/>
          <a:p>
            <a:r>
              <a:rPr lang="en-ID" sz="4000" dirty="0"/>
              <a:t>Instrumenting your code</a:t>
            </a:r>
            <a:endParaRPr lang="en-US" dirty="0"/>
          </a:p>
        </p:txBody>
      </p:sp>
      <p:sp>
        <p:nvSpPr>
          <p:cNvPr id="3" name="Text Placeholder 2">
            <a:extLst>
              <a:ext uri="{FF2B5EF4-FFF2-40B4-BE49-F238E27FC236}">
                <a16:creationId xmlns:a16="http://schemas.microsoft.com/office/drawing/2014/main" id="{4F075B43-45BB-FF8A-87A8-289CD1ED9DEE}"/>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3B6692C-0F2B-F5CC-3926-2DBE1D6DB369}"/>
              </a:ext>
            </a:extLst>
          </p:cNvPr>
          <p:cNvSpPr>
            <a:spLocks noGrp="1"/>
          </p:cNvSpPr>
          <p:nvPr>
            <p:ph sz="quarter" idx="11"/>
          </p:nvPr>
        </p:nvSpPr>
        <p:spPr>
          <a:xfrm>
            <a:off x="2167377" y="3260663"/>
            <a:ext cx="19604052" cy="9976366"/>
          </a:xfrm>
        </p:spPr>
        <p:txBody>
          <a:bodyPr>
            <a:normAutofit/>
          </a:bodyPr>
          <a:lstStyle/>
          <a:p>
            <a:pPr marL="514350" indent="-514350" algn="just">
              <a:buFont typeface="+mj-lt"/>
              <a:buAutoNum type="arabicPeriod" startAt="9"/>
            </a:pPr>
            <a:r>
              <a:rPr lang="en-US" sz="3200" dirty="0">
                <a:solidFill>
                  <a:srgbClr val="FFFF00"/>
                </a:solidFill>
              </a:rPr>
              <a:t>User Analytics:</a:t>
            </a:r>
          </a:p>
          <a:p>
            <a:pPr algn="just"/>
            <a:r>
              <a:rPr lang="en-US" sz="3200" dirty="0"/>
              <a:t>If applicable, instrument your code to collect data on user behavior. This can include tracking user journeys, feature adoption, and other metrics relevant to user experience.</a:t>
            </a:r>
          </a:p>
          <a:p>
            <a:pPr marL="0" indent="0" algn="just">
              <a:buNone/>
            </a:pPr>
            <a:endParaRPr lang="en-US" sz="3200" dirty="0"/>
          </a:p>
          <a:p>
            <a:pPr marL="514350" indent="-514350" algn="just">
              <a:buFont typeface="+mj-lt"/>
              <a:buAutoNum type="arabicPeriod" startAt="10"/>
            </a:pPr>
            <a:r>
              <a:rPr lang="en-US" sz="3200" dirty="0">
                <a:solidFill>
                  <a:srgbClr val="FFFF00"/>
                </a:solidFill>
              </a:rPr>
              <a:t>Environment Monitoring:</a:t>
            </a:r>
          </a:p>
          <a:p>
            <a:pPr algn="just"/>
            <a:r>
              <a:rPr lang="en-US" sz="3200" dirty="0"/>
              <a:t>Record information about the runtime environment, such as system configuration, network status, or external dependencies. This can assist in diagnosing issues related to specific environments.</a:t>
            </a:r>
          </a:p>
          <a:p>
            <a:pPr marL="514350" indent="-514350" algn="just">
              <a:buFont typeface="+mj-lt"/>
              <a:buAutoNum type="arabicPeriod" startAt="6"/>
            </a:pPr>
            <a:endParaRPr lang="en-US" sz="3200" dirty="0"/>
          </a:p>
          <a:p>
            <a:pPr marL="514350" indent="-514350" algn="just">
              <a:buFont typeface="+mj-lt"/>
              <a:buAutoNum type="arabicPeriod" startAt="11"/>
            </a:pPr>
            <a:r>
              <a:rPr lang="en-US" sz="3200" dirty="0">
                <a:solidFill>
                  <a:srgbClr val="FFFF00"/>
                </a:solidFill>
              </a:rPr>
              <a:t>Consistent Naming Conventions:</a:t>
            </a:r>
          </a:p>
          <a:p>
            <a:pPr algn="just"/>
            <a:r>
              <a:rPr lang="en-US" sz="3200" dirty="0"/>
              <a:t>Establish clear and consistent naming conventions for your instrumentation points. This makes it easier to interpret and analyze the collected data.</a:t>
            </a:r>
          </a:p>
        </p:txBody>
      </p:sp>
    </p:spTree>
    <p:extLst>
      <p:ext uri="{BB962C8B-B14F-4D97-AF65-F5344CB8AC3E}">
        <p14:creationId xmlns:p14="http://schemas.microsoft.com/office/powerpoint/2010/main" val="198531154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D298F-25DB-55FB-DA6A-21D5C2A60392}"/>
              </a:ext>
            </a:extLst>
          </p:cNvPr>
          <p:cNvSpPr>
            <a:spLocks noGrp="1"/>
          </p:cNvSpPr>
          <p:nvPr>
            <p:ph type="title"/>
          </p:nvPr>
        </p:nvSpPr>
        <p:spPr/>
        <p:txBody>
          <a:bodyPr>
            <a:normAutofit fontScale="90000"/>
          </a:bodyPr>
          <a:lstStyle/>
          <a:p>
            <a:endParaRPr lang="en-US" dirty="0"/>
          </a:p>
        </p:txBody>
      </p:sp>
      <p:sp>
        <p:nvSpPr>
          <p:cNvPr id="3" name="Text Placeholder 2">
            <a:extLst>
              <a:ext uri="{FF2B5EF4-FFF2-40B4-BE49-F238E27FC236}">
                <a16:creationId xmlns:a16="http://schemas.microsoft.com/office/drawing/2014/main" id="{922EC82C-3130-05FA-D78B-AE6755FB81C7}"/>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2DDA3524-D769-BA5B-1677-3A62F9D6382B}"/>
              </a:ext>
            </a:extLst>
          </p:cNvPr>
          <p:cNvSpPr>
            <a:spLocks noGrp="1"/>
          </p:cNvSpPr>
          <p:nvPr>
            <p:ph sz="quarter" idx="11"/>
          </p:nvPr>
        </p:nvSpPr>
        <p:spPr>
          <a:xfrm>
            <a:off x="2167376" y="3260663"/>
            <a:ext cx="20474909" cy="4522264"/>
          </a:xfrm>
        </p:spPr>
        <p:txBody>
          <a:bodyPr>
            <a:noAutofit/>
          </a:bodyPr>
          <a:lstStyle/>
          <a:p>
            <a:pPr marL="514350" indent="-514350" algn="just">
              <a:buFont typeface="+mj-lt"/>
              <a:buAutoNum type="arabicPeriod" startAt="12"/>
            </a:pPr>
            <a:r>
              <a:rPr lang="en-US" sz="3200" dirty="0">
                <a:solidFill>
                  <a:srgbClr val="FFFF00"/>
                </a:solidFill>
              </a:rPr>
              <a:t>Privacy Considerations:</a:t>
            </a:r>
          </a:p>
          <a:p>
            <a:pPr algn="just"/>
            <a:r>
              <a:rPr lang="en-US" sz="3200" dirty="0"/>
              <a:t>Ensure that your instrumentation practices comply with privacy regulations and respect user consent, especially when collecting data that can be personally identifiable.</a:t>
            </a:r>
          </a:p>
          <a:p>
            <a:pPr marL="0" indent="0" algn="just">
              <a:buNone/>
            </a:pPr>
            <a:endParaRPr lang="en-US" sz="3200" dirty="0"/>
          </a:p>
          <a:p>
            <a:pPr marL="514350" indent="-514350" algn="just">
              <a:buFont typeface="+mj-lt"/>
              <a:buAutoNum type="arabicPeriod" startAt="13"/>
            </a:pPr>
            <a:r>
              <a:rPr lang="en-US" sz="3200" dirty="0">
                <a:solidFill>
                  <a:srgbClr val="FFFF00"/>
                </a:solidFill>
              </a:rPr>
              <a:t>Documentation:</a:t>
            </a:r>
          </a:p>
          <a:p>
            <a:pPr algn="just"/>
            <a:r>
              <a:rPr lang="en-US" sz="3200" dirty="0"/>
              <a:t>Document your instrumentation points, the purpose of data collection, and how the gathered information will be used. This documentation is essential for maintaining and understanding the instrumentation in the future.</a:t>
            </a:r>
          </a:p>
          <a:p>
            <a:pPr algn="just"/>
            <a:endParaRPr lang="en-US" sz="3200" dirty="0"/>
          </a:p>
          <a:p>
            <a:pPr marL="0" indent="0" algn="just">
              <a:buNone/>
            </a:pPr>
            <a:r>
              <a:rPr lang="en-US" sz="3200" dirty="0">
                <a:sym typeface="Wingdings" pitchFamily="2" charset="2"/>
              </a:rPr>
              <a:t> </a:t>
            </a:r>
            <a:r>
              <a:rPr lang="en-US" sz="3200" dirty="0">
                <a:solidFill>
                  <a:srgbClr val="FFFF00"/>
                </a:solidFill>
              </a:rPr>
              <a:t>Remember that the specific techniques and tools for instrumentation can vary based on the programming language, framework, and the nature of your application. Always refer to relevant documentation and best practices for your specific development environment.</a:t>
            </a:r>
          </a:p>
        </p:txBody>
      </p:sp>
    </p:spTree>
    <p:extLst>
      <p:ext uri="{BB962C8B-B14F-4D97-AF65-F5344CB8AC3E}">
        <p14:creationId xmlns:p14="http://schemas.microsoft.com/office/powerpoint/2010/main" val="333523285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C294-9DFB-4F93-9B96-A70432466BF7}"/>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9EA721AC-E3DF-22B1-8422-76608B997B9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FC3A658-0629-8224-9928-EE85A4D909BC}"/>
              </a:ext>
            </a:extLst>
          </p:cNvPr>
          <p:cNvSpPr>
            <a:spLocks noGrp="1"/>
          </p:cNvSpPr>
          <p:nvPr>
            <p:ph sz="quarter" idx="11"/>
          </p:nvPr>
        </p:nvSpPr>
        <p:spPr>
          <a:xfrm>
            <a:off x="5334530" y="4596868"/>
            <a:ext cx="13714940" cy="8204732"/>
          </a:xfrm>
        </p:spPr>
        <p:txBody>
          <a:bodyPr>
            <a:noAutofit/>
          </a:bodyPr>
          <a:lstStyle/>
          <a:p>
            <a:pPr algn="just"/>
            <a:r>
              <a:rPr lang="en-US" sz="3200" dirty="0"/>
              <a:t>Adam </a:t>
            </a:r>
            <a:r>
              <a:rPr lang="en-US" sz="3200" dirty="0" err="1"/>
              <a:t>Woodbeck</a:t>
            </a:r>
            <a:r>
              <a:rPr lang="en-US" sz="3200" dirty="0"/>
              <a:t> - Network Programming with Go_ Learn to Code Secure and Reliable Network Services from Scratch-No Starch Press (2021).</a:t>
            </a:r>
          </a:p>
          <a:p>
            <a:pPr algn="just"/>
            <a:r>
              <a:rPr lang="en-US" sz="3200" dirty="0">
                <a:hlinkClick r:id="rId2"/>
              </a:rPr>
              <a:t>https://www.crowdstrike.com/cybersecurity-101/observability/event-log/</a:t>
            </a:r>
            <a:endParaRPr lang="en-US" sz="3200" dirty="0"/>
          </a:p>
          <a:p>
            <a:pPr algn="just"/>
            <a:r>
              <a:rPr lang="en-US" sz="3200" dirty="0">
                <a:hlinkClick r:id="rId3"/>
              </a:rPr>
              <a:t>https://www.ibm.com/docs/en/was-liberty/base?topic=liberty-event-logging</a:t>
            </a:r>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p:txBody>
      </p:sp>
    </p:spTree>
    <p:extLst>
      <p:ext uri="{BB962C8B-B14F-4D97-AF65-F5344CB8AC3E}">
        <p14:creationId xmlns:p14="http://schemas.microsoft.com/office/powerpoint/2010/main" val="288738976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14004</TotalTime>
  <Words>1373</Words>
  <Application>Microsoft Macintosh PowerPoint</Application>
  <PresentationFormat>Custom</PresentationFormat>
  <Paragraphs>144</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Tahoma</vt:lpstr>
      <vt:lpstr>Open Sans ExtraBold</vt:lpstr>
      <vt:lpstr>Arial</vt:lpstr>
      <vt:lpstr>OCRB</vt:lpstr>
      <vt:lpstr>Open Sans Semibold</vt:lpstr>
      <vt:lpstr>Open Sans Light</vt:lpstr>
      <vt:lpstr>Wingdings</vt:lpstr>
      <vt:lpstr>21_BasicWhite</vt:lpstr>
      <vt:lpstr>Logging and Metrics  Session 12</vt:lpstr>
      <vt:lpstr>Learning Objectives</vt:lpstr>
      <vt:lpstr>Outline</vt:lpstr>
      <vt:lpstr>event logging</vt:lpstr>
      <vt:lpstr>Event logging </vt:lpstr>
      <vt:lpstr>Event logging </vt:lpstr>
      <vt:lpstr>Event log</vt:lpstr>
      <vt:lpstr>Handling event log</vt:lpstr>
      <vt:lpstr>Handling event log</vt:lpstr>
      <vt:lpstr>Handling event log</vt:lpstr>
      <vt:lpstr>Handling event log</vt:lpstr>
      <vt:lpstr>Handling event log</vt:lpstr>
      <vt:lpstr>Instrumenting your code</vt:lpstr>
      <vt:lpstr>Instrumenting your code</vt:lpstr>
      <vt:lpstr>Instrumenting your code</vt:lpstr>
      <vt:lpstr>Instrumenting your code</vt:lpstr>
      <vt:lpstr>Instrumenting your code</vt:lpstr>
      <vt:lpstr>PowerPoint Presentation</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IVAN SEBASTIAN EDBERT</cp:lastModifiedBy>
  <cp:revision>24</cp:revision>
  <dcterms:created xsi:type="dcterms:W3CDTF">2023-06-28T08:14:57Z</dcterms:created>
  <dcterms:modified xsi:type="dcterms:W3CDTF">2023-12-18T11:35:23Z</dcterms:modified>
</cp:coreProperties>
</file>