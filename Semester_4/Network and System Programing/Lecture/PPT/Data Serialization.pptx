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9"/>
  </p:notesMasterIdLst>
  <p:sldIdLst>
    <p:sldId id="256" r:id="rId2"/>
    <p:sldId id="278" r:id="rId3"/>
    <p:sldId id="257" r:id="rId4"/>
    <p:sldId id="310" r:id="rId5"/>
    <p:sldId id="311" r:id="rId6"/>
    <p:sldId id="312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321" r:id="rId16"/>
    <p:sldId id="300" r:id="rId17"/>
    <p:sldId id="296" r:id="rId18"/>
  </p:sldIdLst>
  <p:sldSz cx="24384000" cy="13716000"/>
  <p:notesSz cx="6858000" cy="9144000"/>
  <p:embeddedFontLst>
    <p:embeddedFont>
      <p:font typeface="OCRB" panose="020B0609020202020204" pitchFamily="49" charset="77"/>
      <p:regular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  <p:embeddedFont>
      <p:font typeface="Open Sans ExtraBold" panose="020B0606030504020204" pitchFamily="34" charset="0"/>
      <p:bold r:id="rId25"/>
      <p:italic r:id="rId26"/>
      <p:boldItalic r:id="rId27"/>
    </p:embeddedFont>
    <p:embeddedFont>
      <p:font typeface="Open Sans Light" panose="020B0306030504020204" pitchFamily="34" charset="0"/>
      <p:regular r:id="rId28"/>
      <p:italic r:id="rId29"/>
    </p:embeddedFont>
    <p:embeddedFont>
      <p:font typeface="Open Sans Semibold" panose="020B0606030504020204" pitchFamily="34" charset="0"/>
      <p:regular r:id="rId30"/>
      <p:bold r:id="rId31"/>
      <p:italic r:id="rId32"/>
      <p:boldItalic r:id="rId33"/>
    </p:embeddedFont>
    <p:embeddedFont>
      <p:font typeface="Tahoma" panose="020B0604030504040204" pitchFamily="34" charset="0"/>
      <p:regular r:id="rId34"/>
      <p:bold r:id="rId3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1074DC-C25A-6744-B77E-5B0B83E387E3}" v="22" dt="2023-12-18T10:36:22.730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1" autoAdjust="0"/>
    <p:restoredTop sz="95329"/>
  </p:normalViewPr>
  <p:slideViewPr>
    <p:cSldViewPr snapToGrid="0" snapToObjects="1">
      <p:cViewPr varScale="1">
        <p:scale>
          <a:sx n="47" d="100"/>
          <a:sy n="47" d="100"/>
        </p:scale>
        <p:origin x="944" y="22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758837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3.pn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C614F1-89F8-B808-9DD9-229AAF4CE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F98E9C-690F-D5B2-6A0E-CA43C8C26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EBA59A-5DC7-987B-985C-E7F05D80D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722D20-F203-A321-C13A-3A85A24C3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BDDA7B-8679-2A96-DA58-9B50735EA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C79DE9-4AFD-C17C-6D01-10CB5913C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CBA874-2A87-342A-D528-C2660A034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703794-B39A-7A69-54AC-AFD888C8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D25C93-1B77-566C-CD32-E4AC841F1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A923CA-0AF7-7160-B581-2CACED786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E62FAA5-6C99-7043-5D20-4F0B7F863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D28E23-B05B-27F7-5B39-9129277EE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A795C1-A678-59F7-F2CE-A3263373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13156DDE-55E0-C14A-879A-962B00D82A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016357" y="354127"/>
            <a:ext cx="2563550" cy="108387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4008AF-17B2-1560-3039-4C723BA0C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F6EF1-CFA9-A58C-D0E2-EFC77F0A6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334" y="-15464"/>
            <a:ext cx="38608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995F2D-6472-91D6-94D4-E6E20D96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3551FA-97E6-2245-9BD6-C384100F7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6722" y="758208"/>
            <a:ext cx="2698754" cy="114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8" y="6428534"/>
            <a:ext cx="21971004" cy="3917819"/>
          </a:xfrm>
        </p:spPr>
        <p:txBody>
          <a:bodyPr>
            <a:normAutofit/>
          </a:bodyPr>
          <a:lstStyle/>
          <a:p>
            <a:r>
              <a:rPr lang="en-US" sz="8900" dirty="0"/>
              <a:t>Data Serialization</a:t>
            </a:r>
            <a:br>
              <a:rPr lang="en-US" dirty="0"/>
            </a:br>
            <a:br>
              <a:rPr lang="en-US" dirty="0"/>
            </a:br>
            <a:r>
              <a:rPr lang="en-US" sz="6000" dirty="0"/>
              <a:t>Session 11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Ivan Sebastian </a:t>
            </a:r>
            <a:r>
              <a:rPr lang="en-US" dirty="0" err="1"/>
              <a:t>Edbert</a:t>
            </a:r>
            <a:endParaRPr 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93D5A33-4AE1-DFDD-5778-A52549DBF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0571" y="3352800"/>
            <a:ext cx="20748172" cy="18700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tabLst>
                <a:tab pos="2641600" algn="l"/>
                <a:tab pos="4108450" algn="l"/>
              </a:tabLst>
            </a:pPr>
            <a:r>
              <a:rPr lang="en-US" sz="4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Course		: COMP6584001 – Network and Systems Programming 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03F1C-0D61-4D2A-AE66-A44AB8F9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dirty="0"/>
              <a:t>Learning Objectives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B515F5-D54A-2C91-194C-DEE35FCDBF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03A01-370D-40D0-943E-E2F4C055BA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3714940" cy="98239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/>
              <a:t>At the end of this session, the student will be expected to :</a:t>
            </a:r>
          </a:p>
          <a:p>
            <a:pPr marL="0" indent="0">
              <a:buNone/>
            </a:pPr>
            <a:endParaRPr lang="en-ID" sz="3200" dirty="0"/>
          </a:p>
          <a:p>
            <a:r>
              <a:rPr lang="en-ID" sz="3200" dirty="0"/>
              <a:t>Able to serializing object</a:t>
            </a:r>
          </a:p>
          <a:p>
            <a:endParaRPr lang="en-ID" sz="3200" dirty="0"/>
          </a:p>
          <a:p>
            <a:r>
              <a:rPr lang="en-ID" sz="3200" dirty="0"/>
              <a:t>Able to transmitting Serialized Objects</a:t>
            </a:r>
          </a:p>
          <a:p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109501583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8EE7E-7D6D-1075-C43E-31110FFB8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Outline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26CDD-3EFB-2B8E-0F76-60A23F660E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D9012-F4DE-DB8A-ABB7-846D54F8707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260663"/>
            <a:ext cx="13714940" cy="4522264"/>
          </a:xfrm>
        </p:spPr>
        <p:txBody>
          <a:bodyPr>
            <a:noAutofit/>
          </a:bodyPr>
          <a:lstStyle/>
          <a:p>
            <a:r>
              <a:rPr lang="en-ID" sz="3200" dirty="0"/>
              <a:t>Serializing Object</a:t>
            </a:r>
          </a:p>
          <a:p>
            <a:r>
              <a:rPr lang="en-ID" sz="3200" dirty="0"/>
              <a:t>Transmitting Serialized Objects</a:t>
            </a:r>
          </a:p>
        </p:txBody>
      </p:sp>
    </p:spTree>
    <p:extLst>
      <p:ext uri="{BB962C8B-B14F-4D97-AF65-F5344CB8AC3E}">
        <p14:creationId xmlns:p14="http://schemas.microsoft.com/office/powerpoint/2010/main" val="150427607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683E20-3E92-DD52-C661-C10C6224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9600" dirty="0"/>
              <a:t>Serializing object</a:t>
            </a:r>
          </a:p>
        </p:txBody>
      </p:sp>
    </p:spTree>
    <p:extLst>
      <p:ext uri="{BB962C8B-B14F-4D97-AF65-F5344CB8AC3E}">
        <p14:creationId xmlns:p14="http://schemas.microsoft.com/office/powerpoint/2010/main" val="51458303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AE0D-E84B-49E2-C85C-155A323B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Serializing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438134-FAFE-A3F2-AF95-C1AE06DF09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2D881E-4F92-16A0-9754-A723AE7A505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4596868"/>
            <a:ext cx="13714940" cy="4522264"/>
          </a:xfrm>
        </p:spPr>
        <p:txBody>
          <a:bodyPr>
            <a:normAutofit/>
          </a:bodyPr>
          <a:lstStyle/>
          <a:p>
            <a:pPr algn="just"/>
            <a:r>
              <a:rPr lang="en-US" sz="3200" dirty="0"/>
              <a:t>Serializing an object refers to the process of converting an object's state into a format that can be easily stored, transmitted, or reconstructed. In programming, this often involves converting an object into a byte stream or a string. Serialization is commonly used in scenarios such as data persistence, network communication, and inter-process communication. In Go, you can use the encoding/</a:t>
            </a:r>
            <a:r>
              <a:rPr lang="en-US" sz="3200" dirty="0" err="1"/>
              <a:t>json</a:t>
            </a:r>
            <a:r>
              <a:rPr lang="en-US" sz="3200" dirty="0"/>
              <a:t> package for JSON serialization, and the encoding/gob package for Go-specific binary serialization.</a:t>
            </a:r>
          </a:p>
        </p:txBody>
      </p:sp>
    </p:spTree>
    <p:extLst>
      <p:ext uri="{BB962C8B-B14F-4D97-AF65-F5344CB8AC3E}">
        <p14:creationId xmlns:p14="http://schemas.microsoft.com/office/powerpoint/2010/main" val="245596659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9381-F495-9580-6874-BA2A363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Serializing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E09D-A821-DD64-7165-B3D8AD8A8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JSOn</a:t>
            </a:r>
            <a:r>
              <a:rPr lang="en-US" dirty="0"/>
              <a:t> Serialization</a:t>
            </a:r>
          </a:p>
        </p:txBody>
      </p:sp>
      <p:pic>
        <p:nvPicPr>
          <p:cNvPr id="6" name="Content Placeholder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3B7190C-07F2-73EE-1E60-DC0132B84DB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3444" y="3004457"/>
            <a:ext cx="8913179" cy="1012943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C1AC31-2D05-9943-96B9-F24C89AFEE85}"/>
              </a:ext>
            </a:extLst>
          </p:cNvPr>
          <p:cNvSpPr txBox="1"/>
          <p:nvPr/>
        </p:nvSpPr>
        <p:spPr>
          <a:xfrm>
            <a:off x="1701469" y="4836934"/>
            <a:ext cx="10918379" cy="40421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encoding/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package in Go provides functions for encoding and decoding JSON data. Here's an example of serializing a Go struct to JSON.</a:t>
            </a:r>
          </a:p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3200" dirty="0">
              <a:solidFill>
                <a:schemeClr val="bg1"/>
              </a:solidFill>
            </a:endParaRPr>
          </a:p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 this example, 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json.Marshal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is used to serialize the Person struct to a JSON-encoded byte slice (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jsonData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). The struct field tags (</a:t>
            </a:r>
            <a:r>
              <a:rPr kumimoji="0" lang="en-US" sz="32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:"...") provide the mapping between struct field names and JSON field names.</a:t>
            </a:r>
          </a:p>
        </p:txBody>
      </p:sp>
    </p:spTree>
    <p:extLst>
      <p:ext uri="{BB962C8B-B14F-4D97-AF65-F5344CB8AC3E}">
        <p14:creationId xmlns:p14="http://schemas.microsoft.com/office/powerpoint/2010/main" val="119589857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9381-F495-9580-6874-BA2A363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Serializing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E09D-A821-DD64-7165-B3D8AD8A8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Binary Serialization (using Gob)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C1AC31-2D05-9943-96B9-F24C89AFEE85}"/>
              </a:ext>
            </a:extLst>
          </p:cNvPr>
          <p:cNvSpPr txBox="1"/>
          <p:nvPr/>
        </p:nvSpPr>
        <p:spPr>
          <a:xfrm>
            <a:off x="2206073" y="11296272"/>
            <a:ext cx="19460358" cy="18261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The encoding/gob package is used for binary serialization and deserialization in Go. Here's an example:</a:t>
            </a:r>
          </a:p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sz="2800" dirty="0">
              <a:solidFill>
                <a:schemeClr val="bg1"/>
              </a:solidFill>
            </a:endParaRPr>
          </a:p>
          <a:p>
            <a:pPr marL="457200" marR="0" indent="-457200" algn="just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In this example, 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json.Marshal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 is used to serialize the Person struct to a JSON-encoded byte slice (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jsonData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). The struct field tags (</a:t>
            </a:r>
            <a:r>
              <a:rPr kumimoji="0" lang="en-US" sz="2800" b="0" i="0" u="none" strike="noStrike" cap="none" spc="0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json</a:t>
            </a: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:"...") provide the mapping between struct field names and JSON field names.</a:t>
            </a:r>
          </a:p>
        </p:txBody>
      </p:sp>
      <p:pic>
        <p:nvPicPr>
          <p:cNvPr id="9" name="Content Placeholder 8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51030082-002B-4859-E16B-FBC924EF650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250" y="3422982"/>
            <a:ext cx="8239002" cy="7673581"/>
          </a:xfrm>
        </p:spPr>
      </p:pic>
      <p:pic>
        <p:nvPicPr>
          <p:cNvPr id="11" name="Picture 10" descr="A computer screen shot of a black screen&#10;&#10;Description automatically generated">
            <a:extLst>
              <a:ext uri="{FF2B5EF4-FFF2-40B4-BE49-F238E27FC236}">
                <a16:creationId xmlns:a16="http://schemas.microsoft.com/office/drawing/2014/main" id="{87A86127-87C0-2BE2-B6FD-093E44BCC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6252" y="3422982"/>
            <a:ext cx="9189114" cy="767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13345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9381-F495-9580-6874-BA2A36373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Serializing object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BE09D-A821-DD64-7165-B3D8AD8A8B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Protocol buffer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BAB5D0-3FCE-6D8D-8B5C-36EC3A81D6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3260663"/>
            <a:ext cx="13714940" cy="4522264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Like Gob, protocol buffers use binary encoding to store or exchange </a:t>
            </a:r>
            <a:r>
              <a:rPr lang="en-US" sz="3200" dirty="0" err="1"/>
              <a:t>informa</a:t>
            </a:r>
            <a:r>
              <a:rPr lang="en-US" sz="3200" dirty="0"/>
              <a:t>- </a:t>
            </a:r>
            <a:r>
              <a:rPr lang="en-US" sz="3200" dirty="0" err="1"/>
              <a:t>tion</a:t>
            </a:r>
            <a:r>
              <a:rPr lang="en-US" sz="3200" dirty="0"/>
              <a:t> across various platforms. It’s faster and more succinct than Go’s JSON encoding. Unlike Gob and like JSON, protocol buffers are language neu- </a:t>
            </a:r>
            <a:r>
              <a:rPr lang="en-US" sz="3200" dirty="0" err="1"/>
              <a:t>tral</a:t>
            </a:r>
            <a:r>
              <a:rPr lang="en-US" sz="3200" dirty="0"/>
              <a:t> and enjoy wide support among popular programming languages. This makes them ideally suited for using in Go-based services that you hope to integrate with services written in other programming languages. This chap- </a:t>
            </a:r>
            <a:r>
              <a:rPr lang="en-US" sz="3200" dirty="0" err="1"/>
              <a:t>ter</a:t>
            </a:r>
            <a:r>
              <a:rPr lang="en-US" sz="3200" dirty="0"/>
              <a:t> assumes you’re using the proto3 version of the format.</a:t>
            </a:r>
          </a:p>
          <a:p>
            <a:pPr algn="just"/>
            <a:r>
              <a:rPr lang="en-US" sz="3200" dirty="0"/>
              <a:t>Protocol buffers use a definition file, conventionally suffixed with .proto, to define messages. Messages describe the structured data you want to serial- </a:t>
            </a:r>
            <a:r>
              <a:rPr lang="en-US" sz="3200" dirty="0" err="1"/>
              <a:t>ize</a:t>
            </a:r>
            <a:r>
              <a:rPr lang="en-US" sz="3200" dirty="0"/>
              <a:t> for storage or transmission. For example, a protocol buffer message rep- resenting the Chore type looks like the definition in Listing 12-16.</a:t>
            </a:r>
          </a:p>
        </p:txBody>
      </p:sp>
      <p:pic>
        <p:nvPicPr>
          <p:cNvPr id="8" name="Picture 7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07A61D67-B63D-7BFC-B1B8-85CB53DC9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017" y="10455337"/>
            <a:ext cx="12109965" cy="263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65765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683E20-3E92-DD52-C661-C10C6224C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sz="9600" dirty="0"/>
              <a:t>Transmitting Serialized Objects</a:t>
            </a:r>
          </a:p>
        </p:txBody>
      </p:sp>
    </p:spTree>
    <p:extLst>
      <p:ext uri="{BB962C8B-B14F-4D97-AF65-F5344CB8AC3E}">
        <p14:creationId xmlns:p14="http://schemas.microsoft.com/office/powerpoint/2010/main" val="28202999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3962832"/>
            <a:ext cx="13714940" cy="4522264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/>
              <a:t>gRPC</a:t>
            </a:r>
            <a:r>
              <a:rPr lang="en-US" sz="3200" dirty="0"/>
              <a:t> (</a:t>
            </a:r>
            <a:r>
              <a:rPr lang="en-US" sz="3200" dirty="0" err="1"/>
              <a:t>gRPC</a:t>
            </a:r>
            <a:r>
              <a:rPr lang="en-US" sz="3200" dirty="0"/>
              <a:t> Remote Procedure Calls) is a high-performance, open-source framework for building efficient and scalable distributed systems. It uses the Protocol Buffers (</a:t>
            </a:r>
            <a:r>
              <a:rPr lang="en-US" sz="3200" dirty="0" err="1"/>
              <a:t>protobuf</a:t>
            </a:r>
            <a:r>
              <a:rPr lang="en-US" sz="3200" dirty="0"/>
              <a:t>) as its interface definition language and provides features such as bi-directional streaming, flow control, and pluggable authentication. </a:t>
            </a:r>
          </a:p>
          <a:p>
            <a:pPr algn="just"/>
            <a:r>
              <a:rPr lang="en-US" sz="3200" dirty="0"/>
              <a:t>In this example will show you how to create a simple </a:t>
            </a:r>
            <a:r>
              <a:rPr lang="en-US" sz="3200" dirty="0" err="1"/>
              <a:t>gRPC</a:t>
            </a:r>
            <a:r>
              <a:rPr lang="en-US" sz="3200" dirty="0"/>
              <a:t> service and client in Go.</a:t>
            </a:r>
          </a:p>
        </p:txBody>
      </p:sp>
    </p:spTree>
    <p:extLst>
      <p:ext uri="{BB962C8B-B14F-4D97-AF65-F5344CB8AC3E}">
        <p14:creationId xmlns:p14="http://schemas.microsoft.com/office/powerpoint/2010/main" val="212353384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26661"/>
            <a:ext cx="13714940" cy="45222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solidFill>
                  <a:srgbClr val="FFFF00"/>
                </a:solidFill>
              </a:rPr>
              <a:t>Define the protocol buffers (</a:t>
            </a:r>
            <a:r>
              <a:rPr lang="en-US" sz="3200" dirty="0" err="1">
                <a:solidFill>
                  <a:srgbClr val="FFFF00"/>
                </a:solidFill>
              </a:rPr>
              <a:t>protobuf</a:t>
            </a:r>
            <a:r>
              <a:rPr lang="en-US" sz="3200" dirty="0">
                <a:solidFill>
                  <a:srgbClr val="FFFF00"/>
                </a:solidFill>
              </a:rPr>
              <a:t>) Service:</a:t>
            </a:r>
          </a:p>
        </p:txBody>
      </p:sp>
      <p:pic>
        <p:nvPicPr>
          <p:cNvPr id="6" name="Picture 5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FC5F3A3D-4138-6FB9-F68E-9156557B2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377" y="3830207"/>
            <a:ext cx="11635709" cy="838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46477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26661"/>
            <a:ext cx="13714940" cy="45222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US" sz="3200" dirty="0">
                <a:solidFill>
                  <a:srgbClr val="FFFF00"/>
                </a:solidFill>
              </a:rPr>
              <a:t>Generate </a:t>
            </a:r>
            <a:r>
              <a:rPr lang="en-US" sz="3200" dirty="0" err="1">
                <a:solidFill>
                  <a:srgbClr val="FFFF00"/>
                </a:solidFill>
              </a:rPr>
              <a:t>gRPC</a:t>
            </a:r>
            <a:r>
              <a:rPr lang="en-US" sz="3200" dirty="0">
                <a:solidFill>
                  <a:srgbClr val="FFFF00"/>
                </a:solidFill>
              </a:rPr>
              <a:t> Code: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342EE3-3BE1-48D5-D323-A15496C29902}"/>
              </a:ext>
            </a:extLst>
          </p:cNvPr>
          <p:cNvSpPr/>
          <p:nvPr/>
        </p:nvSpPr>
        <p:spPr>
          <a:xfrm>
            <a:off x="2167377" y="4497833"/>
            <a:ext cx="20206016" cy="157992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/>
            <a:r>
              <a:rPr lang="en-US" sz="4800" dirty="0" err="1">
                <a:solidFill>
                  <a:schemeClr val="bg1"/>
                </a:solidFill>
              </a:rPr>
              <a:t>protoc</a:t>
            </a:r>
            <a:r>
              <a:rPr lang="en-US" sz="4800" dirty="0">
                <a:solidFill>
                  <a:schemeClr val="bg1"/>
                </a:solidFill>
              </a:rPr>
              <a:t> --</a:t>
            </a:r>
            <a:r>
              <a:rPr lang="en-US" sz="4800" dirty="0" err="1">
                <a:solidFill>
                  <a:schemeClr val="bg1"/>
                </a:solidFill>
              </a:rPr>
              <a:t>go_out</a:t>
            </a:r>
            <a:r>
              <a:rPr lang="en-US" sz="4800" dirty="0">
                <a:solidFill>
                  <a:schemeClr val="bg1"/>
                </a:solidFill>
              </a:rPr>
              <a:t>=. --</a:t>
            </a:r>
            <a:r>
              <a:rPr lang="en-US" sz="4800" dirty="0" err="1">
                <a:solidFill>
                  <a:schemeClr val="bg1"/>
                </a:solidFill>
              </a:rPr>
              <a:t>go_opt</a:t>
            </a:r>
            <a:r>
              <a:rPr lang="en-US" sz="4800" dirty="0">
                <a:solidFill>
                  <a:schemeClr val="bg1"/>
                </a:solidFill>
              </a:rPr>
              <a:t>=paths=</a:t>
            </a:r>
            <a:r>
              <a:rPr lang="en-US" sz="4800" dirty="0" err="1">
                <a:solidFill>
                  <a:schemeClr val="bg1"/>
                </a:solidFill>
              </a:rPr>
              <a:t>source_relative</a:t>
            </a:r>
            <a:r>
              <a:rPr lang="en-US" sz="4800" dirty="0">
                <a:solidFill>
                  <a:schemeClr val="bg1"/>
                </a:solidFill>
              </a:rPr>
              <a:t> --go-</a:t>
            </a:r>
            <a:r>
              <a:rPr lang="en-US" sz="4800" dirty="0" err="1">
                <a:solidFill>
                  <a:schemeClr val="bg1"/>
                </a:solidFill>
              </a:rPr>
              <a:t>grpc_out</a:t>
            </a:r>
            <a:r>
              <a:rPr lang="en-US" sz="4800" dirty="0">
                <a:solidFill>
                  <a:schemeClr val="bg1"/>
                </a:solidFill>
              </a:rPr>
              <a:t>=. --go-</a:t>
            </a:r>
            <a:r>
              <a:rPr lang="en-US" sz="4800" dirty="0" err="1">
                <a:solidFill>
                  <a:schemeClr val="bg1"/>
                </a:solidFill>
              </a:rPr>
              <a:t>grpc_opt</a:t>
            </a:r>
            <a:r>
              <a:rPr lang="en-US" sz="4800" dirty="0">
                <a:solidFill>
                  <a:schemeClr val="bg1"/>
                </a:solidFill>
              </a:rPr>
              <a:t>=paths=</a:t>
            </a:r>
            <a:r>
              <a:rPr lang="en-US" sz="4800" dirty="0" err="1">
                <a:solidFill>
                  <a:schemeClr val="bg1"/>
                </a:solidFill>
              </a:rPr>
              <a:t>source_relative</a:t>
            </a:r>
            <a:r>
              <a:rPr lang="en-US" sz="4800" dirty="0">
                <a:solidFill>
                  <a:schemeClr val="bg1"/>
                </a:solidFill>
              </a:rPr>
              <a:t> </a:t>
            </a:r>
            <a:r>
              <a:rPr lang="en-US" sz="4800" dirty="0" err="1">
                <a:solidFill>
                  <a:schemeClr val="bg1"/>
                </a:solidFill>
              </a:rPr>
              <a:t>service.proto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37301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26661"/>
            <a:ext cx="13714940" cy="45222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3200" dirty="0">
                <a:solidFill>
                  <a:srgbClr val="FFFF00"/>
                </a:solidFill>
              </a:rPr>
              <a:t>Implement the Server: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1E476-DD7C-B7BC-328F-CE4104D31690}"/>
              </a:ext>
            </a:extLst>
          </p:cNvPr>
          <p:cNvSpPr/>
          <p:nvPr/>
        </p:nvSpPr>
        <p:spPr>
          <a:xfrm>
            <a:off x="7990115" y="2609016"/>
            <a:ext cx="13714940" cy="10719311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package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main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import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(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"context"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"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fmt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"log"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"net"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92D050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"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your_module_path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/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 // Replace with your actual module path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"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google.golang.org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/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grpc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)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type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myServiceServer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struct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{}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func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(s *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myServiceServer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)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SayHello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ctx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context.Context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, req *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myservice.HelloRequest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) (*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myservice.HelloResponse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, error) {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greeting :=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fmt.Sprintf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"Hello, %s!",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req.GetName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())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return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&amp;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myservice.HelloResponse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{Greeting: greeting},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nil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}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func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main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() {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listener, err :=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net.Listen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("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tcp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,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":50051"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if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err !=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nil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{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	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log.Fatalf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"Failed to listen: %v",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err)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}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server :=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grpc.NewServer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myservice.RegisterMyServiceServer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(server, &amp;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myServiceServer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{})</a:t>
            </a:r>
          </a:p>
          <a:p>
            <a:pPr algn="l"/>
            <a:endParaRPr kumimoji="0" lang="en-US" sz="2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Helvetica Neue Medium"/>
            </a:endParaRP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log.Println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gRPC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server is running on :50051"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if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err := 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server.Serve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(listener); err != 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00B0F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nil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 {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	</a:t>
            </a:r>
            <a:r>
              <a:rPr kumimoji="0" lang="en-US" sz="2000" b="0" i="0" u="none" strike="noStrike" cap="none" spc="0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log.Fatalf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(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92D050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"Failed to serve: %v"</a:t>
            </a:r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, err)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	}</a:t>
            </a:r>
          </a:p>
          <a:p>
            <a:pPr algn="l"/>
            <a:r>
              <a:rPr kumimoji="0" lang="en-US" sz="2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Helvetica Neue Medium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5578692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26661"/>
            <a:ext cx="13714940" cy="45222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4"/>
            </a:pPr>
            <a:r>
              <a:rPr lang="en-US" sz="3200" dirty="0">
                <a:solidFill>
                  <a:srgbClr val="FFFF00"/>
                </a:solidFill>
              </a:rPr>
              <a:t>Implement the Client: </a:t>
            </a:r>
          </a:p>
        </p:txBody>
      </p:sp>
      <p:pic>
        <p:nvPicPr>
          <p:cNvPr id="7" name="Picture 6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B8F9C6EE-46DD-888C-07A4-37D5527BA6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7571" y="2821501"/>
            <a:ext cx="9278788" cy="10541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8127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88BED-23A5-BBED-3B5C-ABDEAC7D9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D" sz="4000" dirty="0"/>
              <a:t>Transmitting Serialized Objects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C30EF-1297-404E-44DB-3EE511FA02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Grpc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D5336D-AC03-00D8-FA63-0F4936C7334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026661"/>
            <a:ext cx="13714940" cy="4522264"/>
          </a:xfrm>
        </p:spPr>
        <p:txBody>
          <a:bodyPr>
            <a:normAutofit/>
          </a:bodyPr>
          <a:lstStyle/>
          <a:p>
            <a:pPr marL="514350" indent="-514350" algn="just">
              <a:buFont typeface="+mj-lt"/>
              <a:buAutoNum type="arabicPeriod" startAt="4"/>
            </a:pPr>
            <a:r>
              <a:rPr lang="en-US" sz="3200" dirty="0">
                <a:solidFill>
                  <a:srgbClr val="FFFF00"/>
                </a:solidFill>
              </a:rPr>
              <a:t>Runt the Server and Client: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DE5E2E-7C0F-1585-2487-8BCF17539572}"/>
              </a:ext>
            </a:extLst>
          </p:cNvPr>
          <p:cNvSpPr/>
          <p:nvPr/>
        </p:nvSpPr>
        <p:spPr>
          <a:xfrm>
            <a:off x="2167377" y="4867165"/>
            <a:ext cx="12354166" cy="841256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just"/>
            <a:r>
              <a:rPr lang="en-US" sz="4800" dirty="0">
                <a:solidFill>
                  <a:schemeClr val="bg1"/>
                </a:solidFill>
              </a:rPr>
              <a:t>go run </a:t>
            </a:r>
            <a:r>
              <a:rPr lang="en-US" sz="4800" dirty="0" err="1">
                <a:solidFill>
                  <a:schemeClr val="bg1"/>
                </a:solidFill>
              </a:rPr>
              <a:t>server.go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A37C32A-AD24-F173-B3D5-5149116493A9}"/>
              </a:ext>
            </a:extLst>
          </p:cNvPr>
          <p:cNvSpPr txBox="1">
            <a:spLocks/>
          </p:cNvSpPr>
          <p:nvPr/>
        </p:nvSpPr>
        <p:spPr>
          <a:xfrm>
            <a:off x="2167377" y="6901543"/>
            <a:ext cx="18733623" cy="45222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marL="0" indent="0" algn="just">
              <a:buNone/>
            </a:pPr>
            <a:r>
              <a:rPr lang="en-ID" sz="3200" dirty="0"/>
              <a:t>You should see the client receiving a greeting message from the server.</a:t>
            </a:r>
          </a:p>
          <a:p>
            <a:pPr marL="0" indent="0" algn="just">
              <a:buNone/>
            </a:pPr>
            <a:endParaRPr lang="en-ID" sz="3200" dirty="0"/>
          </a:p>
          <a:p>
            <a:pPr marL="0" indent="0" algn="just">
              <a:buNone/>
            </a:pPr>
            <a:r>
              <a:rPr lang="en-ID" sz="3200" dirty="0"/>
              <a:t>This is a basic example, and </a:t>
            </a:r>
            <a:r>
              <a:rPr lang="en-ID" sz="3200" dirty="0" err="1"/>
              <a:t>gRPC</a:t>
            </a:r>
            <a:r>
              <a:rPr lang="en-ID" sz="3200" dirty="0"/>
              <a:t> offers much more advanced features like bidirectional streaming, error handling, and support for different data types. Adjust the code and </a:t>
            </a:r>
            <a:r>
              <a:rPr lang="en-ID" sz="3200" dirty="0" err="1"/>
              <a:t>protobuf</a:t>
            </a:r>
            <a:r>
              <a:rPr lang="en-ID" sz="3200" dirty="0"/>
              <a:t> definitions based on your specific use case.</a:t>
            </a:r>
          </a:p>
        </p:txBody>
      </p:sp>
    </p:spTree>
    <p:extLst>
      <p:ext uri="{BB962C8B-B14F-4D97-AF65-F5344CB8AC3E}">
        <p14:creationId xmlns:p14="http://schemas.microsoft.com/office/powerpoint/2010/main" val="47665329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C294-9DFB-4F93-9B96-A70432466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721AC-E3DF-22B1-8422-76608B997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C3A658-0629-8224-9928-EE85A4D909B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34530" y="4596868"/>
            <a:ext cx="13714940" cy="8204732"/>
          </a:xfrm>
        </p:spPr>
        <p:txBody>
          <a:bodyPr>
            <a:noAutofit/>
          </a:bodyPr>
          <a:lstStyle/>
          <a:p>
            <a:pPr algn="just"/>
            <a:r>
              <a:rPr lang="en-US" sz="3200" dirty="0"/>
              <a:t>Adam </a:t>
            </a:r>
            <a:r>
              <a:rPr lang="en-US" sz="3200" dirty="0" err="1"/>
              <a:t>Woodbeck</a:t>
            </a:r>
            <a:r>
              <a:rPr lang="en-US" sz="3200" dirty="0"/>
              <a:t> - Network Programming with Go_ Learn to Code Secure and Reliable Network Services from Scratch-No Starch Press (2021).</a:t>
            </a:r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873897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6B9CA93-CCBC-0E81-9FD6-1A448158A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8" y="4535865"/>
            <a:ext cx="21971004" cy="3746281"/>
          </a:xfrm>
        </p:spPr>
        <p:txBody>
          <a:bodyPr/>
          <a:lstStyle/>
          <a:p>
            <a:r>
              <a:rPr lang="en-US" dirty="0"/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67926594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FEBCA056-F2A5-496F-A830-7BAED988D208}" vid="{3C0D7A97-88A3-424B-BF48-73EB1D05E1BE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OR 10</Template>
  <TotalTime>13975</TotalTime>
  <Words>871</Words>
  <Application>Microsoft Macintosh PowerPoint</Application>
  <PresentationFormat>Custom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Tahoma</vt:lpstr>
      <vt:lpstr>Open Sans ExtraBold</vt:lpstr>
      <vt:lpstr>Arial</vt:lpstr>
      <vt:lpstr>OCRB</vt:lpstr>
      <vt:lpstr>Open Sans Semibold</vt:lpstr>
      <vt:lpstr>Open Sans</vt:lpstr>
      <vt:lpstr>Open Sans Light</vt:lpstr>
      <vt:lpstr>21_BasicWhite</vt:lpstr>
      <vt:lpstr>Data Serialization  Session 11</vt:lpstr>
      <vt:lpstr>Learning Objectives</vt:lpstr>
      <vt:lpstr>Outline</vt:lpstr>
      <vt:lpstr>Serializing object</vt:lpstr>
      <vt:lpstr>Serializing object</vt:lpstr>
      <vt:lpstr>Serializing object</vt:lpstr>
      <vt:lpstr>Serializing object</vt:lpstr>
      <vt:lpstr>Serializing object</vt:lpstr>
      <vt:lpstr>Transmitting Serialized Objects</vt:lpstr>
      <vt:lpstr>Transmitting Serialized Objects</vt:lpstr>
      <vt:lpstr>Transmitting Serialized Objects</vt:lpstr>
      <vt:lpstr>Transmitting Serialized Objects</vt:lpstr>
      <vt:lpstr>Transmitting Serialized Objects</vt:lpstr>
      <vt:lpstr>Transmitting Serialized Objects</vt:lpstr>
      <vt:lpstr>Transmitting Serialized Objects</vt:lpstr>
      <vt:lpstr>references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Kali Linux</dc:title>
  <dc:creator>NICHOLAUS HENDRIK JEREMY</dc:creator>
  <cp:lastModifiedBy>IVAN SEBASTIAN EDBERT</cp:lastModifiedBy>
  <cp:revision>24</cp:revision>
  <dcterms:created xsi:type="dcterms:W3CDTF">2023-06-28T08:14:57Z</dcterms:created>
  <dcterms:modified xsi:type="dcterms:W3CDTF">2023-12-18T10:43:11Z</dcterms:modified>
</cp:coreProperties>
</file>