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5"/>
  </p:notesMasterIdLst>
  <p:sldIdLst>
    <p:sldId id="256" r:id="rId2"/>
    <p:sldId id="278" r:id="rId3"/>
    <p:sldId id="257"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00" r:id="rId23"/>
    <p:sldId id="296" r:id="rId24"/>
  </p:sldIdLst>
  <p:sldSz cx="24384000" cy="13716000"/>
  <p:notesSz cx="6858000" cy="9144000"/>
  <p:embeddedFontLst>
    <p:embeddedFont>
      <p:font typeface="OCRB" panose="020B0609020202020204" pitchFamily="49" charset="77"/>
      <p:regular r:id="rId26"/>
    </p:embeddedFont>
    <p:embeddedFont>
      <p:font typeface="Open Sans ExtraBold" panose="020B0606030504020204" pitchFamily="34" charset="0"/>
      <p:bold r:id="rId27"/>
      <p:italic r:id="rId28"/>
      <p:boldItalic r:id="rId29"/>
    </p:embeddedFont>
    <p:embeddedFont>
      <p:font typeface="Open Sans Light" panose="020B0306030504020204" pitchFamily="34" charset="0"/>
      <p:regular r:id="rId30"/>
      <p:italic r:id="rId31"/>
    </p:embeddedFont>
    <p:embeddedFont>
      <p:font typeface="Open Sans Semibold" panose="020B0606030504020204" pitchFamily="34" charset="0"/>
      <p:regular r:id="rId32"/>
      <p:bold r:id="rId33"/>
      <p:italic r:id="rId34"/>
      <p:boldItalic r:id="rId35"/>
    </p:embeddedFont>
    <p:embeddedFont>
      <p:font typeface="Tahoma" panose="020B0604030504040204" pitchFamily="34" charset="0"/>
      <p:regular r:id="rId36"/>
      <p:bold r:id="rId3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DCB664-D8B3-5C49-BAC2-9F22E3D47E2B}" v="62" dt="2023-12-18T12:29:10.38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4767"/>
  </p:normalViewPr>
  <p:slideViewPr>
    <p:cSldViewPr snapToGrid="0" snapToObjects="1">
      <p:cViewPr varScale="1">
        <p:scale>
          <a:sx n="41" d="100"/>
          <a:sy n="41" d="100"/>
        </p:scale>
        <p:origin x="1512" y="21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piceworks.com/it-articles/what-is-tftp/#:~:text=As%20a%20Network%20Admin%2C%20you,User%20Data%20Protocol%20(UDP)" TargetMode="External"/><Relationship Id="rId2" Type="http://schemas.openxmlformats.org/officeDocument/2006/relationships/hyperlink" Target="https://www.geeksforgeeks.org/what-is-tftp-trivial-file-transfer-protocol/" TargetMode="External"/><Relationship Id="rId1" Type="http://schemas.openxmlformats.org/officeDocument/2006/relationships/slideLayout" Target="../slideLayouts/slideLayout12.xml"/><Relationship Id="rId4" Type="http://schemas.openxmlformats.org/officeDocument/2006/relationships/hyperlink" Target="https://www.comparitech.com/net-admin/best-free-tftp-server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Ensuring UDP reliability</a:t>
            </a:r>
            <a:br>
              <a:rPr lang="en-US" dirty="0"/>
            </a:br>
            <a:br>
              <a:rPr lang="en-US" dirty="0"/>
            </a:br>
            <a:r>
              <a:rPr lang="en-US" sz="6000" dirty="0"/>
              <a:t>Session 06</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about Reliable File Transfers Using TFTP</a:t>
            </a:r>
          </a:p>
          <a:p>
            <a:endParaRPr lang="en-ID" sz="3200" dirty="0"/>
          </a:p>
          <a:p>
            <a:r>
              <a:rPr lang="en-ID" sz="3200" dirty="0"/>
              <a:t>Able to Handle TFTP Servers</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TFTP Types</a:t>
            </a:r>
          </a:p>
          <a:p>
            <a:r>
              <a:rPr lang="en-ID" sz="3200" dirty="0"/>
              <a:t>TFTP Server</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TFTP Types</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334E-631D-9F3F-1897-97820330091F}"/>
              </a:ext>
            </a:extLst>
          </p:cNvPr>
          <p:cNvSpPr>
            <a:spLocks noGrp="1"/>
          </p:cNvSpPr>
          <p:nvPr>
            <p:ph type="title"/>
          </p:nvPr>
        </p:nvSpPr>
        <p:spPr/>
        <p:txBody>
          <a:bodyPr>
            <a:normAutofit fontScale="90000"/>
          </a:bodyPr>
          <a:lstStyle/>
          <a:p>
            <a:r>
              <a:rPr lang="en-US" dirty="0"/>
              <a:t>Trivial File Transfer Protocol (TFTP)</a:t>
            </a:r>
          </a:p>
        </p:txBody>
      </p:sp>
      <p:sp>
        <p:nvSpPr>
          <p:cNvPr id="3" name="Text Placeholder 2">
            <a:extLst>
              <a:ext uri="{FF2B5EF4-FFF2-40B4-BE49-F238E27FC236}">
                <a16:creationId xmlns:a16="http://schemas.microsoft.com/office/drawing/2014/main" id="{7A2E8D55-1023-1C3F-22CE-EEAC9E4528B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F16DFEE-68C6-A0D9-F768-0FEA752A5958}"/>
              </a:ext>
            </a:extLst>
          </p:cNvPr>
          <p:cNvSpPr>
            <a:spLocks noGrp="1"/>
          </p:cNvSpPr>
          <p:nvPr>
            <p:ph sz="quarter" idx="11"/>
          </p:nvPr>
        </p:nvSpPr>
        <p:spPr>
          <a:xfrm>
            <a:off x="5486929" y="4596868"/>
            <a:ext cx="13714940" cy="4522264"/>
          </a:xfrm>
        </p:spPr>
        <p:txBody>
          <a:bodyPr>
            <a:normAutofit/>
          </a:bodyPr>
          <a:lstStyle/>
          <a:p>
            <a:pPr algn="just"/>
            <a:r>
              <a:rPr lang="en-US" sz="3200" dirty="0"/>
              <a:t>TFTP, or Trivial File Transfer Protocol, is a simple and lightweight protocol used for transferring files over a network. </a:t>
            </a:r>
          </a:p>
          <a:p>
            <a:pPr algn="just"/>
            <a:r>
              <a:rPr lang="en-US" sz="3200" dirty="0"/>
              <a:t>It is designed to be minimalistic and is commonly employed in situations where a more feature-rich protocol like FTP (File Transfer Protocol) might be unnecessary or too complex. TFTP operates at the transport layer of the Internet Protocol (IP) suite.</a:t>
            </a:r>
          </a:p>
        </p:txBody>
      </p:sp>
      <p:pic>
        <p:nvPicPr>
          <p:cNvPr id="6" name="Picture 5" descr="A diagram of a cloud with a red arrow&#10;&#10;Description automatically generated">
            <a:extLst>
              <a:ext uri="{FF2B5EF4-FFF2-40B4-BE49-F238E27FC236}">
                <a16:creationId xmlns:a16="http://schemas.microsoft.com/office/drawing/2014/main" id="{C2EDFABB-4963-608C-68ED-0E6973818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2932" y="8619788"/>
            <a:ext cx="12362933" cy="3745876"/>
          </a:xfrm>
          <a:prstGeom prst="rect">
            <a:avLst/>
          </a:prstGeom>
        </p:spPr>
      </p:pic>
    </p:spTree>
    <p:extLst>
      <p:ext uri="{BB962C8B-B14F-4D97-AF65-F5344CB8AC3E}">
        <p14:creationId xmlns:p14="http://schemas.microsoft.com/office/powerpoint/2010/main" val="223099565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21E9-DC4B-C6A7-D58F-BF03E197D2C5}"/>
              </a:ext>
            </a:extLst>
          </p:cNvPr>
          <p:cNvSpPr>
            <a:spLocks noGrp="1"/>
          </p:cNvSpPr>
          <p:nvPr>
            <p:ph type="title"/>
          </p:nvPr>
        </p:nvSpPr>
        <p:spPr/>
        <p:txBody>
          <a:bodyPr>
            <a:normAutofit fontScale="90000"/>
          </a:bodyPr>
          <a:lstStyle/>
          <a:p>
            <a:r>
              <a:rPr lang="en-US" dirty="0"/>
              <a:t>TFTP Types</a:t>
            </a:r>
          </a:p>
        </p:txBody>
      </p:sp>
      <p:sp>
        <p:nvSpPr>
          <p:cNvPr id="3" name="Text Placeholder 2">
            <a:extLst>
              <a:ext uri="{FF2B5EF4-FFF2-40B4-BE49-F238E27FC236}">
                <a16:creationId xmlns:a16="http://schemas.microsoft.com/office/drawing/2014/main" id="{7227F804-3773-1A79-695A-AF72B6344443}"/>
              </a:ext>
            </a:extLst>
          </p:cNvPr>
          <p:cNvSpPr>
            <a:spLocks noGrp="1"/>
          </p:cNvSpPr>
          <p:nvPr>
            <p:ph type="body" sz="quarter" idx="10"/>
          </p:nvPr>
        </p:nvSpPr>
        <p:spPr/>
        <p:txBody>
          <a:bodyPr/>
          <a:lstStyle/>
          <a:p>
            <a:r>
              <a:rPr lang="en-US" dirty="0"/>
              <a:t>4 types of </a:t>
            </a:r>
            <a:r>
              <a:rPr lang="en-US" dirty="0" err="1"/>
              <a:t>tftp</a:t>
            </a:r>
            <a:endParaRPr lang="en-US" dirty="0"/>
          </a:p>
        </p:txBody>
      </p:sp>
      <p:sp>
        <p:nvSpPr>
          <p:cNvPr id="4" name="Content Placeholder 3">
            <a:extLst>
              <a:ext uri="{FF2B5EF4-FFF2-40B4-BE49-F238E27FC236}">
                <a16:creationId xmlns:a16="http://schemas.microsoft.com/office/drawing/2014/main" id="{CE96948B-BFB7-8E9C-DB94-4016D5ABAA23}"/>
              </a:ext>
            </a:extLst>
          </p:cNvPr>
          <p:cNvSpPr>
            <a:spLocks noGrp="1"/>
          </p:cNvSpPr>
          <p:nvPr>
            <p:ph sz="quarter" idx="11"/>
          </p:nvPr>
        </p:nvSpPr>
        <p:spPr>
          <a:xfrm>
            <a:off x="2167377" y="3223274"/>
            <a:ext cx="20049246" cy="5646406"/>
          </a:xfrm>
        </p:spPr>
        <p:txBody>
          <a:bodyPr>
            <a:normAutofit/>
          </a:bodyPr>
          <a:lstStyle/>
          <a:p>
            <a:pPr marL="514350" indent="-514350">
              <a:buFont typeface="+mj-lt"/>
              <a:buAutoNum type="arabicPeriod"/>
            </a:pPr>
            <a:r>
              <a:rPr lang="en-US" sz="3200" b="1" dirty="0"/>
              <a:t>Read Request</a:t>
            </a:r>
          </a:p>
          <a:p>
            <a:pPr marL="0" indent="0">
              <a:buNone/>
            </a:pPr>
            <a:r>
              <a:rPr lang="en-US" sz="3200" dirty="0">
                <a:sym typeface="Wingdings" pitchFamily="2" charset="2"/>
              </a:rPr>
              <a:t> </a:t>
            </a:r>
            <a:r>
              <a:rPr lang="en-US" sz="3200" dirty="0"/>
              <a:t>Read Request is also known as Type 1. A read request is used by the client to get a copy of a file from the server. Below is the format of the Read Request</a:t>
            </a:r>
          </a:p>
        </p:txBody>
      </p:sp>
      <p:pic>
        <p:nvPicPr>
          <p:cNvPr id="6" name="Picture 5" descr="A screenshot of a computer&#10;&#10;Description automatically generated">
            <a:extLst>
              <a:ext uri="{FF2B5EF4-FFF2-40B4-BE49-F238E27FC236}">
                <a16:creationId xmlns:a16="http://schemas.microsoft.com/office/drawing/2014/main" id="{4B48BE5F-1D01-ED54-4EB6-A883C2C0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377" y="5582920"/>
            <a:ext cx="8736843" cy="2487975"/>
          </a:xfrm>
          <a:prstGeom prst="rect">
            <a:avLst/>
          </a:prstGeom>
        </p:spPr>
      </p:pic>
      <p:sp>
        <p:nvSpPr>
          <p:cNvPr id="7" name="Content Placeholder 3">
            <a:extLst>
              <a:ext uri="{FF2B5EF4-FFF2-40B4-BE49-F238E27FC236}">
                <a16:creationId xmlns:a16="http://schemas.microsoft.com/office/drawing/2014/main" id="{8655327E-BE35-A1AB-BE39-36FF50FD9932}"/>
              </a:ext>
            </a:extLst>
          </p:cNvPr>
          <p:cNvSpPr txBox="1">
            <a:spLocks/>
          </p:cNvSpPr>
          <p:nvPr/>
        </p:nvSpPr>
        <p:spPr>
          <a:xfrm>
            <a:off x="2167377" y="8473069"/>
            <a:ext cx="20049246" cy="56464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14350" indent="-514350">
              <a:buFont typeface="+mj-lt"/>
              <a:buAutoNum type="arabicPeriod" startAt="2"/>
            </a:pPr>
            <a:r>
              <a:rPr lang="en-ID" sz="3200" b="1" dirty="0"/>
              <a:t>Write Request</a:t>
            </a:r>
          </a:p>
          <a:p>
            <a:pPr marL="0" indent="0">
              <a:buFontTx/>
              <a:buNone/>
            </a:pPr>
            <a:r>
              <a:rPr lang="en-ID" sz="3200" dirty="0">
                <a:sym typeface="Wingdings" pitchFamily="2" charset="2"/>
              </a:rPr>
              <a:t> </a:t>
            </a:r>
            <a:r>
              <a:rPr lang="en-ID" sz="3200" dirty="0"/>
              <a:t>Write Request is also known as Type 2. Write Request is being used by the client for writing a file into the server. Below is the format of the Write Request.</a:t>
            </a:r>
          </a:p>
        </p:txBody>
      </p:sp>
      <p:pic>
        <p:nvPicPr>
          <p:cNvPr id="9" name="Picture 8" descr="A screenshot of a computer&#10;&#10;Description automatically generated">
            <a:extLst>
              <a:ext uri="{FF2B5EF4-FFF2-40B4-BE49-F238E27FC236}">
                <a16:creationId xmlns:a16="http://schemas.microsoft.com/office/drawing/2014/main" id="{600E2FBD-5FC6-B815-732A-832280EEE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377" y="10856876"/>
            <a:ext cx="8736843" cy="2494133"/>
          </a:xfrm>
          <a:prstGeom prst="rect">
            <a:avLst/>
          </a:prstGeom>
        </p:spPr>
      </p:pic>
    </p:spTree>
    <p:extLst>
      <p:ext uri="{BB962C8B-B14F-4D97-AF65-F5344CB8AC3E}">
        <p14:creationId xmlns:p14="http://schemas.microsoft.com/office/powerpoint/2010/main" val="8047076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21E9-DC4B-C6A7-D58F-BF03E197D2C5}"/>
              </a:ext>
            </a:extLst>
          </p:cNvPr>
          <p:cNvSpPr>
            <a:spLocks noGrp="1"/>
          </p:cNvSpPr>
          <p:nvPr>
            <p:ph type="title"/>
          </p:nvPr>
        </p:nvSpPr>
        <p:spPr/>
        <p:txBody>
          <a:bodyPr>
            <a:normAutofit fontScale="90000"/>
          </a:bodyPr>
          <a:lstStyle/>
          <a:p>
            <a:r>
              <a:rPr lang="en-US" dirty="0"/>
              <a:t>TFTP Types</a:t>
            </a:r>
          </a:p>
        </p:txBody>
      </p:sp>
      <p:sp>
        <p:nvSpPr>
          <p:cNvPr id="3" name="Text Placeholder 2">
            <a:extLst>
              <a:ext uri="{FF2B5EF4-FFF2-40B4-BE49-F238E27FC236}">
                <a16:creationId xmlns:a16="http://schemas.microsoft.com/office/drawing/2014/main" id="{7227F804-3773-1A79-695A-AF72B6344443}"/>
              </a:ext>
            </a:extLst>
          </p:cNvPr>
          <p:cNvSpPr>
            <a:spLocks noGrp="1"/>
          </p:cNvSpPr>
          <p:nvPr>
            <p:ph type="body" sz="quarter" idx="10"/>
          </p:nvPr>
        </p:nvSpPr>
        <p:spPr/>
        <p:txBody>
          <a:bodyPr/>
          <a:lstStyle/>
          <a:p>
            <a:r>
              <a:rPr lang="en-US" dirty="0"/>
              <a:t>4 types of </a:t>
            </a:r>
            <a:r>
              <a:rPr lang="en-US" dirty="0" err="1"/>
              <a:t>tftp</a:t>
            </a:r>
            <a:endParaRPr lang="en-US" dirty="0"/>
          </a:p>
        </p:txBody>
      </p:sp>
      <p:sp>
        <p:nvSpPr>
          <p:cNvPr id="4" name="Content Placeholder 3">
            <a:extLst>
              <a:ext uri="{FF2B5EF4-FFF2-40B4-BE49-F238E27FC236}">
                <a16:creationId xmlns:a16="http://schemas.microsoft.com/office/drawing/2014/main" id="{CE96948B-BFB7-8E9C-DB94-4016D5ABAA23}"/>
              </a:ext>
            </a:extLst>
          </p:cNvPr>
          <p:cNvSpPr>
            <a:spLocks noGrp="1"/>
          </p:cNvSpPr>
          <p:nvPr>
            <p:ph sz="quarter" idx="11"/>
          </p:nvPr>
        </p:nvSpPr>
        <p:spPr>
          <a:xfrm>
            <a:off x="2167377" y="3223274"/>
            <a:ext cx="20049246" cy="5646406"/>
          </a:xfrm>
        </p:spPr>
        <p:txBody>
          <a:bodyPr>
            <a:normAutofit/>
          </a:bodyPr>
          <a:lstStyle/>
          <a:p>
            <a:pPr marL="514350" indent="-514350">
              <a:buFont typeface="+mj-lt"/>
              <a:buAutoNum type="arabicPeriod" startAt="3"/>
            </a:pPr>
            <a:r>
              <a:rPr lang="en-US" sz="3200" b="1" dirty="0"/>
              <a:t>Data</a:t>
            </a:r>
          </a:p>
          <a:p>
            <a:pPr marL="0" indent="0">
              <a:buNone/>
            </a:pPr>
            <a:r>
              <a:rPr lang="en-US" sz="3200" dirty="0">
                <a:sym typeface="Wingdings" pitchFamily="2" charset="2"/>
              </a:rPr>
              <a:t> </a:t>
            </a:r>
            <a:r>
              <a:rPr lang="en-US" sz="3200" dirty="0"/>
              <a:t>Data is also known as Type 3. Data consists of a portion of a file that is being copied. The data block is of fixed size that is 512 octets. Below is the format of the Data.</a:t>
            </a:r>
          </a:p>
        </p:txBody>
      </p:sp>
      <p:sp>
        <p:nvSpPr>
          <p:cNvPr id="7" name="Content Placeholder 3">
            <a:extLst>
              <a:ext uri="{FF2B5EF4-FFF2-40B4-BE49-F238E27FC236}">
                <a16:creationId xmlns:a16="http://schemas.microsoft.com/office/drawing/2014/main" id="{8655327E-BE35-A1AB-BE39-36FF50FD9932}"/>
              </a:ext>
            </a:extLst>
          </p:cNvPr>
          <p:cNvSpPr txBox="1">
            <a:spLocks/>
          </p:cNvSpPr>
          <p:nvPr/>
        </p:nvSpPr>
        <p:spPr>
          <a:xfrm>
            <a:off x="2167377" y="8473069"/>
            <a:ext cx="20049246" cy="56464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14350" indent="-514350">
              <a:buFont typeface="+mj-lt"/>
              <a:buAutoNum type="arabicPeriod" startAt="4"/>
            </a:pPr>
            <a:r>
              <a:rPr lang="en-ID" sz="3200" b="1" dirty="0"/>
              <a:t>Acknowledgement</a:t>
            </a:r>
          </a:p>
          <a:p>
            <a:pPr marL="0" indent="0">
              <a:buFontTx/>
              <a:buNone/>
            </a:pPr>
            <a:r>
              <a:rPr lang="en-ID" sz="3200" dirty="0">
                <a:sym typeface="Wingdings" pitchFamily="2" charset="2"/>
              </a:rPr>
              <a:t> </a:t>
            </a:r>
            <a:r>
              <a:rPr lang="en-ID" sz="3200" dirty="0"/>
              <a:t>Acknowledgment is also known as Type 4. The data present at the last in the message consists of the End of File(EOF) where the size is less than 512 octets. This acknowledgment is used by both client and server for acknowledging the received data.</a:t>
            </a:r>
          </a:p>
        </p:txBody>
      </p:sp>
      <p:pic>
        <p:nvPicPr>
          <p:cNvPr id="8" name="Picture 7" descr="A screenshot of a computer&#10;&#10;Description automatically generated">
            <a:extLst>
              <a:ext uri="{FF2B5EF4-FFF2-40B4-BE49-F238E27FC236}">
                <a16:creationId xmlns:a16="http://schemas.microsoft.com/office/drawing/2014/main" id="{6E9FD610-0B72-ECF4-5420-7653B9AE1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377" y="5529534"/>
            <a:ext cx="7050722" cy="2585766"/>
          </a:xfrm>
          <a:prstGeom prst="rect">
            <a:avLst/>
          </a:prstGeom>
        </p:spPr>
      </p:pic>
      <p:pic>
        <p:nvPicPr>
          <p:cNvPr id="11" name="Picture 10" descr="A white background with black text&#10;&#10;Description automatically generated">
            <a:extLst>
              <a:ext uri="{FF2B5EF4-FFF2-40B4-BE49-F238E27FC236}">
                <a16:creationId xmlns:a16="http://schemas.microsoft.com/office/drawing/2014/main" id="{3F5D2ABB-DF3A-6786-1F8E-90B69F0FC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4431" y="10777763"/>
            <a:ext cx="4703641" cy="2638628"/>
          </a:xfrm>
          <a:prstGeom prst="rect">
            <a:avLst/>
          </a:prstGeom>
        </p:spPr>
      </p:pic>
    </p:spTree>
    <p:extLst>
      <p:ext uri="{BB962C8B-B14F-4D97-AF65-F5344CB8AC3E}">
        <p14:creationId xmlns:p14="http://schemas.microsoft.com/office/powerpoint/2010/main" val="66753517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D2CFD-1CC1-7D81-ED19-09D2E5AF878A}"/>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1EC84E50-5110-61BE-72B7-3C08FCB8D715}"/>
              </a:ext>
            </a:extLst>
          </p:cNvPr>
          <p:cNvSpPr>
            <a:spLocks noGrp="1"/>
          </p:cNvSpPr>
          <p:nvPr>
            <p:ph type="body" sz="quarter" idx="10"/>
          </p:nvPr>
        </p:nvSpPr>
        <p:spPr/>
        <p:txBody>
          <a:bodyPr/>
          <a:lstStyle/>
          <a:p>
            <a:r>
              <a:rPr lang="en-US" dirty="0"/>
              <a:t>working</a:t>
            </a:r>
          </a:p>
        </p:txBody>
      </p:sp>
      <p:sp>
        <p:nvSpPr>
          <p:cNvPr id="4" name="Content Placeholder 3">
            <a:extLst>
              <a:ext uri="{FF2B5EF4-FFF2-40B4-BE49-F238E27FC236}">
                <a16:creationId xmlns:a16="http://schemas.microsoft.com/office/drawing/2014/main" id="{0002CC81-6D59-E720-B046-7CE6E0688B7C}"/>
              </a:ext>
            </a:extLst>
          </p:cNvPr>
          <p:cNvSpPr>
            <a:spLocks noGrp="1"/>
          </p:cNvSpPr>
          <p:nvPr>
            <p:ph sz="quarter" idx="11"/>
          </p:nvPr>
        </p:nvSpPr>
        <p:spPr>
          <a:xfrm>
            <a:off x="2167376" y="3050100"/>
            <a:ext cx="20441163" cy="10825919"/>
          </a:xfrm>
        </p:spPr>
        <p:txBody>
          <a:bodyPr>
            <a:noAutofit/>
          </a:bodyPr>
          <a:lstStyle/>
          <a:p>
            <a:r>
              <a:rPr lang="en-US" sz="3200" dirty="0"/>
              <a:t>TFTP makes use of port number 69 as it uses User Datagram Protocol (UDP).</a:t>
            </a:r>
          </a:p>
          <a:p>
            <a:r>
              <a:rPr lang="en-US" sz="3200" dirty="0"/>
              <a:t>When the connection is established successfully between client and server, the client makes a Read Request (RRQ) or</a:t>
            </a:r>
          </a:p>
          <a:p>
            <a:r>
              <a:rPr lang="en-US" sz="3200" dirty="0"/>
              <a:t>Write Request( WRQ). If a client wants to only read the file it requests RRQ and if the client wants to write some data into a server then it requests for WRQ.</a:t>
            </a:r>
          </a:p>
          <a:p>
            <a:r>
              <a:rPr lang="en-US" sz="3200" dirty="0"/>
              <a:t>Once the connection is established and a request is made communication of files takes place in the form of small packets. These packets are 512 bytes each.</a:t>
            </a:r>
          </a:p>
          <a:p>
            <a:r>
              <a:rPr lang="en-US" sz="3200" dirty="0"/>
              <a:t>The server then communicates the packet back to the client and waits until it receives an acknowledgment from the client that the packet has been received.</a:t>
            </a:r>
          </a:p>
          <a:p>
            <a:r>
              <a:rPr lang="en-US" sz="3200" dirty="0"/>
              <a:t>When the acknowledgment is received from the client side, the server again sends the next packet which is 512 bytes each.</a:t>
            </a:r>
          </a:p>
          <a:p>
            <a:r>
              <a:rPr lang="en-US" sz="3200" dirty="0"/>
              <a:t>The same steps as mentioned above continue until the last packet is sent by the server to the client.</a:t>
            </a:r>
          </a:p>
        </p:txBody>
      </p:sp>
    </p:spTree>
    <p:extLst>
      <p:ext uri="{BB962C8B-B14F-4D97-AF65-F5344CB8AC3E}">
        <p14:creationId xmlns:p14="http://schemas.microsoft.com/office/powerpoint/2010/main" val="19622775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FDFDC-6A92-EC81-3B9D-715B66455E8E}"/>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24430DC1-B9DC-F805-DBF9-1680A385DF68}"/>
              </a:ext>
            </a:extLst>
          </p:cNvPr>
          <p:cNvSpPr>
            <a:spLocks noGrp="1"/>
          </p:cNvSpPr>
          <p:nvPr>
            <p:ph type="body" sz="quarter" idx="10"/>
          </p:nvPr>
        </p:nvSpPr>
        <p:spPr/>
        <p:txBody>
          <a:bodyPr/>
          <a:lstStyle/>
          <a:p>
            <a:r>
              <a:rPr lang="en-US" dirty="0"/>
              <a:t>Advantages vs disadvantages</a:t>
            </a:r>
          </a:p>
        </p:txBody>
      </p:sp>
      <p:sp>
        <p:nvSpPr>
          <p:cNvPr id="4" name="Content Placeholder 3">
            <a:extLst>
              <a:ext uri="{FF2B5EF4-FFF2-40B4-BE49-F238E27FC236}">
                <a16:creationId xmlns:a16="http://schemas.microsoft.com/office/drawing/2014/main" id="{9A478FEE-2163-683A-9DDE-2695F95D1954}"/>
              </a:ext>
            </a:extLst>
          </p:cNvPr>
          <p:cNvSpPr>
            <a:spLocks noGrp="1"/>
          </p:cNvSpPr>
          <p:nvPr>
            <p:ph sz="quarter" idx="11"/>
          </p:nvPr>
        </p:nvSpPr>
        <p:spPr>
          <a:xfrm>
            <a:off x="2167377" y="3260662"/>
            <a:ext cx="9768875" cy="9845737"/>
          </a:xfrm>
        </p:spPr>
        <p:txBody>
          <a:bodyPr>
            <a:normAutofit/>
          </a:bodyPr>
          <a:lstStyle/>
          <a:p>
            <a:pPr marL="0" indent="0" algn="just">
              <a:buNone/>
            </a:pPr>
            <a:r>
              <a:rPr lang="en-US" sz="3200" dirty="0"/>
              <a:t>Advantages:</a:t>
            </a:r>
          </a:p>
          <a:p>
            <a:pPr algn="just">
              <a:buFont typeface="Wingdings" pitchFamily="2" charset="2"/>
              <a:buChar char="ü"/>
            </a:pPr>
            <a:r>
              <a:rPr lang="en-US" sz="3200" dirty="0"/>
              <a:t>TFTP Protocol makes use of User Datagram Protocol (UDP).</a:t>
            </a:r>
          </a:p>
          <a:p>
            <a:pPr algn="just">
              <a:buFont typeface="Wingdings" pitchFamily="2" charset="2"/>
              <a:buChar char="ü"/>
            </a:pPr>
            <a:r>
              <a:rPr lang="en-US" sz="3200" dirty="0"/>
              <a:t>TFTP requires less amount of memory.</a:t>
            </a:r>
          </a:p>
          <a:p>
            <a:pPr algn="just">
              <a:buFont typeface="Wingdings" pitchFamily="2" charset="2"/>
              <a:buChar char="ü"/>
            </a:pPr>
            <a:r>
              <a:rPr lang="en-US" sz="3200" dirty="0"/>
              <a:t>TFTP is simple to implement.</a:t>
            </a:r>
          </a:p>
          <a:p>
            <a:pPr algn="just">
              <a:buFont typeface="Wingdings" pitchFamily="2" charset="2"/>
              <a:buChar char="ü"/>
            </a:pPr>
            <a:r>
              <a:rPr lang="en-US" sz="3200" dirty="0"/>
              <a:t>TFTP is supported by many network devices such as routers, firewalls, and switches.</a:t>
            </a:r>
          </a:p>
          <a:p>
            <a:pPr algn="just">
              <a:buFont typeface="Wingdings" pitchFamily="2" charset="2"/>
              <a:buChar char="ü"/>
            </a:pPr>
            <a:r>
              <a:rPr lang="en-US" sz="3200" dirty="0"/>
              <a:t>TFTP has low overhead as compared to other protocols and therefore can be used for low-bandwidth networks.</a:t>
            </a:r>
          </a:p>
          <a:p>
            <a:pPr algn="just">
              <a:buFont typeface="Wingdings" pitchFamily="2" charset="2"/>
              <a:buChar char="ü"/>
            </a:pPr>
            <a:r>
              <a:rPr lang="en-US" sz="3200" dirty="0"/>
              <a:t>TFTP can transfer small files such as boot files, and firmware images more </a:t>
            </a:r>
            <a:r>
              <a:rPr lang="en-US" sz="3200" dirty="0" err="1"/>
              <a:t>fastly</a:t>
            </a:r>
            <a:r>
              <a:rPr lang="en-US" sz="3200" dirty="0"/>
              <a:t>.</a:t>
            </a:r>
          </a:p>
        </p:txBody>
      </p:sp>
      <p:sp>
        <p:nvSpPr>
          <p:cNvPr id="5" name="Content Placeholder 3">
            <a:extLst>
              <a:ext uri="{FF2B5EF4-FFF2-40B4-BE49-F238E27FC236}">
                <a16:creationId xmlns:a16="http://schemas.microsoft.com/office/drawing/2014/main" id="{24F4D44F-5BFF-2C99-3B42-2F1E5A8A79D7}"/>
              </a:ext>
            </a:extLst>
          </p:cNvPr>
          <p:cNvSpPr txBox="1">
            <a:spLocks/>
          </p:cNvSpPr>
          <p:nvPr/>
        </p:nvSpPr>
        <p:spPr>
          <a:xfrm>
            <a:off x="13680141" y="3223274"/>
            <a:ext cx="9768875" cy="98457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Disadvantages:</a:t>
            </a:r>
          </a:p>
          <a:p>
            <a:pPr algn="just">
              <a:buFont typeface="Wingdings" pitchFamily="2" charset="2"/>
              <a:buChar char="Ø"/>
            </a:pPr>
            <a:r>
              <a:rPr lang="en-ID" sz="3200" dirty="0"/>
              <a:t>TFTP does not provide any security features</a:t>
            </a:r>
          </a:p>
          <a:p>
            <a:pPr algn="just">
              <a:buFont typeface="Wingdings" pitchFamily="2" charset="2"/>
              <a:buChar char="Ø"/>
            </a:pPr>
            <a:r>
              <a:rPr lang="en-ID" sz="3200" dirty="0"/>
              <a:t>TFTP does not provide any approach for error checking.</a:t>
            </a:r>
          </a:p>
          <a:p>
            <a:pPr algn="just">
              <a:buFont typeface="Wingdings" pitchFamily="2" charset="2"/>
              <a:buChar char="Ø"/>
            </a:pPr>
            <a:r>
              <a:rPr lang="en-ID" sz="3200" dirty="0"/>
              <a:t>TFTP can be used for limited functionalities only.</a:t>
            </a:r>
          </a:p>
          <a:p>
            <a:pPr algn="just">
              <a:buFont typeface="Wingdings" pitchFamily="2" charset="2"/>
              <a:buChar char="Ø"/>
            </a:pPr>
            <a:r>
              <a:rPr lang="en-ID" sz="3200" dirty="0"/>
              <a:t>TFTP servers do not allow the renaming and deletion of files.</a:t>
            </a:r>
          </a:p>
        </p:txBody>
      </p:sp>
    </p:spTree>
    <p:extLst>
      <p:ext uri="{BB962C8B-B14F-4D97-AF65-F5344CB8AC3E}">
        <p14:creationId xmlns:p14="http://schemas.microsoft.com/office/powerpoint/2010/main" val="97500507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TFTP server</a:t>
            </a:r>
          </a:p>
        </p:txBody>
      </p:sp>
    </p:spTree>
    <p:extLst>
      <p:ext uri="{BB962C8B-B14F-4D97-AF65-F5344CB8AC3E}">
        <p14:creationId xmlns:p14="http://schemas.microsoft.com/office/powerpoint/2010/main" val="177080842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B9A2-DEF3-5ECD-99EA-4B402B6170BF}"/>
              </a:ext>
            </a:extLst>
          </p:cNvPr>
          <p:cNvSpPr>
            <a:spLocks noGrp="1"/>
          </p:cNvSpPr>
          <p:nvPr>
            <p:ph type="title"/>
          </p:nvPr>
        </p:nvSpPr>
        <p:spPr/>
        <p:txBody>
          <a:bodyPr>
            <a:normAutofit fontScale="90000"/>
          </a:bodyPr>
          <a:lstStyle/>
          <a:p>
            <a:r>
              <a:rPr lang="en-US" dirty="0" err="1"/>
              <a:t>Tftp</a:t>
            </a:r>
            <a:r>
              <a:rPr lang="en-US" dirty="0"/>
              <a:t> server</a:t>
            </a:r>
          </a:p>
        </p:txBody>
      </p:sp>
      <p:sp>
        <p:nvSpPr>
          <p:cNvPr id="3" name="Text Placeholder 2">
            <a:extLst>
              <a:ext uri="{FF2B5EF4-FFF2-40B4-BE49-F238E27FC236}">
                <a16:creationId xmlns:a16="http://schemas.microsoft.com/office/drawing/2014/main" id="{C11E0F89-B89A-1980-F007-EEA0E199318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66D8775-77F3-BFAD-F4CD-D41F2686413B}"/>
              </a:ext>
            </a:extLst>
          </p:cNvPr>
          <p:cNvSpPr>
            <a:spLocks noGrp="1"/>
          </p:cNvSpPr>
          <p:nvPr>
            <p:ph sz="quarter" idx="11"/>
          </p:nvPr>
        </p:nvSpPr>
        <p:spPr>
          <a:xfrm>
            <a:off x="5078782" y="3771838"/>
            <a:ext cx="13714940" cy="9192594"/>
          </a:xfrm>
        </p:spPr>
        <p:txBody>
          <a:bodyPr/>
          <a:lstStyle/>
          <a:p>
            <a:pPr algn="just"/>
            <a:r>
              <a:rPr lang="en-US" dirty="0"/>
              <a:t>TFTP servers are commonly used in various scenarios, such as network booting, firmware upgrades, and configuration file transfers.</a:t>
            </a:r>
          </a:p>
          <a:p>
            <a:pPr algn="just"/>
            <a:r>
              <a:rPr lang="en-US" dirty="0"/>
              <a:t>Linux is far and away the most common operating system on the type of devices where you’re likely to encounter a TFTP server. But, there is also a rich ecosystem of Windows and macOS devices that run device firmware (think Apple TVs and Microsoft Surface for a few examples).</a:t>
            </a:r>
          </a:p>
          <a:p>
            <a:pPr algn="just"/>
            <a:r>
              <a:rPr lang="en-US" dirty="0"/>
              <a:t>Example of TFTP Server that can be used:</a:t>
            </a:r>
          </a:p>
          <a:p>
            <a:pPr marL="514350" indent="-514350" algn="just">
              <a:buFont typeface="+mj-lt"/>
              <a:buAutoNum type="arabicPeriod"/>
            </a:pPr>
            <a:r>
              <a:rPr lang="en-US" dirty="0"/>
              <a:t>SolarWinds TFTP Server</a:t>
            </a:r>
          </a:p>
          <a:p>
            <a:pPr marL="514350" indent="-514350" algn="just">
              <a:buFont typeface="+mj-lt"/>
              <a:buAutoNum type="arabicPeriod"/>
            </a:pPr>
            <a:r>
              <a:rPr lang="en-US" dirty="0"/>
              <a:t>Windows TFTP Utility</a:t>
            </a:r>
          </a:p>
          <a:p>
            <a:pPr marL="514350" indent="-514350" algn="just">
              <a:buFont typeface="+mj-lt"/>
              <a:buAutoNum type="arabicPeriod"/>
            </a:pPr>
            <a:r>
              <a:rPr lang="en-US" dirty="0"/>
              <a:t>TFTPD64</a:t>
            </a:r>
          </a:p>
          <a:p>
            <a:pPr marL="514350" indent="-514350" algn="just">
              <a:buFont typeface="+mj-lt"/>
              <a:buAutoNum type="arabicPeriod"/>
            </a:pPr>
            <a:r>
              <a:rPr lang="en-US" dirty="0" err="1"/>
              <a:t>haneWIN</a:t>
            </a:r>
            <a:r>
              <a:rPr lang="en-US" dirty="0"/>
              <a:t> TFTP server</a:t>
            </a:r>
          </a:p>
          <a:p>
            <a:pPr marL="514350" indent="-514350" algn="just">
              <a:buFont typeface="+mj-lt"/>
              <a:buAutoNum type="arabicPeriod"/>
            </a:pPr>
            <a:r>
              <a:rPr lang="en-US" dirty="0"/>
              <a:t>Pinkie</a:t>
            </a:r>
          </a:p>
          <a:p>
            <a:pPr marL="514350" indent="-514350" algn="just">
              <a:buFont typeface="+mj-lt"/>
              <a:buAutoNum type="arabicPeriod"/>
            </a:pPr>
            <a:endParaRPr lang="en-US" dirty="0"/>
          </a:p>
          <a:p>
            <a:pPr marL="0" indent="0" algn="just">
              <a:buNone/>
            </a:pPr>
            <a:endParaRPr lang="en-US" dirty="0"/>
          </a:p>
        </p:txBody>
      </p:sp>
    </p:spTree>
    <p:extLst>
      <p:ext uri="{BB962C8B-B14F-4D97-AF65-F5344CB8AC3E}">
        <p14:creationId xmlns:p14="http://schemas.microsoft.com/office/powerpoint/2010/main" val="370497510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7323-D3F7-96F0-08FD-722BCC9DAB51}"/>
              </a:ext>
            </a:extLst>
          </p:cNvPr>
          <p:cNvSpPr>
            <a:spLocks noGrp="1"/>
          </p:cNvSpPr>
          <p:nvPr>
            <p:ph type="title"/>
          </p:nvPr>
        </p:nvSpPr>
        <p:spPr/>
        <p:txBody>
          <a:bodyPr>
            <a:normAutofit fontScale="90000"/>
          </a:bodyPr>
          <a:lstStyle/>
          <a:p>
            <a:r>
              <a:rPr lang="en-US" dirty="0"/>
              <a:t>TFTP</a:t>
            </a:r>
          </a:p>
        </p:txBody>
      </p:sp>
      <p:sp>
        <p:nvSpPr>
          <p:cNvPr id="3" name="Text Placeholder 2">
            <a:extLst>
              <a:ext uri="{FF2B5EF4-FFF2-40B4-BE49-F238E27FC236}">
                <a16:creationId xmlns:a16="http://schemas.microsoft.com/office/drawing/2014/main" id="{35461D50-7D5C-BA73-3AA4-97F6E59F0AAD}"/>
              </a:ext>
            </a:extLst>
          </p:cNvPr>
          <p:cNvSpPr>
            <a:spLocks noGrp="1"/>
          </p:cNvSpPr>
          <p:nvPr>
            <p:ph type="body" sz="quarter" idx="10"/>
          </p:nvPr>
        </p:nvSpPr>
        <p:spPr/>
        <p:txBody>
          <a:bodyPr/>
          <a:lstStyle/>
          <a:p>
            <a:r>
              <a:rPr lang="en-US" dirty="0" err="1"/>
              <a:t>Solarwinds</a:t>
            </a:r>
            <a:r>
              <a:rPr lang="en-US" dirty="0"/>
              <a:t> </a:t>
            </a:r>
            <a:r>
              <a:rPr lang="en-US" dirty="0" err="1"/>
              <a:t>tftp</a:t>
            </a:r>
            <a:r>
              <a:rPr lang="en-US" dirty="0"/>
              <a:t> server</a:t>
            </a:r>
          </a:p>
        </p:txBody>
      </p:sp>
      <p:sp>
        <p:nvSpPr>
          <p:cNvPr id="4" name="Content Placeholder 3">
            <a:extLst>
              <a:ext uri="{FF2B5EF4-FFF2-40B4-BE49-F238E27FC236}">
                <a16:creationId xmlns:a16="http://schemas.microsoft.com/office/drawing/2014/main" id="{2C4AE11D-AF10-06CA-AFDE-0FCC9373B4E5}"/>
              </a:ext>
            </a:extLst>
          </p:cNvPr>
          <p:cNvSpPr>
            <a:spLocks noGrp="1"/>
          </p:cNvSpPr>
          <p:nvPr>
            <p:ph sz="quarter" idx="11"/>
          </p:nvPr>
        </p:nvSpPr>
        <p:spPr>
          <a:xfrm>
            <a:off x="2167377" y="3587234"/>
            <a:ext cx="20191880" cy="9366766"/>
          </a:xfrm>
        </p:spPr>
        <p:txBody>
          <a:bodyPr>
            <a:normAutofit fontScale="92500" lnSpcReduction="10000"/>
          </a:bodyPr>
          <a:lstStyle/>
          <a:p>
            <a:pPr algn="just"/>
            <a:r>
              <a:rPr lang="en-US" sz="3200" dirty="0"/>
              <a:t>The TFTP Server software offered by SolarWinds is a 100% free version that runs on Windows only. It is not an expiring trial. It offers basic functionality such as IP-range lockdown and can transfer files up to 4GB in size. It runs as a Windows service which makes it easier to manage with native Windows tools.</a:t>
            </a:r>
          </a:p>
          <a:p>
            <a:pPr algn="just"/>
            <a:r>
              <a:rPr lang="en-US" sz="3200" dirty="0"/>
              <a:t>Key Features:</a:t>
            </a:r>
          </a:p>
          <a:p>
            <a:pPr algn="just">
              <a:buFont typeface="Wingdings" pitchFamily="2" charset="2"/>
              <a:buChar char="Ø"/>
            </a:pPr>
            <a:r>
              <a:rPr lang="en-US" sz="3200" dirty="0"/>
              <a:t>Suitable for transferring device configuration images</a:t>
            </a:r>
          </a:p>
          <a:p>
            <a:pPr algn="just">
              <a:buFont typeface="Wingdings" pitchFamily="2" charset="2"/>
              <a:buChar char="Ø"/>
            </a:pPr>
            <a:r>
              <a:rPr lang="en-US" sz="3200" dirty="0"/>
              <a:t>Files up to 4 GB</a:t>
            </a:r>
          </a:p>
          <a:p>
            <a:pPr algn="just">
              <a:buFont typeface="Wingdings" pitchFamily="2" charset="2"/>
              <a:buChar char="Ø"/>
            </a:pPr>
            <a:r>
              <a:rPr lang="en-US" sz="3200" dirty="0"/>
              <a:t>Concurrent transfers</a:t>
            </a:r>
          </a:p>
          <a:p>
            <a:pPr algn="just">
              <a:buFont typeface="Wingdings" pitchFamily="2" charset="2"/>
              <a:buChar char="Ø"/>
            </a:pPr>
            <a:r>
              <a:rPr lang="en-US" sz="3200" dirty="0"/>
              <a:t>Communicates with several devices simultaneously</a:t>
            </a:r>
          </a:p>
          <a:p>
            <a:pPr algn="just">
              <a:buFont typeface="Wingdings" pitchFamily="2" charset="2"/>
              <a:buChar char="Ø"/>
            </a:pPr>
            <a:r>
              <a:rPr lang="en-US" sz="3200" dirty="0"/>
              <a:t>Free TFTP server for Windows</a:t>
            </a:r>
          </a:p>
          <a:p>
            <a:pPr marL="0" indent="0" algn="just">
              <a:buNone/>
            </a:pPr>
            <a:r>
              <a:rPr lang="en-US" sz="3200" dirty="0">
                <a:sym typeface="Wingdings" pitchFamily="2" charset="2"/>
              </a:rPr>
              <a:t> </a:t>
            </a:r>
            <a:r>
              <a:rPr lang="en-US" sz="3200" dirty="0">
                <a:solidFill>
                  <a:srgbClr val="FFFF00"/>
                </a:solidFill>
                <a:sym typeface="Wingdings" pitchFamily="2" charset="2"/>
              </a:rPr>
              <a:t>SolarWinds TFTP server is a lightweight file transfer utility, which is exactly what a TFTP server should be. This tool is a fuss-free solution and it is free to use. The program runs on Windows and Windows Server and it can be used to manage the movement of files of u to 4 GB in size, which is large for a TFTP system.</a:t>
            </a:r>
            <a:endParaRPr lang="en-US" sz="3200" dirty="0">
              <a:solidFill>
                <a:srgbClr val="FFFF00"/>
              </a:solidFill>
            </a:endParaRPr>
          </a:p>
        </p:txBody>
      </p:sp>
    </p:spTree>
    <p:extLst>
      <p:ext uri="{BB962C8B-B14F-4D97-AF65-F5344CB8AC3E}">
        <p14:creationId xmlns:p14="http://schemas.microsoft.com/office/powerpoint/2010/main" val="378045415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3750-53EA-7D52-806B-3CC2EB236362}"/>
              </a:ext>
            </a:extLst>
          </p:cNvPr>
          <p:cNvSpPr>
            <a:spLocks noGrp="1"/>
          </p:cNvSpPr>
          <p:nvPr>
            <p:ph type="title"/>
          </p:nvPr>
        </p:nvSpPr>
        <p:spPr/>
        <p:txBody>
          <a:bodyPr>
            <a:normAutofit fontScale="90000"/>
          </a:bodyPr>
          <a:lstStyle/>
          <a:p>
            <a:r>
              <a:rPr lang="en-US" dirty="0" err="1"/>
              <a:t>solarwinds</a:t>
            </a:r>
            <a:endParaRPr lang="en-US" dirty="0"/>
          </a:p>
        </p:txBody>
      </p:sp>
      <p:sp>
        <p:nvSpPr>
          <p:cNvPr id="3" name="Text Placeholder 2">
            <a:extLst>
              <a:ext uri="{FF2B5EF4-FFF2-40B4-BE49-F238E27FC236}">
                <a16:creationId xmlns:a16="http://schemas.microsoft.com/office/drawing/2014/main" id="{FF6137A7-4DE8-4BD7-901E-8AD8A752ECCA}"/>
              </a:ext>
            </a:extLst>
          </p:cNvPr>
          <p:cNvSpPr>
            <a:spLocks noGrp="1"/>
          </p:cNvSpPr>
          <p:nvPr>
            <p:ph type="body" sz="quarter" idx="10"/>
          </p:nvPr>
        </p:nvSpPr>
        <p:spPr/>
        <p:txBody>
          <a:bodyPr/>
          <a:lstStyle/>
          <a:p>
            <a:r>
              <a:rPr lang="en-US" dirty="0"/>
              <a:t>Pros &amp; cons</a:t>
            </a:r>
          </a:p>
        </p:txBody>
      </p:sp>
      <p:sp>
        <p:nvSpPr>
          <p:cNvPr id="4" name="Content Placeholder 3">
            <a:extLst>
              <a:ext uri="{FF2B5EF4-FFF2-40B4-BE49-F238E27FC236}">
                <a16:creationId xmlns:a16="http://schemas.microsoft.com/office/drawing/2014/main" id="{4B19AEFF-8558-E70F-CBFE-579F54EB220A}"/>
              </a:ext>
            </a:extLst>
          </p:cNvPr>
          <p:cNvSpPr>
            <a:spLocks noGrp="1"/>
          </p:cNvSpPr>
          <p:nvPr>
            <p:ph sz="quarter" idx="11"/>
          </p:nvPr>
        </p:nvSpPr>
        <p:spPr>
          <a:xfrm>
            <a:off x="2167377" y="3505632"/>
            <a:ext cx="10024623" cy="8339204"/>
          </a:xfrm>
        </p:spPr>
        <p:txBody>
          <a:bodyPr>
            <a:noAutofit/>
          </a:bodyPr>
          <a:lstStyle/>
          <a:p>
            <a:pPr marL="0" indent="0" algn="just">
              <a:buNone/>
            </a:pPr>
            <a:r>
              <a:rPr lang="en-US" sz="3200" dirty="0"/>
              <a:t>Pros:</a:t>
            </a:r>
          </a:p>
          <a:p>
            <a:pPr algn="just">
              <a:buFont typeface="Wingdings" pitchFamily="2" charset="2"/>
              <a:buChar char="ü"/>
            </a:pPr>
            <a:r>
              <a:rPr lang="en-US" sz="3200" dirty="0"/>
              <a:t>Completely free</a:t>
            </a:r>
          </a:p>
          <a:p>
            <a:pPr algn="just">
              <a:buFont typeface="Wingdings" pitchFamily="2" charset="2"/>
              <a:buChar char="ü"/>
            </a:pPr>
            <a:r>
              <a:rPr lang="en-US" sz="3200" dirty="0"/>
              <a:t>Simple interface, no clutter, fluff, or advertisements</a:t>
            </a:r>
          </a:p>
          <a:p>
            <a:pPr algn="just">
              <a:buFont typeface="Wingdings" pitchFamily="2" charset="2"/>
              <a:buChar char="ü"/>
            </a:pPr>
            <a:r>
              <a:rPr lang="en-US" sz="3200" dirty="0"/>
              <a:t>Available as a Windows service, allowing tasks to be scheduled</a:t>
            </a:r>
          </a:p>
          <a:p>
            <a:pPr algn="just">
              <a:buFont typeface="Wingdings" pitchFamily="2" charset="2"/>
              <a:buChar char="ü"/>
            </a:pPr>
            <a:r>
              <a:rPr lang="en-US" sz="3200" dirty="0"/>
              <a:t>Can authorize single IP addresses, or an entire range</a:t>
            </a:r>
          </a:p>
          <a:p>
            <a:pPr algn="just">
              <a:buFont typeface="Wingdings" pitchFamily="2" charset="2"/>
              <a:buChar char="ü"/>
            </a:pPr>
            <a:r>
              <a:rPr lang="en-US" sz="3200" dirty="0"/>
              <a:t>Lightweight install – uses minimal resources</a:t>
            </a:r>
          </a:p>
        </p:txBody>
      </p:sp>
      <p:sp>
        <p:nvSpPr>
          <p:cNvPr id="7" name="Content Placeholder 3">
            <a:extLst>
              <a:ext uri="{FF2B5EF4-FFF2-40B4-BE49-F238E27FC236}">
                <a16:creationId xmlns:a16="http://schemas.microsoft.com/office/drawing/2014/main" id="{97C21E25-CA5A-BA12-B04B-70E9E9E8689F}"/>
              </a:ext>
            </a:extLst>
          </p:cNvPr>
          <p:cNvSpPr txBox="1">
            <a:spLocks/>
          </p:cNvSpPr>
          <p:nvPr/>
        </p:nvSpPr>
        <p:spPr>
          <a:xfrm>
            <a:off x="12192000" y="3549607"/>
            <a:ext cx="10024623" cy="83392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Cons: </a:t>
            </a:r>
          </a:p>
          <a:p>
            <a:pPr algn="just">
              <a:buFont typeface="Wingdings" pitchFamily="2" charset="2"/>
              <a:buChar char="v"/>
            </a:pPr>
            <a:r>
              <a:rPr lang="en-ID" sz="3200" dirty="0"/>
              <a:t>Like all TFTP servers, you will still need technical experience to set the service up properly</a:t>
            </a:r>
          </a:p>
        </p:txBody>
      </p:sp>
      <p:pic>
        <p:nvPicPr>
          <p:cNvPr id="9" name="Picture 8" descr="A screenshot of a computer&#10;&#10;Description automatically generated">
            <a:extLst>
              <a:ext uri="{FF2B5EF4-FFF2-40B4-BE49-F238E27FC236}">
                <a16:creationId xmlns:a16="http://schemas.microsoft.com/office/drawing/2014/main" id="{2085EFEA-7319-4A6B-D1FF-D27AD8717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28196" y="6101094"/>
            <a:ext cx="7752230" cy="6785285"/>
          </a:xfrm>
          <a:prstGeom prst="rect">
            <a:avLst/>
          </a:prstGeom>
        </p:spPr>
      </p:pic>
    </p:spTree>
    <p:extLst>
      <p:ext uri="{BB962C8B-B14F-4D97-AF65-F5344CB8AC3E}">
        <p14:creationId xmlns:p14="http://schemas.microsoft.com/office/powerpoint/2010/main" val="20852364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21D69-D9A2-5BE5-A998-235095826253}"/>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321666C4-2C34-AC20-DF40-8B6B467BF674}"/>
              </a:ext>
            </a:extLst>
          </p:cNvPr>
          <p:cNvSpPr>
            <a:spLocks noGrp="1"/>
          </p:cNvSpPr>
          <p:nvPr>
            <p:ph type="body" sz="quarter" idx="10"/>
          </p:nvPr>
        </p:nvSpPr>
        <p:spPr/>
        <p:txBody>
          <a:bodyPr/>
          <a:lstStyle/>
          <a:p>
            <a:r>
              <a:rPr lang="en-US" dirty="0"/>
              <a:t>Windows </a:t>
            </a:r>
            <a:r>
              <a:rPr lang="en-US" dirty="0" err="1"/>
              <a:t>tftp</a:t>
            </a:r>
            <a:r>
              <a:rPr lang="en-US" dirty="0"/>
              <a:t> utility</a:t>
            </a:r>
          </a:p>
        </p:txBody>
      </p:sp>
      <p:sp>
        <p:nvSpPr>
          <p:cNvPr id="4" name="Content Placeholder 3">
            <a:extLst>
              <a:ext uri="{FF2B5EF4-FFF2-40B4-BE49-F238E27FC236}">
                <a16:creationId xmlns:a16="http://schemas.microsoft.com/office/drawing/2014/main" id="{3D9339F6-3B74-0627-7814-50AEF80C28CB}"/>
              </a:ext>
            </a:extLst>
          </p:cNvPr>
          <p:cNvSpPr>
            <a:spLocks noGrp="1"/>
          </p:cNvSpPr>
          <p:nvPr>
            <p:ph sz="quarter" idx="11"/>
          </p:nvPr>
        </p:nvSpPr>
        <p:spPr>
          <a:xfrm>
            <a:off x="2167376" y="3260663"/>
            <a:ext cx="20387823" cy="9410308"/>
          </a:xfrm>
        </p:spPr>
        <p:txBody>
          <a:bodyPr>
            <a:normAutofit fontScale="92500" lnSpcReduction="10000"/>
          </a:bodyPr>
          <a:lstStyle/>
          <a:p>
            <a:pPr algn="just"/>
            <a:r>
              <a:rPr lang="en-US" sz="3200" dirty="0"/>
              <a:t>The Windows TFTP Utility is a bare-bones TFTP server for Windows systems. It is extremely small and has almost no configuration options. On the one hand, that allows the utility to be very small and fast. On the other hand, it means that you’re unable to specify some basic configuration such as which network interface to bind.</a:t>
            </a:r>
          </a:p>
          <a:p>
            <a:pPr algn="just"/>
            <a:r>
              <a:rPr lang="en-US" sz="3200" dirty="0"/>
              <a:t>Key Features:</a:t>
            </a:r>
          </a:p>
          <a:p>
            <a:pPr algn="just">
              <a:buFont typeface="Wingdings" pitchFamily="2" charset="2"/>
              <a:buChar char="Ø"/>
            </a:pPr>
            <a:r>
              <a:rPr lang="en-US" sz="3200" dirty="0"/>
              <a:t>Basic TFTP</a:t>
            </a:r>
          </a:p>
          <a:p>
            <a:pPr algn="just">
              <a:buFont typeface="Wingdings" pitchFamily="2" charset="2"/>
              <a:buChar char="Ø"/>
            </a:pPr>
            <a:r>
              <a:rPr lang="en-US" sz="3200" dirty="0"/>
              <a:t>Windows only</a:t>
            </a:r>
          </a:p>
          <a:p>
            <a:pPr algn="just">
              <a:buFont typeface="Wingdings" pitchFamily="2" charset="2"/>
              <a:buChar char="Ø"/>
            </a:pPr>
            <a:r>
              <a:rPr lang="en-US" sz="3200" dirty="0"/>
              <a:t>Lightweight</a:t>
            </a:r>
          </a:p>
          <a:p>
            <a:pPr algn="just">
              <a:buFont typeface="Wingdings" pitchFamily="2" charset="2"/>
              <a:buChar char="Ø"/>
            </a:pPr>
            <a:r>
              <a:rPr lang="en-US" sz="3200" dirty="0"/>
              <a:t>Small footprint</a:t>
            </a:r>
          </a:p>
          <a:p>
            <a:pPr algn="just">
              <a:buFont typeface="Wingdings" pitchFamily="2" charset="2"/>
              <a:buChar char="Ø"/>
            </a:pPr>
            <a:r>
              <a:rPr lang="en-US" sz="3200" dirty="0"/>
              <a:t>Free to use</a:t>
            </a:r>
          </a:p>
          <a:p>
            <a:pPr marL="0" indent="0" algn="just">
              <a:buNone/>
            </a:pPr>
            <a:r>
              <a:rPr lang="en-US" sz="3200" dirty="0">
                <a:sym typeface="Wingdings" pitchFamily="2" charset="2"/>
              </a:rPr>
              <a:t> </a:t>
            </a:r>
            <a:r>
              <a:rPr lang="en-US" sz="3200" dirty="0">
                <a:solidFill>
                  <a:srgbClr val="FFFF00"/>
                </a:solidFill>
                <a:sym typeface="Wingdings" pitchFamily="2" charset="2"/>
              </a:rPr>
              <a:t>Windows TFTP Utility is a free utility for Windows, but its name is a little confusing. To be clear, this isn’t a Microsoft product and it isn’t part of Windows. Rather, it is a third-party enthusiast-developed tool that can be installed on Windows. The big advantage of this tool is that it is very basic, which is what most people want from a TFTP server.</a:t>
            </a:r>
            <a:endParaRPr lang="en-US" sz="3200" dirty="0">
              <a:solidFill>
                <a:srgbClr val="FFFF00"/>
              </a:solidFill>
            </a:endParaRPr>
          </a:p>
        </p:txBody>
      </p:sp>
    </p:spTree>
    <p:extLst>
      <p:ext uri="{BB962C8B-B14F-4D97-AF65-F5344CB8AC3E}">
        <p14:creationId xmlns:p14="http://schemas.microsoft.com/office/powerpoint/2010/main" val="214858744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3750-53EA-7D52-806B-3CC2EB236362}"/>
              </a:ext>
            </a:extLst>
          </p:cNvPr>
          <p:cNvSpPr>
            <a:spLocks noGrp="1"/>
          </p:cNvSpPr>
          <p:nvPr>
            <p:ph type="title"/>
          </p:nvPr>
        </p:nvSpPr>
        <p:spPr/>
        <p:txBody>
          <a:bodyPr>
            <a:normAutofit fontScale="90000"/>
          </a:bodyPr>
          <a:lstStyle/>
          <a:p>
            <a:r>
              <a:rPr lang="en-US" dirty="0" err="1"/>
              <a:t>Tftp</a:t>
            </a:r>
            <a:r>
              <a:rPr lang="en-US" dirty="0"/>
              <a:t> utility</a:t>
            </a:r>
          </a:p>
        </p:txBody>
      </p:sp>
      <p:sp>
        <p:nvSpPr>
          <p:cNvPr id="3" name="Text Placeholder 2">
            <a:extLst>
              <a:ext uri="{FF2B5EF4-FFF2-40B4-BE49-F238E27FC236}">
                <a16:creationId xmlns:a16="http://schemas.microsoft.com/office/drawing/2014/main" id="{FF6137A7-4DE8-4BD7-901E-8AD8A752ECCA}"/>
              </a:ext>
            </a:extLst>
          </p:cNvPr>
          <p:cNvSpPr>
            <a:spLocks noGrp="1"/>
          </p:cNvSpPr>
          <p:nvPr>
            <p:ph type="body" sz="quarter" idx="10"/>
          </p:nvPr>
        </p:nvSpPr>
        <p:spPr/>
        <p:txBody>
          <a:bodyPr/>
          <a:lstStyle/>
          <a:p>
            <a:r>
              <a:rPr lang="en-US" dirty="0"/>
              <a:t>Pros &amp; cons</a:t>
            </a:r>
          </a:p>
        </p:txBody>
      </p:sp>
      <p:sp>
        <p:nvSpPr>
          <p:cNvPr id="4" name="Content Placeholder 3">
            <a:extLst>
              <a:ext uri="{FF2B5EF4-FFF2-40B4-BE49-F238E27FC236}">
                <a16:creationId xmlns:a16="http://schemas.microsoft.com/office/drawing/2014/main" id="{4B19AEFF-8558-E70F-CBFE-579F54EB220A}"/>
              </a:ext>
            </a:extLst>
          </p:cNvPr>
          <p:cNvSpPr>
            <a:spLocks noGrp="1"/>
          </p:cNvSpPr>
          <p:nvPr>
            <p:ph sz="quarter" idx="11"/>
          </p:nvPr>
        </p:nvSpPr>
        <p:spPr>
          <a:xfrm>
            <a:off x="2167377" y="3505632"/>
            <a:ext cx="10024623" cy="8339204"/>
          </a:xfrm>
        </p:spPr>
        <p:txBody>
          <a:bodyPr>
            <a:noAutofit/>
          </a:bodyPr>
          <a:lstStyle/>
          <a:p>
            <a:pPr marL="0" indent="0" algn="just">
              <a:buNone/>
            </a:pPr>
            <a:r>
              <a:rPr lang="en-US" sz="3200" dirty="0"/>
              <a:t>Pros:</a:t>
            </a:r>
          </a:p>
          <a:p>
            <a:pPr algn="just">
              <a:buFont typeface="Wingdings" pitchFamily="2" charset="2"/>
              <a:buChar char="ü"/>
            </a:pPr>
            <a:r>
              <a:rPr lang="en-US" sz="3200" dirty="0"/>
              <a:t>Free to use</a:t>
            </a:r>
          </a:p>
          <a:p>
            <a:pPr algn="just">
              <a:buFont typeface="Wingdings" pitchFamily="2" charset="2"/>
              <a:buChar char="ü"/>
            </a:pPr>
            <a:r>
              <a:rPr lang="en-US" sz="3200" dirty="0"/>
              <a:t>Uses very few resources</a:t>
            </a:r>
          </a:p>
          <a:p>
            <a:pPr algn="just">
              <a:buFont typeface="Wingdings" pitchFamily="2" charset="2"/>
              <a:buChar char="ü"/>
            </a:pPr>
            <a:r>
              <a:rPr lang="en-US" sz="3200" dirty="0"/>
              <a:t>Better for more infrequent use</a:t>
            </a:r>
          </a:p>
        </p:txBody>
      </p:sp>
      <p:sp>
        <p:nvSpPr>
          <p:cNvPr id="7" name="Content Placeholder 3">
            <a:extLst>
              <a:ext uri="{FF2B5EF4-FFF2-40B4-BE49-F238E27FC236}">
                <a16:creationId xmlns:a16="http://schemas.microsoft.com/office/drawing/2014/main" id="{97C21E25-CA5A-BA12-B04B-70E9E9E8689F}"/>
              </a:ext>
            </a:extLst>
          </p:cNvPr>
          <p:cNvSpPr txBox="1">
            <a:spLocks/>
          </p:cNvSpPr>
          <p:nvPr/>
        </p:nvSpPr>
        <p:spPr>
          <a:xfrm>
            <a:off x="12192000" y="3549607"/>
            <a:ext cx="10024623" cy="83392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Cons: </a:t>
            </a:r>
          </a:p>
          <a:p>
            <a:pPr algn="just">
              <a:buFont typeface="Wingdings" pitchFamily="2" charset="2"/>
              <a:buChar char="v"/>
            </a:pPr>
            <a:r>
              <a:rPr lang="en-ID" sz="3200" dirty="0"/>
              <a:t>Lacks configuration options, less ideal for more in-depth TFTP services</a:t>
            </a:r>
          </a:p>
          <a:p>
            <a:pPr algn="just">
              <a:buFont typeface="Wingdings" pitchFamily="2" charset="2"/>
              <a:buChar char="v"/>
            </a:pPr>
            <a:r>
              <a:rPr lang="en-ID" sz="3200" dirty="0"/>
              <a:t>Not the best fit for larger companies that are looking to use TFTP on a more long term basis</a:t>
            </a:r>
          </a:p>
        </p:txBody>
      </p:sp>
      <p:pic>
        <p:nvPicPr>
          <p:cNvPr id="6" name="Picture 5" descr="A screenshot of a computer&#10;&#10;Description automatically generated">
            <a:extLst>
              <a:ext uri="{FF2B5EF4-FFF2-40B4-BE49-F238E27FC236}">
                <a16:creationId xmlns:a16="http://schemas.microsoft.com/office/drawing/2014/main" id="{861D653C-9B7C-20D5-0D72-1D25432C4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1342" y="7633059"/>
            <a:ext cx="9541316" cy="5686061"/>
          </a:xfrm>
          <a:prstGeom prst="rect">
            <a:avLst/>
          </a:prstGeom>
        </p:spPr>
      </p:pic>
    </p:spTree>
    <p:extLst>
      <p:ext uri="{BB962C8B-B14F-4D97-AF65-F5344CB8AC3E}">
        <p14:creationId xmlns:p14="http://schemas.microsoft.com/office/powerpoint/2010/main" val="288716664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21D69-D9A2-5BE5-A998-235095826253}"/>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321666C4-2C34-AC20-DF40-8B6B467BF674}"/>
              </a:ext>
            </a:extLst>
          </p:cNvPr>
          <p:cNvSpPr>
            <a:spLocks noGrp="1"/>
          </p:cNvSpPr>
          <p:nvPr>
            <p:ph type="body" sz="quarter" idx="10"/>
          </p:nvPr>
        </p:nvSpPr>
        <p:spPr/>
        <p:txBody>
          <a:bodyPr/>
          <a:lstStyle/>
          <a:p>
            <a:r>
              <a:rPr lang="en-US" dirty="0"/>
              <a:t>TFTPD64</a:t>
            </a:r>
          </a:p>
        </p:txBody>
      </p:sp>
      <p:sp>
        <p:nvSpPr>
          <p:cNvPr id="4" name="Content Placeholder 3">
            <a:extLst>
              <a:ext uri="{FF2B5EF4-FFF2-40B4-BE49-F238E27FC236}">
                <a16:creationId xmlns:a16="http://schemas.microsoft.com/office/drawing/2014/main" id="{3D9339F6-3B74-0627-7814-50AEF80C28CB}"/>
              </a:ext>
            </a:extLst>
          </p:cNvPr>
          <p:cNvSpPr>
            <a:spLocks noGrp="1"/>
          </p:cNvSpPr>
          <p:nvPr>
            <p:ph sz="quarter" idx="11"/>
          </p:nvPr>
        </p:nvSpPr>
        <p:spPr>
          <a:xfrm>
            <a:off x="2167376" y="3260663"/>
            <a:ext cx="20387823" cy="9410308"/>
          </a:xfrm>
        </p:spPr>
        <p:txBody>
          <a:bodyPr>
            <a:normAutofit/>
          </a:bodyPr>
          <a:lstStyle/>
          <a:p>
            <a:pPr algn="just"/>
            <a:r>
              <a:rPr lang="en-US" sz="3200" dirty="0"/>
              <a:t>Tftpd64 is a free TFTP server for Windows. The utility also includes a TFTP client, a DNS server, a DHCP server, and a Syslog server. There is also a SNTP receiver in the package to coordinate with the Simple Network Time </a:t>
            </a:r>
            <a:r>
              <a:rPr lang="en-US" sz="3200" dirty="0" err="1"/>
              <a:t>Protocol.Key</a:t>
            </a:r>
            <a:r>
              <a:rPr lang="en-US" sz="3200" dirty="0"/>
              <a:t> Features:</a:t>
            </a:r>
          </a:p>
          <a:p>
            <a:pPr algn="just">
              <a:buFont typeface="Wingdings" pitchFamily="2" charset="2"/>
              <a:buChar char="Ø"/>
            </a:pPr>
            <a:r>
              <a:rPr lang="en-US" sz="3200" dirty="0"/>
              <a:t>Widely used</a:t>
            </a:r>
          </a:p>
          <a:p>
            <a:pPr algn="just">
              <a:buFont typeface="Wingdings" pitchFamily="2" charset="2"/>
              <a:buChar char="Ø"/>
            </a:pPr>
            <a:r>
              <a:rPr lang="en-US" sz="3200" dirty="0"/>
              <a:t>DHCP, DNS, SNTP, and Syslog servers included</a:t>
            </a:r>
          </a:p>
          <a:p>
            <a:pPr algn="just">
              <a:buFont typeface="Wingdings" pitchFamily="2" charset="2"/>
              <a:buChar char="Ø"/>
            </a:pPr>
            <a:r>
              <a:rPr lang="en-US" sz="3200" dirty="0"/>
              <a:t>Free to use</a:t>
            </a:r>
          </a:p>
          <a:p>
            <a:pPr marL="0" indent="0" algn="just">
              <a:buNone/>
            </a:pPr>
            <a:r>
              <a:rPr lang="en-US" sz="3200" dirty="0">
                <a:sym typeface="Wingdings" pitchFamily="2" charset="2"/>
              </a:rPr>
              <a:t> </a:t>
            </a:r>
            <a:r>
              <a:rPr lang="en-US" sz="3200" dirty="0">
                <a:solidFill>
                  <a:srgbClr val="FFFF00"/>
                </a:solidFill>
                <a:sym typeface="Wingdings" pitchFamily="2" charset="2"/>
              </a:rPr>
              <a:t>TFTPD64 is a package of utilities that includes a TFTP client and a TFTP server. You also get a DHCP server and log management functions in this handy free tool.</a:t>
            </a:r>
          </a:p>
          <a:p>
            <a:pPr marL="0" indent="0" algn="just">
              <a:buNone/>
            </a:pPr>
            <a:r>
              <a:rPr lang="en-US" sz="3200" dirty="0">
                <a:solidFill>
                  <a:srgbClr val="FFFF00"/>
                </a:solidFill>
                <a:sym typeface="Wingdings" pitchFamily="2" charset="2"/>
              </a:rPr>
              <a:t>It is not only a sleek TFTP server but also bolts on some other features. The list of additional features includes a DHCP server, a DNS server, SNTP (time) server, and a Syslog server, so it will help you manage your IP addresses as well.</a:t>
            </a:r>
            <a:endParaRPr lang="en-US" sz="3200" dirty="0">
              <a:solidFill>
                <a:srgbClr val="FFFF00"/>
              </a:solidFill>
            </a:endParaRPr>
          </a:p>
        </p:txBody>
      </p:sp>
    </p:spTree>
    <p:extLst>
      <p:ext uri="{BB962C8B-B14F-4D97-AF65-F5344CB8AC3E}">
        <p14:creationId xmlns:p14="http://schemas.microsoft.com/office/powerpoint/2010/main" val="128374474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3750-53EA-7D52-806B-3CC2EB236362}"/>
              </a:ext>
            </a:extLst>
          </p:cNvPr>
          <p:cNvSpPr>
            <a:spLocks noGrp="1"/>
          </p:cNvSpPr>
          <p:nvPr>
            <p:ph type="title"/>
          </p:nvPr>
        </p:nvSpPr>
        <p:spPr/>
        <p:txBody>
          <a:bodyPr>
            <a:normAutofit fontScale="90000"/>
          </a:bodyPr>
          <a:lstStyle/>
          <a:p>
            <a:r>
              <a:rPr lang="en-US" dirty="0"/>
              <a:t>TFTPD64</a:t>
            </a:r>
          </a:p>
        </p:txBody>
      </p:sp>
      <p:sp>
        <p:nvSpPr>
          <p:cNvPr id="3" name="Text Placeholder 2">
            <a:extLst>
              <a:ext uri="{FF2B5EF4-FFF2-40B4-BE49-F238E27FC236}">
                <a16:creationId xmlns:a16="http://schemas.microsoft.com/office/drawing/2014/main" id="{FF6137A7-4DE8-4BD7-901E-8AD8A752ECCA}"/>
              </a:ext>
            </a:extLst>
          </p:cNvPr>
          <p:cNvSpPr>
            <a:spLocks noGrp="1"/>
          </p:cNvSpPr>
          <p:nvPr>
            <p:ph type="body" sz="quarter" idx="10"/>
          </p:nvPr>
        </p:nvSpPr>
        <p:spPr/>
        <p:txBody>
          <a:bodyPr/>
          <a:lstStyle/>
          <a:p>
            <a:r>
              <a:rPr lang="en-US" dirty="0"/>
              <a:t>Pros &amp; cons</a:t>
            </a:r>
          </a:p>
        </p:txBody>
      </p:sp>
      <p:sp>
        <p:nvSpPr>
          <p:cNvPr id="4" name="Content Placeholder 3">
            <a:extLst>
              <a:ext uri="{FF2B5EF4-FFF2-40B4-BE49-F238E27FC236}">
                <a16:creationId xmlns:a16="http://schemas.microsoft.com/office/drawing/2014/main" id="{4B19AEFF-8558-E70F-CBFE-579F54EB220A}"/>
              </a:ext>
            </a:extLst>
          </p:cNvPr>
          <p:cNvSpPr>
            <a:spLocks noGrp="1"/>
          </p:cNvSpPr>
          <p:nvPr>
            <p:ph sz="quarter" idx="11"/>
          </p:nvPr>
        </p:nvSpPr>
        <p:spPr>
          <a:xfrm>
            <a:off x="2167377" y="3505632"/>
            <a:ext cx="10024623" cy="8339204"/>
          </a:xfrm>
        </p:spPr>
        <p:txBody>
          <a:bodyPr>
            <a:noAutofit/>
          </a:bodyPr>
          <a:lstStyle/>
          <a:p>
            <a:pPr marL="0" indent="0" algn="just">
              <a:buNone/>
            </a:pPr>
            <a:r>
              <a:rPr lang="en-US" sz="3200" dirty="0"/>
              <a:t>Pros:</a:t>
            </a:r>
          </a:p>
          <a:p>
            <a:pPr algn="just">
              <a:buFont typeface="Wingdings" pitchFamily="2" charset="2"/>
              <a:buChar char="ü"/>
            </a:pPr>
            <a:r>
              <a:rPr lang="en-US" sz="3200" dirty="0"/>
              <a:t>Open-source tool, completely transparent</a:t>
            </a:r>
          </a:p>
          <a:p>
            <a:pPr algn="just">
              <a:buFont typeface="Wingdings" pitchFamily="2" charset="2"/>
              <a:buChar char="ü"/>
            </a:pPr>
            <a:r>
              <a:rPr lang="en-US" sz="3200" dirty="0"/>
              <a:t>Has a simple interface that gets the job done and is easy to navigate</a:t>
            </a:r>
          </a:p>
          <a:p>
            <a:pPr algn="just">
              <a:buFont typeface="Wingdings" pitchFamily="2" charset="2"/>
              <a:buChar char="ü"/>
            </a:pPr>
            <a:r>
              <a:rPr lang="en-US" sz="3200" dirty="0"/>
              <a:t>Offers a host of configurable options</a:t>
            </a:r>
          </a:p>
          <a:p>
            <a:pPr algn="just">
              <a:buFont typeface="Wingdings" pitchFamily="2" charset="2"/>
              <a:buChar char="ü"/>
            </a:pPr>
            <a:r>
              <a:rPr lang="en-US" sz="3200" dirty="0"/>
              <a:t>Can track file transfers via log, or visually in real-time as they come in</a:t>
            </a:r>
          </a:p>
        </p:txBody>
      </p:sp>
      <p:sp>
        <p:nvSpPr>
          <p:cNvPr id="7" name="Content Placeholder 3">
            <a:extLst>
              <a:ext uri="{FF2B5EF4-FFF2-40B4-BE49-F238E27FC236}">
                <a16:creationId xmlns:a16="http://schemas.microsoft.com/office/drawing/2014/main" id="{97C21E25-CA5A-BA12-B04B-70E9E9E8689F}"/>
              </a:ext>
            </a:extLst>
          </p:cNvPr>
          <p:cNvSpPr txBox="1">
            <a:spLocks/>
          </p:cNvSpPr>
          <p:nvPr/>
        </p:nvSpPr>
        <p:spPr>
          <a:xfrm>
            <a:off x="12192000" y="3549607"/>
            <a:ext cx="10024623" cy="83392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Cons: </a:t>
            </a:r>
          </a:p>
          <a:p>
            <a:pPr algn="just">
              <a:buFont typeface="Wingdings" pitchFamily="2" charset="2"/>
              <a:buChar char="v"/>
            </a:pPr>
            <a:r>
              <a:rPr lang="en-ID" sz="3200" dirty="0"/>
              <a:t>More complicate – has options for DNS, DHCP, and timeclock servers</a:t>
            </a:r>
          </a:p>
          <a:p>
            <a:pPr algn="just">
              <a:buFont typeface="Wingdings" pitchFamily="2" charset="2"/>
              <a:buChar char="v"/>
            </a:pPr>
            <a:r>
              <a:rPr lang="en-ID" sz="3200" dirty="0"/>
              <a:t>Has a higher learning curve than other options</a:t>
            </a:r>
          </a:p>
        </p:txBody>
      </p:sp>
      <p:pic>
        <p:nvPicPr>
          <p:cNvPr id="8" name="Picture 7" descr="A screenshot of a computer program&#10;&#10;Description automatically generated">
            <a:extLst>
              <a:ext uri="{FF2B5EF4-FFF2-40B4-BE49-F238E27FC236}">
                <a16:creationId xmlns:a16="http://schemas.microsoft.com/office/drawing/2014/main" id="{D63D2B80-0DCE-9023-05CD-957CA39EB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3035" y="6858000"/>
            <a:ext cx="7918793" cy="6591703"/>
          </a:xfrm>
          <a:prstGeom prst="rect">
            <a:avLst/>
          </a:prstGeom>
        </p:spPr>
      </p:pic>
    </p:spTree>
    <p:extLst>
      <p:ext uri="{BB962C8B-B14F-4D97-AF65-F5344CB8AC3E}">
        <p14:creationId xmlns:p14="http://schemas.microsoft.com/office/powerpoint/2010/main" val="138195886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21D69-D9A2-5BE5-A998-235095826253}"/>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321666C4-2C34-AC20-DF40-8B6B467BF674}"/>
              </a:ext>
            </a:extLst>
          </p:cNvPr>
          <p:cNvSpPr>
            <a:spLocks noGrp="1"/>
          </p:cNvSpPr>
          <p:nvPr>
            <p:ph type="body" sz="quarter" idx="10"/>
          </p:nvPr>
        </p:nvSpPr>
        <p:spPr/>
        <p:txBody>
          <a:bodyPr/>
          <a:lstStyle/>
          <a:p>
            <a:r>
              <a:rPr lang="en-US" dirty="0" err="1"/>
              <a:t>Hanewin</a:t>
            </a:r>
            <a:r>
              <a:rPr lang="en-US" dirty="0"/>
              <a:t> </a:t>
            </a:r>
            <a:r>
              <a:rPr lang="en-US" dirty="0" err="1"/>
              <a:t>tftp</a:t>
            </a:r>
            <a:r>
              <a:rPr lang="en-US" dirty="0"/>
              <a:t> Server</a:t>
            </a:r>
          </a:p>
        </p:txBody>
      </p:sp>
      <p:sp>
        <p:nvSpPr>
          <p:cNvPr id="4" name="Content Placeholder 3">
            <a:extLst>
              <a:ext uri="{FF2B5EF4-FFF2-40B4-BE49-F238E27FC236}">
                <a16:creationId xmlns:a16="http://schemas.microsoft.com/office/drawing/2014/main" id="{3D9339F6-3B74-0627-7814-50AEF80C28CB}"/>
              </a:ext>
            </a:extLst>
          </p:cNvPr>
          <p:cNvSpPr>
            <a:spLocks noGrp="1"/>
          </p:cNvSpPr>
          <p:nvPr>
            <p:ph sz="quarter" idx="11"/>
          </p:nvPr>
        </p:nvSpPr>
        <p:spPr>
          <a:xfrm>
            <a:off x="2167376" y="3260663"/>
            <a:ext cx="20387823" cy="9410308"/>
          </a:xfrm>
        </p:spPr>
        <p:txBody>
          <a:bodyPr>
            <a:normAutofit/>
          </a:bodyPr>
          <a:lstStyle/>
          <a:p>
            <a:pPr algn="just"/>
            <a:r>
              <a:rPr lang="en-US" sz="3200" dirty="0"/>
              <a:t>The </a:t>
            </a:r>
            <a:r>
              <a:rPr lang="en-US" sz="3200" dirty="0" err="1"/>
              <a:t>haneWIN</a:t>
            </a:r>
            <a:r>
              <a:rPr lang="en-US" sz="3200" dirty="0"/>
              <a:t> TFTP server is a full-featured 32-bit and 64-bit TFTP server that runs on Windows XP/VISTA/20xx (servers)/7/8/10. It breaks from the TFTP model a bit by supporting access controls, which are not natively part of TFTP. This TFTP server can restrict IP addresses to only allow downloading or uploading and access to server directories.</a:t>
            </a:r>
          </a:p>
          <a:p>
            <a:pPr algn="just"/>
            <a:r>
              <a:rPr lang="en-US" sz="3200" dirty="0"/>
              <a:t>Key features:</a:t>
            </a:r>
          </a:p>
          <a:p>
            <a:pPr algn="just">
              <a:buFont typeface="Wingdings" pitchFamily="2" charset="2"/>
              <a:buChar char="Ø"/>
            </a:pPr>
            <a:r>
              <a:rPr lang="en-US" sz="3200" dirty="0"/>
              <a:t>Command line option for scripts</a:t>
            </a:r>
          </a:p>
          <a:p>
            <a:pPr algn="just">
              <a:buFont typeface="Wingdings" pitchFamily="2" charset="2"/>
              <a:buChar char="Ø"/>
            </a:pPr>
            <a:r>
              <a:rPr lang="en-US" sz="3200" dirty="0"/>
              <a:t>Includes DHCP server</a:t>
            </a:r>
          </a:p>
          <a:p>
            <a:pPr marL="0" indent="0" algn="just">
              <a:buNone/>
            </a:pPr>
            <a:r>
              <a:rPr lang="en-US" sz="3200" dirty="0">
                <a:sym typeface="Wingdings" pitchFamily="2" charset="2"/>
              </a:rPr>
              <a:t> </a:t>
            </a:r>
            <a:r>
              <a:rPr lang="en-US" sz="3200" dirty="0">
                <a:solidFill>
                  <a:srgbClr val="FFFF00"/>
                </a:solidFill>
                <a:sym typeface="Wingdings" pitchFamily="2" charset="2"/>
              </a:rPr>
              <a:t>The </a:t>
            </a:r>
            <a:r>
              <a:rPr lang="en-US" sz="3200" dirty="0" err="1">
                <a:solidFill>
                  <a:srgbClr val="FFFF00"/>
                </a:solidFill>
                <a:sym typeface="Wingdings" pitchFamily="2" charset="2"/>
              </a:rPr>
              <a:t>haneWIN</a:t>
            </a:r>
            <a:r>
              <a:rPr lang="en-US" sz="3200" dirty="0">
                <a:solidFill>
                  <a:srgbClr val="FFFF00"/>
                </a:solidFill>
                <a:sym typeface="Wingdings" pitchFamily="2" charset="2"/>
              </a:rPr>
              <a:t> TFTP server is a slight improvement on the traditional TFTP server because it adds access control to its procedures and can restrict the IP addresses that it will deal with, which goes some way to reducing the risk of intruder manipulation of the file transfer process.</a:t>
            </a:r>
            <a:endParaRPr lang="en-US" sz="3200" dirty="0">
              <a:solidFill>
                <a:srgbClr val="FFFF00"/>
              </a:solidFill>
            </a:endParaRPr>
          </a:p>
        </p:txBody>
      </p:sp>
    </p:spTree>
    <p:extLst>
      <p:ext uri="{BB962C8B-B14F-4D97-AF65-F5344CB8AC3E}">
        <p14:creationId xmlns:p14="http://schemas.microsoft.com/office/powerpoint/2010/main" val="287279080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3750-53EA-7D52-806B-3CC2EB236362}"/>
              </a:ext>
            </a:extLst>
          </p:cNvPr>
          <p:cNvSpPr>
            <a:spLocks noGrp="1"/>
          </p:cNvSpPr>
          <p:nvPr>
            <p:ph type="title"/>
          </p:nvPr>
        </p:nvSpPr>
        <p:spPr/>
        <p:txBody>
          <a:bodyPr>
            <a:normAutofit fontScale="90000"/>
          </a:bodyPr>
          <a:lstStyle/>
          <a:p>
            <a:r>
              <a:rPr lang="en-US" dirty="0" err="1"/>
              <a:t>Hanewin</a:t>
            </a:r>
            <a:r>
              <a:rPr lang="en-US" dirty="0"/>
              <a:t> </a:t>
            </a:r>
            <a:r>
              <a:rPr lang="en-US" dirty="0" err="1"/>
              <a:t>tftp</a:t>
            </a:r>
            <a:endParaRPr lang="en-US" dirty="0"/>
          </a:p>
        </p:txBody>
      </p:sp>
      <p:sp>
        <p:nvSpPr>
          <p:cNvPr id="3" name="Text Placeholder 2">
            <a:extLst>
              <a:ext uri="{FF2B5EF4-FFF2-40B4-BE49-F238E27FC236}">
                <a16:creationId xmlns:a16="http://schemas.microsoft.com/office/drawing/2014/main" id="{FF6137A7-4DE8-4BD7-901E-8AD8A752ECCA}"/>
              </a:ext>
            </a:extLst>
          </p:cNvPr>
          <p:cNvSpPr>
            <a:spLocks noGrp="1"/>
          </p:cNvSpPr>
          <p:nvPr>
            <p:ph type="body" sz="quarter" idx="10"/>
          </p:nvPr>
        </p:nvSpPr>
        <p:spPr/>
        <p:txBody>
          <a:bodyPr/>
          <a:lstStyle/>
          <a:p>
            <a:r>
              <a:rPr lang="en-US" dirty="0"/>
              <a:t>Pros &amp; cons</a:t>
            </a:r>
          </a:p>
        </p:txBody>
      </p:sp>
      <p:sp>
        <p:nvSpPr>
          <p:cNvPr id="4" name="Content Placeholder 3">
            <a:extLst>
              <a:ext uri="{FF2B5EF4-FFF2-40B4-BE49-F238E27FC236}">
                <a16:creationId xmlns:a16="http://schemas.microsoft.com/office/drawing/2014/main" id="{4B19AEFF-8558-E70F-CBFE-579F54EB220A}"/>
              </a:ext>
            </a:extLst>
          </p:cNvPr>
          <p:cNvSpPr>
            <a:spLocks noGrp="1"/>
          </p:cNvSpPr>
          <p:nvPr>
            <p:ph sz="quarter" idx="11"/>
          </p:nvPr>
        </p:nvSpPr>
        <p:spPr>
          <a:xfrm>
            <a:off x="2167377" y="3505632"/>
            <a:ext cx="10024623" cy="8339204"/>
          </a:xfrm>
        </p:spPr>
        <p:txBody>
          <a:bodyPr>
            <a:noAutofit/>
          </a:bodyPr>
          <a:lstStyle/>
          <a:p>
            <a:pPr marL="0" indent="0" algn="just">
              <a:buNone/>
            </a:pPr>
            <a:r>
              <a:rPr lang="en-US" sz="3200" dirty="0"/>
              <a:t>Pros:</a:t>
            </a:r>
          </a:p>
          <a:p>
            <a:pPr algn="just">
              <a:buFont typeface="Wingdings" pitchFamily="2" charset="2"/>
              <a:buChar char="ü"/>
            </a:pPr>
            <a:r>
              <a:rPr lang="en-US" sz="3200" dirty="0"/>
              <a:t>Simple easy to learn interface</a:t>
            </a:r>
          </a:p>
          <a:p>
            <a:pPr algn="just">
              <a:buFont typeface="Wingdings" pitchFamily="2" charset="2"/>
              <a:buChar char="ü"/>
            </a:pPr>
            <a:r>
              <a:rPr lang="en-US" sz="3200" dirty="0"/>
              <a:t>Lightweight installation, good for older hardware</a:t>
            </a:r>
          </a:p>
          <a:p>
            <a:pPr algn="just">
              <a:buFont typeface="Wingdings" pitchFamily="2" charset="2"/>
              <a:buChar char="ü"/>
            </a:pPr>
            <a:r>
              <a:rPr lang="en-US" sz="3200" dirty="0"/>
              <a:t>Uniquely supports access controls for TFTP</a:t>
            </a:r>
          </a:p>
          <a:p>
            <a:pPr algn="just">
              <a:buFont typeface="Wingdings" pitchFamily="2" charset="2"/>
              <a:buChar char="ü"/>
            </a:pPr>
            <a:r>
              <a:rPr lang="en-US" sz="3200" dirty="0"/>
              <a:t>Has a command-line interface for quick changes scripting</a:t>
            </a:r>
          </a:p>
        </p:txBody>
      </p:sp>
      <p:sp>
        <p:nvSpPr>
          <p:cNvPr id="7" name="Content Placeholder 3">
            <a:extLst>
              <a:ext uri="{FF2B5EF4-FFF2-40B4-BE49-F238E27FC236}">
                <a16:creationId xmlns:a16="http://schemas.microsoft.com/office/drawing/2014/main" id="{97C21E25-CA5A-BA12-B04B-70E9E9E8689F}"/>
              </a:ext>
            </a:extLst>
          </p:cNvPr>
          <p:cNvSpPr txBox="1">
            <a:spLocks/>
          </p:cNvSpPr>
          <p:nvPr/>
        </p:nvSpPr>
        <p:spPr>
          <a:xfrm>
            <a:off x="12192000" y="3549607"/>
            <a:ext cx="10024623" cy="83392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Cons: </a:t>
            </a:r>
          </a:p>
          <a:p>
            <a:pPr algn="just">
              <a:buFont typeface="Wingdings" pitchFamily="2" charset="2"/>
              <a:buChar char="v"/>
            </a:pPr>
            <a:r>
              <a:rPr lang="en-ID" sz="3200" dirty="0"/>
              <a:t>Not as user-friendly as some other options</a:t>
            </a:r>
          </a:p>
          <a:p>
            <a:pPr algn="just">
              <a:buFont typeface="Wingdings" pitchFamily="2" charset="2"/>
              <a:buChar char="v"/>
            </a:pPr>
            <a:r>
              <a:rPr lang="en-ID" sz="3200" dirty="0"/>
              <a:t>Higher learning curve due to more technical options/features</a:t>
            </a:r>
          </a:p>
        </p:txBody>
      </p:sp>
      <p:pic>
        <p:nvPicPr>
          <p:cNvPr id="6" name="Picture 5" descr="A screenshot of a computer program&#10;&#10;Description automatically generated">
            <a:extLst>
              <a:ext uri="{FF2B5EF4-FFF2-40B4-BE49-F238E27FC236}">
                <a16:creationId xmlns:a16="http://schemas.microsoft.com/office/drawing/2014/main" id="{45D0BEF6-1671-2CF7-7569-1D2533693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22347" y="6858000"/>
            <a:ext cx="5521198" cy="6400800"/>
          </a:xfrm>
          <a:prstGeom prst="rect">
            <a:avLst/>
          </a:prstGeom>
        </p:spPr>
      </p:pic>
    </p:spTree>
    <p:extLst>
      <p:ext uri="{BB962C8B-B14F-4D97-AF65-F5344CB8AC3E}">
        <p14:creationId xmlns:p14="http://schemas.microsoft.com/office/powerpoint/2010/main" val="39351902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21D69-D9A2-5BE5-A998-235095826253}"/>
              </a:ext>
            </a:extLst>
          </p:cNvPr>
          <p:cNvSpPr>
            <a:spLocks noGrp="1"/>
          </p:cNvSpPr>
          <p:nvPr>
            <p:ph type="title"/>
          </p:nvPr>
        </p:nvSpPr>
        <p:spPr/>
        <p:txBody>
          <a:bodyPr>
            <a:normAutofit fontScale="90000"/>
          </a:bodyPr>
          <a:lstStyle/>
          <a:p>
            <a:r>
              <a:rPr lang="en-US" dirty="0" err="1"/>
              <a:t>tftp</a:t>
            </a:r>
            <a:endParaRPr lang="en-US" dirty="0"/>
          </a:p>
        </p:txBody>
      </p:sp>
      <p:sp>
        <p:nvSpPr>
          <p:cNvPr id="3" name="Text Placeholder 2">
            <a:extLst>
              <a:ext uri="{FF2B5EF4-FFF2-40B4-BE49-F238E27FC236}">
                <a16:creationId xmlns:a16="http://schemas.microsoft.com/office/drawing/2014/main" id="{321666C4-2C34-AC20-DF40-8B6B467BF674}"/>
              </a:ext>
            </a:extLst>
          </p:cNvPr>
          <p:cNvSpPr>
            <a:spLocks noGrp="1"/>
          </p:cNvSpPr>
          <p:nvPr>
            <p:ph type="body" sz="quarter" idx="10"/>
          </p:nvPr>
        </p:nvSpPr>
        <p:spPr/>
        <p:txBody>
          <a:bodyPr/>
          <a:lstStyle/>
          <a:p>
            <a:r>
              <a:rPr lang="en-US" dirty="0"/>
              <a:t>pinkie</a:t>
            </a:r>
          </a:p>
        </p:txBody>
      </p:sp>
      <p:sp>
        <p:nvSpPr>
          <p:cNvPr id="4" name="Content Placeholder 3">
            <a:extLst>
              <a:ext uri="{FF2B5EF4-FFF2-40B4-BE49-F238E27FC236}">
                <a16:creationId xmlns:a16="http://schemas.microsoft.com/office/drawing/2014/main" id="{3D9339F6-3B74-0627-7814-50AEF80C28CB}"/>
              </a:ext>
            </a:extLst>
          </p:cNvPr>
          <p:cNvSpPr>
            <a:spLocks noGrp="1"/>
          </p:cNvSpPr>
          <p:nvPr>
            <p:ph sz="quarter" idx="11"/>
          </p:nvPr>
        </p:nvSpPr>
        <p:spPr>
          <a:xfrm>
            <a:off x="2167376" y="3260663"/>
            <a:ext cx="20387823" cy="9410308"/>
          </a:xfrm>
        </p:spPr>
        <p:txBody>
          <a:bodyPr>
            <a:normAutofit/>
          </a:bodyPr>
          <a:lstStyle/>
          <a:p>
            <a:pPr algn="just"/>
            <a:r>
              <a:rPr lang="en-US" sz="3200" dirty="0"/>
              <a:t>Pinkie is a free Windows-based network monitoring toolset. The different tools in the utility are accessed through tabs at the top of the main dashboard panel of the user interface. This useful little bundle from </a:t>
            </a:r>
            <a:r>
              <a:rPr lang="en-US" sz="3200" dirty="0" err="1"/>
              <a:t>IPUptime</a:t>
            </a:r>
            <a:r>
              <a:rPr lang="en-US" sz="3200" dirty="0"/>
              <a:t> also includes a DNS server, Ping, and Traceroute. The Pinkie TFTP Server just listens. It will pick up any messages sent to its host on port 69.</a:t>
            </a:r>
          </a:p>
          <a:p>
            <a:pPr algn="just"/>
            <a:r>
              <a:rPr lang="en-US" sz="3200" dirty="0"/>
              <a:t>Key features:</a:t>
            </a:r>
          </a:p>
          <a:p>
            <a:pPr algn="just">
              <a:buFont typeface="Wingdings" pitchFamily="2" charset="2"/>
              <a:buChar char="Ø"/>
            </a:pPr>
            <a:r>
              <a:rPr lang="en-US" sz="3200" dirty="0"/>
              <a:t>Includes DNS and network utilities</a:t>
            </a:r>
          </a:p>
          <a:p>
            <a:pPr algn="just">
              <a:buFont typeface="Wingdings" pitchFamily="2" charset="2"/>
              <a:buChar char="Ø"/>
            </a:pPr>
            <a:r>
              <a:rPr lang="en-US" sz="3200" dirty="0"/>
              <a:t>Lists recent transactions</a:t>
            </a:r>
          </a:p>
          <a:p>
            <a:pPr marL="0" indent="0" algn="just">
              <a:buNone/>
            </a:pPr>
            <a:r>
              <a:rPr lang="en-US" sz="3200" dirty="0">
                <a:sym typeface="Wingdings" pitchFamily="2" charset="2"/>
              </a:rPr>
              <a:t> </a:t>
            </a:r>
            <a:r>
              <a:rPr lang="en-US" sz="3200" dirty="0">
                <a:solidFill>
                  <a:srgbClr val="FFFF00"/>
                </a:solidFill>
                <a:sym typeface="Wingdings" pitchFamily="2" charset="2"/>
              </a:rPr>
              <a:t>Pinkie is a bundle of useful tools and in many ways, it is very similar to TFTPD64. Both of these systems are free and run on Windows. The main tool at the heart of Pinkie is its Ping implementation, which tests connection conditions. Unlike TFTPD64, there is no TFTP client in this package. However, its TFTP server is respectable and fuss-free.</a:t>
            </a:r>
            <a:endParaRPr lang="en-US" sz="3200" dirty="0">
              <a:solidFill>
                <a:srgbClr val="FFFF00"/>
              </a:solidFill>
            </a:endParaRPr>
          </a:p>
        </p:txBody>
      </p:sp>
    </p:spTree>
    <p:extLst>
      <p:ext uri="{BB962C8B-B14F-4D97-AF65-F5344CB8AC3E}">
        <p14:creationId xmlns:p14="http://schemas.microsoft.com/office/powerpoint/2010/main" val="60961135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3750-53EA-7D52-806B-3CC2EB236362}"/>
              </a:ext>
            </a:extLst>
          </p:cNvPr>
          <p:cNvSpPr>
            <a:spLocks noGrp="1"/>
          </p:cNvSpPr>
          <p:nvPr>
            <p:ph type="title"/>
          </p:nvPr>
        </p:nvSpPr>
        <p:spPr/>
        <p:txBody>
          <a:bodyPr>
            <a:normAutofit fontScale="90000"/>
          </a:bodyPr>
          <a:lstStyle/>
          <a:p>
            <a:r>
              <a:rPr lang="en-US" dirty="0"/>
              <a:t>Pinkie </a:t>
            </a:r>
          </a:p>
        </p:txBody>
      </p:sp>
      <p:sp>
        <p:nvSpPr>
          <p:cNvPr id="3" name="Text Placeholder 2">
            <a:extLst>
              <a:ext uri="{FF2B5EF4-FFF2-40B4-BE49-F238E27FC236}">
                <a16:creationId xmlns:a16="http://schemas.microsoft.com/office/drawing/2014/main" id="{FF6137A7-4DE8-4BD7-901E-8AD8A752ECCA}"/>
              </a:ext>
            </a:extLst>
          </p:cNvPr>
          <p:cNvSpPr>
            <a:spLocks noGrp="1"/>
          </p:cNvSpPr>
          <p:nvPr>
            <p:ph type="body" sz="quarter" idx="10"/>
          </p:nvPr>
        </p:nvSpPr>
        <p:spPr/>
        <p:txBody>
          <a:bodyPr/>
          <a:lstStyle/>
          <a:p>
            <a:r>
              <a:rPr lang="en-US" dirty="0"/>
              <a:t>Pros &amp; cons</a:t>
            </a:r>
          </a:p>
        </p:txBody>
      </p:sp>
      <p:sp>
        <p:nvSpPr>
          <p:cNvPr id="4" name="Content Placeholder 3">
            <a:extLst>
              <a:ext uri="{FF2B5EF4-FFF2-40B4-BE49-F238E27FC236}">
                <a16:creationId xmlns:a16="http://schemas.microsoft.com/office/drawing/2014/main" id="{4B19AEFF-8558-E70F-CBFE-579F54EB220A}"/>
              </a:ext>
            </a:extLst>
          </p:cNvPr>
          <p:cNvSpPr>
            <a:spLocks noGrp="1"/>
          </p:cNvSpPr>
          <p:nvPr>
            <p:ph sz="quarter" idx="11"/>
          </p:nvPr>
        </p:nvSpPr>
        <p:spPr>
          <a:xfrm>
            <a:off x="2167377" y="3505632"/>
            <a:ext cx="10024623" cy="8339204"/>
          </a:xfrm>
        </p:spPr>
        <p:txBody>
          <a:bodyPr>
            <a:noAutofit/>
          </a:bodyPr>
          <a:lstStyle/>
          <a:p>
            <a:pPr marL="0" indent="0" algn="just">
              <a:buNone/>
            </a:pPr>
            <a:r>
              <a:rPr lang="en-US" sz="3200" dirty="0"/>
              <a:t>Pros:</a:t>
            </a:r>
          </a:p>
          <a:p>
            <a:pPr algn="just">
              <a:buFont typeface="Wingdings" pitchFamily="2" charset="2"/>
              <a:buChar char="ü"/>
            </a:pPr>
            <a:r>
              <a:rPr lang="en-US" sz="3200" dirty="0"/>
              <a:t>Lightweight tool takes up little space and resources</a:t>
            </a:r>
          </a:p>
          <a:p>
            <a:pPr algn="just">
              <a:buFont typeface="Wingdings" pitchFamily="2" charset="2"/>
              <a:buChar char="ü"/>
            </a:pPr>
            <a:r>
              <a:rPr lang="en-US" sz="3200" dirty="0"/>
              <a:t>Organizes configurations by tabs, making them easy to find without cluttering the interface</a:t>
            </a:r>
          </a:p>
          <a:p>
            <a:pPr algn="just">
              <a:buFont typeface="Wingdings" pitchFamily="2" charset="2"/>
              <a:buChar char="ü"/>
            </a:pPr>
            <a:r>
              <a:rPr lang="en-US" sz="3200" dirty="0"/>
              <a:t>Includes other features such as a DNS server, and options to run ping and traceroutes directly from the tool</a:t>
            </a:r>
          </a:p>
        </p:txBody>
      </p:sp>
      <p:sp>
        <p:nvSpPr>
          <p:cNvPr id="7" name="Content Placeholder 3">
            <a:extLst>
              <a:ext uri="{FF2B5EF4-FFF2-40B4-BE49-F238E27FC236}">
                <a16:creationId xmlns:a16="http://schemas.microsoft.com/office/drawing/2014/main" id="{97C21E25-CA5A-BA12-B04B-70E9E9E8689F}"/>
              </a:ext>
            </a:extLst>
          </p:cNvPr>
          <p:cNvSpPr txBox="1">
            <a:spLocks/>
          </p:cNvSpPr>
          <p:nvPr/>
        </p:nvSpPr>
        <p:spPr>
          <a:xfrm>
            <a:off x="12192000" y="3549607"/>
            <a:ext cx="10024623" cy="83392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ID" sz="3200" dirty="0"/>
              <a:t>Cons: </a:t>
            </a:r>
          </a:p>
          <a:p>
            <a:pPr algn="just">
              <a:buFont typeface="Wingdings" pitchFamily="2" charset="2"/>
              <a:buChar char="v"/>
            </a:pPr>
            <a:r>
              <a:rPr lang="en-ID" sz="3200" dirty="0"/>
              <a:t>Could do better at listing recent transfers, can get cluttered with high volumes of transactions</a:t>
            </a:r>
          </a:p>
          <a:p>
            <a:pPr algn="just">
              <a:buFont typeface="Wingdings" pitchFamily="2" charset="2"/>
              <a:buChar char="v"/>
            </a:pPr>
            <a:r>
              <a:rPr lang="en-ID" sz="3200" dirty="0"/>
              <a:t>Workspaces can be clunky to organize if you have a larger number of trading partners</a:t>
            </a:r>
          </a:p>
        </p:txBody>
      </p:sp>
      <p:pic>
        <p:nvPicPr>
          <p:cNvPr id="8" name="Picture 7" descr="A screenshot of a computer&#10;&#10;Description automatically generated">
            <a:extLst>
              <a:ext uri="{FF2B5EF4-FFF2-40B4-BE49-F238E27FC236}">
                <a16:creationId xmlns:a16="http://schemas.microsoft.com/office/drawing/2014/main" id="{2A8D145C-D787-DC84-EE78-87C58250B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77220" y="7424057"/>
            <a:ext cx="6411452" cy="6128296"/>
          </a:xfrm>
          <a:prstGeom prst="rect">
            <a:avLst/>
          </a:prstGeom>
        </p:spPr>
      </p:pic>
    </p:spTree>
    <p:extLst>
      <p:ext uri="{BB962C8B-B14F-4D97-AF65-F5344CB8AC3E}">
        <p14:creationId xmlns:p14="http://schemas.microsoft.com/office/powerpoint/2010/main" val="92929452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https://www.geeksforgeeks.org/what-is-tftp-trivial-file-transfer-protocol/</a:t>
            </a:r>
            <a:endParaRPr lang="en-US" sz="3200" dirty="0"/>
          </a:p>
          <a:p>
            <a:pPr algn="just"/>
            <a:r>
              <a:rPr lang="en-US" sz="3200" dirty="0">
                <a:hlinkClick r:id="rId3"/>
              </a:rPr>
              <a:t>https://www.spiceworks.com/it-articles/what-is-tftp/#:~:text=As%20a%20Network%20Admin%2C%20you,User%20Data%20Protocol%20(UDP)</a:t>
            </a:r>
            <a:r>
              <a:rPr lang="en-US" sz="3200" dirty="0"/>
              <a:t>.</a:t>
            </a:r>
          </a:p>
          <a:p>
            <a:pPr algn="just"/>
            <a:r>
              <a:rPr lang="en-US" sz="3200" dirty="0">
                <a:hlinkClick r:id="rId4"/>
              </a:rPr>
              <a:t>https://www.comparitech.com/net-admin/best-free-tftp-servers/</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13703</TotalTime>
  <Words>1859</Words>
  <Application>Microsoft Macintosh PowerPoint</Application>
  <PresentationFormat>Custom</PresentationFormat>
  <Paragraphs>166</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Tahoma</vt:lpstr>
      <vt:lpstr>Open Sans ExtraBold</vt:lpstr>
      <vt:lpstr>Arial</vt:lpstr>
      <vt:lpstr>OCRB</vt:lpstr>
      <vt:lpstr>Open Sans Semibold</vt:lpstr>
      <vt:lpstr>Open Sans Light</vt:lpstr>
      <vt:lpstr>Wingdings</vt:lpstr>
      <vt:lpstr>21_BasicWhite</vt:lpstr>
      <vt:lpstr>Ensuring UDP reliability  Session 06</vt:lpstr>
      <vt:lpstr>Learning Objectives</vt:lpstr>
      <vt:lpstr>Outline</vt:lpstr>
      <vt:lpstr>TFTP Types</vt:lpstr>
      <vt:lpstr>Trivial File Transfer Protocol (TFTP)</vt:lpstr>
      <vt:lpstr>TFTP Types</vt:lpstr>
      <vt:lpstr>TFTP Types</vt:lpstr>
      <vt:lpstr>tftp</vt:lpstr>
      <vt:lpstr>tftp</vt:lpstr>
      <vt:lpstr>TFTP server</vt:lpstr>
      <vt:lpstr>Tftp server</vt:lpstr>
      <vt:lpstr>TFTP</vt:lpstr>
      <vt:lpstr>solarwinds</vt:lpstr>
      <vt:lpstr>tftp</vt:lpstr>
      <vt:lpstr>Tftp utility</vt:lpstr>
      <vt:lpstr>tftp</vt:lpstr>
      <vt:lpstr>TFTPD64</vt:lpstr>
      <vt:lpstr>tftp</vt:lpstr>
      <vt:lpstr>Hanewin tftp</vt:lpstr>
      <vt:lpstr>tftp</vt:lpstr>
      <vt:lpstr>Pinkie </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22</cp:revision>
  <dcterms:created xsi:type="dcterms:W3CDTF">2023-06-28T08:14:57Z</dcterms:created>
  <dcterms:modified xsi:type="dcterms:W3CDTF">2023-12-18T12:29:20Z</dcterms:modified>
</cp:coreProperties>
</file>