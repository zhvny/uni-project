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4"/>
  </p:notesMasterIdLst>
  <p:sldIdLst>
    <p:sldId id="256" r:id="rId2"/>
    <p:sldId id="278" r:id="rId3"/>
    <p:sldId id="257" r:id="rId4"/>
    <p:sldId id="297" r:id="rId5"/>
    <p:sldId id="298" r:id="rId6"/>
    <p:sldId id="301" r:id="rId7"/>
    <p:sldId id="302" r:id="rId8"/>
    <p:sldId id="303" r:id="rId9"/>
    <p:sldId id="305" r:id="rId10"/>
    <p:sldId id="304" r:id="rId11"/>
    <p:sldId id="306" r:id="rId12"/>
    <p:sldId id="307" r:id="rId13"/>
    <p:sldId id="308" r:id="rId14"/>
    <p:sldId id="309" r:id="rId15"/>
    <p:sldId id="310" r:id="rId16"/>
    <p:sldId id="311" r:id="rId17"/>
    <p:sldId id="312" r:id="rId18"/>
    <p:sldId id="313" r:id="rId19"/>
    <p:sldId id="314" r:id="rId20"/>
    <p:sldId id="315" r:id="rId21"/>
    <p:sldId id="300" r:id="rId22"/>
    <p:sldId id="296" r:id="rId23"/>
  </p:sldIdLst>
  <p:sldSz cx="24384000" cy="13716000"/>
  <p:notesSz cx="6858000" cy="9144000"/>
  <p:embeddedFontLst>
    <p:embeddedFont>
      <p:font typeface="OCRB" panose="020B0609020202020204" pitchFamily="49" charset="77"/>
      <p:regular r:id="rId25"/>
    </p:embeddedFont>
    <p:embeddedFont>
      <p:font typeface="Open Sans" panose="020B0606030504020204" pitchFamily="34" charset="0"/>
      <p:regular r:id="rId26"/>
      <p:bold r:id="rId27"/>
      <p:italic r:id="rId28"/>
      <p:boldItalic r:id="rId29"/>
    </p:embeddedFont>
    <p:embeddedFont>
      <p:font typeface="Open Sans ExtraBold" panose="020B0606030504020204" pitchFamily="34" charset="0"/>
      <p:bold r:id="rId30"/>
      <p:italic r:id="rId31"/>
      <p:boldItalic r:id="rId32"/>
    </p:embeddedFont>
    <p:embeddedFont>
      <p:font typeface="Open Sans Light" panose="020B0306030504020204" pitchFamily="34" charset="0"/>
      <p:regular r:id="rId33"/>
      <p:italic r:id="rId34"/>
    </p:embeddedFont>
    <p:embeddedFont>
      <p:font typeface="Open Sans Semibold" panose="020B0606030504020204" pitchFamily="34" charset="0"/>
      <p:regular r:id="rId35"/>
      <p:bold r:id="rId36"/>
      <p:italic r:id="rId37"/>
      <p:boldItalic r:id="rId38"/>
    </p:embeddedFont>
    <p:embeddedFont>
      <p:font typeface="Tahoma" panose="020B0604030504040204" pitchFamily="34" charset="0"/>
      <p:regular r:id="rId39"/>
      <p:bold r:id="rId40"/>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F9B170D-653C-324E-9AA3-9BCE64D24F61}" v="35" dt="2023-12-09T06:10:26.294"/>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73" autoAdjust="0"/>
    <p:restoredTop sz="96197"/>
  </p:normalViewPr>
  <p:slideViewPr>
    <p:cSldViewPr snapToGrid="0" snapToObjects="1">
      <p:cViewPr varScale="1">
        <p:scale>
          <a:sx n="72" d="100"/>
          <a:sy n="72" d="100"/>
        </p:scale>
        <p:origin x="280" y="456"/>
      </p:cViewPr>
      <p:guideLst>
        <p:guide orient="horz" pos="4320"/>
        <p:guide pos="76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20" Type="http://schemas.openxmlformats.org/officeDocument/2006/relationships/slide" Target="slides/slide19.xml"/><Relationship Id="rId4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017588374"/>
      </p:ext>
    </p:extLst>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10" Type="http://schemas.openxmlformats.org/officeDocument/2006/relationships/image" Target="../media/image3.png"/><Relationship Id="rId4" Type="http://schemas.openxmlformats.org/officeDocument/2006/relationships/image" Target="../media/image6.png"/><Relationship Id="rId9" Type="http://schemas.openxmlformats.org/officeDocument/2006/relationships/image" Target="../media/image11.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17.svg"/><Relationship Id="rId4" Type="http://schemas.openxmlformats.org/officeDocument/2006/relationships/image" Target="../media/image1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94124863"/>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09024523"/>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50031857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8262084"/>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2" name="Picture 1">
            <a:extLst>
              <a:ext uri="{FF2B5EF4-FFF2-40B4-BE49-F238E27FC236}">
                <a16:creationId xmlns:a16="http://schemas.microsoft.com/office/drawing/2014/main" id="{79C614F1-89F8-B808-9DD9-229AAF4CE53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82120862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29905156"/>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488882905"/>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4F98E9C-690F-D5B2-6A0E-CA43C8C26AB9}"/>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207302220"/>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EEBA59A-5DC7-987B-985C-E7F05D80D3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512683092"/>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40722D20-F203-A321-C13A-3A85A24C3C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357946358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2" name="Picture 1">
            <a:extLst>
              <a:ext uri="{FF2B5EF4-FFF2-40B4-BE49-F238E27FC236}">
                <a16:creationId xmlns:a16="http://schemas.microsoft.com/office/drawing/2014/main" id="{A7BDDA7B-8679-2A96-DA58-9B50735EAFF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998102712"/>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F2C79DE9-4AFD-C17C-6D01-10CB5913C73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4134051035"/>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07CBA874-2A87-342A-D528-C2660A034B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50518920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6" name="Picture 5">
            <a:extLst>
              <a:ext uri="{FF2B5EF4-FFF2-40B4-BE49-F238E27FC236}">
                <a16:creationId xmlns:a16="http://schemas.microsoft.com/office/drawing/2014/main" id="{9A703794-B39A-7A69-54AC-AFD888C8CB4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809284995"/>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64D25C93-1B77-566C-CD32-E4AC841F19C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085329813"/>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837038" y="9711819"/>
            <a:ext cx="1700105" cy="1700105"/>
          </a:xfrm>
          <a:prstGeom prst="rect">
            <a:avLst/>
          </a:prstGeom>
        </p:spPr>
      </p:pic>
      <p:pic>
        <p:nvPicPr>
          <p:cNvPr id="7" name="Picture 6">
            <a:extLst>
              <a:ext uri="{FF2B5EF4-FFF2-40B4-BE49-F238E27FC236}">
                <a16:creationId xmlns:a16="http://schemas.microsoft.com/office/drawing/2014/main" id="{08A923CA-0AF7-7160-B581-2CACED786620}"/>
              </a:ext>
              <a:ext uri="{C183D7F6-B498-43B3-948B-1728B52AA6E4}">
                <adec:decorative xmlns:adec="http://schemas.microsoft.com/office/drawing/2017/decorative" val="1"/>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070102926"/>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40000" y="4320116"/>
            <a:ext cx="3535680" cy="3535680"/>
          </a:xfrm>
          <a:prstGeom prst="rect">
            <a:avLst/>
          </a:prstGeom>
        </p:spPr>
      </p:pic>
      <p:pic>
        <p:nvPicPr>
          <p:cNvPr id="4" name="Picture 3">
            <a:extLst>
              <a:ext uri="{FF2B5EF4-FFF2-40B4-BE49-F238E27FC236}">
                <a16:creationId xmlns:a16="http://schemas.microsoft.com/office/drawing/2014/main" id="{CE62FAA5-6C99-7043-5D20-4F0B7F8633F3}"/>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227040866"/>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7BD28E23-B05B-27F7-5B39-9129277EE1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779245570"/>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87110" y="8648744"/>
            <a:ext cx="1403521" cy="1403521"/>
          </a:xfrm>
          <a:prstGeom prst="rect">
            <a:avLst/>
          </a:prstGeom>
        </p:spPr>
      </p:pic>
      <p:pic>
        <p:nvPicPr>
          <p:cNvPr id="5" name="Picture 4">
            <a:extLst>
              <a:ext uri="{FF2B5EF4-FFF2-40B4-BE49-F238E27FC236}">
                <a16:creationId xmlns:a16="http://schemas.microsoft.com/office/drawing/2014/main" id="{39A795C1-A678-59F7-F2CE-A32633731DCB}"/>
              </a:ext>
              <a:ext uri="{C183D7F6-B498-43B3-948B-1728B52AA6E4}">
                <adec:decorative xmlns:adec="http://schemas.microsoft.com/office/drawing/2017/decorative" val="1"/>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811012248"/>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7" name="Image" descr="Image">
            <a:extLst>
              <a:ext uri="{FF2B5EF4-FFF2-40B4-BE49-F238E27FC236}">
                <a16:creationId xmlns:a16="http://schemas.microsoft.com/office/drawing/2014/main" id="{13156DDE-55E0-C14A-879A-962B00D82A08}"/>
              </a:ext>
            </a:extLst>
          </p:cNvPr>
          <p:cNvPicPr>
            <a:picLocks noChangeAspect="1"/>
          </p:cNvPicPr>
          <p:nvPr userDrawn="1"/>
        </p:nvPicPr>
        <p:blipFill>
          <a:blip r:embed="rId2"/>
          <a:stretch>
            <a:fillRect/>
          </a:stretch>
        </p:blipFill>
        <p:spPr>
          <a:xfrm>
            <a:off x="21016357" y="354127"/>
            <a:ext cx="2563550" cy="1083872"/>
          </a:xfrm>
          <a:prstGeom prst="rect">
            <a:avLst/>
          </a:prstGeom>
          <a:ln w="12700">
            <a:miter lim="400000"/>
          </a:ln>
        </p:spPr>
      </p:pic>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3F4008AF-17B2-1560-3039-4C723BA0CB2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34045232"/>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5" name="Picture 4">
            <a:extLst>
              <a:ext uri="{FF2B5EF4-FFF2-40B4-BE49-F238E27FC236}">
                <a16:creationId xmlns:a16="http://schemas.microsoft.com/office/drawing/2014/main" id="{A5BF6EF1-CFA9-A58C-D0E2-EFC77F0A6544}"/>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51361529"/>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C4995F2D-6472-91D6-94D4-E6E20D96968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273209878"/>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453551FA-97E6-2245-9BD6-C384100F7F4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109941728"/>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hyperlink" Target="https://www.cloudflare.com/learning/security/glossary/what-is-bgp/" TargetMode="External"/><Relationship Id="rId2" Type="http://schemas.openxmlformats.org/officeDocument/2006/relationships/hyperlink" Target="https://www.cloudflare.com/learning/network-layer/internet-protocol/#:~:text=The%20Internet%20Protocol%20(IP)%20is,protocols%2C%20including%20TCP%20and%20UDP" TargetMode="External"/><Relationship Id="rId1" Type="http://schemas.openxmlformats.org/officeDocument/2006/relationships/slideLayout" Target="../slideLayouts/slideLayout12.xml"/><Relationship Id="rId4" Type="http://schemas.openxmlformats.org/officeDocument/2006/relationships/hyperlink" Target="https://www.cloudflare.com/learning/dns/what-is-dns/"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a:xfrm>
            <a:off x="1206498" y="6428534"/>
            <a:ext cx="21971004" cy="3917819"/>
          </a:xfrm>
        </p:spPr>
        <p:txBody>
          <a:bodyPr>
            <a:normAutofit fontScale="90000"/>
          </a:bodyPr>
          <a:lstStyle/>
          <a:p>
            <a:r>
              <a:rPr lang="en-US" sz="8900" dirty="0"/>
              <a:t>Resource location and Traffic Routing</a:t>
            </a:r>
            <a:br>
              <a:rPr lang="en-US" dirty="0"/>
            </a:br>
            <a:br>
              <a:rPr lang="en-US" dirty="0"/>
            </a:br>
            <a:r>
              <a:rPr lang="en-US" sz="6000" dirty="0"/>
              <a:t>Session 02</a:t>
            </a: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p:txBody>
          <a:bodyPr/>
          <a:lstStyle/>
          <a:p>
            <a:r>
              <a:rPr lang="en-US" dirty="0"/>
              <a:t>Ivan Sebastian </a:t>
            </a:r>
            <a:r>
              <a:rPr lang="en-US" dirty="0" err="1"/>
              <a:t>Edbert</a:t>
            </a:r>
            <a:endParaRPr lang="en-US" dirty="0"/>
          </a:p>
        </p:txBody>
      </p:sp>
      <p:sp>
        <p:nvSpPr>
          <p:cNvPr id="5" name="Rectangle 7">
            <a:extLst>
              <a:ext uri="{FF2B5EF4-FFF2-40B4-BE49-F238E27FC236}">
                <a16:creationId xmlns:a16="http://schemas.microsoft.com/office/drawing/2014/main" id="{D93D5A33-4AE1-DFDD-5778-A52549DBFAFF}"/>
              </a:ext>
            </a:extLst>
          </p:cNvPr>
          <p:cNvSpPr>
            <a:spLocks noChangeArrowheads="1"/>
          </p:cNvSpPr>
          <p:nvPr/>
        </p:nvSpPr>
        <p:spPr bwMode="auto">
          <a:xfrm>
            <a:off x="1850571" y="3352800"/>
            <a:ext cx="20748172" cy="1870076"/>
          </a:xfrm>
          <a:prstGeom prst="rect">
            <a:avLst/>
          </a:prstGeom>
          <a:noFill/>
          <a:ln w="9525">
            <a:noFill/>
            <a:miter lim="800000"/>
            <a:headEnd/>
            <a:tailEnd/>
          </a:ln>
        </p:spPr>
        <p:txBody>
          <a:bodyPr/>
          <a:lstStyle/>
          <a:p>
            <a:pPr>
              <a:spcBef>
                <a:spcPct val="20000"/>
              </a:spcBef>
              <a:tabLst>
                <a:tab pos="2641600" algn="l"/>
                <a:tab pos="4108450" algn="l"/>
              </a:tabLst>
            </a:pPr>
            <a:r>
              <a:rPr lang="en-US" sz="4000" dirty="0">
                <a:solidFill>
                  <a:schemeClr val="bg1"/>
                </a:solidFill>
                <a:latin typeface="Tahoma" panose="020B0604030504040204" pitchFamily="34" charset="0"/>
                <a:ea typeface="Tahoma" panose="020B0604030504040204" pitchFamily="34" charset="0"/>
                <a:cs typeface="Tahoma" panose="020B0604030504040204" pitchFamily="34" charset="0"/>
              </a:rPr>
              <a:t>Course		: COMP6584001 – Network and Systems Programming </a:t>
            </a:r>
          </a:p>
        </p:txBody>
      </p:sp>
    </p:spTree>
    <p:extLst>
      <p:ext uri="{BB962C8B-B14F-4D97-AF65-F5344CB8AC3E}">
        <p14:creationId xmlns:p14="http://schemas.microsoft.com/office/powerpoint/2010/main" val="38075645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03F1C-0D61-4D2A-AE66-A44AB8F933D7}"/>
              </a:ext>
            </a:extLst>
          </p:cNvPr>
          <p:cNvSpPr>
            <a:spLocks noGrp="1"/>
          </p:cNvSpPr>
          <p:nvPr>
            <p:ph type="title"/>
          </p:nvPr>
        </p:nvSpPr>
        <p:spPr/>
        <p:txBody>
          <a:bodyPr>
            <a:normAutofit fontScale="90000"/>
          </a:bodyPr>
          <a:lstStyle/>
          <a:p>
            <a:r>
              <a:rPr lang="en-ID" dirty="0"/>
              <a:t>Learning Objectives</a:t>
            </a:r>
          </a:p>
        </p:txBody>
      </p:sp>
      <p:sp>
        <p:nvSpPr>
          <p:cNvPr id="4" name="Text Placeholder 3">
            <a:extLst>
              <a:ext uri="{FF2B5EF4-FFF2-40B4-BE49-F238E27FC236}">
                <a16:creationId xmlns:a16="http://schemas.microsoft.com/office/drawing/2014/main" id="{19B515F5-D54A-2C91-194C-DEE35FCDBF1E}"/>
              </a:ext>
            </a:extLst>
          </p:cNvPr>
          <p:cNvSpPr>
            <a:spLocks noGrp="1"/>
          </p:cNvSpPr>
          <p:nvPr>
            <p:ph type="body" sz="quarter" idx="10"/>
          </p:nvPr>
        </p:nvSpPr>
        <p:spPr/>
        <p:txBody>
          <a:bodyPr/>
          <a:lstStyle/>
          <a:p>
            <a:endParaRPr lang="en-US"/>
          </a:p>
        </p:txBody>
      </p:sp>
      <p:sp>
        <p:nvSpPr>
          <p:cNvPr id="3" name="Content Placeholder 2">
            <a:extLst>
              <a:ext uri="{FF2B5EF4-FFF2-40B4-BE49-F238E27FC236}">
                <a16:creationId xmlns:a16="http://schemas.microsoft.com/office/drawing/2014/main" id="{32603A01-370D-40D0-943E-E2F4C055BA40}"/>
              </a:ext>
            </a:extLst>
          </p:cNvPr>
          <p:cNvSpPr>
            <a:spLocks noGrp="1"/>
          </p:cNvSpPr>
          <p:nvPr>
            <p:ph sz="quarter" idx="11"/>
          </p:nvPr>
        </p:nvSpPr>
        <p:spPr>
          <a:xfrm>
            <a:off x="2167377" y="3260663"/>
            <a:ext cx="13714940" cy="4522264"/>
          </a:xfrm>
        </p:spPr>
        <p:txBody>
          <a:bodyPr>
            <a:noAutofit/>
          </a:bodyPr>
          <a:lstStyle/>
          <a:p>
            <a:pPr marL="0" indent="0">
              <a:buNone/>
            </a:pPr>
            <a:r>
              <a:rPr lang="en-US" sz="3200" dirty="0"/>
              <a:t>At the end of this session, the student will be expected to :</a:t>
            </a:r>
          </a:p>
          <a:p>
            <a:pPr marL="0" indent="0">
              <a:buNone/>
            </a:pPr>
            <a:endParaRPr lang="en-ID" sz="3200" dirty="0"/>
          </a:p>
          <a:p>
            <a:r>
              <a:rPr lang="en-ID" sz="3200" dirty="0"/>
              <a:t>Understand Internet Protocol</a:t>
            </a:r>
          </a:p>
          <a:p>
            <a:pPr marL="0" indent="0">
              <a:buNone/>
            </a:pPr>
            <a:endParaRPr lang="en-ID" sz="3200" dirty="0"/>
          </a:p>
          <a:p>
            <a:r>
              <a:rPr lang="en-ID" sz="3200" dirty="0"/>
              <a:t>Understand Internet Traffic Routing</a:t>
            </a:r>
          </a:p>
          <a:p>
            <a:endParaRPr lang="en-ID" sz="3200" dirty="0"/>
          </a:p>
          <a:p>
            <a:r>
              <a:rPr lang="en-ID" sz="3200" dirty="0"/>
              <a:t>Understand Routing Protocols</a:t>
            </a:r>
          </a:p>
          <a:p>
            <a:endParaRPr lang="en-ID" sz="3200" dirty="0"/>
          </a:p>
          <a:p>
            <a:r>
              <a:rPr lang="en-ID" sz="3200" dirty="0"/>
              <a:t>Understand Name and Address Resolution</a:t>
            </a:r>
          </a:p>
        </p:txBody>
      </p:sp>
    </p:spTree>
    <p:extLst>
      <p:ext uri="{BB962C8B-B14F-4D97-AF65-F5344CB8AC3E}">
        <p14:creationId xmlns:p14="http://schemas.microsoft.com/office/powerpoint/2010/main" val="1095015831"/>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8EE7E-7D6D-1075-C43E-31110FFB87EF}"/>
              </a:ext>
            </a:extLst>
          </p:cNvPr>
          <p:cNvSpPr>
            <a:spLocks noGrp="1"/>
          </p:cNvSpPr>
          <p:nvPr>
            <p:ph type="title"/>
          </p:nvPr>
        </p:nvSpPr>
        <p:spPr/>
        <p:txBody>
          <a:bodyPr>
            <a:normAutofit fontScale="90000"/>
          </a:bodyPr>
          <a:lstStyle/>
          <a:p>
            <a:r>
              <a:rPr lang="en-US" dirty="0"/>
              <a:t>Outline</a:t>
            </a:r>
          </a:p>
        </p:txBody>
      </p:sp>
      <p:sp>
        <p:nvSpPr>
          <p:cNvPr id="5" name="Text Placeholder 4">
            <a:extLst>
              <a:ext uri="{FF2B5EF4-FFF2-40B4-BE49-F238E27FC236}">
                <a16:creationId xmlns:a16="http://schemas.microsoft.com/office/drawing/2014/main" id="{45F26CDD-3EFB-2B8E-0F76-60A23F660E6B}"/>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820D9012-F4DE-DB8A-ABB7-846D54F87075}"/>
              </a:ext>
            </a:extLst>
          </p:cNvPr>
          <p:cNvSpPr>
            <a:spLocks noGrp="1"/>
          </p:cNvSpPr>
          <p:nvPr>
            <p:ph sz="quarter" idx="11"/>
          </p:nvPr>
        </p:nvSpPr>
        <p:spPr>
          <a:xfrm>
            <a:off x="2167377" y="3260663"/>
            <a:ext cx="13714940" cy="4522264"/>
          </a:xfrm>
        </p:spPr>
        <p:txBody>
          <a:bodyPr>
            <a:noAutofit/>
          </a:bodyPr>
          <a:lstStyle/>
          <a:p>
            <a:r>
              <a:rPr lang="en-ID" sz="3200" dirty="0"/>
              <a:t>Internet Protocol</a:t>
            </a:r>
          </a:p>
          <a:p>
            <a:r>
              <a:rPr lang="en-ID" sz="3200" dirty="0"/>
              <a:t>Traffic Routing </a:t>
            </a:r>
          </a:p>
          <a:p>
            <a:r>
              <a:rPr lang="en-ID" sz="3200" dirty="0"/>
              <a:t>Routing protocols</a:t>
            </a:r>
          </a:p>
          <a:p>
            <a:r>
              <a:rPr lang="en-ID" sz="3200" dirty="0"/>
              <a:t>Name and address Resolution</a:t>
            </a:r>
          </a:p>
          <a:p>
            <a:endParaRPr lang="en-ID" sz="3200" dirty="0"/>
          </a:p>
          <a:p>
            <a:endParaRPr lang="en-ID" sz="3200" dirty="0"/>
          </a:p>
          <a:p>
            <a:endParaRPr lang="en-US" sz="3200" dirty="0"/>
          </a:p>
        </p:txBody>
      </p:sp>
    </p:spTree>
    <p:extLst>
      <p:ext uri="{BB962C8B-B14F-4D97-AF65-F5344CB8AC3E}">
        <p14:creationId xmlns:p14="http://schemas.microsoft.com/office/powerpoint/2010/main" val="1504276071"/>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3683E20-3E92-DD52-C661-C10C6224C635}"/>
              </a:ext>
            </a:extLst>
          </p:cNvPr>
          <p:cNvSpPr>
            <a:spLocks noGrp="1"/>
          </p:cNvSpPr>
          <p:nvPr>
            <p:ph type="title"/>
          </p:nvPr>
        </p:nvSpPr>
        <p:spPr/>
        <p:txBody>
          <a:bodyPr/>
          <a:lstStyle/>
          <a:p>
            <a:r>
              <a:rPr lang="en-US" dirty="0"/>
              <a:t>Internet protocol</a:t>
            </a:r>
          </a:p>
        </p:txBody>
      </p:sp>
    </p:spTree>
    <p:extLst>
      <p:ext uri="{BB962C8B-B14F-4D97-AF65-F5344CB8AC3E}">
        <p14:creationId xmlns:p14="http://schemas.microsoft.com/office/powerpoint/2010/main" val="3280769194"/>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B26A8-6283-74F8-8289-B3DA0C4EC650}"/>
              </a:ext>
            </a:extLst>
          </p:cNvPr>
          <p:cNvSpPr>
            <a:spLocks noGrp="1"/>
          </p:cNvSpPr>
          <p:nvPr>
            <p:ph type="title"/>
          </p:nvPr>
        </p:nvSpPr>
        <p:spPr/>
        <p:txBody>
          <a:bodyPr>
            <a:normAutofit fontScale="90000"/>
          </a:bodyPr>
          <a:lstStyle/>
          <a:p>
            <a:r>
              <a:rPr lang="en-US" dirty="0"/>
              <a:t>Internet protocol</a:t>
            </a:r>
          </a:p>
        </p:txBody>
      </p:sp>
      <p:sp>
        <p:nvSpPr>
          <p:cNvPr id="3" name="Text Placeholder 2">
            <a:extLst>
              <a:ext uri="{FF2B5EF4-FFF2-40B4-BE49-F238E27FC236}">
                <a16:creationId xmlns:a16="http://schemas.microsoft.com/office/drawing/2014/main" id="{BF0C6746-347D-3A51-7A90-0F897943208E}"/>
              </a:ext>
            </a:extLst>
          </p:cNvPr>
          <p:cNvSpPr>
            <a:spLocks noGrp="1"/>
          </p:cNvSpPr>
          <p:nvPr>
            <p:ph type="body" sz="quarter" idx="10"/>
          </p:nvPr>
        </p:nvSpPr>
        <p:spPr/>
        <p:txBody>
          <a:bodyPr/>
          <a:lstStyle/>
          <a:p>
            <a:endParaRPr lang="en-US" dirty="0"/>
          </a:p>
        </p:txBody>
      </p:sp>
      <p:sp>
        <p:nvSpPr>
          <p:cNvPr id="4" name="Content Placeholder 3">
            <a:extLst>
              <a:ext uri="{FF2B5EF4-FFF2-40B4-BE49-F238E27FC236}">
                <a16:creationId xmlns:a16="http://schemas.microsoft.com/office/drawing/2014/main" id="{DC3242C7-200F-1242-B350-FFCA66FFEEB1}"/>
              </a:ext>
            </a:extLst>
          </p:cNvPr>
          <p:cNvSpPr>
            <a:spLocks noGrp="1"/>
          </p:cNvSpPr>
          <p:nvPr>
            <p:ph sz="quarter" idx="11"/>
          </p:nvPr>
        </p:nvSpPr>
        <p:spPr>
          <a:xfrm>
            <a:off x="5334530" y="3260663"/>
            <a:ext cx="13714940" cy="4522264"/>
          </a:xfrm>
        </p:spPr>
        <p:txBody>
          <a:bodyPr>
            <a:noAutofit/>
          </a:bodyPr>
          <a:lstStyle/>
          <a:p>
            <a:pPr algn="just"/>
            <a:r>
              <a:rPr lang="en-US" sz="3200" dirty="0"/>
              <a:t>The Internet Protocol (IP) is a protocol, or set of rules, for routing and addressing packets of data so that they can travel across networks and arrive at the correct destination</a:t>
            </a:r>
          </a:p>
          <a:p>
            <a:pPr algn="just"/>
            <a:r>
              <a:rPr lang="en-US" sz="3200" dirty="0"/>
              <a:t>Data traversing the Internet is divided into smaller pieces, called packets.</a:t>
            </a:r>
          </a:p>
          <a:p>
            <a:pPr algn="just"/>
            <a:r>
              <a:rPr lang="en-US" sz="3200" dirty="0"/>
              <a:t>IP information is attached to each packet, and this information helps routers to send packets to the right place. </a:t>
            </a:r>
          </a:p>
          <a:p>
            <a:pPr algn="just"/>
            <a:r>
              <a:rPr lang="en-US" sz="3200" dirty="0"/>
              <a:t>Every device or domain that connects to the Internet is assigned an IP address, and as packets are directed to the IP address attached to them, data arrives where it is needed.</a:t>
            </a:r>
          </a:p>
          <a:p>
            <a:pPr algn="just"/>
            <a:r>
              <a:rPr lang="en-US" sz="3200" dirty="0"/>
              <a:t>Two versions of IP addresses are in public use: IPv4 and IPv6. This chapter covers both.</a:t>
            </a:r>
          </a:p>
        </p:txBody>
      </p:sp>
    </p:spTree>
    <p:extLst>
      <p:ext uri="{BB962C8B-B14F-4D97-AF65-F5344CB8AC3E}">
        <p14:creationId xmlns:p14="http://schemas.microsoft.com/office/powerpoint/2010/main" val="1125515374"/>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F0393-157F-7497-0A22-ED31BC5B6142}"/>
              </a:ext>
            </a:extLst>
          </p:cNvPr>
          <p:cNvSpPr>
            <a:spLocks noGrp="1"/>
          </p:cNvSpPr>
          <p:nvPr>
            <p:ph type="title"/>
          </p:nvPr>
        </p:nvSpPr>
        <p:spPr/>
        <p:txBody>
          <a:bodyPr>
            <a:normAutofit fontScale="90000"/>
          </a:bodyPr>
          <a:lstStyle/>
          <a:p>
            <a:r>
              <a:rPr lang="en-US" dirty="0"/>
              <a:t>Internet protocols</a:t>
            </a:r>
          </a:p>
        </p:txBody>
      </p:sp>
      <p:sp>
        <p:nvSpPr>
          <p:cNvPr id="3" name="Text Placeholder 2">
            <a:extLst>
              <a:ext uri="{FF2B5EF4-FFF2-40B4-BE49-F238E27FC236}">
                <a16:creationId xmlns:a16="http://schemas.microsoft.com/office/drawing/2014/main" id="{BF0FC559-F090-7688-80F1-0F942DE490BB}"/>
              </a:ext>
            </a:extLst>
          </p:cNvPr>
          <p:cNvSpPr>
            <a:spLocks noGrp="1"/>
          </p:cNvSpPr>
          <p:nvPr>
            <p:ph type="body" sz="quarter" idx="10"/>
          </p:nvPr>
        </p:nvSpPr>
        <p:spPr/>
        <p:txBody>
          <a:bodyPr/>
          <a:lstStyle/>
          <a:p>
            <a:r>
              <a:rPr lang="en-US" dirty="0"/>
              <a:t>IPv4 Addressing</a:t>
            </a:r>
          </a:p>
        </p:txBody>
      </p:sp>
      <p:sp>
        <p:nvSpPr>
          <p:cNvPr id="4" name="Content Placeholder 3">
            <a:extLst>
              <a:ext uri="{FF2B5EF4-FFF2-40B4-BE49-F238E27FC236}">
                <a16:creationId xmlns:a16="http://schemas.microsoft.com/office/drawing/2014/main" id="{43203886-682D-EF4A-F58D-5E17A2B5DA3F}"/>
              </a:ext>
            </a:extLst>
          </p:cNvPr>
          <p:cNvSpPr>
            <a:spLocks noGrp="1"/>
          </p:cNvSpPr>
          <p:nvPr>
            <p:ph sz="quarter" idx="11"/>
          </p:nvPr>
        </p:nvSpPr>
        <p:spPr>
          <a:xfrm>
            <a:off x="5334530" y="3720785"/>
            <a:ext cx="13714940" cy="4522264"/>
          </a:xfrm>
        </p:spPr>
        <p:txBody>
          <a:bodyPr>
            <a:normAutofit lnSpcReduction="10000"/>
          </a:bodyPr>
          <a:lstStyle/>
          <a:p>
            <a:pPr algn="just"/>
            <a:r>
              <a:rPr lang="en-US" sz="3200" dirty="0"/>
              <a:t>IPv4 is the fourth version of the Internet Protocol. It was the first IP version in use on the internet’s precursor, ARPANET, in 1983, and the predominant version in use today. IPv4 addresses are 32-bit numbers arranged in four groups of 8 bits (called octets) separated by decimal points.</a:t>
            </a:r>
          </a:p>
          <a:p>
            <a:pPr algn="just"/>
            <a:r>
              <a:rPr lang="en-US" sz="3200" dirty="0"/>
              <a:t>The total range of 32-bit numbers limits us to just over four billion possible IPv4 addresses. Figure 2-1 shows the binary and decimal representation of an IPv4 address.</a:t>
            </a:r>
          </a:p>
        </p:txBody>
      </p:sp>
      <p:pic>
        <p:nvPicPr>
          <p:cNvPr id="6" name="Picture 5" descr="A screenshot of a computer&#10;&#10;Description automatically generated">
            <a:extLst>
              <a:ext uri="{FF2B5EF4-FFF2-40B4-BE49-F238E27FC236}">
                <a16:creationId xmlns:a16="http://schemas.microsoft.com/office/drawing/2014/main" id="{B75D281E-ABC3-F408-CD02-755B8DC02E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88727" y="8385661"/>
            <a:ext cx="12606546" cy="3520152"/>
          </a:xfrm>
          <a:prstGeom prst="rect">
            <a:avLst/>
          </a:prstGeom>
        </p:spPr>
      </p:pic>
    </p:spTree>
    <p:extLst>
      <p:ext uri="{BB962C8B-B14F-4D97-AF65-F5344CB8AC3E}">
        <p14:creationId xmlns:p14="http://schemas.microsoft.com/office/powerpoint/2010/main" val="1997647775"/>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83DFC-9CAB-3A12-B78A-C45F3771382B}"/>
              </a:ext>
            </a:extLst>
          </p:cNvPr>
          <p:cNvSpPr>
            <a:spLocks noGrp="1"/>
          </p:cNvSpPr>
          <p:nvPr>
            <p:ph type="title"/>
          </p:nvPr>
        </p:nvSpPr>
        <p:spPr/>
        <p:txBody>
          <a:bodyPr>
            <a:normAutofit fontScale="90000"/>
          </a:bodyPr>
          <a:lstStyle/>
          <a:p>
            <a:r>
              <a:rPr lang="en-US" dirty="0"/>
              <a:t>Internet protocol</a:t>
            </a:r>
          </a:p>
        </p:txBody>
      </p:sp>
      <p:sp>
        <p:nvSpPr>
          <p:cNvPr id="3" name="Text Placeholder 2">
            <a:extLst>
              <a:ext uri="{FF2B5EF4-FFF2-40B4-BE49-F238E27FC236}">
                <a16:creationId xmlns:a16="http://schemas.microsoft.com/office/drawing/2014/main" id="{35A772EC-1371-77CB-5104-50D58B6AE446}"/>
              </a:ext>
            </a:extLst>
          </p:cNvPr>
          <p:cNvSpPr>
            <a:spLocks noGrp="1"/>
          </p:cNvSpPr>
          <p:nvPr>
            <p:ph type="body" sz="quarter" idx="10"/>
          </p:nvPr>
        </p:nvSpPr>
        <p:spPr/>
        <p:txBody>
          <a:bodyPr/>
          <a:lstStyle/>
          <a:p>
            <a:r>
              <a:rPr lang="en-US" dirty="0"/>
              <a:t>Ipv6 addressing </a:t>
            </a:r>
          </a:p>
        </p:txBody>
      </p:sp>
      <p:sp>
        <p:nvSpPr>
          <p:cNvPr id="4" name="Content Placeholder 3">
            <a:extLst>
              <a:ext uri="{FF2B5EF4-FFF2-40B4-BE49-F238E27FC236}">
                <a16:creationId xmlns:a16="http://schemas.microsoft.com/office/drawing/2014/main" id="{24A1F409-7573-9F4F-69AF-D50BB4E5D5B5}"/>
              </a:ext>
            </a:extLst>
          </p:cNvPr>
          <p:cNvSpPr>
            <a:spLocks noGrp="1"/>
          </p:cNvSpPr>
          <p:nvPr>
            <p:ph sz="quarter" idx="11"/>
          </p:nvPr>
        </p:nvSpPr>
        <p:spPr>
          <a:xfrm>
            <a:off x="5078782" y="3684926"/>
            <a:ext cx="13714940" cy="4522264"/>
          </a:xfrm>
        </p:spPr>
        <p:txBody>
          <a:bodyPr>
            <a:normAutofit/>
          </a:bodyPr>
          <a:lstStyle/>
          <a:p>
            <a:pPr algn="just"/>
            <a:r>
              <a:rPr lang="en-US" sz="3200" dirty="0"/>
              <a:t>Another solution to the IPv4 shortage is to migrate to the next generation of IP addressing, IPv6. IPv6 addresses are 128-bit numbers arranged in eight colon-separated groups of 16 bits, or </a:t>
            </a:r>
            <a:r>
              <a:rPr lang="en-US" sz="3200" dirty="0" err="1"/>
              <a:t>hextets</a:t>
            </a:r>
            <a:r>
              <a:rPr lang="en-US" sz="3200" dirty="0"/>
              <a:t>. There are more than 340 </a:t>
            </a:r>
            <a:r>
              <a:rPr lang="en-US" sz="3200" dirty="0" err="1"/>
              <a:t>unde</a:t>
            </a:r>
            <a:r>
              <a:rPr lang="en-US" sz="3200" dirty="0"/>
              <a:t>- </a:t>
            </a:r>
            <a:r>
              <a:rPr lang="en-US" sz="3200" dirty="0" err="1"/>
              <a:t>cillion</a:t>
            </a:r>
            <a:r>
              <a:rPr lang="en-US" sz="3200" dirty="0"/>
              <a:t> (2128) IPv6 addresses.</a:t>
            </a:r>
          </a:p>
          <a:p>
            <a:pPr algn="just"/>
            <a:r>
              <a:rPr lang="en-US" sz="3200" dirty="0"/>
              <a:t>Writing IPv6 Addresses in binary form, IPv6 addresses are a bit ridiculous to write. In the interest of legibility and compactness, we write IPv6 addresses with lowercase hexa- decimal values instead.</a:t>
            </a:r>
          </a:p>
          <a:p>
            <a:pPr algn="just"/>
            <a:endParaRPr lang="en-US" sz="3200" dirty="0"/>
          </a:p>
        </p:txBody>
      </p:sp>
      <p:pic>
        <p:nvPicPr>
          <p:cNvPr id="6" name="Picture 5" descr="A screenshot of a math problem&#10;&#10;Description automatically generated">
            <a:extLst>
              <a:ext uri="{FF2B5EF4-FFF2-40B4-BE49-F238E27FC236}">
                <a16:creationId xmlns:a16="http://schemas.microsoft.com/office/drawing/2014/main" id="{1D52B129-60E2-55B7-4177-6EA88E9FA0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36622" y="8690148"/>
            <a:ext cx="10453378" cy="4245627"/>
          </a:xfrm>
          <a:prstGeom prst="rect">
            <a:avLst/>
          </a:prstGeom>
        </p:spPr>
      </p:pic>
      <p:sp>
        <p:nvSpPr>
          <p:cNvPr id="8" name="TextBox 7">
            <a:extLst>
              <a:ext uri="{FF2B5EF4-FFF2-40B4-BE49-F238E27FC236}">
                <a16:creationId xmlns:a16="http://schemas.microsoft.com/office/drawing/2014/main" id="{C76F09E1-D54D-DC85-FACC-122D3D0C9AF4}"/>
              </a:ext>
            </a:extLst>
          </p:cNvPr>
          <p:cNvSpPr txBox="1"/>
          <p:nvPr/>
        </p:nvSpPr>
        <p:spPr>
          <a:xfrm>
            <a:off x="1738622" y="9509777"/>
            <a:ext cx="10453378" cy="255454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en-ID" sz="3200" dirty="0">
                <a:solidFill>
                  <a:schemeClr val="bg1"/>
                </a:solidFill>
                <a:effectLst/>
              </a:rPr>
              <a:t>A hexadecimal (hex) digit represents 4 bits, or a </a:t>
            </a:r>
            <a:r>
              <a:rPr lang="en-ID" sz="3200" i="1" dirty="0">
                <a:solidFill>
                  <a:schemeClr val="bg1"/>
                </a:solidFill>
                <a:effectLst/>
              </a:rPr>
              <a:t>nibble</a:t>
            </a:r>
            <a:r>
              <a:rPr lang="en-ID" sz="3200" dirty="0">
                <a:solidFill>
                  <a:schemeClr val="bg1"/>
                </a:solidFill>
                <a:effectLst/>
              </a:rPr>
              <a:t>, of an IPv6 address. For example, we’d represent the two nibbles 1111 1111 in their hexadecimal equivalent of ff. Figure 2-9 illustrates the same IPv6 address in binary and hex. </a:t>
            </a:r>
            <a:endParaRPr lang="en-ID" sz="3200" dirty="0">
              <a:solidFill>
                <a:schemeClr val="bg1"/>
              </a:solidFill>
            </a:endParaRPr>
          </a:p>
        </p:txBody>
      </p:sp>
    </p:spTree>
    <p:extLst>
      <p:ext uri="{BB962C8B-B14F-4D97-AF65-F5344CB8AC3E}">
        <p14:creationId xmlns:p14="http://schemas.microsoft.com/office/powerpoint/2010/main" val="2156480119"/>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47667-241A-AC6C-6402-E2CDEC2A8346}"/>
              </a:ext>
            </a:extLst>
          </p:cNvPr>
          <p:cNvSpPr>
            <a:spLocks noGrp="1"/>
          </p:cNvSpPr>
          <p:nvPr>
            <p:ph type="title"/>
          </p:nvPr>
        </p:nvSpPr>
        <p:spPr/>
        <p:txBody>
          <a:bodyPr>
            <a:normAutofit fontScale="90000"/>
          </a:bodyPr>
          <a:lstStyle/>
          <a:p>
            <a:r>
              <a:rPr lang="en-US" dirty="0"/>
              <a:t>Internet protocol</a:t>
            </a:r>
          </a:p>
        </p:txBody>
      </p:sp>
      <p:sp>
        <p:nvSpPr>
          <p:cNvPr id="3" name="Text Placeholder 2">
            <a:extLst>
              <a:ext uri="{FF2B5EF4-FFF2-40B4-BE49-F238E27FC236}">
                <a16:creationId xmlns:a16="http://schemas.microsoft.com/office/drawing/2014/main" id="{23D8EF35-F396-5FD5-C644-C6F585BCC166}"/>
              </a:ext>
            </a:extLst>
          </p:cNvPr>
          <p:cNvSpPr>
            <a:spLocks noGrp="1"/>
          </p:cNvSpPr>
          <p:nvPr>
            <p:ph type="body" sz="quarter" idx="10"/>
          </p:nvPr>
        </p:nvSpPr>
        <p:spPr/>
        <p:txBody>
          <a:bodyPr/>
          <a:lstStyle/>
          <a:p>
            <a:r>
              <a:rPr lang="en-US" dirty="0"/>
              <a:t>Ipv4 vs ipv6</a:t>
            </a:r>
          </a:p>
        </p:txBody>
      </p:sp>
      <p:sp>
        <p:nvSpPr>
          <p:cNvPr id="4" name="Content Placeholder 3">
            <a:extLst>
              <a:ext uri="{FF2B5EF4-FFF2-40B4-BE49-F238E27FC236}">
                <a16:creationId xmlns:a16="http://schemas.microsoft.com/office/drawing/2014/main" id="{D39AC9FD-8092-0E0C-A661-B2D7887725E5}"/>
              </a:ext>
            </a:extLst>
          </p:cNvPr>
          <p:cNvSpPr>
            <a:spLocks noGrp="1"/>
          </p:cNvSpPr>
          <p:nvPr>
            <p:ph sz="quarter" idx="11"/>
          </p:nvPr>
        </p:nvSpPr>
        <p:spPr>
          <a:xfrm>
            <a:off x="2167377" y="3495804"/>
            <a:ext cx="10024624" cy="4195914"/>
          </a:xfrm>
        </p:spPr>
        <p:txBody>
          <a:bodyPr>
            <a:noAutofit/>
          </a:bodyPr>
          <a:lstStyle/>
          <a:p>
            <a:pPr marL="514350" indent="-514350">
              <a:buFont typeface="+mj-lt"/>
              <a:buAutoNum type="arabicPeriod"/>
            </a:pPr>
            <a:r>
              <a:rPr lang="en-US" sz="2800" b="1" dirty="0"/>
              <a:t>Address Length:</a:t>
            </a:r>
          </a:p>
          <a:p>
            <a:r>
              <a:rPr lang="en-US" sz="2800" dirty="0"/>
              <a:t>IPv4: Uses 32-bit addresses, which results in approximately 4.3 billion unique addresses.</a:t>
            </a:r>
          </a:p>
          <a:p>
            <a:r>
              <a:rPr lang="en-US" sz="2800" dirty="0"/>
              <a:t>IPv6: Uses 128-bit addresses, providing an immensely larger address space, with 2^128 (about 3.4 x 10^38) unique addresses.</a:t>
            </a:r>
          </a:p>
        </p:txBody>
      </p:sp>
      <p:sp>
        <p:nvSpPr>
          <p:cNvPr id="6" name="Content Placeholder 3">
            <a:extLst>
              <a:ext uri="{FF2B5EF4-FFF2-40B4-BE49-F238E27FC236}">
                <a16:creationId xmlns:a16="http://schemas.microsoft.com/office/drawing/2014/main" id="{ADEB2959-F7FE-0949-5244-A4BE2BD81680}"/>
              </a:ext>
            </a:extLst>
          </p:cNvPr>
          <p:cNvSpPr txBox="1">
            <a:spLocks/>
          </p:cNvSpPr>
          <p:nvPr/>
        </p:nvSpPr>
        <p:spPr>
          <a:xfrm>
            <a:off x="2167376" y="7964248"/>
            <a:ext cx="10024624" cy="41959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514350" indent="-514350">
              <a:buFont typeface="+mj-lt"/>
              <a:buAutoNum type="arabicPeriod" startAt="2"/>
            </a:pPr>
            <a:r>
              <a:rPr lang="en-ID" sz="2800" b="1" dirty="0"/>
              <a:t>Address Notation:</a:t>
            </a:r>
          </a:p>
          <a:p>
            <a:r>
              <a:rPr lang="en-ID" sz="2800" dirty="0"/>
              <a:t>IPv4: Addresses are expressed in dotted-decimal format, such as 192.168.0.1.</a:t>
            </a:r>
          </a:p>
          <a:p>
            <a:r>
              <a:rPr lang="en-ID" sz="2800" dirty="0"/>
              <a:t>IPv6: Addresses are expressed in hexadecimal notation separated by colons, such as 2001:0db8:85a3:0000:0000:8a2e:0370:7334.</a:t>
            </a:r>
          </a:p>
        </p:txBody>
      </p:sp>
      <p:sp>
        <p:nvSpPr>
          <p:cNvPr id="7" name="Content Placeholder 3">
            <a:extLst>
              <a:ext uri="{FF2B5EF4-FFF2-40B4-BE49-F238E27FC236}">
                <a16:creationId xmlns:a16="http://schemas.microsoft.com/office/drawing/2014/main" id="{E92D277F-6737-A02F-F597-2E5D63737BAD}"/>
              </a:ext>
            </a:extLst>
          </p:cNvPr>
          <p:cNvSpPr txBox="1">
            <a:spLocks/>
          </p:cNvSpPr>
          <p:nvPr/>
        </p:nvSpPr>
        <p:spPr>
          <a:xfrm>
            <a:off x="12447750" y="3223274"/>
            <a:ext cx="10024624" cy="41959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514350" indent="-514350">
              <a:buFont typeface="+mj-lt"/>
              <a:buAutoNum type="arabicPeriod" startAt="3"/>
            </a:pPr>
            <a:r>
              <a:rPr lang="en-ID" sz="2800" b="1" dirty="0"/>
              <a:t>Subnetting:</a:t>
            </a:r>
          </a:p>
          <a:p>
            <a:r>
              <a:rPr lang="en-ID" sz="2800" dirty="0"/>
              <a:t>IPv4: Often requires subnetting due to the limited address space. Subnet masks are used to divide the address space into smaller segments.</a:t>
            </a:r>
          </a:p>
          <a:p>
            <a:r>
              <a:rPr lang="en-ID" sz="2800" dirty="0"/>
              <a:t>IPv6: Subnetting is typically less complex due to the abundance of addresses available. The addressing structure allows for hierarchical addressing without the need for Network Address Translation (NAT) in most cases.</a:t>
            </a:r>
          </a:p>
        </p:txBody>
      </p:sp>
      <p:sp>
        <p:nvSpPr>
          <p:cNvPr id="8" name="Content Placeholder 3">
            <a:extLst>
              <a:ext uri="{FF2B5EF4-FFF2-40B4-BE49-F238E27FC236}">
                <a16:creationId xmlns:a16="http://schemas.microsoft.com/office/drawing/2014/main" id="{564FA233-E94B-7E44-6F13-C77E53EAC192}"/>
              </a:ext>
            </a:extLst>
          </p:cNvPr>
          <p:cNvSpPr txBox="1">
            <a:spLocks/>
          </p:cNvSpPr>
          <p:nvPr/>
        </p:nvSpPr>
        <p:spPr>
          <a:xfrm>
            <a:off x="12447750" y="8260123"/>
            <a:ext cx="10024624" cy="41959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514350" indent="-514350">
              <a:buFont typeface="+mj-lt"/>
              <a:buAutoNum type="arabicPeriod" startAt="4"/>
            </a:pPr>
            <a:r>
              <a:rPr lang="en-ID" sz="2800" b="1" dirty="0"/>
              <a:t>Security:</a:t>
            </a:r>
          </a:p>
          <a:p>
            <a:r>
              <a:rPr lang="en-ID" sz="2800" dirty="0"/>
              <a:t>IPv4: Security features such as IPsec are optional.</a:t>
            </a:r>
          </a:p>
          <a:p>
            <a:r>
              <a:rPr lang="en-ID" sz="2800" dirty="0"/>
              <a:t>IPv6: IPsec support is mandatory, providing a built-in framework for securing communications.</a:t>
            </a:r>
          </a:p>
        </p:txBody>
      </p:sp>
      <p:sp>
        <p:nvSpPr>
          <p:cNvPr id="9" name="TextBox 8">
            <a:extLst>
              <a:ext uri="{FF2B5EF4-FFF2-40B4-BE49-F238E27FC236}">
                <a16:creationId xmlns:a16="http://schemas.microsoft.com/office/drawing/2014/main" id="{70B0C8D5-3A7B-0752-EAE6-D3B70B71632E}"/>
              </a:ext>
            </a:extLst>
          </p:cNvPr>
          <p:cNvSpPr txBox="1"/>
          <p:nvPr/>
        </p:nvSpPr>
        <p:spPr>
          <a:xfrm>
            <a:off x="4654729" y="11975496"/>
            <a:ext cx="14563043" cy="15799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just"/>
            <a:r>
              <a:rPr lang="en-ID" b="0" i="0" dirty="0">
                <a:solidFill>
                  <a:srgbClr val="FFFF00"/>
                </a:solidFill>
                <a:effectLst/>
              </a:rPr>
              <a:t>In summary, IPv6 was introduced to address the limitations of IPv4, primarily the exhaustion of address space. While IPv4 continues to be the dominant protocol, the transition to IPv6 is ongoing to accommodate the growing number of devices connected to the Internet and to overcome the challenges posed by the limited IPv4 address space.</a:t>
            </a:r>
          </a:p>
        </p:txBody>
      </p:sp>
    </p:spTree>
    <p:extLst>
      <p:ext uri="{BB962C8B-B14F-4D97-AF65-F5344CB8AC3E}">
        <p14:creationId xmlns:p14="http://schemas.microsoft.com/office/powerpoint/2010/main" val="550395535"/>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3683E20-3E92-DD52-C661-C10C6224C635}"/>
              </a:ext>
            </a:extLst>
          </p:cNvPr>
          <p:cNvSpPr>
            <a:spLocks noGrp="1"/>
          </p:cNvSpPr>
          <p:nvPr>
            <p:ph type="title"/>
          </p:nvPr>
        </p:nvSpPr>
        <p:spPr/>
        <p:txBody>
          <a:bodyPr/>
          <a:lstStyle/>
          <a:p>
            <a:r>
              <a:rPr lang="en-US" dirty="0"/>
              <a:t>Traffic Routing</a:t>
            </a:r>
          </a:p>
        </p:txBody>
      </p:sp>
    </p:spTree>
    <p:extLst>
      <p:ext uri="{BB962C8B-B14F-4D97-AF65-F5344CB8AC3E}">
        <p14:creationId xmlns:p14="http://schemas.microsoft.com/office/powerpoint/2010/main" val="2210254286"/>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8AB04-6798-286B-D621-430322F313C1}"/>
              </a:ext>
            </a:extLst>
          </p:cNvPr>
          <p:cNvSpPr>
            <a:spLocks noGrp="1"/>
          </p:cNvSpPr>
          <p:nvPr>
            <p:ph type="title"/>
          </p:nvPr>
        </p:nvSpPr>
        <p:spPr/>
        <p:txBody>
          <a:bodyPr>
            <a:normAutofit fontScale="90000"/>
          </a:bodyPr>
          <a:lstStyle/>
          <a:p>
            <a:r>
              <a:rPr lang="en-US" dirty="0"/>
              <a:t>Internet Traffic routing</a:t>
            </a:r>
          </a:p>
        </p:txBody>
      </p:sp>
      <p:sp>
        <p:nvSpPr>
          <p:cNvPr id="3" name="Text Placeholder 2">
            <a:extLst>
              <a:ext uri="{FF2B5EF4-FFF2-40B4-BE49-F238E27FC236}">
                <a16:creationId xmlns:a16="http://schemas.microsoft.com/office/drawing/2014/main" id="{FCB47BA2-8CEC-505D-1AF4-C077ADD672BB}"/>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65DB2612-7C39-1B42-65B6-E16AF147952D}"/>
              </a:ext>
            </a:extLst>
          </p:cNvPr>
          <p:cNvSpPr>
            <a:spLocks noGrp="1"/>
          </p:cNvSpPr>
          <p:nvPr>
            <p:ph sz="quarter" idx="11"/>
          </p:nvPr>
        </p:nvSpPr>
        <p:spPr>
          <a:xfrm>
            <a:off x="1022506" y="5385764"/>
            <a:ext cx="13714940" cy="4522264"/>
          </a:xfrm>
        </p:spPr>
        <p:txBody>
          <a:bodyPr>
            <a:normAutofit/>
          </a:bodyPr>
          <a:lstStyle/>
          <a:p>
            <a:pPr algn="just"/>
            <a:r>
              <a:rPr lang="en-US" sz="3200" dirty="0"/>
              <a:t>Internet traffic routing refers to the process of directing data packets from their source to their destination across a network of interconnected routers and switches. </a:t>
            </a:r>
          </a:p>
          <a:p>
            <a:pPr algn="just"/>
            <a:r>
              <a:rPr lang="en-US" sz="3200" dirty="0"/>
              <a:t>Routing is a critical aspect of the Internet's infrastructure, enabling efficient and reliable communication between devices and networks. The process involves multiple steps and the use of routing protocols to determine the optimal paths for data transmission.</a:t>
            </a:r>
          </a:p>
          <a:p>
            <a:pPr algn="just"/>
            <a:endParaRPr lang="en-US" sz="3200" dirty="0"/>
          </a:p>
          <a:p>
            <a:pPr algn="just"/>
            <a:endParaRPr lang="en-US" sz="3200" dirty="0"/>
          </a:p>
        </p:txBody>
      </p:sp>
      <p:pic>
        <p:nvPicPr>
          <p:cNvPr id="6" name="Picture 5" descr="A diagram of several servers&#10;&#10;Description automatically generated">
            <a:extLst>
              <a:ext uri="{FF2B5EF4-FFF2-40B4-BE49-F238E27FC236}">
                <a16:creationId xmlns:a16="http://schemas.microsoft.com/office/drawing/2014/main" id="{A9BED634-F1A9-0FC6-C6CA-D9EB3EA54D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910016" y="3926542"/>
            <a:ext cx="8787927" cy="6987990"/>
          </a:xfrm>
          <a:prstGeom prst="rect">
            <a:avLst/>
          </a:prstGeom>
        </p:spPr>
      </p:pic>
    </p:spTree>
    <p:extLst>
      <p:ext uri="{BB962C8B-B14F-4D97-AF65-F5344CB8AC3E}">
        <p14:creationId xmlns:p14="http://schemas.microsoft.com/office/powerpoint/2010/main" val="2418730829"/>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92596-4957-41A3-72F0-D2E3F9F76950}"/>
              </a:ext>
            </a:extLst>
          </p:cNvPr>
          <p:cNvSpPr>
            <a:spLocks noGrp="1"/>
          </p:cNvSpPr>
          <p:nvPr>
            <p:ph type="title"/>
          </p:nvPr>
        </p:nvSpPr>
        <p:spPr/>
        <p:txBody>
          <a:bodyPr/>
          <a:lstStyle/>
          <a:p>
            <a:r>
              <a:rPr lang="en-US" dirty="0"/>
              <a:t>Routing protocols</a:t>
            </a:r>
          </a:p>
        </p:txBody>
      </p:sp>
    </p:spTree>
    <p:extLst>
      <p:ext uri="{BB962C8B-B14F-4D97-AF65-F5344CB8AC3E}">
        <p14:creationId xmlns:p14="http://schemas.microsoft.com/office/powerpoint/2010/main" val="3558860988"/>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7EC91-AC70-161B-BAC0-F84B3536FBA0}"/>
              </a:ext>
            </a:extLst>
          </p:cNvPr>
          <p:cNvSpPr>
            <a:spLocks noGrp="1"/>
          </p:cNvSpPr>
          <p:nvPr>
            <p:ph type="title"/>
          </p:nvPr>
        </p:nvSpPr>
        <p:spPr/>
        <p:txBody>
          <a:bodyPr>
            <a:normAutofit fontScale="90000"/>
          </a:bodyPr>
          <a:lstStyle/>
          <a:p>
            <a:r>
              <a:rPr lang="en-US" dirty="0"/>
              <a:t>Routing protocols</a:t>
            </a:r>
          </a:p>
        </p:txBody>
      </p:sp>
      <p:sp>
        <p:nvSpPr>
          <p:cNvPr id="3" name="Text Placeholder 2">
            <a:extLst>
              <a:ext uri="{FF2B5EF4-FFF2-40B4-BE49-F238E27FC236}">
                <a16:creationId xmlns:a16="http://schemas.microsoft.com/office/drawing/2014/main" id="{9997A03B-A8B1-A6F1-1CAA-101F21FB0609}"/>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5A1E45BB-3F82-A584-7643-999FD6C554B1}"/>
              </a:ext>
            </a:extLst>
          </p:cNvPr>
          <p:cNvSpPr>
            <a:spLocks noGrp="1"/>
          </p:cNvSpPr>
          <p:nvPr>
            <p:ph sz="quarter" idx="11"/>
          </p:nvPr>
        </p:nvSpPr>
        <p:spPr/>
        <p:txBody>
          <a:bodyPr>
            <a:normAutofit fontScale="92500" lnSpcReduction="20000"/>
          </a:bodyPr>
          <a:lstStyle/>
          <a:p>
            <a:pPr algn="just"/>
            <a:r>
              <a:rPr lang="en-US" sz="3200" dirty="0"/>
              <a:t>Routing protocols are sets of rules and algorithms that routers use to exchange information and make decisions about the best paths for data transmission in a computer network. </a:t>
            </a:r>
          </a:p>
          <a:p>
            <a:pPr algn="just"/>
            <a:r>
              <a:rPr lang="en-US" sz="3200" dirty="0"/>
              <a:t>These protocols play a crucial role in determining the most efficient routes for data to travel between devices.</a:t>
            </a:r>
          </a:p>
          <a:p>
            <a:pPr algn="just"/>
            <a:r>
              <a:rPr lang="en-US" sz="3200" dirty="0"/>
              <a:t> There are various routing protocols, and they are broadly categorized into two types: Interior Gateway Protocols (IGPs) and Exterior Gateway Protocols (EGPs).</a:t>
            </a:r>
          </a:p>
        </p:txBody>
      </p:sp>
    </p:spTree>
    <p:extLst>
      <p:ext uri="{BB962C8B-B14F-4D97-AF65-F5344CB8AC3E}">
        <p14:creationId xmlns:p14="http://schemas.microsoft.com/office/powerpoint/2010/main" val="1132238421"/>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26918-F7CA-6259-735C-A2DE2793FF70}"/>
              </a:ext>
            </a:extLst>
          </p:cNvPr>
          <p:cNvSpPr>
            <a:spLocks noGrp="1"/>
          </p:cNvSpPr>
          <p:nvPr>
            <p:ph type="title"/>
          </p:nvPr>
        </p:nvSpPr>
        <p:spPr/>
        <p:txBody>
          <a:bodyPr>
            <a:normAutofit fontScale="90000"/>
          </a:bodyPr>
          <a:lstStyle/>
          <a:p>
            <a:r>
              <a:rPr lang="en-US" dirty="0"/>
              <a:t>Routing protocols</a:t>
            </a:r>
          </a:p>
        </p:txBody>
      </p:sp>
      <p:sp>
        <p:nvSpPr>
          <p:cNvPr id="3" name="Text Placeholder 2">
            <a:extLst>
              <a:ext uri="{FF2B5EF4-FFF2-40B4-BE49-F238E27FC236}">
                <a16:creationId xmlns:a16="http://schemas.microsoft.com/office/drawing/2014/main" id="{B509DEB4-3804-A66F-2C8F-0E7EF8B2DB8A}"/>
              </a:ext>
            </a:extLst>
          </p:cNvPr>
          <p:cNvSpPr>
            <a:spLocks noGrp="1"/>
          </p:cNvSpPr>
          <p:nvPr>
            <p:ph type="body" sz="quarter" idx="10"/>
          </p:nvPr>
        </p:nvSpPr>
        <p:spPr/>
        <p:txBody>
          <a:bodyPr/>
          <a:lstStyle/>
          <a:p>
            <a:r>
              <a:rPr lang="en-US" dirty="0"/>
              <a:t>Interior Gateway Protocols (IGPs)</a:t>
            </a:r>
          </a:p>
        </p:txBody>
      </p:sp>
      <p:sp>
        <p:nvSpPr>
          <p:cNvPr id="4" name="Content Placeholder 3">
            <a:extLst>
              <a:ext uri="{FF2B5EF4-FFF2-40B4-BE49-F238E27FC236}">
                <a16:creationId xmlns:a16="http://schemas.microsoft.com/office/drawing/2014/main" id="{3A0802ED-0915-BCAF-25C9-A2C128372135}"/>
              </a:ext>
            </a:extLst>
          </p:cNvPr>
          <p:cNvSpPr>
            <a:spLocks noGrp="1"/>
          </p:cNvSpPr>
          <p:nvPr>
            <p:ph sz="quarter" idx="11"/>
          </p:nvPr>
        </p:nvSpPr>
        <p:spPr>
          <a:xfrm>
            <a:off x="5334530" y="3543692"/>
            <a:ext cx="13714940" cy="4522264"/>
          </a:xfrm>
        </p:spPr>
        <p:txBody>
          <a:bodyPr>
            <a:noAutofit/>
          </a:bodyPr>
          <a:lstStyle/>
          <a:p>
            <a:pPr algn="just"/>
            <a:r>
              <a:rPr lang="en-US" sz="3000" dirty="0"/>
              <a:t>Interior Gateway Protocols (IGPs) are routing protocols used within an autonomous system (AS) to exchange routing information among routers. </a:t>
            </a:r>
          </a:p>
          <a:p>
            <a:pPr algn="just"/>
            <a:r>
              <a:rPr lang="en-US" sz="3000" dirty="0"/>
              <a:t>An autonomous system is a collection of IP networks and routers under the control of a single organization that presents a common routing policy to the Internet.</a:t>
            </a:r>
          </a:p>
          <a:p>
            <a:pPr algn="just"/>
            <a:r>
              <a:rPr lang="en-US" sz="3000" dirty="0"/>
              <a:t>OSPF: a link-state routing protocol that uses the Dijkstra algorithm to find the best routes based on bandwidth and other cost metrics</a:t>
            </a:r>
          </a:p>
          <a:p>
            <a:pPr algn="just"/>
            <a:r>
              <a:rPr lang="en-US" sz="3000" dirty="0"/>
              <a:t>IS-IS: a link-state routing protocol that employs a variant of the Dijkstra algorithm looking for suitable paths for routing traffic </a:t>
            </a:r>
          </a:p>
          <a:p>
            <a:pPr algn="just"/>
            <a:r>
              <a:rPr lang="en-US" sz="3000" dirty="0"/>
              <a:t>RIP: a distance vector protocol that runs the Bellman-Ford algorithm on the information of a routing table to define optimized paths</a:t>
            </a:r>
          </a:p>
          <a:p>
            <a:pPr algn="just"/>
            <a:r>
              <a:rPr lang="en-US" sz="3000" dirty="0"/>
              <a:t>EIGRP: a distance vector protocol that employs the diffusing update algorithm searching for the best path based on reliability, load, bandwidth, and delays</a:t>
            </a:r>
          </a:p>
        </p:txBody>
      </p:sp>
    </p:spTree>
    <p:extLst>
      <p:ext uri="{BB962C8B-B14F-4D97-AF65-F5344CB8AC3E}">
        <p14:creationId xmlns:p14="http://schemas.microsoft.com/office/powerpoint/2010/main" val="2498548665"/>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EF4D7-6030-03E9-1811-F50D045C8AB3}"/>
              </a:ext>
            </a:extLst>
          </p:cNvPr>
          <p:cNvSpPr>
            <a:spLocks noGrp="1"/>
          </p:cNvSpPr>
          <p:nvPr>
            <p:ph type="title"/>
          </p:nvPr>
        </p:nvSpPr>
        <p:spPr/>
        <p:txBody>
          <a:bodyPr>
            <a:normAutofit fontScale="90000"/>
          </a:bodyPr>
          <a:lstStyle/>
          <a:p>
            <a:r>
              <a:rPr lang="en-US" dirty="0"/>
              <a:t>Routing Protocols</a:t>
            </a:r>
          </a:p>
        </p:txBody>
      </p:sp>
      <p:sp>
        <p:nvSpPr>
          <p:cNvPr id="3" name="Text Placeholder 2">
            <a:extLst>
              <a:ext uri="{FF2B5EF4-FFF2-40B4-BE49-F238E27FC236}">
                <a16:creationId xmlns:a16="http://schemas.microsoft.com/office/drawing/2014/main" id="{C670F3EF-3AA5-575E-0CA3-FEF316D20851}"/>
              </a:ext>
            </a:extLst>
          </p:cNvPr>
          <p:cNvSpPr>
            <a:spLocks noGrp="1"/>
          </p:cNvSpPr>
          <p:nvPr>
            <p:ph type="body" sz="quarter" idx="10"/>
          </p:nvPr>
        </p:nvSpPr>
        <p:spPr/>
        <p:txBody>
          <a:bodyPr/>
          <a:lstStyle/>
          <a:p>
            <a:r>
              <a:rPr lang="en-US" dirty="0"/>
              <a:t>External Gateway Protocols</a:t>
            </a:r>
          </a:p>
        </p:txBody>
      </p:sp>
      <p:sp>
        <p:nvSpPr>
          <p:cNvPr id="4" name="Content Placeholder 3">
            <a:extLst>
              <a:ext uri="{FF2B5EF4-FFF2-40B4-BE49-F238E27FC236}">
                <a16:creationId xmlns:a16="http://schemas.microsoft.com/office/drawing/2014/main" id="{4D47785E-34E5-E95E-F86B-544CB7803506}"/>
              </a:ext>
            </a:extLst>
          </p:cNvPr>
          <p:cNvSpPr>
            <a:spLocks noGrp="1"/>
          </p:cNvSpPr>
          <p:nvPr>
            <p:ph sz="quarter" idx="11"/>
          </p:nvPr>
        </p:nvSpPr>
        <p:spPr/>
        <p:txBody>
          <a:bodyPr>
            <a:normAutofit lnSpcReduction="10000"/>
          </a:bodyPr>
          <a:lstStyle/>
          <a:p>
            <a:pPr algn="just"/>
            <a:r>
              <a:rPr lang="en-US" sz="3200" dirty="0"/>
              <a:t>External Gateway Protocols (EGPs) are routing protocols used for exchanging routing information between different autonomous systems (</a:t>
            </a:r>
            <a:r>
              <a:rPr lang="en-US" sz="3200" dirty="0" err="1"/>
              <a:t>ASes</a:t>
            </a:r>
            <a:r>
              <a:rPr lang="en-US" sz="3200" dirty="0"/>
              <a:t>) on the Internet. </a:t>
            </a:r>
          </a:p>
          <a:p>
            <a:pPr algn="just"/>
            <a:r>
              <a:rPr lang="en-US" sz="3200" dirty="0"/>
              <a:t>Unlike Interior Gateway Protocols (IGPs), which operate within a single AS, EGPs are designed to facilitate communication between routers in separate autonomous systems. </a:t>
            </a:r>
          </a:p>
          <a:p>
            <a:pPr algn="just"/>
            <a:r>
              <a:rPr lang="en-US" sz="3200" dirty="0"/>
              <a:t>The primary EGP used on the Internet is Border Gateway Protocol (BGP).</a:t>
            </a:r>
          </a:p>
        </p:txBody>
      </p:sp>
    </p:spTree>
    <p:extLst>
      <p:ext uri="{BB962C8B-B14F-4D97-AF65-F5344CB8AC3E}">
        <p14:creationId xmlns:p14="http://schemas.microsoft.com/office/powerpoint/2010/main" val="2702741458"/>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D47A8-844D-1FB2-73F1-57BA3A46E0DB}"/>
              </a:ext>
            </a:extLst>
          </p:cNvPr>
          <p:cNvSpPr>
            <a:spLocks noGrp="1"/>
          </p:cNvSpPr>
          <p:nvPr>
            <p:ph type="title"/>
          </p:nvPr>
        </p:nvSpPr>
        <p:spPr/>
        <p:txBody>
          <a:bodyPr>
            <a:normAutofit fontScale="90000"/>
          </a:bodyPr>
          <a:lstStyle/>
          <a:p>
            <a:r>
              <a:rPr lang="en-US" dirty="0"/>
              <a:t>Routing protocols</a:t>
            </a:r>
          </a:p>
        </p:txBody>
      </p:sp>
      <p:sp>
        <p:nvSpPr>
          <p:cNvPr id="3" name="Text Placeholder 2">
            <a:extLst>
              <a:ext uri="{FF2B5EF4-FFF2-40B4-BE49-F238E27FC236}">
                <a16:creationId xmlns:a16="http://schemas.microsoft.com/office/drawing/2014/main" id="{C84461CC-20E0-6A60-877C-8BDFF1D3380E}"/>
              </a:ext>
            </a:extLst>
          </p:cNvPr>
          <p:cNvSpPr>
            <a:spLocks noGrp="1"/>
          </p:cNvSpPr>
          <p:nvPr>
            <p:ph type="body" sz="quarter" idx="10"/>
          </p:nvPr>
        </p:nvSpPr>
        <p:spPr/>
        <p:txBody>
          <a:bodyPr/>
          <a:lstStyle/>
          <a:p>
            <a:r>
              <a:rPr lang="en-US" dirty="0"/>
              <a:t>Border gateway protocols (BGP)</a:t>
            </a:r>
          </a:p>
        </p:txBody>
      </p:sp>
      <p:sp>
        <p:nvSpPr>
          <p:cNvPr id="4" name="Content Placeholder 3">
            <a:extLst>
              <a:ext uri="{FF2B5EF4-FFF2-40B4-BE49-F238E27FC236}">
                <a16:creationId xmlns:a16="http://schemas.microsoft.com/office/drawing/2014/main" id="{6CC19778-52CC-AF8B-7A36-63574C427DC6}"/>
              </a:ext>
            </a:extLst>
          </p:cNvPr>
          <p:cNvSpPr>
            <a:spLocks noGrp="1"/>
          </p:cNvSpPr>
          <p:nvPr>
            <p:ph sz="quarter" idx="11"/>
          </p:nvPr>
        </p:nvSpPr>
        <p:spPr>
          <a:xfrm>
            <a:off x="5334530" y="3510294"/>
            <a:ext cx="13714940" cy="8749018"/>
          </a:xfrm>
        </p:spPr>
        <p:txBody>
          <a:bodyPr>
            <a:noAutofit/>
          </a:bodyPr>
          <a:lstStyle/>
          <a:p>
            <a:pPr algn="just"/>
            <a:r>
              <a:rPr lang="en-US" sz="3200" dirty="0"/>
              <a:t>Border Gateway Protocol (BGP) is the postal service of the Internet.</a:t>
            </a:r>
          </a:p>
          <a:p>
            <a:pPr algn="just"/>
            <a:r>
              <a:rPr lang="en-US" sz="3200" dirty="0"/>
              <a:t>When someone drops a letter into a mailbox, the Postal Service processes that piece of mail and chooses a fast, efficient route to deliver that letter to its recipient. </a:t>
            </a:r>
          </a:p>
          <a:p>
            <a:pPr algn="just"/>
            <a:r>
              <a:rPr lang="en-US" sz="3200" dirty="0"/>
              <a:t>Similarly, when someone submits data via the Internet, BGP is responsible for looking at all of the available paths that data could travel and picking the best route, which usually means hopping between autonomous systems.</a:t>
            </a:r>
          </a:p>
          <a:p>
            <a:pPr marL="0" indent="0" algn="just">
              <a:buNone/>
            </a:pPr>
            <a:r>
              <a:rPr lang="en-US" sz="3200" dirty="0"/>
              <a:t>Example: BGP is the protocol that makes the Internet work by enabling data routing. When a user in Singapore loads a website with origin servers in Argentina, BGP is the protocol that enables that communication to happen quickly and efficiently.</a:t>
            </a:r>
          </a:p>
          <a:p>
            <a:pPr algn="just"/>
            <a:r>
              <a:rPr lang="en-US" sz="3200" dirty="0"/>
              <a:t>BGP usually makes news only when something goes wrong. Other times, it plays the silent hero, serving a significant role in mitigating dis- tributed denial-of-service (DDOS) attacks.</a:t>
            </a:r>
          </a:p>
        </p:txBody>
      </p:sp>
    </p:spTree>
    <p:extLst>
      <p:ext uri="{BB962C8B-B14F-4D97-AF65-F5344CB8AC3E}">
        <p14:creationId xmlns:p14="http://schemas.microsoft.com/office/powerpoint/2010/main" val="1630217326"/>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3683E20-3E92-DD52-C661-C10C6224C635}"/>
              </a:ext>
            </a:extLst>
          </p:cNvPr>
          <p:cNvSpPr>
            <a:spLocks noGrp="1"/>
          </p:cNvSpPr>
          <p:nvPr>
            <p:ph type="title"/>
          </p:nvPr>
        </p:nvSpPr>
        <p:spPr/>
        <p:txBody>
          <a:bodyPr/>
          <a:lstStyle/>
          <a:p>
            <a:r>
              <a:rPr lang="en-US" dirty="0"/>
              <a:t>Name and Address resolution</a:t>
            </a:r>
          </a:p>
        </p:txBody>
      </p:sp>
    </p:spTree>
    <p:extLst>
      <p:ext uri="{BB962C8B-B14F-4D97-AF65-F5344CB8AC3E}">
        <p14:creationId xmlns:p14="http://schemas.microsoft.com/office/powerpoint/2010/main" val="3668178633"/>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4570C-2D6A-99BB-F549-2754033AF2C5}"/>
              </a:ext>
            </a:extLst>
          </p:cNvPr>
          <p:cNvSpPr>
            <a:spLocks noGrp="1"/>
          </p:cNvSpPr>
          <p:nvPr>
            <p:ph type="title"/>
          </p:nvPr>
        </p:nvSpPr>
        <p:spPr/>
        <p:txBody>
          <a:bodyPr>
            <a:normAutofit fontScale="90000"/>
          </a:bodyPr>
          <a:lstStyle/>
          <a:p>
            <a:r>
              <a:rPr lang="en-US" dirty="0"/>
              <a:t>Name and address resolution</a:t>
            </a:r>
          </a:p>
        </p:txBody>
      </p:sp>
      <p:sp>
        <p:nvSpPr>
          <p:cNvPr id="3" name="Text Placeholder 2">
            <a:extLst>
              <a:ext uri="{FF2B5EF4-FFF2-40B4-BE49-F238E27FC236}">
                <a16:creationId xmlns:a16="http://schemas.microsoft.com/office/drawing/2014/main" id="{71B7919F-936B-2800-7487-AA897F4BA13F}"/>
              </a:ext>
            </a:extLst>
          </p:cNvPr>
          <p:cNvSpPr>
            <a:spLocks noGrp="1"/>
          </p:cNvSpPr>
          <p:nvPr>
            <p:ph type="body" sz="quarter" idx="10"/>
          </p:nvPr>
        </p:nvSpPr>
        <p:spPr/>
        <p:txBody>
          <a:bodyPr/>
          <a:lstStyle/>
          <a:p>
            <a:r>
              <a:rPr lang="en-US" dirty="0"/>
              <a:t>Domain name system</a:t>
            </a:r>
          </a:p>
        </p:txBody>
      </p:sp>
      <p:sp>
        <p:nvSpPr>
          <p:cNvPr id="4" name="Content Placeholder 3">
            <a:extLst>
              <a:ext uri="{FF2B5EF4-FFF2-40B4-BE49-F238E27FC236}">
                <a16:creationId xmlns:a16="http://schemas.microsoft.com/office/drawing/2014/main" id="{B29F9BF7-70AA-D1CE-D5A0-51703010683E}"/>
              </a:ext>
            </a:extLst>
          </p:cNvPr>
          <p:cNvSpPr>
            <a:spLocks noGrp="1"/>
          </p:cNvSpPr>
          <p:nvPr>
            <p:ph sz="quarter" idx="11"/>
          </p:nvPr>
        </p:nvSpPr>
        <p:spPr/>
        <p:txBody>
          <a:bodyPr>
            <a:normAutofit/>
          </a:bodyPr>
          <a:lstStyle/>
          <a:p>
            <a:pPr algn="just"/>
            <a:r>
              <a:rPr lang="en-US" sz="3200" dirty="0"/>
              <a:t>The Domain Name System (DNS) is a hierarchical and distributed naming system for resources connected to the Internet, such as computers, services, or any device participating in a network. It serves as a crucial component in translating human-readable domain names into machine-readable IP addresses, facilitating the navigation of the Internet.</a:t>
            </a:r>
          </a:p>
          <a:p>
            <a:pPr algn="just"/>
            <a:endParaRPr lang="en-US" sz="3200" dirty="0"/>
          </a:p>
        </p:txBody>
      </p:sp>
      <p:pic>
        <p:nvPicPr>
          <p:cNvPr id="1026" name="Picture 2">
            <a:extLst>
              <a:ext uri="{FF2B5EF4-FFF2-40B4-BE49-F238E27FC236}">
                <a16:creationId xmlns:a16="http://schemas.microsoft.com/office/drawing/2014/main" id="{09D5CE08-05CF-4FA6-1084-558CF90BD0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14576" y="8286524"/>
            <a:ext cx="9043352" cy="45222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0146318"/>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B21D8-4587-D6FE-EDE0-9DFCDE47016C}"/>
              </a:ext>
            </a:extLst>
          </p:cNvPr>
          <p:cNvSpPr>
            <a:spLocks noGrp="1"/>
          </p:cNvSpPr>
          <p:nvPr>
            <p:ph type="title"/>
          </p:nvPr>
        </p:nvSpPr>
        <p:spPr/>
        <p:txBody>
          <a:bodyPr>
            <a:normAutofit fontScale="90000"/>
          </a:bodyPr>
          <a:lstStyle/>
          <a:p>
            <a:r>
              <a:rPr lang="en-US" dirty="0"/>
              <a:t>Domain name system (DNS)</a:t>
            </a:r>
          </a:p>
        </p:txBody>
      </p:sp>
      <p:sp>
        <p:nvSpPr>
          <p:cNvPr id="3" name="Text Placeholder 2">
            <a:extLst>
              <a:ext uri="{FF2B5EF4-FFF2-40B4-BE49-F238E27FC236}">
                <a16:creationId xmlns:a16="http://schemas.microsoft.com/office/drawing/2014/main" id="{B232289D-C369-7AA1-F998-D06D236F35FC}"/>
              </a:ext>
            </a:extLst>
          </p:cNvPr>
          <p:cNvSpPr>
            <a:spLocks noGrp="1"/>
          </p:cNvSpPr>
          <p:nvPr>
            <p:ph type="body" sz="quarter" idx="10"/>
          </p:nvPr>
        </p:nvSpPr>
        <p:spPr/>
        <p:txBody>
          <a:bodyPr/>
          <a:lstStyle/>
          <a:p>
            <a:r>
              <a:rPr lang="en-US" dirty="0"/>
              <a:t>How it works?</a:t>
            </a:r>
          </a:p>
        </p:txBody>
      </p:sp>
      <p:sp>
        <p:nvSpPr>
          <p:cNvPr id="4" name="Content Placeholder 3">
            <a:extLst>
              <a:ext uri="{FF2B5EF4-FFF2-40B4-BE49-F238E27FC236}">
                <a16:creationId xmlns:a16="http://schemas.microsoft.com/office/drawing/2014/main" id="{B76AB623-07AB-B950-60DC-E0B593082020}"/>
              </a:ext>
            </a:extLst>
          </p:cNvPr>
          <p:cNvSpPr>
            <a:spLocks noGrp="1"/>
          </p:cNvSpPr>
          <p:nvPr>
            <p:ph sz="quarter" idx="11"/>
          </p:nvPr>
        </p:nvSpPr>
        <p:spPr>
          <a:xfrm>
            <a:off x="5334530" y="3260663"/>
            <a:ext cx="13714940" cy="4522264"/>
          </a:xfrm>
        </p:spPr>
        <p:txBody>
          <a:bodyPr>
            <a:noAutofit/>
          </a:bodyPr>
          <a:lstStyle/>
          <a:p>
            <a:r>
              <a:rPr lang="en-US" sz="3200" dirty="0"/>
              <a:t>The process of DNS resolution involves converting a hostname (such as </a:t>
            </a:r>
            <a:r>
              <a:rPr lang="en-US" sz="3200" dirty="0" err="1"/>
              <a:t>www.example.com</a:t>
            </a:r>
            <a:r>
              <a:rPr lang="en-US" sz="3200" dirty="0"/>
              <a:t>) into a computer-friendly IP address (such as 192.168.1.1). </a:t>
            </a:r>
          </a:p>
          <a:p>
            <a:r>
              <a:rPr lang="en-US" sz="3200" dirty="0"/>
              <a:t>An IP address is given to each device on the Internet, and that address is necessary to find the appropriate Internet device - like a street address is used to find a particular home. </a:t>
            </a:r>
          </a:p>
          <a:p>
            <a:r>
              <a:rPr lang="en-US" sz="3200" dirty="0"/>
              <a:t>When a user wants to load a webpage, a translation must occur between what a user types into their web browser (</a:t>
            </a:r>
            <a:r>
              <a:rPr lang="en-US" sz="3200" dirty="0" err="1"/>
              <a:t>example.com</a:t>
            </a:r>
            <a:r>
              <a:rPr lang="en-US" sz="3200" dirty="0"/>
              <a:t>) and the machine-friendly address necessary to locate the </a:t>
            </a:r>
            <a:r>
              <a:rPr lang="en-US" sz="3200" dirty="0" err="1"/>
              <a:t>example.com</a:t>
            </a:r>
            <a:r>
              <a:rPr lang="en-US" sz="3200" dirty="0"/>
              <a:t> webpage.</a:t>
            </a:r>
          </a:p>
          <a:p>
            <a:r>
              <a:rPr lang="en-US" sz="3200" dirty="0"/>
              <a:t>In order to understand the process behind the DNS resolution, it’s important to learn about the different hardware components a DNS query must pass between. </a:t>
            </a:r>
          </a:p>
          <a:p>
            <a:r>
              <a:rPr lang="en-US" sz="3200" dirty="0"/>
              <a:t>For the web browser, the DNS lookup occurs "behind the scenes" and requires no interaction from the user’s computer apart from the initial request.</a:t>
            </a:r>
          </a:p>
        </p:txBody>
      </p:sp>
    </p:spTree>
    <p:extLst>
      <p:ext uri="{BB962C8B-B14F-4D97-AF65-F5344CB8AC3E}">
        <p14:creationId xmlns:p14="http://schemas.microsoft.com/office/powerpoint/2010/main" val="4147687912"/>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E8315-52DD-D0FC-3556-6CB34A1E9DB1}"/>
              </a:ext>
            </a:extLst>
          </p:cNvPr>
          <p:cNvSpPr>
            <a:spLocks noGrp="1"/>
          </p:cNvSpPr>
          <p:nvPr>
            <p:ph type="title"/>
          </p:nvPr>
        </p:nvSpPr>
        <p:spPr/>
        <p:txBody>
          <a:bodyPr>
            <a:normAutofit fontScale="90000"/>
          </a:bodyPr>
          <a:lstStyle/>
          <a:p>
            <a:r>
              <a:rPr lang="en-US" dirty="0"/>
              <a:t>Domain name system (DNS)</a:t>
            </a:r>
          </a:p>
        </p:txBody>
      </p:sp>
      <p:sp>
        <p:nvSpPr>
          <p:cNvPr id="3" name="Text Placeholder 2">
            <a:extLst>
              <a:ext uri="{FF2B5EF4-FFF2-40B4-BE49-F238E27FC236}">
                <a16:creationId xmlns:a16="http://schemas.microsoft.com/office/drawing/2014/main" id="{4FF1ADA7-8F2A-0267-08E1-367CA614729E}"/>
              </a:ext>
            </a:extLst>
          </p:cNvPr>
          <p:cNvSpPr>
            <a:spLocks noGrp="1"/>
          </p:cNvSpPr>
          <p:nvPr>
            <p:ph type="body" sz="quarter" idx="10"/>
          </p:nvPr>
        </p:nvSpPr>
        <p:spPr/>
        <p:txBody>
          <a:bodyPr>
            <a:normAutofit fontScale="92500"/>
          </a:bodyPr>
          <a:lstStyle/>
          <a:p>
            <a:r>
              <a:rPr lang="en-US" dirty="0"/>
              <a:t>DNS servers involved in loading a webpage</a:t>
            </a:r>
          </a:p>
        </p:txBody>
      </p:sp>
      <p:sp>
        <p:nvSpPr>
          <p:cNvPr id="4" name="Content Placeholder 3">
            <a:extLst>
              <a:ext uri="{FF2B5EF4-FFF2-40B4-BE49-F238E27FC236}">
                <a16:creationId xmlns:a16="http://schemas.microsoft.com/office/drawing/2014/main" id="{5B2EE5CC-9CA1-78C4-787D-4B0002D51D6D}"/>
              </a:ext>
            </a:extLst>
          </p:cNvPr>
          <p:cNvSpPr>
            <a:spLocks noGrp="1"/>
          </p:cNvSpPr>
          <p:nvPr>
            <p:ph sz="quarter" idx="11"/>
          </p:nvPr>
        </p:nvSpPr>
        <p:spPr>
          <a:xfrm>
            <a:off x="5334530" y="4658700"/>
            <a:ext cx="13714940" cy="5419475"/>
          </a:xfrm>
        </p:spPr>
        <p:txBody>
          <a:bodyPr>
            <a:normAutofit/>
          </a:bodyPr>
          <a:lstStyle/>
          <a:p>
            <a:pPr marL="514350" indent="-514350" algn="just">
              <a:buFont typeface="+mj-lt"/>
              <a:buAutoNum type="arabicPeriod"/>
            </a:pPr>
            <a:r>
              <a:rPr lang="en-US" sz="3200" b="1" dirty="0"/>
              <a:t>DNS </a:t>
            </a:r>
            <a:r>
              <a:rPr lang="en-US" sz="3200" b="1" dirty="0" err="1"/>
              <a:t>Recursor</a:t>
            </a:r>
            <a:r>
              <a:rPr lang="en-US" sz="3200" b="1" dirty="0"/>
              <a:t> </a:t>
            </a:r>
            <a:r>
              <a:rPr lang="en-US" sz="3200" dirty="0"/>
              <a:t>- The DNS </a:t>
            </a:r>
            <a:r>
              <a:rPr lang="en-US" sz="3200" dirty="0" err="1"/>
              <a:t>recursor</a:t>
            </a:r>
            <a:r>
              <a:rPr lang="en-US" sz="3200" dirty="0"/>
              <a:t> is a server designed to receive queries from client machines through applications such as web browsers. Typically the </a:t>
            </a:r>
            <a:r>
              <a:rPr lang="en-US" sz="3200" dirty="0" err="1"/>
              <a:t>recursor</a:t>
            </a:r>
            <a:r>
              <a:rPr lang="en-US" sz="3200" dirty="0"/>
              <a:t> is then responsible for making additional requests in order to satisfy the client’s DNS query.</a:t>
            </a:r>
          </a:p>
          <a:p>
            <a:pPr marL="514350" indent="-514350" algn="just">
              <a:buFont typeface="+mj-lt"/>
              <a:buAutoNum type="arabicPeriod"/>
            </a:pPr>
            <a:r>
              <a:rPr lang="en-US" sz="3200" b="1" dirty="0"/>
              <a:t>Root nameserver</a:t>
            </a:r>
            <a:r>
              <a:rPr lang="en-US" sz="3200" dirty="0"/>
              <a:t> - The root server is the first step in translating (resolving) human readable host names into IP addresses. It can be thought of like an index in a library that points to different racks of books - typically it serves as a reference to other more specific locations.</a:t>
            </a:r>
          </a:p>
          <a:p>
            <a:pPr marL="514350" indent="-514350" algn="just">
              <a:buFont typeface="+mj-lt"/>
              <a:buAutoNum type="arabicPeriod"/>
            </a:pPr>
            <a:endParaRPr lang="en-US" sz="3200" dirty="0"/>
          </a:p>
        </p:txBody>
      </p:sp>
    </p:spTree>
    <p:extLst>
      <p:ext uri="{BB962C8B-B14F-4D97-AF65-F5344CB8AC3E}">
        <p14:creationId xmlns:p14="http://schemas.microsoft.com/office/powerpoint/2010/main" val="2797439232"/>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E8315-52DD-D0FC-3556-6CB34A1E9DB1}"/>
              </a:ext>
            </a:extLst>
          </p:cNvPr>
          <p:cNvSpPr>
            <a:spLocks noGrp="1"/>
          </p:cNvSpPr>
          <p:nvPr>
            <p:ph type="title"/>
          </p:nvPr>
        </p:nvSpPr>
        <p:spPr/>
        <p:txBody>
          <a:bodyPr>
            <a:normAutofit fontScale="90000"/>
          </a:bodyPr>
          <a:lstStyle/>
          <a:p>
            <a:r>
              <a:rPr lang="en-US" dirty="0"/>
              <a:t>Domain name system (DNS)</a:t>
            </a:r>
          </a:p>
        </p:txBody>
      </p:sp>
      <p:sp>
        <p:nvSpPr>
          <p:cNvPr id="3" name="Text Placeholder 2">
            <a:extLst>
              <a:ext uri="{FF2B5EF4-FFF2-40B4-BE49-F238E27FC236}">
                <a16:creationId xmlns:a16="http://schemas.microsoft.com/office/drawing/2014/main" id="{4FF1ADA7-8F2A-0267-08E1-367CA614729E}"/>
              </a:ext>
            </a:extLst>
          </p:cNvPr>
          <p:cNvSpPr>
            <a:spLocks noGrp="1"/>
          </p:cNvSpPr>
          <p:nvPr>
            <p:ph type="body" sz="quarter" idx="10"/>
          </p:nvPr>
        </p:nvSpPr>
        <p:spPr/>
        <p:txBody>
          <a:bodyPr>
            <a:normAutofit fontScale="92500"/>
          </a:bodyPr>
          <a:lstStyle/>
          <a:p>
            <a:r>
              <a:rPr lang="en-US" dirty="0"/>
              <a:t>DNS servers involved in loading a webpage</a:t>
            </a:r>
          </a:p>
        </p:txBody>
      </p:sp>
      <p:sp>
        <p:nvSpPr>
          <p:cNvPr id="4" name="Content Placeholder 3">
            <a:extLst>
              <a:ext uri="{FF2B5EF4-FFF2-40B4-BE49-F238E27FC236}">
                <a16:creationId xmlns:a16="http://schemas.microsoft.com/office/drawing/2014/main" id="{5B2EE5CC-9CA1-78C4-787D-4B0002D51D6D}"/>
              </a:ext>
            </a:extLst>
          </p:cNvPr>
          <p:cNvSpPr>
            <a:spLocks noGrp="1"/>
          </p:cNvSpPr>
          <p:nvPr>
            <p:ph sz="quarter" idx="11"/>
          </p:nvPr>
        </p:nvSpPr>
        <p:spPr>
          <a:xfrm>
            <a:off x="5078782" y="4680471"/>
            <a:ext cx="13714940" cy="6270557"/>
          </a:xfrm>
        </p:spPr>
        <p:txBody>
          <a:bodyPr>
            <a:noAutofit/>
          </a:bodyPr>
          <a:lstStyle/>
          <a:p>
            <a:pPr marL="514350" indent="-514350" algn="just">
              <a:buFont typeface="+mj-lt"/>
              <a:buAutoNum type="arabicPeriod" startAt="3"/>
            </a:pPr>
            <a:r>
              <a:rPr lang="en-US" sz="3200" b="1" dirty="0"/>
              <a:t>TLD nameserver </a:t>
            </a:r>
            <a:r>
              <a:rPr lang="en-US" sz="3200" dirty="0"/>
              <a:t>- The top level domain server (TLD) can be thought of as a specific rack of books in a library. This nameserver is the next step in the search for a specific IP address, and it hosts the last portion of a hostname (In </a:t>
            </a:r>
            <a:r>
              <a:rPr lang="en-US" sz="3200" dirty="0" err="1"/>
              <a:t>example.com</a:t>
            </a:r>
            <a:r>
              <a:rPr lang="en-US" sz="3200" dirty="0"/>
              <a:t>, the TLD server is “com”).</a:t>
            </a:r>
          </a:p>
          <a:p>
            <a:pPr marL="514350" indent="-514350" algn="just">
              <a:buFont typeface="+mj-lt"/>
              <a:buAutoNum type="arabicPeriod" startAt="3"/>
            </a:pPr>
            <a:r>
              <a:rPr lang="en-US" sz="3200" b="1" dirty="0"/>
              <a:t>Authoritative nameserver </a:t>
            </a:r>
            <a:r>
              <a:rPr lang="en-US" sz="3200" dirty="0"/>
              <a:t>- This final nameserver can be thought of as a dictionary on a rack of books, in which a specific name can be translated into its definition. The authoritative nameserver is the last stop in the nameserver query. If the authoritative name server has access to the requested record, it will return the IP address for the requested hostname back to the DNS </a:t>
            </a:r>
            <a:r>
              <a:rPr lang="en-US" sz="3200" dirty="0" err="1"/>
              <a:t>Recursor</a:t>
            </a:r>
            <a:r>
              <a:rPr lang="en-US" sz="3200" dirty="0"/>
              <a:t> (the librarian) that made the initial request.</a:t>
            </a:r>
          </a:p>
        </p:txBody>
      </p:sp>
    </p:spTree>
    <p:extLst>
      <p:ext uri="{BB962C8B-B14F-4D97-AF65-F5344CB8AC3E}">
        <p14:creationId xmlns:p14="http://schemas.microsoft.com/office/powerpoint/2010/main" val="1336083818"/>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9C294-9DFB-4F93-9B96-A70432466BF7}"/>
              </a:ext>
            </a:extLst>
          </p:cNvPr>
          <p:cNvSpPr>
            <a:spLocks noGrp="1"/>
          </p:cNvSpPr>
          <p:nvPr>
            <p:ph type="title"/>
          </p:nvPr>
        </p:nvSpPr>
        <p:spPr/>
        <p:txBody>
          <a:bodyPr>
            <a:normAutofit fontScale="90000"/>
          </a:bodyPr>
          <a:lstStyle/>
          <a:p>
            <a:r>
              <a:rPr lang="en-US" dirty="0"/>
              <a:t>references</a:t>
            </a:r>
          </a:p>
        </p:txBody>
      </p:sp>
      <p:sp>
        <p:nvSpPr>
          <p:cNvPr id="3" name="Text Placeholder 2">
            <a:extLst>
              <a:ext uri="{FF2B5EF4-FFF2-40B4-BE49-F238E27FC236}">
                <a16:creationId xmlns:a16="http://schemas.microsoft.com/office/drawing/2014/main" id="{9EA721AC-E3DF-22B1-8422-76608B997B94}"/>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DFC3A658-0629-8224-9928-EE85A4D909BC}"/>
              </a:ext>
            </a:extLst>
          </p:cNvPr>
          <p:cNvSpPr>
            <a:spLocks noGrp="1"/>
          </p:cNvSpPr>
          <p:nvPr>
            <p:ph sz="quarter" idx="11"/>
          </p:nvPr>
        </p:nvSpPr>
        <p:spPr>
          <a:xfrm>
            <a:off x="5334530" y="4596868"/>
            <a:ext cx="13714940" cy="4522264"/>
          </a:xfrm>
        </p:spPr>
        <p:txBody>
          <a:bodyPr>
            <a:noAutofit/>
          </a:bodyPr>
          <a:lstStyle/>
          <a:p>
            <a:pPr algn="just"/>
            <a:r>
              <a:rPr lang="en-US" sz="3200" dirty="0"/>
              <a:t>Adam </a:t>
            </a:r>
            <a:r>
              <a:rPr lang="en-US" sz="3200" dirty="0" err="1"/>
              <a:t>Woodbeck</a:t>
            </a:r>
            <a:r>
              <a:rPr lang="en-US" sz="3200" dirty="0"/>
              <a:t> - Network Programming with Go_ Learn to Code Secure and Reliable Network Services from Scratch-No Starch Press (2021).</a:t>
            </a:r>
          </a:p>
          <a:p>
            <a:pPr algn="just"/>
            <a:r>
              <a:rPr lang="en-US" sz="3200" dirty="0">
                <a:hlinkClick r:id="rId2"/>
              </a:rPr>
              <a:t>https://www.cloudflare.com/learning/network-layer/internet-protocol/#:~:text=The%20Internet%20Protocol%20(IP)%20is,protocols%2C%20including%20TCP%20and%20UDP</a:t>
            </a:r>
            <a:r>
              <a:rPr lang="en-US" sz="3200" dirty="0"/>
              <a:t>.</a:t>
            </a:r>
          </a:p>
          <a:p>
            <a:pPr algn="just"/>
            <a:r>
              <a:rPr lang="en-US" sz="3200" dirty="0">
                <a:hlinkClick r:id="rId3"/>
              </a:rPr>
              <a:t>https://www.cloudflare.com/learning/security/glossary/what-is-bgp/</a:t>
            </a:r>
            <a:endParaRPr lang="en-US" sz="3200" dirty="0"/>
          </a:p>
          <a:p>
            <a:pPr algn="just"/>
            <a:r>
              <a:rPr lang="en-US" sz="3200" dirty="0">
                <a:hlinkClick r:id="rId4"/>
              </a:rPr>
              <a:t>https://www.cloudflare.com/learning/dns/what-is-dns/</a:t>
            </a:r>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p:txBody>
      </p:sp>
    </p:spTree>
    <p:extLst>
      <p:ext uri="{BB962C8B-B14F-4D97-AF65-F5344CB8AC3E}">
        <p14:creationId xmlns:p14="http://schemas.microsoft.com/office/powerpoint/2010/main" val="2887389767"/>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6B9CA93-CCBC-0E81-9FD6-1A448158A5B2}"/>
              </a:ext>
            </a:extLst>
          </p:cNvPr>
          <p:cNvSpPr>
            <a:spLocks noGrp="1"/>
          </p:cNvSpPr>
          <p:nvPr>
            <p:ph type="title"/>
          </p:nvPr>
        </p:nvSpPr>
        <p:spPr>
          <a:xfrm>
            <a:off x="1206498" y="4535865"/>
            <a:ext cx="21971004" cy="3746281"/>
          </a:xfrm>
        </p:spPr>
        <p:txBody>
          <a:bodyPr/>
          <a:lstStyle/>
          <a:p>
            <a:r>
              <a:rPr lang="en-US" dirty="0"/>
              <a:t>Thankyou</a:t>
            </a:r>
          </a:p>
        </p:txBody>
      </p:sp>
    </p:spTree>
    <p:extLst>
      <p:ext uri="{BB962C8B-B14F-4D97-AF65-F5344CB8AC3E}">
        <p14:creationId xmlns:p14="http://schemas.microsoft.com/office/powerpoint/2010/main" val="679265943"/>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Presentation1" id="{FEBCA056-F2A5-496F-A830-7BAED988D208}" vid="{3C0D7A97-88A3-424B-BF48-73EB1D05E1BE}"/>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3485b963-82ba-4a6f-810f-b5cc226ff898}" enabled="0" method="" siteId="{3485b963-82ba-4a6f-810f-b5cc226ff898}" removed="1"/>
</clbl:labelList>
</file>

<file path=docProps/app.xml><?xml version="1.0" encoding="utf-8"?>
<Properties xmlns="http://schemas.openxmlformats.org/officeDocument/2006/extended-properties" xmlns:vt="http://schemas.openxmlformats.org/officeDocument/2006/docPropsVTypes">
  <Template>OR 10</Template>
  <TotalTime>5455</TotalTime>
  <Words>1791</Words>
  <Application>Microsoft Macintosh PowerPoint</Application>
  <PresentationFormat>Custom</PresentationFormat>
  <Paragraphs>107</Paragraphs>
  <Slides>22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Tahoma</vt:lpstr>
      <vt:lpstr>Open Sans ExtraBold</vt:lpstr>
      <vt:lpstr>Arial</vt:lpstr>
      <vt:lpstr>OCRB</vt:lpstr>
      <vt:lpstr>Open Sans Semibold</vt:lpstr>
      <vt:lpstr>Open Sans</vt:lpstr>
      <vt:lpstr>Open Sans Light</vt:lpstr>
      <vt:lpstr>21_BasicWhite</vt:lpstr>
      <vt:lpstr>Resource location and Traffic Routing  Session 02</vt:lpstr>
      <vt:lpstr>Learning Objectives</vt:lpstr>
      <vt:lpstr>Outline</vt:lpstr>
      <vt:lpstr>Internet protocol</vt:lpstr>
      <vt:lpstr>Internet protocol</vt:lpstr>
      <vt:lpstr>Internet protocols</vt:lpstr>
      <vt:lpstr>Internet protocol</vt:lpstr>
      <vt:lpstr>Internet protocol</vt:lpstr>
      <vt:lpstr>Traffic Routing</vt:lpstr>
      <vt:lpstr>Internet Traffic routing</vt:lpstr>
      <vt:lpstr>Routing protocols</vt:lpstr>
      <vt:lpstr>Routing protocols</vt:lpstr>
      <vt:lpstr>Routing protocols</vt:lpstr>
      <vt:lpstr>Routing Protocols</vt:lpstr>
      <vt:lpstr>Routing protocols</vt:lpstr>
      <vt:lpstr>Name and Address resolution</vt:lpstr>
      <vt:lpstr>Name and address resolution</vt:lpstr>
      <vt:lpstr>Domain name system (DNS)</vt:lpstr>
      <vt:lpstr>Domain name system (DNS)</vt:lpstr>
      <vt:lpstr>Domain name system (DNS)</vt:lpstr>
      <vt:lpstr>references</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Kali Linux</dc:title>
  <dc:creator>NICHOLAUS HENDRIK JEREMY</dc:creator>
  <cp:lastModifiedBy>IVAN SEBASTIAN EDBERT</cp:lastModifiedBy>
  <cp:revision>22</cp:revision>
  <dcterms:created xsi:type="dcterms:W3CDTF">2023-06-28T08:14:57Z</dcterms:created>
  <dcterms:modified xsi:type="dcterms:W3CDTF">2023-12-12T12:35:20Z</dcterms:modified>
</cp:coreProperties>
</file>