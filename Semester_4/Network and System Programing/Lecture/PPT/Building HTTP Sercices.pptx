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9"/>
  </p:notesMasterIdLst>
  <p:sldIdLst>
    <p:sldId id="256" r:id="rId2"/>
    <p:sldId id="278" r:id="rId3"/>
    <p:sldId id="257" r:id="rId4"/>
    <p:sldId id="310" r:id="rId5"/>
    <p:sldId id="311" r:id="rId6"/>
    <p:sldId id="313" r:id="rId7"/>
    <p:sldId id="314" r:id="rId8"/>
    <p:sldId id="315" r:id="rId9"/>
    <p:sldId id="316" r:id="rId10"/>
    <p:sldId id="317" r:id="rId11"/>
    <p:sldId id="318" r:id="rId12"/>
    <p:sldId id="319" r:id="rId13"/>
    <p:sldId id="320" r:id="rId14"/>
    <p:sldId id="321" r:id="rId15"/>
    <p:sldId id="322" r:id="rId16"/>
    <p:sldId id="300" r:id="rId17"/>
    <p:sldId id="296" r:id="rId18"/>
  </p:sldIdLst>
  <p:sldSz cx="24384000" cy="13716000"/>
  <p:notesSz cx="6858000" cy="9144000"/>
  <p:embeddedFontLst>
    <p:embeddedFont>
      <p:font typeface="OCRB" panose="020B0609020202020204" pitchFamily="49" charset="77"/>
      <p:regular r:id="rId20"/>
    </p:embeddedFont>
    <p:embeddedFont>
      <p:font typeface="Open Sans ExtraBold" panose="020B0606030504020204" pitchFamily="34" charset="0"/>
      <p:bold r:id="rId21"/>
      <p:italic r:id="rId22"/>
      <p:boldItalic r:id="rId23"/>
    </p:embeddedFont>
    <p:embeddedFont>
      <p:font typeface="Open Sans Light" panose="020B0306030504020204" pitchFamily="34" charset="0"/>
      <p:regular r:id="rId24"/>
      <p:italic r:id="rId25"/>
    </p:embeddedFont>
    <p:embeddedFont>
      <p:font typeface="Open Sans Semibold" panose="020B0606030504020204" pitchFamily="34" charset="0"/>
      <p:regular r:id="rId26"/>
      <p:bold r:id="rId27"/>
      <p:italic r:id="rId28"/>
      <p:boldItalic r:id="rId29"/>
    </p:embeddedFont>
    <p:embeddedFont>
      <p:font typeface="Tahoma" panose="020B0604030504040204" pitchFamily="34" charset="0"/>
      <p:regular r:id="rId30"/>
      <p:bold r:id="rId31"/>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AF5C67-6B9D-5747-8FCD-6AA7060E4161}" v="26" dt="2023-12-18T11:05:51.381"/>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95336"/>
  </p:normalViewPr>
  <p:slideViewPr>
    <p:cSldViewPr snapToGrid="0" snapToObjects="1">
      <p:cViewPr varScale="1">
        <p:scale>
          <a:sx n="59" d="100"/>
          <a:sy n="59" d="100"/>
        </p:scale>
        <p:origin x="280" y="256"/>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hyperlink" Target="https://www.redhat.com/en/topics/middleware/what-is-middleware#:~:text=Middleware%20is%20software%20and%20cloud,applications%2C%20data%2C%20and%20users" TargetMode="External"/><Relationship Id="rId2" Type="http://schemas.openxmlformats.org/officeDocument/2006/relationships/hyperlink" Target="https://www.ibm.com/docs/en/mam/7.6.1.2?topic=properties-http-handler" TargetMode="External"/><Relationship Id="rId1" Type="http://schemas.openxmlformats.org/officeDocument/2006/relationships/slideLayout" Target="../slideLayouts/slideLayout12.xml"/><Relationship Id="rId4" Type="http://schemas.openxmlformats.org/officeDocument/2006/relationships/hyperlink" Target="https://aws.amazon.com/id/what-is/middlewar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sz="8900" dirty="0"/>
              <a:t>Building HTTP Services</a:t>
            </a:r>
            <a:br>
              <a:rPr lang="en-US" dirty="0"/>
            </a:br>
            <a:br>
              <a:rPr lang="en-US" dirty="0"/>
            </a:br>
            <a:r>
              <a:rPr lang="en-US" sz="6000" dirty="0"/>
              <a:t>Session 09</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Ivan Sebastian </a:t>
            </a:r>
            <a:r>
              <a:rPr lang="en-US" dirty="0" err="1"/>
              <a:t>Edbert</a:t>
            </a:r>
            <a:endParaRPr lang="en-US" dirty="0"/>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COMP6584001 – Network and Systems Programming </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9823966"/>
          </a:xfrm>
        </p:spPr>
        <p:txBody>
          <a:bodyPr>
            <a:noAutofit/>
          </a:bodyPr>
          <a:lstStyle/>
          <a:p>
            <a:pPr marL="0" indent="0">
              <a:buNone/>
            </a:pPr>
            <a:r>
              <a:rPr lang="en-US" sz="3200" dirty="0"/>
              <a:t>At the end of this session, the student will be expected to :</a:t>
            </a:r>
          </a:p>
          <a:p>
            <a:pPr marL="0" indent="0">
              <a:buNone/>
            </a:pPr>
            <a:endParaRPr lang="en-ID" sz="3200" dirty="0"/>
          </a:p>
          <a:p>
            <a:r>
              <a:rPr lang="en-ID" sz="3200" dirty="0"/>
              <a:t>Able to explain anatomy of Go HTTP Server</a:t>
            </a:r>
          </a:p>
          <a:p>
            <a:endParaRPr lang="en-ID" sz="3200" dirty="0"/>
          </a:p>
          <a:p>
            <a:r>
              <a:rPr lang="en-ID" sz="3200" dirty="0"/>
              <a:t>Able to use Handlers</a:t>
            </a:r>
          </a:p>
          <a:p>
            <a:endParaRPr lang="en-ID" sz="3200" dirty="0"/>
          </a:p>
          <a:p>
            <a:r>
              <a:rPr lang="en-ID" sz="3200" dirty="0"/>
              <a:t>Understand about Middleware</a:t>
            </a:r>
          </a:p>
          <a:p>
            <a:endParaRPr lang="en-ID" sz="3200" dirty="0"/>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r>
              <a:rPr lang="en-ID" sz="3200" dirty="0"/>
              <a:t>Go HTTP Anatomy</a:t>
            </a:r>
          </a:p>
          <a:p>
            <a:r>
              <a:rPr lang="en-ID" sz="3200" dirty="0"/>
              <a:t>Handlers</a:t>
            </a:r>
          </a:p>
          <a:p>
            <a:r>
              <a:rPr lang="en-ID" sz="3200" dirty="0"/>
              <a:t>Middleware</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Go HTTP Anatomy</a:t>
            </a:r>
          </a:p>
        </p:txBody>
      </p:sp>
    </p:spTree>
    <p:extLst>
      <p:ext uri="{BB962C8B-B14F-4D97-AF65-F5344CB8AC3E}">
        <p14:creationId xmlns:p14="http://schemas.microsoft.com/office/powerpoint/2010/main" val="51458303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384D2-7A3B-2245-A060-68742825AB9B}"/>
              </a:ext>
            </a:extLst>
          </p:cNvPr>
          <p:cNvSpPr>
            <a:spLocks noGrp="1"/>
          </p:cNvSpPr>
          <p:nvPr>
            <p:ph type="title"/>
          </p:nvPr>
        </p:nvSpPr>
        <p:spPr/>
        <p:txBody>
          <a:bodyPr>
            <a:normAutofit fontScale="90000"/>
          </a:bodyPr>
          <a:lstStyle/>
          <a:p>
            <a:r>
              <a:rPr lang="en-US" dirty="0"/>
              <a:t>Anatomy Go http server</a:t>
            </a:r>
          </a:p>
        </p:txBody>
      </p:sp>
      <p:sp>
        <p:nvSpPr>
          <p:cNvPr id="3" name="Text Placeholder 2">
            <a:extLst>
              <a:ext uri="{FF2B5EF4-FFF2-40B4-BE49-F238E27FC236}">
                <a16:creationId xmlns:a16="http://schemas.microsoft.com/office/drawing/2014/main" id="{A155AA01-AEAD-EDFD-4193-2FDAD43B7FD9}"/>
              </a:ext>
            </a:extLst>
          </p:cNvPr>
          <p:cNvSpPr>
            <a:spLocks noGrp="1"/>
          </p:cNvSpPr>
          <p:nvPr>
            <p:ph type="body" sz="quarter" idx="10"/>
          </p:nvPr>
        </p:nvSpPr>
        <p:spPr/>
        <p:txBody>
          <a:bodyPr/>
          <a:lstStyle/>
          <a:p>
            <a:endParaRPr lang="en-US"/>
          </a:p>
        </p:txBody>
      </p:sp>
      <p:pic>
        <p:nvPicPr>
          <p:cNvPr id="6" name="Content Placeholder 5" descr="A diagram of a server&#10;&#10;Description automatically generated">
            <a:extLst>
              <a:ext uri="{FF2B5EF4-FFF2-40B4-BE49-F238E27FC236}">
                <a16:creationId xmlns:a16="http://schemas.microsoft.com/office/drawing/2014/main" id="{3E7E91CF-50C8-1B7F-A59E-27755FC0C3EE}"/>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1699285" y="4851759"/>
            <a:ext cx="9941999" cy="7447900"/>
          </a:xfrm>
        </p:spPr>
      </p:pic>
      <p:sp>
        <p:nvSpPr>
          <p:cNvPr id="7" name="Content Placeholder 3">
            <a:extLst>
              <a:ext uri="{FF2B5EF4-FFF2-40B4-BE49-F238E27FC236}">
                <a16:creationId xmlns:a16="http://schemas.microsoft.com/office/drawing/2014/main" id="{97D8CB05-0674-42D6-4FB8-313A6E1D52AA}"/>
              </a:ext>
            </a:extLst>
          </p:cNvPr>
          <p:cNvSpPr txBox="1">
            <a:spLocks/>
          </p:cNvSpPr>
          <p:nvPr/>
        </p:nvSpPr>
        <p:spPr>
          <a:xfrm>
            <a:off x="12192000" y="3848373"/>
            <a:ext cx="10980613" cy="9454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just"/>
            <a:r>
              <a:rPr lang="en-ID" sz="3200" dirty="0"/>
              <a:t>First, the server’s multiplexer (router, in computer-networking parlance) receives the client’s request. </a:t>
            </a:r>
          </a:p>
          <a:p>
            <a:pPr algn="just"/>
            <a:r>
              <a:rPr lang="en-ID" sz="3200" dirty="0"/>
              <a:t>The multiplexer determines the destination for the request, then passes it along to the object capable of handling it. We call this object a handler. </a:t>
            </a:r>
          </a:p>
          <a:p>
            <a:pPr algn="just"/>
            <a:r>
              <a:rPr lang="en-ID" sz="3200" dirty="0"/>
              <a:t>(The multiplexer itself is a handler that routes requests to the most appropriate handler.) Before the handler receives the request, the request may pass through one or more functions called middle- ware. </a:t>
            </a:r>
          </a:p>
          <a:p>
            <a:pPr algn="just"/>
            <a:r>
              <a:rPr lang="en-ID" sz="3200" dirty="0"/>
              <a:t>Middleware changes the handlers’ </a:t>
            </a:r>
            <a:r>
              <a:rPr lang="en-ID" sz="3200" dirty="0" err="1"/>
              <a:t>behavior</a:t>
            </a:r>
            <a:r>
              <a:rPr lang="en-ID" sz="3200" dirty="0"/>
              <a:t> or performs auxiliary tasks, such as logging, authentication, or access control.</a:t>
            </a:r>
          </a:p>
          <a:p>
            <a:pPr algn="just"/>
            <a:r>
              <a:rPr lang="en-ID" sz="3200" dirty="0"/>
              <a:t>Listing 9-1 creates an HTTP server that follows this basic structure.</a:t>
            </a:r>
          </a:p>
        </p:txBody>
      </p:sp>
    </p:spTree>
    <p:extLst>
      <p:ext uri="{BB962C8B-B14F-4D97-AF65-F5344CB8AC3E}">
        <p14:creationId xmlns:p14="http://schemas.microsoft.com/office/powerpoint/2010/main" val="175322662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handlers</a:t>
            </a:r>
          </a:p>
        </p:txBody>
      </p:sp>
    </p:spTree>
    <p:extLst>
      <p:ext uri="{BB962C8B-B14F-4D97-AF65-F5344CB8AC3E}">
        <p14:creationId xmlns:p14="http://schemas.microsoft.com/office/powerpoint/2010/main" val="48233958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FFB93-F21D-4DC3-74D0-6201A56945AB}"/>
              </a:ext>
            </a:extLst>
          </p:cNvPr>
          <p:cNvSpPr>
            <a:spLocks noGrp="1"/>
          </p:cNvSpPr>
          <p:nvPr>
            <p:ph type="title"/>
          </p:nvPr>
        </p:nvSpPr>
        <p:spPr/>
        <p:txBody>
          <a:bodyPr>
            <a:normAutofit fontScale="90000"/>
          </a:bodyPr>
          <a:lstStyle/>
          <a:p>
            <a:r>
              <a:rPr lang="en-US" dirty="0"/>
              <a:t>handlers</a:t>
            </a:r>
          </a:p>
        </p:txBody>
      </p:sp>
      <p:sp>
        <p:nvSpPr>
          <p:cNvPr id="3" name="Text Placeholder 2">
            <a:extLst>
              <a:ext uri="{FF2B5EF4-FFF2-40B4-BE49-F238E27FC236}">
                <a16:creationId xmlns:a16="http://schemas.microsoft.com/office/drawing/2014/main" id="{DB4CAD0C-D8F1-A2DE-BB70-E08FEDCBC881}"/>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48D14EA0-1CC7-F74C-ABBB-CD65454CEDF0}"/>
              </a:ext>
            </a:extLst>
          </p:cNvPr>
          <p:cNvSpPr>
            <a:spLocks noGrp="1"/>
          </p:cNvSpPr>
          <p:nvPr>
            <p:ph sz="quarter" idx="11"/>
          </p:nvPr>
        </p:nvSpPr>
        <p:spPr>
          <a:xfrm>
            <a:off x="2167377" y="4596868"/>
            <a:ext cx="10024623" cy="4522264"/>
          </a:xfrm>
        </p:spPr>
        <p:txBody>
          <a:bodyPr>
            <a:normAutofit/>
          </a:bodyPr>
          <a:lstStyle/>
          <a:p>
            <a:pPr algn="just"/>
            <a:r>
              <a:rPr lang="en-US" sz="3200" dirty="0"/>
              <a:t>In Go's net/http package, a handler is an interface called </a:t>
            </a:r>
            <a:r>
              <a:rPr lang="en-US" sz="3200" dirty="0" err="1"/>
              <a:t>http.Handler</a:t>
            </a:r>
            <a:r>
              <a:rPr lang="en-US" sz="3200" dirty="0"/>
              <a:t>. It defines the </a:t>
            </a:r>
            <a:r>
              <a:rPr lang="en-US" sz="3200" dirty="0" err="1"/>
              <a:t>ServeHTTP</a:t>
            </a:r>
            <a:r>
              <a:rPr lang="en-US" sz="3200" dirty="0"/>
              <a:t> method, which allows an object to handle HTTP requests. When an HTTP request is received by a server, the server looks for a registered handler that can handle the request.</a:t>
            </a:r>
          </a:p>
          <a:p>
            <a:pPr algn="just"/>
            <a:r>
              <a:rPr lang="en-US" sz="3200" dirty="0"/>
              <a:t>Here's a basic example of a custom handler:</a:t>
            </a:r>
          </a:p>
        </p:txBody>
      </p:sp>
      <p:pic>
        <p:nvPicPr>
          <p:cNvPr id="6" name="Picture 5" descr="A screenshot of a computer program&#10;&#10;Description automatically generated">
            <a:extLst>
              <a:ext uri="{FF2B5EF4-FFF2-40B4-BE49-F238E27FC236}">
                <a16:creationId xmlns:a16="http://schemas.microsoft.com/office/drawing/2014/main" id="{189D8691-2491-FE4E-E293-58053131F6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98487" y="2584530"/>
            <a:ext cx="9563166" cy="10875757"/>
          </a:xfrm>
          <a:prstGeom prst="rect">
            <a:avLst/>
          </a:prstGeom>
        </p:spPr>
      </p:pic>
    </p:spTree>
    <p:extLst>
      <p:ext uri="{BB962C8B-B14F-4D97-AF65-F5344CB8AC3E}">
        <p14:creationId xmlns:p14="http://schemas.microsoft.com/office/powerpoint/2010/main" val="373957548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7F3B8-A2A5-00D1-D3E8-1E9AB2188F9A}"/>
              </a:ext>
            </a:extLst>
          </p:cNvPr>
          <p:cNvSpPr>
            <a:spLocks noGrp="1"/>
          </p:cNvSpPr>
          <p:nvPr>
            <p:ph type="title"/>
          </p:nvPr>
        </p:nvSpPr>
        <p:spPr/>
        <p:txBody>
          <a:bodyPr>
            <a:normAutofit fontScale="90000"/>
          </a:bodyPr>
          <a:lstStyle/>
          <a:p>
            <a:r>
              <a:rPr lang="en-US" dirty="0"/>
              <a:t>handlers</a:t>
            </a:r>
          </a:p>
        </p:txBody>
      </p:sp>
      <p:sp>
        <p:nvSpPr>
          <p:cNvPr id="3" name="Text Placeholder 2">
            <a:extLst>
              <a:ext uri="{FF2B5EF4-FFF2-40B4-BE49-F238E27FC236}">
                <a16:creationId xmlns:a16="http://schemas.microsoft.com/office/drawing/2014/main" id="{AAFFD520-A8D4-1428-91DF-1038E1DABF2F}"/>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431F0892-E270-4504-D2FB-3084B0B6D2BB}"/>
              </a:ext>
            </a:extLst>
          </p:cNvPr>
          <p:cNvSpPr>
            <a:spLocks noGrp="1"/>
          </p:cNvSpPr>
          <p:nvPr>
            <p:ph sz="quarter" idx="11"/>
          </p:nvPr>
        </p:nvSpPr>
        <p:spPr>
          <a:xfrm>
            <a:off x="2039502" y="3848491"/>
            <a:ext cx="10024623" cy="9519166"/>
          </a:xfrm>
        </p:spPr>
        <p:txBody>
          <a:bodyPr>
            <a:noAutofit/>
          </a:bodyPr>
          <a:lstStyle/>
          <a:p>
            <a:pPr algn="just"/>
            <a:r>
              <a:rPr lang="en-US" sz="3200" dirty="0"/>
              <a:t>The </a:t>
            </a:r>
            <a:r>
              <a:rPr lang="en-US" sz="3200" dirty="0" err="1"/>
              <a:t>MyHandler</a:t>
            </a:r>
            <a:r>
              <a:rPr lang="en-US" sz="3200" dirty="0"/>
              <a:t> type implements the </a:t>
            </a:r>
            <a:r>
              <a:rPr lang="en-US" sz="3200" dirty="0" err="1"/>
              <a:t>http.Handler</a:t>
            </a:r>
            <a:r>
              <a:rPr lang="en-US" sz="3200" dirty="0"/>
              <a:t> interface by providing a </a:t>
            </a:r>
            <a:r>
              <a:rPr lang="en-US" sz="3200" dirty="0" err="1"/>
              <a:t>ServeHTTP</a:t>
            </a:r>
            <a:r>
              <a:rPr lang="en-US" sz="3200" dirty="0"/>
              <a:t> method. This method is called to handle incoming HTTP requests.</a:t>
            </a:r>
          </a:p>
          <a:p>
            <a:pPr algn="just"/>
            <a:r>
              <a:rPr lang="en-US" sz="3200" dirty="0"/>
              <a:t>An instance of </a:t>
            </a:r>
            <a:r>
              <a:rPr lang="en-US" sz="3200" dirty="0" err="1"/>
              <a:t>MyHandler</a:t>
            </a:r>
            <a:r>
              <a:rPr lang="en-US" sz="3200" dirty="0"/>
              <a:t> is created (</a:t>
            </a:r>
            <a:r>
              <a:rPr lang="en-US" sz="3200" dirty="0" err="1"/>
              <a:t>myHandler</a:t>
            </a:r>
            <a:r>
              <a:rPr lang="en-US" sz="3200" dirty="0"/>
              <a:t>), and it's registered to handle requests with the pattern "/custom" using </a:t>
            </a:r>
            <a:r>
              <a:rPr lang="en-US" sz="3200" dirty="0" err="1"/>
              <a:t>http.Handle</a:t>
            </a:r>
            <a:r>
              <a:rPr lang="en-US" sz="3200" dirty="0"/>
              <a:t>("/custom", </a:t>
            </a:r>
            <a:r>
              <a:rPr lang="en-US" sz="3200" dirty="0" err="1"/>
              <a:t>myHandler</a:t>
            </a:r>
            <a:r>
              <a:rPr lang="en-US" sz="3200" dirty="0"/>
              <a:t>).</a:t>
            </a:r>
          </a:p>
          <a:p>
            <a:pPr algn="just"/>
            <a:r>
              <a:rPr lang="en-US" sz="3200" dirty="0"/>
              <a:t>When a request with the path "/custom" is received, the </a:t>
            </a:r>
            <a:r>
              <a:rPr lang="en-US" sz="3200" dirty="0" err="1"/>
              <a:t>ServeHTTP</a:t>
            </a:r>
            <a:r>
              <a:rPr lang="en-US" sz="3200" dirty="0"/>
              <a:t> method of </a:t>
            </a:r>
            <a:r>
              <a:rPr lang="en-US" sz="3200" dirty="0" err="1"/>
              <a:t>MyHandler</a:t>
            </a:r>
            <a:r>
              <a:rPr lang="en-US" sz="3200" dirty="0"/>
              <a:t> is invoked to handle the request.</a:t>
            </a:r>
          </a:p>
          <a:p>
            <a:pPr algn="just"/>
            <a:r>
              <a:rPr lang="en-US" sz="3200" dirty="0"/>
              <a:t>You can also use the </a:t>
            </a:r>
            <a:r>
              <a:rPr lang="en-US" sz="3200" dirty="0" err="1"/>
              <a:t>http.HandlerFunc</a:t>
            </a:r>
            <a:r>
              <a:rPr lang="en-US" sz="3200" dirty="0"/>
              <a:t> type to convert a function into an </a:t>
            </a:r>
            <a:r>
              <a:rPr lang="en-US" sz="3200" dirty="0" err="1"/>
              <a:t>http.Handler</a:t>
            </a:r>
            <a:r>
              <a:rPr lang="en-US" sz="3200" dirty="0"/>
              <a:t>. Here's an example:</a:t>
            </a:r>
          </a:p>
        </p:txBody>
      </p:sp>
      <p:pic>
        <p:nvPicPr>
          <p:cNvPr id="6" name="Picture 5" descr="A screen shot of a computer program&#10;&#10;Description automatically generated">
            <a:extLst>
              <a:ext uri="{FF2B5EF4-FFF2-40B4-BE49-F238E27FC236}">
                <a16:creationId xmlns:a16="http://schemas.microsoft.com/office/drawing/2014/main" id="{6A2DD277-6229-47B6-C61B-421D5EE26D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62150" y="2865044"/>
            <a:ext cx="9896748" cy="10268806"/>
          </a:xfrm>
          <a:prstGeom prst="rect">
            <a:avLst/>
          </a:prstGeom>
        </p:spPr>
      </p:pic>
    </p:spTree>
    <p:extLst>
      <p:ext uri="{BB962C8B-B14F-4D97-AF65-F5344CB8AC3E}">
        <p14:creationId xmlns:p14="http://schemas.microsoft.com/office/powerpoint/2010/main" val="366069957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B9B41-F1EC-9BCA-783F-FEE9BB274091}"/>
              </a:ext>
            </a:extLst>
          </p:cNvPr>
          <p:cNvSpPr>
            <a:spLocks noGrp="1"/>
          </p:cNvSpPr>
          <p:nvPr>
            <p:ph type="title"/>
          </p:nvPr>
        </p:nvSpPr>
        <p:spPr/>
        <p:txBody>
          <a:bodyPr>
            <a:normAutofit fontScale="90000"/>
          </a:bodyPr>
          <a:lstStyle/>
          <a:p>
            <a:r>
              <a:rPr lang="en-US" dirty="0"/>
              <a:t>handlers</a:t>
            </a:r>
          </a:p>
        </p:txBody>
      </p:sp>
      <p:sp>
        <p:nvSpPr>
          <p:cNvPr id="3" name="Text Placeholder 2">
            <a:extLst>
              <a:ext uri="{FF2B5EF4-FFF2-40B4-BE49-F238E27FC236}">
                <a16:creationId xmlns:a16="http://schemas.microsoft.com/office/drawing/2014/main" id="{54A39A41-674E-2355-0D03-1556D3799F28}"/>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F3907C4-A15D-7B5E-55B7-4EC0C4F73D0A}"/>
              </a:ext>
            </a:extLst>
          </p:cNvPr>
          <p:cNvSpPr>
            <a:spLocks noGrp="1"/>
          </p:cNvSpPr>
          <p:nvPr>
            <p:ph sz="quarter" idx="11"/>
          </p:nvPr>
        </p:nvSpPr>
        <p:spPr>
          <a:xfrm>
            <a:off x="5334530" y="4596868"/>
            <a:ext cx="13714940" cy="4522264"/>
          </a:xfrm>
        </p:spPr>
        <p:txBody>
          <a:bodyPr>
            <a:noAutofit/>
          </a:bodyPr>
          <a:lstStyle/>
          <a:p>
            <a:pPr algn="just"/>
            <a:r>
              <a:rPr lang="en-US" sz="3200" dirty="0"/>
              <a:t>In this example, </a:t>
            </a:r>
            <a:r>
              <a:rPr lang="en-US" sz="3200" dirty="0" err="1"/>
              <a:t>MyHandlerFunc</a:t>
            </a:r>
            <a:r>
              <a:rPr lang="en-US" sz="3200" dirty="0"/>
              <a:t> is a function that takes an </a:t>
            </a:r>
            <a:r>
              <a:rPr lang="en-US" sz="3200" dirty="0" err="1"/>
              <a:t>http.ResponseWriter</a:t>
            </a:r>
            <a:r>
              <a:rPr lang="en-US" sz="3200" dirty="0"/>
              <a:t> and an </a:t>
            </a:r>
            <a:r>
              <a:rPr lang="en-US" sz="3200" dirty="0" err="1"/>
              <a:t>http.Request</a:t>
            </a:r>
            <a:r>
              <a:rPr lang="en-US" sz="3200" dirty="0"/>
              <a:t> as parameters. The </a:t>
            </a:r>
            <a:r>
              <a:rPr lang="en-US" sz="3200" dirty="0" err="1"/>
              <a:t>http.HandlerFunc</a:t>
            </a:r>
            <a:r>
              <a:rPr lang="en-US" sz="3200" dirty="0"/>
              <a:t> type is used to convert this function into an </a:t>
            </a:r>
            <a:r>
              <a:rPr lang="en-US" sz="3200" dirty="0" err="1"/>
              <a:t>http.Handler</a:t>
            </a:r>
            <a:r>
              <a:rPr lang="en-US" sz="3200" dirty="0"/>
              <a:t>, and it is registered to handle requests with the pattern "/custom".</a:t>
            </a:r>
          </a:p>
          <a:p>
            <a:pPr algn="just"/>
            <a:endParaRPr lang="en-US" sz="3200" dirty="0"/>
          </a:p>
          <a:p>
            <a:pPr algn="just"/>
            <a:r>
              <a:rPr lang="en-US" sz="3200" dirty="0"/>
              <a:t>Handlers are a powerful concept in Go's net/http package, allowing you to create modular and reusable components for handling different types of HTTP requests.</a:t>
            </a:r>
          </a:p>
          <a:p>
            <a:pPr algn="just"/>
            <a:endParaRPr lang="en-US" sz="3200" dirty="0"/>
          </a:p>
          <a:p>
            <a:pPr algn="just"/>
            <a:endParaRPr lang="en-US" sz="3200" dirty="0"/>
          </a:p>
          <a:p>
            <a:pPr algn="just"/>
            <a:endParaRPr lang="en-US" sz="3200" dirty="0"/>
          </a:p>
          <a:p>
            <a:pPr algn="just"/>
            <a:endParaRPr lang="en-US" sz="3200" dirty="0"/>
          </a:p>
        </p:txBody>
      </p:sp>
    </p:spTree>
    <p:extLst>
      <p:ext uri="{BB962C8B-B14F-4D97-AF65-F5344CB8AC3E}">
        <p14:creationId xmlns:p14="http://schemas.microsoft.com/office/powerpoint/2010/main" val="246808583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middleware</a:t>
            </a:r>
          </a:p>
        </p:txBody>
      </p:sp>
    </p:spTree>
    <p:extLst>
      <p:ext uri="{BB962C8B-B14F-4D97-AF65-F5344CB8AC3E}">
        <p14:creationId xmlns:p14="http://schemas.microsoft.com/office/powerpoint/2010/main" val="75858421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A4B5D-2735-7828-3AEE-6303F4E8BFCD}"/>
              </a:ext>
            </a:extLst>
          </p:cNvPr>
          <p:cNvSpPr>
            <a:spLocks noGrp="1"/>
          </p:cNvSpPr>
          <p:nvPr>
            <p:ph type="title"/>
          </p:nvPr>
        </p:nvSpPr>
        <p:spPr/>
        <p:txBody>
          <a:bodyPr>
            <a:normAutofit fontScale="90000"/>
          </a:bodyPr>
          <a:lstStyle/>
          <a:p>
            <a:r>
              <a:rPr lang="en-US" dirty="0"/>
              <a:t>middleware</a:t>
            </a:r>
          </a:p>
        </p:txBody>
      </p:sp>
      <p:sp>
        <p:nvSpPr>
          <p:cNvPr id="3" name="Text Placeholder 2">
            <a:extLst>
              <a:ext uri="{FF2B5EF4-FFF2-40B4-BE49-F238E27FC236}">
                <a16:creationId xmlns:a16="http://schemas.microsoft.com/office/drawing/2014/main" id="{BA864529-49CA-94C1-7435-1C7CA1363027}"/>
              </a:ext>
            </a:extLst>
          </p:cNvPr>
          <p:cNvSpPr>
            <a:spLocks noGrp="1"/>
          </p:cNvSpPr>
          <p:nvPr>
            <p:ph type="body" sz="quarter" idx="10"/>
          </p:nvPr>
        </p:nvSpPr>
        <p:spPr/>
        <p:txBody>
          <a:bodyPr/>
          <a:lstStyle/>
          <a:p>
            <a:r>
              <a:rPr lang="en-US" dirty="0"/>
              <a:t>What is middleware?</a:t>
            </a:r>
          </a:p>
        </p:txBody>
      </p:sp>
      <p:sp>
        <p:nvSpPr>
          <p:cNvPr id="4" name="Content Placeholder 3">
            <a:extLst>
              <a:ext uri="{FF2B5EF4-FFF2-40B4-BE49-F238E27FC236}">
                <a16:creationId xmlns:a16="http://schemas.microsoft.com/office/drawing/2014/main" id="{D968209C-0C33-235E-E44B-FC53D9479EF3}"/>
              </a:ext>
            </a:extLst>
          </p:cNvPr>
          <p:cNvSpPr>
            <a:spLocks noGrp="1"/>
          </p:cNvSpPr>
          <p:nvPr>
            <p:ph sz="quarter" idx="11"/>
          </p:nvPr>
        </p:nvSpPr>
        <p:spPr>
          <a:xfrm>
            <a:off x="5334530" y="4596868"/>
            <a:ext cx="13714940" cy="4522264"/>
          </a:xfrm>
        </p:spPr>
        <p:txBody>
          <a:bodyPr>
            <a:noAutofit/>
          </a:bodyPr>
          <a:lstStyle/>
          <a:p>
            <a:pPr algn="just"/>
            <a:r>
              <a:rPr lang="en-US" sz="3200" dirty="0"/>
              <a:t>Middleware is software and cloud services that provide common services and capabilities to applications and help developers and operators build and deploy applications more efficiently. Middleware acts like the connective tissue between applications, data, and users.</a:t>
            </a:r>
          </a:p>
          <a:p>
            <a:pPr algn="just"/>
            <a:endParaRPr lang="en-US" sz="3200" dirty="0"/>
          </a:p>
          <a:p>
            <a:pPr algn="just"/>
            <a:r>
              <a:rPr lang="en-US" sz="3200" dirty="0"/>
              <a:t>Middleware has been part of software engineering terminology since the late 1960s, and as a category can apply to a wide range of modern software components. Middleware can include application runtimes, enterprise application integration and various kinds of cloud services. Data management, application services, messaging, authentication, and application programming interface (API) management are all commonly handled by middleware.</a:t>
            </a:r>
          </a:p>
        </p:txBody>
      </p:sp>
    </p:spTree>
    <p:extLst>
      <p:ext uri="{BB962C8B-B14F-4D97-AF65-F5344CB8AC3E}">
        <p14:creationId xmlns:p14="http://schemas.microsoft.com/office/powerpoint/2010/main" val="63219600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4604F-E56A-46AD-185F-118A37D50706}"/>
              </a:ext>
            </a:extLst>
          </p:cNvPr>
          <p:cNvSpPr>
            <a:spLocks noGrp="1"/>
          </p:cNvSpPr>
          <p:nvPr>
            <p:ph type="title"/>
          </p:nvPr>
        </p:nvSpPr>
        <p:spPr/>
        <p:txBody>
          <a:bodyPr>
            <a:normAutofit fontScale="90000"/>
          </a:bodyPr>
          <a:lstStyle/>
          <a:p>
            <a:r>
              <a:rPr lang="en-US" dirty="0"/>
              <a:t>middleware</a:t>
            </a:r>
          </a:p>
        </p:txBody>
      </p:sp>
      <p:sp>
        <p:nvSpPr>
          <p:cNvPr id="3" name="Text Placeholder 2">
            <a:extLst>
              <a:ext uri="{FF2B5EF4-FFF2-40B4-BE49-F238E27FC236}">
                <a16:creationId xmlns:a16="http://schemas.microsoft.com/office/drawing/2014/main" id="{7FBD2AB8-BF21-3826-DE90-278265770B56}"/>
              </a:ext>
            </a:extLst>
          </p:cNvPr>
          <p:cNvSpPr>
            <a:spLocks noGrp="1"/>
          </p:cNvSpPr>
          <p:nvPr>
            <p:ph type="body" sz="quarter" idx="10"/>
          </p:nvPr>
        </p:nvSpPr>
        <p:spPr/>
        <p:txBody>
          <a:bodyPr/>
          <a:lstStyle/>
          <a:p>
            <a:r>
              <a:rPr lang="en-US" dirty="0"/>
              <a:t>Why is middleware important</a:t>
            </a:r>
          </a:p>
        </p:txBody>
      </p:sp>
      <p:sp>
        <p:nvSpPr>
          <p:cNvPr id="4" name="Content Placeholder 3">
            <a:extLst>
              <a:ext uri="{FF2B5EF4-FFF2-40B4-BE49-F238E27FC236}">
                <a16:creationId xmlns:a16="http://schemas.microsoft.com/office/drawing/2014/main" id="{9E776AAC-A4CF-A2CA-4D2B-3EFC950759B1}"/>
              </a:ext>
            </a:extLst>
          </p:cNvPr>
          <p:cNvSpPr>
            <a:spLocks noGrp="1"/>
          </p:cNvSpPr>
          <p:nvPr>
            <p:ph sz="quarter" idx="11"/>
          </p:nvPr>
        </p:nvSpPr>
        <p:spPr>
          <a:xfrm>
            <a:off x="5078782" y="3832203"/>
            <a:ext cx="13714940" cy="8642826"/>
          </a:xfrm>
        </p:spPr>
        <p:txBody>
          <a:bodyPr>
            <a:noAutofit/>
          </a:bodyPr>
          <a:lstStyle/>
          <a:p>
            <a:pPr algn="just"/>
            <a:r>
              <a:rPr lang="en-US" sz="3200" dirty="0"/>
              <a:t>Middleware began as a bridge between new applications and old systems before gaining popularity in the 1980s. Developers initially used it to integrate new programs with previous systems without rewriting the previous code. Middleware has become an important communication and data management tool in distributed systems.</a:t>
            </a:r>
          </a:p>
          <a:p>
            <a:pPr algn="just"/>
            <a:endParaRPr lang="en-US" sz="3200" dirty="0"/>
          </a:p>
          <a:p>
            <a:pPr algn="just"/>
            <a:r>
              <a:rPr lang="en-US" sz="3200" dirty="0"/>
              <a:t>Developers use middleware to support application development and simplify the design process. This makes the developer free to focus on business logic and features rather than connectivity between different software components. Without middleware, the developer must build a data exchange module for each software component connected to the application. This is challenging because modern applications consist of several micro services or small software components that communicate with each other. </a:t>
            </a:r>
          </a:p>
        </p:txBody>
      </p:sp>
    </p:spTree>
    <p:extLst>
      <p:ext uri="{BB962C8B-B14F-4D97-AF65-F5344CB8AC3E}">
        <p14:creationId xmlns:p14="http://schemas.microsoft.com/office/powerpoint/2010/main" val="243865969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C445-9868-04B4-AE5E-8942DDEB7AF7}"/>
              </a:ext>
            </a:extLst>
          </p:cNvPr>
          <p:cNvSpPr>
            <a:spLocks noGrp="1"/>
          </p:cNvSpPr>
          <p:nvPr>
            <p:ph type="title"/>
          </p:nvPr>
        </p:nvSpPr>
        <p:spPr/>
        <p:txBody>
          <a:bodyPr>
            <a:normAutofit fontScale="90000"/>
          </a:bodyPr>
          <a:lstStyle/>
          <a:p>
            <a:r>
              <a:rPr lang="en-US" dirty="0"/>
              <a:t>Middleware</a:t>
            </a:r>
          </a:p>
        </p:txBody>
      </p:sp>
      <p:sp>
        <p:nvSpPr>
          <p:cNvPr id="3" name="Text Placeholder 2">
            <a:extLst>
              <a:ext uri="{FF2B5EF4-FFF2-40B4-BE49-F238E27FC236}">
                <a16:creationId xmlns:a16="http://schemas.microsoft.com/office/drawing/2014/main" id="{F04BF067-BFFC-570F-97A6-37FDB5542D30}"/>
              </a:ext>
            </a:extLst>
          </p:cNvPr>
          <p:cNvSpPr>
            <a:spLocks noGrp="1"/>
          </p:cNvSpPr>
          <p:nvPr>
            <p:ph type="body" sz="quarter" idx="10"/>
          </p:nvPr>
        </p:nvSpPr>
        <p:spPr/>
        <p:txBody>
          <a:bodyPr/>
          <a:lstStyle/>
          <a:p>
            <a:r>
              <a:rPr lang="en-US" dirty="0"/>
              <a:t>Cases using middleware</a:t>
            </a:r>
          </a:p>
        </p:txBody>
      </p:sp>
      <p:sp>
        <p:nvSpPr>
          <p:cNvPr id="4" name="Content Placeholder 3">
            <a:extLst>
              <a:ext uri="{FF2B5EF4-FFF2-40B4-BE49-F238E27FC236}">
                <a16:creationId xmlns:a16="http://schemas.microsoft.com/office/drawing/2014/main" id="{34101A59-79A5-07A6-3214-DC1402122D54}"/>
              </a:ext>
            </a:extLst>
          </p:cNvPr>
          <p:cNvSpPr>
            <a:spLocks noGrp="1"/>
          </p:cNvSpPr>
          <p:nvPr>
            <p:ph sz="quarter" idx="11"/>
          </p:nvPr>
        </p:nvSpPr>
        <p:spPr>
          <a:xfrm>
            <a:off x="2167377" y="3109366"/>
            <a:ext cx="20257194" cy="8882312"/>
          </a:xfrm>
        </p:spPr>
        <p:txBody>
          <a:bodyPr>
            <a:noAutofit/>
          </a:bodyPr>
          <a:lstStyle/>
          <a:p>
            <a:pPr marL="514350" indent="-514350" algn="just">
              <a:buFont typeface="+mj-lt"/>
              <a:buAutoNum type="arabicPeriod"/>
            </a:pPr>
            <a:r>
              <a:rPr lang="en-US" sz="3000" dirty="0">
                <a:solidFill>
                  <a:srgbClr val="FFFF00"/>
                </a:solidFill>
              </a:rPr>
              <a:t>Game Development</a:t>
            </a:r>
          </a:p>
          <a:p>
            <a:pPr marL="0" indent="0" algn="just">
              <a:buNone/>
            </a:pPr>
            <a:r>
              <a:rPr lang="en-US" sz="3000" dirty="0"/>
              <a:t>Game developers use middleware as a game engine. For the game to function, the software must communicate with various image, audio and video servers along with the communication system. Game machines facilitate this communication and make game development more efficient.</a:t>
            </a:r>
          </a:p>
          <a:p>
            <a:pPr marL="0" indent="0" algn="just">
              <a:buNone/>
            </a:pPr>
            <a:endParaRPr lang="en-US" sz="3000" dirty="0"/>
          </a:p>
          <a:p>
            <a:pPr marL="514350" indent="-514350" algn="just">
              <a:buFont typeface="+mj-lt"/>
              <a:buAutoNum type="arabicPeriod" startAt="2"/>
            </a:pPr>
            <a:r>
              <a:rPr lang="en-US" sz="3000" dirty="0">
                <a:solidFill>
                  <a:srgbClr val="FFFF00"/>
                </a:solidFill>
              </a:rPr>
              <a:t>Electronic</a:t>
            </a:r>
          </a:p>
          <a:p>
            <a:pPr marL="0" indent="0" algn="just">
              <a:buNone/>
            </a:pPr>
            <a:r>
              <a:rPr lang="en-US" sz="3000" dirty="0"/>
              <a:t>Electronic technicians use middleware to integrate various types of sensors with their controls. The middleware layer allows sensors to communicate with controllers through a general messaging framework.</a:t>
            </a:r>
          </a:p>
          <a:p>
            <a:pPr marL="0" indent="0" algn="just">
              <a:buNone/>
            </a:pPr>
            <a:endParaRPr lang="en-US" sz="3000" dirty="0"/>
          </a:p>
          <a:p>
            <a:pPr marL="514350" indent="-514350" algn="just">
              <a:buFont typeface="+mj-lt"/>
              <a:buAutoNum type="arabicPeriod" startAt="3"/>
            </a:pPr>
            <a:r>
              <a:rPr lang="en-US" sz="3000" dirty="0">
                <a:solidFill>
                  <a:srgbClr val="FFFF00"/>
                </a:solidFill>
              </a:rPr>
              <a:t>Software Development</a:t>
            </a:r>
          </a:p>
          <a:p>
            <a:pPr marL="0" indent="0" algn="just">
              <a:buNone/>
            </a:pPr>
            <a:r>
              <a:rPr lang="en-US" sz="3000" dirty="0"/>
              <a:t>Software developers use middleware to integrate different software components into other applications. Middleware offer Application Programming Interface (API) standards for managing input and output data needed from components. Internal links with components are hidden from the user. Developers use APIs to request the services needed from software components. </a:t>
            </a:r>
          </a:p>
        </p:txBody>
      </p:sp>
    </p:spTree>
    <p:extLst>
      <p:ext uri="{BB962C8B-B14F-4D97-AF65-F5344CB8AC3E}">
        <p14:creationId xmlns:p14="http://schemas.microsoft.com/office/powerpoint/2010/main" val="221356260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C445-9868-04B4-AE5E-8942DDEB7AF7}"/>
              </a:ext>
            </a:extLst>
          </p:cNvPr>
          <p:cNvSpPr>
            <a:spLocks noGrp="1"/>
          </p:cNvSpPr>
          <p:nvPr>
            <p:ph type="title"/>
          </p:nvPr>
        </p:nvSpPr>
        <p:spPr/>
        <p:txBody>
          <a:bodyPr>
            <a:normAutofit fontScale="90000"/>
          </a:bodyPr>
          <a:lstStyle/>
          <a:p>
            <a:r>
              <a:rPr lang="en-US" dirty="0"/>
              <a:t>Middleware</a:t>
            </a:r>
          </a:p>
        </p:txBody>
      </p:sp>
      <p:sp>
        <p:nvSpPr>
          <p:cNvPr id="3" name="Text Placeholder 2">
            <a:extLst>
              <a:ext uri="{FF2B5EF4-FFF2-40B4-BE49-F238E27FC236}">
                <a16:creationId xmlns:a16="http://schemas.microsoft.com/office/drawing/2014/main" id="{F04BF067-BFFC-570F-97A6-37FDB5542D30}"/>
              </a:ext>
            </a:extLst>
          </p:cNvPr>
          <p:cNvSpPr>
            <a:spLocks noGrp="1"/>
          </p:cNvSpPr>
          <p:nvPr>
            <p:ph type="body" sz="quarter" idx="10"/>
          </p:nvPr>
        </p:nvSpPr>
        <p:spPr/>
        <p:txBody>
          <a:bodyPr/>
          <a:lstStyle/>
          <a:p>
            <a:r>
              <a:rPr lang="en-US" dirty="0"/>
              <a:t>Cases using middleware</a:t>
            </a:r>
          </a:p>
        </p:txBody>
      </p:sp>
      <p:sp>
        <p:nvSpPr>
          <p:cNvPr id="4" name="Content Placeholder 3">
            <a:extLst>
              <a:ext uri="{FF2B5EF4-FFF2-40B4-BE49-F238E27FC236}">
                <a16:creationId xmlns:a16="http://schemas.microsoft.com/office/drawing/2014/main" id="{34101A59-79A5-07A6-3214-DC1402122D54}"/>
              </a:ext>
            </a:extLst>
          </p:cNvPr>
          <p:cNvSpPr>
            <a:spLocks noGrp="1"/>
          </p:cNvSpPr>
          <p:nvPr>
            <p:ph sz="quarter" idx="11"/>
          </p:nvPr>
        </p:nvSpPr>
        <p:spPr>
          <a:xfrm>
            <a:off x="2167377" y="3109366"/>
            <a:ext cx="20257194" cy="8882312"/>
          </a:xfrm>
        </p:spPr>
        <p:txBody>
          <a:bodyPr>
            <a:noAutofit/>
          </a:bodyPr>
          <a:lstStyle/>
          <a:p>
            <a:pPr marL="514350" indent="-514350" algn="just">
              <a:buFont typeface="+mj-lt"/>
              <a:buAutoNum type="arabicPeriod" startAt="4"/>
            </a:pPr>
            <a:r>
              <a:rPr lang="en-US" sz="3000" dirty="0">
                <a:solidFill>
                  <a:srgbClr val="FFFF00"/>
                </a:solidFill>
              </a:rPr>
              <a:t>Data transmission</a:t>
            </a:r>
          </a:p>
          <a:p>
            <a:pPr marL="0" indent="0" algn="just">
              <a:buNone/>
            </a:pPr>
            <a:r>
              <a:rPr lang="en-US" sz="3000" dirty="0"/>
              <a:t>Software applications use middleware to send and receive data flow reliably. Data flow is a high-speed continuous data transmission. Data flow is important for reliable video and audio streaming.</a:t>
            </a:r>
          </a:p>
          <a:p>
            <a:pPr marL="514350" indent="-514350" algn="just">
              <a:buFont typeface="+mj-lt"/>
              <a:buAutoNum type="arabicPeriod" startAt="4"/>
            </a:pPr>
            <a:endParaRPr lang="en-US" sz="3000" dirty="0"/>
          </a:p>
          <a:p>
            <a:pPr marL="514350" indent="-514350" algn="just">
              <a:buFont typeface="+mj-lt"/>
              <a:buAutoNum type="arabicPeriod" startAt="5"/>
            </a:pPr>
            <a:r>
              <a:rPr lang="en-US" sz="3000" dirty="0">
                <a:solidFill>
                  <a:srgbClr val="FFFF00"/>
                </a:solidFill>
              </a:rPr>
              <a:t>Distributed application</a:t>
            </a:r>
          </a:p>
          <a:p>
            <a:pPr marL="0" indent="0" algn="just">
              <a:buNone/>
            </a:pPr>
            <a:r>
              <a:rPr lang="en-US" sz="3000" dirty="0"/>
              <a:t>Distributed applications are software programs that run on different computers on a network. Distributed applications usually consist of frontend and backend applications. Frontend applications are software that you use on a computer or mobile device, such as social media applications. Instead, backend applications are software programs that handle data processing, business logic, and resource management tasks. Middleware communicates between frontend and backend applications, so distributed applications work smoothly.</a:t>
            </a:r>
          </a:p>
        </p:txBody>
      </p:sp>
    </p:spTree>
    <p:extLst>
      <p:ext uri="{BB962C8B-B14F-4D97-AF65-F5344CB8AC3E}">
        <p14:creationId xmlns:p14="http://schemas.microsoft.com/office/powerpoint/2010/main" val="417660007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8E034-2194-FB51-8E45-97EB27E94F65}"/>
              </a:ext>
            </a:extLst>
          </p:cNvPr>
          <p:cNvSpPr>
            <a:spLocks noGrp="1"/>
          </p:cNvSpPr>
          <p:nvPr>
            <p:ph type="title"/>
          </p:nvPr>
        </p:nvSpPr>
        <p:spPr/>
        <p:txBody>
          <a:bodyPr>
            <a:normAutofit fontScale="90000"/>
          </a:bodyPr>
          <a:lstStyle/>
          <a:p>
            <a:r>
              <a:rPr lang="en-US" dirty="0"/>
              <a:t>middleware</a:t>
            </a:r>
          </a:p>
        </p:txBody>
      </p:sp>
      <p:sp>
        <p:nvSpPr>
          <p:cNvPr id="3" name="Text Placeholder 2">
            <a:extLst>
              <a:ext uri="{FF2B5EF4-FFF2-40B4-BE49-F238E27FC236}">
                <a16:creationId xmlns:a16="http://schemas.microsoft.com/office/drawing/2014/main" id="{C8304CD7-BDBF-F06C-DB82-FBAABDD02B38}"/>
              </a:ext>
            </a:extLst>
          </p:cNvPr>
          <p:cNvSpPr>
            <a:spLocks noGrp="1"/>
          </p:cNvSpPr>
          <p:nvPr>
            <p:ph type="body" sz="quarter" idx="10"/>
          </p:nvPr>
        </p:nvSpPr>
        <p:spPr/>
        <p:txBody>
          <a:bodyPr/>
          <a:lstStyle/>
          <a:p>
            <a:r>
              <a:rPr lang="en-US" dirty="0"/>
              <a:t>architecture</a:t>
            </a:r>
          </a:p>
        </p:txBody>
      </p:sp>
      <p:pic>
        <p:nvPicPr>
          <p:cNvPr id="1026" name="Picture 2" descr="Middleware Architecture PowerPoint Template - PPT Slides">
            <a:extLst>
              <a:ext uri="{FF2B5EF4-FFF2-40B4-BE49-F238E27FC236}">
                <a16:creationId xmlns:a16="http://schemas.microsoft.com/office/drawing/2014/main" id="{1895D8E9-ED2B-0DFA-0DBF-139FB83F8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623" y="3940174"/>
            <a:ext cx="11945257" cy="8958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02350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C294-9DFB-4F93-9B96-A70432466BF7}"/>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9EA721AC-E3DF-22B1-8422-76608B997B9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DFC3A658-0629-8224-9928-EE85A4D909BC}"/>
              </a:ext>
            </a:extLst>
          </p:cNvPr>
          <p:cNvSpPr>
            <a:spLocks noGrp="1"/>
          </p:cNvSpPr>
          <p:nvPr>
            <p:ph sz="quarter" idx="11"/>
          </p:nvPr>
        </p:nvSpPr>
        <p:spPr>
          <a:xfrm>
            <a:off x="5334530" y="4596868"/>
            <a:ext cx="13714940" cy="8204732"/>
          </a:xfrm>
        </p:spPr>
        <p:txBody>
          <a:bodyPr>
            <a:noAutofit/>
          </a:bodyPr>
          <a:lstStyle/>
          <a:p>
            <a:pPr algn="just"/>
            <a:r>
              <a:rPr lang="en-US" sz="3200" dirty="0"/>
              <a:t>Adam </a:t>
            </a:r>
            <a:r>
              <a:rPr lang="en-US" sz="3200" dirty="0" err="1"/>
              <a:t>Woodbeck</a:t>
            </a:r>
            <a:r>
              <a:rPr lang="en-US" sz="3200" dirty="0"/>
              <a:t> - Network Programming with Go_ Learn to Code Secure and Reliable Network Services from Scratch-No Starch Press (2021).</a:t>
            </a:r>
          </a:p>
          <a:p>
            <a:pPr algn="just"/>
            <a:r>
              <a:rPr lang="en-US" sz="3200" dirty="0">
                <a:hlinkClick r:id="rId2"/>
              </a:rPr>
              <a:t>https://www.ibm.com/docs/en/mam/7.6.1.2?topic=properties-http-handler</a:t>
            </a:r>
            <a:endParaRPr lang="en-US" sz="3200" dirty="0"/>
          </a:p>
          <a:p>
            <a:pPr algn="just"/>
            <a:r>
              <a:rPr lang="en-US" sz="3200" dirty="0">
                <a:hlinkClick r:id="rId3"/>
              </a:rPr>
              <a:t>https://www.redhat.com/en/topics/middleware/what-is-middleware#:~:text=Middleware%20is%20software%20and%20cloud,applications%2C%20data%2C%20and%20users</a:t>
            </a:r>
            <a:endParaRPr lang="en-US" sz="3200" dirty="0"/>
          </a:p>
          <a:p>
            <a:pPr algn="just"/>
            <a:r>
              <a:rPr lang="en-US" sz="3200" dirty="0">
                <a:hlinkClick r:id="rId4"/>
              </a:rPr>
              <a:t>https://aws.amazon.com/id/what-is/middleware/</a:t>
            </a:r>
            <a:endParaRPr lang="en-US" sz="3200" dirty="0"/>
          </a:p>
          <a:p>
            <a:pPr marL="0" indent="0" algn="just">
              <a:buNone/>
            </a:pPr>
            <a:endParaRPr lang="en-US" sz="3200" dirty="0"/>
          </a:p>
        </p:txBody>
      </p:sp>
    </p:spTree>
    <p:extLst>
      <p:ext uri="{BB962C8B-B14F-4D97-AF65-F5344CB8AC3E}">
        <p14:creationId xmlns:p14="http://schemas.microsoft.com/office/powerpoint/2010/main" val="288738976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13998</TotalTime>
  <Words>1025</Words>
  <Application>Microsoft Macintosh PowerPoint</Application>
  <PresentationFormat>Custom</PresentationFormat>
  <Paragraphs>73</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Tahoma</vt:lpstr>
      <vt:lpstr>Open Sans ExtraBold</vt:lpstr>
      <vt:lpstr>Arial</vt:lpstr>
      <vt:lpstr>OCRB</vt:lpstr>
      <vt:lpstr>Open Sans Semibold</vt:lpstr>
      <vt:lpstr>Open Sans Light</vt:lpstr>
      <vt:lpstr>21_BasicWhite</vt:lpstr>
      <vt:lpstr>Building HTTP Services  Session 09</vt:lpstr>
      <vt:lpstr>Learning Objectives</vt:lpstr>
      <vt:lpstr>Outline</vt:lpstr>
      <vt:lpstr>Go HTTP Anatomy</vt:lpstr>
      <vt:lpstr>Anatomy Go http server</vt:lpstr>
      <vt:lpstr>handlers</vt:lpstr>
      <vt:lpstr>handlers</vt:lpstr>
      <vt:lpstr>handlers</vt:lpstr>
      <vt:lpstr>handlers</vt:lpstr>
      <vt:lpstr>middleware</vt:lpstr>
      <vt:lpstr>middleware</vt:lpstr>
      <vt:lpstr>middleware</vt:lpstr>
      <vt:lpstr>Middleware</vt:lpstr>
      <vt:lpstr>Middleware</vt:lpstr>
      <vt:lpstr>middleware</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IVAN SEBASTIAN EDBERT</cp:lastModifiedBy>
  <cp:revision>24</cp:revision>
  <dcterms:created xsi:type="dcterms:W3CDTF">2023-06-28T08:14:57Z</dcterms:created>
  <dcterms:modified xsi:type="dcterms:W3CDTF">2023-12-18T11:06:04Z</dcterms:modified>
</cp:coreProperties>
</file>