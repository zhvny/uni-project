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0"/>
  </p:notesMasterIdLst>
  <p:sldIdLst>
    <p:sldId id="256" r:id="rId2"/>
    <p:sldId id="278" r:id="rId3"/>
    <p:sldId id="257" r:id="rId4"/>
    <p:sldId id="310" r:id="rId5"/>
    <p:sldId id="311" r:id="rId6"/>
    <p:sldId id="312" r:id="rId7"/>
    <p:sldId id="313" r:id="rId8"/>
    <p:sldId id="314" r:id="rId9"/>
    <p:sldId id="315" r:id="rId10"/>
    <p:sldId id="316" r:id="rId11"/>
    <p:sldId id="317" r:id="rId12"/>
    <p:sldId id="318" r:id="rId13"/>
    <p:sldId id="319" r:id="rId14"/>
    <p:sldId id="320" r:id="rId15"/>
    <p:sldId id="321" r:id="rId16"/>
    <p:sldId id="322" r:id="rId17"/>
    <p:sldId id="300" r:id="rId18"/>
    <p:sldId id="296" r:id="rId19"/>
  </p:sldIdLst>
  <p:sldSz cx="24384000" cy="13716000"/>
  <p:notesSz cx="6858000" cy="9144000"/>
  <p:embeddedFontLst>
    <p:embeddedFont>
      <p:font typeface="OCRB" panose="020B0609020202020204" pitchFamily="49" charset="77"/>
      <p:regular r:id="rId21"/>
    </p:embeddedFont>
    <p:embeddedFont>
      <p:font typeface="Open Sans ExtraBold" panose="020B0606030504020204" pitchFamily="34" charset="0"/>
      <p:bold r:id="rId22"/>
      <p:italic r:id="rId23"/>
      <p:boldItalic r:id="rId24"/>
    </p:embeddedFont>
    <p:embeddedFont>
      <p:font typeface="Open Sans Light" panose="020B0306030504020204" pitchFamily="34" charset="0"/>
      <p:regular r:id="rId25"/>
      <p:italic r:id="rId26"/>
    </p:embeddedFont>
    <p:embeddedFont>
      <p:font typeface="Open Sans Semibold" panose="020B0606030504020204" pitchFamily="34" charset="0"/>
      <p:regular r:id="rId27"/>
      <p:bold r:id="rId28"/>
      <p:italic r:id="rId29"/>
      <p:boldItalic r:id="rId30"/>
    </p:embeddedFont>
    <p:embeddedFont>
      <p:font typeface="Tahoma" panose="020B0604030504040204" pitchFamily="34" charset="0"/>
      <p:regular r:id="rId31"/>
      <p:bold r:id="rId32"/>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C99514-5156-7B40-B72A-419D0995CCED}" v="86" dt="2023-12-18T08:48:15.736"/>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1" autoAdjust="0"/>
    <p:restoredTop sz="94810"/>
  </p:normalViewPr>
  <p:slideViewPr>
    <p:cSldViewPr snapToGrid="0" snapToObjects="1">
      <p:cViewPr varScale="1">
        <p:scale>
          <a:sx n="47" d="100"/>
          <a:sy n="47" d="100"/>
        </p:scale>
        <p:origin x="944" y="216"/>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hyperlink" Target="https://www.ibm.com/docs/en/ztpf/1.1.0.15?topic=considerations-unix-domain-sockets" TargetMode="Externa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a:bodyPr>
          <a:lstStyle/>
          <a:p>
            <a:r>
              <a:rPr lang="en-US" sz="8900" dirty="0"/>
              <a:t>Unix domain sockets</a:t>
            </a:r>
            <a:br>
              <a:rPr lang="en-US" dirty="0"/>
            </a:br>
            <a:br>
              <a:rPr lang="en-US" dirty="0"/>
            </a:br>
            <a:r>
              <a:rPr lang="en-US" sz="6000" dirty="0"/>
              <a:t>Session 07</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Ivan Sebastian </a:t>
            </a:r>
            <a:r>
              <a:rPr lang="en-US" dirty="0" err="1"/>
              <a:t>Edbert</a:t>
            </a:r>
            <a:endParaRPr lang="en-US" dirty="0"/>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COMP6584001 – Network and Systems Programming </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Autofit/>
          </a:bodyPr>
          <a:lstStyle/>
          <a:p>
            <a:pPr marL="0" indent="0">
              <a:buNone/>
            </a:pPr>
            <a:r>
              <a:rPr lang="en-US" sz="3200" dirty="0"/>
              <a:t>At the end of this session, the student will be expected to :</a:t>
            </a:r>
          </a:p>
          <a:p>
            <a:pPr marL="0" indent="0">
              <a:buNone/>
            </a:pPr>
            <a:endParaRPr lang="en-ID" sz="3200" dirty="0"/>
          </a:p>
          <a:p>
            <a:r>
              <a:rPr lang="en-ID" sz="3200" dirty="0"/>
              <a:t>Understand Unix Domain Socket</a:t>
            </a:r>
          </a:p>
          <a:p>
            <a:endParaRPr lang="en-ID" sz="3200" dirty="0"/>
          </a:p>
          <a:p>
            <a:r>
              <a:rPr lang="en-ID" sz="3200" dirty="0"/>
              <a:t>Binding Unix Domain Socket</a:t>
            </a:r>
          </a:p>
          <a:p>
            <a:endParaRPr lang="en-ID" sz="3200" dirty="0"/>
          </a:p>
          <a:p>
            <a:r>
              <a:rPr lang="en-ID" sz="3200" dirty="0"/>
              <a:t>Writing a Service That Authenticates Clients</a:t>
            </a:r>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r>
              <a:rPr lang="en-ID" sz="3200" dirty="0"/>
              <a:t>Unix Domain Socket</a:t>
            </a:r>
          </a:p>
          <a:p>
            <a:r>
              <a:rPr lang="en-ID" sz="3200" dirty="0"/>
              <a:t>Binding to Unix Domain Socket Files</a:t>
            </a:r>
          </a:p>
          <a:p>
            <a:r>
              <a:rPr lang="en-ID" sz="3200" dirty="0"/>
              <a:t>Writing a Service That Authenticates Clients </a:t>
            </a:r>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Unix domain socket</a:t>
            </a:r>
          </a:p>
        </p:txBody>
      </p:sp>
    </p:spTree>
    <p:extLst>
      <p:ext uri="{BB962C8B-B14F-4D97-AF65-F5344CB8AC3E}">
        <p14:creationId xmlns:p14="http://schemas.microsoft.com/office/powerpoint/2010/main" val="51458303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F863D-364F-CD47-A905-6DA1678703B7}"/>
              </a:ext>
            </a:extLst>
          </p:cNvPr>
          <p:cNvSpPr>
            <a:spLocks noGrp="1"/>
          </p:cNvSpPr>
          <p:nvPr>
            <p:ph type="title"/>
          </p:nvPr>
        </p:nvSpPr>
        <p:spPr/>
        <p:txBody>
          <a:bodyPr>
            <a:normAutofit fontScale="90000"/>
          </a:bodyPr>
          <a:lstStyle/>
          <a:p>
            <a:r>
              <a:rPr lang="en-US" dirty="0"/>
              <a:t>Unix domain socket</a:t>
            </a:r>
          </a:p>
        </p:txBody>
      </p:sp>
      <p:sp>
        <p:nvSpPr>
          <p:cNvPr id="3" name="Text Placeholder 2">
            <a:extLst>
              <a:ext uri="{FF2B5EF4-FFF2-40B4-BE49-F238E27FC236}">
                <a16:creationId xmlns:a16="http://schemas.microsoft.com/office/drawing/2014/main" id="{C110295A-817C-F048-BB73-220C68667490}"/>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06595C14-045F-8604-7815-BB32D3EECEDF}"/>
              </a:ext>
            </a:extLst>
          </p:cNvPr>
          <p:cNvSpPr>
            <a:spLocks noGrp="1"/>
          </p:cNvSpPr>
          <p:nvPr>
            <p:ph sz="quarter" idx="11"/>
          </p:nvPr>
        </p:nvSpPr>
        <p:spPr>
          <a:xfrm>
            <a:off x="5078782" y="3793322"/>
            <a:ext cx="13714940" cy="9119132"/>
          </a:xfrm>
        </p:spPr>
        <p:txBody>
          <a:bodyPr>
            <a:normAutofit/>
          </a:bodyPr>
          <a:lstStyle/>
          <a:p>
            <a:pPr algn="just"/>
            <a:r>
              <a:rPr lang="en-US" sz="3200" dirty="0"/>
              <a:t>A Unix Domain Socket (UDS) is a communication mechanism that allows inter-process communication (IPC) between processes on the same Unix or Unix-like system. </a:t>
            </a:r>
          </a:p>
          <a:p>
            <a:pPr algn="just"/>
            <a:r>
              <a:rPr lang="en-US" sz="3200" dirty="0"/>
              <a:t>Unlike traditional network sockets, Unix Domain Sockets operate entirely within the operating system's kernel and do not use the network stack, making them more efficient for communication between processes on the same machine.</a:t>
            </a:r>
          </a:p>
          <a:p>
            <a:pPr algn="just"/>
            <a:r>
              <a:rPr lang="en-US" sz="3200" dirty="0"/>
              <a:t>Unix domain sockets apply the socket-addressing principle to the file- system: each Unix domain socket has an associated file on the filesystem, which corresponds to a network socket’s IP address and port number. </a:t>
            </a:r>
          </a:p>
          <a:p>
            <a:pPr algn="just"/>
            <a:r>
              <a:rPr lang="en-US" sz="3200" dirty="0"/>
              <a:t>You can communicate with a service listening to the socket by reading from and writing to this file. </a:t>
            </a:r>
          </a:p>
        </p:txBody>
      </p:sp>
    </p:spTree>
    <p:extLst>
      <p:ext uri="{BB962C8B-B14F-4D97-AF65-F5344CB8AC3E}">
        <p14:creationId xmlns:p14="http://schemas.microsoft.com/office/powerpoint/2010/main" val="169838942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921C7-3CC3-3347-4B22-0CEF8C5D2904}"/>
              </a:ext>
            </a:extLst>
          </p:cNvPr>
          <p:cNvSpPr>
            <a:spLocks noGrp="1"/>
          </p:cNvSpPr>
          <p:nvPr>
            <p:ph type="title"/>
          </p:nvPr>
        </p:nvSpPr>
        <p:spPr/>
        <p:txBody>
          <a:bodyPr>
            <a:normAutofit fontScale="90000"/>
          </a:bodyPr>
          <a:lstStyle/>
          <a:p>
            <a:r>
              <a:rPr lang="en-US" dirty="0"/>
              <a:t>Unix domain socket</a:t>
            </a:r>
          </a:p>
        </p:txBody>
      </p:sp>
      <p:sp>
        <p:nvSpPr>
          <p:cNvPr id="3" name="Text Placeholder 2">
            <a:extLst>
              <a:ext uri="{FF2B5EF4-FFF2-40B4-BE49-F238E27FC236}">
                <a16:creationId xmlns:a16="http://schemas.microsoft.com/office/drawing/2014/main" id="{380D1029-9F72-42CB-0961-7434BD259FCD}"/>
              </a:ext>
            </a:extLst>
          </p:cNvPr>
          <p:cNvSpPr>
            <a:spLocks noGrp="1"/>
          </p:cNvSpPr>
          <p:nvPr>
            <p:ph type="body" sz="quarter" idx="10"/>
          </p:nvPr>
        </p:nvSpPr>
        <p:spPr/>
        <p:txBody>
          <a:bodyPr/>
          <a:lstStyle/>
          <a:p>
            <a:r>
              <a:rPr lang="en-US" dirty="0"/>
              <a:t>Key features</a:t>
            </a:r>
          </a:p>
        </p:txBody>
      </p:sp>
      <p:sp>
        <p:nvSpPr>
          <p:cNvPr id="4" name="Content Placeholder 3">
            <a:extLst>
              <a:ext uri="{FF2B5EF4-FFF2-40B4-BE49-F238E27FC236}">
                <a16:creationId xmlns:a16="http://schemas.microsoft.com/office/drawing/2014/main" id="{348D89C1-CB90-D997-DD70-982D9E7EFA72}"/>
              </a:ext>
            </a:extLst>
          </p:cNvPr>
          <p:cNvSpPr>
            <a:spLocks noGrp="1"/>
          </p:cNvSpPr>
          <p:nvPr>
            <p:ph sz="quarter" idx="11"/>
          </p:nvPr>
        </p:nvSpPr>
        <p:spPr>
          <a:xfrm>
            <a:off x="5334530" y="3260663"/>
            <a:ext cx="13714940" cy="9170823"/>
          </a:xfrm>
        </p:spPr>
        <p:txBody>
          <a:bodyPr>
            <a:noAutofit/>
          </a:bodyPr>
          <a:lstStyle/>
          <a:p>
            <a:pPr marL="514350" indent="-514350">
              <a:buFont typeface="+mj-lt"/>
              <a:buAutoNum type="arabicPeriod"/>
            </a:pPr>
            <a:r>
              <a:rPr lang="en-US" sz="3200" b="1" dirty="0">
                <a:solidFill>
                  <a:srgbClr val="FFFF00"/>
                </a:solidFill>
              </a:rPr>
              <a:t>Path-Based</a:t>
            </a:r>
            <a:r>
              <a:rPr lang="en-US" sz="3200" dirty="0"/>
              <a:t>: Unix Domain Sockets are identified by a file system path rather than an IP address and port number, as is the case with network sockets. The socket is created as a special file on the file system.</a:t>
            </a:r>
          </a:p>
          <a:p>
            <a:pPr marL="514350" indent="-514350">
              <a:buFont typeface="+mj-lt"/>
              <a:buAutoNum type="arabicPeriod"/>
            </a:pPr>
            <a:endParaRPr lang="en-US" sz="3200" dirty="0"/>
          </a:p>
          <a:p>
            <a:pPr marL="514350" indent="-514350">
              <a:buFont typeface="+mj-lt"/>
              <a:buAutoNum type="arabicPeriod"/>
            </a:pPr>
            <a:r>
              <a:rPr lang="en-US" sz="3200" b="1" dirty="0">
                <a:solidFill>
                  <a:srgbClr val="FFFF00"/>
                </a:solidFill>
              </a:rPr>
              <a:t>Efficiency</a:t>
            </a:r>
            <a:r>
              <a:rPr lang="en-US" sz="3200" dirty="0"/>
              <a:t>: Because Unix Domain Sockets operate within the kernel and do not involve network stack overhead, they are generally faster and have lower latency compared to network sockets for communication between processes on the same machine.</a:t>
            </a:r>
          </a:p>
          <a:p>
            <a:pPr marL="514350" indent="-514350">
              <a:buFont typeface="+mj-lt"/>
              <a:buAutoNum type="arabicPeriod"/>
            </a:pPr>
            <a:endParaRPr lang="en-US" sz="3200" dirty="0"/>
          </a:p>
          <a:p>
            <a:pPr marL="514350" indent="-514350">
              <a:buFont typeface="+mj-lt"/>
              <a:buAutoNum type="arabicPeriod"/>
            </a:pPr>
            <a:r>
              <a:rPr lang="en-US" sz="3200" b="1" dirty="0">
                <a:solidFill>
                  <a:srgbClr val="FFFF00"/>
                </a:solidFill>
              </a:rPr>
              <a:t>Local</a:t>
            </a:r>
            <a:r>
              <a:rPr lang="en-US" sz="3200" dirty="0">
                <a:solidFill>
                  <a:srgbClr val="FFFF00"/>
                </a:solidFill>
              </a:rPr>
              <a:t> </a:t>
            </a:r>
            <a:r>
              <a:rPr lang="en-US" sz="3200" b="1" dirty="0">
                <a:solidFill>
                  <a:srgbClr val="FFFF00"/>
                </a:solidFill>
              </a:rPr>
              <a:t>Communication</a:t>
            </a:r>
            <a:r>
              <a:rPr lang="en-US" sz="3200" dirty="0"/>
              <a:t>: UDS is suitable for communication between processes running on the same host. It provides a way for processes to exchange data without the need for network protocols.</a:t>
            </a:r>
          </a:p>
        </p:txBody>
      </p:sp>
    </p:spTree>
    <p:extLst>
      <p:ext uri="{BB962C8B-B14F-4D97-AF65-F5344CB8AC3E}">
        <p14:creationId xmlns:p14="http://schemas.microsoft.com/office/powerpoint/2010/main" val="167474370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921C7-3CC3-3347-4B22-0CEF8C5D2904}"/>
              </a:ext>
            </a:extLst>
          </p:cNvPr>
          <p:cNvSpPr>
            <a:spLocks noGrp="1"/>
          </p:cNvSpPr>
          <p:nvPr>
            <p:ph type="title"/>
          </p:nvPr>
        </p:nvSpPr>
        <p:spPr/>
        <p:txBody>
          <a:bodyPr>
            <a:normAutofit fontScale="90000"/>
          </a:bodyPr>
          <a:lstStyle/>
          <a:p>
            <a:r>
              <a:rPr lang="en-US" dirty="0"/>
              <a:t>Unix domain socket</a:t>
            </a:r>
          </a:p>
        </p:txBody>
      </p:sp>
      <p:sp>
        <p:nvSpPr>
          <p:cNvPr id="3" name="Text Placeholder 2">
            <a:extLst>
              <a:ext uri="{FF2B5EF4-FFF2-40B4-BE49-F238E27FC236}">
                <a16:creationId xmlns:a16="http://schemas.microsoft.com/office/drawing/2014/main" id="{380D1029-9F72-42CB-0961-7434BD259FCD}"/>
              </a:ext>
            </a:extLst>
          </p:cNvPr>
          <p:cNvSpPr>
            <a:spLocks noGrp="1"/>
          </p:cNvSpPr>
          <p:nvPr>
            <p:ph type="body" sz="quarter" idx="10"/>
          </p:nvPr>
        </p:nvSpPr>
        <p:spPr/>
        <p:txBody>
          <a:bodyPr/>
          <a:lstStyle/>
          <a:p>
            <a:r>
              <a:rPr lang="en-US" dirty="0"/>
              <a:t>Key features</a:t>
            </a:r>
          </a:p>
        </p:txBody>
      </p:sp>
      <p:sp>
        <p:nvSpPr>
          <p:cNvPr id="4" name="Content Placeholder 3">
            <a:extLst>
              <a:ext uri="{FF2B5EF4-FFF2-40B4-BE49-F238E27FC236}">
                <a16:creationId xmlns:a16="http://schemas.microsoft.com/office/drawing/2014/main" id="{348D89C1-CB90-D997-DD70-982D9E7EFA72}"/>
              </a:ext>
            </a:extLst>
          </p:cNvPr>
          <p:cNvSpPr>
            <a:spLocks noGrp="1"/>
          </p:cNvSpPr>
          <p:nvPr>
            <p:ph sz="quarter" idx="11"/>
          </p:nvPr>
        </p:nvSpPr>
        <p:spPr>
          <a:xfrm>
            <a:off x="5334530" y="3260663"/>
            <a:ext cx="13714940" cy="9170823"/>
          </a:xfrm>
        </p:spPr>
        <p:txBody>
          <a:bodyPr>
            <a:noAutofit/>
          </a:bodyPr>
          <a:lstStyle/>
          <a:p>
            <a:pPr marL="514350" indent="-514350">
              <a:buFont typeface="+mj-lt"/>
              <a:buAutoNum type="arabicPeriod" startAt="4"/>
            </a:pPr>
            <a:r>
              <a:rPr lang="en-US" sz="3200" b="1" dirty="0">
                <a:solidFill>
                  <a:srgbClr val="FFFF00"/>
                </a:solidFill>
              </a:rPr>
              <a:t>Two</a:t>
            </a:r>
            <a:r>
              <a:rPr lang="en-US" sz="3200" dirty="0">
                <a:solidFill>
                  <a:srgbClr val="FFFF00"/>
                </a:solidFill>
              </a:rPr>
              <a:t> </a:t>
            </a:r>
            <a:r>
              <a:rPr lang="en-US" sz="3200" b="1" dirty="0">
                <a:solidFill>
                  <a:srgbClr val="FFFF00"/>
                </a:solidFill>
              </a:rPr>
              <a:t>Types</a:t>
            </a:r>
            <a:r>
              <a:rPr lang="en-US" sz="3200" dirty="0"/>
              <a:t>: There are two types of Unix Domain Sockets: stream sockets and datagram sockets.</a:t>
            </a:r>
          </a:p>
          <a:p>
            <a:r>
              <a:rPr lang="en-US" sz="3200" b="1" dirty="0"/>
              <a:t>Stream</a:t>
            </a:r>
            <a:r>
              <a:rPr lang="en-US" sz="3200" dirty="0"/>
              <a:t> </a:t>
            </a:r>
            <a:r>
              <a:rPr lang="en-US" sz="3200" b="1" dirty="0"/>
              <a:t>Sockets</a:t>
            </a:r>
            <a:r>
              <a:rPr lang="en-US" sz="3200" dirty="0"/>
              <a:t>: Provide a reliable, connection-oriented communication similar to TCP. They guarantee data integrity and order.</a:t>
            </a:r>
          </a:p>
          <a:p>
            <a:r>
              <a:rPr lang="en-US" sz="3200" dirty="0"/>
              <a:t>Datagram Sockets: Offer connectionless, unreliable communication similar to UDP. They are useful when the order of messages is not critical.</a:t>
            </a:r>
          </a:p>
          <a:p>
            <a:pPr marL="514350" indent="-514350">
              <a:buFont typeface="+mj-lt"/>
              <a:buAutoNum type="arabicPeriod" startAt="5"/>
            </a:pPr>
            <a:r>
              <a:rPr lang="en-US" sz="3200" b="1" dirty="0">
                <a:solidFill>
                  <a:srgbClr val="FFFF00"/>
                </a:solidFill>
              </a:rPr>
              <a:t>File</a:t>
            </a:r>
            <a:r>
              <a:rPr lang="en-US" sz="3200" dirty="0">
                <a:solidFill>
                  <a:srgbClr val="FFFF00"/>
                </a:solidFill>
              </a:rPr>
              <a:t> </a:t>
            </a:r>
            <a:r>
              <a:rPr lang="en-US" sz="3200" b="1" dirty="0">
                <a:solidFill>
                  <a:srgbClr val="FFFF00"/>
                </a:solidFill>
              </a:rPr>
              <a:t>System</a:t>
            </a:r>
            <a:r>
              <a:rPr lang="en-US" sz="3200" dirty="0">
                <a:solidFill>
                  <a:srgbClr val="FFFF00"/>
                </a:solidFill>
              </a:rPr>
              <a:t> </a:t>
            </a:r>
            <a:r>
              <a:rPr lang="en-US" sz="3200" b="1" dirty="0">
                <a:solidFill>
                  <a:srgbClr val="FFFF00"/>
                </a:solidFill>
              </a:rPr>
              <a:t>Cleanup</a:t>
            </a:r>
            <a:r>
              <a:rPr lang="en-US" sz="3200" dirty="0"/>
              <a:t>: When processes using Unix Domain Sockets terminate, the associated socket file is automatically removed by the operating system. This eliminates the need for manual cleanup.</a:t>
            </a:r>
          </a:p>
          <a:p>
            <a:pPr marL="514350" indent="-514350">
              <a:buFont typeface="+mj-lt"/>
              <a:buAutoNum type="arabicPeriod" startAt="5"/>
            </a:pPr>
            <a:endParaRPr lang="en-US" sz="3200" dirty="0"/>
          </a:p>
          <a:p>
            <a:pPr marL="514350" indent="-514350">
              <a:buFont typeface="+mj-lt"/>
              <a:buAutoNum type="arabicPeriod" startAt="5"/>
            </a:pPr>
            <a:r>
              <a:rPr lang="en-US" sz="3200" b="1" dirty="0">
                <a:solidFill>
                  <a:srgbClr val="FFFF00"/>
                </a:solidFill>
              </a:rPr>
              <a:t>File</a:t>
            </a:r>
            <a:r>
              <a:rPr lang="en-US" sz="3200" dirty="0">
                <a:solidFill>
                  <a:srgbClr val="FFFF00"/>
                </a:solidFill>
              </a:rPr>
              <a:t> </a:t>
            </a:r>
            <a:r>
              <a:rPr lang="en-US" sz="3200" b="1" dirty="0">
                <a:solidFill>
                  <a:srgbClr val="FFFF00"/>
                </a:solidFill>
              </a:rPr>
              <a:t>Permissions</a:t>
            </a:r>
            <a:r>
              <a:rPr lang="en-US" sz="3200" dirty="0"/>
              <a:t>: Permissions for accessing a Unix Domain Socket are determined by the file system permissions of the socket file.</a:t>
            </a:r>
          </a:p>
        </p:txBody>
      </p:sp>
    </p:spTree>
    <p:extLst>
      <p:ext uri="{BB962C8B-B14F-4D97-AF65-F5344CB8AC3E}">
        <p14:creationId xmlns:p14="http://schemas.microsoft.com/office/powerpoint/2010/main" val="96515112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Binding </a:t>
            </a:r>
            <a:r>
              <a:rPr lang="en-ID" sz="9600" dirty="0" err="1"/>
              <a:t>unix</a:t>
            </a:r>
            <a:r>
              <a:rPr lang="en-ID" sz="9600" dirty="0"/>
              <a:t> to socket file</a:t>
            </a:r>
          </a:p>
        </p:txBody>
      </p:sp>
    </p:spTree>
    <p:extLst>
      <p:ext uri="{BB962C8B-B14F-4D97-AF65-F5344CB8AC3E}">
        <p14:creationId xmlns:p14="http://schemas.microsoft.com/office/powerpoint/2010/main" val="116930688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43C54-305D-E24A-4FE8-8EB69F6B7236}"/>
              </a:ext>
            </a:extLst>
          </p:cNvPr>
          <p:cNvSpPr>
            <a:spLocks noGrp="1"/>
          </p:cNvSpPr>
          <p:nvPr>
            <p:ph type="title"/>
          </p:nvPr>
        </p:nvSpPr>
        <p:spPr/>
        <p:txBody>
          <a:bodyPr>
            <a:normAutofit fontScale="90000"/>
          </a:bodyPr>
          <a:lstStyle/>
          <a:p>
            <a:r>
              <a:rPr lang="en-ID" sz="4000" dirty="0"/>
              <a:t>Binding </a:t>
            </a:r>
            <a:r>
              <a:rPr lang="en-ID" sz="4000" dirty="0" err="1"/>
              <a:t>unix</a:t>
            </a:r>
            <a:r>
              <a:rPr lang="en-ID" sz="4000" dirty="0"/>
              <a:t> to socket file</a:t>
            </a:r>
            <a:endParaRPr lang="en-US" dirty="0"/>
          </a:p>
        </p:txBody>
      </p:sp>
      <p:sp>
        <p:nvSpPr>
          <p:cNvPr id="3" name="Text Placeholder 2">
            <a:extLst>
              <a:ext uri="{FF2B5EF4-FFF2-40B4-BE49-F238E27FC236}">
                <a16:creationId xmlns:a16="http://schemas.microsoft.com/office/drawing/2014/main" id="{EBE6FEDD-33C7-6AB8-2DD4-84DCC959A5F7}"/>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4304A7AF-8DC9-0D6F-CD7C-B482C7700AC3}"/>
              </a:ext>
            </a:extLst>
          </p:cNvPr>
          <p:cNvSpPr>
            <a:spLocks noGrp="1"/>
          </p:cNvSpPr>
          <p:nvPr>
            <p:ph sz="quarter" idx="11"/>
          </p:nvPr>
        </p:nvSpPr>
        <p:spPr>
          <a:xfrm>
            <a:off x="5078782" y="4203497"/>
            <a:ext cx="13714940" cy="7641339"/>
          </a:xfrm>
        </p:spPr>
        <p:txBody>
          <a:bodyPr>
            <a:noAutofit/>
          </a:bodyPr>
          <a:lstStyle/>
          <a:p>
            <a:pPr algn="just"/>
            <a:r>
              <a:rPr lang="en-US" sz="3200" dirty="0"/>
              <a:t>A Unix domain socket file is created when your code attempts to bind to an unused Unix domain socket address by using the </a:t>
            </a:r>
            <a:r>
              <a:rPr lang="en-US" sz="3200" dirty="0" err="1"/>
              <a:t>net.Listen</a:t>
            </a:r>
            <a:r>
              <a:rPr lang="en-US" sz="3200" dirty="0"/>
              <a:t>, </a:t>
            </a:r>
            <a:r>
              <a:rPr lang="en-US" sz="3200" dirty="0" err="1"/>
              <a:t>net.ListenUnix</a:t>
            </a:r>
            <a:r>
              <a:rPr lang="en-US" sz="3200" dirty="0"/>
              <a:t>, or </a:t>
            </a:r>
            <a:r>
              <a:rPr lang="en-US" sz="3200" dirty="0" err="1"/>
              <a:t>net.ListenPacket</a:t>
            </a:r>
            <a:r>
              <a:rPr lang="en-US" sz="3200" dirty="0"/>
              <a:t> functions. </a:t>
            </a:r>
          </a:p>
          <a:p>
            <a:pPr algn="just"/>
            <a:r>
              <a:rPr lang="en-US" sz="3200" dirty="0"/>
              <a:t>If the socket file for that address already exists, the operating system will return an error indicating that the address is in use. In most cases, simply removing the existing Unix domain socket file is enough to clear up the error. </a:t>
            </a:r>
          </a:p>
          <a:p>
            <a:pPr algn="just"/>
            <a:r>
              <a:rPr lang="en-US" sz="3200" dirty="0"/>
              <a:t>However, you should first make sure that the socket file exists not because a process is currently using that address but because you didn’t properly clean up the file from a defunct process.</a:t>
            </a:r>
          </a:p>
          <a:p>
            <a:pPr algn="just"/>
            <a:r>
              <a:rPr lang="en-US" sz="3200" dirty="0"/>
              <a:t>If you wish to reuse a socket file, use the net package’s </a:t>
            </a:r>
            <a:r>
              <a:rPr lang="en-US" sz="3200" dirty="0" err="1"/>
              <a:t>FileListener</a:t>
            </a:r>
            <a:r>
              <a:rPr lang="en-US" sz="3200" dirty="0"/>
              <a:t> </a:t>
            </a:r>
            <a:r>
              <a:rPr lang="en-US" sz="3200" dirty="0" err="1"/>
              <a:t>func</a:t>
            </a:r>
            <a:r>
              <a:rPr lang="en-US" sz="3200" dirty="0"/>
              <a:t>- </a:t>
            </a:r>
            <a:r>
              <a:rPr lang="en-US" sz="3200" dirty="0" err="1"/>
              <a:t>tion</a:t>
            </a:r>
            <a:r>
              <a:rPr lang="en-US" sz="3200" dirty="0"/>
              <a:t> to bind to an existing socket file. This function is beyond the scope of this book, but I encourage you to read its documentation.</a:t>
            </a:r>
          </a:p>
        </p:txBody>
      </p:sp>
    </p:spTree>
    <p:extLst>
      <p:ext uri="{BB962C8B-B14F-4D97-AF65-F5344CB8AC3E}">
        <p14:creationId xmlns:p14="http://schemas.microsoft.com/office/powerpoint/2010/main" val="19547883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57EAB-42BC-9F7F-3F29-7A503A878F48}"/>
              </a:ext>
            </a:extLst>
          </p:cNvPr>
          <p:cNvSpPr>
            <a:spLocks noGrp="1"/>
          </p:cNvSpPr>
          <p:nvPr>
            <p:ph type="title"/>
          </p:nvPr>
        </p:nvSpPr>
        <p:spPr/>
        <p:txBody>
          <a:bodyPr>
            <a:normAutofit fontScale="90000"/>
          </a:bodyPr>
          <a:lstStyle/>
          <a:p>
            <a:r>
              <a:rPr lang="en-US" dirty="0"/>
              <a:t>Unix domain socket type</a:t>
            </a:r>
          </a:p>
        </p:txBody>
      </p:sp>
      <p:sp>
        <p:nvSpPr>
          <p:cNvPr id="3" name="Text Placeholder 2">
            <a:extLst>
              <a:ext uri="{FF2B5EF4-FFF2-40B4-BE49-F238E27FC236}">
                <a16:creationId xmlns:a16="http://schemas.microsoft.com/office/drawing/2014/main" id="{64DF06F1-7FA3-BDC9-799B-151E7B0D3778}"/>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8E6A0C56-7844-4709-64D2-FC319FF9D7A1}"/>
              </a:ext>
            </a:extLst>
          </p:cNvPr>
          <p:cNvSpPr>
            <a:spLocks noGrp="1"/>
          </p:cNvSpPr>
          <p:nvPr>
            <p:ph sz="quarter" idx="11"/>
          </p:nvPr>
        </p:nvSpPr>
        <p:spPr>
          <a:xfrm>
            <a:off x="5334530" y="3450987"/>
            <a:ext cx="13714940" cy="6814025"/>
          </a:xfrm>
        </p:spPr>
        <p:txBody>
          <a:bodyPr>
            <a:noAutofit/>
          </a:bodyPr>
          <a:lstStyle/>
          <a:p>
            <a:pPr algn="just"/>
            <a:r>
              <a:rPr lang="en-US" sz="3200" dirty="0"/>
              <a:t>There are three types of Unix domain sockets: </a:t>
            </a:r>
            <a:r>
              <a:rPr lang="en-US" sz="3200" b="1" dirty="0">
                <a:solidFill>
                  <a:srgbClr val="FFFF00"/>
                </a:solidFill>
              </a:rPr>
              <a:t>streaming sockets</a:t>
            </a:r>
            <a:r>
              <a:rPr lang="en-US" sz="3200" dirty="0"/>
              <a:t>, which operate like TCP; </a:t>
            </a:r>
            <a:r>
              <a:rPr lang="en-US" sz="3200" b="1" dirty="0">
                <a:solidFill>
                  <a:srgbClr val="FFFF00"/>
                </a:solidFill>
              </a:rPr>
              <a:t>datagram sockets</a:t>
            </a:r>
            <a:r>
              <a:rPr lang="en-US" sz="3200" dirty="0"/>
              <a:t>, which operate like UDP; and </a:t>
            </a:r>
            <a:r>
              <a:rPr lang="en-US" sz="3200" b="1" dirty="0">
                <a:solidFill>
                  <a:srgbClr val="FFFF00"/>
                </a:solidFill>
              </a:rPr>
              <a:t>sequence packet sockets</a:t>
            </a:r>
            <a:r>
              <a:rPr lang="en-US" sz="3200" dirty="0"/>
              <a:t>, which combine elements of both. </a:t>
            </a:r>
          </a:p>
          <a:p>
            <a:pPr algn="just"/>
            <a:r>
              <a:rPr lang="en-US" sz="3200" dirty="0"/>
              <a:t>Go designates these types as </a:t>
            </a:r>
            <a:r>
              <a:rPr lang="en-US" sz="3200" dirty="0" err="1"/>
              <a:t>unix</a:t>
            </a:r>
            <a:r>
              <a:rPr lang="en-US" sz="3200" dirty="0"/>
              <a:t>, </a:t>
            </a:r>
            <a:r>
              <a:rPr lang="en-US" sz="3200" dirty="0" err="1"/>
              <a:t>unixgram</a:t>
            </a:r>
            <a:r>
              <a:rPr lang="en-US" sz="3200" dirty="0"/>
              <a:t>, and </a:t>
            </a:r>
            <a:r>
              <a:rPr lang="en-US" sz="3200" dirty="0" err="1"/>
              <a:t>unixpacket</a:t>
            </a:r>
            <a:r>
              <a:rPr lang="en-US" sz="3200" dirty="0"/>
              <a:t>, respectively. In this section, we’ll write echo servers that work with each of these types.</a:t>
            </a:r>
          </a:p>
          <a:p>
            <a:pPr algn="just"/>
            <a:r>
              <a:rPr lang="en-US" sz="3200" dirty="0"/>
              <a:t>The </a:t>
            </a:r>
            <a:r>
              <a:rPr lang="en-US" sz="3200" dirty="0" err="1"/>
              <a:t>net.Conn</a:t>
            </a:r>
            <a:r>
              <a:rPr lang="en-US" sz="3200" dirty="0"/>
              <a:t> interface allows you to write code once and use it across multiple network types. </a:t>
            </a:r>
          </a:p>
          <a:p>
            <a:pPr algn="just"/>
            <a:r>
              <a:rPr lang="en-US" sz="3200" dirty="0"/>
              <a:t>It abstracts many of the differences between the net- work sockets used by TCP and UDP and Unix domain sockets, which means that you can take code written for communication over TCP, for example, and use it over a Unix domain socket by simply changing the address and network type.</a:t>
            </a:r>
          </a:p>
        </p:txBody>
      </p:sp>
    </p:spTree>
    <p:extLst>
      <p:ext uri="{BB962C8B-B14F-4D97-AF65-F5344CB8AC3E}">
        <p14:creationId xmlns:p14="http://schemas.microsoft.com/office/powerpoint/2010/main" val="58687194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271B-69B6-9B3A-C849-05E785AC3685}"/>
              </a:ext>
            </a:extLst>
          </p:cNvPr>
          <p:cNvSpPr>
            <a:spLocks noGrp="1"/>
          </p:cNvSpPr>
          <p:nvPr>
            <p:ph type="title"/>
          </p:nvPr>
        </p:nvSpPr>
        <p:spPr/>
        <p:txBody>
          <a:bodyPr>
            <a:normAutofit fontScale="90000"/>
          </a:bodyPr>
          <a:lstStyle/>
          <a:p>
            <a:r>
              <a:rPr lang="en-US" dirty="0"/>
              <a:t>Unix domain socket type</a:t>
            </a:r>
          </a:p>
        </p:txBody>
      </p:sp>
      <p:sp>
        <p:nvSpPr>
          <p:cNvPr id="3" name="Text Placeholder 2">
            <a:extLst>
              <a:ext uri="{FF2B5EF4-FFF2-40B4-BE49-F238E27FC236}">
                <a16:creationId xmlns:a16="http://schemas.microsoft.com/office/drawing/2014/main" id="{0B5995B9-7107-CD91-2F0B-514DB715D61C}"/>
              </a:ext>
            </a:extLst>
          </p:cNvPr>
          <p:cNvSpPr>
            <a:spLocks noGrp="1"/>
          </p:cNvSpPr>
          <p:nvPr>
            <p:ph type="body" sz="quarter" idx="10"/>
          </p:nvPr>
        </p:nvSpPr>
        <p:spPr/>
        <p:txBody>
          <a:bodyPr/>
          <a:lstStyle/>
          <a:p>
            <a:r>
              <a:rPr lang="en-US" dirty="0"/>
              <a:t>The </a:t>
            </a:r>
            <a:r>
              <a:rPr lang="en-US" dirty="0" err="1"/>
              <a:t>unix</a:t>
            </a:r>
            <a:r>
              <a:rPr lang="en-US" dirty="0"/>
              <a:t> Streaming Socket</a:t>
            </a:r>
          </a:p>
          <a:p>
            <a:endParaRPr lang="en-US" dirty="0"/>
          </a:p>
        </p:txBody>
      </p:sp>
      <p:sp>
        <p:nvSpPr>
          <p:cNvPr id="4" name="Content Placeholder 3">
            <a:extLst>
              <a:ext uri="{FF2B5EF4-FFF2-40B4-BE49-F238E27FC236}">
                <a16:creationId xmlns:a16="http://schemas.microsoft.com/office/drawing/2014/main" id="{7484BAAF-E304-8FA6-36D9-A272FD669387}"/>
              </a:ext>
            </a:extLst>
          </p:cNvPr>
          <p:cNvSpPr>
            <a:spLocks noGrp="1"/>
          </p:cNvSpPr>
          <p:nvPr>
            <p:ph sz="quarter" idx="11"/>
          </p:nvPr>
        </p:nvSpPr>
        <p:spPr>
          <a:xfrm>
            <a:off x="2167377" y="3223274"/>
            <a:ext cx="13714940" cy="7946139"/>
          </a:xfrm>
        </p:spPr>
        <p:txBody>
          <a:bodyPr>
            <a:normAutofit/>
          </a:bodyPr>
          <a:lstStyle/>
          <a:p>
            <a:pPr marL="0" indent="0" algn="just">
              <a:buNone/>
            </a:pPr>
            <a:r>
              <a:rPr lang="en-US" sz="4000" dirty="0"/>
              <a:t>Unix Stream Sockets:</a:t>
            </a:r>
          </a:p>
          <a:p>
            <a:pPr algn="just"/>
            <a:endParaRPr lang="en-US" dirty="0"/>
          </a:p>
          <a:p>
            <a:pPr algn="just"/>
            <a:r>
              <a:rPr lang="en-US" sz="3200" dirty="0"/>
              <a:t>Type: Connection-oriented, reliable.</a:t>
            </a:r>
          </a:p>
          <a:p>
            <a:pPr algn="just"/>
            <a:r>
              <a:rPr lang="en-US" sz="3200" dirty="0"/>
              <a:t>Characteristics: Similar to TCP sockets in a network.</a:t>
            </a:r>
          </a:p>
          <a:p>
            <a:pPr algn="just"/>
            <a:r>
              <a:rPr lang="en-US" sz="3200" dirty="0"/>
              <a:t>Behavior: Provides a reliable, two-way communication channel. Data is transmitted in a stream, and the order is preserved.</a:t>
            </a:r>
          </a:p>
        </p:txBody>
      </p:sp>
      <p:pic>
        <p:nvPicPr>
          <p:cNvPr id="6" name="Picture 5" descr="A screen shot of a computer code&#10;&#10;Description automatically generated">
            <a:extLst>
              <a:ext uri="{FF2B5EF4-FFF2-40B4-BE49-F238E27FC236}">
                <a16:creationId xmlns:a16="http://schemas.microsoft.com/office/drawing/2014/main" id="{C0B51F0F-6C90-AF38-2226-25E3B8B02415}"/>
              </a:ext>
            </a:extLst>
          </p:cNvPr>
          <p:cNvPicPr>
            <a:picLocks noChangeAspect="1"/>
          </p:cNvPicPr>
          <p:nvPr/>
        </p:nvPicPr>
        <p:blipFill rotWithShape="1">
          <a:blip r:embed="rId2">
            <a:extLst>
              <a:ext uri="{28A0092B-C50C-407E-A947-70E740481C1C}">
                <a14:useLocalDpi xmlns:a14="http://schemas.microsoft.com/office/drawing/2010/main" val="0"/>
              </a:ext>
            </a:extLst>
          </a:blip>
          <a:srcRect t="5448"/>
          <a:stretch/>
        </p:blipFill>
        <p:spPr>
          <a:xfrm>
            <a:off x="12192000" y="9252857"/>
            <a:ext cx="11012092" cy="4064218"/>
          </a:xfrm>
          <a:prstGeom prst="rect">
            <a:avLst/>
          </a:prstGeom>
        </p:spPr>
      </p:pic>
    </p:spTree>
    <p:extLst>
      <p:ext uri="{BB962C8B-B14F-4D97-AF65-F5344CB8AC3E}">
        <p14:creationId xmlns:p14="http://schemas.microsoft.com/office/powerpoint/2010/main" val="87132924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271B-69B6-9B3A-C849-05E785AC3685}"/>
              </a:ext>
            </a:extLst>
          </p:cNvPr>
          <p:cNvSpPr>
            <a:spLocks noGrp="1"/>
          </p:cNvSpPr>
          <p:nvPr>
            <p:ph type="title"/>
          </p:nvPr>
        </p:nvSpPr>
        <p:spPr/>
        <p:txBody>
          <a:bodyPr>
            <a:normAutofit fontScale="90000"/>
          </a:bodyPr>
          <a:lstStyle/>
          <a:p>
            <a:r>
              <a:rPr lang="en-US" dirty="0"/>
              <a:t>Unix domain socket type</a:t>
            </a:r>
          </a:p>
        </p:txBody>
      </p:sp>
      <p:sp>
        <p:nvSpPr>
          <p:cNvPr id="3" name="Text Placeholder 2">
            <a:extLst>
              <a:ext uri="{FF2B5EF4-FFF2-40B4-BE49-F238E27FC236}">
                <a16:creationId xmlns:a16="http://schemas.microsoft.com/office/drawing/2014/main" id="{0B5995B9-7107-CD91-2F0B-514DB715D61C}"/>
              </a:ext>
            </a:extLst>
          </p:cNvPr>
          <p:cNvSpPr>
            <a:spLocks noGrp="1"/>
          </p:cNvSpPr>
          <p:nvPr>
            <p:ph type="body" sz="quarter" idx="10"/>
          </p:nvPr>
        </p:nvSpPr>
        <p:spPr/>
        <p:txBody>
          <a:bodyPr/>
          <a:lstStyle/>
          <a:p>
            <a:r>
              <a:rPr lang="en-US" dirty="0"/>
              <a:t>Unix datagrams socket</a:t>
            </a:r>
          </a:p>
        </p:txBody>
      </p:sp>
      <p:sp>
        <p:nvSpPr>
          <p:cNvPr id="4" name="Content Placeholder 3">
            <a:extLst>
              <a:ext uri="{FF2B5EF4-FFF2-40B4-BE49-F238E27FC236}">
                <a16:creationId xmlns:a16="http://schemas.microsoft.com/office/drawing/2014/main" id="{7484BAAF-E304-8FA6-36D9-A272FD669387}"/>
              </a:ext>
            </a:extLst>
          </p:cNvPr>
          <p:cNvSpPr>
            <a:spLocks noGrp="1"/>
          </p:cNvSpPr>
          <p:nvPr>
            <p:ph sz="quarter" idx="11"/>
          </p:nvPr>
        </p:nvSpPr>
        <p:spPr>
          <a:xfrm>
            <a:off x="2167377" y="3223274"/>
            <a:ext cx="13714940" cy="7946139"/>
          </a:xfrm>
        </p:spPr>
        <p:txBody>
          <a:bodyPr>
            <a:normAutofit/>
          </a:bodyPr>
          <a:lstStyle/>
          <a:p>
            <a:pPr marL="0" indent="0" algn="just">
              <a:buNone/>
            </a:pPr>
            <a:r>
              <a:rPr lang="en-US" sz="4000" dirty="0"/>
              <a:t>Unix Datagrams Sockets:</a:t>
            </a:r>
          </a:p>
          <a:p>
            <a:pPr algn="just"/>
            <a:endParaRPr lang="en-US" dirty="0"/>
          </a:p>
          <a:p>
            <a:pPr algn="just"/>
            <a:r>
              <a:rPr lang="en-US" sz="3200" dirty="0"/>
              <a:t>Type: Connectionless, unreliable.</a:t>
            </a:r>
          </a:p>
          <a:p>
            <a:pPr algn="just"/>
            <a:r>
              <a:rPr lang="en-US" sz="3200" dirty="0"/>
              <a:t>Characteristics: Similar to UDP sockets in a network.</a:t>
            </a:r>
          </a:p>
          <a:p>
            <a:pPr algn="just"/>
            <a:r>
              <a:rPr lang="en-US" sz="3200" dirty="0"/>
              <a:t>Behavior: Provides a connectionless communication channel. Each message is independent, and the order is not guaranteed.</a:t>
            </a:r>
          </a:p>
        </p:txBody>
      </p:sp>
      <p:pic>
        <p:nvPicPr>
          <p:cNvPr id="7" name="Picture 6" descr="A black screen with white text&#10;&#10;Description automatically generated">
            <a:extLst>
              <a:ext uri="{FF2B5EF4-FFF2-40B4-BE49-F238E27FC236}">
                <a16:creationId xmlns:a16="http://schemas.microsoft.com/office/drawing/2014/main" id="{234FF141-B672-CA73-0946-0BC8ACA4E6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5294" y="8927863"/>
            <a:ext cx="17213412" cy="4483100"/>
          </a:xfrm>
          <a:prstGeom prst="rect">
            <a:avLst/>
          </a:prstGeom>
        </p:spPr>
      </p:pic>
    </p:spTree>
    <p:extLst>
      <p:ext uri="{BB962C8B-B14F-4D97-AF65-F5344CB8AC3E}">
        <p14:creationId xmlns:p14="http://schemas.microsoft.com/office/powerpoint/2010/main" val="28587151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271B-69B6-9B3A-C849-05E785AC3685}"/>
              </a:ext>
            </a:extLst>
          </p:cNvPr>
          <p:cNvSpPr>
            <a:spLocks noGrp="1"/>
          </p:cNvSpPr>
          <p:nvPr>
            <p:ph type="title"/>
          </p:nvPr>
        </p:nvSpPr>
        <p:spPr/>
        <p:txBody>
          <a:bodyPr>
            <a:normAutofit fontScale="90000"/>
          </a:bodyPr>
          <a:lstStyle/>
          <a:p>
            <a:r>
              <a:rPr lang="en-US" dirty="0"/>
              <a:t>Unix domain socket type</a:t>
            </a:r>
          </a:p>
        </p:txBody>
      </p:sp>
      <p:sp>
        <p:nvSpPr>
          <p:cNvPr id="3" name="Text Placeholder 2">
            <a:extLst>
              <a:ext uri="{FF2B5EF4-FFF2-40B4-BE49-F238E27FC236}">
                <a16:creationId xmlns:a16="http://schemas.microsoft.com/office/drawing/2014/main" id="{0B5995B9-7107-CD91-2F0B-514DB715D61C}"/>
              </a:ext>
            </a:extLst>
          </p:cNvPr>
          <p:cNvSpPr>
            <a:spLocks noGrp="1"/>
          </p:cNvSpPr>
          <p:nvPr>
            <p:ph type="body" sz="quarter" idx="10"/>
          </p:nvPr>
        </p:nvSpPr>
        <p:spPr/>
        <p:txBody>
          <a:bodyPr/>
          <a:lstStyle/>
          <a:p>
            <a:r>
              <a:rPr lang="en-US" dirty="0" err="1"/>
              <a:t>unixpacket</a:t>
            </a:r>
            <a:r>
              <a:rPr lang="en-US" dirty="0"/>
              <a:t> Sequence Packet Socket</a:t>
            </a:r>
          </a:p>
        </p:txBody>
      </p:sp>
      <p:sp>
        <p:nvSpPr>
          <p:cNvPr id="4" name="Content Placeholder 3">
            <a:extLst>
              <a:ext uri="{FF2B5EF4-FFF2-40B4-BE49-F238E27FC236}">
                <a16:creationId xmlns:a16="http://schemas.microsoft.com/office/drawing/2014/main" id="{7484BAAF-E304-8FA6-36D9-A272FD669387}"/>
              </a:ext>
            </a:extLst>
          </p:cNvPr>
          <p:cNvSpPr>
            <a:spLocks noGrp="1"/>
          </p:cNvSpPr>
          <p:nvPr>
            <p:ph sz="quarter" idx="11"/>
          </p:nvPr>
        </p:nvSpPr>
        <p:spPr>
          <a:xfrm>
            <a:off x="2167377" y="3351236"/>
            <a:ext cx="20213652" cy="7946139"/>
          </a:xfrm>
        </p:spPr>
        <p:txBody>
          <a:bodyPr>
            <a:normAutofit/>
          </a:bodyPr>
          <a:lstStyle/>
          <a:p>
            <a:pPr algn="just">
              <a:buFont typeface="Arial" panose="020B0604020202020204" pitchFamily="34" charset="0"/>
              <a:buChar char="•"/>
            </a:pPr>
            <a:r>
              <a:rPr lang="en-US" sz="3200" dirty="0"/>
              <a:t>The sequence packet socket type is a hybrid that combines the session-oriented connections and reliability of TCP with the clearly delineated datagrams of UDP. </a:t>
            </a:r>
          </a:p>
          <a:p>
            <a:pPr algn="just">
              <a:buFont typeface="Arial" panose="020B0604020202020204" pitchFamily="34" charset="0"/>
              <a:buChar char="•"/>
            </a:pPr>
            <a:r>
              <a:rPr lang="en-US" sz="3200" dirty="0"/>
              <a:t>However, sequence packet sockets discard unrequested data in each datagram. If you read 32 bytes of a 50-byte datagram, for example, the operating system discards the 18 unrequested bytes.</a:t>
            </a:r>
          </a:p>
          <a:p>
            <a:pPr algn="just">
              <a:buFont typeface="Arial" panose="020B0604020202020204" pitchFamily="34" charset="0"/>
              <a:buChar char="•"/>
            </a:pPr>
            <a:r>
              <a:rPr lang="en-US" sz="3200" dirty="0"/>
              <a:t>Of the three Unix domain socket types, </a:t>
            </a:r>
            <a:r>
              <a:rPr lang="en-US" sz="3200" dirty="0" err="1"/>
              <a:t>unixpacket</a:t>
            </a:r>
            <a:r>
              <a:rPr lang="en-US" sz="3200" dirty="0"/>
              <a:t> enjoys the least cross- platform support. Coupled with </a:t>
            </a:r>
            <a:r>
              <a:rPr lang="en-US" sz="3200" dirty="0" err="1"/>
              <a:t>unixpacket’s</a:t>
            </a:r>
            <a:r>
              <a:rPr lang="en-US" sz="3200" dirty="0"/>
              <a:t> hybrid behavior and discarding of unrequested data, </a:t>
            </a:r>
            <a:r>
              <a:rPr lang="en-US" sz="3200" dirty="0" err="1"/>
              <a:t>unix</a:t>
            </a:r>
            <a:r>
              <a:rPr lang="en-US" sz="3200" dirty="0"/>
              <a:t> or </a:t>
            </a:r>
            <a:r>
              <a:rPr lang="en-US" sz="3200" dirty="0" err="1"/>
              <a:t>unixgram</a:t>
            </a:r>
            <a:r>
              <a:rPr lang="en-US" sz="3200" dirty="0"/>
              <a:t> are better suited for most applications. You are unlikely to find sequence packet sockets in use over the internet.</a:t>
            </a:r>
          </a:p>
          <a:p>
            <a:pPr algn="just">
              <a:buFont typeface="Arial" panose="020B0604020202020204" pitchFamily="34" charset="0"/>
              <a:buChar char="•"/>
            </a:pPr>
            <a:r>
              <a:rPr lang="en-US" sz="3200" dirty="0"/>
              <a:t>It was largely used in old X.25 telecommunication networks, some types of financial transactions, and AX.25 used in amateur radio.</a:t>
            </a:r>
          </a:p>
        </p:txBody>
      </p:sp>
    </p:spTree>
    <p:extLst>
      <p:ext uri="{BB962C8B-B14F-4D97-AF65-F5344CB8AC3E}">
        <p14:creationId xmlns:p14="http://schemas.microsoft.com/office/powerpoint/2010/main" val="368596609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Writing a Service That Authenticates Clients </a:t>
            </a:r>
          </a:p>
        </p:txBody>
      </p:sp>
    </p:spTree>
    <p:extLst>
      <p:ext uri="{BB962C8B-B14F-4D97-AF65-F5344CB8AC3E}">
        <p14:creationId xmlns:p14="http://schemas.microsoft.com/office/powerpoint/2010/main" val="252080553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A108A-B01D-BEBA-B3D3-993FA0F3A6F6}"/>
              </a:ext>
            </a:extLst>
          </p:cNvPr>
          <p:cNvSpPr>
            <a:spLocks noGrp="1"/>
          </p:cNvSpPr>
          <p:nvPr>
            <p:ph type="title"/>
          </p:nvPr>
        </p:nvSpPr>
        <p:spPr/>
        <p:txBody>
          <a:bodyPr>
            <a:normAutofit fontScale="90000"/>
          </a:bodyPr>
          <a:lstStyle/>
          <a:p>
            <a:r>
              <a:rPr lang="en-US" dirty="0"/>
              <a:t>Writing a Service That Authenticates Clients</a:t>
            </a:r>
          </a:p>
        </p:txBody>
      </p:sp>
      <p:sp>
        <p:nvSpPr>
          <p:cNvPr id="3" name="Text Placeholder 2">
            <a:extLst>
              <a:ext uri="{FF2B5EF4-FFF2-40B4-BE49-F238E27FC236}">
                <a16:creationId xmlns:a16="http://schemas.microsoft.com/office/drawing/2014/main" id="{8AB6C5FA-36CB-2854-C214-8C07A0A0FD95}"/>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B45796CB-2CC2-8BCE-2D4A-9397DF7354A1}"/>
              </a:ext>
            </a:extLst>
          </p:cNvPr>
          <p:cNvSpPr>
            <a:spLocks noGrp="1"/>
          </p:cNvSpPr>
          <p:nvPr>
            <p:ph sz="quarter" idx="11"/>
          </p:nvPr>
        </p:nvSpPr>
        <p:spPr>
          <a:xfrm>
            <a:off x="5078782" y="4596868"/>
            <a:ext cx="13714940" cy="4522264"/>
          </a:xfrm>
        </p:spPr>
        <p:txBody>
          <a:bodyPr>
            <a:noAutofit/>
          </a:bodyPr>
          <a:lstStyle/>
          <a:p>
            <a:pPr algn="just"/>
            <a:r>
              <a:rPr lang="en-US" sz="3200" dirty="0"/>
              <a:t>On Linux systems, Unix domain sockets allow you to glean details about the process on the other end of a socket—your peer—by receiving the </a:t>
            </a:r>
            <a:r>
              <a:rPr lang="en-US" sz="3200" dirty="0" err="1"/>
              <a:t>cre</a:t>
            </a:r>
            <a:r>
              <a:rPr lang="en-US" sz="3200" dirty="0"/>
              <a:t>- </a:t>
            </a:r>
            <a:r>
              <a:rPr lang="en-US" sz="3200" dirty="0" err="1"/>
              <a:t>dentials</a:t>
            </a:r>
            <a:r>
              <a:rPr lang="en-US" sz="3200" dirty="0"/>
              <a:t> from your peer’s operating system. </a:t>
            </a:r>
          </a:p>
          <a:p>
            <a:pPr algn="just"/>
            <a:r>
              <a:rPr lang="en-US" sz="3200" dirty="0"/>
              <a:t>You can use this information to authenticate your peer on the other side of the Unix domain socket and deny access if the peer’s credentials don’t meet your criteria. </a:t>
            </a:r>
          </a:p>
          <a:p>
            <a:pPr algn="just"/>
            <a:r>
              <a:rPr lang="en-US" sz="3200" dirty="0"/>
              <a:t>For instance, if the user </a:t>
            </a:r>
            <a:r>
              <a:rPr lang="en-US" sz="3200" dirty="0" err="1"/>
              <a:t>davefromaccounting</a:t>
            </a:r>
            <a:r>
              <a:rPr lang="en-US" sz="3200" dirty="0"/>
              <a:t> connects to your administrative service through a Unix domain socket, the peer credentials might indicate that you should deny access; Dave should be crunching numbers, not sending bits to your administrative service.</a:t>
            </a:r>
          </a:p>
        </p:txBody>
      </p:sp>
    </p:spTree>
    <p:extLst>
      <p:ext uri="{BB962C8B-B14F-4D97-AF65-F5344CB8AC3E}">
        <p14:creationId xmlns:p14="http://schemas.microsoft.com/office/powerpoint/2010/main" val="79830423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A108A-B01D-BEBA-B3D3-993FA0F3A6F6}"/>
              </a:ext>
            </a:extLst>
          </p:cNvPr>
          <p:cNvSpPr>
            <a:spLocks noGrp="1"/>
          </p:cNvSpPr>
          <p:nvPr>
            <p:ph type="title"/>
          </p:nvPr>
        </p:nvSpPr>
        <p:spPr/>
        <p:txBody>
          <a:bodyPr>
            <a:normAutofit fontScale="90000"/>
          </a:bodyPr>
          <a:lstStyle/>
          <a:p>
            <a:r>
              <a:rPr lang="en-US" dirty="0"/>
              <a:t>Writing a Service That Authenticates Clients</a:t>
            </a:r>
          </a:p>
        </p:txBody>
      </p:sp>
      <p:sp>
        <p:nvSpPr>
          <p:cNvPr id="3" name="Text Placeholder 2">
            <a:extLst>
              <a:ext uri="{FF2B5EF4-FFF2-40B4-BE49-F238E27FC236}">
                <a16:creationId xmlns:a16="http://schemas.microsoft.com/office/drawing/2014/main" id="{8AB6C5FA-36CB-2854-C214-8C07A0A0FD95}"/>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B45796CB-2CC2-8BCE-2D4A-9397DF7354A1}"/>
              </a:ext>
            </a:extLst>
          </p:cNvPr>
          <p:cNvSpPr>
            <a:spLocks noGrp="1"/>
          </p:cNvSpPr>
          <p:nvPr>
            <p:ph sz="quarter" idx="11"/>
          </p:nvPr>
        </p:nvSpPr>
        <p:spPr>
          <a:xfrm>
            <a:off x="5078782" y="4596868"/>
            <a:ext cx="13714940" cy="4522264"/>
          </a:xfrm>
        </p:spPr>
        <p:txBody>
          <a:bodyPr>
            <a:noAutofit/>
          </a:bodyPr>
          <a:lstStyle/>
          <a:p>
            <a:pPr algn="just"/>
            <a:r>
              <a:rPr lang="en-US" sz="3200" dirty="0"/>
              <a:t>You can create a service that allows connections only from specific users or any user in a specific group found in the /</a:t>
            </a:r>
            <a:r>
              <a:rPr lang="en-US" sz="3200" dirty="0" err="1"/>
              <a:t>etc</a:t>
            </a:r>
            <a:r>
              <a:rPr lang="en-US" sz="3200" dirty="0"/>
              <a:t>/groups file.</a:t>
            </a:r>
          </a:p>
          <a:p>
            <a:pPr algn="just"/>
            <a:r>
              <a:rPr lang="en-US" sz="3200" dirty="0"/>
              <a:t> Each named group in the /</a:t>
            </a:r>
            <a:r>
              <a:rPr lang="en-US" sz="3200" dirty="0" err="1"/>
              <a:t>etc</a:t>
            </a:r>
            <a:r>
              <a:rPr lang="en-US" sz="3200" dirty="0"/>
              <a:t>/groups file has a corresponding group ID number. </a:t>
            </a:r>
          </a:p>
          <a:p>
            <a:pPr algn="just"/>
            <a:r>
              <a:rPr lang="en-US" sz="3200" dirty="0"/>
              <a:t>When a client connects to your Unix domain socket, you can request the peer credentials and compare the client’s group ID in the peer credentials to the group ID of any allowed groups. </a:t>
            </a:r>
          </a:p>
          <a:p>
            <a:pPr algn="just"/>
            <a:r>
              <a:rPr lang="en-US" sz="3200" dirty="0"/>
              <a:t>If the client’s group ID matches one of the allowed group IDs, you can consider the client authenticated. Go’s standard library has use- </a:t>
            </a:r>
            <a:r>
              <a:rPr lang="en-US" sz="3200" dirty="0" err="1"/>
              <a:t>ful</a:t>
            </a:r>
            <a:r>
              <a:rPr lang="en-US" sz="3200" dirty="0"/>
              <a:t> support for working with Linux groups, which you’ll use in “Writing the Service” on page 156.</a:t>
            </a:r>
          </a:p>
        </p:txBody>
      </p:sp>
    </p:spTree>
    <p:extLst>
      <p:ext uri="{BB962C8B-B14F-4D97-AF65-F5344CB8AC3E}">
        <p14:creationId xmlns:p14="http://schemas.microsoft.com/office/powerpoint/2010/main" val="334155716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9C294-9DFB-4F93-9B96-A70432466BF7}"/>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9EA721AC-E3DF-22B1-8422-76608B997B94}"/>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DFC3A658-0629-8224-9928-EE85A4D909BC}"/>
              </a:ext>
            </a:extLst>
          </p:cNvPr>
          <p:cNvSpPr>
            <a:spLocks noGrp="1"/>
          </p:cNvSpPr>
          <p:nvPr>
            <p:ph sz="quarter" idx="11"/>
          </p:nvPr>
        </p:nvSpPr>
        <p:spPr>
          <a:xfrm>
            <a:off x="5334530" y="4596868"/>
            <a:ext cx="13714940" cy="8204732"/>
          </a:xfrm>
        </p:spPr>
        <p:txBody>
          <a:bodyPr>
            <a:noAutofit/>
          </a:bodyPr>
          <a:lstStyle/>
          <a:p>
            <a:pPr algn="just"/>
            <a:r>
              <a:rPr lang="en-US" sz="3200" dirty="0"/>
              <a:t>Adam </a:t>
            </a:r>
            <a:r>
              <a:rPr lang="en-US" sz="3200" dirty="0" err="1"/>
              <a:t>Woodbeck</a:t>
            </a:r>
            <a:r>
              <a:rPr lang="en-US" sz="3200" dirty="0"/>
              <a:t> - Network Programming with Go_ Learn to Code Secure and Reliable Network Services from Scratch-No Starch Press (2021).</a:t>
            </a:r>
          </a:p>
          <a:p>
            <a:pPr algn="just"/>
            <a:r>
              <a:rPr lang="en-US" sz="3200" dirty="0">
                <a:hlinkClick r:id="rId2"/>
              </a:rPr>
              <a:t>https://www.ibm.com/docs/en/ztpf/1.1.0.15?topic=considerations-unix-domain-sockets</a:t>
            </a:r>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p:txBody>
      </p:sp>
    </p:spTree>
    <p:extLst>
      <p:ext uri="{BB962C8B-B14F-4D97-AF65-F5344CB8AC3E}">
        <p14:creationId xmlns:p14="http://schemas.microsoft.com/office/powerpoint/2010/main" val="288738976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13866</TotalTime>
  <Words>1285</Words>
  <Application>Microsoft Macintosh PowerPoint</Application>
  <PresentationFormat>Custom</PresentationFormat>
  <Paragraphs>93</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Tahoma</vt:lpstr>
      <vt:lpstr>Open Sans ExtraBold</vt:lpstr>
      <vt:lpstr>Arial</vt:lpstr>
      <vt:lpstr>OCRB</vt:lpstr>
      <vt:lpstr>Open Sans Semibold</vt:lpstr>
      <vt:lpstr>Open Sans Light</vt:lpstr>
      <vt:lpstr>21_BasicWhite</vt:lpstr>
      <vt:lpstr>Unix domain sockets  Session 07</vt:lpstr>
      <vt:lpstr>Learning Objectives</vt:lpstr>
      <vt:lpstr>Outline</vt:lpstr>
      <vt:lpstr>Unix domain socket</vt:lpstr>
      <vt:lpstr>Unix domain socket</vt:lpstr>
      <vt:lpstr>Unix domain socket</vt:lpstr>
      <vt:lpstr>Unix domain socket</vt:lpstr>
      <vt:lpstr>Binding unix to socket file</vt:lpstr>
      <vt:lpstr>Binding unix to socket file</vt:lpstr>
      <vt:lpstr>Unix domain socket type</vt:lpstr>
      <vt:lpstr>Unix domain socket type</vt:lpstr>
      <vt:lpstr>Unix domain socket type</vt:lpstr>
      <vt:lpstr>Unix domain socket type</vt:lpstr>
      <vt:lpstr>Writing a Service That Authenticates Clients </vt:lpstr>
      <vt:lpstr>Writing a Service That Authenticates Clients</vt:lpstr>
      <vt:lpstr>Writing a Service That Authenticates Clients</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IVAN SEBASTIAN EDBERT</cp:lastModifiedBy>
  <cp:revision>23</cp:revision>
  <dcterms:created xsi:type="dcterms:W3CDTF">2023-06-28T08:14:57Z</dcterms:created>
  <dcterms:modified xsi:type="dcterms:W3CDTF">2023-12-18T10:40:25Z</dcterms:modified>
</cp:coreProperties>
</file>