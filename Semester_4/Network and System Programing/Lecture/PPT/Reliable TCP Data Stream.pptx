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2"/>
  </p:notesMasterIdLst>
  <p:sldIdLst>
    <p:sldId id="256" r:id="rId2"/>
    <p:sldId id="278" r:id="rId3"/>
    <p:sldId id="257" r:id="rId4"/>
    <p:sldId id="297" r:id="rId5"/>
    <p:sldId id="301" r:id="rId6"/>
    <p:sldId id="309" r:id="rId7"/>
    <p:sldId id="302" r:id="rId8"/>
    <p:sldId id="303" r:id="rId9"/>
    <p:sldId id="304" r:id="rId10"/>
    <p:sldId id="305" r:id="rId11"/>
    <p:sldId id="306" r:id="rId12"/>
    <p:sldId id="307" r:id="rId13"/>
    <p:sldId id="308" r:id="rId14"/>
    <p:sldId id="310" r:id="rId15"/>
    <p:sldId id="311" r:id="rId16"/>
    <p:sldId id="312" r:id="rId17"/>
    <p:sldId id="313" r:id="rId18"/>
    <p:sldId id="315" r:id="rId19"/>
    <p:sldId id="300" r:id="rId20"/>
    <p:sldId id="296" r:id="rId21"/>
  </p:sldIdLst>
  <p:sldSz cx="24384000" cy="13716000"/>
  <p:notesSz cx="6858000" cy="9144000"/>
  <p:embeddedFontLst>
    <p:embeddedFont>
      <p:font typeface="OCRB" panose="020B0609020202020204" pitchFamily="49" charset="77"/>
      <p:regular r:id="rId23"/>
    </p:embeddedFont>
    <p:embeddedFont>
      <p:font typeface="Open Sans" panose="020B0606030504020204" pitchFamily="34" charset="0"/>
      <p:regular r:id="rId24"/>
      <p:bold r:id="rId25"/>
      <p:italic r:id="rId26"/>
      <p:boldItalic r:id="rId27"/>
    </p:embeddedFont>
    <p:embeddedFont>
      <p:font typeface="Open Sans ExtraBold" panose="020B0606030504020204" pitchFamily="34" charset="0"/>
      <p:bold r:id="rId28"/>
      <p:italic r:id="rId29"/>
      <p:boldItalic r:id="rId30"/>
    </p:embeddedFont>
    <p:embeddedFont>
      <p:font typeface="Open Sans Light" panose="020B0306030504020204" pitchFamily="34" charset="0"/>
      <p:regular r:id="rId31"/>
      <p:italic r:id="rId32"/>
    </p:embeddedFont>
    <p:embeddedFont>
      <p:font typeface="Open Sans Semibold" panose="020B0606030504020204" pitchFamily="34" charset="0"/>
      <p:regular r:id="rId33"/>
      <p:bold r:id="rId34"/>
      <p:italic r:id="rId35"/>
      <p:boldItalic r:id="rId36"/>
    </p:embeddedFont>
    <p:embeddedFont>
      <p:font typeface="Tahoma" panose="020B0604030504040204" pitchFamily="34" charset="0"/>
      <p:regular r:id="rId37"/>
      <p:bold r:id="rId38"/>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861A5F-CB55-1A48-A66D-C7104F5EE915}" v="59" dt="2023-12-15T10:02:32.67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6228"/>
  </p:normalViewPr>
  <p:slideViewPr>
    <p:cSldViewPr snapToGrid="0" snapToObjects="1">
      <p:cViewPr varScale="1">
        <p:scale>
          <a:sx n="59" d="100"/>
          <a:sy n="59" d="100"/>
        </p:scale>
        <p:origin x="280" y="280"/>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ID" sz="1800" dirty="0">
                <a:effectLst/>
                <a:latin typeface="NewBaskervilleStd"/>
              </a:rPr>
              <a:t>The client’s connection state changes from ESTABLISHED to FIN _WAIT_1, which indicates the client is in the process of tearing down the connection from its end and is waiting for the server’s acknowledgment. The server acknowledges the client’s FIN and changes its connection state from ESTABLISHED to CLOSE_WAIT. The server sends its own FIN packet, changing its state to LAST_ACK, indicating it’s waiting for a final </a:t>
            </a:r>
            <a:r>
              <a:rPr lang="en-ID" sz="1800" dirty="0" err="1">
                <a:effectLst/>
                <a:latin typeface="NewBaskervilleStd"/>
              </a:rPr>
              <a:t>acknowl</a:t>
            </a:r>
            <a:r>
              <a:rPr lang="en-ID" sz="1800" dirty="0">
                <a:effectLst/>
                <a:latin typeface="NewBaskervilleStd"/>
              </a:rPr>
              <a:t>- </a:t>
            </a:r>
            <a:r>
              <a:rPr lang="en-ID" sz="1800" dirty="0" err="1">
                <a:effectLst/>
                <a:latin typeface="NewBaskervilleStd"/>
              </a:rPr>
              <a:t>edgment</a:t>
            </a:r>
            <a:r>
              <a:rPr lang="en-ID" sz="1800" dirty="0">
                <a:effectLst/>
                <a:latin typeface="NewBaskervilleStd"/>
              </a:rPr>
              <a:t> from the client. The client acknowledges the server’s FIN and enters a TIME_WAIT state</a:t>
            </a:r>
            <a:r>
              <a:rPr lang="en-ID" sz="1800" i="1" dirty="0">
                <a:effectLst/>
                <a:latin typeface="NewBaskervilleStd"/>
              </a:rPr>
              <a:t>, </a:t>
            </a:r>
            <a:r>
              <a:rPr lang="en-ID" sz="1800" dirty="0">
                <a:effectLst/>
                <a:latin typeface="NewBaskervilleStd"/>
              </a:rPr>
              <a:t>whose purpose is to allow the client’s final ACK packet to reach the server. The client waits for twice the maximum segment life- time (the segment lifetime arbitrarily defaults to two minutes, per RFC 793, but your operating system may allow you to tweak this value), then changes its connection state to CLOSED without any further input required from the server. The </a:t>
            </a:r>
            <a:r>
              <a:rPr lang="en-ID" sz="1800" i="1" dirty="0">
                <a:effectLst/>
                <a:latin typeface="NewBaskervilleStd"/>
              </a:rPr>
              <a:t>maximum segment lifetime </a:t>
            </a:r>
            <a:r>
              <a:rPr lang="en-ID" sz="1800" dirty="0">
                <a:effectLst/>
                <a:latin typeface="NewBaskervilleStd"/>
              </a:rPr>
              <a:t>is the duration a TCP segment can remain in transit before the sender considers it abandoned. Upon receiving the client’s last ACK packet, the server immediately changes its connection state to CLOSED, fully terminating the TCP session. </a:t>
            </a:r>
            <a:endParaRPr lang="en-ID" dirty="0"/>
          </a:p>
          <a:p>
            <a:endParaRPr lang="en-US" dirty="0"/>
          </a:p>
        </p:txBody>
      </p:sp>
    </p:spTree>
    <p:extLst>
      <p:ext uri="{BB962C8B-B14F-4D97-AF65-F5344CB8AC3E}">
        <p14:creationId xmlns:p14="http://schemas.microsoft.com/office/powerpoint/2010/main" val="14550631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www.juniper.net/documentation/us/en/software/junos/flow-packet-processing/topics/topic-map/security-tcp-session-checks.html" TargetMode="External"/><Relationship Id="rId2" Type="http://schemas.openxmlformats.org/officeDocument/2006/relationships/hyperlink" Target="https://www.fortinet.com/resources/cyberglossary/tcp-ip#:~:text=What%20is%20TCP%3F,exchange%20messages%20over%20a%20network" TargetMode="Externa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sz="8900" dirty="0"/>
              <a:t>Reliable TCP Data Stream</a:t>
            </a:r>
            <a:br>
              <a:rPr lang="en-US" dirty="0"/>
            </a:br>
            <a:br>
              <a:rPr lang="en-US" dirty="0"/>
            </a:br>
            <a:r>
              <a:rPr lang="en-US" sz="6000" dirty="0"/>
              <a:t>Session 03</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Ivan Sebastian </a:t>
            </a:r>
            <a:r>
              <a:rPr lang="en-US" dirty="0" err="1"/>
              <a:t>Edbert</a:t>
            </a:r>
            <a:endParaRPr lang="en-US" dirty="0"/>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COMP6584001 – Network and Systems Programming </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Objectives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Autofit/>
          </a:bodyPr>
          <a:lstStyle/>
          <a:p>
            <a:pPr marL="0" indent="0">
              <a:buNone/>
            </a:pPr>
            <a:r>
              <a:rPr lang="en-US" sz="3200" dirty="0"/>
              <a:t>At the end of this session, the student will be expected to :</a:t>
            </a:r>
          </a:p>
          <a:p>
            <a:pPr marL="0" indent="0">
              <a:buNone/>
            </a:pPr>
            <a:endParaRPr lang="en-ID" sz="3200" dirty="0"/>
          </a:p>
          <a:p>
            <a:r>
              <a:rPr lang="en-ID" sz="3200" dirty="0"/>
              <a:t>Understand about TCP</a:t>
            </a:r>
          </a:p>
          <a:p>
            <a:pPr marL="0" indent="0">
              <a:buNone/>
            </a:pPr>
            <a:endParaRPr lang="en-ID" sz="3200" dirty="0"/>
          </a:p>
          <a:p>
            <a:r>
              <a:rPr lang="en-ID" sz="3200" dirty="0"/>
              <a:t>Able to work with TCP</a:t>
            </a:r>
          </a:p>
          <a:p>
            <a:endParaRPr lang="en-ID" sz="3200" dirty="0"/>
          </a:p>
          <a:p>
            <a:r>
              <a:rPr lang="en-ID" sz="3200" dirty="0"/>
              <a:t>Able to establish TCP with GO</a:t>
            </a:r>
          </a:p>
          <a:p>
            <a:pPr marL="0" indent="0">
              <a:buNone/>
            </a:pPr>
            <a:endParaRPr lang="en-ID" sz="3200" dirty="0"/>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r>
              <a:rPr lang="en-ID" sz="3200" dirty="0"/>
              <a:t>TCP Data Stream</a:t>
            </a:r>
          </a:p>
          <a:p>
            <a:r>
              <a:rPr lang="en-ID" sz="3200" dirty="0"/>
              <a:t>Establish TCP Session</a:t>
            </a:r>
          </a:p>
          <a:p>
            <a:r>
              <a:rPr lang="en-ID" sz="3200" dirty="0"/>
              <a:t>Establish TCP with Go Library</a:t>
            </a:r>
          </a:p>
          <a:p>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US" dirty="0"/>
              <a:t>Transmission control protocol (TCP)</a:t>
            </a:r>
          </a:p>
        </p:txBody>
      </p:sp>
    </p:spTree>
    <p:extLst>
      <p:ext uri="{BB962C8B-B14F-4D97-AF65-F5344CB8AC3E}">
        <p14:creationId xmlns:p14="http://schemas.microsoft.com/office/powerpoint/2010/main" val="328076919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86139-07A8-EC3C-7430-6D1774862608}"/>
              </a:ext>
            </a:extLst>
          </p:cNvPr>
          <p:cNvSpPr>
            <a:spLocks noGrp="1"/>
          </p:cNvSpPr>
          <p:nvPr>
            <p:ph type="title"/>
          </p:nvPr>
        </p:nvSpPr>
        <p:spPr/>
        <p:txBody>
          <a:bodyPr>
            <a:normAutofit fontScale="90000"/>
          </a:bodyPr>
          <a:lstStyle/>
          <a:p>
            <a:r>
              <a:rPr lang="en-US" dirty="0"/>
              <a:t>Transmission control protocol (TCP)</a:t>
            </a:r>
          </a:p>
        </p:txBody>
      </p:sp>
      <p:sp>
        <p:nvSpPr>
          <p:cNvPr id="3" name="Text Placeholder 2">
            <a:extLst>
              <a:ext uri="{FF2B5EF4-FFF2-40B4-BE49-F238E27FC236}">
                <a16:creationId xmlns:a16="http://schemas.microsoft.com/office/drawing/2014/main" id="{6743C224-F449-4214-0D6E-75E8BF6B90E6}"/>
              </a:ext>
            </a:extLst>
          </p:cNvPr>
          <p:cNvSpPr>
            <a:spLocks noGrp="1"/>
          </p:cNvSpPr>
          <p:nvPr>
            <p:ph type="body" sz="quarter" idx="10"/>
          </p:nvPr>
        </p:nvSpPr>
        <p:spPr/>
        <p:txBody>
          <a:bodyPr/>
          <a:lstStyle/>
          <a:p>
            <a:r>
              <a:rPr lang="en-US" dirty="0"/>
              <a:t>Definition</a:t>
            </a:r>
          </a:p>
        </p:txBody>
      </p:sp>
      <p:sp>
        <p:nvSpPr>
          <p:cNvPr id="4" name="Content Placeholder 3">
            <a:extLst>
              <a:ext uri="{FF2B5EF4-FFF2-40B4-BE49-F238E27FC236}">
                <a16:creationId xmlns:a16="http://schemas.microsoft.com/office/drawing/2014/main" id="{E140D1E4-2F88-FB98-3384-E0A02C9F2FB9}"/>
              </a:ext>
            </a:extLst>
          </p:cNvPr>
          <p:cNvSpPr>
            <a:spLocks noGrp="1"/>
          </p:cNvSpPr>
          <p:nvPr>
            <p:ph sz="quarter" idx="11"/>
          </p:nvPr>
        </p:nvSpPr>
        <p:spPr>
          <a:xfrm>
            <a:off x="5334530" y="4530886"/>
            <a:ext cx="13714940" cy="6510404"/>
          </a:xfrm>
        </p:spPr>
        <p:txBody>
          <a:bodyPr>
            <a:noAutofit/>
          </a:bodyPr>
          <a:lstStyle/>
          <a:p>
            <a:pPr algn="just"/>
            <a:r>
              <a:rPr lang="en-US" sz="3200" dirty="0"/>
              <a:t>Transmission Control Protocol (TCP) is a communications standard that enables application programs and computing devices to exchange messages over a network. It is designed to send packets across the internet and ensure the successful delivery of data and messages over networks. </a:t>
            </a:r>
          </a:p>
          <a:p>
            <a:pPr algn="just"/>
            <a:r>
              <a:rPr lang="en-US" sz="3200" dirty="0"/>
              <a:t>TCP is one of the basic standards that define the rules of the internet and is included within the standards defined by the Internet Engineering Task Force (IETF). It is one of the most commonly used protocols within digital network communications and ensures end-to-end data delivery.</a:t>
            </a:r>
          </a:p>
          <a:p>
            <a:pPr algn="just"/>
            <a:r>
              <a:rPr lang="en-US" sz="3200" dirty="0"/>
              <a:t>TCP organizes data so that it can be transmitted between a server and a client. It guarantees the integrity of the data being communicated over a network</a:t>
            </a:r>
          </a:p>
          <a:p>
            <a:pPr marL="0" indent="0" algn="just">
              <a:buNone/>
            </a:pPr>
            <a:endParaRPr lang="en-US" sz="3200" dirty="0"/>
          </a:p>
          <a:p>
            <a:pPr algn="just"/>
            <a:endParaRPr lang="en-US" sz="3200" dirty="0"/>
          </a:p>
        </p:txBody>
      </p:sp>
    </p:spTree>
    <p:extLst>
      <p:ext uri="{BB962C8B-B14F-4D97-AF65-F5344CB8AC3E}">
        <p14:creationId xmlns:p14="http://schemas.microsoft.com/office/powerpoint/2010/main" val="405311108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US" dirty="0"/>
              <a:t>Establish TCP Session</a:t>
            </a:r>
          </a:p>
        </p:txBody>
      </p:sp>
    </p:spTree>
    <p:extLst>
      <p:ext uri="{BB962C8B-B14F-4D97-AF65-F5344CB8AC3E}">
        <p14:creationId xmlns:p14="http://schemas.microsoft.com/office/powerpoint/2010/main" val="288105383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8F20A-6F84-128C-427F-57A5E0840E11}"/>
              </a:ext>
            </a:extLst>
          </p:cNvPr>
          <p:cNvSpPr>
            <a:spLocks noGrp="1"/>
          </p:cNvSpPr>
          <p:nvPr>
            <p:ph type="title"/>
          </p:nvPr>
        </p:nvSpPr>
        <p:spPr/>
        <p:txBody>
          <a:bodyPr>
            <a:normAutofit fontScale="90000"/>
          </a:bodyPr>
          <a:lstStyle/>
          <a:p>
            <a:r>
              <a:rPr lang="en-US" dirty="0"/>
              <a:t>Transmission control protocol (TCP)</a:t>
            </a:r>
          </a:p>
        </p:txBody>
      </p:sp>
      <p:sp>
        <p:nvSpPr>
          <p:cNvPr id="3" name="Text Placeholder 2">
            <a:extLst>
              <a:ext uri="{FF2B5EF4-FFF2-40B4-BE49-F238E27FC236}">
                <a16:creationId xmlns:a16="http://schemas.microsoft.com/office/drawing/2014/main" id="{10FC8209-9F79-FDD0-136F-381984F91E9E}"/>
              </a:ext>
            </a:extLst>
          </p:cNvPr>
          <p:cNvSpPr>
            <a:spLocks noGrp="1"/>
          </p:cNvSpPr>
          <p:nvPr>
            <p:ph type="body" sz="quarter" idx="10"/>
          </p:nvPr>
        </p:nvSpPr>
        <p:spPr/>
        <p:txBody>
          <a:bodyPr/>
          <a:lstStyle/>
          <a:p>
            <a:r>
              <a:rPr lang="en-US" dirty="0"/>
              <a:t>Working with TCP Sessions</a:t>
            </a:r>
          </a:p>
        </p:txBody>
      </p:sp>
      <p:sp>
        <p:nvSpPr>
          <p:cNvPr id="4" name="Content Placeholder 3">
            <a:extLst>
              <a:ext uri="{FF2B5EF4-FFF2-40B4-BE49-F238E27FC236}">
                <a16:creationId xmlns:a16="http://schemas.microsoft.com/office/drawing/2014/main" id="{42535404-6CD8-E489-35BA-FD2DBDC82568}"/>
              </a:ext>
            </a:extLst>
          </p:cNvPr>
          <p:cNvSpPr>
            <a:spLocks noGrp="1"/>
          </p:cNvSpPr>
          <p:nvPr>
            <p:ph sz="quarter" idx="11"/>
          </p:nvPr>
        </p:nvSpPr>
        <p:spPr>
          <a:xfrm>
            <a:off x="1911629" y="4080116"/>
            <a:ext cx="10024623" cy="7216156"/>
          </a:xfrm>
        </p:spPr>
        <p:txBody>
          <a:bodyPr>
            <a:normAutofit/>
          </a:bodyPr>
          <a:lstStyle/>
          <a:p>
            <a:pPr algn="just"/>
            <a:r>
              <a:rPr lang="en-US" sz="3200" dirty="0"/>
              <a:t>A TCP session allows you to deliver a stream of data of any size to a recipient and receive confirmation that the recipient received the data. This saves you from the inefficiency of sending a large amount of data across a network, only to find out at the end of the transmission that the recipient didn’t receive it.</a:t>
            </a:r>
          </a:p>
          <a:p>
            <a:pPr algn="just"/>
            <a:r>
              <a:rPr lang="en-US" sz="3200" dirty="0"/>
              <a:t>A TCP connection uses a three-way handshake to introduce the client to the server and the server to the client. The handshake creates an established TCP session over which the client and server exchange data. Figure 3-1 illustrates the three messages sent in the handshake process.</a:t>
            </a:r>
          </a:p>
          <a:p>
            <a:pPr algn="just"/>
            <a:endParaRPr lang="en-US" sz="3200" dirty="0"/>
          </a:p>
          <a:p>
            <a:pPr algn="just"/>
            <a:endParaRPr lang="en-US" sz="3200" dirty="0"/>
          </a:p>
        </p:txBody>
      </p:sp>
      <p:pic>
        <p:nvPicPr>
          <p:cNvPr id="6" name="Picture 5" descr="A diagram of a process&#10;&#10;Description automatically generated">
            <a:extLst>
              <a:ext uri="{FF2B5EF4-FFF2-40B4-BE49-F238E27FC236}">
                <a16:creationId xmlns:a16="http://schemas.microsoft.com/office/drawing/2014/main" id="{87A647AD-F647-25AC-8234-A1A5E3E45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5287" y="4080116"/>
            <a:ext cx="10858484" cy="7022496"/>
          </a:xfrm>
          <a:prstGeom prst="rect">
            <a:avLst/>
          </a:prstGeom>
        </p:spPr>
      </p:pic>
    </p:spTree>
    <p:extLst>
      <p:ext uri="{BB962C8B-B14F-4D97-AF65-F5344CB8AC3E}">
        <p14:creationId xmlns:p14="http://schemas.microsoft.com/office/powerpoint/2010/main" val="259864220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BEAE1-254E-DBB3-B9C4-A6EFEBDC66ED}"/>
              </a:ext>
            </a:extLst>
          </p:cNvPr>
          <p:cNvSpPr>
            <a:spLocks noGrp="1"/>
          </p:cNvSpPr>
          <p:nvPr>
            <p:ph type="title"/>
          </p:nvPr>
        </p:nvSpPr>
        <p:spPr/>
        <p:txBody>
          <a:bodyPr>
            <a:normAutofit fontScale="90000"/>
          </a:bodyPr>
          <a:lstStyle/>
          <a:p>
            <a:r>
              <a:rPr lang="en-US" dirty="0"/>
              <a:t>TCP Sessions </a:t>
            </a:r>
          </a:p>
        </p:txBody>
      </p:sp>
      <p:sp>
        <p:nvSpPr>
          <p:cNvPr id="3" name="Text Placeholder 2">
            <a:extLst>
              <a:ext uri="{FF2B5EF4-FFF2-40B4-BE49-F238E27FC236}">
                <a16:creationId xmlns:a16="http://schemas.microsoft.com/office/drawing/2014/main" id="{CF195548-0481-7E34-F7CD-36ED15FA697C}"/>
              </a:ext>
            </a:extLst>
          </p:cNvPr>
          <p:cNvSpPr>
            <a:spLocks noGrp="1"/>
          </p:cNvSpPr>
          <p:nvPr>
            <p:ph type="body" sz="quarter" idx="10"/>
          </p:nvPr>
        </p:nvSpPr>
        <p:spPr/>
        <p:txBody>
          <a:bodyPr/>
          <a:lstStyle/>
          <a:p>
            <a:r>
              <a:rPr lang="en-US" dirty="0"/>
              <a:t>Three-Way Handshake</a:t>
            </a:r>
          </a:p>
        </p:txBody>
      </p:sp>
      <p:sp>
        <p:nvSpPr>
          <p:cNvPr id="4" name="Content Placeholder 3">
            <a:extLst>
              <a:ext uri="{FF2B5EF4-FFF2-40B4-BE49-F238E27FC236}">
                <a16:creationId xmlns:a16="http://schemas.microsoft.com/office/drawing/2014/main" id="{20060564-D661-5AF5-B23E-76D5995EC911}"/>
              </a:ext>
            </a:extLst>
          </p:cNvPr>
          <p:cNvSpPr>
            <a:spLocks noGrp="1"/>
          </p:cNvSpPr>
          <p:nvPr>
            <p:ph sz="quarter" idx="11"/>
          </p:nvPr>
        </p:nvSpPr>
        <p:spPr>
          <a:xfrm>
            <a:off x="5078782" y="3260663"/>
            <a:ext cx="13714940" cy="10259394"/>
          </a:xfrm>
        </p:spPr>
        <p:txBody>
          <a:bodyPr>
            <a:noAutofit/>
          </a:bodyPr>
          <a:lstStyle/>
          <a:p>
            <a:pPr algn="just"/>
            <a:r>
              <a:rPr lang="en-US" sz="3200" dirty="0"/>
              <a:t>The three-way handshake is a fundamental process in the establishment of a reliable communication channel between two devices over a network using the Transmission Control Protocol (TCP). It ensures that both the sender and the receiver are ready to exchange data and sets up initial parameters for the TCP connection. The three steps involved in the three-way handshake are:</a:t>
            </a:r>
          </a:p>
          <a:p>
            <a:pPr marL="514350" indent="-514350" algn="just">
              <a:buFont typeface="+mj-lt"/>
              <a:buAutoNum type="arabicPeriod"/>
            </a:pPr>
            <a:r>
              <a:rPr lang="en-US" sz="3200" dirty="0"/>
              <a:t>SYN (Synchronize): The process begins with the sender (Client) initiating a connection by sending a TCP packet with the SYN (synchronize) flag set to the receiver (Server)</a:t>
            </a:r>
          </a:p>
          <a:p>
            <a:pPr marL="514350" indent="-514350" algn="just">
              <a:buFont typeface="+mj-lt"/>
              <a:buAutoNum type="arabicPeriod"/>
            </a:pPr>
            <a:r>
              <a:rPr lang="en-US" sz="3200" dirty="0"/>
              <a:t>SYN-ACK (Synchronize-Acknowledge): Upon receiving the SYN packet, the receiver responds with a TCP packet that has both the SYN and ACK (acknowledge) flags set</a:t>
            </a:r>
          </a:p>
          <a:p>
            <a:pPr marL="514350" indent="-514350" algn="just">
              <a:buFont typeface="+mj-lt"/>
              <a:buAutoNum type="arabicPeriod"/>
            </a:pPr>
            <a:r>
              <a:rPr lang="en-US" sz="3200" dirty="0"/>
              <a:t>ACK (Acknowledge): The sender, upon receiving the SYN-ACK packet, acknowledges the receipt of the acknowledgment (ACK) by sending a TCP packet with the ACK flag set</a:t>
            </a:r>
          </a:p>
          <a:p>
            <a:pPr algn="just"/>
            <a:endParaRPr lang="en-US" sz="3200" dirty="0"/>
          </a:p>
        </p:txBody>
      </p:sp>
    </p:spTree>
    <p:extLst>
      <p:ext uri="{BB962C8B-B14F-4D97-AF65-F5344CB8AC3E}">
        <p14:creationId xmlns:p14="http://schemas.microsoft.com/office/powerpoint/2010/main" val="62277346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C139F-7A6A-A465-80CF-36A1F9D34416}"/>
              </a:ext>
            </a:extLst>
          </p:cNvPr>
          <p:cNvSpPr>
            <a:spLocks noGrp="1"/>
          </p:cNvSpPr>
          <p:nvPr>
            <p:ph type="title"/>
          </p:nvPr>
        </p:nvSpPr>
        <p:spPr/>
        <p:txBody>
          <a:bodyPr>
            <a:normAutofit fontScale="90000"/>
          </a:bodyPr>
          <a:lstStyle/>
          <a:p>
            <a:r>
              <a:rPr lang="en-US" dirty="0"/>
              <a:t>TCP Sessions</a:t>
            </a:r>
          </a:p>
        </p:txBody>
      </p:sp>
      <p:sp>
        <p:nvSpPr>
          <p:cNvPr id="3" name="Text Placeholder 2">
            <a:extLst>
              <a:ext uri="{FF2B5EF4-FFF2-40B4-BE49-F238E27FC236}">
                <a16:creationId xmlns:a16="http://schemas.microsoft.com/office/drawing/2014/main" id="{702CAC2E-6033-7401-5D35-666E51D28B00}"/>
              </a:ext>
            </a:extLst>
          </p:cNvPr>
          <p:cNvSpPr>
            <a:spLocks noGrp="1"/>
          </p:cNvSpPr>
          <p:nvPr>
            <p:ph type="body" sz="quarter" idx="10"/>
          </p:nvPr>
        </p:nvSpPr>
        <p:spPr>
          <a:xfrm>
            <a:off x="2167377" y="2419728"/>
            <a:ext cx="17034493" cy="803546"/>
          </a:xfrm>
        </p:spPr>
        <p:txBody>
          <a:bodyPr>
            <a:normAutofit/>
          </a:bodyPr>
          <a:lstStyle/>
          <a:p>
            <a:r>
              <a:rPr lang="en-US" dirty="0"/>
              <a:t>Acknowledging Receipt of Packets by Using Their Sequence Numbers</a:t>
            </a:r>
          </a:p>
        </p:txBody>
      </p:sp>
      <p:sp>
        <p:nvSpPr>
          <p:cNvPr id="4" name="Content Placeholder 3">
            <a:extLst>
              <a:ext uri="{FF2B5EF4-FFF2-40B4-BE49-F238E27FC236}">
                <a16:creationId xmlns:a16="http://schemas.microsoft.com/office/drawing/2014/main" id="{B2B696D2-34B7-7B42-5B58-3A8C7B7C5224}"/>
              </a:ext>
            </a:extLst>
          </p:cNvPr>
          <p:cNvSpPr>
            <a:spLocks noGrp="1"/>
          </p:cNvSpPr>
          <p:nvPr>
            <p:ph sz="quarter" idx="11"/>
          </p:nvPr>
        </p:nvSpPr>
        <p:spPr>
          <a:xfrm>
            <a:off x="2167377" y="3945900"/>
            <a:ext cx="12463023" cy="7898935"/>
          </a:xfrm>
        </p:spPr>
        <p:txBody>
          <a:bodyPr>
            <a:noAutofit/>
          </a:bodyPr>
          <a:lstStyle/>
          <a:p>
            <a:pPr algn="just"/>
            <a:r>
              <a:rPr lang="en-US" sz="3200" dirty="0"/>
              <a:t>Each TCP packet contains a sequence number, which the receiver uses to acknowledge receipt of each packet and properly order the packets for pre- </a:t>
            </a:r>
            <a:r>
              <a:rPr lang="en-US" sz="3200" dirty="0" err="1"/>
              <a:t>sentation</a:t>
            </a:r>
            <a:r>
              <a:rPr lang="en-US" sz="3200" dirty="0"/>
              <a:t> to your Go application (Figure 3-2).</a:t>
            </a:r>
          </a:p>
          <a:p>
            <a:pPr algn="just"/>
            <a:r>
              <a:rPr lang="en-US" sz="3200" dirty="0"/>
              <a:t>The client’s operating system determines the initial sequence number (X in Figure 3-2) and sends it to the server in the client’s SYN packet during the handshake. </a:t>
            </a:r>
          </a:p>
          <a:p>
            <a:pPr algn="just"/>
            <a:r>
              <a:rPr lang="en-US" sz="3200" dirty="0"/>
              <a:t>The server acknowledges receipt of the packet by including this sequence number in its ACK packet to the client. </a:t>
            </a:r>
          </a:p>
          <a:p>
            <a:pPr algn="just"/>
            <a:r>
              <a:rPr lang="en-US" sz="3200" dirty="0"/>
              <a:t>Likewise, the server shares its generated sequence number Y in its SYN packet to the client. The client replies with its ACK to the server.</a:t>
            </a:r>
          </a:p>
          <a:p>
            <a:pPr algn="just"/>
            <a:r>
              <a:rPr lang="en-US" sz="3200" dirty="0"/>
              <a:t>One ACK packet can acknowledge the receipt of one or more packets from the sender. </a:t>
            </a:r>
          </a:p>
        </p:txBody>
      </p:sp>
      <p:pic>
        <p:nvPicPr>
          <p:cNvPr id="8" name="Picture 7" descr="A diagram of a server exchange&#10;&#10;Description automatically generated">
            <a:extLst>
              <a:ext uri="{FF2B5EF4-FFF2-40B4-BE49-F238E27FC236}">
                <a16:creationId xmlns:a16="http://schemas.microsoft.com/office/drawing/2014/main" id="{C43F50A8-E8DE-8D2C-888E-66980F7DA5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4172" y="5345148"/>
            <a:ext cx="8201856" cy="5100437"/>
          </a:xfrm>
          <a:prstGeom prst="rect">
            <a:avLst/>
          </a:prstGeom>
        </p:spPr>
      </p:pic>
    </p:spTree>
    <p:extLst>
      <p:ext uri="{BB962C8B-B14F-4D97-AF65-F5344CB8AC3E}">
        <p14:creationId xmlns:p14="http://schemas.microsoft.com/office/powerpoint/2010/main" val="280112271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CE1E8-99B6-B02F-941D-CA73B6539EF3}"/>
              </a:ext>
            </a:extLst>
          </p:cNvPr>
          <p:cNvSpPr>
            <a:spLocks noGrp="1"/>
          </p:cNvSpPr>
          <p:nvPr>
            <p:ph type="title"/>
          </p:nvPr>
        </p:nvSpPr>
        <p:spPr/>
        <p:txBody>
          <a:bodyPr>
            <a:normAutofit fontScale="90000"/>
          </a:bodyPr>
          <a:lstStyle/>
          <a:p>
            <a:r>
              <a:rPr lang="en-US" dirty="0"/>
              <a:t>TCP Sessions</a:t>
            </a:r>
          </a:p>
        </p:txBody>
      </p:sp>
      <p:sp>
        <p:nvSpPr>
          <p:cNvPr id="3" name="Text Placeholder 2">
            <a:extLst>
              <a:ext uri="{FF2B5EF4-FFF2-40B4-BE49-F238E27FC236}">
                <a16:creationId xmlns:a16="http://schemas.microsoft.com/office/drawing/2014/main" id="{B57784E3-E785-FBC2-9D9D-70136C280CFE}"/>
              </a:ext>
            </a:extLst>
          </p:cNvPr>
          <p:cNvSpPr>
            <a:spLocks noGrp="1"/>
          </p:cNvSpPr>
          <p:nvPr>
            <p:ph type="body" sz="quarter" idx="10"/>
          </p:nvPr>
        </p:nvSpPr>
        <p:spPr/>
        <p:txBody>
          <a:bodyPr/>
          <a:lstStyle/>
          <a:p>
            <a:r>
              <a:rPr lang="en-US" dirty="0"/>
              <a:t>Receive Buffers and Window Sizes</a:t>
            </a:r>
          </a:p>
        </p:txBody>
      </p:sp>
      <p:sp>
        <p:nvSpPr>
          <p:cNvPr id="4" name="Content Placeholder 3">
            <a:extLst>
              <a:ext uri="{FF2B5EF4-FFF2-40B4-BE49-F238E27FC236}">
                <a16:creationId xmlns:a16="http://schemas.microsoft.com/office/drawing/2014/main" id="{C09D3B1B-1E66-3B0A-20FD-9F518A9907BC}"/>
              </a:ext>
            </a:extLst>
          </p:cNvPr>
          <p:cNvSpPr>
            <a:spLocks noGrp="1"/>
          </p:cNvSpPr>
          <p:nvPr>
            <p:ph sz="quarter" idx="11"/>
          </p:nvPr>
        </p:nvSpPr>
        <p:spPr>
          <a:xfrm>
            <a:off x="5078782" y="3260663"/>
            <a:ext cx="13714940" cy="2350881"/>
          </a:xfrm>
        </p:spPr>
        <p:txBody>
          <a:bodyPr>
            <a:noAutofit/>
          </a:bodyPr>
          <a:lstStyle/>
          <a:p>
            <a:pPr marL="0" indent="0" algn="just">
              <a:buNone/>
            </a:pPr>
            <a:r>
              <a:rPr lang="en-US" sz="3200" dirty="0"/>
              <a:t>In the context of network communication, receive buffers and window sizes are related concepts associated with the Transmission Control Protocol (TCP). These parameters play a crucial role in the efficient and reliable transfer of data between two communicating devices. </a:t>
            </a:r>
          </a:p>
          <a:p>
            <a:pPr marL="0" indent="0" algn="just">
              <a:buNone/>
            </a:pPr>
            <a:endParaRPr lang="en-US" sz="3200" dirty="0"/>
          </a:p>
        </p:txBody>
      </p:sp>
      <p:sp>
        <p:nvSpPr>
          <p:cNvPr id="5" name="TextBox 4">
            <a:extLst>
              <a:ext uri="{FF2B5EF4-FFF2-40B4-BE49-F238E27FC236}">
                <a16:creationId xmlns:a16="http://schemas.microsoft.com/office/drawing/2014/main" id="{D90FBCB3-B432-8AEA-D64E-C53F57D3A0CA}"/>
              </a:ext>
            </a:extLst>
          </p:cNvPr>
          <p:cNvSpPr txBox="1"/>
          <p:nvPr/>
        </p:nvSpPr>
        <p:spPr>
          <a:xfrm>
            <a:off x="3301358" y="5611544"/>
            <a:ext cx="17781284" cy="74892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57200" marR="0" indent="-457200" algn="just" defTabSz="2438338" rtl="0" fontAlgn="auto" latinLnBrk="0" hangingPunct="0">
              <a:lnSpc>
                <a:spcPct val="100000"/>
              </a:lnSpc>
              <a:spcBef>
                <a:spcPts val="0"/>
              </a:spcBef>
              <a:spcAft>
                <a:spcPts val="0"/>
              </a:spcAft>
              <a:buClrTx/>
              <a:buSzTx/>
              <a:buFont typeface="+mj-lt"/>
              <a:buAutoNum type="arabicPeriod"/>
              <a:tabLst/>
            </a:pPr>
            <a:r>
              <a:rPr kumimoji="0" lang="en-US" sz="3000" b="1" i="0" u="none" strike="noStrike" cap="none" spc="0" normalizeH="0" baseline="0" dirty="0">
                <a:ln>
                  <a:noFill/>
                </a:ln>
                <a:solidFill>
                  <a:schemeClr val="bg1"/>
                </a:solidFill>
                <a:effectLst/>
                <a:uFillTx/>
                <a:latin typeface="+mn-lt"/>
                <a:ea typeface="+mn-ea"/>
                <a:cs typeface="+mn-cs"/>
                <a:sym typeface="Helvetica Neue"/>
              </a:rPr>
              <a:t>Receive Buffers: </a:t>
            </a:r>
          </a:p>
          <a:p>
            <a:pPr marR="0" algn="just" defTabSz="2438338" rtl="0" fontAlgn="auto" latinLnBrk="0" hangingPunct="0">
              <a:lnSpc>
                <a:spcPct val="100000"/>
              </a:lnSpc>
              <a:spcBef>
                <a:spcPts val="0"/>
              </a:spcBef>
              <a:spcAft>
                <a:spcPts val="0"/>
              </a:spcAft>
              <a:buClrTx/>
              <a:buSzTx/>
              <a:tabLst/>
            </a:pPr>
            <a:r>
              <a:rPr kumimoji="0" lang="en-US" sz="3000" b="0" i="0" u="none" strike="noStrike" cap="none" spc="0" normalizeH="0" baseline="0" dirty="0">
                <a:ln>
                  <a:noFill/>
                </a:ln>
                <a:solidFill>
                  <a:schemeClr val="bg1"/>
                </a:solidFill>
                <a:effectLst/>
                <a:uFillTx/>
                <a:latin typeface="+mn-lt"/>
                <a:ea typeface="+mn-ea"/>
                <a:cs typeface="+mn-cs"/>
                <a:sym typeface="Helvetica Neue"/>
              </a:rPr>
              <a:t>Receive buffers, also known as receive windows, are memory spaces on the receiving device (such as a computer or server) that temporarily store incoming data before it is processed.</a:t>
            </a:r>
          </a:p>
          <a:p>
            <a:pPr marR="0" algn="just" defTabSz="2438338" rtl="0" fontAlgn="auto" latinLnBrk="0" hangingPunct="0">
              <a:lnSpc>
                <a:spcPct val="100000"/>
              </a:lnSpc>
              <a:spcBef>
                <a:spcPts val="0"/>
              </a:spcBef>
              <a:spcAft>
                <a:spcPts val="0"/>
              </a:spcAft>
              <a:buClrTx/>
              <a:buSzTx/>
              <a:tabLst/>
            </a:pPr>
            <a:endParaRPr kumimoji="0" lang="en-US" sz="3000" b="0" i="0" u="none" strike="noStrike" cap="none" spc="0" normalizeH="0" baseline="0" dirty="0">
              <a:ln>
                <a:noFill/>
              </a:ln>
              <a:solidFill>
                <a:schemeClr val="bg1"/>
              </a:solidFill>
              <a:effectLst/>
              <a:uFillTx/>
              <a:latin typeface="+mn-lt"/>
              <a:ea typeface="+mn-ea"/>
              <a:cs typeface="+mn-cs"/>
              <a:sym typeface="Helvetica Neue"/>
            </a:endParaRPr>
          </a:p>
          <a:p>
            <a:pPr marR="0" algn="just" defTabSz="2438338" rtl="0" fontAlgn="auto" latinLnBrk="0" hangingPunct="0">
              <a:lnSpc>
                <a:spcPct val="100000"/>
              </a:lnSpc>
              <a:spcBef>
                <a:spcPts val="0"/>
              </a:spcBef>
              <a:spcAft>
                <a:spcPts val="0"/>
              </a:spcAft>
              <a:buClrTx/>
              <a:buSzTx/>
              <a:tabLst/>
            </a:pPr>
            <a:r>
              <a:rPr lang="en-US" sz="3000" dirty="0">
                <a:solidFill>
                  <a:schemeClr val="bg1"/>
                </a:solidFill>
              </a:rPr>
              <a:t>Purpose: to smooth out the flow of data and provide a buffer zone for received packets. This helps in handling variations in the rate of incoming data and provides a place for the receiver to store data while it is being processed or before being delivered to the application layer.\</a:t>
            </a:r>
            <a:endParaRPr kumimoji="0" lang="en-US" sz="3000" b="0" i="0" u="none" strike="noStrike" cap="none" spc="0" normalizeH="0" baseline="0" dirty="0">
              <a:ln>
                <a:noFill/>
              </a:ln>
              <a:solidFill>
                <a:schemeClr val="bg1"/>
              </a:solidFill>
              <a:effectLst/>
              <a:uFillTx/>
              <a:latin typeface="+mn-lt"/>
              <a:ea typeface="+mn-ea"/>
              <a:cs typeface="+mn-cs"/>
              <a:sym typeface="Helvetica Neue"/>
            </a:endParaRPr>
          </a:p>
          <a:p>
            <a:pPr marL="457200" marR="0" indent="-457200" algn="just" defTabSz="2438338" rtl="0" fontAlgn="auto" latinLnBrk="0" hangingPunct="0">
              <a:lnSpc>
                <a:spcPct val="100000"/>
              </a:lnSpc>
              <a:spcBef>
                <a:spcPts val="0"/>
              </a:spcBef>
              <a:spcAft>
                <a:spcPts val="0"/>
              </a:spcAft>
              <a:buClrTx/>
              <a:buSzTx/>
              <a:buFont typeface="+mj-lt"/>
              <a:buAutoNum type="arabicPeriod"/>
              <a:tabLst/>
            </a:pPr>
            <a:endParaRPr kumimoji="0" lang="en-US" sz="3000" b="0" i="0" u="none" strike="noStrike" cap="none" spc="0" normalizeH="0" baseline="0" dirty="0">
              <a:ln>
                <a:noFill/>
              </a:ln>
              <a:solidFill>
                <a:schemeClr val="bg1"/>
              </a:solidFill>
              <a:effectLst/>
              <a:uFillTx/>
              <a:latin typeface="+mn-lt"/>
              <a:ea typeface="+mn-ea"/>
              <a:cs typeface="+mn-cs"/>
              <a:sym typeface="Helvetica Neue"/>
            </a:endParaRPr>
          </a:p>
          <a:p>
            <a:pPr marL="514350" marR="0" indent="-514350" algn="just" defTabSz="2438338" rtl="0" fontAlgn="auto" latinLnBrk="0" hangingPunct="0">
              <a:lnSpc>
                <a:spcPct val="100000"/>
              </a:lnSpc>
              <a:spcBef>
                <a:spcPts val="0"/>
              </a:spcBef>
              <a:spcAft>
                <a:spcPts val="0"/>
              </a:spcAft>
              <a:buClrTx/>
              <a:buSzTx/>
              <a:buFont typeface="+mj-lt"/>
              <a:buAutoNum type="arabicPeriod" startAt="2"/>
              <a:tabLst/>
            </a:pPr>
            <a:r>
              <a:rPr kumimoji="0" lang="en-US" sz="3000" b="1" i="0" u="none" strike="noStrike" cap="none" spc="0" normalizeH="0" baseline="0" dirty="0">
                <a:ln>
                  <a:noFill/>
                </a:ln>
                <a:solidFill>
                  <a:schemeClr val="bg1"/>
                </a:solidFill>
                <a:effectLst/>
                <a:uFillTx/>
                <a:latin typeface="+mn-lt"/>
                <a:ea typeface="+mn-ea"/>
                <a:cs typeface="+mn-cs"/>
                <a:sym typeface="Helvetica Neue"/>
              </a:rPr>
              <a:t>Window Sizes:</a:t>
            </a:r>
          </a:p>
          <a:p>
            <a:pPr marR="0" algn="just" defTabSz="2438338" rtl="0" fontAlgn="auto" latinLnBrk="0" hangingPunct="0">
              <a:lnSpc>
                <a:spcPct val="100000"/>
              </a:lnSpc>
              <a:spcBef>
                <a:spcPts val="0"/>
              </a:spcBef>
              <a:spcAft>
                <a:spcPts val="0"/>
              </a:spcAft>
              <a:buClrTx/>
              <a:buSzTx/>
              <a:tabLst/>
            </a:pPr>
            <a:r>
              <a:rPr kumimoji="0" lang="en-US" sz="3000" b="0" i="0" u="none" strike="noStrike" cap="none" spc="0" normalizeH="0" baseline="0" dirty="0">
                <a:ln>
                  <a:noFill/>
                </a:ln>
                <a:solidFill>
                  <a:schemeClr val="bg1"/>
                </a:solidFill>
                <a:effectLst/>
                <a:uFillTx/>
                <a:latin typeface="+mn-lt"/>
                <a:ea typeface="+mn-ea"/>
                <a:cs typeface="+mn-cs"/>
                <a:sym typeface="Helvetica Neue"/>
              </a:rPr>
              <a:t>n TCP, the window size refers to the amount of data (in bytes) that a sender can transmit before receiving an acknowledgment from the receiver.</a:t>
            </a:r>
            <a:endParaRPr lang="en-US" sz="3000" dirty="0">
              <a:solidFill>
                <a:schemeClr val="bg1"/>
              </a:solidFill>
            </a:endParaRPr>
          </a:p>
          <a:p>
            <a:pPr marR="0" algn="just" defTabSz="2438338" rtl="0" fontAlgn="auto" latinLnBrk="0" hangingPunct="0">
              <a:lnSpc>
                <a:spcPct val="100000"/>
              </a:lnSpc>
              <a:spcBef>
                <a:spcPts val="0"/>
              </a:spcBef>
              <a:spcAft>
                <a:spcPts val="0"/>
              </a:spcAft>
              <a:buClrTx/>
              <a:buSzTx/>
              <a:tabLst/>
            </a:pPr>
            <a:endParaRPr kumimoji="0" lang="en-US" sz="3000" b="0" i="0" u="none" strike="noStrike" cap="none" spc="0" normalizeH="0" baseline="0" dirty="0">
              <a:ln>
                <a:noFill/>
              </a:ln>
              <a:solidFill>
                <a:schemeClr val="bg1"/>
              </a:solidFill>
              <a:effectLst/>
              <a:uFillTx/>
              <a:latin typeface="+mn-lt"/>
              <a:ea typeface="+mn-ea"/>
              <a:cs typeface="+mn-cs"/>
              <a:sym typeface="Helvetica Neue"/>
            </a:endParaRPr>
          </a:p>
          <a:p>
            <a:pPr marR="0" algn="just" defTabSz="2438338" rtl="0" fontAlgn="auto" latinLnBrk="0" hangingPunct="0">
              <a:lnSpc>
                <a:spcPct val="100000"/>
              </a:lnSpc>
              <a:spcBef>
                <a:spcPts val="0"/>
              </a:spcBef>
              <a:spcAft>
                <a:spcPts val="0"/>
              </a:spcAft>
              <a:buClrTx/>
              <a:buSzTx/>
              <a:tabLst/>
            </a:pPr>
            <a:r>
              <a:rPr lang="en-US" sz="3000" dirty="0">
                <a:solidFill>
                  <a:schemeClr val="bg1"/>
                </a:solidFill>
              </a:rPr>
              <a:t>Purpose: he window size is a flow control mechanism that helps regulate the rate of data transmission and prevent network congestion. It allows the sender to adjust the amount of unacknowledged data it can have in flight at any given time, optimizing the usage of the network bandwidth.</a:t>
            </a:r>
            <a:endParaRPr kumimoji="0" lang="en-US" sz="3000" b="0" i="0" u="none" strike="noStrike" cap="none" spc="0" normalizeH="0" baseline="0" dirty="0">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196028098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82D68-79B3-3642-A43D-E7F83AFC9D4C}"/>
              </a:ext>
            </a:extLst>
          </p:cNvPr>
          <p:cNvSpPr>
            <a:spLocks noGrp="1"/>
          </p:cNvSpPr>
          <p:nvPr>
            <p:ph type="title"/>
          </p:nvPr>
        </p:nvSpPr>
        <p:spPr/>
        <p:txBody>
          <a:bodyPr>
            <a:normAutofit fontScale="90000"/>
          </a:bodyPr>
          <a:lstStyle/>
          <a:p>
            <a:r>
              <a:rPr lang="en-US" dirty="0"/>
              <a:t>TCP Sessions</a:t>
            </a:r>
          </a:p>
        </p:txBody>
      </p:sp>
      <p:sp>
        <p:nvSpPr>
          <p:cNvPr id="3" name="Text Placeholder 2">
            <a:extLst>
              <a:ext uri="{FF2B5EF4-FFF2-40B4-BE49-F238E27FC236}">
                <a16:creationId xmlns:a16="http://schemas.microsoft.com/office/drawing/2014/main" id="{2EE91264-5B41-2705-802E-4A6156D9827F}"/>
              </a:ext>
            </a:extLst>
          </p:cNvPr>
          <p:cNvSpPr>
            <a:spLocks noGrp="1"/>
          </p:cNvSpPr>
          <p:nvPr>
            <p:ph type="body" sz="quarter" idx="10"/>
          </p:nvPr>
        </p:nvSpPr>
        <p:spPr/>
        <p:txBody>
          <a:bodyPr/>
          <a:lstStyle/>
          <a:p>
            <a:r>
              <a:rPr lang="en-US" dirty="0"/>
              <a:t>Receive Buffers and Window Sizes</a:t>
            </a:r>
          </a:p>
          <a:p>
            <a:endParaRPr lang="en-US" dirty="0"/>
          </a:p>
        </p:txBody>
      </p:sp>
      <p:pic>
        <p:nvPicPr>
          <p:cNvPr id="6" name="Content Placeholder 5" descr="A diagram of data processing&#10;&#10;Description automatically generated">
            <a:extLst>
              <a:ext uri="{FF2B5EF4-FFF2-40B4-BE49-F238E27FC236}">
                <a16:creationId xmlns:a16="http://schemas.microsoft.com/office/drawing/2014/main" id="{663E76FD-D93C-1688-EA65-66F4C6CCFD9E}"/>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11936252" y="5319975"/>
            <a:ext cx="10931284" cy="5756025"/>
          </a:xfrm>
        </p:spPr>
      </p:pic>
      <p:sp>
        <p:nvSpPr>
          <p:cNvPr id="7" name="TextBox 6">
            <a:extLst>
              <a:ext uri="{FF2B5EF4-FFF2-40B4-BE49-F238E27FC236}">
                <a16:creationId xmlns:a16="http://schemas.microsoft.com/office/drawing/2014/main" id="{0CBDA5EE-4992-1274-360C-2B992FF649C4}"/>
              </a:ext>
            </a:extLst>
          </p:cNvPr>
          <p:cNvSpPr txBox="1"/>
          <p:nvPr/>
        </p:nvSpPr>
        <p:spPr>
          <a:xfrm>
            <a:off x="2167377" y="5099704"/>
            <a:ext cx="9015398" cy="61965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2438338"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chemeClr val="bg1"/>
                </a:solidFill>
                <a:effectLst/>
                <a:uFillTx/>
                <a:latin typeface="+mn-lt"/>
                <a:ea typeface="+mn-ea"/>
                <a:cs typeface="+mn-cs"/>
                <a:sym typeface="Helvetica Neue"/>
              </a:rPr>
              <a:t>Both the client and the server keep track of each other’s window size and do their best to completely fill each other’s receive buffers. This method of receiving the window size in an ACK packet, sending data, receiving an updated window size in the next ACK, and then sending more data—is known as a sliding window, as shown in Figure 3-3. Each side of the </a:t>
            </a:r>
            <a:r>
              <a:rPr kumimoji="0" lang="en-US" sz="3600" b="0" i="0" u="none" strike="noStrike" cap="none" spc="0" normalizeH="0" baseline="0" dirty="0" err="1">
                <a:ln>
                  <a:noFill/>
                </a:ln>
                <a:solidFill>
                  <a:schemeClr val="bg1"/>
                </a:solidFill>
                <a:effectLst/>
                <a:uFillTx/>
                <a:latin typeface="+mn-lt"/>
                <a:ea typeface="+mn-ea"/>
                <a:cs typeface="+mn-cs"/>
                <a:sym typeface="Helvetica Neue"/>
              </a:rPr>
              <a:t>connec</a:t>
            </a:r>
            <a:r>
              <a:rPr kumimoji="0" lang="en-US" sz="3600" b="0" i="0" u="none" strike="noStrike" cap="none" spc="0" normalizeH="0" baseline="0" dirty="0">
                <a:ln>
                  <a:noFill/>
                </a:ln>
                <a:solidFill>
                  <a:schemeClr val="bg1"/>
                </a:solidFill>
                <a:effectLst/>
                <a:uFillTx/>
                <a:latin typeface="+mn-lt"/>
                <a:ea typeface="+mn-ea"/>
                <a:cs typeface="+mn-cs"/>
                <a:sym typeface="Helvetica Neue"/>
              </a:rPr>
              <a:t>- </a:t>
            </a:r>
            <a:r>
              <a:rPr kumimoji="0" lang="en-US" sz="3600" b="0" i="0" u="none" strike="noStrike" cap="none" spc="0" normalizeH="0" baseline="0" dirty="0" err="1">
                <a:ln>
                  <a:noFill/>
                </a:ln>
                <a:solidFill>
                  <a:schemeClr val="bg1"/>
                </a:solidFill>
                <a:effectLst/>
                <a:uFillTx/>
                <a:latin typeface="+mn-lt"/>
                <a:ea typeface="+mn-ea"/>
                <a:cs typeface="+mn-cs"/>
                <a:sym typeface="Helvetica Neue"/>
              </a:rPr>
              <a:t>tion</a:t>
            </a:r>
            <a:r>
              <a:rPr kumimoji="0" lang="en-US" sz="3600" b="0" i="0" u="none" strike="noStrike" cap="none" spc="0" normalizeH="0" baseline="0" dirty="0">
                <a:ln>
                  <a:noFill/>
                </a:ln>
                <a:solidFill>
                  <a:schemeClr val="bg1"/>
                </a:solidFill>
                <a:effectLst/>
                <a:uFillTx/>
                <a:latin typeface="+mn-lt"/>
                <a:ea typeface="+mn-ea"/>
                <a:cs typeface="+mn-cs"/>
                <a:sym typeface="Helvetica Neue"/>
              </a:rPr>
              <a:t> offers up a window of data that can it can receive at any one time.</a:t>
            </a:r>
          </a:p>
        </p:txBody>
      </p:sp>
    </p:spTree>
    <p:extLst>
      <p:ext uri="{BB962C8B-B14F-4D97-AF65-F5344CB8AC3E}">
        <p14:creationId xmlns:p14="http://schemas.microsoft.com/office/powerpoint/2010/main" val="100116402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3ED47-1E62-2444-73D7-BFFCD10A3282}"/>
              </a:ext>
            </a:extLst>
          </p:cNvPr>
          <p:cNvSpPr>
            <a:spLocks noGrp="1"/>
          </p:cNvSpPr>
          <p:nvPr>
            <p:ph type="title"/>
          </p:nvPr>
        </p:nvSpPr>
        <p:spPr/>
        <p:txBody>
          <a:bodyPr>
            <a:normAutofit fontScale="90000"/>
          </a:bodyPr>
          <a:lstStyle/>
          <a:p>
            <a:r>
              <a:rPr lang="en-US" dirty="0"/>
              <a:t>TCP Sessions</a:t>
            </a:r>
          </a:p>
        </p:txBody>
      </p:sp>
      <p:sp>
        <p:nvSpPr>
          <p:cNvPr id="3" name="Text Placeholder 2">
            <a:extLst>
              <a:ext uri="{FF2B5EF4-FFF2-40B4-BE49-F238E27FC236}">
                <a16:creationId xmlns:a16="http://schemas.microsoft.com/office/drawing/2014/main" id="{F08A7B64-C264-5C5A-E8EA-85ECBF477FE5}"/>
              </a:ext>
            </a:extLst>
          </p:cNvPr>
          <p:cNvSpPr>
            <a:spLocks noGrp="1"/>
          </p:cNvSpPr>
          <p:nvPr>
            <p:ph type="body" sz="quarter" idx="10"/>
          </p:nvPr>
        </p:nvSpPr>
        <p:spPr/>
        <p:txBody>
          <a:bodyPr/>
          <a:lstStyle/>
          <a:p>
            <a:r>
              <a:rPr lang="en-US" dirty="0"/>
              <a:t>Gracefully Terminating TCP Sessions</a:t>
            </a:r>
          </a:p>
        </p:txBody>
      </p:sp>
      <p:sp>
        <p:nvSpPr>
          <p:cNvPr id="4" name="Content Placeholder 3">
            <a:extLst>
              <a:ext uri="{FF2B5EF4-FFF2-40B4-BE49-F238E27FC236}">
                <a16:creationId xmlns:a16="http://schemas.microsoft.com/office/drawing/2014/main" id="{E0F6A96C-4B55-AC4F-59CD-0F726BFC7229}"/>
              </a:ext>
            </a:extLst>
          </p:cNvPr>
          <p:cNvSpPr>
            <a:spLocks noGrp="1"/>
          </p:cNvSpPr>
          <p:nvPr>
            <p:ph sz="quarter" idx="11"/>
          </p:nvPr>
        </p:nvSpPr>
        <p:spPr>
          <a:xfrm>
            <a:off x="5334530" y="3260663"/>
            <a:ext cx="13714940" cy="4522264"/>
          </a:xfrm>
        </p:spPr>
        <p:txBody>
          <a:bodyPr>
            <a:noAutofit/>
          </a:bodyPr>
          <a:lstStyle/>
          <a:p>
            <a:pPr algn="just"/>
            <a:r>
              <a:rPr lang="en-US" sz="3200" dirty="0"/>
              <a:t>Gracefully terminating a TCP (Transmission Control Protocol) session involves following a set of procedures to ensure that both the client and server can conclude their communication in an orderly manner. </a:t>
            </a:r>
          </a:p>
          <a:p>
            <a:pPr algn="just"/>
            <a:r>
              <a:rPr lang="en-US" sz="3200" dirty="0"/>
              <a:t>The process typically includes a series of steps to signal the intent to close the connection, exchange acknowledgment messages, and allow for any remaining data to be transmitted before finalizing the termination.</a:t>
            </a:r>
          </a:p>
          <a:p>
            <a:pPr algn="just"/>
            <a:r>
              <a:rPr lang="en-US" sz="3200" dirty="0"/>
              <a:t> The steps involved in a graceful TCP session termination are:</a:t>
            </a:r>
          </a:p>
          <a:p>
            <a:pPr marL="514350" indent="-514350" algn="just">
              <a:buFont typeface="+mj-lt"/>
              <a:buAutoNum type="arabicPeriod"/>
            </a:pPr>
            <a:r>
              <a:rPr lang="en-US" sz="3200" dirty="0"/>
              <a:t>Application Layer Close</a:t>
            </a:r>
          </a:p>
          <a:p>
            <a:pPr marL="514350" indent="-514350" algn="just">
              <a:buFont typeface="+mj-lt"/>
              <a:buAutoNum type="arabicPeriod"/>
            </a:pPr>
            <a:r>
              <a:rPr lang="en-US" sz="3200" dirty="0"/>
              <a:t>TCP FIN (Finish) Flags</a:t>
            </a:r>
          </a:p>
          <a:p>
            <a:pPr marL="514350" indent="-514350" algn="just">
              <a:buFont typeface="+mj-lt"/>
              <a:buAutoNum type="arabicPeriod"/>
            </a:pPr>
            <a:r>
              <a:rPr lang="en-US" sz="3200" dirty="0"/>
              <a:t>Acknowledgment (ACK)</a:t>
            </a:r>
          </a:p>
          <a:p>
            <a:pPr marL="514350" indent="-514350" algn="just">
              <a:buFont typeface="+mj-lt"/>
              <a:buAutoNum type="arabicPeriod"/>
            </a:pPr>
            <a:endParaRPr lang="en-US" sz="3200" dirty="0"/>
          </a:p>
        </p:txBody>
      </p:sp>
      <p:sp>
        <p:nvSpPr>
          <p:cNvPr id="5" name="TextBox 4">
            <a:extLst>
              <a:ext uri="{FF2B5EF4-FFF2-40B4-BE49-F238E27FC236}">
                <a16:creationId xmlns:a16="http://schemas.microsoft.com/office/drawing/2014/main" id="{237F8EB8-32DF-1E03-4528-3869DBAD50EB}"/>
              </a:ext>
            </a:extLst>
          </p:cNvPr>
          <p:cNvSpPr txBox="1"/>
          <p:nvPr/>
        </p:nvSpPr>
        <p:spPr>
          <a:xfrm>
            <a:off x="11637184" y="8970803"/>
            <a:ext cx="7412286" cy="25648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514350" indent="-514350" algn="just">
              <a:buFont typeface="+mj-lt"/>
              <a:buAutoNum type="arabicPeriod" startAt="4"/>
            </a:pPr>
            <a:r>
              <a:rPr lang="en-US" sz="3200" dirty="0">
                <a:solidFill>
                  <a:schemeClr val="bg1"/>
                </a:solidFill>
                <a:latin typeface="Open Sans" panose="020B0606030504020204" pitchFamily="34" charset="0"/>
                <a:ea typeface="Open Sans" panose="020B0606030504020204" pitchFamily="34" charset="0"/>
                <a:cs typeface="Open Sans" panose="020B0606030504020204" pitchFamily="34" charset="0"/>
              </a:rPr>
              <a:t>Data Exchange in </a:t>
            </a:r>
            <a:r>
              <a:rPr lang="en-US" sz="32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Hald</a:t>
            </a:r>
            <a:r>
              <a:rPr lang="en-US" sz="3200" dirty="0">
                <a:solidFill>
                  <a:schemeClr val="bg1"/>
                </a:solidFill>
                <a:latin typeface="Open Sans" panose="020B0606030504020204" pitchFamily="34" charset="0"/>
                <a:ea typeface="Open Sans" panose="020B0606030504020204" pitchFamily="34" charset="0"/>
                <a:cs typeface="Open Sans" panose="020B0606030504020204" pitchFamily="34" charset="0"/>
              </a:rPr>
              <a:t>-Closed State</a:t>
            </a:r>
          </a:p>
          <a:p>
            <a:pPr marL="514350" indent="-514350" algn="just">
              <a:buFont typeface="+mj-lt"/>
              <a:buAutoNum type="arabicPeriod" startAt="4"/>
            </a:pPr>
            <a:endParaRPr lang="en-US" sz="3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marL="514350" indent="-514350" algn="just">
              <a:buFont typeface="+mj-lt"/>
              <a:buAutoNum type="arabicPeriod" startAt="4"/>
            </a:pPr>
            <a:r>
              <a:rPr lang="en-US" sz="3200" dirty="0">
                <a:solidFill>
                  <a:schemeClr val="bg1"/>
                </a:solidFill>
                <a:latin typeface="Open Sans" panose="020B0606030504020204" pitchFamily="34" charset="0"/>
                <a:ea typeface="Open Sans" panose="020B0606030504020204" pitchFamily="34" charset="0"/>
                <a:cs typeface="Open Sans" panose="020B0606030504020204" pitchFamily="34" charset="0"/>
              </a:rPr>
              <a:t>Second FIN and ACK</a:t>
            </a:r>
          </a:p>
          <a:p>
            <a:pPr marL="514350" indent="-514350" algn="just">
              <a:buFont typeface="+mj-lt"/>
              <a:buAutoNum type="arabicPeriod" startAt="4"/>
            </a:pPr>
            <a:endParaRPr lang="en-US" sz="3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p>
            <a:pPr marL="514350" indent="-514350" algn="just">
              <a:buFont typeface="+mj-lt"/>
              <a:buAutoNum type="arabicPeriod" startAt="4"/>
            </a:pPr>
            <a:r>
              <a:rPr lang="en-US" sz="3200" dirty="0">
                <a:solidFill>
                  <a:schemeClr val="bg1"/>
                </a:solidFill>
                <a:latin typeface="Open Sans" panose="020B0606030504020204" pitchFamily="34" charset="0"/>
                <a:ea typeface="Open Sans" panose="020B0606030504020204" pitchFamily="34" charset="0"/>
                <a:cs typeface="Open Sans" panose="020B0606030504020204" pitchFamily="34" charset="0"/>
              </a:rPr>
              <a:t>Final ACK</a:t>
            </a:r>
            <a:endParaRPr kumimoji="0" lang="en-US" sz="3200" b="0" i="0" u="none" strike="noStrike" cap="none" spc="0" normalizeH="0" baseline="0" dirty="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endParaRPr>
          </a:p>
        </p:txBody>
      </p:sp>
    </p:spTree>
    <p:extLst>
      <p:ext uri="{BB962C8B-B14F-4D97-AF65-F5344CB8AC3E}">
        <p14:creationId xmlns:p14="http://schemas.microsoft.com/office/powerpoint/2010/main" val="226965649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9FA6A-C689-EF78-4F3B-6E430675E4D4}"/>
              </a:ext>
            </a:extLst>
          </p:cNvPr>
          <p:cNvSpPr>
            <a:spLocks noGrp="1"/>
          </p:cNvSpPr>
          <p:nvPr>
            <p:ph type="title"/>
          </p:nvPr>
        </p:nvSpPr>
        <p:spPr/>
        <p:txBody>
          <a:bodyPr>
            <a:normAutofit fontScale="90000"/>
          </a:bodyPr>
          <a:lstStyle/>
          <a:p>
            <a:r>
              <a:rPr lang="en-US" dirty="0"/>
              <a:t>TCP Sessions</a:t>
            </a:r>
          </a:p>
        </p:txBody>
      </p:sp>
      <p:sp>
        <p:nvSpPr>
          <p:cNvPr id="3" name="Text Placeholder 2">
            <a:extLst>
              <a:ext uri="{FF2B5EF4-FFF2-40B4-BE49-F238E27FC236}">
                <a16:creationId xmlns:a16="http://schemas.microsoft.com/office/drawing/2014/main" id="{F6228642-FAAE-8339-4F38-12D9E9FA8A19}"/>
              </a:ext>
            </a:extLst>
          </p:cNvPr>
          <p:cNvSpPr>
            <a:spLocks noGrp="1"/>
          </p:cNvSpPr>
          <p:nvPr>
            <p:ph type="body" sz="quarter" idx="10"/>
          </p:nvPr>
        </p:nvSpPr>
        <p:spPr/>
        <p:txBody>
          <a:bodyPr/>
          <a:lstStyle/>
          <a:p>
            <a:r>
              <a:rPr lang="en-US" dirty="0"/>
              <a:t>Gracefully Terminating TCP Sessions</a:t>
            </a:r>
          </a:p>
          <a:p>
            <a:endParaRPr lang="en-US" dirty="0"/>
          </a:p>
        </p:txBody>
      </p:sp>
      <p:pic>
        <p:nvPicPr>
          <p:cNvPr id="12" name="Content Placeholder 11" descr="A diagram of a server&#10;&#10;Description automatically generated">
            <a:extLst>
              <a:ext uri="{FF2B5EF4-FFF2-40B4-BE49-F238E27FC236}">
                <a16:creationId xmlns:a16="http://schemas.microsoft.com/office/drawing/2014/main" id="{DFB762D0-C018-AD0D-B5FD-0A47295E4952}"/>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6019416" y="4127915"/>
            <a:ext cx="12345168" cy="8434165"/>
          </a:xfrm>
        </p:spPr>
      </p:pic>
    </p:spTree>
    <p:extLst>
      <p:ext uri="{BB962C8B-B14F-4D97-AF65-F5344CB8AC3E}">
        <p14:creationId xmlns:p14="http://schemas.microsoft.com/office/powerpoint/2010/main" val="246824827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683E20-3E92-DD52-C661-C10C6224C635}"/>
              </a:ext>
            </a:extLst>
          </p:cNvPr>
          <p:cNvSpPr>
            <a:spLocks noGrp="1"/>
          </p:cNvSpPr>
          <p:nvPr>
            <p:ph type="title"/>
          </p:nvPr>
        </p:nvSpPr>
        <p:spPr/>
        <p:txBody>
          <a:bodyPr/>
          <a:lstStyle/>
          <a:p>
            <a:r>
              <a:rPr lang="en-ID" sz="9600" dirty="0"/>
              <a:t>Establish TCP with Go Library</a:t>
            </a:r>
          </a:p>
        </p:txBody>
      </p:sp>
    </p:spTree>
    <p:extLst>
      <p:ext uri="{BB962C8B-B14F-4D97-AF65-F5344CB8AC3E}">
        <p14:creationId xmlns:p14="http://schemas.microsoft.com/office/powerpoint/2010/main" val="51458303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E6CCF-CEAF-1F03-FBE1-DEA115107AF6}"/>
              </a:ext>
            </a:extLst>
          </p:cNvPr>
          <p:cNvSpPr>
            <a:spLocks noGrp="1"/>
          </p:cNvSpPr>
          <p:nvPr>
            <p:ph type="title"/>
          </p:nvPr>
        </p:nvSpPr>
        <p:spPr/>
        <p:txBody>
          <a:bodyPr>
            <a:normAutofit fontScale="90000"/>
          </a:bodyPr>
          <a:lstStyle/>
          <a:p>
            <a:r>
              <a:rPr lang="en-US" dirty="0"/>
              <a:t>Establish TCP</a:t>
            </a:r>
          </a:p>
        </p:txBody>
      </p:sp>
      <p:sp>
        <p:nvSpPr>
          <p:cNvPr id="3" name="Text Placeholder 2">
            <a:extLst>
              <a:ext uri="{FF2B5EF4-FFF2-40B4-BE49-F238E27FC236}">
                <a16:creationId xmlns:a16="http://schemas.microsoft.com/office/drawing/2014/main" id="{92192E13-367E-3A34-2BAA-266F0CB7B6FB}"/>
              </a:ext>
            </a:extLst>
          </p:cNvPr>
          <p:cNvSpPr>
            <a:spLocks noGrp="1"/>
          </p:cNvSpPr>
          <p:nvPr>
            <p:ph type="body" sz="quarter" idx="10"/>
          </p:nvPr>
        </p:nvSpPr>
        <p:spPr/>
        <p:txBody>
          <a:bodyPr>
            <a:normAutofit fontScale="92500" lnSpcReduction="20000"/>
          </a:bodyPr>
          <a:lstStyle/>
          <a:p>
            <a:r>
              <a:rPr lang="en-US" dirty="0"/>
              <a:t>Establishing a TCP Connection by Using Go’s Standard Library</a:t>
            </a:r>
          </a:p>
        </p:txBody>
      </p:sp>
      <p:sp>
        <p:nvSpPr>
          <p:cNvPr id="4" name="Content Placeholder 3">
            <a:extLst>
              <a:ext uri="{FF2B5EF4-FFF2-40B4-BE49-F238E27FC236}">
                <a16:creationId xmlns:a16="http://schemas.microsoft.com/office/drawing/2014/main" id="{87768F4C-9C8B-3796-F4AD-3CB033722F89}"/>
              </a:ext>
            </a:extLst>
          </p:cNvPr>
          <p:cNvSpPr>
            <a:spLocks noGrp="1"/>
          </p:cNvSpPr>
          <p:nvPr>
            <p:ph sz="quarter" idx="11"/>
          </p:nvPr>
        </p:nvSpPr>
        <p:spPr>
          <a:xfrm>
            <a:off x="5334530" y="4596868"/>
            <a:ext cx="13714940" cy="4522264"/>
          </a:xfrm>
        </p:spPr>
        <p:txBody>
          <a:bodyPr>
            <a:noAutofit/>
          </a:bodyPr>
          <a:lstStyle/>
          <a:p>
            <a:pPr algn="just"/>
            <a:r>
              <a:rPr lang="en-US" sz="3200" dirty="0"/>
              <a:t>The net package in Go’s standard library includes good support for creating TCP-based servers and clients capable of connecting to those servers. </a:t>
            </a:r>
          </a:p>
          <a:p>
            <a:pPr algn="just"/>
            <a:r>
              <a:rPr lang="en-US" sz="3200" dirty="0"/>
              <a:t>Even so, it’s your responsibility to make sure you handle the connection appropriately. </a:t>
            </a:r>
          </a:p>
          <a:p>
            <a:pPr algn="just"/>
            <a:r>
              <a:rPr lang="en-US" sz="3200" dirty="0"/>
              <a:t>Your software should be attentive to incoming data and always strive to gracefully shut down the connection. Let’s write a TCP server that can listen for incoming TCP connections, initiate connections from a client, accept and asynchronously handle each connection, exchange data, and terminate the connection.</a:t>
            </a:r>
          </a:p>
        </p:txBody>
      </p:sp>
    </p:spTree>
    <p:extLst>
      <p:ext uri="{BB962C8B-B14F-4D97-AF65-F5344CB8AC3E}">
        <p14:creationId xmlns:p14="http://schemas.microsoft.com/office/powerpoint/2010/main" val="407912107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E6CCF-CEAF-1F03-FBE1-DEA115107AF6}"/>
              </a:ext>
            </a:extLst>
          </p:cNvPr>
          <p:cNvSpPr>
            <a:spLocks noGrp="1"/>
          </p:cNvSpPr>
          <p:nvPr>
            <p:ph type="title"/>
          </p:nvPr>
        </p:nvSpPr>
        <p:spPr/>
        <p:txBody>
          <a:bodyPr>
            <a:normAutofit fontScale="90000"/>
          </a:bodyPr>
          <a:lstStyle/>
          <a:p>
            <a:r>
              <a:rPr lang="en-US" dirty="0"/>
              <a:t>Establish TCP</a:t>
            </a:r>
          </a:p>
        </p:txBody>
      </p:sp>
      <p:sp>
        <p:nvSpPr>
          <p:cNvPr id="3" name="Text Placeholder 2">
            <a:extLst>
              <a:ext uri="{FF2B5EF4-FFF2-40B4-BE49-F238E27FC236}">
                <a16:creationId xmlns:a16="http://schemas.microsoft.com/office/drawing/2014/main" id="{92192E13-367E-3A34-2BAA-266F0CB7B6FB}"/>
              </a:ext>
            </a:extLst>
          </p:cNvPr>
          <p:cNvSpPr>
            <a:spLocks noGrp="1"/>
          </p:cNvSpPr>
          <p:nvPr>
            <p:ph type="body" sz="quarter" idx="10"/>
          </p:nvPr>
        </p:nvSpPr>
        <p:spPr/>
        <p:txBody>
          <a:bodyPr>
            <a:normAutofit fontScale="92500" lnSpcReduction="20000"/>
          </a:bodyPr>
          <a:lstStyle/>
          <a:p>
            <a:r>
              <a:rPr lang="en-US" dirty="0"/>
              <a:t>Binding, Listening for, and Accepting Connections</a:t>
            </a:r>
          </a:p>
        </p:txBody>
      </p:sp>
      <p:sp>
        <p:nvSpPr>
          <p:cNvPr id="4" name="Content Placeholder 3">
            <a:extLst>
              <a:ext uri="{FF2B5EF4-FFF2-40B4-BE49-F238E27FC236}">
                <a16:creationId xmlns:a16="http://schemas.microsoft.com/office/drawing/2014/main" id="{87768F4C-9C8B-3796-F4AD-3CB033722F89}"/>
              </a:ext>
            </a:extLst>
          </p:cNvPr>
          <p:cNvSpPr>
            <a:spLocks noGrp="1"/>
          </p:cNvSpPr>
          <p:nvPr>
            <p:ph sz="quarter" idx="11"/>
          </p:nvPr>
        </p:nvSpPr>
        <p:spPr>
          <a:xfrm>
            <a:off x="5334530" y="3969734"/>
            <a:ext cx="13714940" cy="4522264"/>
          </a:xfrm>
        </p:spPr>
        <p:txBody>
          <a:bodyPr>
            <a:noAutofit/>
          </a:bodyPr>
          <a:lstStyle/>
          <a:p>
            <a:pPr marL="0" indent="0" algn="just">
              <a:buNone/>
            </a:pPr>
            <a:r>
              <a:rPr lang="en-US" sz="3200" dirty="0"/>
              <a:t>To create a TCP server capable of listening for incoming connections (called a listener), use the </a:t>
            </a:r>
            <a:r>
              <a:rPr lang="en-US" sz="3200" dirty="0" err="1"/>
              <a:t>net.Listen</a:t>
            </a:r>
            <a:r>
              <a:rPr lang="en-US" sz="3200" dirty="0"/>
              <a:t> function. This function will return an object that implements the </a:t>
            </a:r>
            <a:r>
              <a:rPr lang="en-US" sz="3200" dirty="0" err="1"/>
              <a:t>net.Listener</a:t>
            </a:r>
            <a:r>
              <a:rPr lang="en-US" sz="3200" dirty="0"/>
              <a:t> interface. Listing 3-1 shows the creation of a listener.</a:t>
            </a:r>
          </a:p>
          <a:p>
            <a:pPr marL="0" indent="0" algn="just">
              <a:buNone/>
            </a:pPr>
            <a:r>
              <a:rPr lang="en-US" sz="3200" dirty="0"/>
              <a:t>Binding means that the operating system has exclusively assigned the port on the given IP address to the listener.</a:t>
            </a:r>
          </a:p>
        </p:txBody>
      </p:sp>
      <p:pic>
        <p:nvPicPr>
          <p:cNvPr id="6" name="Picture 5" descr="A computer code with black text&#10;&#10;Description automatically generated">
            <a:extLst>
              <a:ext uri="{FF2B5EF4-FFF2-40B4-BE49-F238E27FC236}">
                <a16:creationId xmlns:a16="http://schemas.microsoft.com/office/drawing/2014/main" id="{E0048653-FC82-628B-E21F-CADDC6F208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0092" y="7990114"/>
            <a:ext cx="9032319" cy="5486400"/>
          </a:xfrm>
          <a:prstGeom prst="rect">
            <a:avLst/>
          </a:prstGeom>
        </p:spPr>
      </p:pic>
    </p:spTree>
    <p:extLst>
      <p:ext uri="{BB962C8B-B14F-4D97-AF65-F5344CB8AC3E}">
        <p14:creationId xmlns:p14="http://schemas.microsoft.com/office/powerpoint/2010/main" val="61292742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E6CCF-CEAF-1F03-FBE1-DEA115107AF6}"/>
              </a:ext>
            </a:extLst>
          </p:cNvPr>
          <p:cNvSpPr>
            <a:spLocks noGrp="1"/>
          </p:cNvSpPr>
          <p:nvPr>
            <p:ph type="title"/>
          </p:nvPr>
        </p:nvSpPr>
        <p:spPr/>
        <p:txBody>
          <a:bodyPr>
            <a:normAutofit fontScale="90000"/>
          </a:bodyPr>
          <a:lstStyle/>
          <a:p>
            <a:r>
              <a:rPr lang="en-US" dirty="0"/>
              <a:t>Establish TCP</a:t>
            </a:r>
          </a:p>
        </p:txBody>
      </p:sp>
      <p:sp>
        <p:nvSpPr>
          <p:cNvPr id="3" name="Text Placeholder 2">
            <a:extLst>
              <a:ext uri="{FF2B5EF4-FFF2-40B4-BE49-F238E27FC236}">
                <a16:creationId xmlns:a16="http://schemas.microsoft.com/office/drawing/2014/main" id="{92192E13-367E-3A34-2BAA-266F0CB7B6FB}"/>
              </a:ext>
            </a:extLst>
          </p:cNvPr>
          <p:cNvSpPr>
            <a:spLocks noGrp="1"/>
          </p:cNvSpPr>
          <p:nvPr>
            <p:ph type="body" sz="quarter" idx="10"/>
          </p:nvPr>
        </p:nvSpPr>
        <p:spPr/>
        <p:txBody>
          <a:bodyPr>
            <a:normAutofit fontScale="92500" lnSpcReduction="20000"/>
          </a:bodyPr>
          <a:lstStyle/>
          <a:p>
            <a:r>
              <a:rPr lang="en-US" dirty="0"/>
              <a:t>Binding, Listening for, and Accepting Connections</a:t>
            </a:r>
          </a:p>
        </p:txBody>
      </p:sp>
      <p:sp>
        <p:nvSpPr>
          <p:cNvPr id="4" name="Content Placeholder 3">
            <a:extLst>
              <a:ext uri="{FF2B5EF4-FFF2-40B4-BE49-F238E27FC236}">
                <a16:creationId xmlns:a16="http://schemas.microsoft.com/office/drawing/2014/main" id="{87768F4C-9C8B-3796-F4AD-3CB033722F89}"/>
              </a:ext>
            </a:extLst>
          </p:cNvPr>
          <p:cNvSpPr>
            <a:spLocks noGrp="1"/>
          </p:cNvSpPr>
          <p:nvPr>
            <p:ph sz="quarter" idx="11"/>
          </p:nvPr>
        </p:nvSpPr>
        <p:spPr>
          <a:xfrm>
            <a:off x="5334530" y="3969734"/>
            <a:ext cx="13714940" cy="4522264"/>
          </a:xfrm>
        </p:spPr>
        <p:txBody>
          <a:bodyPr>
            <a:noAutofit/>
          </a:bodyPr>
          <a:lstStyle/>
          <a:p>
            <a:pPr marL="0" indent="0" algn="just">
              <a:buNone/>
            </a:pPr>
            <a:r>
              <a:rPr lang="en-US" sz="3200" dirty="0"/>
              <a:t>You should always be diligent about closing your listener gracefully by calling its Close method 4, often in a defer if it makes sense for your code. Granted, this is a test case, and Go will tear down the listener when the test completes, but it’s good practice nonetheless. Failure to close the listener may lead to memory leaks or deadlocks in your code, because calls to the listener’s Accept method may block indefinitely. Closing the listener </a:t>
            </a:r>
            <a:r>
              <a:rPr lang="en-US" sz="3200" dirty="0" err="1"/>
              <a:t>immedi</a:t>
            </a:r>
            <a:r>
              <a:rPr lang="en-US" sz="3200" dirty="0"/>
              <a:t>- </a:t>
            </a:r>
            <a:r>
              <a:rPr lang="en-US" sz="3200" dirty="0" err="1"/>
              <a:t>ately</a:t>
            </a:r>
            <a:r>
              <a:rPr lang="en-US" sz="3200" dirty="0"/>
              <a:t> unblocks calls to the Accept method.</a:t>
            </a:r>
          </a:p>
          <a:p>
            <a:pPr marL="0" indent="0" algn="just">
              <a:buNone/>
            </a:pPr>
            <a:r>
              <a:rPr lang="en-US" sz="3200" dirty="0"/>
              <a:t>Listing 3-2 demonstrates how a listener can accept incoming TCP connections.</a:t>
            </a:r>
          </a:p>
        </p:txBody>
      </p:sp>
      <p:pic>
        <p:nvPicPr>
          <p:cNvPr id="7" name="Picture 6" descr="A computer code with black text&#10;&#10;Description automatically generated">
            <a:extLst>
              <a:ext uri="{FF2B5EF4-FFF2-40B4-BE49-F238E27FC236}">
                <a16:creationId xmlns:a16="http://schemas.microsoft.com/office/drawing/2014/main" id="{936EB54E-BB8E-0722-29EA-3746AD96B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5587" y="9057501"/>
            <a:ext cx="9061330" cy="4477542"/>
          </a:xfrm>
          <a:prstGeom prst="rect">
            <a:avLst/>
          </a:prstGeom>
        </p:spPr>
      </p:pic>
    </p:spTree>
    <p:extLst>
      <p:ext uri="{BB962C8B-B14F-4D97-AF65-F5344CB8AC3E}">
        <p14:creationId xmlns:p14="http://schemas.microsoft.com/office/powerpoint/2010/main" val="252867056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E6CCF-CEAF-1F03-FBE1-DEA115107AF6}"/>
              </a:ext>
            </a:extLst>
          </p:cNvPr>
          <p:cNvSpPr>
            <a:spLocks noGrp="1"/>
          </p:cNvSpPr>
          <p:nvPr>
            <p:ph type="title"/>
          </p:nvPr>
        </p:nvSpPr>
        <p:spPr/>
        <p:txBody>
          <a:bodyPr>
            <a:normAutofit fontScale="90000"/>
          </a:bodyPr>
          <a:lstStyle/>
          <a:p>
            <a:r>
              <a:rPr lang="en-US" dirty="0"/>
              <a:t>Establish TCP</a:t>
            </a:r>
          </a:p>
        </p:txBody>
      </p:sp>
      <p:sp>
        <p:nvSpPr>
          <p:cNvPr id="3" name="Text Placeholder 2">
            <a:extLst>
              <a:ext uri="{FF2B5EF4-FFF2-40B4-BE49-F238E27FC236}">
                <a16:creationId xmlns:a16="http://schemas.microsoft.com/office/drawing/2014/main" id="{92192E13-367E-3A34-2BAA-266F0CB7B6FB}"/>
              </a:ext>
            </a:extLst>
          </p:cNvPr>
          <p:cNvSpPr>
            <a:spLocks noGrp="1"/>
          </p:cNvSpPr>
          <p:nvPr>
            <p:ph type="body" sz="quarter" idx="10"/>
          </p:nvPr>
        </p:nvSpPr>
        <p:spPr/>
        <p:txBody>
          <a:bodyPr>
            <a:normAutofit/>
          </a:bodyPr>
          <a:lstStyle/>
          <a:p>
            <a:r>
              <a:rPr lang="en-US" dirty="0"/>
              <a:t>Establishing a Connection with a Server</a:t>
            </a:r>
          </a:p>
        </p:txBody>
      </p:sp>
      <p:sp>
        <p:nvSpPr>
          <p:cNvPr id="4" name="Content Placeholder 3">
            <a:extLst>
              <a:ext uri="{FF2B5EF4-FFF2-40B4-BE49-F238E27FC236}">
                <a16:creationId xmlns:a16="http://schemas.microsoft.com/office/drawing/2014/main" id="{87768F4C-9C8B-3796-F4AD-3CB033722F89}"/>
              </a:ext>
            </a:extLst>
          </p:cNvPr>
          <p:cNvSpPr>
            <a:spLocks noGrp="1"/>
          </p:cNvSpPr>
          <p:nvPr>
            <p:ph sz="quarter" idx="11"/>
          </p:nvPr>
        </p:nvSpPr>
        <p:spPr>
          <a:xfrm>
            <a:off x="1993206" y="3969734"/>
            <a:ext cx="7217374" cy="7484236"/>
          </a:xfrm>
        </p:spPr>
        <p:txBody>
          <a:bodyPr>
            <a:noAutofit/>
          </a:bodyPr>
          <a:lstStyle/>
          <a:p>
            <a:pPr marL="0" indent="0" algn="just">
              <a:buNone/>
            </a:pPr>
            <a:r>
              <a:rPr lang="en-US" sz="3200" dirty="0"/>
              <a:t>From the client’s side, Go’s standard library net package makes reaching out and establishing a connection with a server a simple matter. Listing 3-3 isa test that demonstrates the process of initiating a TCP connection with a server listening to 127.0.0.1 on a random port.</a:t>
            </a:r>
          </a:p>
          <a:p>
            <a:pPr marL="0" indent="0" algn="just">
              <a:buNone/>
            </a:pPr>
            <a:r>
              <a:rPr lang="en-US" sz="3200" dirty="0"/>
              <a:t>You start by creating a listener on the IP address 127.0.0.1, which the client will connect to. You omit the port number altogether, so Go will ran- </a:t>
            </a:r>
            <a:r>
              <a:rPr lang="en-US" sz="3200" dirty="0" err="1"/>
              <a:t>domly</a:t>
            </a:r>
            <a:r>
              <a:rPr lang="en-US" sz="3200" dirty="0"/>
              <a:t> pick an available port for you.</a:t>
            </a:r>
          </a:p>
        </p:txBody>
      </p:sp>
      <p:pic>
        <p:nvPicPr>
          <p:cNvPr id="6" name="Picture 5" descr="A screenshot of a computer code&#10;&#10;Description automatically generated">
            <a:extLst>
              <a:ext uri="{FF2B5EF4-FFF2-40B4-BE49-F238E27FC236}">
                <a16:creationId xmlns:a16="http://schemas.microsoft.com/office/drawing/2014/main" id="{3C9AD190-24C0-1541-CAC4-405F1A00F9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3198" y="3969734"/>
            <a:ext cx="7217375" cy="7484236"/>
          </a:xfrm>
          <a:prstGeom prst="rect">
            <a:avLst/>
          </a:prstGeom>
        </p:spPr>
      </p:pic>
      <p:pic>
        <p:nvPicPr>
          <p:cNvPr id="9" name="Picture 8" descr="A screenshot of a computer code&#10;&#10;Description automatically generated">
            <a:extLst>
              <a:ext uri="{FF2B5EF4-FFF2-40B4-BE49-F238E27FC236}">
                <a16:creationId xmlns:a16="http://schemas.microsoft.com/office/drawing/2014/main" id="{8B07D275-9C00-E24C-7DF4-133A774B65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96603" y="3969734"/>
            <a:ext cx="6612013" cy="7484236"/>
          </a:xfrm>
          <a:prstGeom prst="rect">
            <a:avLst/>
          </a:prstGeom>
        </p:spPr>
      </p:pic>
    </p:spTree>
    <p:extLst>
      <p:ext uri="{BB962C8B-B14F-4D97-AF65-F5344CB8AC3E}">
        <p14:creationId xmlns:p14="http://schemas.microsoft.com/office/powerpoint/2010/main" val="70215305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C294-9DFB-4F93-9B96-A70432466BF7}"/>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9EA721AC-E3DF-22B1-8422-76608B997B94}"/>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DFC3A658-0629-8224-9928-EE85A4D909BC}"/>
              </a:ext>
            </a:extLst>
          </p:cNvPr>
          <p:cNvSpPr>
            <a:spLocks noGrp="1"/>
          </p:cNvSpPr>
          <p:nvPr>
            <p:ph sz="quarter" idx="11"/>
          </p:nvPr>
        </p:nvSpPr>
        <p:spPr>
          <a:xfrm>
            <a:off x="5334530" y="4596868"/>
            <a:ext cx="13714940" cy="4522264"/>
          </a:xfrm>
        </p:spPr>
        <p:txBody>
          <a:bodyPr>
            <a:noAutofit/>
          </a:bodyPr>
          <a:lstStyle/>
          <a:p>
            <a:pPr algn="just"/>
            <a:r>
              <a:rPr lang="en-US" sz="3200" dirty="0"/>
              <a:t>Adam </a:t>
            </a:r>
            <a:r>
              <a:rPr lang="en-US" sz="3200" dirty="0" err="1"/>
              <a:t>Woodbeck</a:t>
            </a:r>
            <a:r>
              <a:rPr lang="en-US" sz="3200" dirty="0"/>
              <a:t> - Network Programming with Go_ Learn to Code Secure and Reliable Network Services from Scratch-No Starch Press (2021).</a:t>
            </a:r>
          </a:p>
          <a:p>
            <a:pPr algn="just"/>
            <a:r>
              <a:rPr lang="en-US" sz="3200" dirty="0">
                <a:hlinkClick r:id="rId2"/>
              </a:rPr>
              <a:t>https://www.fortinet.com/resources/cyberglossary/tcp-ip#:~:text=What%20is%20TCP%3F,exchange%20messages%20over%20a%20network</a:t>
            </a:r>
            <a:r>
              <a:rPr lang="en-US" sz="3200" dirty="0"/>
              <a:t>.</a:t>
            </a:r>
          </a:p>
          <a:p>
            <a:pPr algn="just"/>
            <a:r>
              <a:rPr lang="en-US" sz="3200" dirty="0">
                <a:hlinkClick r:id="rId3"/>
              </a:rPr>
              <a:t>https://www.juniper.net/documentation/us/en/software/junos/flow-packet-processing/topics/topic-map/security-tcp-session-checks.html</a:t>
            </a:r>
            <a:endParaRPr lang="en-US" sz="320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Tree>
    <p:extLst>
      <p:ext uri="{BB962C8B-B14F-4D97-AF65-F5344CB8AC3E}">
        <p14:creationId xmlns:p14="http://schemas.microsoft.com/office/powerpoint/2010/main" val="288738976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9622</TotalTime>
  <Words>1749</Words>
  <Application>Microsoft Macintosh PowerPoint</Application>
  <PresentationFormat>Custom</PresentationFormat>
  <Paragraphs>97</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Tahoma</vt:lpstr>
      <vt:lpstr>Open Sans ExtraBold</vt:lpstr>
      <vt:lpstr>Arial</vt:lpstr>
      <vt:lpstr>NewBaskervilleStd</vt:lpstr>
      <vt:lpstr>OCRB</vt:lpstr>
      <vt:lpstr>Open Sans Semibold</vt:lpstr>
      <vt:lpstr>Open Sans</vt:lpstr>
      <vt:lpstr>Open Sans Light</vt:lpstr>
      <vt:lpstr>21_BasicWhite</vt:lpstr>
      <vt:lpstr>Reliable TCP Data Stream  Session 03</vt:lpstr>
      <vt:lpstr>Learning Objectives</vt:lpstr>
      <vt:lpstr>Outline</vt:lpstr>
      <vt:lpstr>Transmission control protocol (TCP)</vt:lpstr>
      <vt:lpstr>Transmission control protocol (TCP)</vt:lpstr>
      <vt:lpstr>Establish TCP Session</vt:lpstr>
      <vt:lpstr>Transmission control protocol (TCP)</vt:lpstr>
      <vt:lpstr>TCP Sessions </vt:lpstr>
      <vt:lpstr>TCP Sessions</vt:lpstr>
      <vt:lpstr>TCP Sessions</vt:lpstr>
      <vt:lpstr>TCP Sessions</vt:lpstr>
      <vt:lpstr>TCP Sessions</vt:lpstr>
      <vt:lpstr>TCP Sessions</vt:lpstr>
      <vt:lpstr>Establish TCP with Go Library</vt:lpstr>
      <vt:lpstr>Establish TCP</vt:lpstr>
      <vt:lpstr>Establish TCP</vt:lpstr>
      <vt:lpstr>Establish TCP</vt:lpstr>
      <vt:lpstr>Establish TCP</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IVAN SEBASTIAN EDBERT</cp:lastModifiedBy>
  <cp:revision>22</cp:revision>
  <dcterms:created xsi:type="dcterms:W3CDTF">2023-06-28T08:14:57Z</dcterms:created>
  <dcterms:modified xsi:type="dcterms:W3CDTF">2023-12-15T10:02:36Z</dcterms:modified>
</cp:coreProperties>
</file>