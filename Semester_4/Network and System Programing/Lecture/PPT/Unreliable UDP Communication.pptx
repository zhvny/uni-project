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sldIdLst>
    <p:sldId id="256" r:id="rId2"/>
    <p:sldId id="278" r:id="rId3"/>
    <p:sldId id="257" r:id="rId4"/>
    <p:sldId id="310" r:id="rId5"/>
    <p:sldId id="311" r:id="rId6"/>
    <p:sldId id="319" r:id="rId7"/>
    <p:sldId id="312" r:id="rId8"/>
    <p:sldId id="313" r:id="rId9"/>
    <p:sldId id="314" r:id="rId10"/>
    <p:sldId id="315" r:id="rId11"/>
    <p:sldId id="317" r:id="rId12"/>
    <p:sldId id="318" r:id="rId13"/>
    <p:sldId id="320" r:id="rId14"/>
    <p:sldId id="321" r:id="rId15"/>
    <p:sldId id="322" r:id="rId16"/>
    <p:sldId id="300" r:id="rId17"/>
    <p:sldId id="296" r:id="rId18"/>
  </p:sldIdLst>
  <p:sldSz cx="24384000" cy="13716000"/>
  <p:notesSz cx="6858000" cy="9144000"/>
  <p:embeddedFontLst>
    <p:embeddedFont>
      <p:font typeface="OCRB" panose="020B0609020202020204" pitchFamily="49" charset="77"/>
      <p:regular r:id="rId20"/>
    </p:embeddedFont>
    <p:embeddedFont>
      <p:font typeface="Open Sans" panose="020B0606030504020204" pitchFamily="34" charset="0"/>
      <p:regular r:id="rId21"/>
      <p:bold r:id="rId22"/>
      <p:italic r:id="rId23"/>
      <p:boldItalic r:id="rId24"/>
    </p:embeddedFont>
    <p:embeddedFont>
      <p:font typeface="Open Sans ExtraBold" panose="020B0606030504020204" pitchFamily="34" charset="0"/>
      <p:bold r:id="rId25"/>
      <p:italic r:id="rId26"/>
      <p:boldItalic r:id="rId27"/>
    </p:embeddedFont>
    <p:embeddedFont>
      <p:font typeface="Open Sans Light" panose="020B0306030504020204" pitchFamily="34" charset="0"/>
      <p:regular r:id="rId28"/>
      <p:italic r:id="rId29"/>
    </p:embeddedFont>
    <p:embeddedFont>
      <p:font typeface="Open Sans Semibold" panose="020B0606030504020204" pitchFamily="34" charset="0"/>
      <p:regular r:id="rId30"/>
      <p:bold r:id="rId31"/>
      <p:italic r:id="rId32"/>
      <p:boldItalic r:id="rId33"/>
    </p:embeddedFont>
    <p:embeddedFont>
      <p:font typeface="Tahoma" panose="020B0604030504040204" pitchFamily="34" charset="0"/>
      <p:regular r:id="rId34"/>
      <p:bold r:id="rId3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A98F73-72B5-1C4E-97BB-2F290632E4A8}" v="32" dt="2023-12-18T12:28:10.40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1" autoAdjust="0"/>
    <p:restoredTop sz="94767"/>
  </p:normalViewPr>
  <p:slideViewPr>
    <p:cSldViewPr snapToGrid="0" snapToObjects="1">
      <p:cViewPr varScale="1">
        <p:scale>
          <a:sx n="41" d="100"/>
          <a:sy n="41" d="100"/>
        </p:scale>
        <p:origin x="1376" y="21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ableStyles" Target="tableStyles.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hyperlink" Target="https://www.cloudflare.com/learning/ddos/glossary/user-datagram-protocol-udp/#:~:text=The%20User%20Datagram%20Protocol%2C%20or,connection%20before%20data%20is%20transferred" TargetMode="Externa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sz="8900" dirty="0"/>
              <a:t>Unreliable UDP Communication</a:t>
            </a:r>
            <a:br>
              <a:rPr lang="en-US" dirty="0"/>
            </a:br>
            <a:br>
              <a:rPr lang="en-US" dirty="0"/>
            </a:br>
            <a:r>
              <a:rPr lang="en-US" sz="6000" dirty="0"/>
              <a:t>Session 05</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the concept of sending and receiving UDP Data</a:t>
            </a:r>
          </a:p>
          <a:p>
            <a:endParaRPr lang="en-ID" sz="3200" dirty="0"/>
          </a:p>
          <a:p>
            <a:r>
              <a:rPr lang="en-ID" sz="3200" dirty="0"/>
              <a:t>Able to avoid fragmentation</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Using UDP</a:t>
            </a:r>
          </a:p>
          <a:p>
            <a:r>
              <a:rPr lang="en-ID" sz="3200" dirty="0"/>
              <a:t>Sending and Receiving UDP Data</a:t>
            </a:r>
          </a:p>
          <a:p>
            <a:r>
              <a:rPr lang="en-ID" sz="3200" dirty="0"/>
              <a:t>Avoiding Fragmentation</a:t>
            </a:r>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Using UDP: Simple and reliable</a:t>
            </a:r>
          </a:p>
        </p:txBody>
      </p:sp>
    </p:spTree>
    <p:extLst>
      <p:ext uri="{BB962C8B-B14F-4D97-AF65-F5344CB8AC3E}">
        <p14:creationId xmlns:p14="http://schemas.microsoft.com/office/powerpoint/2010/main" val="51458303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C6586-9F37-7D79-AB21-89D3E4BB6661}"/>
              </a:ext>
            </a:extLst>
          </p:cNvPr>
          <p:cNvSpPr>
            <a:spLocks noGrp="1"/>
          </p:cNvSpPr>
          <p:nvPr>
            <p:ph type="title"/>
          </p:nvPr>
        </p:nvSpPr>
        <p:spPr/>
        <p:txBody>
          <a:bodyPr>
            <a:normAutofit fontScale="90000"/>
          </a:bodyPr>
          <a:lstStyle/>
          <a:p>
            <a:r>
              <a:rPr lang="en-US" dirty="0"/>
              <a:t>User Datagram protocol (UDP)</a:t>
            </a:r>
          </a:p>
        </p:txBody>
      </p:sp>
      <p:sp>
        <p:nvSpPr>
          <p:cNvPr id="3" name="Text Placeholder 2">
            <a:extLst>
              <a:ext uri="{FF2B5EF4-FFF2-40B4-BE49-F238E27FC236}">
                <a16:creationId xmlns:a16="http://schemas.microsoft.com/office/drawing/2014/main" id="{65CA538E-FFE1-1728-520B-D816ABA9DB5E}"/>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E1F56EA2-0F19-FAAE-73ED-553DF6234783}"/>
              </a:ext>
            </a:extLst>
          </p:cNvPr>
          <p:cNvSpPr>
            <a:spLocks noGrp="1"/>
          </p:cNvSpPr>
          <p:nvPr>
            <p:ph sz="quarter" idx="11"/>
          </p:nvPr>
        </p:nvSpPr>
        <p:spPr>
          <a:xfrm>
            <a:off x="2167377" y="3260662"/>
            <a:ext cx="19952394" cy="10215851"/>
          </a:xfrm>
        </p:spPr>
        <p:txBody>
          <a:bodyPr>
            <a:normAutofit/>
          </a:bodyPr>
          <a:lstStyle/>
          <a:p>
            <a:pPr algn="just"/>
            <a:r>
              <a:rPr lang="en-US" sz="3200" dirty="0"/>
              <a:t>The User Datagram Protocol, or UDP, is a communication protocol used across the Internet for especially time-sensitive transmissions such as video playback or DNS lookups. </a:t>
            </a:r>
          </a:p>
          <a:p>
            <a:pPr algn="just"/>
            <a:r>
              <a:rPr lang="en-US" sz="3200" dirty="0"/>
              <a:t>It speeds up communications by not formally establishing a connection before data is transferred. This allows data to be transferred very quickly, but it can also cause packets to become lost in transit — and create opportunities for exploitation in the form of DDoS attacks.</a:t>
            </a:r>
          </a:p>
          <a:p>
            <a:pPr algn="just"/>
            <a:r>
              <a:rPr lang="en-US" sz="3200" dirty="0"/>
              <a:t>How does UDP Work?</a:t>
            </a:r>
          </a:p>
          <a:p>
            <a:pPr algn="just">
              <a:buFont typeface="Wingdings" pitchFamily="2" charset="2"/>
              <a:buChar char="à"/>
            </a:pPr>
            <a:r>
              <a:rPr lang="en-US" sz="3200" dirty="0">
                <a:sym typeface="Wingdings" pitchFamily="2" charset="2"/>
              </a:rPr>
              <a:t>UDP is a standardized method for transferring data between two computers in a network. </a:t>
            </a:r>
          </a:p>
          <a:p>
            <a:pPr algn="just">
              <a:buFont typeface="Wingdings" pitchFamily="2" charset="2"/>
              <a:buChar char="à"/>
            </a:pPr>
            <a:r>
              <a:rPr lang="en-US" sz="3200" dirty="0">
                <a:sym typeface="Wingdings" pitchFamily="2" charset="2"/>
              </a:rPr>
              <a:t>Compared to other protocols, UDP accomplishes this process in a simple fashion: it sends packets (units of data transmission) directly to a target computer, without establishing a connection first, indicating the order of said packets, or checking whether they arrived as intended. (UDP packets are referred to as ‘datagrams’.)</a:t>
            </a:r>
            <a:endParaRPr lang="en-US" sz="3200" dirty="0"/>
          </a:p>
        </p:txBody>
      </p:sp>
    </p:spTree>
    <p:extLst>
      <p:ext uri="{BB962C8B-B14F-4D97-AF65-F5344CB8AC3E}">
        <p14:creationId xmlns:p14="http://schemas.microsoft.com/office/powerpoint/2010/main" val="210880569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Sending and Receiving UDP Data</a:t>
            </a:r>
          </a:p>
        </p:txBody>
      </p:sp>
    </p:spTree>
    <p:extLst>
      <p:ext uri="{BB962C8B-B14F-4D97-AF65-F5344CB8AC3E}">
        <p14:creationId xmlns:p14="http://schemas.microsoft.com/office/powerpoint/2010/main" val="401001577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663A4-DE49-CF85-E3BC-6DB8DE9313D5}"/>
              </a:ext>
            </a:extLst>
          </p:cNvPr>
          <p:cNvSpPr>
            <a:spLocks noGrp="1"/>
          </p:cNvSpPr>
          <p:nvPr>
            <p:ph type="title"/>
          </p:nvPr>
        </p:nvSpPr>
        <p:spPr/>
        <p:txBody>
          <a:bodyPr>
            <a:normAutofit fontScale="90000"/>
          </a:bodyPr>
          <a:lstStyle/>
          <a:p>
            <a:r>
              <a:rPr lang="en-US" dirty="0"/>
              <a:t>TCP Vs UDP</a:t>
            </a:r>
          </a:p>
        </p:txBody>
      </p:sp>
      <p:sp>
        <p:nvSpPr>
          <p:cNvPr id="3" name="Text Placeholder 2">
            <a:extLst>
              <a:ext uri="{FF2B5EF4-FFF2-40B4-BE49-F238E27FC236}">
                <a16:creationId xmlns:a16="http://schemas.microsoft.com/office/drawing/2014/main" id="{2734BB58-1967-B3E5-710E-5C777E28E0A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1AC6694-1B49-4928-2090-3BCEC672FBF9}"/>
              </a:ext>
            </a:extLst>
          </p:cNvPr>
          <p:cNvSpPr>
            <a:spLocks noGrp="1"/>
          </p:cNvSpPr>
          <p:nvPr>
            <p:ph sz="quarter" idx="11"/>
          </p:nvPr>
        </p:nvSpPr>
        <p:spPr>
          <a:xfrm>
            <a:off x="2167376" y="3260663"/>
            <a:ext cx="20148337" cy="9061966"/>
          </a:xfrm>
        </p:spPr>
        <p:txBody>
          <a:bodyPr>
            <a:normAutofit/>
          </a:bodyPr>
          <a:lstStyle/>
          <a:p>
            <a:r>
              <a:rPr lang="en-US" sz="3200" dirty="0"/>
              <a:t>UDP is faster but less reliable than TCP, another common transport protocol. In a TCP communication, the two computers begin by establishing a connection via an automated process called a ‘handshake.’ Only once this handshake has been completed will one computer actually transfer data packets to the other.</a:t>
            </a:r>
          </a:p>
          <a:p>
            <a:r>
              <a:rPr lang="en-US" sz="3200" dirty="0"/>
              <a:t>UDP communications do not go through this process. Instead, one computer can simply begin sending data to the other:</a:t>
            </a:r>
          </a:p>
        </p:txBody>
      </p:sp>
      <p:pic>
        <p:nvPicPr>
          <p:cNvPr id="6" name="Picture 5" descr="A screenshot of a computer&#10;&#10;Description automatically generated">
            <a:extLst>
              <a:ext uri="{FF2B5EF4-FFF2-40B4-BE49-F238E27FC236}">
                <a16:creationId xmlns:a16="http://schemas.microsoft.com/office/drawing/2014/main" id="{402452F8-A8D3-0D11-47DF-2F48EA202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0366" y="6535057"/>
            <a:ext cx="12911772" cy="4761215"/>
          </a:xfrm>
          <a:prstGeom prst="rect">
            <a:avLst/>
          </a:prstGeom>
        </p:spPr>
      </p:pic>
      <p:sp>
        <p:nvSpPr>
          <p:cNvPr id="7" name="TextBox 6">
            <a:extLst>
              <a:ext uri="{FF2B5EF4-FFF2-40B4-BE49-F238E27FC236}">
                <a16:creationId xmlns:a16="http://schemas.microsoft.com/office/drawing/2014/main" id="{B6974828-F512-236C-4521-BEA647C149D9}"/>
              </a:ext>
            </a:extLst>
          </p:cNvPr>
          <p:cNvSpPr txBox="1"/>
          <p:nvPr/>
        </p:nvSpPr>
        <p:spPr>
          <a:xfrm>
            <a:off x="2167376" y="11621033"/>
            <a:ext cx="20148337"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1"/>
                </a:solidFill>
                <a:effectLst/>
                <a:uFillTx/>
                <a:latin typeface="+mn-lt"/>
                <a:ea typeface="+mn-ea"/>
                <a:cs typeface="+mn-cs"/>
                <a:sym typeface="Helvetica Neue"/>
              </a:rPr>
              <a:t>In addition, TCP communications indicate the order in which data packets should be received and confirm that packets arrive as intended. If a packet does not arrive — e.g. due to congestion in intermediary networks — TCP requires that it be re-sent. UDP communications do not include any of this functionality.</a:t>
            </a:r>
          </a:p>
        </p:txBody>
      </p:sp>
    </p:spTree>
    <p:extLst>
      <p:ext uri="{BB962C8B-B14F-4D97-AF65-F5344CB8AC3E}">
        <p14:creationId xmlns:p14="http://schemas.microsoft.com/office/powerpoint/2010/main" val="397854302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663A4-DE49-CF85-E3BC-6DB8DE9313D5}"/>
              </a:ext>
            </a:extLst>
          </p:cNvPr>
          <p:cNvSpPr>
            <a:spLocks noGrp="1"/>
          </p:cNvSpPr>
          <p:nvPr>
            <p:ph type="title"/>
          </p:nvPr>
        </p:nvSpPr>
        <p:spPr/>
        <p:txBody>
          <a:bodyPr>
            <a:normAutofit fontScale="90000"/>
          </a:bodyPr>
          <a:lstStyle/>
          <a:p>
            <a:r>
              <a:rPr lang="en-US" dirty="0"/>
              <a:t>TCP Vs UDP</a:t>
            </a:r>
          </a:p>
        </p:txBody>
      </p:sp>
      <p:sp>
        <p:nvSpPr>
          <p:cNvPr id="3" name="Text Placeholder 2">
            <a:extLst>
              <a:ext uri="{FF2B5EF4-FFF2-40B4-BE49-F238E27FC236}">
                <a16:creationId xmlns:a16="http://schemas.microsoft.com/office/drawing/2014/main" id="{2734BB58-1967-B3E5-710E-5C777E28E0A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1AC6694-1B49-4928-2090-3BCEC672FBF9}"/>
              </a:ext>
            </a:extLst>
          </p:cNvPr>
          <p:cNvSpPr>
            <a:spLocks noGrp="1"/>
          </p:cNvSpPr>
          <p:nvPr>
            <p:ph sz="quarter" idx="11"/>
          </p:nvPr>
        </p:nvSpPr>
        <p:spPr>
          <a:xfrm>
            <a:off x="2167376" y="3260663"/>
            <a:ext cx="20148337" cy="9061966"/>
          </a:xfrm>
        </p:spPr>
        <p:txBody>
          <a:bodyPr>
            <a:normAutofit/>
          </a:bodyPr>
          <a:lstStyle/>
          <a:p>
            <a:r>
              <a:rPr lang="en-US" sz="3200" dirty="0"/>
              <a:t>These differences create some advantages. Because UDP does not require a ‘handshake’ or check whether data arrives properly, it is able to transfer data much faster than TCP.</a:t>
            </a:r>
          </a:p>
          <a:p>
            <a:endParaRPr lang="en-US" sz="3200" dirty="0"/>
          </a:p>
          <a:p>
            <a:r>
              <a:rPr lang="en-US" sz="3200" dirty="0"/>
              <a:t>However, this speed creates tradeoffs. If a UDP datagram is lost in transit, it will not be re-sent. As a result, applications that use UDP must be able to tolerate errors, loss, and duplication.</a:t>
            </a:r>
          </a:p>
          <a:p>
            <a:endParaRPr lang="en-US" sz="3200" dirty="0"/>
          </a:p>
          <a:p>
            <a:r>
              <a:rPr lang="en-US" sz="3200" dirty="0"/>
              <a:t>(Technically, such packet loss is less a flaw in UDP than a consequence of how the Internet is built. Most network routers do not perform packet ordering and arrival confirmation by design, because doing so would require an unfeasible amount of additional memory. TCP is a way of filling this gap when an application requires it.)</a:t>
            </a:r>
          </a:p>
        </p:txBody>
      </p:sp>
    </p:spTree>
    <p:extLst>
      <p:ext uri="{BB962C8B-B14F-4D97-AF65-F5344CB8AC3E}">
        <p14:creationId xmlns:p14="http://schemas.microsoft.com/office/powerpoint/2010/main" val="140126043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4AF6B-70DF-CDF6-5049-8A15360935D7}"/>
              </a:ext>
            </a:extLst>
          </p:cNvPr>
          <p:cNvSpPr>
            <a:spLocks noGrp="1"/>
          </p:cNvSpPr>
          <p:nvPr>
            <p:ph type="title"/>
          </p:nvPr>
        </p:nvSpPr>
        <p:spPr/>
        <p:txBody>
          <a:bodyPr>
            <a:normAutofit fontScale="90000"/>
          </a:bodyPr>
          <a:lstStyle/>
          <a:p>
            <a:r>
              <a:rPr lang="en-US" dirty="0"/>
              <a:t>User datagram Protocol (UDP)</a:t>
            </a:r>
          </a:p>
        </p:txBody>
      </p:sp>
      <p:sp>
        <p:nvSpPr>
          <p:cNvPr id="3" name="Text Placeholder 2">
            <a:extLst>
              <a:ext uri="{FF2B5EF4-FFF2-40B4-BE49-F238E27FC236}">
                <a16:creationId xmlns:a16="http://schemas.microsoft.com/office/drawing/2014/main" id="{02EB7CD5-DABD-9FEB-FF67-852302FEC03B}"/>
              </a:ext>
            </a:extLst>
          </p:cNvPr>
          <p:cNvSpPr>
            <a:spLocks noGrp="1"/>
          </p:cNvSpPr>
          <p:nvPr>
            <p:ph type="body" sz="quarter" idx="10"/>
          </p:nvPr>
        </p:nvSpPr>
        <p:spPr/>
        <p:txBody>
          <a:bodyPr/>
          <a:lstStyle/>
          <a:p>
            <a:r>
              <a:rPr lang="en-US" dirty="0"/>
              <a:t>Function</a:t>
            </a:r>
          </a:p>
        </p:txBody>
      </p:sp>
      <p:sp>
        <p:nvSpPr>
          <p:cNvPr id="4" name="Content Placeholder 3">
            <a:extLst>
              <a:ext uri="{FF2B5EF4-FFF2-40B4-BE49-F238E27FC236}">
                <a16:creationId xmlns:a16="http://schemas.microsoft.com/office/drawing/2014/main" id="{388268BB-0745-B4E3-7DBD-1F30EAA03116}"/>
              </a:ext>
            </a:extLst>
          </p:cNvPr>
          <p:cNvSpPr>
            <a:spLocks noGrp="1"/>
          </p:cNvSpPr>
          <p:nvPr>
            <p:ph sz="quarter" idx="11"/>
          </p:nvPr>
        </p:nvSpPr>
        <p:spPr>
          <a:xfrm>
            <a:off x="5078782" y="4596868"/>
            <a:ext cx="13714940" cy="4522264"/>
          </a:xfrm>
        </p:spPr>
        <p:txBody>
          <a:bodyPr>
            <a:noAutofit/>
          </a:bodyPr>
          <a:lstStyle/>
          <a:p>
            <a:pPr algn="just"/>
            <a:r>
              <a:rPr lang="en-US" sz="3200" dirty="0"/>
              <a:t>UDP is commonly used in time-sensitive communications where occasionally dropping packets is better than waiting. Voice and video traffic are often sent using this protocol because they are both time-sensitive and designed to handle some level of loss. For example, VoIP (voice over IP), which is used by many Internet-based telephone services, typically operates over UDP. This is because a static-y phone conversation is preferable to one that is crystal clear but heavily delayed.</a:t>
            </a:r>
          </a:p>
          <a:p>
            <a:pPr algn="just"/>
            <a:endParaRPr lang="en-US" sz="3200" dirty="0"/>
          </a:p>
          <a:p>
            <a:pPr algn="just"/>
            <a:r>
              <a:rPr lang="en-US" sz="3200" dirty="0"/>
              <a:t>This also makes UDP the ideal protocol for online gaming. Similarly, because DNS servers both need to be fast and efficient, they operate through UDP as well.</a:t>
            </a:r>
          </a:p>
          <a:p>
            <a:pPr algn="just"/>
            <a:endParaRPr lang="en-US" sz="3200" dirty="0"/>
          </a:p>
          <a:p>
            <a:pPr algn="just"/>
            <a:endParaRPr lang="en-US" sz="3200" dirty="0"/>
          </a:p>
        </p:txBody>
      </p:sp>
    </p:spTree>
    <p:extLst>
      <p:ext uri="{BB962C8B-B14F-4D97-AF65-F5344CB8AC3E}">
        <p14:creationId xmlns:p14="http://schemas.microsoft.com/office/powerpoint/2010/main" val="274903797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278A4-D40F-596E-302C-0C9156FA4013}"/>
              </a:ext>
            </a:extLst>
          </p:cNvPr>
          <p:cNvSpPr>
            <a:spLocks noGrp="1"/>
          </p:cNvSpPr>
          <p:nvPr>
            <p:ph type="title"/>
          </p:nvPr>
        </p:nvSpPr>
        <p:spPr>
          <a:xfrm>
            <a:off x="2167377" y="1871164"/>
            <a:ext cx="14715569" cy="511175"/>
          </a:xfrm>
        </p:spPr>
        <p:txBody>
          <a:bodyPr>
            <a:normAutofit/>
          </a:bodyPr>
          <a:lstStyle/>
          <a:p>
            <a:r>
              <a:rPr lang="en-US" sz="3200" dirty="0"/>
              <a:t>User datagram Protocol (UDP)</a:t>
            </a:r>
          </a:p>
        </p:txBody>
      </p:sp>
      <p:sp>
        <p:nvSpPr>
          <p:cNvPr id="3" name="Text Placeholder 2">
            <a:extLst>
              <a:ext uri="{FF2B5EF4-FFF2-40B4-BE49-F238E27FC236}">
                <a16:creationId xmlns:a16="http://schemas.microsoft.com/office/drawing/2014/main" id="{504143DC-5C1A-0F28-C9CE-C99AE3F1A0F0}"/>
              </a:ext>
            </a:extLst>
          </p:cNvPr>
          <p:cNvSpPr>
            <a:spLocks noGrp="1"/>
          </p:cNvSpPr>
          <p:nvPr>
            <p:ph type="body" sz="quarter" idx="10"/>
          </p:nvPr>
        </p:nvSpPr>
        <p:spPr>
          <a:xfrm>
            <a:off x="2167377" y="2419728"/>
            <a:ext cx="9768875" cy="803546"/>
          </a:xfrm>
        </p:spPr>
        <p:txBody>
          <a:bodyPr>
            <a:normAutofit/>
          </a:bodyPr>
          <a:lstStyle/>
          <a:p>
            <a:r>
              <a:rPr lang="en-US" dirty="0"/>
              <a:t>How is UDP used in DDoS attacks?</a:t>
            </a:r>
          </a:p>
        </p:txBody>
      </p:sp>
      <p:sp>
        <p:nvSpPr>
          <p:cNvPr id="11" name="Text Placeholder 3">
            <a:extLst>
              <a:ext uri="{FF2B5EF4-FFF2-40B4-BE49-F238E27FC236}">
                <a16:creationId xmlns:a16="http://schemas.microsoft.com/office/drawing/2014/main" id="{27C6CA81-A32D-A44A-DAE4-4A0DE2282E2C}"/>
              </a:ext>
            </a:extLst>
          </p:cNvPr>
          <p:cNvSpPr>
            <a:spLocks noGrp="1"/>
          </p:cNvSpPr>
          <p:nvPr>
            <p:ph type="body" sz="quarter" idx="16"/>
          </p:nvPr>
        </p:nvSpPr>
        <p:spPr>
          <a:xfrm>
            <a:off x="2167377" y="6556917"/>
            <a:ext cx="9768906" cy="5575610"/>
          </a:xfrm>
        </p:spPr>
        <p:txBody>
          <a:bodyPr/>
          <a:lstStyle/>
          <a:p>
            <a:pPr algn="just"/>
            <a:r>
              <a:rPr lang="en-US" dirty="0"/>
              <a:t>A typical UDP flood attack sends a large number of UDP datagrams to random ports on its target computer. This forces the target to respond with an equally large number of ICMP packets, which indicate those ports were unreachable. The computing resources required to respond to each fraudulent datagram can exhaust the target, resulting in a denial-of-service to legitimate traffic. (To learn more, read our article on UDP flood attacks.)</a:t>
            </a:r>
          </a:p>
          <a:p>
            <a:pPr algn="just"/>
            <a:r>
              <a:rPr lang="en-US" dirty="0"/>
              <a:t>Organizations can defend against UDP flood attacks with a variety of methods. One is to limit the response rate of ICMP packets, though this approach can also filter out legitimate packets. Another method is to receive and respond to UDP traffic through an intermediary network of many distributed data centers, preventing a single origin server from being overwhelmed with fraudulent requests</a:t>
            </a:r>
          </a:p>
        </p:txBody>
      </p:sp>
      <p:pic>
        <p:nvPicPr>
          <p:cNvPr id="6" name="Picture 5" descr="A diagram of a computer system&#10;&#10;Description automatically generated">
            <a:extLst>
              <a:ext uri="{FF2B5EF4-FFF2-40B4-BE49-F238E27FC236}">
                <a16:creationId xmlns:a16="http://schemas.microsoft.com/office/drawing/2014/main" id="{1439B6EB-F740-EFA1-E935-A557C1109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9930" y="5112020"/>
            <a:ext cx="9099057" cy="6119115"/>
          </a:xfrm>
          <a:prstGeom prst="rect">
            <a:avLst/>
          </a:prstGeom>
          <a:noFill/>
        </p:spPr>
      </p:pic>
      <p:sp>
        <p:nvSpPr>
          <p:cNvPr id="4" name="Content Placeholder 3">
            <a:extLst>
              <a:ext uri="{FF2B5EF4-FFF2-40B4-BE49-F238E27FC236}">
                <a16:creationId xmlns:a16="http://schemas.microsoft.com/office/drawing/2014/main" id="{D1F59B73-CB59-4B6E-2067-9BFFD0E22A93}"/>
              </a:ext>
            </a:extLst>
          </p:cNvPr>
          <p:cNvSpPr>
            <a:spLocks noGrp="1"/>
          </p:cNvSpPr>
          <p:nvPr>
            <p:ph type="body" sz="quarter" idx="17"/>
          </p:nvPr>
        </p:nvSpPr>
        <p:spPr>
          <a:xfrm>
            <a:off x="2166938" y="4210049"/>
            <a:ext cx="9768874" cy="2039112"/>
          </a:xfrm>
        </p:spPr>
        <p:txBody>
          <a:bodyPr>
            <a:normAutofit/>
          </a:bodyPr>
          <a:lstStyle/>
          <a:p>
            <a:pPr marL="0" indent="0" algn="just">
              <a:buNone/>
            </a:pPr>
            <a:r>
              <a:rPr lang="en-US" sz="2400" dirty="0"/>
              <a:t>UDP ‘risks’ like packet loss are not a serious problem in most use cases. However, UDP can be exploited for malicious purposes. Since UDP does not require a handshake, attackers can ‘flood’ a targeted server with UDP traffic without first getting that server’s permission to begin communication.</a:t>
            </a:r>
          </a:p>
        </p:txBody>
      </p:sp>
    </p:spTree>
    <p:extLst>
      <p:ext uri="{BB962C8B-B14F-4D97-AF65-F5344CB8AC3E}">
        <p14:creationId xmlns:p14="http://schemas.microsoft.com/office/powerpoint/2010/main" val="117992023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9326A-5DB7-B0AB-8C7C-55F573331E5E}"/>
              </a:ext>
            </a:extLst>
          </p:cNvPr>
          <p:cNvSpPr>
            <a:spLocks noGrp="1"/>
          </p:cNvSpPr>
          <p:nvPr>
            <p:ph type="title"/>
          </p:nvPr>
        </p:nvSpPr>
        <p:spPr/>
        <p:txBody>
          <a:bodyPr>
            <a:normAutofit fontScale="90000"/>
          </a:bodyPr>
          <a:lstStyle/>
          <a:p>
            <a:r>
              <a:rPr lang="en-US" sz="4000" dirty="0"/>
              <a:t>User datagram Protocol (UDP)</a:t>
            </a:r>
            <a:endParaRPr lang="en-US" dirty="0"/>
          </a:p>
        </p:txBody>
      </p:sp>
      <p:sp>
        <p:nvSpPr>
          <p:cNvPr id="3" name="Text Placeholder 2">
            <a:extLst>
              <a:ext uri="{FF2B5EF4-FFF2-40B4-BE49-F238E27FC236}">
                <a16:creationId xmlns:a16="http://schemas.microsoft.com/office/drawing/2014/main" id="{AD3F43D2-A9A8-01D3-0DAF-572CA0B27EE3}"/>
              </a:ext>
            </a:extLst>
          </p:cNvPr>
          <p:cNvSpPr>
            <a:spLocks noGrp="1"/>
          </p:cNvSpPr>
          <p:nvPr>
            <p:ph type="body" sz="quarter" idx="10"/>
          </p:nvPr>
        </p:nvSpPr>
        <p:spPr/>
        <p:txBody>
          <a:bodyPr/>
          <a:lstStyle/>
          <a:p>
            <a:r>
              <a:rPr lang="en-US" dirty="0"/>
              <a:t>Important about UDP</a:t>
            </a:r>
          </a:p>
        </p:txBody>
      </p:sp>
      <p:sp>
        <p:nvSpPr>
          <p:cNvPr id="4" name="Content Placeholder 3">
            <a:extLst>
              <a:ext uri="{FF2B5EF4-FFF2-40B4-BE49-F238E27FC236}">
                <a16:creationId xmlns:a16="http://schemas.microsoft.com/office/drawing/2014/main" id="{7F0CCADE-54DD-E80F-89E7-54E89E0F449C}"/>
              </a:ext>
            </a:extLst>
          </p:cNvPr>
          <p:cNvSpPr>
            <a:spLocks noGrp="1"/>
          </p:cNvSpPr>
          <p:nvPr>
            <p:ph sz="quarter" idx="11"/>
          </p:nvPr>
        </p:nvSpPr>
        <p:spPr>
          <a:xfrm>
            <a:off x="5078782" y="4223658"/>
            <a:ext cx="13714940" cy="5828982"/>
          </a:xfrm>
        </p:spPr>
        <p:txBody>
          <a:bodyPr>
            <a:noAutofit/>
          </a:bodyPr>
          <a:lstStyle/>
          <a:p>
            <a:r>
              <a:rPr lang="en-US" sz="3200" dirty="0"/>
              <a:t>UDP communication is connectionless, so there is no need to establish a connection before sending data.</a:t>
            </a:r>
          </a:p>
          <a:p>
            <a:r>
              <a:rPr lang="en-US" sz="3200" dirty="0"/>
              <a:t>Each UDP datagram is handled independently.</a:t>
            </a:r>
          </a:p>
          <a:p>
            <a:r>
              <a:rPr lang="en-US" sz="3200" dirty="0"/>
              <a:t>Error handling is crucial, especially when dealing with network operations.</a:t>
            </a:r>
          </a:p>
          <a:p>
            <a:r>
              <a:rPr lang="en-US" sz="3200" dirty="0"/>
              <a:t>UDP does not guarantee the delivery of messages, so applications need to handle potential packet loss or duplication themselves.</a:t>
            </a:r>
          </a:p>
        </p:txBody>
      </p:sp>
    </p:spTree>
    <p:extLst>
      <p:ext uri="{BB962C8B-B14F-4D97-AF65-F5344CB8AC3E}">
        <p14:creationId xmlns:p14="http://schemas.microsoft.com/office/powerpoint/2010/main" val="234346008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Avoiding Fragmentation</a:t>
            </a:r>
            <a:endParaRPr lang="en-US" sz="9600" dirty="0"/>
          </a:p>
        </p:txBody>
      </p:sp>
    </p:spTree>
    <p:extLst>
      <p:ext uri="{BB962C8B-B14F-4D97-AF65-F5344CB8AC3E}">
        <p14:creationId xmlns:p14="http://schemas.microsoft.com/office/powerpoint/2010/main" val="275201629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C2A70-8835-EBA8-AF7D-A2917F288554}"/>
              </a:ext>
            </a:extLst>
          </p:cNvPr>
          <p:cNvSpPr>
            <a:spLocks noGrp="1"/>
          </p:cNvSpPr>
          <p:nvPr>
            <p:ph type="title"/>
          </p:nvPr>
        </p:nvSpPr>
        <p:spPr/>
        <p:txBody>
          <a:bodyPr>
            <a:normAutofit fontScale="90000"/>
          </a:bodyPr>
          <a:lstStyle/>
          <a:p>
            <a:r>
              <a:rPr lang="en-US" dirty="0"/>
              <a:t>Avoiding fragmentation</a:t>
            </a:r>
          </a:p>
        </p:txBody>
      </p:sp>
      <p:sp>
        <p:nvSpPr>
          <p:cNvPr id="3" name="Text Placeholder 2">
            <a:extLst>
              <a:ext uri="{FF2B5EF4-FFF2-40B4-BE49-F238E27FC236}">
                <a16:creationId xmlns:a16="http://schemas.microsoft.com/office/drawing/2014/main" id="{D0872B67-A34F-31D1-1393-EA2D655DBA9A}"/>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439BEB44-9353-42E4-D9BC-B9C90F5E031D}"/>
              </a:ext>
            </a:extLst>
          </p:cNvPr>
          <p:cNvSpPr>
            <a:spLocks noGrp="1"/>
          </p:cNvSpPr>
          <p:nvPr>
            <p:ph sz="quarter" idx="11"/>
          </p:nvPr>
        </p:nvSpPr>
        <p:spPr>
          <a:xfrm>
            <a:off x="2167377" y="3260663"/>
            <a:ext cx="21171594" cy="9257908"/>
          </a:xfrm>
        </p:spPr>
        <p:txBody>
          <a:bodyPr>
            <a:normAutofit lnSpcReduction="10000"/>
          </a:bodyPr>
          <a:lstStyle/>
          <a:p>
            <a:pPr marL="0" indent="0" algn="just">
              <a:buNone/>
            </a:pPr>
            <a:r>
              <a:rPr lang="en-US" sz="3200" dirty="0"/>
              <a:t>Avoiding fragmentation in network communication is important for efficient data transmission. Fragmentation occurs when a data packet is too large to fit into the Maximum Transmission Unit (MTU) of a network, and it needs to be divided into smaller fragments. While some level of fragmentation is a normal part of network communication, minimizing it can help improve performance and reduce the likelihood of issues.</a:t>
            </a:r>
          </a:p>
          <a:p>
            <a:pPr marL="0" indent="0" algn="just">
              <a:buNone/>
            </a:pPr>
            <a:r>
              <a:rPr lang="en-US" sz="3200" dirty="0"/>
              <a:t>Here are some strategies to avoid fragmentation:</a:t>
            </a:r>
          </a:p>
          <a:p>
            <a:pPr marL="514350" indent="-514350" algn="just">
              <a:buFont typeface="+mj-lt"/>
              <a:buAutoNum type="arabicPeriod"/>
            </a:pPr>
            <a:r>
              <a:rPr lang="en-US" sz="3200" dirty="0"/>
              <a:t>MTU Discovery: </a:t>
            </a:r>
          </a:p>
          <a:p>
            <a:pPr marL="0" indent="0" algn="just">
              <a:buNone/>
            </a:pPr>
            <a:r>
              <a:rPr lang="en-US" sz="3200" dirty="0"/>
              <a:t>Use Path MTU Discovery (PMTUD) to dynamically discover the smallest MTU along the path between two communicating hosts. PMTUD allows hosts to adjust the size of their packets to avoid fragmentation in the network.</a:t>
            </a:r>
          </a:p>
          <a:p>
            <a:pPr marL="0" indent="0" algn="just">
              <a:buNone/>
            </a:pPr>
            <a:endParaRPr lang="en-US" sz="3200" dirty="0"/>
          </a:p>
          <a:p>
            <a:pPr marL="514350" indent="-514350" algn="just">
              <a:buFont typeface="+mj-lt"/>
              <a:buAutoNum type="arabicPeriod" startAt="2"/>
            </a:pPr>
            <a:r>
              <a:rPr lang="en-US" sz="3200" dirty="0"/>
              <a:t>Packet Size Consideration:</a:t>
            </a:r>
          </a:p>
          <a:p>
            <a:pPr marL="0" indent="0" algn="just">
              <a:buNone/>
            </a:pPr>
            <a:r>
              <a:rPr lang="en-US" sz="3200" dirty="0"/>
              <a:t>Design your application protocols and data structures with consideration for the typical MTU of the networks over which your data will be transmitted. Try to keep packet sizes well below the typical MTU to reduce the likelihood of fragmentation.</a:t>
            </a:r>
          </a:p>
        </p:txBody>
      </p:sp>
    </p:spTree>
    <p:extLst>
      <p:ext uri="{BB962C8B-B14F-4D97-AF65-F5344CB8AC3E}">
        <p14:creationId xmlns:p14="http://schemas.microsoft.com/office/powerpoint/2010/main" val="124237824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C2A70-8835-EBA8-AF7D-A2917F288554}"/>
              </a:ext>
            </a:extLst>
          </p:cNvPr>
          <p:cNvSpPr>
            <a:spLocks noGrp="1"/>
          </p:cNvSpPr>
          <p:nvPr>
            <p:ph type="title"/>
          </p:nvPr>
        </p:nvSpPr>
        <p:spPr/>
        <p:txBody>
          <a:bodyPr>
            <a:normAutofit fontScale="90000"/>
          </a:bodyPr>
          <a:lstStyle/>
          <a:p>
            <a:r>
              <a:rPr lang="en-US" dirty="0"/>
              <a:t>Avoiding fragmentation</a:t>
            </a:r>
          </a:p>
        </p:txBody>
      </p:sp>
      <p:sp>
        <p:nvSpPr>
          <p:cNvPr id="3" name="Text Placeholder 2">
            <a:extLst>
              <a:ext uri="{FF2B5EF4-FFF2-40B4-BE49-F238E27FC236}">
                <a16:creationId xmlns:a16="http://schemas.microsoft.com/office/drawing/2014/main" id="{D0872B67-A34F-31D1-1393-EA2D655DBA9A}"/>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439BEB44-9353-42E4-D9BC-B9C90F5E031D}"/>
              </a:ext>
            </a:extLst>
          </p:cNvPr>
          <p:cNvSpPr>
            <a:spLocks noGrp="1"/>
          </p:cNvSpPr>
          <p:nvPr>
            <p:ph sz="quarter" idx="11"/>
          </p:nvPr>
        </p:nvSpPr>
        <p:spPr>
          <a:xfrm>
            <a:off x="2167377" y="3260663"/>
            <a:ext cx="21171594" cy="9257908"/>
          </a:xfrm>
        </p:spPr>
        <p:txBody>
          <a:bodyPr>
            <a:normAutofit lnSpcReduction="10000"/>
          </a:bodyPr>
          <a:lstStyle/>
          <a:p>
            <a:pPr marL="514350" indent="-514350" algn="just">
              <a:buFont typeface="+mj-lt"/>
              <a:buAutoNum type="arabicPeriod" startAt="3"/>
            </a:pPr>
            <a:r>
              <a:rPr lang="en-US" sz="3200" dirty="0"/>
              <a:t>Adjusting Socket Buffer Sizes:</a:t>
            </a:r>
          </a:p>
          <a:p>
            <a:pPr marL="0" indent="0" algn="just">
              <a:buNone/>
            </a:pPr>
            <a:r>
              <a:rPr lang="en-US" sz="3200" dirty="0"/>
              <a:t>On the sending side, you can adjust the socket buffer size to accommodate larger amounts of data, reducing the need for fragmentation. The net package in Go allows you to set the write buffer size for a TCP or UDP connection.</a:t>
            </a:r>
          </a:p>
          <a:p>
            <a:pPr marL="0" indent="0" algn="just">
              <a:buNone/>
            </a:pPr>
            <a:endParaRPr lang="en-US" sz="3200" dirty="0"/>
          </a:p>
          <a:p>
            <a:pPr marL="514350" indent="-514350" algn="just">
              <a:buFont typeface="+mj-lt"/>
              <a:buAutoNum type="arabicPeriod" startAt="4"/>
            </a:pPr>
            <a:r>
              <a:rPr lang="en-US" sz="3200" dirty="0"/>
              <a:t>Packet Size Negotiation:</a:t>
            </a:r>
          </a:p>
          <a:p>
            <a:pPr marL="0" indent="0" algn="just">
              <a:buNone/>
            </a:pPr>
            <a:r>
              <a:rPr lang="en-US" sz="3200" dirty="0"/>
              <a:t>If your application protocol allows for negotiation between the communicating parties, consider including a negotiation mechanism to agree on an appropriate packet size to avoid fragmentation.</a:t>
            </a:r>
          </a:p>
          <a:p>
            <a:pPr marL="0" indent="0" algn="just">
              <a:buNone/>
            </a:pPr>
            <a:endParaRPr lang="en-US" sz="3200" dirty="0"/>
          </a:p>
          <a:p>
            <a:pPr marL="514350" indent="-514350" algn="just">
              <a:buFont typeface="+mj-lt"/>
              <a:buAutoNum type="arabicPeriod" startAt="5"/>
            </a:pPr>
            <a:r>
              <a:rPr lang="en-US" sz="3200" dirty="0"/>
              <a:t>Using a Protocol with Built-in Fragmentation Handling:</a:t>
            </a:r>
          </a:p>
          <a:p>
            <a:pPr marL="0" indent="0" algn="just">
              <a:buNone/>
            </a:pPr>
            <a:r>
              <a:rPr lang="en-US" sz="3200" dirty="0"/>
              <a:t>Some application layer protocols, such as QUIC, are designed with built-in mechanisms to handle fragmentation efficiently. Consider using protocols that have features to deal with packet size issues.</a:t>
            </a:r>
          </a:p>
        </p:txBody>
      </p:sp>
    </p:spTree>
    <p:extLst>
      <p:ext uri="{BB962C8B-B14F-4D97-AF65-F5344CB8AC3E}">
        <p14:creationId xmlns:p14="http://schemas.microsoft.com/office/powerpoint/2010/main" val="56721174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C2A70-8835-EBA8-AF7D-A2917F288554}"/>
              </a:ext>
            </a:extLst>
          </p:cNvPr>
          <p:cNvSpPr>
            <a:spLocks noGrp="1"/>
          </p:cNvSpPr>
          <p:nvPr>
            <p:ph type="title"/>
          </p:nvPr>
        </p:nvSpPr>
        <p:spPr/>
        <p:txBody>
          <a:bodyPr>
            <a:normAutofit fontScale="90000"/>
          </a:bodyPr>
          <a:lstStyle/>
          <a:p>
            <a:r>
              <a:rPr lang="en-US" dirty="0"/>
              <a:t>Avoiding fragmentation</a:t>
            </a:r>
          </a:p>
        </p:txBody>
      </p:sp>
      <p:sp>
        <p:nvSpPr>
          <p:cNvPr id="3" name="Text Placeholder 2">
            <a:extLst>
              <a:ext uri="{FF2B5EF4-FFF2-40B4-BE49-F238E27FC236}">
                <a16:creationId xmlns:a16="http://schemas.microsoft.com/office/drawing/2014/main" id="{D0872B67-A34F-31D1-1393-EA2D655DBA9A}"/>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439BEB44-9353-42E4-D9BC-B9C90F5E031D}"/>
              </a:ext>
            </a:extLst>
          </p:cNvPr>
          <p:cNvSpPr>
            <a:spLocks noGrp="1"/>
          </p:cNvSpPr>
          <p:nvPr>
            <p:ph sz="quarter" idx="11"/>
          </p:nvPr>
        </p:nvSpPr>
        <p:spPr>
          <a:xfrm>
            <a:off x="2167377" y="3260663"/>
            <a:ext cx="21171594" cy="9257908"/>
          </a:xfrm>
        </p:spPr>
        <p:txBody>
          <a:bodyPr>
            <a:normAutofit/>
          </a:bodyPr>
          <a:lstStyle/>
          <a:p>
            <a:pPr marL="514350" indent="-514350" algn="just">
              <a:buFont typeface="+mj-lt"/>
              <a:buAutoNum type="arabicPeriod" startAt="6"/>
            </a:pPr>
            <a:r>
              <a:rPr lang="en-US" sz="3200" dirty="0"/>
              <a:t>Compression:</a:t>
            </a:r>
          </a:p>
          <a:p>
            <a:pPr marL="0" indent="0" algn="just">
              <a:buNone/>
            </a:pPr>
            <a:r>
              <a:rPr lang="en-US" sz="3200" dirty="0"/>
              <a:t>Compressing data before transmission can reduce the size of the payload, potentially avoiding fragmentation. However, the benefits of compression depend on the nature of the data being transmitted.</a:t>
            </a:r>
          </a:p>
          <a:p>
            <a:pPr marL="0" indent="0" algn="just">
              <a:buNone/>
            </a:pPr>
            <a:endParaRPr lang="en-US" sz="3200" dirty="0"/>
          </a:p>
          <a:p>
            <a:pPr marL="0" indent="0" algn="just">
              <a:buNone/>
            </a:pPr>
            <a:r>
              <a:rPr lang="en-US" sz="3200" dirty="0"/>
              <a:t>It's essential to note that fragmentation can be unavoidable in some cases, especially when dealing with networks of varying MTU sizes. Additionally, the level of control you have over the network infrastructure and the specific requirements of your application will influence the approach you choose.</a:t>
            </a:r>
          </a:p>
          <a:p>
            <a:pPr marL="0" indent="0" algn="just">
              <a:buNone/>
            </a:pPr>
            <a:endParaRPr lang="en-US" sz="3200" dirty="0"/>
          </a:p>
          <a:p>
            <a:pPr marL="0" indent="0" algn="just">
              <a:buNone/>
            </a:pPr>
            <a:r>
              <a:rPr lang="en-US" sz="3200" dirty="0"/>
              <a:t>Testing and monitoring your application's performance under different network conditions can help you identify and address any fragmentation issues that may arise. Keep in mind that the effectiveness of these strategies may vary based on the specifics of your network environment and use case.</a:t>
            </a:r>
          </a:p>
          <a:p>
            <a:pPr marL="0" indent="0" algn="just">
              <a:buNone/>
            </a:pPr>
            <a:endParaRPr lang="en-US" sz="3200" dirty="0"/>
          </a:p>
          <a:p>
            <a:pPr marL="0" indent="0" algn="just">
              <a:buNone/>
            </a:pPr>
            <a:endParaRPr lang="en-US" sz="3200" dirty="0"/>
          </a:p>
          <a:p>
            <a:pPr marL="0" indent="0" algn="just">
              <a:buNone/>
            </a:pPr>
            <a:endParaRPr lang="en-US" sz="3200" dirty="0"/>
          </a:p>
          <a:p>
            <a:pPr marL="0" indent="0" algn="just">
              <a:buNone/>
            </a:pPr>
            <a:endParaRPr lang="en-US" sz="3200" dirty="0"/>
          </a:p>
          <a:p>
            <a:pPr marL="0" indent="0" algn="just">
              <a:buNone/>
            </a:pPr>
            <a:endParaRPr lang="en-US" sz="3200"/>
          </a:p>
          <a:p>
            <a:pPr marL="0" indent="0" algn="just">
              <a:buNone/>
            </a:pPr>
            <a:endParaRPr lang="en-US" sz="3200" dirty="0"/>
          </a:p>
        </p:txBody>
      </p:sp>
    </p:spTree>
    <p:extLst>
      <p:ext uri="{BB962C8B-B14F-4D97-AF65-F5344CB8AC3E}">
        <p14:creationId xmlns:p14="http://schemas.microsoft.com/office/powerpoint/2010/main" val="401970279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4522264"/>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https://www.cloudflare.com/learning/ddos/glossary/user-datagram-protocol-udp/#:~:text=The%20User%20Datagram%20Protocol%2C%20or,connection%20before%20data%20is%20transferred</a:t>
            </a:r>
            <a:r>
              <a:rPr lang="en-US" sz="3200" dirty="0"/>
              <a:t>.</a:t>
            </a:r>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9750</TotalTime>
  <Words>1399</Words>
  <Application>Microsoft Macintosh PowerPoint</Application>
  <PresentationFormat>Custom</PresentationFormat>
  <Paragraphs>87</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Tahoma</vt:lpstr>
      <vt:lpstr>Open Sans ExtraBold</vt:lpstr>
      <vt:lpstr>Arial</vt:lpstr>
      <vt:lpstr>OCRB</vt:lpstr>
      <vt:lpstr>Open Sans Semibold</vt:lpstr>
      <vt:lpstr>Open Sans</vt:lpstr>
      <vt:lpstr>Open Sans Light</vt:lpstr>
      <vt:lpstr>Wingdings</vt:lpstr>
      <vt:lpstr>21_BasicWhite</vt:lpstr>
      <vt:lpstr>Unreliable UDP Communication  Session 05</vt:lpstr>
      <vt:lpstr>Learning Objectives</vt:lpstr>
      <vt:lpstr>Outline</vt:lpstr>
      <vt:lpstr>Using UDP: Simple and reliable</vt:lpstr>
      <vt:lpstr>User Datagram protocol (UDP)</vt:lpstr>
      <vt:lpstr>Sending and Receiving UDP Data</vt:lpstr>
      <vt:lpstr>TCP Vs UDP</vt:lpstr>
      <vt:lpstr>TCP Vs UDP</vt:lpstr>
      <vt:lpstr>User datagram Protocol (UDP)</vt:lpstr>
      <vt:lpstr>User datagram Protocol (UDP)</vt:lpstr>
      <vt:lpstr>User datagram Protocol (UDP)</vt:lpstr>
      <vt:lpstr>Avoiding Fragmentation</vt:lpstr>
      <vt:lpstr>Avoiding fragmentation</vt:lpstr>
      <vt:lpstr>Avoiding fragmentation</vt:lpstr>
      <vt:lpstr>Avoiding fragmentation</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22</cp:revision>
  <dcterms:created xsi:type="dcterms:W3CDTF">2023-06-28T08:14:57Z</dcterms:created>
  <dcterms:modified xsi:type="dcterms:W3CDTF">2023-12-18T12:28:14Z</dcterms:modified>
</cp:coreProperties>
</file>