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6"/>
  </p:notesMasterIdLst>
  <p:sldIdLst>
    <p:sldId id="256" r:id="rId2"/>
    <p:sldId id="278" r:id="rId3"/>
    <p:sldId id="257"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00" r:id="rId24"/>
    <p:sldId id="296" r:id="rId25"/>
  </p:sldIdLst>
  <p:sldSz cx="24384000" cy="13716000"/>
  <p:notesSz cx="6858000" cy="9144000"/>
  <p:embeddedFontLst>
    <p:embeddedFont>
      <p:font typeface="OCRB" panose="020B0609020202020204" pitchFamily="49" charset="77"/>
      <p:regular r:id="rId27"/>
    </p:embeddedFont>
    <p:embeddedFont>
      <p:font typeface="Open Sans ExtraBold" panose="020B0606030504020204" pitchFamily="34" charset="0"/>
      <p:bold r:id="rId28"/>
      <p:italic r:id="rId29"/>
      <p:boldItalic r:id="rId30"/>
    </p:embeddedFont>
    <p:embeddedFont>
      <p:font typeface="Open Sans Light" panose="020B0306030504020204" pitchFamily="34" charset="0"/>
      <p:regular r:id="rId31"/>
      <p:italic r:id="rId32"/>
    </p:embeddedFont>
    <p:embeddedFont>
      <p:font typeface="Open Sans Semibold" panose="020B0606030504020204" pitchFamily="34" charset="0"/>
      <p:regular r:id="rId33"/>
      <p:bold r:id="rId34"/>
      <p:italic r:id="rId35"/>
      <p:boldItalic r:id="rId36"/>
    </p:embeddedFont>
    <p:embeddedFont>
      <p:font typeface="Tahoma" panose="020B0604030504040204" pitchFamily="34" charset="0"/>
      <p:regular r:id="rId37"/>
      <p:bold r:id="rId38"/>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CA9D95-CB33-D64D-9B3A-DFEF66DA84EB}" v="57" dt="2023-12-18T12:33:35.80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73" autoAdjust="0"/>
    <p:restoredTop sz="95308"/>
  </p:normalViewPr>
  <p:slideViewPr>
    <p:cSldViewPr snapToGrid="0" snapToObjects="1">
      <p:cViewPr varScale="1">
        <p:scale>
          <a:sx n="53" d="100"/>
          <a:sy n="53" d="100"/>
        </p:scale>
        <p:origin x="712" y="19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SEBASTIAN EDBERT" userId="c68b1978-ff09-4a4d-a9a9-e6791a35da12" providerId="ADAL" clId="{A4CA9D95-CB33-D64D-9B3A-DFEF66DA84EB}"/>
    <pc:docChg chg="modSld">
      <pc:chgData name="IVAN SEBASTIAN EDBERT" userId="c68b1978-ff09-4a4d-a9a9-e6791a35da12" providerId="ADAL" clId="{A4CA9D95-CB33-D64D-9B3A-DFEF66DA84EB}" dt="2023-12-18T12:33:35.803" v="2" actId="20577"/>
      <pc:docMkLst>
        <pc:docMk/>
      </pc:docMkLst>
      <pc:sldChg chg="modSp mod">
        <pc:chgData name="IVAN SEBASTIAN EDBERT" userId="c68b1978-ff09-4a4d-a9a9-e6791a35da12" providerId="ADAL" clId="{A4CA9D95-CB33-D64D-9B3A-DFEF66DA84EB}" dt="2023-12-18T12:33:35.803" v="2" actId="20577"/>
        <pc:sldMkLst>
          <pc:docMk/>
          <pc:sldMk cId="2887389767" sldId="300"/>
        </pc:sldMkLst>
        <pc:spChg chg="mod">
          <ac:chgData name="IVAN SEBASTIAN EDBERT" userId="c68b1978-ff09-4a4d-a9a9-e6791a35da12" providerId="ADAL" clId="{A4CA9D95-CB33-D64D-9B3A-DFEF66DA84EB}" dt="2023-12-18T12:33:35.803" v="2" actId="20577"/>
          <ac:spMkLst>
            <pc:docMk/>
            <pc:sldMk cId="2887389767" sldId="300"/>
            <ac:spMk id="4" creationId="{DFC3A658-0629-8224-9928-EE85A4D909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hyperlink" Target="https://cloud.google.com/functions" TargetMode="External"/><Relationship Id="rId2" Type="http://schemas.openxmlformats.org/officeDocument/2006/relationships/hyperlink" Target="https://aws.amazon.com/lambda/" TargetMode="External"/><Relationship Id="rId1" Type="http://schemas.openxmlformats.org/officeDocument/2006/relationships/slideLayout" Target="../slideLayouts/slideLayout12.xml"/><Relationship Id="rId4" Type="http://schemas.openxmlformats.org/officeDocument/2006/relationships/hyperlink" Target="https://azure.microsoft.com/en-u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sz="8900" dirty="0"/>
              <a:t>Moving to </a:t>
            </a:r>
            <a:r>
              <a:rPr lang="en-US" sz="8900" dirty="0" err="1"/>
              <a:t>CLoud</a:t>
            </a:r>
            <a:br>
              <a:rPr lang="en-US" dirty="0"/>
            </a:br>
            <a:br>
              <a:rPr lang="en-US" dirty="0"/>
            </a:br>
            <a:r>
              <a:rPr lang="en-US" sz="6000" dirty="0"/>
              <a:t>Session 13</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9823966"/>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the concept of Cloud</a:t>
            </a:r>
          </a:p>
          <a:p>
            <a:endParaRPr lang="en-ID" sz="3200" dirty="0"/>
          </a:p>
          <a:p>
            <a:r>
              <a:rPr lang="en-ID" sz="3200" dirty="0"/>
              <a:t>Able to use Cloud Feature</a:t>
            </a:r>
          </a:p>
          <a:p>
            <a:endParaRPr lang="en-ID" sz="3200"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AWS Lambda</a:t>
            </a:r>
          </a:p>
          <a:p>
            <a:r>
              <a:rPr lang="en-ID" sz="3200" dirty="0"/>
              <a:t>Google Cloud Functions</a:t>
            </a:r>
          </a:p>
          <a:p>
            <a:r>
              <a:rPr lang="en-ID" sz="3200" dirty="0"/>
              <a:t>Azure Functions</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AWS Lambda</a:t>
            </a:r>
          </a:p>
        </p:txBody>
      </p:sp>
    </p:spTree>
    <p:extLst>
      <p:ext uri="{BB962C8B-B14F-4D97-AF65-F5344CB8AC3E}">
        <p14:creationId xmlns:p14="http://schemas.microsoft.com/office/powerpoint/2010/main" val="5145830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0C7BE-3A7E-C1DF-C134-65610D88BCCE}"/>
              </a:ext>
            </a:extLst>
          </p:cNvPr>
          <p:cNvSpPr>
            <a:spLocks noGrp="1"/>
          </p:cNvSpPr>
          <p:nvPr>
            <p:ph type="title"/>
          </p:nvPr>
        </p:nvSpPr>
        <p:spPr/>
        <p:txBody>
          <a:bodyPr>
            <a:normAutofit fontScale="90000"/>
          </a:bodyPr>
          <a:lstStyle/>
          <a:p>
            <a:r>
              <a:rPr lang="en-US"/>
              <a:t>aws lambda</a:t>
            </a:r>
            <a:endParaRPr lang="en-US" dirty="0"/>
          </a:p>
        </p:txBody>
      </p:sp>
      <p:sp>
        <p:nvSpPr>
          <p:cNvPr id="3" name="Text Placeholder 2">
            <a:extLst>
              <a:ext uri="{FF2B5EF4-FFF2-40B4-BE49-F238E27FC236}">
                <a16:creationId xmlns:a16="http://schemas.microsoft.com/office/drawing/2014/main" id="{6AB0521C-AA09-047B-7C49-8990FAA4B90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5BF3BE8C-0FB8-B4C9-13F2-7B9824D57393}"/>
              </a:ext>
            </a:extLst>
          </p:cNvPr>
          <p:cNvSpPr>
            <a:spLocks noGrp="1"/>
          </p:cNvSpPr>
          <p:nvPr>
            <p:ph sz="quarter" idx="11"/>
          </p:nvPr>
        </p:nvSpPr>
        <p:spPr>
          <a:xfrm>
            <a:off x="5078782" y="3789839"/>
            <a:ext cx="13714940" cy="8054997"/>
          </a:xfrm>
        </p:spPr>
        <p:txBody>
          <a:bodyPr>
            <a:noAutofit/>
          </a:bodyPr>
          <a:lstStyle/>
          <a:p>
            <a:pPr algn="just"/>
            <a:r>
              <a:rPr lang="en-US" sz="3200"/>
              <a:t>AWS lambda is a on demand compute service. </a:t>
            </a:r>
          </a:p>
          <a:p>
            <a:pPr algn="just"/>
            <a:r>
              <a:rPr lang="en-US" sz="3200"/>
              <a:t>AWS Lambda is a serverless, event-driven compute service that lets you run code for virtually any type of application or backend service without provisioning or managing servers. You can trigger Lambda from over 200 AWS services and software as a service (SaaS) applications, and only pay for what you use.</a:t>
            </a:r>
          </a:p>
          <a:p>
            <a:pPr algn="just"/>
            <a:r>
              <a:rPr lang="en-US" sz="3200"/>
              <a:t>Instead of having a computer running listening to your request, you have a function or logic saved on AWS. Some kind of event, for example, making a request to API gateway endpoint or uploading something to S3 will trigger the function and the function will execute on one of the servers Amazon provisions within milliseconds. </a:t>
            </a:r>
          </a:p>
          <a:p>
            <a:pPr algn="just"/>
            <a:r>
              <a:rPr lang="en-US" sz="3200"/>
              <a:t>That function for example could resize an image in one of your buckets.</a:t>
            </a:r>
            <a:endParaRPr lang="en-US" sz="3200" dirty="0"/>
          </a:p>
        </p:txBody>
      </p:sp>
      <p:pic>
        <p:nvPicPr>
          <p:cNvPr id="1026" name="Picture 2" descr="Demystifying AWS Lambda: How AWS Lambda works in simple words | by Saurav  Sharma | Medium">
            <a:extLst>
              <a:ext uri="{FF2B5EF4-FFF2-40B4-BE49-F238E27FC236}">
                <a16:creationId xmlns:a16="http://schemas.microsoft.com/office/drawing/2014/main" id="{93C00430-30D9-B66B-57B7-6DAD9E540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38751" y="10041435"/>
            <a:ext cx="3606801" cy="3606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69073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5F48-41FB-701E-CB01-2FAA511A116E}"/>
              </a:ext>
            </a:extLst>
          </p:cNvPr>
          <p:cNvSpPr>
            <a:spLocks noGrp="1"/>
          </p:cNvSpPr>
          <p:nvPr>
            <p:ph type="title"/>
          </p:nvPr>
        </p:nvSpPr>
        <p:spPr/>
        <p:txBody>
          <a:bodyPr>
            <a:normAutofit fontScale="90000"/>
          </a:bodyPr>
          <a:lstStyle/>
          <a:p>
            <a:r>
              <a:rPr lang="en-US" dirty="0"/>
              <a:t>Aws Lambda</a:t>
            </a:r>
          </a:p>
        </p:txBody>
      </p:sp>
      <p:sp>
        <p:nvSpPr>
          <p:cNvPr id="3" name="Text Placeholder 2">
            <a:extLst>
              <a:ext uri="{FF2B5EF4-FFF2-40B4-BE49-F238E27FC236}">
                <a16:creationId xmlns:a16="http://schemas.microsoft.com/office/drawing/2014/main" id="{AAE95E2A-48FD-5AA9-263D-91FED04C5E56}"/>
              </a:ext>
            </a:extLst>
          </p:cNvPr>
          <p:cNvSpPr>
            <a:spLocks noGrp="1"/>
          </p:cNvSpPr>
          <p:nvPr>
            <p:ph type="body" sz="quarter" idx="10"/>
          </p:nvPr>
        </p:nvSpPr>
        <p:spPr/>
        <p:txBody>
          <a:bodyPr/>
          <a:lstStyle/>
          <a:p>
            <a:r>
              <a:rPr lang="en-US" dirty="0"/>
              <a:t>How AWS lambda works</a:t>
            </a:r>
          </a:p>
        </p:txBody>
      </p:sp>
      <p:sp>
        <p:nvSpPr>
          <p:cNvPr id="4" name="Content Placeholder 3">
            <a:extLst>
              <a:ext uri="{FF2B5EF4-FFF2-40B4-BE49-F238E27FC236}">
                <a16:creationId xmlns:a16="http://schemas.microsoft.com/office/drawing/2014/main" id="{E0778D62-4456-EDB1-3F2D-C80E1C44A602}"/>
              </a:ext>
            </a:extLst>
          </p:cNvPr>
          <p:cNvSpPr>
            <a:spLocks noGrp="1"/>
          </p:cNvSpPr>
          <p:nvPr>
            <p:ph sz="quarter" idx="11"/>
          </p:nvPr>
        </p:nvSpPr>
        <p:spPr/>
        <p:txBody>
          <a:bodyPr/>
          <a:lstStyle/>
          <a:p>
            <a:endParaRPr lang="en-US"/>
          </a:p>
        </p:txBody>
      </p:sp>
      <p:pic>
        <p:nvPicPr>
          <p:cNvPr id="2050" name="Picture 2" descr="AWS Lambda and How AWS Lambda works ? | by Mehmet Ozkaya | AWS Serverless  Microservices with Patterns &amp; Best Practices | Medium">
            <a:extLst>
              <a:ext uri="{FF2B5EF4-FFF2-40B4-BE49-F238E27FC236}">
                <a16:creationId xmlns:a16="http://schemas.microsoft.com/office/drawing/2014/main" id="{CD9E6F62-A4BD-DE66-8214-41AA5C347B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728414"/>
            <a:ext cx="17780000" cy="773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01808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4635A-7D0A-FBDC-98F7-93F843DDC075}"/>
              </a:ext>
            </a:extLst>
          </p:cNvPr>
          <p:cNvSpPr>
            <a:spLocks noGrp="1"/>
          </p:cNvSpPr>
          <p:nvPr>
            <p:ph type="title"/>
          </p:nvPr>
        </p:nvSpPr>
        <p:spPr/>
        <p:txBody>
          <a:bodyPr>
            <a:normAutofit fontScale="90000"/>
          </a:bodyPr>
          <a:lstStyle/>
          <a:p>
            <a:r>
              <a:rPr lang="en-US" dirty="0"/>
              <a:t>Aws lambda</a:t>
            </a:r>
          </a:p>
        </p:txBody>
      </p:sp>
      <p:sp>
        <p:nvSpPr>
          <p:cNvPr id="3" name="Text Placeholder 2">
            <a:extLst>
              <a:ext uri="{FF2B5EF4-FFF2-40B4-BE49-F238E27FC236}">
                <a16:creationId xmlns:a16="http://schemas.microsoft.com/office/drawing/2014/main" id="{731A44FF-2B10-ADB4-8165-E7920D47CBDD}"/>
              </a:ext>
            </a:extLst>
          </p:cNvPr>
          <p:cNvSpPr>
            <a:spLocks noGrp="1"/>
          </p:cNvSpPr>
          <p:nvPr>
            <p:ph type="body" sz="quarter" idx="10"/>
          </p:nvPr>
        </p:nvSpPr>
        <p:spPr/>
        <p:txBody>
          <a:bodyPr/>
          <a:lstStyle/>
          <a:p>
            <a:r>
              <a:rPr lang="en-US" dirty="0"/>
              <a:t>Why use </a:t>
            </a:r>
            <a:r>
              <a:rPr lang="en-US" dirty="0" err="1"/>
              <a:t>aws</a:t>
            </a:r>
            <a:r>
              <a:rPr lang="en-US" dirty="0"/>
              <a:t> lambda?</a:t>
            </a:r>
          </a:p>
        </p:txBody>
      </p:sp>
      <p:sp>
        <p:nvSpPr>
          <p:cNvPr id="4" name="Content Placeholder 3">
            <a:extLst>
              <a:ext uri="{FF2B5EF4-FFF2-40B4-BE49-F238E27FC236}">
                <a16:creationId xmlns:a16="http://schemas.microsoft.com/office/drawing/2014/main" id="{5AA66FBF-882D-F5B0-88D4-BC9D8E43BD72}"/>
              </a:ext>
            </a:extLst>
          </p:cNvPr>
          <p:cNvSpPr>
            <a:spLocks noGrp="1"/>
          </p:cNvSpPr>
          <p:nvPr>
            <p:ph sz="quarter" idx="11"/>
          </p:nvPr>
        </p:nvSpPr>
        <p:spPr>
          <a:xfrm>
            <a:off x="2167376" y="3260663"/>
            <a:ext cx="20910337" cy="10019908"/>
          </a:xfrm>
        </p:spPr>
        <p:txBody>
          <a:bodyPr>
            <a:noAutofit/>
          </a:bodyPr>
          <a:lstStyle/>
          <a:p>
            <a:pPr marL="514350" indent="-514350" algn="just">
              <a:buFont typeface="+mj-lt"/>
              <a:buAutoNum type="arabicPeriod"/>
            </a:pPr>
            <a:r>
              <a:rPr lang="en-US" sz="3200" dirty="0">
                <a:solidFill>
                  <a:srgbClr val="FFFF00"/>
                </a:solidFill>
              </a:rPr>
              <a:t>Serverless Architecture:</a:t>
            </a:r>
          </a:p>
          <a:p>
            <a:pPr algn="just"/>
            <a:r>
              <a:rPr lang="en-US" sz="3200" dirty="0"/>
              <a:t>Lambda enables a serverless architecture, allowing developers to focus on writing code without the need to provision, manage, or scale servers. This simplifies the development process and reduces operational overhead.</a:t>
            </a:r>
          </a:p>
          <a:p>
            <a:pPr algn="just"/>
            <a:endParaRPr lang="en-US" sz="3200" dirty="0"/>
          </a:p>
          <a:p>
            <a:pPr marL="514350" indent="-514350" algn="just">
              <a:buFont typeface="+mj-lt"/>
              <a:buAutoNum type="arabicPeriod" startAt="2"/>
            </a:pPr>
            <a:r>
              <a:rPr lang="en-US" sz="3200" dirty="0">
                <a:solidFill>
                  <a:srgbClr val="FFFF00"/>
                </a:solidFill>
              </a:rPr>
              <a:t>Automatic Scaling:</a:t>
            </a:r>
          </a:p>
          <a:p>
            <a:pPr marL="0" indent="0" algn="just">
              <a:buNone/>
            </a:pPr>
            <a:r>
              <a:rPr lang="en-US" sz="3200" dirty="0"/>
              <a:t>AWS Lambda automatically scales based on the number of incoming requests. It can handle a virtually unlimited number of requests, scaling both up and down as needed. This ensures optimal performance without manual intervention.</a:t>
            </a:r>
          </a:p>
          <a:p>
            <a:pPr marL="0" indent="0" algn="just">
              <a:buNone/>
            </a:pPr>
            <a:endParaRPr lang="en-US" sz="3200" dirty="0">
              <a:solidFill>
                <a:srgbClr val="FFFF00"/>
              </a:solidFill>
            </a:endParaRPr>
          </a:p>
          <a:p>
            <a:pPr marL="514350" indent="-514350" algn="just">
              <a:buFont typeface="+mj-lt"/>
              <a:buAutoNum type="arabicPeriod" startAt="3"/>
            </a:pPr>
            <a:r>
              <a:rPr lang="en-US" sz="3200" dirty="0">
                <a:solidFill>
                  <a:srgbClr val="FFFF00"/>
                </a:solidFill>
              </a:rPr>
              <a:t>Pay-as-You-Go Pricing:</a:t>
            </a:r>
          </a:p>
          <a:p>
            <a:pPr marL="0" indent="0" algn="just">
              <a:buNone/>
            </a:pPr>
            <a:r>
              <a:rPr lang="en-US" sz="3200" dirty="0"/>
              <a:t>Lambda follows a pay-as-you-go pricing model, where you are charged based on the number of requests and the duration of code execution. You only pay for the compute resources used during the actual execution of your code.</a:t>
            </a:r>
          </a:p>
        </p:txBody>
      </p:sp>
    </p:spTree>
    <p:extLst>
      <p:ext uri="{BB962C8B-B14F-4D97-AF65-F5344CB8AC3E}">
        <p14:creationId xmlns:p14="http://schemas.microsoft.com/office/powerpoint/2010/main" val="294683689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4635A-7D0A-FBDC-98F7-93F843DDC075}"/>
              </a:ext>
            </a:extLst>
          </p:cNvPr>
          <p:cNvSpPr>
            <a:spLocks noGrp="1"/>
          </p:cNvSpPr>
          <p:nvPr>
            <p:ph type="title"/>
          </p:nvPr>
        </p:nvSpPr>
        <p:spPr/>
        <p:txBody>
          <a:bodyPr>
            <a:normAutofit fontScale="90000"/>
          </a:bodyPr>
          <a:lstStyle/>
          <a:p>
            <a:r>
              <a:rPr lang="en-US" dirty="0"/>
              <a:t>Aws lambda</a:t>
            </a:r>
          </a:p>
        </p:txBody>
      </p:sp>
      <p:sp>
        <p:nvSpPr>
          <p:cNvPr id="3" name="Text Placeholder 2">
            <a:extLst>
              <a:ext uri="{FF2B5EF4-FFF2-40B4-BE49-F238E27FC236}">
                <a16:creationId xmlns:a16="http://schemas.microsoft.com/office/drawing/2014/main" id="{731A44FF-2B10-ADB4-8165-E7920D47CBDD}"/>
              </a:ext>
            </a:extLst>
          </p:cNvPr>
          <p:cNvSpPr>
            <a:spLocks noGrp="1"/>
          </p:cNvSpPr>
          <p:nvPr>
            <p:ph type="body" sz="quarter" idx="10"/>
          </p:nvPr>
        </p:nvSpPr>
        <p:spPr/>
        <p:txBody>
          <a:bodyPr/>
          <a:lstStyle/>
          <a:p>
            <a:r>
              <a:rPr lang="en-US" dirty="0"/>
              <a:t>Why use </a:t>
            </a:r>
            <a:r>
              <a:rPr lang="en-US" dirty="0" err="1"/>
              <a:t>aws</a:t>
            </a:r>
            <a:r>
              <a:rPr lang="en-US" dirty="0"/>
              <a:t> lambda?</a:t>
            </a:r>
          </a:p>
        </p:txBody>
      </p:sp>
      <p:sp>
        <p:nvSpPr>
          <p:cNvPr id="4" name="Content Placeholder 3">
            <a:extLst>
              <a:ext uri="{FF2B5EF4-FFF2-40B4-BE49-F238E27FC236}">
                <a16:creationId xmlns:a16="http://schemas.microsoft.com/office/drawing/2014/main" id="{5AA66FBF-882D-F5B0-88D4-BC9D8E43BD72}"/>
              </a:ext>
            </a:extLst>
          </p:cNvPr>
          <p:cNvSpPr>
            <a:spLocks noGrp="1"/>
          </p:cNvSpPr>
          <p:nvPr>
            <p:ph sz="quarter" idx="11"/>
          </p:nvPr>
        </p:nvSpPr>
        <p:spPr>
          <a:xfrm>
            <a:off x="2167376" y="3260663"/>
            <a:ext cx="20910337" cy="10019908"/>
          </a:xfrm>
        </p:spPr>
        <p:txBody>
          <a:bodyPr>
            <a:noAutofit/>
          </a:bodyPr>
          <a:lstStyle/>
          <a:p>
            <a:pPr marL="514350" indent="-514350" algn="just">
              <a:buFont typeface="+mj-lt"/>
              <a:buAutoNum type="arabicPeriod" startAt="4"/>
            </a:pPr>
            <a:r>
              <a:rPr lang="en-US" sz="3200" dirty="0">
                <a:solidFill>
                  <a:srgbClr val="FFFF00"/>
                </a:solidFill>
              </a:rPr>
              <a:t>Event-Driven Architecture:</a:t>
            </a:r>
          </a:p>
          <a:p>
            <a:pPr algn="just"/>
            <a:r>
              <a:rPr lang="en-US" sz="3200" dirty="0"/>
              <a:t>Lambda functions are triggered by events, such as changes to data in S3, updates to a DynamoDB table, or HTTP requests via API Gateway. This event-driven model is well-suited for building reactive and scalable applications.</a:t>
            </a:r>
          </a:p>
          <a:p>
            <a:pPr algn="just"/>
            <a:endParaRPr lang="en-US" sz="3200" dirty="0"/>
          </a:p>
          <a:p>
            <a:pPr marL="514350" indent="-514350" algn="just">
              <a:buFont typeface="+mj-lt"/>
              <a:buAutoNum type="arabicPeriod" startAt="5"/>
            </a:pPr>
            <a:r>
              <a:rPr lang="en-US" sz="3200" dirty="0">
                <a:solidFill>
                  <a:srgbClr val="FFFF00"/>
                </a:solidFill>
              </a:rPr>
              <a:t>Multi-Language Support</a:t>
            </a:r>
            <a:r>
              <a:rPr lang="en-US" sz="3200" dirty="0"/>
              <a:t>:</a:t>
            </a:r>
          </a:p>
          <a:p>
            <a:pPr algn="just"/>
            <a:r>
              <a:rPr lang="en-US" sz="3200" dirty="0"/>
              <a:t>Lambda supports multiple programming languages, including Node.js, Python, Java, C#, Go, and more. This flexibility allows developers to choose the language that best suits their application requirements.</a:t>
            </a:r>
          </a:p>
          <a:p>
            <a:pPr algn="just"/>
            <a:endParaRPr lang="en-US" sz="3200" dirty="0"/>
          </a:p>
          <a:p>
            <a:pPr marL="514350" indent="-514350" algn="just">
              <a:buFont typeface="+mj-lt"/>
              <a:buAutoNum type="arabicPeriod" startAt="6"/>
            </a:pPr>
            <a:r>
              <a:rPr lang="en-US" sz="3200" dirty="0">
                <a:solidFill>
                  <a:srgbClr val="FFFF00"/>
                </a:solidFill>
              </a:rPr>
              <a:t>Integration with AWS Services:</a:t>
            </a:r>
          </a:p>
          <a:p>
            <a:pPr algn="just"/>
            <a:r>
              <a:rPr lang="en-US" sz="3200" dirty="0"/>
              <a:t>Lambda seamlessly integrates with various AWS services, enabling you to build comprehensive serverless applications. Common integrations include API Gateway for building RESTful APIs, S3 for file storage, DynamoDB for NoSQL databases, and more.</a:t>
            </a:r>
          </a:p>
        </p:txBody>
      </p:sp>
    </p:spTree>
    <p:extLst>
      <p:ext uri="{BB962C8B-B14F-4D97-AF65-F5344CB8AC3E}">
        <p14:creationId xmlns:p14="http://schemas.microsoft.com/office/powerpoint/2010/main" val="239543065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4635A-7D0A-FBDC-98F7-93F843DDC075}"/>
              </a:ext>
            </a:extLst>
          </p:cNvPr>
          <p:cNvSpPr>
            <a:spLocks noGrp="1"/>
          </p:cNvSpPr>
          <p:nvPr>
            <p:ph type="title"/>
          </p:nvPr>
        </p:nvSpPr>
        <p:spPr/>
        <p:txBody>
          <a:bodyPr>
            <a:normAutofit fontScale="90000"/>
          </a:bodyPr>
          <a:lstStyle/>
          <a:p>
            <a:r>
              <a:rPr lang="en-US" dirty="0"/>
              <a:t>Aws lambda</a:t>
            </a:r>
          </a:p>
        </p:txBody>
      </p:sp>
      <p:sp>
        <p:nvSpPr>
          <p:cNvPr id="3" name="Text Placeholder 2">
            <a:extLst>
              <a:ext uri="{FF2B5EF4-FFF2-40B4-BE49-F238E27FC236}">
                <a16:creationId xmlns:a16="http://schemas.microsoft.com/office/drawing/2014/main" id="{731A44FF-2B10-ADB4-8165-E7920D47CBDD}"/>
              </a:ext>
            </a:extLst>
          </p:cNvPr>
          <p:cNvSpPr>
            <a:spLocks noGrp="1"/>
          </p:cNvSpPr>
          <p:nvPr>
            <p:ph type="body" sz="quarter" idx="10"/>
          </p:nvPr>
        </p:nvSpPr>
        <p:spPr/>
        <p:txBody>
          <a:bodyPr/>
          <a:lstStyle/>
          <a:p>
            <a:r>
              <a:rPr lang="en-US" dirty="0"/>
              <a:t>Why use </a:t>
            </a:r>
            <a:r>
              <a:rPr lang="en-US" dirty="0" err="1"/>
              <a:t>aws</a:t>
            </a:r>
            <a:r>
              <a:rPr lang="en-US" dirty="0"/>
              <a:t> lambda?</a:t>
            </a:r>
          </a:p>
        </p:txBody>
      </p:sp>
      <p:sp>
        <p:nvSpPr>
          <p:cNvPr id="4" name="Content Placeholder 3">
            <a:extLst>
              <a:ext uri="{FF2B5EF4-FFF2-40B4-BE49-F238E27FC236}">
                <a16:creationId xmlns:a16="http://schemas.microsoft.com/office/drawing/2014/main" id="{5AA66FBF-882D-F5B0-88D4-BC9D8E43BD72}"/>
              </a:ext>
            </a:extLst>
          </p:cNvPr>
          <p:cNvSpPr>
            <a:spLocks noGrp="1"/>
          </p:cNvSpPr>
          <p:nvPr>
            <p:ph sz="quarter" idx="11"/>
          </p:nvPr>
        </p:nvSpPr>
        <p:spPr>
          <a:xfrm>
            <a:off x="2167376" y="3260663"/>
            <a:ext cx="20910337" cy="10019908"/>
          </a:xfrm>
        </p:spPr>
        <p:txBody>
          <a:bodyPr>
            <a:noAutofit/>
          </a:bodyPr>
          <a:lstStyle/>
          <a:p>
            <a:pPr marL="514350" indent="-514350" algn="just">
              <a:buFont typeface="+mj-lt"/>
              <a:buAutoNum type="arabicPeriod" startAt="7"/>
            </a:pPr>
            <a:r>
              <a:rPr lang="en-US" sz="3200" dirty="0">
                <a:solidFill>
                  <a:srgbClr val="FFFF00"/>
                </a:solidFill>
              </a:rPr>
              <a:t>Microservices Architecture:</a:t>
            </a:r>
          </a:p>
          <a:p>
            <a:pPr algn="just"/>
            <a:r>
              <a:rPr lang="en-US" sz="3200" dirty="0"/>
              <a:t>Lambda functions are small, single-purpose units of computation, making them well-suited for a microservices architecture. You can compose applications from multiple Lambda functions, each responsible for a specific task.</a:t>
            </a:r>
          </a:p>
          <a:p>
            <a:pPr marL="0" indent="0" algn="just">
              <a:buNone/>
            </a:pPr>
            <a:endParaRPr lang="en-US" sz="3200" dirty="0">
              <a:solidFill>
                <a:srgbClr val="FFFF00"/>
              </a:solidFill>
            </a:endParaRPr>
          </a:p>
          <a:p>
            <a:pPr marL="514350" indent="-514350" algn="just">
              <a:buFont typeface="+mj-lt"/>
              <a:buAutoNum type="arabicPeriod" startAt="8"/>
            </a:pPr>
            <a:r>
              <a:rPr lang="en-US" sz="3200" dirty="0">
                <a:solidFill>
                  <a:srgbClr val="FFFF00"/>
                </a:solidFill>
              </a:rPr>
              <a:t>Rapid Development and Deployment</a:t>
            </a:r>
          </a:p>
          <a:p>
            <a:pPr algn="just"/>
            <a:r>
              <a:rPr lang="en-US" sz="3200" dirty="0"/>
              <a:t>With Lambda, you can quickly develop and deploy functions without the need to manage infrastructure. This agility is especially beneficial for prototyping, testing, and iterating on applications.</a:t>
            </a:r>
          </a:p>
          <a:p>
            <a:pPr algn="just"/>
            <a:endParaRPr lang="en-US" sz="3200" dirty="0"/>
          </a:p>
          <a:p>
            <a:pPr marL="514350" indent="-514350" algn="just">
              <a:buFont typeface="+mj-lt"/>
              <a:buAutoNum type="arabicPeriod" startAt="9"/>
            </a:pPr>
            <a:r>
              <a:rPr lang="en-US" sz="3200" dirty="0">
                <a:solidFill>
                  <a:srgbClr val="FFFF00"/>
                </a:solidFill>
              </a:rPr>
              <a:t>Low Maintenance Overhead:</a:t>
            </a:r>
          </a:p>
          <a:p>
            <a:pPr algn="just"/>
            <a:r>
              <a:rPr lang="en-US" sz="3200" dirty="0"/>
              <a:t>Lambda seamlessly integrates with various AWS services, enabling you to build comprehensive serverless applications. Common integrations include API Gateway for building RESTful APIs, S3 for file storage, DynamoDB for NoSQL databases, and more.</a:t>
            </a:r>
          </a:p>
        </p:txBody>
      </p:sp>
    </p:spTree>
    <p:extLst>
      <p:ext uri="{BB962C8B-B14F-4D97-AF65-F5344CB8AC3E}">
        <p14:creationId xmlns:p14="http://schemas.microsoft.com/office/powerpoint/2010/main" val="217263934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4635A-7D0A-FBDC-98F7-93F843DDC075}"/>
              </a:ext>
            </a:extLst>
          </p:cNvPr>
          <p:cNvSpPr>
            <a:spLocks noGrp="1"/>
          </p:cNvSpPr>
          <p:nvPr>
            <p:ph type="title"/>
          </p:nvPr>
        </p:nvSpPr>
        <p:spPr/>
        <p:txBody>
          <a:bodyPr>
            <a:normAutofit fontScale="90000"/>
          </a:bodyPr>
          <a:lstStyle/>
          <a:p>
            <a:r>
              <a:rPr lang="en-US" dirty="0"/>
              <a:t>Aws lambda</a:t>
            </a:r>
          </a:p>
        </p:txBody>
      </p:sp>
      <p:sp>
        <p:nvSpPr>
          <p:cNvPr id="3" name="Text Placeholder 2">
            <a:extLst>
              <a:ext uri="{FF2B5EF4-FFF2-40B4-BE49-F238E27FC236}">
                <a16:creationId xmlns:a16="http://schemas.microsoft.com/office/drawing/2014/main" id="{731A44FF-2B10-ADB4-8165-E7920D47CBDD}"/>
              </a:ext>
            </a:extLst>
          </p:cNvPr>
          <p:cNvSpPr>
            <a:spLocks noGrp="1"/>
          </p:cNvSpPr>
          <p:nvPr>
            <p:ph type="body" sz="quarter" idx="10"/>
          </p:nvPr>
        </p:nvSpPr>
        <p:spPr/>
        <p:txBody>
          <a:bodyPr/>
          <a:lstStyle/>
          <a:p>
            <a:r>
              <a:rPr lang="en-US" dirty="0"/>
              <a:t>Why use </a:t>
            </a:r>
            <a:r>
              <a:rPr lang="en-US" dirty="0" err="1"/>
              <a:t>aws</a:t>
            </a:r>
            <a:r>
              <a:rPr lang="en-US" dirty="0"/>
              <a:t> lambda?</a:t>
            </a:r>
          </a:p>
        </p:txBody>
      </p:sp>
      <p:sp>
        <p:nvSpPr>
          <p:cNvPr id="4" name="Content Placeholder 3">
            <a:extLst>
              <a:ext uri="{FF2B5EF4-FFF2-40B4-BE49-F238E27FC236}">
                <a16:creationId xmlns:a16="http://schemas.microsoft.com/office/drawing/2014/main" id="{5AA66FBF-882D-F5B0-88D4-BC9D8E43BD72}"/>
              </a:ext>
            </a:extLst>
          </p:cNvPr>
          <p:cNvSpPr>
            <a:spLocks noGrp="1"/>
          </p:cNvSpPr>
          <p:nvPr>
            <p:ph sz="quarter" idx="11"/>
          </p:nvPr>
        </p:nvSpPr>
        <p:spPr>
          <a:xfrm>
            <a:off x="2167376" y="3260663"/>
            <a:ext cx="20910337" cy="10019908"/>
          </a:xfrm>
        </p:spPr>
        <p:txBody>
          <a:bodyPr>
            <a:noAutofit/>
          </a:bodyPr>
          <a:lstStyle/>
          <a:p>
            <a:pPr marL="514350" indent="-514350" algn="just">
              <a:buFont typeface="+mj-lt"/>
              <a:buAutoNum type="arabicPeriod" startAt="10"/>
            </a:pPr>
            <a:r>
              <a:rPr lang="en-US" sz="3200" dirty="0">
                <a:solidFill>
                  <a:srgbClr val="FFFF00"/>
                </a:solidFill>
              </a:rPr>
              <a:t>Built-in Fault Tolerance:</a:t>
            </a:r>
          </a:p>
          <a:p>
            <a:pPr algn="just"/>
            <a:r>
              <a:rPr lang="en-US" sz="3200" dirty="0"/>
              <a:t>Lambda automatically replicates functions across multiple availability zones, providing built-in fault tolerance. If one availability zone experiences issues, the function can still be executed in another zone.</a:t>
            </a:r>
          </a:p>
          <a:p>
            <a:pPr algn="just"/>
            <a:endParaRPr lang="en-US" sz="3200" dirty="0"/>
          </a:p>
          <a:p>
            <a:pPr marL="514350" indent="-514350" algn="just">
              <a:buFont typeface="+mj-lt"/>
              <a:buAutoNum type="arabicPeriod" startAt="11"/>
            </a:pPr>
            <a:r>
              <a:rPr lang="en-US" sz="3200" dirty="0">
                <a:solidFill>
                  <a:srgbClr val="FFFF00"/>
                </a:solidFill>
              </a:rPr>
              <a:t>Global Reach:</a:t>
            </a:r>
          </a:p>
          <a:p>
            <a:pPr algn="just"/>
            <a:r>
              <a:rPr lang="en-US" sz="3200" dirty="0"/>
              <a:t>Lambda functions can be deployed in multiple AWS regions, allowing you to build applications with a global reach. This is beneficial for minimizing latency and ensuring responsiveness for users worldwide.</a:t>
            </a:r>
          </a:p>
          <a:p>
            <a:pPr algn="just"/>
            <a:endParaRPr lang="en-US" sz="3200" dirty="0"/>
          </a:p>
          <a:p>
            <a:pPr marL="514350" indent="-514350" algn="just">
              <a:buFont typeface="+mj-lt"/>
              <a:buAutoNum type="arabicPeriod" startAt="12"/>
            </a:pPr>
            <a:r>
              <a:rPr lang="en-US" sz="3200" dirty="0">
                <a:solidFill>
                  <a:srgbClr val="FFFF00"/>
                </a:solidFill>
              </a:rPr>
              <a:t>Event Logging and Monitoring:</a:t>
            </a:r>
          </a:p>
          <a:p>
            <a:pPr algn="just"/>
            <a:r>
              <a:rPr lang="en-US" sz="3200" dirty="0"/>
              <a:t>AWS Lambda provides built-in logging and monitoring through Amazon CloudWatch. You can easily track and analyze function executions, set up alarms, and gain insights into application performance.</a:t>
            </a:r>
          </a:p>
        </p:txBody>
      </p:sp>
    </p:spTree>
    <p:extLst>
      <p:ext uri="{BB962C8B-B14F-4D97-AF65-F5344CB8AC3E}">
        <p14:creationId xmlns:p14="http://schemas.microsoft.com/office/powerpoint/2010/main" val="365236991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Google cloud Functions</a:t>
            </a:r>
          </a:p>
        </p:txBody>
      </p:sp>
    </p:spTree>
    <p:extLst>
      <p:ext uri="{BB962C8B-B14F-4D97-AF65-F5344CB8AC3E}">
        <p14:creationId xmlns:p14="http://schemas.microsoft.com/office/powerpoint/2010/main" val="152760291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DBFB-78C3-F164-987E-B424AE1BE2C0}"/>
              </a:ext>
            </a:extLst>
          </p:cNvPr>
          <p:cNvSpPr>
            <a:spLocks noGrp="1"/>
          </p:cNvSpPr>
          <p:nvPr>
            <p:ph type="title"/>
          </p:nvPr>
        </p:nvSpPr>
        <p:spPr/>
        <p:txBody>
          <a:bodyPr>
            <a:normAutofit fontScale="90000"/>
          </a:bodyPr>
          <a:lstStyle/>
          <a:p>
            <a:r>
              <a:rPr lang="en-US" dirty="0"/>
              <a:t>Google Cloud Functions</a:t>
            </a:r>
          </a:p>
        </p:txBody>
      </p:sp>
      <p:sp>
        <p:nvSpPr>
          <p:cNvPr id="3" name="Text Placeholder 2">
            <a:extLst>
              <a:ext uri="{FF2B5EF4-FFF2-40B4-BE49-F238E27FC236}">
                <a16:creationId xmlns:a16="http://schemas.microsoft.com/office/drawing/2014/main" id="{C531AC16-821E-5F9C-139C-15BB9BE4BE2A}"/>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77B128D-296A-E7FE-827C-53B9814FC3E1}"/>
              </a:ext>
            </a:extLst>
          </p:cNvPr>
          <p:cNvSpPr>
            <a:spLocks noGrp="1"/>
          </p:cNvSpPr>
          <p:nvPr>
            <p:ph sz="quarter" idx="11"/>
          </p:nvPr>
        </p:nvSpPr>
        <p:spPr/>
        <p:txBody>
          <a:bodyPr>
            <a:normAutofit lnSpcReduction="10000"/>
          </a:bodyPr>
          <a:lstStyle/>
          <a:p>
            <a:pPr algn="just"/>
            <a:r>
              <a:rPr lang="en-US" sz="3200" dirty="0"/>
              <a:t>Google Cloud Functions is a serverless compute service provided by Google Cloud Platform (GCP). Like AWS Lambda, it allows developers to run event-triggered functions without managing the underlying infrastructure.</a:t>
            </a:r>
          </a:p>
          <a:p>
            <a:pPr algn="just"/>
            <a:r>
              <a:rPr lang="en-US" sz="3200" dirty="0"/>
              <a:t>Google Cloud Functions is a powerful tool for building serverless applications on Google Cloud Platform. It is particularly well-suited for developers who are already using or planning to use other GCP services as part of their application architecture.</a:t>
            </a:r>
          </a:p>
        </p:txBody>
      </p:sp>
      <p:pic>
        <p:nvPicPr>
          <p:cNvPr id="3074" name="Picture 2" descr="Getting started with Cloud Functions">
            <a:extLst>
              <a:ext uri="{FF2B5EF4-FFF2-40B4-BE49-F238E27FC236}">
                <a16:creationId xmlns:a16="http://schemas.microsoft.com/office/drawing/2014/main" id="{EE4B88BC-1DAE-2E23-C66F-CC569C2992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1870" y="8862074"/>
            <a:ext cx="4465652" cy="4465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947811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801A3-19C4-76B1-2529-AD391E8462B1}"/>
              </a:ext>
            </a:extLst>
          </p:cNvPr>
          <p:cNvSpPr>
            <a:spLocks noGrp="1"/>
          </p:cNvSpPr>
          <p:nvPr>
            <p:ph type="title"/>
          </p:nvPr>
        </p:nvSpPr>
        <p:spPr/>
        <p:txBody>
          <a:bodyPr>
            <a:normAutofit fontScale="90000"/>
          </a:bodyPr>
          <a:lstStyle/>
          <a:p>
            <a:r>
              <a:rPr lang="en-US" dirty="0"/>
              <a:t>Google cloud functions</a:t>
            </a:r>
          </a:p>
        </p:txBody>
      </p:sp>
      <p:sp>
        <p:nvSpPr>
          <p:cNvPr id="3" name="Text Placeholder 2">
            <a:extLst>
              <a:ext uri="{FF2B5EF4-FFF2-40B4-BE49-F238E27FC236}">
                <a16:creationId xmlns:a16="http://schemas.microsoft.com/office/drawing/2014/main" id="{1A089094-FC83-DC39-7992-7AED12270526}"/>
              </a:ext>
            </a:extLst>
          </p:cNvPr>
          <p:cNvSpPr>
            <a:spLocks noGrp="1"/>
          </p:cNvSpPr>
          <p:nvPr>
            <p:ph type="body" sz="quarter" idx="10"/>
          </p:nvPr>
        </p:nvSpPr>
        <p:spPr/>
        <p:txBody>
          <a:bodyPr/>
          <a:lstStyle/>
          <a:p>
            <a:r>
              <a:rPr lang="en-US" dirty="0"/>
              <a:t>Why google cloud functions?</a:t>
            </a:r>
          </a:p>
        </p:txBody>
      </p:sp>
      <p:sp>
        <p:nvSpPr>
          <p:cNvPr id="4" name="Content Placeholder 3">
            <a:extLst>
              <a:ext uri="{FF2B5EF4-FFF2-40B4-BE49-F238E27FC236}">
                <a16:creationId xmlns:a16="http://schemas.microsoft.com/office/drawing/2014/main" id="{D9AA63CA-C952-36EE-119D-B57E74C9B6E5}"/>
              </a:ext>
            </a:extLst>
          </p:cNvPr>
          <p:cNvSpPr>
            <a:spLocks noGrp="1"/>
          </p:cNvSpPr>
          <p:nvPr>
            <p:ph sz="quarter" idx="11"/>
          </p:nvPr>
        </p:nvSpPr>
        <p:spPr>
          <a:xfrm>
            <a:off x="2167376" y="3260662"/>
            <a:ext cx="20605537" cy="9932823"/>
          </a:xfrm>
        </p:spPr>
        <p:txBody>
          <a:bodyPr>
            <a:normAutofit lnSpcReduction="10000"/>
          </a:bodyPr>
          <a:lstStyle/>
          <a:p>
            <a:pPr marL="514350" indent="-514350">
              <a:buFont typeface="+mj-lt"/>
              <a:buAutoNum type="arabicPeriod"/>
            </a:pPr>
            <a:r>
              <a:rPr lang="en-US" sz="3200" dirty="0">
                <a:solidFill>
                  <a:srgbClr val="FFFF00"/>
                </a:solidFill>
              </a:rPr>
              <a:t>Serverless Computing:</a:t>
            </a:r>
          </a:p>
          <a:p>
            <a:r>
              <a:rPr lang="en-US" sz="3200" dirty="0"/>
              <a:t>Cloud Functions abstracts the infrastructure, allowing developers to focus on writing code without the need for server provisioning, scaling, or maintenance.</a:t>
            </a:r>
          </a:p>
          <a:p>
            <a:endParaRPr lang="en-US" sz="3200" dirty="0"/>
          </a:p>
          <a:p>
            <a:pPr marL="514350" indent="-514350">
              <a:buFont typeface="+mj-lt"/>
              <a:buAutoNum type="arabicPeriod" startAt="2"/>
            </a:pPr>
            <a:r>
              <a:rPr lang="en-US" sz="3200" dirty="0">
                <a:solidFill>
                  <a:srgbClr val="FFFF00"/>
                </a:solidFill>
              </a:rPr>
              <a:t>Language Support:</a:t>
            </a:r>
          </a:p>
          <a:p>
            <a:r>
              <a:rPr lang="en-US" sz="3200" dirty="0"/>
              <a:t>Google Cloud Functions supports multiple programming languages, including Node.js, Python, Go, Java, .NET, and more. This flexibility allows developers to choose the language that best suits their expertise and application requirements.</a:t>
            </a:r>
          </a:p>
          <a:p>
            <a:pPr marL="0" indent="0">
              <a:buNone/>
            </a:pPr>
            <a:endParaRPr lang="en-US" sz="3200" dirty="0"/>
          </a:p>
          <a:p>
            <a:pPr marL="514350" indent="-514350">
              <a:buFont typeface="+mj-lt"/>
              <a:buAutoNum type="arabicPeriod" startAt="3"/>
            </a:pPr>
            <a:r>
              <a:rPr lang="en-US" sz="3200" dirty="0">
                <a:solidFill>
                  <a:srgbClr val="FFFF00"/>
                </a:solidFill>
              </a:rPr>
              <a:t>Automatic Scaling:</a:t>
            </a:r>
          </a:p>
          <a:p>
            <a:pPr marL="0" indent="0">
              <a:buNone/>
            </a:pPr>
            <a:r>
              <a:rPr lang="en-US" sz="3200" dirty="0"/>
              <a:t>Google Cloud Functions scales automatically in response to the number of incoming requests. It can handle a high volume of concurrent executions and scales down to zero when there is no traffic, minimizing costs.</a:t>
            </a:r>
          </a:p>
        </p:txBody>
      </p:sp>
    </p:spTree>
    <p:extLst>
      <p:ext uri="{BB962C8B-B14F-4D97-AF65-F5344CB8AC3E}">
        <p14:creationId xmlns:p14="http://schemas.microsoft.com/office/powerpoint/2010/main" val="260189448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801A3-19C4-76B1-2529-AD391E8462B1}"/>
              </a:ext>
            </a:extLst>
          </p:cNvPr>
          <p:cNvSpPr>
            <a:spLocks noGrp="1"/>
          </p:cNvSpPr>
          <p:nvPr>
            <p:ph type="title"/>
          </p:nvPr>
        </p:nvSpPr>
        <p:spPr/>
        <p:txBody>
          <a:bodyPr>
            <a:normAutofit fontScale="90000"/>
          </a:bodyPr>
          <a:lstStyle/>
          <a:p>
            <a:r>
              <a:rPr lang="en-US" dirty="0"/>
              <a:t>Google cloud functions</a:t>
            </a:r>
          </a:p>
        </p:txBody>
      </p:sp>
      <p:sp>
        <p:nvSpPr>
          <p:cNvPr id="3" name="Text Placeholder 2">
            <a:extLst>
              <a:ext uri="{FF2B5EF4-FFF2-40B4-BE49-F238E27FC236}">
                <a16:creationId xmlns:a16="http://schemas.microsoft.com/office/drawing/2014/main" id="{1A089094-FC83-DC39-7992-7AED12270526}"/>
              </a:ext>
            </a:extLst>
          </p:cNvPr>
          <p:cNvSpPr>
            <a:spLocks noGrp="1"/>
          </p:cNvSpPr>
          <p:nvPr>
            <p:ph type="body" sz="quarter" idx="10"/>
          </p:nvPr>
        </p:nvSpPr>
        <p:spPr/>
        <p:txBody>
          <a:bodyPr/>
          <a:lstStyle/>
          <a:p>
            <a:r>
              <a:rPr lang="en-US" dirty="0"/>
              <a:t>Why google cloud functions?</a:t>
            </a:r>
          </a:p>
        </p:txBody>
      </p:sp>
      <p:sp>
        <p:nvSpPr>
          <p:cNvPr id="4" name="Content Placeholder 3">
            <a:extLst>
              <a:ext uri="{FF2B5EF4-FFF2-40B4-BE49-F238E27FC236}">
                <a16:creationId xmlns:a16="http://schemas.microsoft.com/office/drawing/2014/main" id="{D9AA63CA-C952-36EE-119D-B57E74C9B6E5}"/>
              </a:ext>
            </a:extLst>
          </p:cNvPr>
          <p:cNvSpPr>
            <a:spLocks noGrp="1"/>
          </p:cNvSpPr>
          <p:nvPr>
            <p:ph sz="quarter" idx="11"/>
          </p:nvPr>
        </p:nvSpPr>
        <p:spPr>
          <a:xfrm>
            <a:off x="2167376" y="3260662"/>
            <a:ext cx="20605537" cy="9932823"/>
          </a:xfrm>
        </p:spPr>
        <p:txBody>
          <a:bodyPr>
            <a:normAutofit/>
          </a:bodyPr>
          <a:lstStyle/>
          <a:p>
            <a:pPr marL="514350" indent="-514350">
              <a:buFont typeface="+mj-lt"/>
              <a:buAutoNum type="arabicPeriod" startAt="4"/>
            </a:pPr>
            <a:r>
              <a:rPr lang="en-US" sz="3200" dirty="0">
                <a:solidFill>
                  <a:srgbClr val="FFFF00"/>
                </a:solidFill>
              </a:rPr>
              <a:t>Triggers and Binding:</a:t>
            </a:r>
          </a:p>
          <a:p>
            <a:r>
              <a:rPr lang="en-US" sz="3200" dirty="0"/>
              <a:t>Cloud Functions use triggers to specify the event that will invoke the function. Additionally, developers can use Cloud Function bindings to interact with other GCP services in a serverless manner.</a:t>
            </a:r>
          </a:p>
          <a:p>
            <a:endParaRPr lang="en-US" sz="3200" dirty="0"/>
          </a:p>
          <a:p>
            <a:pPr marL="514350" indent="-514350">
              <a:buFont typeface="+mj-lt"/>
              <a:buAutoNum type="arabicPeriod" startAt="5"/>
            </a:pPr>
            <a:r>
              <a:rPr lang="en-US" sz="3200" dirty="0">
                <a:solidFill>
                  <a:srgbClr val="FFFF00"/>
                </a:solidFill>
              </a:rPr>
              <a:t>Environment Variables:</a:t>
            </a:r>
          </a:p>
          <a:p>
            <a:r>
              <a:rPr lang="en-US" sz="3200" dirty="0"/>
              <a:t>Google Cloud Functions allows the use of environment variables to store configuration settings, API keys, and other sensitive information.</a:t>
            </a:r>
          </a:p>
          <a:p>
            <a:endParaRPr lang="en-US" sz="3200" dirty="0"/>
          </a:p>
          <a:p>
            <a:pPr marL="514350" indent="-514350">
              <a:buFont typeface="+mj-lt"/>
              <a:buAutoNum type="arabicPeriod" startAt="6"/>
            </a:pPr>
            <a:r>
              <a:rPr lang="en-US" sz="3200" dirty="0">
                <a:solidFill>
                  <a:srgbClr val="FFFF00"/>
                </a:solidFill>
              </a:rPr>
              <a:t>Monitoring and Logging:</a:t>
            </a:r>
          </a:p>
          <a:p>
            <a:r>
              <a:rPr lang="en-US" sz="3200" dirty="0"/>
              <a:t>Google Cloud Functions integrates with Cloud Monitoring and Cloud Logging, providing visibility into function executions. Developers can set up alerts, monitor performance metrics, and analyze logs.</a:t>
            </a:r>
          </a:p>
        </p:txBody>
      </p:sp>
    </p:spTree>
    <p:extLst>
      <p:ext uri="{BB962C8B-B14F-4D97-AF65-F5344CB8AC3E}">
        <p14:creationId xmlns:p14="http://schemas.microsoft.com/office/powerpoint/2010/main" val="198687610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Azure</a:t>
            </a:r>
          </a:p>
        </p:txBody>
      </p:sp>
    </p:spTree>
    <p:extLst>
      <p:ext uri="{BB962C8B-B14F-4D97-AF65-F5344CB8AC3E}">
        <p14:creationId xmlns:p14="http://schemas.microsoft.com/office/powerpoint/2010/main" val="146211266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EA643-B922-1F84-786C-B82EF2155BED}"/>
              </a:ext>
            </a:extLst>
          </p:cNvPr>
          <p:cNvSpPr>
            <a:spLocks noGrp="1"/>
          </p:cNvSpPr>
          <p:nvPr>
            <p:ph type="title"/>
          </p:nvPr>
        </p:nvSpPr>
        <p:spPr/>
        <p:txBody>
          <a:bodyPr>
            <a:normAutofit fontScale="90000"/>
          </a:bodyPr>
          <a:lstStyle/>
          <a:p>
            <a:r>
              <a:rPr lang="en-US" dirty="0"/>
              <a:t>Azure</a:t>
            </a:r>
          </a:p>
        </p:txBody>
      </p:sp>
      <p:sp>
        <p:nvSpPr>
          <p:cNvPr id="3" name="Text Placeholder 2">
            <a:extLst>
              <a:ext uri="{FF2B5EF4-FFF2-40B4-BE49-F238E27FC236}">
                <a16:creationId xmlns:a16="http://schemas.microsoft.com/office/drawing/2014/main" id="{8B34EF30-4591-969F-2AB5-0F9C0134C63A}"/>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BB5594C9-4D34-BA8E-3A59-BA1F51CA454B}"/>
              </a:ext>
            </a:extLst>
          </p:cNvPr>
          <p:cNvSpPr>
            <a:spLocks noGrp="1"/>
          </p:cNvSpPr>
          <p:nvPr>
            <p:ph sz="quarter" idx="11"/>
          </p:nvPr>
        </p:nvSpPr>
        <p:spPr>
          <a:xfrm>
            <a:off x="5334530" y="4159954"/>
            <a:ext cx="13714940" cy="7684882"/>
          </a:xfrm>
        </p:spPr>
        <p:txBody>
          <a:bodyPr>
            <a:normAutofit/>
          </a:bodyPr>
          <a:lstStyle/>
          <a:p>
            <a:pPr algn="just"/>
            <a:r>
              <a:rPr lang="en-US" sz="3200" dirty="0"/>
              <a:t>Azure, also known as Microsoft Azure, is a comprehensive cloud computing platform provided by Microsoft. </a:t>
            </a:r>
          </a:p>
          <a:p>
            <a:pPr algn="just"/>
            <a:r>
              <a:rPr lang="en-US" sz="3200" dirty="0"/>
              <a:t>It offers a wide range of cloud services and solutions, enabling organizations to build, deploy, and manage applications and services through Microsoft's global network of data centers.</a:t>
            </a:r>
          </a:p>
          <a:p>
            <a:pPr algn="just"/>
            <a:r>
              <a:rPr lang="en-US" sz="3200" dirty="0"/>
              <a:t>Azure is Microsoft's public cloud platform. Azure offers a large collection of services, which includes platform as a service (PaaS), infrastructure as a service (IaaS), and managed database service capabilities</a:t>
            </a:r>
          </a:p>
        </p:txBody>
      </p:sp>
      <p:pic>
        <p:nvPicPr>
          <p:cNvPr id="4098" name="Picture 2" descr="Microsoft Azure - Wikipedia">
            <a:extLst>
              <a:ext uri="{FF2B5EF4-FFF2-40B4-BE49-F238E27FC236}">
                <a16:creationId xmlns:a16="http://schemas.microsoft.com/office/drawing/2014/main" id="{1E56DB2B-11F4-308E-DA33-9B6B1122D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1870" y="8817429"/>
            <a:ext cx="4898571" cy="4898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86743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EB20-0C43-0D27-7B99-968994CF92F4}"/>
              </a:ext>
            </a:extLst>
          </p:cNvPr>
          <p:cNvSpPr>
            <a:spLocks noGrp="1"/>
          </p:cNvSpPr>
          <p:nvPr>
            <p:ph type="title"/>
          </p:nvPr>
        </p:nvSpPr>
        <p:spPr/>
        <p:txBody>
          <a:bodyPr>
            <a:normAutofit fontScale="90000"/>
          </a:bodyPr>
          <a:lstStyle/>
          <a:p>
            <a:r>
              <a:rPr lang="en-US" dirty="0"/>
              <a:t>azure</a:t>
            </a:r>
          </a:p>
        </p:txBody>
      </p:sp>
      <p:sp>
        <p:nvSpPr>
          <p:cNvPr id="3" name="Text Placeholder 2">
            <a:extLst>
              <a:ext uri="{FF2B5EF4-FFF2-40B4-BE49-F238E27FC236}">
                <a16:creationId xmlns:a16="http://schemas.microsoft.com/office/drawing/2014/main" id="{E24EED64-9DEB-7EF9-6FA8-E7768EAE4822}"/>
              </a:ext>
            </a:extLst>
          </p:cNvPr>
          <p:cNvSpPr>
            <a:spLocks noGrp="1"/>
          </p:cNvSpPr>
          <p:nvPr>
            <p:ph type="body" sz="quarter" idx="10"/>
          </p:nvPr>
        </p:nvSpPr>
        <p:spPr/>
        <p:txBody>
          <a:bodyPr/>
          <a:lstStyle/>
          <a:p>
            <a:r>
              <a:rPr lang="en-US" dirty="0"/>
              <a:t>Why use azure</a:t>
            </a:r>
          </a:p>
        </p:txBody>
      </p:sp>
      <p:sp>
        <p:nvSpPr>
          <p:cNvPr id="4" name="Content Placeholder 3">
            <a:extLst>
              <a:ext uri="{FF2B5EF4-FFF2-40B4-BE49-F238E27FC236}">
                <a16:creationId xmlns:a16="http://schemas.microsoft.com/office/drawing/2014/main" id="{C75CD1B5-150D-197F-18FE-5AD3BBF714FC}"/>
              </a:ext>
            </a:extLst>
          </p:cNvPr>
          <p:cNvSpPr>
            <a:spLocks noGrp="1"/>
          </p:cNvSpPr>
          <p:nvPr>
            <p:ph sz="quarter" idx="11"/>
          </p:nvPr>
        </p:nvSpPr>
        <p:spPr>
          <a:xfrm>
            <a:off x="2167377" y="3223274"/>
            <a:ext cx="20257194" cy="9273526"/>
          </a:xfrm>
        </p:spPr>
        <p:txBody>
          <a:bodyPr>
            <a:normAutofit fontScale="92500" lnSpcReduction="20000"/>
          </a:bodyPr>
          <a:lstStyle/>
          <a:p>
            <a:pPr marL="514350" indent="-514350">
              <a:buFont typeface="+mj-lt"/>
              <a:buAutoNum type="arabicPeriod"/>
            </a:pPr>
            <a:r>
              <a:rPr lang="en-US" sz="3200" dirty="0">
                <a:solidFill>
                  <a:srgbClr val="FFFF00"/>
                </a:solidFill>
              </a:rPr>
              <a:t>Compute Services:</a:t>
            </a:r>
          </a:p>
          <a:p>
            <a:r>
              <a:rPr lang="en-US" sz="3200" dirty="0"/>
              <a:t>Azure provides various compute services, including virtual machines (VMs), Azure Kubernetes Service (AKS) for container orchestration, Azure Functions for serverless computing, and Azure Batch for large-scale parallel processing.</a:t>
            </a:r>
          </a:p>
          <a:p>
            <a:endParaRPr lang="en-US" sz="3200" dirty="0"/>
          </a:p>
          <a:p>
            <a:pPr marL="514350" indent="-514350">
              <a:buFont typeface="+mj-lt"/>
              <a:buAutoNum type="arabicPeriod" startAt="2"/>
            </a:pPr>
            <a:r>
              <a:rPr lang="en-US" sz="3200" dirty="0">
                <a:solidFill>
                  <a:srgbClr val="FFFF00"/>
                </a:solidFill>
              </a:rPr>
              <a:t>Storage Services:</a:t>
            </a:r>
          </a:p>
          <a:p>
            <a:r>
              <a:rPr lang="en-US" sz="3200" dirty="0"/>
              <a:t>Azure offers scalable and secure storage solutions such as Azure Blob Storage (for object storage), Azure File Storage (for file shares), Azure Table Storage (NoSQL data store), and Azure Queue Storage (for messaging between application components).</a:t>
            </a:r>
          </a:p>
          <a:p>
            <a:endParaRPr lang="en-US" sz="3200" dirty="0"/>
          </a:p>
          <a:p>
            <a:pPr marL="514350" indent="-514350">
              <a:buFont typeface="+mj-lt"/>
              <a:buAutoNum type="arabicPeriod" startAt="3"/>
            </a:pPr>
            <a:r>
              <a:rPr lang="en-US" sz="3200" dirty="0">
                <a:solidFill>
                  <a:srgbClr val="FFFF00"/>
                </a:solidFill>
              </a:rPr>
              <a:t>Database Services:</a:t>
            </a:r>
          </a:p>
          <a:p>
            <a:r>
              <a:rPr lang="en-US" sz="3200" dirty="0"/>
              <a:t>Azure provides a range of database services, including Azure SQL Database (relational database), Azure Cosmos DB (globally distributed, multi-model database), Azure Redis Cache (in-memory caching), and more.</a:t>
            </a:r>
          </a:p>
        </p:txBody>
      </p:sp>
    </p:spTree>
    <p:extLst>
      <p:ext uri="{BB962C8B-B14F-4D97-AF65-F5344CB8AC3E}">
        <p14:creationId xmlns:p14="http://schemas.microsoft.com/office/powerpoint/2010/main" val="421609719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EB20-0C43-0D27-7B99-968994CF92F4}"/>
              </a:ext>
            </a:extLst>
          </p:cNvPr>
          <p:cNvSpPr>
            <a:spLocks noGrp="1"/>
          </p:cNvSpPr>
          <p:nvPr>
            <p:ph type="title"/>
          </p:nvPr>
        </p:nvSpPr>
        <p:spPr/>
        <p:txBody>
          <a:bodyPr>
            <a:normAutofit fontScale="90000"/>
          </a:bodyPr>
          <a:lstStyle/>
          <a:p>
            <a:r>
              <a:rPr lang="en-US" dirty="0"/>
              <a:t>azure</a:t>
            </a:r>
          </a:p>
        </p:txBody>
      </p:sp>
      <p:sp>
        <p:nvSpPr>
          <p:cNvPr id="3" name="Text Placeholder 2">
            <a:extLst>
              <a:ext uri="{FF2B5EF4-FFF2-40B4-BE49-F238E27FC236}">
                <a16:creationId xmlns:a16="http://schemas.microsoft.com/office/drawing/2014/main" id="{E24EED64-9DEB-7EF9-6FA8-E7768EAE4822}"/>
              </a:ext>
            </a:extLst>
          </p:cNvPr>
          <p:cNvSpPr>
            <a:spLocks noGrp="1"/>
          </p:cNvSpPr>
          <p:nvPr>
            <p:ph type="body" sz="quarter" idx="10"/>
          </p:nvPr>
        </p:nvSpPr>
        <p:spPr/>
        <p:txBody>
          <a:bodyPr/>
          <a:lstStyle/>
          <a:p>
            <a:r>
              <a:rPr lang="en-US" dirty="0"/>
              <a:t>Why use azure</a:t>
            </a:r>
          </a:p>
        </p:txBody>
      </p:sp>
      <p:sp>
        <p:nvSpPr>
          <p:cNvPr id="4" name="Content Placeholder 3">
            <a:extLst>
              <a:ext uri="{FF2B5EF4-FFF2-40B4-BE49-F238E27FC236}">
                <a16:creationId xmlns:a16="http://schemas.microsoft.com/office/drawing/2014/main" id="{C75CD1B5-150D-197F-18FE-5AD3BBF714FC}"/>
              </a:ext>
            </a:extLst>
          </p:cNvPr>
          <p:cNvSpPr>
            <a:spLocks noGrp="1"/>
          </p:cNvSpPr>
          <p:nvPr>
            <p:ph sz="quarter" idx="11"/>
          </p:nvPr>
        </p:nvSpPr>
        <p:spPr>
          <a:xfrm>
            <a:off x="2167377" y="3223274"/>
            <a:ext cx="20257194" cy="9273526"/>
          </a:xfrm>
        </p:spPr>
        <p:txBody>
          <a:bodyPr>
            <a:normAutofit fontScale="92500" lnSpcReduction="10000"/>
          </a:bodyPr>
          <a:lstStyle/>
          <a:p>
            <a:pPr marL="514350" indent="-514350">
              <a:buFont typeface="+mj-lt"/>
              <a:buAutoNum type="arabicPeriod" startAt="4"/>
            </a:pPr>
            <a:r>
              <a:rPr lang="en-US" sz="3200" dirty="0">
                <a:solidFill>
                  <a:srgbClr val="FFFF00"/>
                </a:solidFill>
              </a:rPr>
              <a:t>Networking:</a:t>
            </a:r>
          </a:p>
          <a:p>
            <a:r>
              <a:rPr lang="en-US" sz="3200" dirty="0"/>
              <a:t>Azure offers networking services for building and managing network infrastructure. This includes Azure Virtual Network, Azure Load Balancer, Azure VPN Gateway, Azure Application Gateway, and Azure CDN (Content Delivery Network).</a:t>
            </a:r>
          </a:p>
          <a:p>
            <a:pPr marL="0" indent="0">
              <a:buNone/>
            </a:pPr>
            <a:endParaRPr lang="en-US" sz="3200" dirty="0"/>
          </a:p>
          <a:p>
            <a:pPr marL="514350" indent="-514350">
              <a:buFont typeface="+mj-lt"/>
              <a:buAutoNum type="arabicPeriod" startAt="5"/>
            </a:pPr>
            <a:r>
              <a:rPr lang="en-US" sz="3200" dirty="0">
                <a:solidFill>
                  <a:srgbClr val="FFFF00"/>
                </a:solidFill>
              </a:rPr>
              <a:t>Identity and Access Management:</a:t>
            </a:r>
          </a:p>
          <a:p>
            <a:r>
              <a:rPr lang="en-US" sz="3200" dirty="0"/>
              <a:t>Azure Active Directory (Azure AD) is Microsoft's identity and access management service, providing secure authentication and authorization for applications and users.</a:t>
            </a:r>
          </a:p>
          <a:p>
            <a:endParaRPr lang="en-US" sz="3200" dirty="0"/>
          </a:p>
          <a:p>
            <a:pPr marL="514350" indent="-514350">
              <a:buFont typeface="+mj-lt"/>
              <a:buAutoNum type="arabicPeriod" startAt="6"/>
            </a:pPr>
            <a:r>
              <a:rPr lang="en-US" sz="3200" dirty="0">
                <a:solidFill>
                  <a:srgbClr val="FFFF00"/>
                </a:solidFill>
              </a:rPr>
              <a:t>Security and Compliance:</a:t>
            </a:r>
          </a:p>
          <a:p>
            <a:r>
              <a:rPr lang="en-US" sz="3200" dirty="0"/>
              <a:t>Azure includes a range of security features, including Azure Security Center for threat protection, Azure Policy for compliance management, and Azure Key Vault for managing cryptographic keys and secrets.</a:t>
            </a:r>
          </a:p>
        </p:txBody>
      </p:sp>
    </p:spTree>
    <p:extLst>
      <p:ext uri="{BB962C8B-B14F-4D97-AF65-F5344CB8AC3E}">
        <p14:creationId xmlns:p14="http://schemas.microsoft.com/office/powerpoint/2010/main" val="163686208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EB20-0C43-0D27-7B99-968994CF92F4}"/>
              </a:ext>
            </a:extLst>
          </p:cNvPr>
          <p:cNvSpPr>
            <a:spLocks noGrp="1"/>
          </p:cNvSpPr>
          <p:nvPr>
            <p:ph type="title"/>
          </p:nvPr>
        </p:nvSpPr>
        <p:spPr/>
        <p:txBody>
          <a:bodyPr>
            <a:normAutofit fontScale="90000"/>
          </a:bodyPr>
          <a:lstStyle/>
          <a:p>
            <a:r>
              <a:rPr lang="en-US" dirty="0"/>
              <a:t>azure</a:t>
            </a:r>
          </a:p>
        </p:txBody>
      </p:sp>
      <p:sp>
        <p:nvSpPr>
          <p:cNvPr id="3" name="Text Placeholder 2">
            <a:extLst>
              <a:ext uri="{FF2B5EF4-FFF2-40B4-BE49-F238E27FC236}">
                <a16:creationId xmlns:a16="http://schemas.microsoft.com/office/drawing/2014/main" id="{E24EED64-9DEB-7EF9-6FA8-E7768EAE4822}"/>
              </a:ext>
            </a:extLst>
          </p:cNvPr>
          <p:cNvSpPr>
            <a:spLocks noGrp="1"/>
          </p:cNvSpPr>
          <p:nvPr>
            <p:ph type="body" sz="quarter" idx="10"/>
          </p:nvPr>
        </p:nvSpPr>
        <p:spPr/>
        <p:txBody>
          <a:bodyPr/>
          <a:lstStyle/>
          <a:p>
            <a:r>
              <a:rPr lang="en-US" dirty="0"/>
              <a:t>Why use azure</a:t>
            </a:r>
          </a:p>
        </p:txBody>
      </p:sp>
      <p:sp>
        <p:nvSpPr>
          <p:cNvPr id="4" name="Content Placeholder 3">
            <a:extLst>
              <a:ext uri="{FF2B5EF4-FFF2-40B4-BE49-F238E27FC236}">
                <a16:creationId xmlns:a16="http://schemas.microsoft.com/office/drawing/2014/main" id="{C75CD1B5-150D-197F-18FE-5AD3BBF714FC}"/>
              </a:ext>
            </a:extLst>
          </p:cNvPr>
          <p:cNvSpPr>
            <a:spLocks noGrp="1"/>
          </p:cNvSpPr>
          <p:nvPr>
            <p:ph sz="quarter" idx="11"/>
          </p:nvPr>
        </p:nvSpPr>
        <p:spPr>
          <a:xfrm>
            <a:off x="2167377" y="3223274"/>
            <a:ext cx="20257194" cy="9273526"/>
          </a:xfrm>
        </p:spPr>
        <p:txBody>
          <a:bodyPr>
            <a:normAutofit fontScale="92500" lnSpcReduction="10000"/>
          </a:bodyPr>
          <a:lstStyle/>
          <a:p>
            <a:pPr marL="514350" indent="-514350" algn="just">
              <a:buFont typeface="+mj-lt"/>
              <a:buAutoNum type="arabicPeriod" startAt="7"/>
            </a:pPr>
            <a:r>
              <a:rPr lang="en-US" sz="3200" dirty="0">
                <a:solidFill>
                  <a:srgbClr val="FFFF00"/>
                </a:solidFill>
              </a:rPr>
              <a:t>AI and Machine Learning:</a:t>
            </a:r>
          </a:p>
          <a:p>
            <a:pPr marL="0" indent="0" algn="just">
              <a:buNone/>
            </a:pPr>
            <a:r>
              <a:rPr lang="en-US" sz="3200" dirty="0"/>
              <a:t>Azure AI services enable developers to build AI-powered applications. This includes Azure Machine Learning for building, training, and deploying machine learning models, and Azure Cognitive Services for pre-built AI capabilities.</a:t>
            </a:r>
          </a:p>
          <a:p>
            <a:pPr marL="0" indent="0" algn="just">
              <a:buNone/>
            </a:pPr>
            <a:endParaRPr lang="en-US" sz="3200" dirty="0"/>
          </a:p>
          <a:p>
            <a:pPr marL="514350" indent="-514350" algn="just">
              <a:buFont typeface="+mj-lt"/>
              <a:buAutoNum type="arabicPeriod" startAt="8"/>
            </a:pPr>
            <a:r>
              <a:rPr lang="en-US" sz="3200" dirty="0">
                <a:solidFill>
                  <a:srgbClr val="FFFF00"/>
                </a:solidFill>
              </a:rPr>
              <a:t>Internet of Things (IoT):</a:t>
            </a:r>
          </a:p>
          <a:p>
            <a:pPr algn="just"/>
            <a:r>
              <a:rPr lang="en-US" sz="3200" dirty="0"/>
              <a:t>Azure IoT services help organizations connect, monitor, and manage IoT devices. This includes Azure IoT Hub, Azure IoT Central, and Azure Sphere for secure and scalable IoT solutions.</a:t>
            </a:r>
          </a:p>
          <a:p>
            <a:pPr algn="just"/>
            <a:endParaRPr lang="en-US" sz="3200" dirty="0"/>
          </a:p>
          <a:p>
            <a:pPr marL="514350" indent="-514350" algn="just">
              <a:buFont typeface="+mj-lt"/>
              <a:buAutoNum type="arabicPeriod" startAt="8"/>
            </a:pPr>
            <a:r>
              <a:rPr lang="en-US" sz="3200" dirty="0">
                <a:solidFill>
                  <a:srgbClr val="FFFF00"/>
                </a:solidFill>
              </a:rPr>
              <a:t>Analytics and Big Data:</a:t>
            </a:r>
          </a:p>
          <a:p>
            <a:pPr algn="just"/>
            <a:r>
              <a:rPr lang="en-US" sz="3200" dirty="0"/>
              <a:t>Azure offers services for big data and analytics, such as Azure HDInsight (managed Hadoop, Spark, and more), Azure Data Lake Storage, Azure Databricks (collaborative Apache Spark-based analytics platform), and Azure Synapse Analytics (formerly SQL Data Warehouse).</a:t>
            </a:r>
          </a:p>
          <a:p>
            <a:pPr marL="514350" indent="-514350" algn="just">
              <a:buFont typeface="+mj-lt"/>
              <a:buAutoNum type="arabicPeriod" startAt="8"/>
            </a:pPr>
            <a:endParaRPr lang="en-US" sz="3200" dirty="0"/>
          </a:p>
        </p:txBody>
      </p:sp>
    </p:spTree>
    <p:extLst>
      <p:ext uri="{BB962C8B-B14F-4D97-AF65-F5344CB8AC3E}">
        <p14:creationId xmlns:p14="http://schemas.microsoft.com/office/powerpoint/2010/main" val="120324217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Tips choosing cloud</a:t>
            </a:r>
          </a:p>
        </p:txBody>
      </p:sp>
    </p:spTree>
    <p:extLst>
      <p:ext uri="{BB962C8B-B14F-4D97-AF65-F5344CB8AC3E}">
        <p14:creationId xmlns:p14="http://schemas.microsoft.com/office/powerpoint/2010/main" val="166939795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FAD4C-7A18-C147-2561-6507C0AD0ACC}"/>
              </a:ext>
            </a:extLst>
          </p:cNvPr>
          <p:cNvSpPr>
            <a:spLocks noGrp="1"/>
          </p:cNvSpPr>
          <p:nvPr>
            <p:ph type="title"/>
          </p:nvPr>
        </p:nvSpPr>
        <p:spPr/>
        <p:txBody>
          <a:bodyPr>
            <a:normAutofit fontScale="90000"/>
          </a:bodyPr>
          <a:lstStyle/>
          <a:p>
            <a:r>
              <a:rPr lang="en-US" dirty="0"/>
              <a:t>Tips to choose cloud provider</a:t>
            </a:r>
          </a:p>
        </p:txBody>
      </p:sp>
      <p:sp>
        <p:nvSpPr>
          <p:cNvPr id="3" name="Text Placeholder 2">
            <a:extLst>
              <a:ext uri="{FF2B5EF4-FFF2-40B4-BE49-F238E27FC236}">
                <a16:creationId xmlns:a16="http://schemas.microsoft.com/office/drawing/2014/main" id="{64C0625B-E18B-A01B-8FF9-FE28734D86C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29AA29A-B148-E563-BE82-DFD63864797F}"/>
              </a:ext>
            </a:extLst>
          </p:cNvPr>
          <p:cNvSpPr>
            <a:spLocks noGrp="1"/>
          </p:cNvSpPr>
          <p:nvPr>
            <p:ph sz="quarter" idx="11"/>
          </p:nvPr>
        </p:nvSpPr>
        <p:spPr>
          <a:xfrm>
            <a:off x="2167376" y="3260662"/>
            <a:ext cx="20757937" cy="9845737"/>
          </a:xfrm>
        </p:spPr>
        <p:txBody>
          <a:bodyPr>
            <a:normAutofit/>
          </a:bodyPr>
          <a:lstStyle/>
          <a:p>
            <a:pPr algn="just"/>
            <a:r>
              <a:rPr lang="en-US" sz="3200" dirty="0"/>
              <a:t>The choice between AWS Lambda, Google Cloud Functions, or Azure Functions depends on various factors, including your specific requirements, existing infrastructure, development preferences, and the features offered by each cloud provider. Here are some considerations to help you make a decision:</a:t>
            </a:r>
          </a:p>
          <a:p>
            <a:pPr algn="just"/>
            <a:endParaRPr lang="en-US" sz="3200" dirty="0"/>
          </a:p>
          <a:p>
            <a:pPr marL="514350" indent="-514350" algn="just">
              <a:buFont typeface="+mj-lt"/>
              <a:buAutoNum type="arabicPeriod"/>
            </a:pPr>
            <a:r>
              <a:rPr lang="en-US" sz="3200" dirty="0">
                <a:solidFill>
                  <a:srgbClr val="FFFF00"/>
                </a:solidFill>
              </a:rPr>
              <a:t>Platform Familiarity:</a:t>
            </a:r>
          </a:p>
          <a:p>
            <a:pPr algn="just"/>
            <a:r>
              <a:rPr lang="en-US" sz="3200" dirty="0"/>
              <a:t>If your team is already familiar with a specific cloud platform, it may be advantageous to stick with that platform. Consider the existing skill set and knowledge within your organization.</a:t>
            </a:r>
          </a:p>
          <a:p>
            <a:pPr algn="just"/>
            <a:endParaRPr lang="en-US" sz="3200" dirty="0"/>
          </a:p>
          <a:p>
            <a:pPr marL="514350" indent="-514350" algn="just">
              <a:buFont typeface="+mj-lt"/>
              <a:buAutoNum type="arabicPeriod" startAt="2"/>
            </a:pPr>
            <a:r>
              <a:rPr lang="en-US" sz="3200" dirty="0">
                <a:solidFill>
                  <a:srgbClr val="FFFF00"/>
                </a:solidFill>
              </a:rPr>
              <a:t>Integration with Existing Services:</a:t>
            </a:r>
          </a:p>
          <a:p>
            <a:pPr marL="0" indent="0" algn="just">
              <a:buNone/>
            </a:pPr>
            <a:r>
              <a:rPr lang="en-US" sz="3200" dirty="0"/>
              <a:t>Consider the services and tools that each cloud provider offers and how well they integrate with your existing or planned infrastructure. Each platform has its ecosystem of services, and choosing one that aligns with your needs can simplify integration.</a:t>
            </a:r>
          </a:p>
          <a:p>
            <a:pPr marL="514350" indent="-514350" algn="just">
              <a:buFont typeface="+mj-lt"/>
              <a:buAutoNum type="arabicPeriod" startAt="2"/>
            </a:pPr>
            <a:endParaRPr lang="en-US" sz="3200" dirty="0"/>
          </a:p>
          <a:p>
            <a:pPr algn="just"/>
            <a:endParaRPr lang="en-US" sz="3200" dirty="0"/>
          </a:p>
        </p:txBody>
      </p:sp>
    </p:spTree>
    <p:extLst>
      <p:ext uri="{BB962C8B-B14F-4D97-AF65-F5344CB8AC3E}">
        <p14:creationId xmlns:p14="http://schemas.microsoft.com/office/powerpoint/2010/main" val="331006968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FAD4C-7A18-C147-2561-6507C0AD0ACC}"/>
              </a:ext>
            </a:extLst>
          </p:cNvPr>
          <p:cNvSpPr>
            <a:spLocks noGrp="1"/>
          </p:cNvSpPr>
          <p:nvPr>
            <p:ph type="title"/>
          </p:nvPr>
        </p:nvSpPr>
        <p:spPr/>
        <p:txBody>
          <a:bodyPr>
            <a:normAutofit fontScale="90000"/>
          </a:bodyPr>
          <a:lstStyle/>
          <a:p>
            <a:r>
              <a:rPr lang="en-US" dirty="0"/>
              <a:t>Tips to choose cloud provider</a:t>
            </a:r>
          </a:p>
        </p:txBody>
      </p:sp>
      <p:sp>
        <p:nvSpPr>
          <p:cNvPr id="3" name="Text Placeholder 2">
            <a:extLst>
              <a:ext uri="{FF2B5EF4-FFF2-40B4-BE49-F238E27FC236}">
                <a16:creationId xmlns:a16="http://schemas.microsoft.com/office/drawing/2014/main" id="{64C0625B-E18B-A01B-8FF9-FE28734D86C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29AA29A-B148-E563-BE82-DFD63864797F}"/>
              </a:ext>
            </a:extLst>
          </p:cNvPr>
          <p:cNvSpPr>
            <a:spLocks noGrp="1"/>
          </p:cNvSpPr>
          <p:nvPr>
            <p:ph sz="quarter" idx="11"/>
          </p:nvPr>
        </p:nvSpPr>
        <p:spPr>
          <a:xfrm>
            <a:off x="2167376" y="3260662"/>
            <a:ext cx="20757937" cy="9845737"/>
          </a:xfrm>
        </p:spPr>
        <p:txBody>
          <a:bodyPr>
            <a:normAutofit lnSpcReduction="10000"/>
          </a:bodyPr>
          <a:lstStyle/>
          <a:p>
            <a:pPr marL="514350" indent="-514350" algn="just">
              <a:buFont typeface="+mj-lt"/>
              <a:buAutoNum type="arabicPeriod" startAt="3"/>
            </a:pPr>
            <a:r>
              <a:rPr lang="en-US" sz="3200" dirty="0">
                <a:solidFill>
                  <a:srgbClr val="FFFF00"/>
                </a:solidFill>
              </a:rPr>
              <a:t>Programming Language Support:</a:t>
            </a:r>
          </a:p>
          <a:p>
            <a:pPr algn="just"/>
            <a:r>
              <a:rPr lang="en-US" sz="3200" dirty="0"/>
              <a:t>Check the programming languages supported by each serverless platform. Choose a platform that supports the languages you are comfortable with or that aligns with your application requirements.</a:t>
            </a:r>
          </a:p>
          <a:p>
            <a:pPr algn="just"/>
            <a:endParaRPr lang="en-US" sz="3200" dirty="0"/>
          </a:p>
          <a:p>
            <a:pPr marL="514350" indent="-514350" algn="just">
              <a:buFont typeface="+mj-lt"/>
              <a:buAutoNum type="arabicPeriod" startAt="4"/>
            </a:pPr>
            <a:r>
              <a:rPr lang="en-US" sz="3200" dirty="0">
                <a:solidFill>
                  <a:srgbClr val="FFFF00"/>
                </a:solidFill>
              </a:rPr>
              <a:t>Scalability and Performance:</a:t>
            </a:r>
          </a:p>
          <a:p>
            <a:pPr algn="just"/>
            <a:r>
              <a:rPr lang="en-US" sz="3200" dirty="0"/>
              <a:t>Assess the scalability and performance characteristics of each serverless platform. Look at how well they handle scaling, concurrent executions, and the latency of function invocations.</a:t>
            </a:r>
          </a:p>
          <a:p>
            <a:pPr algn="just"/>
            <a:endParaRPr lang="en-US" sz="3200" dirty="0"/>
          </a:p>
          <a:p>
            <a:pPr marL="514350" indent="-514350" algn="just">
              <a:buFont typeface="+mj-lt"/>
              <a:buAutoNum type="arabicPeriod" startAt="5"/>
            </a:pPr>
            <a:r>
              <a:rPr lang="en-US" sz="3200" dirty="0">
                <a:solidFill>
                  <a:srgbClr val="FFFF00"/>
                </a:solidFill>
              </a:rPr>
              <a:t>Pricing Model:</a:t>
            </a:r>
          </a:p>
          <a:p>
            <a:pPr algn="just"/>
            <a:r>
              <a:rPr lang="en-US" sz="3200" dirty="0"/>
              <a:t>Compare the pricing models of AWS Lambda, Google Cloud Functions, and Azure Functions. Consider how each platform charges for compute resources, requests, and execution time. Choose the pricing model that aligns with your budget and usage patterns.</a:t>
            </a:r>
          </a:p>
        </p:txBody>
      </p:sp>
    </p:spTree>
    <p:extLst>
      <p:ext uri="{BB962C8B-B14F-4D97-AF65-F5344CB8AC3E}">
        <p14:creationId xmlns:p14="http://schemas.microsoft.com/office/powerpoint/2010/main" val="4044550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8204732"/>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https://aws.amazon.com/lambda/</a:t>
            </a:r>
            <a:endParaRPr lang="en-US" sz="3200" dirty="0"/>
          </a:p>
          <a:p>
            <a:pPr algn="just"/>
            <a:r>
              <a:rPr lang="en-US" sz="3200" dirty="0">
                <a:hlinkClick r:id="rId3"/>
              </a:rPr>
              <a:t>https://cloud.google.com/functions</a:t>
            </a:r>
            <a:endParaRPr lang="en-US" sz="3200" dirty="0"/>
          </a:p>
          <a:p>
            <a:pPr algn="just"/>
            <a:r>
              <a:rPr lang="en-US" sz="3200" dirty="0">
                <a:hlinkClick r:id="rId4"/>
              </a:rPr>
              <a:t>https://azure.microsoft.com/en-us</a:t>
            </a:r>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14049</TotalTime>
  <Words>1780</Words>
  <Application>Microsoft Macintosh PowerPoint</Application>
  <PresentationFormat>Custom</PresentationFormat>
  <Paragraphs>161</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Tahoma</vt:lpstr>
      <vt:lpstr>Open Sans ExtraBold</vt:lpstr>
      <vt:lpstr>Arial</vt:lpstr>
      <vt:lpstr>OCRB</vt:lpstr>
      <vt:lpstr>Open Sans Semibold</vt:lpstr>
      <vt:lpstr>Open Sans Light</vt:lpstr>
      <vt:lpstr>21_BasicWhite</vt:lpstr>
      <vt:lpstr>Moving to CLoud  Session 13</vt:lpstr>
      <vt:lpstr>Learning Objectives</vt:lpstr>
      <vt:lpstr>Outline</vt:lpstr>
      <vt:lpstr>AWS Lambda</vt:lpstr>
      <vt:lpstr>aws lambda</vt:lpstr>
      <vt:lpstr>Aws Lambda</vt:lpstr>
      <vt:lpstr>Aws lambda</vt:lpstr>
      <vt:lpstr>Aws lambda</vt:lpstr>
      <vt:lpstr>Aws lambda</vt:lpstr>
      <vt:lpstr>Aws lambda</vt:lpstr>
      <vt:lpstr>Google cloud Functions</vt:lpstr>
      <vt:lpstr>Google Cloud Functions</vt:lpstr>
      <vt:lpstr>Google cloud functions</vt:lpstr>
      <vt:lpstr>Google cloud functions</vt:lpstr>
      <vt:lpstr>Azure</vt:lpstr>
      <vt:lpstr>Azure</vt:lpstr>
      <vt:lpstr>azure</vt:lpstr>
      <vt:lpstr>azure</vt:lpstr>
      <vt:lpstr>azure</vt:lpstr>
      <vt:lpstr>Tips choosing cloud</vt:lpstr>
      <vt:lpstr>Tips to choose cloud provider</vt:lpstr>
      <vt:lpstr>Tips to choose cloud provider</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24</cp:revision>
  <dcterms:created xsi:type="dcterms:W3CDTF">2023-06-28T08:14:57Z</dcterms:created>
  <dcterms:modified xsi:type="dcterms:W3CDTF">2023-12-18T12:33:45Z</dcterms:modified>
</cp:coreProperties>
</file>