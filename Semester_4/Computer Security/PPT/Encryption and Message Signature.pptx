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60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82" r:id="rId13"/>
    <p:sldId id="283" r:id="rId14"/>
    <p:sldId id="270" r:id="rId15"/>
    <p:sldId id="271" r:id="rId16"/>
    <p:sldId id="284" r:id="rId17"/>
    <p:sldId id="286" r:id="rId18"/>
    <p:sldId id="272" r:id="rId19"/>
    <p:sldId id="276" r:id="rId20"/>
    <p:sldId id="273" r:id="rId21"/>
    <p:sldId id="274" r:id="rId22"/>
    <p:sldId id="275" r:id="rId23"/>
    <p:sldId id="277" r:id="rId24"/>
    <p:sldId id="278" r:id="rId25"/>
    <p:sldId id="279" r:id="rId26"/>
    <p:sldId id="280" r:id="rId27"/>
    <p:sldId id="287" r:id="rId28"/>
    <p:sldId id="288" r:id="rId29"/>
    <p:sldId id="291" r:id="rId30"/>
    <p:sldId id="289" r:id="rId31"/>
    <p:sldId id="290" r:id="rId32"/>
    <p:sldId id="292" r:id="rId33"/>
    <p:sldId id="293" r:id="rId34"/>
    <p:sldId id="294" r:id="rId35"/>
    <p:sldId id="285" r:id="rId36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1pPr>
    <a:lvl2pPr marL="0" marR="0" indent="4572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2pPr>
    <a:lvl3pPr marL="0" marR="0" indent="9144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3pPr>
    <a:lvl4pPr marL="0" marR="0" indent="13716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4pPr>
    <a:lvl5pPr marL="0" marR="0" indent="18288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5pPr>
    <a:lvl6pPr marL="0" marR="0" indent="22860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6pPr>
    <a:lvl7pPr marL="0" marR="0" indent="27432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7pPr>
    <a:lvl8pPr marL="0" marR="0" indent="32004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8pPr>
    <a:lvl9pPr marL="0" marR="0" indent="3657600" algn="just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Open Sans"/>
        <a:ea typeface="Open Sans"/>
        <a:cs typeface="Open Sans"/>
        <a:sym typeface="Open San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ranz Adeta Junior" initials="FAJ" lastIdx="1" clrIdx="0">
    <p:extLst>
      <p:ext uri="{19B8F6BF-5375-455C-9EA6-DF929625EA0E}">
        <p15:presenceInfo xmlns:p15="http://schemas.microsoft.com/office/powerpoint/2012/main" userId="Franz Adeta Juni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C32219-F3C6-26BB-40A0-ACFFE52A66A1}" v="15" dt="2023-01-27T03:46:00.59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9" autoAdjust="0"/>
    <p:restoredTop sz="86486"/>
  </p:normalViewPr>
  <p:slideViewPr>
    <p:cSldViewPr snapToGrid="0" snapToObjects="1">
      <p:cViewPr varScale="1">
        <p:scale>
          <a:sx n="56" d="100"/>
          <a:sy n="56" d="100"/>
        </p:scale>
        <p:origin x="658" y="53"/>
      </p:cViewPr>
      <p:guideLst/>
    </p:cSldViewPr>
  </p:slideViewPr>
  <p:outlineViewPr>
    <p:cViewPr>
      <p:scale>
        <a:sx n="33" d="100"/>
        <a:sy n="33" d="100"/>
      </p:scale>
      <p:origin x="0" y="-200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z Adeta Junior" userId="S::franz.junior@binus.edu::d2f3a896-bceb-4414-8640-28ba6c6256ff" providerId="AD" clId="Web-{8DC32219-F3C6-26BB-40A0-ACFFE52A66A1}"/>
    <pc:docChg chg="modSld">
      <pc:chgData name="Franz Adeta Junior" userId="S::franz.junior@binus.edu::d2f3a896-bceb-4414-8640-28ba6c6256ff" providerId="AD" clId="Web-{8DC32219-F3C6-26BB-40A0-ACFFE52A66A1}" dt="2023-01-27T03:46:00.594" v="14" actId="1076"/>
      <pc:docMkLst>
        <pc:docMk/>
      </pc:docMkLst>
      <pc:sldChg chg="modSp">
        <pc:chgData name="Franz Adeta Junior" userId="S::franz.junior@binus.edu::d2f3a896-bceb-4414-8640-28ba6c6256ff" providerId="AD" clId="Web-{8DC32219-F3C6-26BB-40A0-ACFFE52A66A1}" dt="2023-01-27T03:36:18.358" v="12" actId="1076"/>
        <pc:sldMkLst>
          <pc:docMk/>
          <pc:sldMk cId="941974407" sldId="266"/>
        </pc:sldMkLst>
        <pc:picChg chg="mod">
          <ac:chgData name="Franz Adeta Junior" userId="S::franz.junior@binus.edu::d2f3a896-bceb-4414-8640-28ba6c6256ff" providerId="AD" clId="Web-{8DC32219-F3C6-26BB-40A0-ACFFE52A66A1}" dt="2023-01-27T03:36:18.358" v="12" actId="1076"/>
          <ac:picMkLst>
            <pc:docMk/>
            <pc:sldMk cId="941974407" sldId="266"/>
            <ac:picMk id="4" creationId="{00000000-0000-0000-0000-000000000000}"/>
          </ac:picMkLst>
        </pc:picChg>
        <pc:picChg chg="mod">
          <ac:chgData name="Franz Adeta Junior" userId="S::franz.junior@binus.edu::d2f3a896-bceb-4414-8640-28ba6c6256ff" providerId="AD" clId="Web-{8DC32219-F3C6-26BB-40A0-ACFFE52A66A1}" dt="2023-01-27T03:35:03.777" v="1" actId="1076"/>
          <ac:picMkLst>
            <pc:docMk/>
            <pc:sldMk cId="941974407" sldId="266"/>
            <ac:picMk id="9" creationId="{00000000-0000-0000-0000-000000000000}"/>
          </ac:picMkLst>
        </pc:picChg>
      </pc:sldChg>
      <pc:sldChg chg="modSp">
        <pc:chgData name="Franz Adeta Junior" userId="S::franz.junior@binus.edu::d2f3a896-bceb-4414-8640-28ba6c6256ff" providerId="AD" clId="Web-{8DC32219-F3C6-26BB-40A0-ACFFE52A66A1}" dt="2023-01-27T03:46:00.594" v="14" actId="1076"/>
        <pc:sldMkLst>
          <pc:docMk/>
          <pc:sldMk cId="1641210236" sldId="267"/>
        </pc:sldMkLst>
        <pc:picChg chg="mod">
          <ac:chgData name="Franz Adeta Junior" userId="S::franz.junior@binus.edu::d2f3a896-bceb-4414-8640-28ba6c6256ff" providerId="AD" clId="Web-{8DC32219-F3C6-26BB-40A0-ACFFE52A66A1}" dt="2023-01-27T03:46:00.594" v="14" actId="1076"/>
          <ac:picMkLst>
            <pc:docMk/>
            <pc:sldMk cId="1641210236" sldId="267"/>
            <ac:picMk id="2" creationId="{00000000-0000-0000-0000-000000000000}"/>
          </ac:picMkLst>
        </pc:picChg>
      </pc:sldChg>
      <pc:sldChg chg="modSp">
        <pc:chgData name="Franz Adeta Junior" userId="S::franz.junior@binus.edu::d2f3a896-bceb-4414-8640-28ba6c6256ff" providerId="AD" clId="Web-{8DC32219-F3C6-26BB-40A0-ACFFE52A66A1}" dt="2023-01-27T03:36:09.482" v="11" actId="1076"/>
        <pc:sldMkLst>
          <pc:docMk/>
          <pc:sldMk cId="164852643" sldId="270"/>
        </pc:sldMkLst>
        <pc:picChg chg="mod">
          <ac:chgData name="Franz Adeta Junior" userId="S::franz.junior@binus.edu::d2f3a896-bceb-4414-8640-28ba6c6256ff" providerId="AD" clId="Web-{8DC32219-F3C6-26BB-40A0-ACFFE52A66A1}" dt="2023-01-27T03:36:09.482" v="11" actId="1076"/>
          <ac:picMkLst>
            <pc:docMk/>
            <pc:sldMk cId="164852643" sldId="270"/>
            <ac:picMk id="3" creationId="{00000000-0000-0000-0000-000000000000}"/>
          </ac:picMkLst>
        </pc:picChg>
      </pc:sldChg>
      <pc:sldChg chg="modSp">
        <pc:chgData name="Franz Adeta Junior" userId="S::franz.junior@binus.edu::d2f3a896-bceb-4414-8640-28ba6c6256ff" providerId="AD" clId="Web-{8DC32219-F3C6-26BB-40A0-ACFFE52A66A1}" dt="2023-01-27T03:35:59.982" v="9" actId="1076"/>
        <pc:sldMkLst>
          <pc:docMk/>
          <pc:sldMk cId="2101498860" sldId="272"/>
        </pc:sldMkLst>
        <pc:picChg chg="mod">
          <ac:chgData name="Franz Adeta Junior" userId="S::franz.junior@binus.edu::d2f3a896-bceb-4414-8640-28ba6c6256ff" providerId="AD" clId="Web-{8DC32219-F3C6-26BB-40A0-ACFFE52A66A1}" dt="2023-01-27T03:35:59.982" v="9" actId="1076"/>
          <ac:picMkLst>
            <pc:docMk/>
            <pc:sldMk cId="2101498860" sldId="272"/>
            <ac:picMk id="7" creationId="{00000000-0000-0000-0000-000000000000}"/>
          </ac:picMkLst>
        </pc:picChg>
      </pc:sldChg>
      <pc:sldChg chg="modSp">
        <pc:chgData name="Franz Adeta Junior" userId="S::franz.junior@binus.edu::d2f3a896-bceb-4414-8640-28ba6c6256ff" providerId="AD" clId="Web-{8DC32219-F3C6-26BB-40A0-ACFFE52A66A1}" dt="2023-01-27T03:35:47.185" v="7" actId="20577"/>
        <pc:sldMkLst>
          <pc:docMk/>
          <pc:sldMk cId="141606830" sldId="276"/>
        </pc:sldMkLst>
        <pc:spChg chg="mod">
          <ac:chgData name="Franz Adeta Junior" userId="S::franz.junior@binus.edu::d2f3a896-bceb-4414-8640-28ba6c6256ff" providerId="AD" clId="Web-{8DC32219-F3C6-26BB-40A0-ACFFE52A66A1}" dt="2023-01-27T03:35:47.185" v="7" actId="20577"/>
          <ac:spMkLst>
            <pc:docMk/>
            <pc:sldMk cId="141606830" sldId="276"/>
            <ac:spMk id="6" creationId="{00000000-0000-0000-0000-000000000000}"/>
          </ac:spMkLst>
        </pc:spChg>
      </pc:sldChg>
      <pc:sldChg chg="modSp">
        <pc:chgData name="Franz Adeta Junior" userId="S::franz.junior@binus.edu::d2f3a896-bceb-4414-8640-28ba6c6256ff" providerId="AD" clId="Web-{8DC32219-F3C6-26BB-40A0-ACFFE52A66A1}" dt="2023-01-27T03:35:28.669" v="4" actId="1076"/>
        <pc:sldMkLst>
          <pc:docMk/>
          <pc:sldMk cId="563271365" sldId="280"/>
        </pc:sldMkLst>
        <pc:picChg chg="mod">
          <ac:chgData name="Franz Adeta Junior" userId="S::franz.junior@binus.edu::d2f3a896-bceb-4414-8640-28ba6c6256ff" providerId="AD" clId="Web-{8DC32219-F3C6-26BB-40A0-ACFFE52A66A1}" dt="2023-01-27T03:35:28.669" v="4" actId="1076"/>
          <ac:picMkLst>
            <pc:docMk/>
            <pc:sldMk cId="563271365" sldId="280"/>
            <ac:picMk id="4" creationId="{00000000-0000-0000-0000-000000000000}"/>
          </ac:picMkLst>
        </pc:pic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1-30T18:54:58.369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2" name="Shape 13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2138863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658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761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ustomShape 2"/>
          <p:cNvSpPr/>
          <p:nvPr/>
        </p:nvSpPr>
        <p:spPr>
          <a:xfrm>
            <a:off x="4282200" y="10155600"/>
            <a:ext cx="3273840" cy="5324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717645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634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2237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43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127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4743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0713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8429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477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95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66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1444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2380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485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7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109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21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0059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3143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0924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4504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2313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9155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297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0538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472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7304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5111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9789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5970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067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0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 01.jpg" descr="Background 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762"/>
            <a:ext cx="9139237" cy="6461292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Rectangle"/>
          <p:cNvSpPr/>
          <p:nvPr/>
        </p:nvSpPr>
        <p:spPr>
          <a:xfrm>
            <a:off x="0" y="5157192"/>
            <a:ext cx="9143998" cy="1700809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5" name="Rectangle"/>
          <p:cNvSpPr/>
          <p:nvPr/>
        </p:nvSpPr>
        <p:spPr>
          <a:xfrm>
            <a:off x="1691679" y="1628800"/>
            <a:ext cx="7452319" cy="5229200"/>
          </a:xfrm>
          <a:prstGeom prst="rect">
            <a:avLst/>
          </a:prstGeom>
          <a:solidFill>
            <a:srgbClr val="008FD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6" name="Title Text"/>
          <p:cNvSpPr txBox="1">
            <a:spLocks noGrp="1"/>
          </p:cNvSpPr>
          <p:nvPr>
            <p:ph type="title"/>
          </p:nvPr>
        </p:nvSpPr>
        <p:spPr>
          <a:xfrm>
            <a:off x="1835696" y="2708919"/>
            <a:ext cx="7128793" cy="147002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267743" y="4295526"/>
            <a:ext cx="6400801" cy="57606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500"/>
              </a:spcBef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spcBef>
                <a:spcPts val="500"/>
              </a:spcBef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spcBef>
                <a:spcPts val="500"/>
              </a:spcBef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spcBef>
                <a:spcPts val="500"/>
              </a:spcBef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spcBef>
                <a:spcPts val="500"/>
              </a:spcBef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ackground 02.jpg" descr="Background 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38"/>
            <a:ext cx="9144000" cy="6464660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/>
          <p:cNvSpPr/>
          <p:nvPr/>
        </p:nvSpPr>
        <p:spPr>
          <a:xfrm>
            <a:off x="0" y="5157192"/>
            <a:ext cx="9143998" cy="1700809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xfrm>
            <a:off x="1911350" y="2060848"/>
            <a:ext cx="6837114" cy="792089"/>
          </a:xfrm>
          <a:prstGeom prst="rect">
            <a:avLst/>
          </a:prstGeom>
        </p:spPr>
        <p:txBody>
          <a:bodyPr/>
          <a:lstStyle>
            <a:lvl1pPr algn="l">
              <a:defRPr sz="2700"/>
            </a:lvl1pPr>
          </a:lstStyle>
          <a:p>
            <a:r>
              <a:t>Title Text</a:t>
            </a:r>
          </a:p>
        </p:txBody>
      </p:sp>
      <p:sp>
        <p:nvSpPr>
          <p:cNvPr id="2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911350" y="3429001"/>
            <a:ext cx="6837114" cy="304042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Text"/>
          <p:cNvSpPr txBox="1">
            <a:spLocks noGrp="1"/>
          </p:cNvSpPr>
          <p:nvPr>
            <p:ph type="title"/>
          </p:nvPr>
        </p:nvSpPr>
        <p:spPr>
          <a:xfrm>
            <a:off x="1331640" y="4406901"/>
            <a:ext cx="7344817" cy="678285"/>
          </a:xfrm>
          <a:prstGeom prst="rect">
            <a:avLst/>
          </a:prstGeom>
        </p:spPr>
        <p:txBody>
          <a:bodyPr anchor="t"/>
          <a:lstStyle>
            <a:lvl1pPr algn="l">
              <a:defRPr cap="all"/>
            </a:lvl1pPr>
          </a:lstStyle>
          <a:p>
            <a:r>
              <a:t>Title Text</a:t>
            </a:r>
          </a:p>
        </p:txBody>
      </p:sp>
      <p:sp>
        <p:nvSpPr>
          <p:cNvPr id="3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31640" y="2906713"/>
            <a:ext cx="7344817" cy="1500188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19671" y="2636911"/>
            <a:ext cx="3456385" cy="348925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Text"/>
          <p:cNvSpPr txBox="1">
            <a:spLocks noGrp="1"/>
          </p:cNvSpPr>
          <p:nvPr>
            <p:ph type="title"/>
          </p:nvPr>
        </p:nvSpPr>
        <p:spPr>
          <a:xfrm>
            <a:off x="1619671" y="1484783"/>
            <a:ext cx="7067130" cy="100811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619671" y="2132856"/>
            <a:ext cx="3456385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6" name="Rectangle"/>
          <p:cNvSpPr>
            <a:spLocks noGrp="1"/>
          </p:cNvSpPr>
          <p:nvPr>
            <p:ph type="body" sz="quarter" idx="13"/>
          </p:nvPr>
        </p:nvSpPr>
        <p:spPr>
          <a:xfrm>
            <a:off x="5220072" y="2132856"/>
            <a:ext cx="345638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907703" y="1628799"/>
            <a:ext cx="6768753" cy="802012"/>
          </a:xfrm>
          <a:prstGeom prst="rect">
            <a:avLst/>
          </a:prstGeom>
        </p:spPr>
        <p:txBody>
          <a:bodyPr anchor="b"/>
          <a:lstStyle>
            <a:lvl1pPr algn="l">
              <a:defRPr sz="2700"/>
            </a:lvl1pPr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907705" y="2564903"/>
            <a:ext cx="3168353" cy="3672409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Rectangle"/>
          <p:cNvSpPr>
            <a:spLocks noGrp="1"/>
          </p:cNvSpPr>
          <p:nvPr>
            <p:ph type="body" sz="half" idx="13"/>
          </p:nvPr>
        </p:nvSpPr>
        <p:spPr>
          <a:xfrm>
            <a:off x="5220072" y="2564903"/>
            <a:ext cx="3430018" cy="3672161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</a:pPr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6884169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Title Text</a:t>
            </a:r>
          </a:p>
        </p:txBody>
      </p:sp>
      <p:sp>
        <p:nvSpPr>
          <p:cNvPr id="92" name="Image"/>
          <p:cNvSpPr>
            <a:spLocks noGrp="1"/>
          </p:cNvSpPr>
          <p:nvPr>
            <p:ph type="pic" sz="half" idx="13"/>
          </p:nvPr>
        </p:nvSpPr>
        <p:spPr>
          <a:xfrm>
            <a:off x="1792288" y="1916832"/>
            <a:ext cx="6884169" cy="2810743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6884169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619671" y="2636911"/>
            <a:ext cx="7067130" cy="3489252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>
            <a:spLocks noGrp="1"/>
          </p:cNvSpPr>
          <p:nvPr>
            <p:ph type="title"/>
          </p:nvPr>
        </p:nvSpPr>
        <p:spPr>
          <a:xfrm>
            <a:off x="6629400" y="1484783"/>
            <a:ext cx="2057400" cy="46413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1" name="Body Level One…"/>
          <p:cNvSpPr txBox="1">
            <a:spLocks noGrp="1"/>
          </p:cNvSpPr>
          <p:nvPr>
            <p:ph type="body" idx="1"/>
          </p:nvPr>
        </p:nvSpPr>
        <p:spPr>
          <a:xfrm>
            <a:off x="1043608" y="1484783"/>
            <a:ext cx="5433392" cy="464138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NewB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Background 02.jpg" descr="Background 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3"/>
            <a:ext cx="9144000" cy="646466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Rectangle"/>
          <p:cNvSpPr/>
          <p:nvPr/>
        </p:nvSpPr>
        <p:spPr>
          <a:xfrm>
            <a:off x="0" y="5157192"/>
            <a:ext cx="9143998" cy="1700809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pic>
        <p:nvPicPr>
          <p:cNvPr id="121" name="Background 02.jpg" descr="Background 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38"/>
            <a:ext cx="9144000" cy="646466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Rectangle"/>
          <p:cNvSpPr/>
          <p:nvPr/>
        </p:nvSpPr>
        <p:spPr>
          <a:xfrm>
            <a:off x="0" y="5157192"/>
            <a:ext cx="9143998" cy="1700809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123" name="Title Text"/>
          <p:cNvSpPr txBox="1">
            <a:spLocks noGrp="1"/>
          </p:cNvSpPr>
          <p:nvPr>
            <p:ph type="title"/>
          </p:nvPr>
        </p:nvSpPr>
        <p:spPr>
          <a:xfrm>
            <a:off x="1752600" y="1371600"/>
            <a:ext cx="6837114" cy="7920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r>
              <a:t>Title Text</a:t>
            </a:r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47591" y="6482228"/>
            <a:ext cx="278418" cy="307341"/>
          </a:xfrm>
          <a:prstGeom prst="rect">
            <a:avLst/>
          </a:prstGeom>
        </p:spPr>
        <p:txBody>
          <a:bodyPr/>
          <a:lstStyle>
            <a:lvl1pPr algn="ctr">
              <a:defRPr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5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286000"/>
            <a:ext cx="7848600" cy="3721597"/>
          </a:xfrm>
          <a:prstGeom prst="rect">
            <a:avLst/>
          </a:prstGeom>
        </p:spPr>
        <p:txBody>
          <a:bodyPr/>
          <a:lstStyle>
            <a:lvl1pPr algn="just"/>
            <a:lvl2pPr algn="just"/>
            <a:lvl3pPr algn="just"/>
            <a:lvl4pPr algn="just"/>
            <a:lvl5pPr algn="just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927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02.jpg" descr="Background 0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4763"/>
            <a:ext cx="9144000" cy="64646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"/>
          <p:cNvSpPr/>
          <p:nvPr/>
        </p:nvSpPr>
        <p:spPr>
          <a:xfrm>
            <a:off x="0" y="5157192"/>
            <a:ext cx="9143998" cy="1700809"/>
          </a:xfrm>
          <a:prstGeom prst="rect">
            <a:avLst/>
          </a:prstGeom>
          <a:solidFill>
            <a:srgbClr val="F7F7F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18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1619671" y="1484783"/>
            <a:ext cx="706713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6501278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1" i="0" u="none" strike="noStrike" cap="none" spc="0" baseline="0">
          <a:ln>
            <a:noFill/>
          </a:ln>
          <a:solidFill>
            <a:srgbClr val="0079B8"/>
          </a:solidFill>
          <a:uFillTx/>
          <a:latin typeface="Open Sans"/>
          <a:ea typeface="Open Sans"/>
          <a:cs typeface="Open Sans"/>
          <a:sym typeface="Open Sans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1pPr>
      <a:lvl2pPr marL="742950" marR="0" indent="-28575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–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2pPr>
      <a:lvl3pPr marL="11430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3pPr>
      <a:lvl4pPr marL="1600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–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4pPr>
      <a:lvl5pPr marL="20574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»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5pPr>
      <a:lvl6pPr marL="25146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6pPr>
      <a:lvl7pPr marL="29718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7pPr>
      <a:lvl8pPr marL="34290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8pPr>
      <a:lvl9pPr marL="3886200" marR="0" indent="-228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ln>
            <a:noFill/>
          </a:ln>
          <a:solidFill>
            <a:srgbClr val="000000"/>
          </a:solidFill>
          <a:uFillTx/>
          <a:latin typeface="Open Sans"/>
          <a:ea typeface="Open Sans"/>
          <a:cs typeface="Open Sans"/>
          <a:sym typeface="Open San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ic.javatpoint.com/difference/images/difference-between-block-cipher-and-stream-cipher.png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Candidate of Head of Program of…"/>
          <p:cNvSpPr txBox="1">
            <a:spLocks noGrp="1"/>
          </p:cNvSpPr>
          <p:nvPr>
            <p:ph type="ctrTitle"/>
          </p:nvPr>
        </p:nvSpPr>
        <p:spPr>
          <a:xfrm>
            <a:off x="1683014" y="3254064"/>
            <a:ext cx="7460985" cy="2189866"/>
          </a:xfrm>
          <a:prstGeom prst="rect">
            <a:avLst/>
          </a:prstGeom>
        </p:spPr>
        <p:txBody>
          <a:bodyPr/>
          <a:lstStyle/>
          <a:p>
            <a:pPr defTabSz="859536">
              <a:defRPr sz="3384"/>
            </a:pPr>
            <a:r>
              <a:rPr lang="en-US" dirty="0"/>
              <a:t>CRYPTOGRAPHICS TOOLS</a:t>
            </a:r>
            <a:br>
              <a:rPr lang="en-US" dirty="0"/>
            </a:br>
            <a:r>
              <a:rPr lang="en-US"/>
              <a:t>CHAPTER </a:t>
            </a:r>
            <a:r>
              <a:rPr lang="en-US" smtClean="0"/>
              <a:t>6</a:t>
            </a:r>
            <a:endParaRPr dirty="0"/>
          </a:p>
        </p:txBody>
      </p:sp>
      <p:pic>
        <p:nvPicPr>
          <p:cNvPr id="135" name="pasted-image.tiff" descr="pasted-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1" y="5322358"/>
            <a:ext cx="1619459" cy="1155139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Andry Chowanda"/>
          <p:cNvSpPr txBox="1"/>
          <p:nvPr/>
        </p:nvSpPr>
        <p:spPr>
          <a:xfrm>
            <a:off x="5266465" y="4529122"/>
            <a:ext cx="92395" cy="7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500" b="1">
                <a:solidFill>
                  <a:srgbClr val="FFFFFF"/>
                </a:solidFill>
              </a:defRPr>
            </a:lvl1pPr>
          </a:lstStyle>
          <a:p>
            <a:pPr>
              <a:defRPr sz="3600"/>
            </a:pPr>
            <a:endParaRPr sz="44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/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Learning outcome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6" name="TextBox 3">
            <a:extLst>
              <a:ext uri="{FF2B5EF4-FFF2-40B4-BE49-F238E27FC236}">
                <a16:creationId xmlns="" xmlns:a16="http://schemas.microsoft.com/office/drawing/2014/main" id="{F4F977B6-EDC5-4054-9DE8-069EAC8D318A}"/>
              </a:ext>
            </a:extLst>
          </p:cNvPr>
          <p:cNvSpPr txBox="1"/>
          <p:nvPr/>
        </p:nvSpPr>
        <p:spPr>
          <a:xfrm>
            <a:off x="1043432" y="1609999"/>
            <a:ext cx="7923411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45719" tIns="45719" rIns="45719" bIns="45719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1pPr>
            <a:lvl2pPr marL="0" marR="0" indent="4572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2pPr>
            <a:lvl3pPr marL="0" marR="0" indent="9144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3pPr>
            <a:lvl4pPr marL="0" marR="0" indent="13716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4pPr>
            <a:lvl5pPr marL="0" marR="0" indent="18288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5pPr>
            <a:lvl6pPr marL="0" marR="0" indent="22860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6pPr>
            <a:lvl7pPr marL="0" marR="0" indent="27432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7pPr>
            <a:lvl8pPr marL="0" marR="0" indent="32004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8pPr>
            <a:lvl9pPr marL="0" marR="0" indent="36576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LO 1 : Define basic principal of computer security</a:t>
            </a:r>
            <a:endParaRPr kumimoji="0" lang="en-US" sz="24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/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Subtopics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979957" y="1757363"/>
            <a:ext cx="7921156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Symmetric encryption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DES </a:t>
            </a:r>
            <a:r>
              <a:rPr lang="en-GB"/>
              <a:t>(Data encryption standard) and AES (Advance encryption standard)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Practical </a:t>
            </a:r>
            <a:r>
              <a:rPr lang="en-GB"/>
              <a:t>Security Issues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Block </a:t>
            </a:r>
            <a:r>
              <a:rPr lang="en-GB"/>
              <a:t>and Stream Chipers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Message </a:t>
            </a:r>
            <a:r>
              <a:rPr lang="en-GB"/>
              <a:t>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Hash </a:t>
            </a:r>
            <a:r>
              <a:rPr lang="en-GB"/>
              <a:t>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Kerberos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Certificate </a:t>
            </a:r>
            <a:r>
              <a:rPr lang="en-GB"/>
              <a:t>Authority (CA)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X.509</a:t>
            </a: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Public </a:t>
            </a:r>
            <a:r>
              <a:rPr lang="en-GB"/>
              <a:t>Key Encryption Random Numbers</a:t>
            </a:r>
          </a:p>
          <a:p>
            <a:pPr marL="342900" marR="0" indent="-342900" algn="just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2400" b="0" i="0" u="none" strike="noStrike" cap="none" spc="0" normalizeH="0" dirty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5863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3"/>
          <p:cNvSpPr/>
          <p:nvPr/>
        </p:nvSpPr>
        <p:spPr>
          <a:xfrm>
            <a:off x="6552577" y="6453012"/>
            <a:ext cx="2131726" cy="3631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640" y="1562761"/>
            <a:ext cx="8133305" cy="29992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8467" y="111240"/>
            <a:ext cx="1313280" cy="2292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013740" y="4394519"/>
            <a:ext cx="2303836" cy="427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77" dirty="0">
                <a:solidFill>
                  <a:schemeClr val="accent6">
                    <a:lumMod val="75000"/>
                  </a:schemeClr>
                </a:solidFill>
              </a:rPr>
              <a:t>#</a:t>
            </a:r>
            <a:r>
              <a:rPr lang="en-US" sz="2177" dirty="0" err="1">
                <a:solidFill>
                  <a:schemeClr val="accent6">
                    <a:lumMod val="75000"/>
                  </a:schemeClr>
                </a:solidFill>
              </a:rPr>
              <a:t>ProtectTheNation</a:t>
            </a:r>
            <a:endParaRPr lang="en-US" sz="2177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3131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CRYPTOGRAPHICS TOOLS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4412" y="1447800"/>
            <a:ext cx="7768028" cy="441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>
                <a:ea typeface="Lucida Sans Unicode" charset="0"/>
              </a:rPr>
              <a:t>cryptographic algorithms important element in security services</a:t>
            </a:r>
          </a:p>
          <a:p>
            <a:pPr eaLnBrk="1" hangingPunct="1"/>
            <a:r>
              <a:rPr lang="en-AU" altLang="en-US" sz="2400" dirty="0">
                <a:ea typeface="Lucida Sans Unicode" charset="0"/>
              </a:rPr>
              <a:t>review various types of elements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symmetric encryption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public-key (asymmetric) encryption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digital signatures and key management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secure hash functions</a:t>
            </a:r>
            <a:endParaRPr lang="en-AU" altLang="en-US" sz="2400" dirty="0">
              <a:ea typeface="Lucida Sans Unicode" charset="0"/>
            </a:endParaRPr>
          </a:p>
          <a:p>
            <a:pPr eaLnBrk="1" hangingPunct="1"/>
            <a:r>
              <a:rPr lang="en-AU" altLang="en-US" sz="2400" dirty="0">
                <a:ea typeface="Lucida Sans Unicode" charset="0"/>
              </a:rPr>
              <a:t>example is use to encrypt stored data</a:t>
            </a:r>
          </a:p>
        </p:txBody>
      </p:sp>
    </p:spTree>
    <p:extLst>
      <p:ext uri="{BB962C8B-B14F-4D97-AF65-F5344CB8AC3E}">
        <p14:creationId xmlns:p14="http://schemas.microsoft.com/office/powerpoint/2010/main" val="58617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SYMMETRIC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2033588"/>
            <a:ext cx="7929562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ATTACKING SYMMETRIC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4509" y="1575357"/>
            <a:ext cx="7796603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Lucida Sans Unicode" charset="0"/>
              </a:rPr>
              <a:t>cryptanalysis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ea typeface="Lucida Sans Unicode" charset="0"/>
              </a:rPr>
              <a:t>rely on nature of the algorithm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plus some knowledge of plaintext characteristics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even some sample plaintext-</a:t>
            </a:r>
            <a:r>
              <a:rPr lang="en-US" altLang="en-US" sz="2400" dirty="0" err="1">
                <a:ea typeface="Lucida Sans Unicode" charset="0"/>
              </a:rPr>
              <a:t>ciphertext</a:t>
            </a:r>
            <a:r>
              <a:rPr lang="en-US" altLang="en-US" sz="2400" dirty="0">
                <a:ea typeface="Lucida Sans Unicode" charset="0"/>
              </a:rPr>
              <a:t> pairs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exploits characteristics of algorithm to deduce specific plaintext or key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brute-force attack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try all possible keys on some </a:t>
            </a:r>
            <a:r>
              <a:rPr lang="en-US" altLang="en-US" sz="2400" dirty="0" err="1">
                <a:ea typeface="Lucida Sans Unicode" charset="0"/>
              </a:rPr>
              <a:t>ciphertext</a:t>
            </a:r>
            <a:r>
              <a:rPr lang="en-US" altLang="en-US" sz="2400" dirty="0">
                <a:ea typeface="Lucida Sans Unicode" charset="0"/>
              </a:rPr>
              <a:t> until get an intelligible translation into plaintext</a:t>
            </a:r>
          </a:p>
        </p:txBody>
      </p:sp>
    </p:spTree>
    <p:extLst>
      <p:ext uri="{BB962C8B-B14F-4D97-AF65-F5344CB8AC3E}">
        <p14:creationId xmlns:p14="http://schemas.microsoft.com/office/powerpoint/2010/main" val="24037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EXHAUSTIVE KEY SEARCH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882" y="1436949"/>
            <a:ext cx="7870825" cy="229193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6456" y="3841683"/>
            <a:ext cx="3015998" cy="285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7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POPULAR SYMMETRIC 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9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28" y="2385972"/>
            <a:ext cx="7580169" cy="186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1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DES AND TRIPLE-DES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10</a:t>
            </a:fld>
            <a:endParaRPr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00124" y="1676400"/>
            <a:ext cx="7958139" cy="47244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>
                <a:ea typeface="Lucida Sans Unicode" charset="0"/>
              </a:rPr>
              <a:t>Data Encryption Standard (DES) is the most widely used encryption scheme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uses 64 bit plaintext block and 56 bit key to produce a 64 bit </a:t>
            </a:r>
            <a:r>
              <a:rPr lang="en-US" altLang="en-US" sz="2400" dirty="0" err="1">
                <a:ea typeface="Lucida Sans Unicode" charset="0"/>
              </a:rPr>
              <a:t>ciphertext</a:t>
            </a:r>
            <a:r>
              <a:rPr lang="en-US" altLang="en-US" sz="2400" dirty="0">
                <a:ea typeface="Lucida Sans Unicode" charset="0"/>
              </a:rPr>
              <a:t> block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concerns about algorithm &amp; use of 56-bit key</a:t>
            </a:r>
          </a:p>
          <a:p>
            <a:pPr eaLnBrk="1" hangingPunct="1"/>
            <a:r>
              <a:rPr lang="en-US" altLang="en-US" sz="2400" dirty="0">
                <a:ea typeface="Lucida Sans Unicode" charset="0"/>
              </a:rPr>
              <a:t>  Triple-DES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repeats basic DES algorithm three times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using either two or three unique keys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much more secure but also much slower</a:t>
            </a:r>
          </a:p>
        </p:txBody>
      </p:sp>
    </p:spTree>
    <p:extLst>
      <p:ext uri="{BB962C8B-B14F-4D97-AF65-F5344CB8AC3E}">
        <p14:creationId xmlns:p14="http://schemas.microsoft.com/office/powerpoint/2010/main" val="1107375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ADVANCED ENCRYPTION STANDARD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11</a:t>
            </a:fld>
            <a:endParaRPr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7274" y="1528763"/>
            <a:ext cx="7725166" cy="494823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>
                <a:ea typeface="Lucida Sans Unicode" charset="0"/>
              </a:rPr>
              <a:t>needed a better replacement for DES</a:t>
            </a:r>
          </a:p>
          <a:p>
            <a:pPr eaLnBrk="1" hangingPunct="1"/>
            <a:r>
              <a:rPr lang="en-US" altLang="en-US" sz="2800" dirty="0">
                <a:ea typeface="Lucida Sans Unicode" charset="0"/>
              </a:rPr>
              <a:t>NIST called for proposals in 1997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efficiency, security, HW/SW suitability, 128, 256, 256 keys</a:t>
            </a:r>
          </a:p>
          <a:p>
            <a:pPr eaLnBrk="1" hangingPunct="1"/>
            <a:r>
              <a:rPr lang="en-US" altLang="en-US" sz="2800" dirty="0">
                <a:ea typeface="Lucida Sans Unicode" charset="0"/>
              </a:rPr>
              <a:t>selected </a:t>
            </a:r>
            <a:r>
              <a:rPr lang="en-US" altLang="en-US" sz="2800" dirty="0" err="1">
                <a:ea typeface="Lucida Sans Unicode" charset="0"/>
              </a:rPr>
              <a:t>Rijndael</a:t>
            </a:r>
            <a:r>
              <a:rPr lang="en-US" altLang="en-US" sz="2800" dirty="0">
                <a:ea typeface="Lucida Sans Unicode" charset="0"/>
              </a:rPr>
              <a:t> in Nov 2001</a:t>
            </a:r>
          </a:p>
          <a:p>
            <a:pPr eaLnBrk="1" hangingPunct="1"/>
            <a:r>
              <a:rPr lang="en-US" altLang="en-US" sz="2800" dirty="0">
                <a:ea typeface="Lucida Sans Unicode" charset="0"/>
              </a:rPr>
              <a:t>symmetric block cipher</a:t>
            </a:r>
          </a:p>
          <a:p>
            <a:pPr eaLnBrk="1" hangingPunct="1"/>
            <a:r>
              <a:rPr lang="en-US" altLang="en-US" sz="2800" dirty="0">
                <a:ea typeface="Lucida Sans Unicode" charset="0"/>
              </a:rPr>
              <a:t>uses 128 bit data &amp; 128/192/256 bit keys</a:t>
            </a:r>
          </a:p>
          <a:p>
            <a:pPr eaLnBrk="1" hangingPunct="1"/>
            <a:r>
              <a:rPr lang="en-US" altLang="en-US" sz="2800" dirty="0">
                <a:ea typeface="Lucida Sans Unicode" charset="0"/>
              </a:rPr>
              <a:t>now widely available commercially</a:t>
            </a:r>
          </a:p>
        </p:txBody>
      </p:sp>
    </p:spTree>
    <p:extLst>
      <p:ext uri="{BB962C8B-B14F-4D97-AF65-F5344CB8AC3E}">
        <p14:creationId xmlns:p14="http://schemas.microsoft.com/office/powerpoint/2010/main" val="158751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PRACTICAL APPLICATION: ENCRYPTION OF STORED DATA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7275" y="1581150"/>
            <a:ext cx="7629525" cy="44545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>
                <a:ea typeface="Lucida Sans Unicode" charset="0"/>
              </a:rPr>
              <a:t>common to encrypt transmitted data</a:t>
            </a:r>
          </a:p>
          <a:p>
            <a:pPr eaLnBrk="1" hangingPunct="1"/>
            <a:r>
              <a:rPr lang="en-US" altLang="en-US" sz="2400" dirty="0">
                <a:ea typeface="Lucida Sans Unicode" charset="0"/>
              </a:rPr>
              <a:t>much less common for stored data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which can be copied, backed up, recovered</a:t>
            </a:r>
          </a:p>
          <a:p>
            <a:pPr eaLnBrk="1" hangingPunct="1"/>
            <a:r>
              <a:rPr lang="en-US" altLang="en-US" sz="2400" dirty="0">
                <a:ea typeface="Lucida Sans Unicode" charset="0"/>
              </a:rPr>
              <a:t>approaches to encrypt stored data: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back-end appliance </a:t>
            </a:r>
            <a:r>
              <a:rPr lang="en-US" altLang="en-US" sz="2400" b="1" i="1" dirty="0">
                <a:ea typeface="Lucida Sans Unicode" charset="0"/>
              </a:rPr>
              <a:t>(hardware device close to data storage; encrypt close to wire speed)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library based tape encryption </a:t>
            </a:r>
            <a:r>
              <a:rPr lang="en-US" altLang="en-US" sz="2400" b="1" i="1" dirty="0">
                <a:ea typeface="Lucida Sans Unicode" charset="0"/>
              </a:rPr>
              <a:t>(co-processor board embedded in tape drive)</a:t>
            </a:r>
          </a:p>
          <a:p>
            <a:pPr lvl="1" eaLnBrk="1" hangingPunct="1"/>
            <a:r>
              <a:rPr lang="en-US" altLang="en-US" sz="2400" dirty="0">
                <a:ea typeface="Lucida Sans Unicode" charset="0"/>
              </a:rPr>
              <a:t>background laptop/PC data encryption</a:t>
            </a:r>
          </a:p>
        </p:txBody>
      </p:sp>
    </p:spTree>
    <p:extLst>
      <p:ext uri="{BB962C8B-B14F-4D97-AF65-F5344CB8AC3E}">
        <p14:creationId xmlns:p14="http://schemas.microsoft.com/office/powerpoint/2010/main" val="171731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Block cipher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13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50066" y="1909823"/>
            <a:ext cx="7060557" cy="52629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A block cipher uses a symmetric key and algorithm to encrypt and decrypt a block of </a:t>
            </a:r>
            <a:r>
              <a:rPr lang="en-GB" smtClean="0"/>
              <a:t>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mtClean="0"/>
              <a:t>A </a:t>
            </a:r>
            <a:r>
              <a:rPr lang="en-GB"/>
              <a:t>block cipher requires an initialization vector (</a:t>
            </a:r>
            <a:r>
              <a:rPr lang="en-GB" smtClean="0"/>
              <a:t>IV) </a:t>
            </a:r>
            <a:r>
              <a:rPr lang="en-GB"/>
              <a:t>that is added to the input </a:t>
            </a:r>
            <a:r>
              <a:rPr lang="en-GB" smtClean="0"/>
              <a:t>plaintext</a:t>
            </a:r>
            <a:r>
              <a:rPr lang="en-GB"/>
              <a:t> </a:t>
            </a:r>
            <a:r>
              <a:rPr lang="en-GB" smtClean="0"/>
              <a:t>in </a:t>
            </a:r>
            <a:r>
              <a:rPr lang="en-GB"/>
              <a:t>order to increase the keyspace of the </a:t>
            </a:r>
            <a:r>
              <a:rPr lang="en-GB" smtClean="0"/>
              <a:t>cipher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 smtClean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IV is derived from a random number generator, which is combined with text in the first block and the key to ensure all subsequent blocks</a:t>
            </a: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8965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Block cipher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2050" name="Picture 2" descr="Difference Between Block Cipher and Stream Cip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283" y="2010585"/>
            <a:ext cx="6667500" cy="3838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852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Stream cipher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676400"/>
            <a:ext cx="794385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>
                <a:ea typeface="Lucida Sans Unicode" charset="0"/>
              </a:rPr>
              <a:t>protects against active attacks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verifies received message is authentic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contents unaltered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from authentic source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timely and in correct sequence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can use conventional encryption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only sender &amp; receiver have key needed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or separate authentication mechanisms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append authentication tag to </a:t>
            </a:r>
            <a:r>
              <a:rPr lang="en-US" altLang="en-US" sz="2400" dirty="0" err="1">
                <a:ea typeface="Lucida Sans Unicode" charset="0"/>
              </a:rPr>
              <a:t>cleartext</a:t>
            </a:r>
            <a:r>
              <a:rPr lang="en-US" altLang="en-US" sz="2400" dirty="0">
                <a:ea typeface="Lucida Sans Unicode" charset="0"/>
              </a:rPr>
              <a:t> message</a:t>
            </a:r>
          </a:p>
        </p:txBody>
      </p:sp>
    </p:spTree>
    <p:extLst>
      <p:ext uri="{BB962C8B-B14F-4D97-AF65-F5344CB8AC3E}">
        <p14:creationId xmlns:p14="http://schemas.microsoft.com/office/powerpoint/2010/main" val="994681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Stream cipher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16</a:t>
            </a:fld>
            <a:endParaRPr/>
          </a:p>
        </p:txBody>
      </p:sp>
      <p:pic>
        <p:nvPicPr>
          <p:cNvPr id="1026" name="Picture 2" descr="Difference Between Block Cipher and Stream Ciph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9180" y="2104361"/>
            <a:ext cx="6667500" cy="3286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37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/>
              <a:t>Message authentication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17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261641" y="2025570"/>
            <a:ext cx="6794339" cy="48936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one way to prevent active </a:t>
            </a:r>
            <a:r>
              <a:rPr lang="en-GB" smtClean="0"/>
              <a:t>attacks is to use authentication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A message, file, document, or other collection of data is said to be authentic when it is genuine and came from its alleged source</a:t>
            </a:r>
            <a:r>
              <a:rPr lang="en-GB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two important aspects are to verify that the contents of the message have not been altered and that the source is authentic</a:t>
            </a:r>
          </a:p>
          <a:p>
            <a:endParaRPr kumimoji="0" lang="en-US" sz="2400" b="0" i="0" u="none" strike="noStrike" cap="none" spc="0" normalizeH="0" baseline="0" smtClean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76147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Message authentication codes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18</a:t>
            </a:fld>
            <a:endParaRPr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25"/>
          <a:stretch>
            <a:fillRect/>
          </a:stretch>
        </p:blipFill>
        <p:spPr bwMode="auto">
          <a:xfrm>
            <a:off x="971548" y="1713817"/>
            <a:ext cx="7197482" cy="427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49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HASH FUNCTION REQUIREMENT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19</a:t>
            </a:fld>
            <a:endParaRPr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7262" y="1537257"/>
            <a:ext cx="8015287" cy="4724400"/>
          </a:xfrm>
        </p:spPr>
        <p:txBody>
          <a:bodyPr lIns="45719" tIns="45720" rIns="45719" bIns="45720" anchor="t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applied to any size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H produces a fixed-length output.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H(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) is relatively easy to compute for any given </a:t>
            </a:r>
            <a:r>
              <a:rPr lang="en-US" altLang="en-US" sz="2400" i="1" dirty="0">
                <a:ea typeface="Lucida Sans Unicode" charset="0"/>
              </a:rPr>
              <a:t>x</a:t>
            </a:r>
            <a:endParaRPr lang="en-US" altLang="en-US" sz="2400" dirty="0">
              <a:ea typeface="Lucida Sans Unicode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one-way property 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computationally infeasible to find 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 such that H(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) = </a:t>
            </a:r>
            <a:r>
              <a:rPr lang="en-US" altLang="en-US" sz="2400" i="1" dirty="0">
                <a:ea typeface="Lucida Sans Unicode" charset="0"/>
              </a:rPr>
              <a:t>h</a:t>
            </a:r>
            <a:endParaRPr lang="en-US" altLang="en-US" sz="2400" dirty="0">
              <a:ea typeface="Lucida Sans Unicode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weak collision resistance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computationally infeasible to find </a:t>
            </a:r>
            <a:r>
              <a:rPr lang="en-US" altLang="en-US" sz="2400" i="1" dirty="0">
                <a:ea typeface="Lucida Sans Unicode" charset="0"/>
              </a:rPr>
              <a:t>y</a:t>
            </a:r>
            <a:r>
              <a:rPr lang="en-US" altLang="en-US" sz="2400" dirty="0">
                <a:ea typeface="Lucida Sans Unicode" charset="0"/>
              </a:rPr>
              <a:t> ≠ 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 such </a:t>
            </a:r>
            <a:r>
              <a:rPr lang="en-US" altLang="en-US" sz="2400" dirty="0" err="1">
                <a:ea typeface="Lucida Sans Unicode" charset="0"/>
              </a:rPr>
              <a:t>tha</a:t>
            </a:r>
            <a:r>
              <a:rPr lang="en-US" altLang="en-US" sz="2400" dirty="0">
                <a:ea typeface="Lucida Sans Unicode" charset="0"/>
              </a:rPr>
              <a:t> H(</a:t>
            </a:r>
            <a:r>
              <a:rPr lang="en-US" altLang="en-US" sz="2400" i="1" dirty="0">
                <a:ea typeface="Lucida Sans Unicode" charset="0"/>
              </a:rPr>
              <a:t>y</a:t>
            </a:r>
            <a:r>
              <a:rPr lang="en-US" altLang="en-US" sz="2400" dirty="0">
                <a:ea typeface="Lucida Sans Unicode" charset="0"/>
              </a:rPr>
              <a:t>) = H(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strong collision resistance 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ea typeface="Lucida Sans Unicode" charset="0"/>
              </a:rPr>
              <a:t>computationally infeasible to find any pair (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, </a:t>
            </a:r>
            <a:r>
              <a:rPr lang="en-US" altLang="en-US" sz="2400" i="1" dirty="0">
                <a:ea typeface="Lucida Sans Unicode" charset="0"/>
              </a:rPr>
              <a:t>y</a:t>
            </a:r>
            <a:r>
              <a:rPr lang="en-US" altLang="en-US" sz="2400" dirty="0">
                <a:ea typeface="Lucida Sans Unicode" charset="0"/>
              </a:rPr>
              <a:t>) such that H(</a:t>
            </a:r>
            <a:r>
              <a:rPr lang="en-US" altLang="en-US" sz="2400" i="1" dirty="0">
                <a:ea typeface="Lucida Sans Unicode" charset="0"/>
              </a:rPr>
              <a:t>x</a:t>
            </a:r>
            <a:r>
              <a:rPr lang="en-US" altLang="en-US" sz="2400" dirty="0">
                <a:ea typeface="Lucida Sans Unicode" charset="0"/>
              </a:rPr>
              <a:t>) = H(</a:t>
            </a:r>
            <a:r>
              <a:rPr lang="en-US" altLang="en-US" sz="2400" i="1" dirty="0">
                <a:ea typeface="Lucida Sans Unicode" charset="0"/>
              </a:rPr>
              <a:t>y</a:t>
            </a:r>
            <a:r>
              <a:rPr lang="en-US" altLang="en-US" sz="2400" dirty="0">
                <a:ea typeface="Lucida Sans Unicod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160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SECURE HASH FUNCTION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20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154" y="1500188"/>
            <a:ext cx="4504146" cy="498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467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HASH FUNCTION CONVENTIONAL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21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1736725"/>
            <a:ext cx="75184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0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815527" y="524597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HASH FUNCTION PUBLIC KEY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22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879600"/>
            <a:ext cx="7928178" cy="32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3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PUBLIC KEY ENCRYPTION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23</a:t>
            </a:fld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10" y="1523764"/>
            <a:ext cx="7779530" cy="476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68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PUBLIC KEY AUTHENTICATION 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24</a:t>
            </a:fld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1351468"/>
            <a:ext cx="7854950" cy="513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95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PUBLIC </a:t>
            </a:r>
            <a:r>
              <a:rPr lang="en-US"/>
              <a:t>KEY REQUIREMENTS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25</a:t>
            </a:fld>
            <a:endParaRPr/>
          </a:p>
        </p:txBody>
      </p:sp>
      <p:sp>
        <p:nvSpPr>
          <p:cNvPr id="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562" y="1447800"/>
            <a:ext cx="7615237" cy="4953000"/>
          </a:xfrm>
        </p:spPr>
        <p:txBody>
          <a:bodyPr/>
          <a:lstStyle/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>
                <a:latin typeface="Times-Roman" charset="0"/>
                <a:ea typeface="Lucida Sans Unicode" charset="0"/>
              </a:rPr>
              <a:t>computationally easy to create key pairs</a:t>
            </a:r>
          </a:p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 dirty="0">
                <a:latin typeface="Times-Roman" charset="0"/>
                <a:ea typeface="Lucida Sans Unicode" charset="0"/>
              </a:rPr>
              <a:t>computationally easy for sender knowing public key to encrypt messages</a:t>
            </a:r>
          </a:p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 dirty="0">
                <a:latin typeface="Times-Roman" charset="0"/>
                <a:ea typeface="Lucida Sans Unicode" charset="0"/>
              </a:rPr>
              <a:t>computationally easy for receiver knowing private key to decrypt </a:t>
            </a:r>
            <a:r>
              <a:rPr lang="en-US" altLang="en-US" sz="2400" dirty="0" err="1">
                <a:latin typeface="Times-Roman" charset="0"/>
                <a:ea typeface="Lucida Sans Unicode" charset="0"/>
              </a:rPr>
              <a:t>ciphertext</a:t>
            </a:r>
            <a:endParaRPr lang="en-US" altLang="en-US" sz="2400" dirty="0">
              <a:latin typeface="Times-Roman" charset="0"/>
              <a:ea typeface="Lucida Sans Unicode" charset="0"/>
            </a:endParaRPr>
          </a:p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 dirty="0">
                <a:latin typeface="Times-Roman" charset="0"/>
                <a:ea typeface="Lucida Sans Unicode" charset="0"/>
              </a:rPr>
              <a:t>computationally infeasible for opponent to determine private key from public key</a:t>
            </a:r>
          </a:p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 dirty="0">
                <a:latin typeface="Times-Roman" charset="0"/>
                <a:ea typeface="Lucida Sans Unicode" charset="0"/>
              </a:rPr>
              <a:t>computationally infeasible for opponent to otherwise recover original message</a:t>
            </a:r>
          </a:p>
          <a:p>
            <a:pPr marL="609600" indent="-609600" eaLnBrk="1" hangingPunct="1">
              <a:buFont typeface="Times" charset="0"/>
              <a:buAutoNum type="arabicPeriod"/>
            </a:pPr>
            <a:r>
              <a:rPr lang="en-US" altLang="en-US" sz="2400" dirty="0">
                <a:latin typeface="Times-Roman" charset="0"/>
                <a:ea typeface="Lucida Sans Unicode" charset="0"/>
              </a:rPr>
              <a:t>useful if either key can be used for each role</a:t>
            </a:r>
          </a:p>
        </p:txBody>
      </p:sp>
    </p:spTree>
    <p:extLst>
      <p:ext uri="{BB962C8B-B14F-4D97-AF65-F5344CB8AC3E}">
        <p14:creationId xmlns:p14="http://schemas.microsoft.com/office/powerpoint/2010/main" val="1714713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dirty="0"/>
              <a:t>PUBLIC KEY CERTIFICATE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11" y="1668068"/>
            <a:ext cx="7344163" cy="437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7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kerberos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27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481559" y="1863524"/>
            <a:ext cx="6805914" cy="41549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Kerberos makes use of a protocol that involves clients, application servers, and a Kerberos </a:t>
            </a:r>
            <a:r>
              <a:rPr lang="en-GB" smtClean="0"/>
              <a:t>server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Kerberos is designed to counter a variety of threats to the security of a client/server </a:t>
            </a:r>
            <a:r>
              <a:rPr lang="en-GB" smtClean="0"/>
              <a:t>dialogue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Kerberos has been issued as an Internet standard and is the de facto standard for remote authentication</a:t>
            </a: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248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58811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Kerberos overview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28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9" y="1535380"/>
            <a:ext cx="5909062" cy="512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9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338664" y="290305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Certificate Authority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29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539433" y="1875099"/>
            <a:ext cx="6863787" cy="3170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T</a:t>
            </a:r>
            <a:r>
              <a:rPr lang="en-GB" sz="2000" smtClean="0"/>
              <a:t>rusted </a:t>
            </a:r>
            <a:r>
              <a:rPr lang="en-GB" sz="2000"/>
              <a:t>third-party organization that issues digital certificates for use by other parties to establish secure encrypted </a:t>
            </a:r>
            <a:r>
              <a:rPr lang="en-GB" sz="2000" smtClean="0"/>
              <a:t>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The role of a CA is to verify the identity of a party requesting a certificate, and then to issue a certificate attesting to the identity of that </a:t>
            </a:r>
            <a:r>
              <a:rPr lang="en-GB" sz="2000" smtClean="0"/>
              <a:t>party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/>
              <a:t>parties can trust that they are communicating with the intended recipient and not an impostor</a:t>
            </a:r>
            <a:endParaRPr kumimoji="0" lang="en-GB" sz="2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19080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338664" y="290305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x.509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30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435261" y="1840375"/>
            <a:ext cx="6447098" cy="304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X.509 is an ITU-T standard for public key infrastructure (PKI) that defines the format of public key </a:t>
            </a:r>
            <a:r>
              <a:rPr lang="en-GB" smtClean="0"/>
              <a:t>certificates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X.509 certificates are widely used for secure web browsing (HTTPS), secure email (SMIME), and secure virtual private networks (VPNs).</a:t>
            </a: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4875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338664" y="290305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x.509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31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48" y="1512199"/>
            <a:ext cx="6123007" cy="480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8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604882" y="290305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Public key encryption random numbers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32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585732" y="1898248"/>
            <a:ext cx="6713316" cy="30469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Public key encryption random numbers are numbers that are generated randomly and used as input in public key encryption </a:t>
            </a:r>
            <a:r>
              <a:rPr lang="en-GB" smtClean="0"/>
              <a:t>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ensure the security and confidentiality of encrypted communications by preventing patterns and biases in encryption data</a:t>
            </a: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590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604882" y="290305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Public key encryption random numbers requirements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33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585732" y="1898248"/>
            <a:ext cx="6713316" cy="60016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mtClean="0"/>
              <a:t>Randomness</a:t>
            </a:r>
            <a:r>
              <a:rPr lang="en-US"/>
              <a:t>​</a:t>
            </a:r>
          </a:p>
          <a:p>
            <a:pPr marL="342900" indent="-342900" fontAlgn="base">
              <a:buFontTx/>
              <a:buChar char="-"/>
            </a:pPr>
            <a:r>
              <a:rPr lang="en-US" smtClean="0"/>
              <a:t>based </a:t>
            </a:r>
            <a:r>
              <a:rPr lang="en-US"/>
              <a:t>on statistical tests for uniform distribution and independence</a:t>
            </a:r>
            <a:r>
              <a:rPr lang="en-US" smtClean="0"/>
              <a:t>​</a:t>
            </a:r>
          </a:p>
          <a:p>
            <a:pPr fontAlgn="base"/>
            <a:endParaRPr lang="en-US" smtClean="0"/>
          </a:p>
          <a:p>
            <a:pPr fontAlgn="base"/>
            <a:endParaRPr lang="en-US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/>
              <a:t>U</a:t>
            </a:r>
            <a:r>
              <a:rPr lang="en-US" smtClean="0"/>
              <a:t>npredictability</a:t>
            </a:r>
            <a:r>
              <a:rPr lang="en-US"/>
              <a:t>​</a:t>
            </a:r>
          </a:p>
          <a:p>
            <a:pPr marL="342900" indent="-342900" fontAlgn="base">
              <a:buFontTx/>
              <a:buChar char="-"/>
            </a:pPr>
            <a:r>
              <a:rPr lang="en-US" smtClean="0"/>
              <a:t>successive </a:t>
            </a:r>
            <a:r>
              <a:rPr lang="en-US"/>
              <a:t>values not related to previous</a:t>
            </a:r>
            <a:r>
              <a:rPr lang="en-US" smtClean="0"/>
              <a:t>​</a:t>
            </a:r>
            <a:endParaRPr lang="en-US"/>
          </a:p>
          <a:p>
            <a:pPr marL="342900" indent="-342900" fontAlgn="base">
              <a:buFontTx/>
              <a:buChar char="-"/>
            </a:pPr>
            <a:r>
              <a:rPr lang="en-US" smtClean="0"/>
              <a:t>clearly </a:t>
            </a:r>
            <a:r>
              <a:rPr lang="en-US"/>
              <a:t>true for truly random numbers</a:t>
            </a:r>
            <a:r>
              <a:rPr lang="en-US" smtClean="0"/>
              <a:t>​</a:t>
            </a:r>
          </a:p>
          <a:p>
            <a:pPr fontAlgn="base"/>
            <a:endParaRPr lang="en-US" smtClean="0"/>
          </a:p>
          <a:p>
            <a:pPr fontAlgn="base"/>
            <a:endParaRPr lang="en-US" smtClean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/>
              <a:t>Generation </a:t>
            </a:r>
            <a:r>
              <a:rPr lang="en-GB" smtClean="0"/>
              <a:t>speed</a:t>
            </a:r>
          </a:p>
          <a:p>
            <a:pPr marL="342900" indent="-342900" fontAlgn="base">
              <a:buFontTx/>
              <a:buChar char="-"/>
            </a:pPr>
            <a:r>
              <a:rPr lang="en-GB" smtClean="0"/>
              <a:t>random </a:t>
            </a:r>
            <a:r>
              <a:rPr lang="en-GB"/>
              <a:t>numbers must be generated quickly to ensure real-time encryption and </a:t>
            </a:r>
            <a:r>
              <a:rPr lang="en-GB" smtClean="0"/>
              <a:t>decryption</a:t>
            </a:r>
          </a:p>
          <a:p>
            <a:pPr fontAlgn="base"/>
            <a:endParaRPr lang="en-US" smtClean="0"/>
          </a:p>
          <a:p>
            <a:pPr marL="342900" indent="-342900" fontAlgn="base">
              <a:buFontTx/>
              <a:buChar char="-"/>
            </a:pPr>
            <a:endParaRPr lang="en-US"/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604882" y="290305"/>
            <a:ext cx="6348136" cy="792089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Public key encryption random numbers requirements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34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585732" y="1898248"/>
            <a:ext cx="6713316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mtClean="0"/>
              <a:t>Quality​</a:t>
            </a:r>
            <a:endParaRPr lang="en-US"/>
          </a:p>
          <a:p>
            <a:pPr marL="342900" indent="-342900" fontAlgn="base">
              <a:buFontTx/>
              <a:buChar char="-"/>
            </a:pPr>
            <a:r>
              <a:rPr lang="en-GB"/>
              <a:t>random numbers must be generated from a high-quality random number generator to ensure their entropy and randomness</a:t>
            </a:r>
            <a:r>
              <a:rPr lang="en-US" smtClean="0"/>
              <a:t>​</a:t>
            </a:r>
          </a:p>
          <a:p>
            <a:pPr fontAlgn="base"/>
            <a:endParaRPr lang="en-US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/>
              <a:t>Availability</a:t>
            </a:r>
            <a:r>
              <a:rPr lang="en-US" smtClean="0"/>
              <a:t>​</a:t>
            </a:r>
            <a:endParaRPr lang="en-US"/>
          </a:p>
          <a:p>
            <a:pPr marL="342900" indent="-342900" fontAlgn="base">
              <a:buFontTx/>
              <a:buChar char="-"/>
            </a:pPr>
            <a:r>
              <a:rPr lang="en-GB"/>
              <a:t>random numbers must be available at the time they are needed, without </a:t>
            </a:r>
            <a:r>
              <a:rPr lang="en-GB" smtClean="0"/>
              <a:t>delay</a:t>
            </a:r>
          </a:p>
          <a:p>
            <a:pPr marL="342900" indent="-342900" fontAlgn="base">
              <a:buFontTx/>
              <a:buChar char="-"/>
            </a:pPr>
            <a:endParaRPr lang="en-US" smtClean="0"/>
          </a:p>
          <a:p>
            <a:pPr fontAlgn="base"/>
            <a:endParaRPr lang="en-US" smtClean="0"/>
          </a:p>
          <a:p>
            <a:pPr marL="342900" indent="-342900" fontAlgn="base">
              <a:buFontTx/>
              <a:buChar char="-"/>
            </a:pPr>
            <a:endParaRPr lang="en-US"/>
          </a:p>
          <a:p>
            <a:pPr marL="342900" indent="-342900" fontAlgn="base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RRENT CONDITION"/>
          <p:cNvSpPr txBox="1">
            <a:spLocks noGrp="1"/>
          </p:cNvSpPr>
          <p:nvPr>
            <p:ph type="title"/>
          </p:nvPr>
        </p:nvSpPr>
        <p:spPr>
          <a:xfrm>
            <a:off x="2795864" y="359753"/>
            <a:ext cx="6348136" cy="7920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cap="all">
                <a:solidFill>
                  <a:srgbClr val="0079B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mtClean="0"/>
              <a:t>references</a:t>
            </a:r>
            <a:endParaRPr dirty="0"/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91160" y="6482228"/>
            <a:ext cx="191280" cy="3073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446835" y="2002420"/>
            <a:ext cx="6447099" cy="23083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>
                <a:hlinkClick r:id="rId3"/>
              </a:rPr>
              <a:t>https://</a:t>
            </a:r>
            <a:r>
              <a:rPr lang="en-GB" smtClean="0">
                <a:hlinkClick r:id="rId3"/>
              </a:rPr>
              <a:t>static.javatpoint.com/difference/images/difference-between-block-cipher-and-stream-cipher.png</a:t>
            </a:r>
            <a:endParaRPr lang="en-GB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https://static.javatpoint.com/difference/images/difference-between-block-cipher-and-stream-cipher2.png</a:t>
            </a:r>
            <a:endParaRPr kumimoji="0" lang="en-GB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1897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14:flip dir="r"/>
      </p:transition>
    </mc:Choice>
    <mc:Fallback xmlns="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Template PPT 2015">
  <a:themeElements>
    <a:clrScheme name="Template PPT 201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plate PPT 2015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plate PPT 20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just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Template PPT 2015">
  <a:themeElements>
    <a:clrScheme name="Template PPT 2015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Template PPT 2015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Template PPT 2015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just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Open Sans"/>
            <a:ea typeface="Open Sans"/>
            <a:cs typeface="Open Sans"/>
            <a:sym typeface="Open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881</Words>
  <Application>Microsoft Office PowerPoint</Application>
  <PresentationFormat>On-screen Show (4:3)</PresentationFormat>
  <Paragraphs>188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Lucida Sans Unicode</vt:lpstr>
      <vt:lpstr>Open Sans</vt:lpstr>
      <vt:lpstr>Tahoma</vt:lpstr>
      <vt:lpstr>Times</vt:lpstr>
      <vt:lpstr>Times-Roman</vt:lpstr>
      <vt:lpstr>Template PPT 2015</vt:lpstr>
      <vt:lpstr>CRYPTOGRAPHICS TOOLS CHAPTER 6</vt:lpstr>
      <vt:lpstr>Learning outcome</vt:lpstr>
      <vt:lpstr>Subtopics</vt:lpstr>
      <vt:lpstr>PowerPoint Presentation</vt:lpstr>
      <vt:lpstr>CRYPTOGRAPHICS TOOLS</vt:lpstr>
      <vt:lpstr>SYMMETRIC ENCRYPTION</vt:lpstr>
      <vt:lpstr>ATTACKING SYMMETRIC ENCRYPTION</vt:lpstr>
      <vt:lpstr>EXHAUSTIVE KEY SEARCH</vt:lpstr>
      <vt:lpstr>POPULAR SYMMETRIC  ENCRYPTION</vt:lpstr>
      <vt:lpstr>DES AND TRIPLE-DES</vt:lpstr>
      <vt:lpstr>ADVANCED ENCRYPTION STANDARD</vt:lpstr>
      <vt:lpstr>PRACTICAL APPLICATION: ENCRYPTION OF STORED DATA</vt:lpstr>
      <vt:lpstr>Block cipher encryption</vt:lpstr>
      <vt:lpstr>Block cipher encryption</vt:lpstr>
      <vt:lpstr>Stream cipher encryption</vt:lpstr>
      <vt:lpstr>Stream cipher encryption</vt:lpstr>
      <vt:lpstr>Message authentication</vt:lpstr>
      <vt:lpstr>Message authentication codes</vt:lpstr>
      <vt:lpstr>HASH FUNCTION REQUIREMENT</vt:lpstr>
      <vt:lpstr>SECURE HASH FUNCTION</vt:lpstr>
      <vt:lpstr>HASH FUNCTION CONVENTIONAL ENCRYPTION</vt:lpstr>
      <vt:lpstr>HASH FUNCTION PUBLIC KEY ENCRYPTION</vt:lpstr>
      <vt:lpstr>PUBLIC KEY ENCRYPTION</vt:lpstr>
      <vt:lpstr>PUBLIC KEY AUTHENTICATION </vt:lpstr>
      <vt:lpstr>PUBLIC KEY REQUIREMENTS</vt:lpstr>
      <vt:lpstr>PUBLIC KEY CERTIFICATE</vt:lpstr>
      <vt:lpstr>kerberos</vt:lpstr>
      <vt:lpstr>Kerberos overview</vt:lpstr>
      <vt:lpstr>Certificate Authority</vt:lpstr>
      <vt:lpstr>x.509</vt:lpstr>
      <vt:lpstr>x.509</vt:lpstr>
      <vt:lpstr>Public key encryption random numbers</vt:lpstr>
      <vt:lpstr>Public key encryption random numbers requirements</vt:lpstr>
      <vt:lpstr>Public key encryption random numbers requirements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EVALUASI KERJA SCHOOL OF COMPUTER SCIENCE</dc:title>
  <cp:lastModifiedBy>Franz Adeta Junior</cp:lastModifiedBy>
  <cp:revision>227</cp:revision>
  <dcterms:modified xsi:type="dcterms:W3CDTF">2023-01-30T12:21:32Z</dcterms:modified>
</cp:coreProperties>
</file>